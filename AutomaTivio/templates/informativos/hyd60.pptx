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Dados!$Q$2:$Q$8</c:f>
              <c:strCache>
                <c:ptCount val="7"/>
                <c:pt idx="0">
                  <c:v>AAA</c:v>
                </c:pt>
                <c:pt idx="1">
                  <c:v>AA+</c:v>
                </c:pt>
                <c:pt idx="2">
                  <c:v>AA-</c:v>
                </c:pt>
                <c:pt idx="3">
                  <c:v>AA</c:v>
                </c:pt>
                <c:pt idx="4">
                  <c:v>A+</c:v>
                </c:pt>
                <c:pt idx="5">
                  <c:v>A</c:v>
                </c:pt>
                <c:pt idx="6">
                  <c:v>BB</c:v>
                </c:pt>
              </c:strCache>
            </c:strRef>
          </c:cat>
          <c:val>
            <c:numRef>
              <c:f>Dados!$R$2:$R$8</c:f>
              <c:numCache>
                <c:formatCode>0.00%</c:formatCode>
                <c:ptCount val="7"/>
                <c:pt idx="0">
                  <c:v>0.32155211585372356</c:v>
                </c:pt>
                <c:pt idx="1">
                  <c:v>0.11923774271226173</c:v>
                </c:pt>
                <c:pt idx="2">
                  <c:v>9.2271411529935732E-2</c:v>
                </c:pt>
                <c:pt idx="3">
                  <c:v>6.399191658660304E-2</c:v>
                </c:pt>
                <c:pt idx="4">
                  <c:v>6.1076043898249006E-2</c:v>
                </c:pt>
                <c:pt idx="5">
                  <c:v>4.3255682309433489E-2</c:v>
                </c:pt>
                <c:pt idx="6">
                  <c:v>4.860963146547514E-3</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Agosto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1100" b="1"/>
              <a:t>Sobre o Fundo </a:t>
            </a:r>
          </a:p>
          <a:p>
            <a:endParaRPr lang="pt-BR" sz="1100"/>
          </a:p>
          <a:p>
            <a:pPr marL="171450" lvl="0" indent="-171450">
              <a:buFont typeface="Arial" panose="020B0604020202020204" pitchFamily="34" charset="0"/>
              <a:buChar char="•"/>
            </a:pPr>
            <a:r>
              <a:rPr lang="pt-BR" sz="1100"/>
              <a:t>O </a:t>
            </a:r>
            <a:r>
              <a:rPr lang="pt-BR" sz="1100" b="1"/>
              <a:t>Tivio HYD60</a:t>
            </a:r>
            <a:r>
              <a:rPr lang="pt-BR" sz="1100"/>
              <a:t> combina </a:t>
            </a:r>
            <a:r>
              <a:rPr lang="pt-BR" sz="1100" b="1"/>
              <a:t>duas estratégias complementares de geração de alfa</a:t>
            </a:r>
            <a:r>
              <a:rPr lang="pt-BR" sz="1100"/>
              <a:t>, apoiadas na ampla expertise da área de crédito da Tivio Capital.</a:t>
            </a:r>
          </a:p>
          <a:p>
            <a:pPr marL="171450" lvl="0" indent="-171450">
              <a:buFont typeface="Arial" panose="020B0604020202020204" pitchFamily="34" charset="0"/>
              <a:buChar char="•"/>
            </a:pPr>
            <a:r>
              <a:rPr lang="pt-BR" sz="1100"/>
              <a:t>Equilíbrio entre </a:t>
            </a:r>
            <a:r>
              <a:rPr lang="pt-BR" sz="1100" b="1"/>
              <a:t>75% em ativos líquidos e 25% em operações estruturadas</a:t>
            </a:r>
            <a:r>
              <a:rPr lang="pt-BR" sz="1100"/>
              <a:t>.</a:t>
            </a:r>
          </a:p>
          <a:p>
            <a:pPr lvl="0"/>
            <a:endParaRPr lang="pt-BR" sz="1100" b="1"/>
          </a:p>
          <a:p>
            <a:pPr lvl="0"/>
            <a:r>
              <a:rPr lang="pt-BR" sz="1100" b="1"/>
              <a:t>Visão de Mercado | Agosto</a:t>
            </a:r>
            <a:endParaRPr lang="pt-BR" sz="1100"/>
          </a:p>
          <a:p>
            <a:pPr lvl="0"/>
            <a:endParaRPr lang="pt-BR" sz="1100"/>
          </a:p>
          <a:p>
            <a:pPr marL="171450" lvl="0" indent="-171450">
              <a:buFont typeface="Arial" panose="020B0604020202020204" pitchFamily="34" charset="0"/>
              <a:buChar char="•"/>
            </a:pPr>
            <a:r>
              <a:rPr lang="pt-BR" sz="1100"/>
              <a:t>Mercado de crédito com </a:t>
            </a:r>
            <a:r>
              <a:rPr lang="pt-BR" sz="1100" b="1"/>
              <a:t>leve reabertura dos spreads</a:t>
            </a:r>
            <a:r>
              <a:rPr lang="pt-BR" sz="1100"/>
              <a:t>, após meses consecutivos de compressão dos prêmios de risco, em ambiente de </a:t>
            </a:r>
            <a:r>
              <a:rPr lang="pt-BR" sz="1100" b="1"/>
              <a:t>menor liquidez no secundário</a:t>
            </a:r>
            <a:r>
              <a:rPr lang="pt-BR" sz="1100"/>
              <a:t>.</a:t>
            </a:r>
          </a:p>
          <a:p>
            <a:pPr marL="171450" lvl="0" indent="-171450">
              <a:buFont typeface="Arial" panose="020B0604020202020204" pitchFamily="34" charset="0"/>
              <a:buChar char="•"/>
            </a:pPr>
            <a:r>
              <a:rPr lang="pt-BR" sz="1100"/>
              <a:t>Títulos corporativos indexados ao CDI encerraram o mês com spread médio de </a:t>
            </a:r>
            <a:r>
              <a:rPr lang="pt-BR" sz="1100" b="1"/>
              <a:t>CDI + 1,22% a.a.</a:t>
            </a:r>
            <a:r>
              <a:rPr lang="pt-BR" sz="1100"/>
              <a:t>, ante </a:t>
            </a:r>
            <a:r>
              <a:rPr lang="pt-BR" sz="1100" b="1"/>
              <a:t>CDI + 1,19% em julho</a:t>
            </a:r>
            <a:r>
              <a:rPr lang="pt-BR" sz="1100"/>
              <a:t>, ainda próximos das mínimas históricas.</a:t>
            </a:r>
          </a:p>
          <a:p>
            <a:pPr marL="171450" lvl="0" indent="-171450">
              <a:buFont typeface="Arial" panose="020B0604020202020204" pitchFamily="34" charset="0"/>
              <a:buChar char="•"/>
            </a:pPr>
            <a:r>
              <a:rPr lang="pt-BR" sz="1100"/>
              <a:t>No segmento bancário, as </a:t>
            </a:r>
            <a:r>
              <a:rPr lang="pt-BR" sz="1100" b="1"/>
              <a:t>emissões de Letras Financeiras Seniores seguiram com forte demanda</a:t>
            </a:r>
            <a:r>
              <a:rPr lang="pt-BR" sz="1100"/>
              <a:t>, com diversas operações apresentando </a:t>
            </a:r>
            <a:r>
              <a:rPr lang="pt-BR" sz="1100" b="1"/>
              <a:t>múltiplas vezes o volume ofertado</a:t>
            </a:r>
            <a:r>
              <a:rPr lang="pt-BR" sz="1100"/>
              <a:t> e sendo precificadas </a:t>
            </a:r>
            <a:r>
              <a:rPr lang="pt-BR" sz="1100" b="1"/>
              <a:t>abaixo das taxas inicialmente indicadas</a:t>
            </a:r>
            <a:r>
              <a:rPr lang="pt-BR" sz="1100"/>
              <a:t>.</a:t>
            </a:r>
          </a:p>
          <a:p>
            <a:pPr marL="171450" lvl="0" indent="-171450">
              <a:buFont typeface="Arial" panose="020B0604020202020204" pitchFamily="34" charset="0"/>
              <a:buChar char="•"/>
            </a:pPr>
            <a:r>
              <a:rPr lang="pt-BR" sz="1100"/>
              <a:t>O mercado corporativo manteve </a:t>
            </a:r>
            <a:r>
              <a:rPr lang="pt-BR" sz="1100" b="1"/>
              <a:t>oferta limitada de novos ativos</a:t>
            </a:r>
            <a:r>
              <a:rPr lang="pt-BR" sz="1100"/>
              <a:t>, enquanto os fundos de crédito voltaram a registrar </a:t>
            </a:r>
            <a:r>
              <a:rPr lang="pt-BR" sz="1100" b="1"/>
              <a:t>forte captação líquida</a:t>
            </a:r>
            <a:r>
              <a:rPr lang="pt-BR" sz="1100"/>
              <a:t>.</a:t>
            </a:r>
          </a:p>
          <a:p>
            <a:pPr marL="171450" lvl="0" indent="-171450">
              <a:buFont typeface="Arial" panose="020B0604020202020204" pitchFamily="34" charset="0"/>
              <a:buChar char="•"/>
            </a:pPr>
            <a:r>
              <a:rPr lang="pt-BR" sz="1100"/>
              <a:t>A combinação entre </a:t>
            </a:r>
            <a:r>
              <a:rPr lang="pt-BR" sz="1100" b="1"/>
              <a:t>fluxos positivos, vencimentos e amortizações recorrentes</a:t>
            </a:r>
            <a:r>
              <a:rPr lang="pt-BR" sz="1100"/>
              <a:t> das carteiras e a restrita oferta de emissões continuou </a:t>
            </a:r>
            <a:r>
              <a:rPr lang="pt-BR" sz="1100" b="1"/>
              <a:t>sustentando a demanda por crédito privado</a:t>
            </a:r>
            <a:r>
              <a:rPr lang="pt-BR" sz="1100"/>
              <a:t> ao longo do mês.</a:t>
            </a:r>
          </a:p>
          <a:p>
            <a:endParaRPr lang="pt-BR" sz="1100" b="1"/>
          </a:p>
          <a:p>
            <a:r>
              <a:rPr lang="pt-BR" sz="1100" b="1"/>
              <a:t>Destaques da atuação da gestão em agosto</a:t>
            </a:r>
          </a:p>
          <a:p>
            <a:pPr marL="171450" indent="-171450">
              <a:buFont typeface="Arial" panose="020B0604020202020204" pitchFamily="34" charset="0"/>
              <a:buChar char="•"/>
            </a:pPr>
            <a:endParaRPr lang="pt-BR" sz="1100"/>
          </a:p>
          <a:p>
            <a:pPr marL="171450" lvl="0" indent="-171450">
              <a:buFont typeface="Arial" panose="020B0604020202020204" pitchFamily="34" charset="0"/>
              <a:buChar char="•"/>
            </a:pPr>
            <a:r>
              <a:rPr lang="pt-BR" sz="1100"/>
              <a:t>Na parcela de </a:t>
            </a:r>
            <a:r>
              <a:rPr lang="pt-BR" sz="1100" b="1"/>
              <a:t>crédito estruturado</a:t>
            </a:r>
            <a:r>
              <a:rPr lang="pt-BR" sz="1100"/>
              <a:t>, avanço na </a:t>
            </a:r>
            <a:r>
              <a:rPr lang="pt-BR" sz="1100" b="1"/>
              <a:t>diversificação da carteira</a:t>
            </a:r>
            <a:r>
              <a:rPr lang="pt-BR" sz="1100"/>
              <a:t>, com a inclusão de novas posições em </a:t>
            </a:r>
            <a:r>
              <a:rPr lang="pt-BR" sz="1100" b="1"/>
              <a:t>FIDCs</a:t>
            </a:r>
            <a:r>
              <a:rPr lang="pt-BR" sz="1100"/>
              <a:t>.</a:t>
            </a:r>
          </a:p>
          <a:p>
            <a:pPr marL="171450" lvl="0" indent="-171450">
              <a:buFont typeface="Arial" panose="020B0604020202020204" pitchFamily="34" charset="0"/>
              <a:buChar char="•"/>
            </a:pPr>
            <a:r>
              <a:rPr lang="pt-BR" sz="1100"/>
              <a:t>Destaque para o investimento em um </a:t>
            </a:r>
            <a:r>
              <a:rPr lang="pt-BR" sz="1100" b="1"/>
              <a:t>FIDC de antecipação de recebíveis de cartões de crédito</a:t>
            </a:r>
            <a:r>
              <a:rPr lang="pt-BR" sz="1100"/>
              <a:t>, caracterizado por </a:t>
            </a:r>
            <a:r>
              <a:rPr lang="pt-BR" sz="1100" b="1"/>
              <a:t>prazo médio reduzido</a:t>
            </a:r>
            <a:r>
              <a:rPr lang="pt-BR" sz="1100"/>
              <a:t>, </a:t>
            </a:r>
            <a:r>
              <a:rPr lang="pt-BR" sz="1100" b="1"/>
              <a:t>elevada pulverização da carteira (mais de 125 mil contratos)</a:t>
            </a:r>
            <a:r>
              <a:rPr lang="pt-BR" sz="1100"/>
              <a:t> e </a:t>
            </a:r>
            <a:r>
              <a:rPr lang="pt-BR" sz="1100" b="1"/>
              <a:t>baixo valor médio por operação</a:t>
            </a:r>
            <a:r>
              <a:rPr lang="pt-BR" sz="1100"/>
              <a:t>.</a:t>
            </a:r>
          </a:p>
          <a:p>
            <a:pPr marL="171450" lvl="0" indent="-171450">
              <a:buFont typeface="Arial" panose="020B0604020202020204" pitchFamily="34" charset="0"/>
              <a:buChar char="•"/>
            </a:pPr>
            <a:r>
              <a:rPr lang="pt-BR" sz="1100"/>
              <a:t>Ao final do mês, a carteira de crédito estruturado apresentava </a:t>
            </a:r>
            <a:r>
              <a:rPr lang="pt-BR" sz="1100" b="1"/>
              <a:t>carrego de CDI + 1,16%</a:t>
            </a:r>
            <a:r>
              <a:rPr lang="pt-BR" sz="1100"/>
              <a:t> e </a:t>
            </a:r>
            <a:r>
              <a:rPr lang="pt-BR" sz="1100" b="1" err="1"/>
              <a:t>duration</a:t>
            </a:r>
            <a:r>
              <a:rPr lang="pt-BR" sz="1100" b="1"/>
              <a:t> média próxima de dois anos</a:t>
            </a:r>
            <a:r>
              <a:rPr lang="pt-BR" sz="1100"/>
              <a:t>, concentrada em </a:t>
            </a:r>
            <a:r>
              <a:rPr lang="pt-BR" sz="1100" b="1"/>
              <a:t>cotas sênior de FIDCs de alta qualidade de crédito</a:t>
            </a:r>
            <a:r>
              <a:rPr lang="pt-BR" sz="1100"/>
              <a:t>.</a:t>
            </a:r>
          </a:p>
          <a:p>
            <a:pPr marL="171450" lvl="0" indent="-171450">
              <a:buFont typeface="Arial" panose="020B0604020202020204" pitchFamily="34" charset="0"/>
              <a:buChar char="•"/>
            </a:pPr>
            <a:r>
              <a:rPr lang="pt-BR" sz="1100"/>
              <a:t>Os investimentos contam com </a:t>
            </a:r>
            <a:r>
              <a:rPr lang="pt-BR" sz="1100" b="1"/>
              <a:t>elevados níveis de subordinação</a:t>
            </a:r>
            <a:r>
              <a:rPr lang="pt-BR" sz="1100"/>
              <a:t> e </a:t>
            </a:r>
            <a:r>
              <a:rPr lang="pt-BR" sz="1100" b="1"/>
              <a:t>ampla diversificação</a:t>
            </a:r>
            <a:r>
              <a:rPr lang="pt-BR" sz="1100"/>
              <a:t> em diferentes teses, setores e emissores, contribuindo para a </a:t>
            </a:r>
            <a:r>
              <a:rPr lang="pt-BR" sz="1100" b="1"/>
              <a:t>mitigação da concentração de risco</a:t>
            </a:r>
            <a:r>
              <a:rPr lang="pt-BR" sz="1100"/>
              <a:t> e reduzindo a dependência de nomes específicos.</a:t>
            </a:r>
          </a:p>
          <a:p>
            <a:pPr marL="171450" lvl="0" indent="-171450">
              <a:buFont typeface="Arial" panose="020B0604020202020204" pitchFamily="34" charset="0"/>
              <a:buChar char="•"/>
            </a:pPr>
            <a:r>
              <a:rPr lang="pt-BR" sz="1100"/>
              <a:t>Gestão segue </a:t>
            </a:r>
            <a:r>
              <a:rPr lang="pt-BR" sz="1100" b="1"/>
              <a:t>acompanhando de perto a evolução dos fundamentos dos emissores</a:t>
            </a:r>
            <a:r>
              <a:rPr lang="pt-BR" sz="1100"/>
              <a:t>, com atenção especial aos indicadores operacionais, à geração de caixa e à preservação de estruturas de capital adequadas.</a:t>
            </a:r>
          </a:p>
          <a:p>
            <a:pPr marL="171450" lvl="0" indent="-171450">
              <a:buFont typeface="Arial" panose="020B0604020202020204" pitchFamily="34" charset="0"/>
              <a:buChar char="•"/>
            </a:pPr>
            <a:r>
              <a:rPr lang="pt-BR" sz="1100"/>
              <a:t>Ambiente técnico para o crédito segue </a:t>
            </a:r>
            <a:r>
              <a:rPr lang="pt-BR" sz="1100" b="1"/>
              <a:t>favorável</a:t>
            </a:r>
            <a:r>
              <a:rPr lang="pt-BR" sz="1100"/>
              <a:t>, com forte demanda pela classe, mas os </a:t>
            </a:r>
            <a:r>
              <a:rPr lang="pt-BR" sz="1100" b="1"/>
              <a:t>spreads permanecem historicamente comprimidos</a:t>
            </a:r>
            <a:r>
              <a:rPr lang="pt-BR" sz="1100"/>
              <a:t>.</a:t>
            </a:r>
          </a:p>
          <a:p>
            <a:pPr marL="171450" lvl="0" indent="-171450">
              <a:buFont typeface="Arial" panose="020B0604020202020204" pitchFamily="34" charset="0"/>
              <a:buChar char="•"/>
            </a:pPr>
            <a:r>
              <a:rPr lang="pt-BR" sz="1100" b="1"/>
              <a:t>Disciplina na alocação</a:t>
            </a:r>
            <a:r>
              <a:rPr lang="pt-BR" sz="1100"/>
              <a:t> dos recursos, priorizando operações com adequada relação entre risco e retorno.</a:t>
            </a:r>
          </a:p>
          <a:p>
            <a:pPr marL="171450" lvl="0" indent="-171450">
              <a:buFont typeface="Arial" panose="020B0604020202020204" pitchFamily="34" charset="0"/>
              <a:buChar char="•"/>
            </a:pPr>
            <a:r>
              <a:rPr lang="pt-BR" sz="1100" b="1"/>
              <a:t>Preservação de flexibilidade</a:t>
            </a:r>
            <a:r>
              <a:rPr lang="pt-BR" sz="1100"/>
              <a:t> para capturar oportunidades em eventuais momentos de maior volatilidade do mercado.</a:t>
            </a:r>
          </a:p>
          <a:p>
            <a:pPr algn="just">
              <a:spcBef>
                <a:spcPts val="300"/>
              </a:spcBef>
              <a:spcAft>
                <a:spcPts val="300"/>
              </a:spcAft>
            </a:pPr>
            <a:endParaRPr lang="pt-BR" sz="1100">
              <a:latin typeface="Versos" panose="020B0503020204030204" pitchFamily="34" charset="0"/>
            </a:endParaRP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Agosto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63,5</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18,0</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18,5</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