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0.0126</c:v>
                </c:pt>
                <c:pt idx="2">
                  <c:v>0.0254</c:v>
                </c:pt>
                <c:pt idx="3">
                  <c:v>0.0363</c:v>
                </c:pt>
                <c:pt idx="4">
                  <c:v>0.0492</c:v>
                </c:pt>
                <c:pt idx="5">
                  <c:v>0.061799999999999994</c:v>
                </c:pt>
                <c:pt idx="6">
                  <c:v>0.07200000000000001</c:v>
                </c:pt>
                <c:pt idx="7">
                  <c:v>0.083</c:v>
                </c:pt>
                <c:pt idx="8">
                  <c:v>0.09480000000000001</c:v>
                </c:pt>
                <c:pt idx="9">
                  <c:v>0.1084</c:v>
                </c:pt>
                <c:pt idx="10">
                  <c:v>0.1209</c:v>
                </c:pt>
                <c:pt idx="11">
                  <c:v>0.1352</c:v>
                </c:pt>
                <c:pt idx="12">
                  <c:v>0.1477</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BVP</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55.726.312/0001-79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1,10%</a:t>
                      </a:r>
                    </a:p>
                  </a:txBody>
                  <a:tcPr marL="43200" marR="43200" marT="0" marB="0">
                    <a:solidFill>
                      <a:srgbClr val="F4F7F9"/>
                    </a:solidFill>
                  </a:tcPr>
                </a:tc>
                <a:tc>
                  <a:txBody>
                    <a:bodyPr/>
                    <a:lstStyle/>
                    <a:p>
                      <a:pPr algn="r"/>
                      <a:r>
                        <a:rPr sz="850" b="0">
                          <a:solidFill>
                            <a:srgbClr val="1A1A1A"/>
                          </a:solidFill>
                          <a:latin typeface="Versos"/>
                        </a:rPr>
                        <a:t>9,39%</a:t>
                      </a:r>
                    </a:p>
                  </a:txBody>
                  <a:tcPr marL="43200" marR="43200" marT="0" marB="0">
                    <a:solidFill>
                      <a:srgbClr val="F4F7F9"/>
                    </a:solidFill>
                  </a:tcPr>
                </a:tc>
                <a:tc>
                  <a:txBody>
                    <a:bodyPr/>
                    <a:lstStyle/>
                    <a:p>
                      <a:pPr algn="r"/>
                      <a:r>
                        <a:rPr sz="850" b="0">
                          <a:solidFill>
                            <a:srgbClr val="1A1A1A"/>
                          </a:solidFill>
                          <a:latin typeface="Versos"/>
                        </a:rPr>
                        <a:t>14,70%</a:t>
                      </a:r>
                    </a:p>
                  </a:txBody>
                  <a:tcPr marL="43200" marR="43200" marT="0" marB="0">
                    <a:solidFill>
                      <a:srgbClr val="F4F7F9"/>
                    </a:solidFill>
                  </a:tcPr>
                </a:tc>
                <a:tc>
                  <a:txBody>
                    <a:bodyPr/>
                    <a:lstStyle/>
                    <a:p>
                      <a:pPr algn="r"/>
                      <a:r>
                        <a:rPr sz="850" b="0">
                          <a:solidFill>
                            <a:srgbClr val="1A1A1A"/>
                          </a:solidFill>
                          <a:latin typeface="Versos"/>
                        </a:rPr>
                        <a:t>30,21%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32,10%</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31,33%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BTG</a:t>
                      </a:r>
                    </a:p>
                  </a:txBody>
                  <a:tcPr marL="43200" marR="43200" marT="0" marB="0">
                    <a:solidFill>
                      <a:srgbClr val="FFFFFF"/>
                    </a:solidFill>
                  </a:tcPr>
                </a:tc>
                <a:tc>
                  <a:txBody>
                    <a:bodyPr/>
                    <a:lstStyle/>
                    <a:p>
                      <a:pPr algn="r"/>
                      <a:r>
                        <a:rPr sz="850" b="0">
                          <a:solidFill>
                            <a:srgbClr val="1A1A1A"/>
                          </a:solidFill>
                          <a:latin typeface="Versos"/>
                        </a:rPr>
                        <a:t>3,51%</a:t>
                      </a:r>
                    </a:p>
                  </a:txBody>
                  <a:tcPr marL="43200" marR="43200" marT="0" marB="0">
                    <a:solidFill>
                      <a:srgbClr val="FFFFFF"/>
                    </a:solidFill>
                  </a:tcPr>
                </a:tc>
              </a:tr>
              <a:tr h="187200">
                <a:tc>
                  <a:txBody>
                    <a:bodyPr/>
                    <a:lstStyle/>
                    <a:p>
                      <a:pPr algn="l"/>
                      <a:r>
                        <a:rPr sz="850" b="1">
                          <a:solidFill>
                            <a:srgbClr val="1A1A1A"/>
                          </a:solidFill>
                          <a:latin typeface="Versos"/>
                        </a:rPr>
                        <a:t>ABC</a:t>
                      </a:r>
                    </a:p>
                  </a:txBody>
                  <a:tcPr marL="43200" marR="43200" marT="0" marB="0">
                    <a:solidFill>
                      <a:srgbClr val="F4F7F9"/>
                    </a:solidFill>
                  </a:tcPr>
                </a:tc>
                <a:tc>
                  <a:txBody>
                    <a:bodyPr/>
                    <a:lstStyle/>
                    <a:p>
                      <a:pPr algn="r"/>
                      <a:r>
                        <a:rPr sz="850" b="0">
                          <a:solidFill>
                            <a:srgbClr val="1A1A1A"/>
                          </a:solidFill>
                          <a:latin typeface="Versos"/>
                        </a:rPr>
                        <a:t>3,39%</a:t>
                      </a:r>
                    </a:p>
                  </a:txBody>
                  <a:tcPr marL="43200" marR="43200" marT="0" marB="0">
                    <a:solidFill>
                      <a:srgbClr val="F4F7F9"/>
                    </a:solidFill>
                  </a:tcPr>
                </a:tc>
              </a:tr>
              <a:tr h="187200">
                <a:tc>
                  <a:txBody>
                    <a:bodyPr/>
                    <a:lstStyle/>
                    <a:p>
                      <a:pPr algn="l"/>
                      <a:r>
                        <a:rPr sz="850" b="1">
                          <a:solidFill>
                            <a:srgbClr val="1A1A1A"/>
                          </a:solidFill>
                          <a:latin typeface="Versos"/>
                        </a:rPr>
                        <a:t>NUBANK</a:t>
                      </a:r>
                    </a:p>
                  </a:txBody>
                  <a:tcPr marL="43200" marR="43200" marT="0" marB="0">
                    <a:solidFill>
                      <a:srgbClr val="FFFFFF"/>
                    </a:solidFill>
                  </a:tcPr>
                </a:tc>
                <a:tc>
                  <a:txBody>
                    <a:bodyPr/>
                    <a:lstStyle/>
                    <a:p>
                      <a:pPr algn="r"/>
                      <a:r>
                        <a:rPr sz="850" b="0">
                          <a:solidFill>
                            <a:srgbClr val="1A1A1A"/>
                          </a:solidFill>
                          <a:latin typeface="Versos"/>
                        </a:rPr>
                        <a:t>2,80%</a:t>
                      </a:r>
                    </a:p>
                  </a:txBody>
                  <a:tcPr marL="43200" marR="43200" marT="0" marB="0">
                    <a:solidFill>
                      <a:srgbClr val="FFFFFF"/>
                    </a:solidFill>
                  </a:tcPr>
                </a:tc>
              </a:tr>
              <a:tr h="187200">
                <a:tc>
                  <a:txBody>
                    <a:bodyPr/>
                    <a:lstStyle/>
                    <a:p>
                      <a:pPr algn="l"/>
                      <a:r>
                        <a:rPr sz="850" b="1">
                          <a:solidFill>
                            <a:srgbClr val="1A1A1A"/>
                          </a:solidFill>
                          <a:latin typeface="Versos"/>
                        </a:rPr>
                        <a:t>SANTANDER</a:t>
                      </a:r>
                    </a:p>
                  </a:txBody>
                  <a:tcPr marL="43200" marR="43200" marT="0" marB="0">
                    <a:solidFill>
                      <a:srgbClr val="F4F7F9"/>
                    </a:solidFill>
                  </a:tcPr>
                </a:tc>
                <a:tc>
                  <a:txBody>
                    <a:bodyPr/>
                    <a:lstStyle/>
                    <a:p>
                      <a:pPr algn="r"/>
                      <a:r>
                        <a:rPr sz="850" b="0">
                          <a:solidFill>
                            <a:srgbClr val="1A1A1A"/>
                          </a:solidFill>
                          <a:latin typeface="Versos"/>
                        </a:rPr>
                        <a:t>2,63%</a:t>
                      </a:r>
                    </a:p>
                  </a:txBody>
                  <a:tcPr marL="43200" marR="43200" marT="0" marB="0">
                    <a:solidFill>
                      <a:srgbClr val="F4F7F9"/>
                    </a:solidFill>
                  </a:tcPr>
                </a:tc>
              </a:tr>
              <a:tr h="187200">
                <a:tc>
                  <a:txBody>
                    <a:bodyPr/>
                    <a:lstStyle/>
                    <a:p>
                      <a:pPr algn="l"/>
                      <a:r>
                        <a:rPr sz="850" b="1">
                          <a:solidFill>
                            <a:srgbClr val="1A1A1A"/>
                          </a:solidFill>
                          <a:latin typeface="Versos"/>
                        </a:rPr>
                        <a:t>XP</a:t>
                      </a:r>
                    </a:p>
                  </a:txBody>
                  <a:tcPr marL="43200" marR="43200" marT="0" marB="0">
                    <a:solidFill>
                      <a:srgbClr val="FFFFFF"/>
                    </a:solidFill>
                  </a:tcPr>
                </a:tc>
                <a:tc>
                  <a:txBody>
                    <a:bodyPr/>
                    <a:lstStyle/>
                    <a:p>
                      <a:pPr algn="r"/>
                      <a:r>
                        <a:rPr sz="850" b="0">
                          <a:solidFill>
                            <a:srgbClr val="1A1A1A"/>
                          </a:solidFill>
                          <a:latin typeface="Versos"/>
                        </a:rPr>
                        <a:t>2,36%</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30,5%</a:t>
                      </a:r>
                    </a:p>
                  </a:txBody>
                  <a:tcPr marL="43200" marR="43200" marT="0" marB="0">
                    <a:solidFill>
                      <a:srgbClr val="FFFFFF"/>
                    </a:solidFill>
                  </a:tcPr>
                </a:tc>
              </a:tr>
              <a:tr h="1872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4,6%</a:t>
                      </a:r>
                    </a:p>
                  </a:txBody>
                  <a:tcPr marL="43200" marR="43200" marT="0" marB="0">
                    <a:solidFill>
                      <a:srgbClr val="F4F7F9"/>
                    </a:solidFill>
                  </a:tcPr>
                </a:tc>
              </a:tr>
              <a:tr h="187200">
                <a:tc>
                  <a:txBody>
                    <a:bodyPr/>
                    <a:lstStyle/>
                    <a:p>
                      <a:pPr algn="l"/>
                      <a:r>
                        <a:rPr sz="850" b="1">
                          <a:solidFill>
                            <a:srgbClr val="1A1A1A"/>
                          </a:solidFill>
                          <a:latin typeface="Versos"/>
                        </a:rPr>
                        <a:t>FIDC</a:t>
                      </a:r>
                    </a:p>
                  </a:txBody>
                  <a:tcPr marL="43200" marR="43200" marT="0" marB="0">
                    <a:solidFill>
                      <a:srgbClr val="FFFFFF"/>
                    </a:solidFill>
                  </a:tcPr>
                </a:tc>
                <a:tc>
                  <a:txBody>
                    <a:bodyPr/>
                    <a:lstStyle/>
                    <a:p>
                      <a:pPr algn="r"/>
                      <a:r>
                        <a:rPr sz="850" b="0">
                          <a:solidFill>
                            <a:srgbClr val="1A1A1A"/>
                          </a:solidFill>
                          <a:latin typeface="Versos"/>
                        </a:rPr>
                        <a:t>3,5%</a:t>
                      </a:r>
                    </a:p>
                  </a:txBody>
                  <a:tcPr marL="43200" marR="43200" marT="0" marB="0">
                    <a:solidFill>
                      <a:srgbClr val="FFFFFF"/>
                    </a:solidFill>
                  </a:tcPr>
                </a:tc>
              </a:tr>
              <a:tr h="1872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2,5%</a:t>
                      </a:r>
                    </a:p>
                  </a:txBody>
                  <a:tcPr marL="43200" marR="43200" marT="0" marB="0">
                    <a:solidFill>
                      <a:srgbClr val="F4F7F9"/>
                    </a:solidFill>
                  </a:tcPr>
                </a:tc>
              </a:tr>
              <a:tr h="1872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2,4%</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26,9%</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32,1%</a:t>
                      </a:r>
                    </a:p>
                  </a:txBody>
                  <a:tcPr marL="43200" marR="43200" marT="0" marB="0">
                    <a:solidFill>
                      <a:srgbClr val="F4F7F9"/>
                    </a:solidFill>
                  </a:tcPr>
                </a:tc>
                <a:tc>
                  <a:txBody>
                    <a:bodyPr/>
                    <a:lstStyle/>
                    <a:p>
                      <a:pPr algn="r"/>
                      <a:r>
                        <a:rPr sz="850" b="0">
                          <a:solidFill>
                            <a:srgbClr val="1A1A1A"/>
                          </a:solidFill>
                          <a:latin typeface="Versos"/>
                        </a:rPr>
                        <a:t>6,0%</a:t>
                      </a:r>
                    </a:p>
                  </a:txBody>
                  <a:tcPr marL="43200" marR="43200" marT="0" marB="0">
                    <a:solidFill>
                      <a:srgbClr val="F4F7F9"/>
                    </a:solidFill>
                  </a:tcPr>
                </a:tc>
                <a:tc>
                  <a:txBody>
                    <a:bodyPr/>
                    <a:lstStyle/>
                    <a:p>
                      <a:pPr algn="r"/>
                      <a:r>
                        <a:rPr sz="850" b="0">
                          <a:solidFill>
                            <a:srgbClr val="1A1A1A"/>
                          </a:solidFill>
                          <a:latin typeface="Versos"/>
                        </a:rPr>
                        <a:t>2,6%</a:t>
                      </a:r>
                    </a:p>
                  </a:txBody>
                  <a:tcPr marL="43200" marR="43200" marT="0" marB="0">
                    <a:solidFill>
                      <a:srgbClr val="F4F7F9"/>
                    </a:solidFill>
                  </a:tcPr>
                </a:tc>
                <a:tc>
                  <a:txBody>
                    <a:bodyPr/>
                    <a:lstStyle/>
                    <a:p>
                      <a:pPr algn="r"/>
                      <a:r>
                        <a:rPr sz="850" b="0">
                          <a:solidFill>
                            <a:srgbClr val="1A1A1A"/>
                          </a:solidFill>
                          <a:latin typeface="Versos"/>
                        </a:rPr>
                        <a:t>2,5%</a:t>
                      </a:r>
                    </a:p>
                  </a:txBody>
                  <a:tcPr marL="43200" marR="43200" marT="0" marB="0">
                    <a:solidFill>
                      <a:srgbClr val="F4F7F9"/>
                    </a:solidFill>
                  </a:tcPr>
                </a:tc>
                <a:tc>
                  <a:txBody>
                    <a:bodyPr/>
                    <a:lstStyle/>
                    <a:p>
                      <a:pPr algn="r"/>
                      <a:r>
                        <a:rPr sz="850" b="0">
                          <a:solidFill>
                            <a:srgbClr val="1A1A1A"/>
                          </a:solidFill>
                          <a:latin typeface="Versos"/>
                        </a:rPr>
                        <a:t>1,2%</a:t>
                      </a:r>
                    </a:p>
                  </a:txBody>
                  <a:tcPr marL="43200" marR="43200" marT="0" marB="0">
                    <a:solidFill>
                      <a:srgbClr val="F4F7F9"/>
                    </a:solidFill>
                  </a:tcPr>
                </a:tc>
                <a:tc>
                  <a:txBody>
                    <a:bodyPr/>
                    <a:lstStyle/>
                    <a:p>
                      <a:pPr algn="r"/>
                      <a:r>
                        <a:rPr sz="850" b="0">
                          <a:solidFill>
                            <a:srgbClr val="1A1A1A"/>
                          </a:solidFill>
                          <a:latin typeface="Versos"/>
                        </a:rPr>
                        <a:t>2,6%</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BVP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BVP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BVP</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09/07/2024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R$ 749.130.776,26</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R$ 761.087.741,99</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0,29%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+0,39%</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0,98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