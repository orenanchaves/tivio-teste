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29956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387609"/>
            <a:ext cx="5511542" cy="189000"/>
          </a:xfrm>
          <a:prstGeom prst="rect">
            <a:avLst/>
          </a:prstGeom>
          <a:noFill/>
        </p:spPr>
        <p:txBody>
          <a:bodyPr wrap="none" lIns="0" rIns="0" tIns="0" bIns="0" anchor="t"/>
          <a:lstStyle/>
          <a:p>
            <a:pPr algn="l">
              <a:lnSpc>
                <a:spcPts val="1375"/>
              </a:lnSpc>
            </a:pPr>
            <a:r>
              <a:rPr sz="1250" b="1" i="0">
                <a:solidFill>
                  <a:srgbClr val="FFFFFF"/>
                </a:solidFill>
                <a:latin typeface="Versos"/>
              </a:rPr>
              <a:t>81,4%</a:t>
            </a:r>
          </a:p>
        </p:txBody>
      </p:sp>
      <p:sp>
        <p:nvSpPr>
          <p:cNvPr id="45" name="TextBox 44"/>
          <p:cNvSpPr txBox="1"/>
          <p:nvPr/>
        </p:nvSpPr>
        <p:spPr>
          <a:xfrm>
            <a:off x="5995080" y="5637870"/>
            <a:ext cx="1108475" cy="151200"/>
          </a:xfrm>
          <a:prstGeom prst="rect">
            <a:avLst/>
          </a:prstGeom>
          <a:noFill/>
        </p:spPr>
        <p:txBody>
          <a:bodyPr wrap="none" lIns="0" rIns="0" tIns="0" bIns="0" anchor="t"/>
          <a:lstStyle/>
          <a:p>
            <a:pPr algn="l">
              <a:lnSpc>
                <a:spcPts val="1113"/>
              </a:lnSpc>
            </a:pPr>
            <a:r>
              <a:rPr sz="1012" b="0" i="0">
                <a:solidFill>
                  <a:srgbClr val="2B3744"/>
                </a:solidFill>
                <a:latin typeface="Versos"/>
              </a:rPr>
              <a:t>Liquidez</a:t>
            </a:r>
          </a:p>
        </p:txBody>
      </p:sp>
      <p:sp>
        <p:nvSpPr>
          <p:cNvPr id="46" name="TextBox 45"/>
          <p:cNvSpPr txBox="1"/>
          <p:nvPr/>
        </p:nvSpPr>
        <p:spPr>
          <a:xfrm>
            <a:off x="5995080" y="5794267"/>
            <a:ext cx="1108475" cy="189000"/>
          </a:xfrm>
          <a:prstGeom prst="rect">
            <a:avLst/>
          </a:prstGeom>
          <a:noFill/>
        </p:spPr>
        <p:txBody>
          <a:bodyPr wrap="none" lIns="0" rIns="0" tIns="0" bIns="0" anchor="t"/>
          <a:lstStyle/>
          <a:p>
            <a:pPr algn="l">
              <a:lnSpc>
                <a:spcPts val="1375"/>
              </a:lnSpc>
            </a:pPr>
            <a:r>
              <a:rPr sz="1250" b="1" i="0">
                <a:solidFill>
                  <a:srgbClr val="2B3744"/>
                </a:solidFill>
                <a:latin typeface="Versos"/>
              </a:rPr>
              <a:t>10,2%</a:t>
            </a:r>
          </a:p>
        </p:txBody>
      </p:sp>
      <p:sp>
        <p:nvSpPr>
          <p:cNvPr id="47" name="TextBox 46"/>
          <p:cNvSpPr txBox="1"/>
          <p:nvPr/>
        </p:nvSpPr>
        <p:spPr>
          <a:xfrm>
            <a:off x="5939088" y="6311891"/>
            <a:ext cx="449938" cy="165493"/>
          </a:xfrm>
          <a:prstGeom prst="rect">
            <a:avLst/>
          </a:prstGeom>
          <a:noFill/>
        </p:spPr>
        <p:txBody>
          <a:bodyPr wrap="square" lIns="0" rIns="0" tIns="0" bIns="0" anchor="t"/>
          <a:lstStyle/>
          <a:p>
            <a:pPr algn="l">
              <a:lnSpc>
                <a:spcPts val="648"/>
              </a:lnSpc>
            </a:pPr>
            <a:r>
              <a:rPr sz="589" b="0" i="0">
                <a:solidFill>
                  <a:srgbClr val="FFFFFF"/>
                </a:solidFill>
                <a:latin typeface="Versos"/>
              </a:rPr>
              <a:t>Crédito</a:t>
            </a:r>
          </a:p>
          <a:p>
            <a:pPr algn="l">
              <a:lnSpc>
                <a:spcPts val="648"/>
              </a:lnSpc>
            </a:pPr>
            <a:r>
              <a:rPr sz="589" b="1" i="0">
                <a:solidFill>
                  <a:srgbClr val="FFFFFF"/>
                </a:solidFill>
                <a:latin typeface="Versos"/>
              </a:rPr>
              <a:t>Privado</a:t>
            </a:r>
          </a:p>
        </p:txBody>
      </p:sp>
      <p:sp>
        <p:nvSpPr>
          <p:cNvPr id="48" name="TextBox 47"/>
          <p:cNvSpPr txBox="1"/>
          <p:nvPr/>
        </p:nvSpPr>
        <p:spPr>
          <a:xfrm>
            <a:off x="5939088" y="6491677"/>
            <a:ext cx="467935" cy="136080"/>
          </a:xfrm>
          <a:prstGeom prst="rect">
            <a:avLst/>
          </a:prstGeom>
          <a:noFill/>
        </p:spPr>
        <p:txBody>
          <a:bodyPr wrap="none" lIns="0" rIns="0" tIns="0" bIns="0" anchor="t"/>
          <a:lstStyle/>
          <a:p>
            <a:pPr algn="l">
              <a:lnSpc>
                <a:spcPts val="995"/>
              </a:lnSpc>
            </a:pPr>
            <a:r>
              <a:rPr sz="904" b="1" i="0">
                <a:solidFill>
                  <a:srgbClr val="FFFFFF"/>
                </a:solidFill>
                <a:latin typeface="Versos"/>
              </a:rPr>
              <a:t>3,6%</a:t>
            </a:r>
          </a:p>
        </p:txBody>
      </p:sp>
      <p:sp>
        <p:nvSpPr>
          <p:cNvPr id="49" name="TextBox 48"/>
          <p:cNvSpPr txBox="1"/>
          <p:nvPr/>
        </p:nvSpPr>
        <p:spPr>
          <a:xfrm>
            <a:off x="6489433" y="6103991"/>
            <a:ext cx="636117" cy="75600"/>
          </a:xfrm>
          <a:prstGeom prst="rect">
            <a:avLst/>
          </a:prstGeom>
          <a:noFill/>
        </p:spPr>
        <p:txBody>
          <a:bodyPr wrap="none" lIns="0" rIns="0" tIns="0" bIns="0" anchor="t"/>
          <a:lstStyle/>
          <a:p>
            <a:pPr algn="l">
              <a:lnSpc>
                <a:spcPts val="530"/>
              </a:lnSpc>
            </a:pPr>
            <a:r>
              <a:rPr sz="482" b="0" i="0">
                <a:solidFill>
                  <a:srgbClr val="2B3744"/>
                </a:solidFill>
                <a:latin typeface="Versos"/>
              </a:rPr>
              <a:t>Crédito Estruturado</a:t>
            </a:r>
          </a:p>
        </p:txBody>
      </p:sp>
      <p:sp>
        <p:nvSpPr>
          <p:cNvPr id="50" name="TextBox 49"/>
          <p:cNvSpPr txBox="1"/>
          <p:nvPr/>
        </p:nvSpPr>
        <p:spPr>
          <a:xfrm>
            <a:off x="6489433" y="6186324"/>
            <a:ext cx="636117" cy="120960"/>
          </a:xfrm>
          <a:prstGeom prst="rect">
            <a:avLst/>
          </a:prstGeom>
          <a:noFill/>
        </p:spPr>
        <p:txBody>
          <a:bodyPr wrap="none" lIns="0" rIns="0" tIns="0" bIns="0" anchor="t"/>
          <a:lstStyle/>
          <a:p>
            <a:pPr algn="l">
              <a:lnSpc>
                <a:spcPts val="877"/>
              </a:lnSpc>
            </a:pPr>
            <a:r>
              <a:rPr sz="797" b="1" i="0">
                <a:solidFill>
                  <a:srgbClr val="2B3744"/>
                </a:solidFill>
                <a:latin typeface="Versos"/>
              </a:rPr>
              <a:t>2,9%</a:t>
            </a:r>
          </a:p>
        </p:txBody>
      </p:sp>
      <p:sp>
        <p:nvSpPr>
          <p:cNvPr id="51" name="TextBox 50"/>
          <p:cNvSpPr txBox="1"/>
          <p:nvPr/>
        </p:nvSpPr>
        <p:spPr>
          <a:xfrm>
            <a:off x="6484235" y="6380285"/>
            <a:ext cx="334029" cy="136080"/>
          </a:xfrm>
          <a:prstGeom prst="rect">
            <a:avLst/>
          </a:prstGeom>
          <a:noFill/>
        </p:spPr>
        <p:txBody>
          <a:bodyPr wrap="none" lIns="0" rIns="0" tIns="0" bIns="0" anchor="t"/>
          <a:lstStyle/>
          <a:p>
            <a:pPr algn="l">
              <a:lnSpc>
                <a:spcPts val="936"/>
              </a:lnSpc>
            </a:pPr>
            <a:r>
              <a:rPr sz="851" b="0" i="0">
                <a:solidFill>
                  <a:srgbClr val="2B3744"/>
                </a:solidFill>
                <a:latin typeface="Versos"/>
              </a:rPr>
              <a:t>Fiagro</a:t>
            </a:r>
          </a:p>
        </p:txBody>
      </p:sp>
      <p:sp>
        <p:nvSpPr>
          <p:cNvPr id="52" name="TextBox 51"/>
          <p:cNvSpPr txBox="1"/>
          <p:nvPr/>
        </p:nvSpPr>
        <p:spPr>
          <a:xfrm>
            <a:off x="6843217" y="6385601"/>
            <a:ext cx="252088" cy="136080"/>
          </a:xfrm>
          <a:prstGeom prst="rect">
            <a:avLst/>
          </a:prstGeom>
          <a:noFill/>
        </p:spPr>
        <p:txBody>
          <a:bodyPr wrap="none" lIns="0" rIns="0" tIns="0" bIns="0" anchor="t"/>
          <a:lstStyle/>
          <a:p>
            <a:pPr algn="l">
              <a:lnSpc>
                <a:spcPts val="851"/>
              </a:lnSpc>
            </a:pPr>
            <a:r>
              <a:rPr sz="851" b="1" i="0">
                <a:solidFill>
                  <a:srgbClr val="2B3744"/>
                </a:solidFill>
                <a:latin typeface="Versos"/>
              </a:rPr>
              <a:t>1,5%</a:t>
            </a:r>
          </a:p>
        </p:txBody>
      </p:sp>
      <p:sp>
        <p:nvSpPr>
          <p:cNvPr id="53" name="TextBox 52"/>
          <p:cNvSpPr txBox="1"/>
          <p:nvPr/>
        </p:nvSpPr>
        <p:spPr>
          <a:xfrm>
            <a:off x="6484235" y="6572120"/>
            <a:ext cx="541522" cy="60480"/>
          </a:xfrm>
          <a:prstGeom prst="rect">
            <a:avLst/>
          </a:prstGeom>
          <a:noFill/>
        </p:spPr>
        <p:txBody>
          <a:bodyPr wrap="none" lIns="0" rIns="0" tIns="0" bIns="0" anchor="t"/>
          <a:lstStyle/>
          <a:p>
            <a:pPr algn="l">
              <a:lnSpc>
                <a:spcPts val="432"/>
              </a:lnSpc>
            </a:pPr>
            <a:r>
              <a:rPr sz="392" b="0" i="0">
                <a:solidFill>
                  <a:srgbClr val="2B3744"/>
                </a:solidFill>
                <a:latin typeface="Versos"/>
              </a:rPr>
              <a:t>FIDCs Cota Mezanino</a:t>
            </a:r>
          </a:p>
        </p:txBody>
      </p:sp>
      <p:sp>
        <p:nvSpPr>
          <p:cNvPr id="54" name="TextBox 53"/>
          <p:cNvSpPr txBox="1"/>
          <p:nvPr/>
        </p:nvSpPr>
        <p:spPr>
          <a:xfrm>
            <a:off x="7022295" y="6574601"/>
            <a:ext cx="131940" cy="60480"/>
          </a:xfrm>
          <a:prstGeom prst="rect">
            <a:avLst/>
          </a:prstGeom>
          <a:noFill/>
        </p:spPr>
        <p:txBody>
          <a:bodyPr wrap="none" lIns="0" rIns="0" tIns="0" bIns="0" anchor="t"/>
          <a:lstStyle/>
          <a:p>
            <a:pPr algn="l">
              <a:lnSpc>
                <a:spcPts val="392"/>
              </a:lnSpc>
            </a:pPr>
            <a:r>
              <a:rPr sz="392" b="1" i="0">
                <a:solidFill>
                  <a:srgbClr val="2B3744"/>
                </a:solidFill>
                <a:latin typeface="Versos"/>
              </a:rPr>
              <a:t>0,6%</a:t>
            </a:r>
          </a:p>
        </p:txBody>
      </p:sp>
      <p:sp>
        <p:nvSpPr>
          <p:cNvPr id="55" name="TextBox 54"/>
          <p:cNvSpPr txBox="1"/>
          <p:nvPr/>
        </p:nvSpPr>
        <p:spPr>
          <a:xfrm>
            <a:off x="529200" y="6743638"/>
            <a:ext cx="1207124"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81,4%</a:t>
            </a:r>
          </a:p>
        </p:txBody>
      </p:sp>
      <p:sp>
        <p:nvSpPr>
          <p:cNvPr id="56" name="TextBox 55"/>
          <p:cNvSpPr txBox="1"/>
          <p:nvPr/>
        </p:nvSpPr>
        <p:spPr>
          <a:xfrm>
            <a:off x="1954496" y="6743638"/>
            <a:ext cx="728623"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10,2%</a:t>
            </a:r>
          </a:p>
        </p:txBody>
      </p:sp>
      <p:sp>
        <p:nvSpPr>
          <p:cNvPr id="57" name="TextBox 56"/>
          <p:cNvSpPr txBox="1"/>
          <p:nvPr/>
        </p:nvSpPr>
        <p:spPr>
          <a:xfrm>
            <a:off x="2919695"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8" name="TextBox 57"/>
          <p:cNvSpPr txBox="1"/>
          <p:nvPr/>
        </p:nvSpPr>
        <p:spPr>
          <a:xfrm>
            <a:off x="4166386" y="6743638"/>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2,9%</a:t>
            </a:r>
          </a:p>
        </p:txBody>
      </p:sp>
      <p:sp>
        <p:nvSpPr>
          <p:cNvPr id="59" name="TextBox 58"/>
          <p:cNvSpPr txBox="1"/>
          <p:nvPr/>
        </p:nvSpPr>
        <p:spPr>
          <a:xfrm>
            <a:off x="5604676" y="6743638"/>
            <a:ext cx="55945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1,5%</a:t>
            </a:r>
          </a:p>
        </p:txBody>
      </p:sp>
      <p:sp>
        <p:nvSpPr>
          <p:cNvPr id="60" name="TextBox 59"/>
          <p:cNvSpPr txBox="1"/>
          <p:nvPr/>
        </p:nvSpPr>
        <p:spPr>
          <a:xfrm>
            <a:off x="529200" y="6902398"/>
            <a:ext cx="1322603"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0,6%</a:t>
            </a:r>
          </a:p>
        </p:txBody>
      </p:sp>
      <p:sp>
        <p:nvSpPr>
          <p:cNvPr id="61" name="TextBox 60"/>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2" name="TextBox 61"/>
          <p:cNvSpPr txBox="1"/>
          <p:nvPr/>
        </p:nvSpPr>
        <p:spPr>
          <a:xfrm>
            <a:off x="415800" y="7998598"/>
            <a:ext cx="6728400" cy="269797"/>
          </a:xfrm>
          <a:prstGeom prst="rect">
            <a:avLst/>
          </a:prstGeom>
          <a:noFill/>
        </p:spPr>
        <p:txBody>
          <a:bodyPr wrap="square" lIns="0" rIns="0" tIns="0" bIns="0" anchor="t"/>
          <a:lstStyle/>
          <a:p>
            <a:pPr algn="just">
              <a:lnSpc>
                <a:spcPts val="1053"/>
              </a:lnSpc>
            </a:pPr>
            <a:r>
              <a:rPr sz="892"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3" name="TextBox 62"/>
          <p:cNvSpPr txBox="1"/>
          <p:nvPr/>
        </p:nvSpPr>
        <p:spPr>
          <a:xfrm>
            <a:off x="415800" y="8334073"/>
            <a:ext cx="6728400" cy="804667"/>
          </a:xfrm>
          <a:prstGeom prst="rect">
            <a:avLst/>
          </a:prstGeom>
          <a:noFill/>
        </p:spPr>
        <p:txBody>
          <a:bodyPr wrap="square" lIns="0" rIns="0" tIns="0" bIns="0" anchor="t"/>
          <a:lstStyle/>
          <a:p>
            <a:pPr algn="just">
              <a:lnSpc>
                <a:spcPts val="1053"/>
              </a:lnSpc>
            </a:pPr>
            <a:r>
              <a:rPr sz="892"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4" name="TextBox 63"/>
          <p:cNvSpPr txBox="1"/>
          <p:nvPr/>
        </p:nvSpPr>
        <p:spPr>
          <a:xfrm>
            <a:off x="415800" y="9204418"/>
            <a:ext cx="6728400" cy="670950"/>
          </a:xfrm>
          <a:prstGeom prst="rect">
            <a:avLst/>
          </a:prstGeom>
          <a:noFill/>
        </p:spPr>
        <p:txBody>
          <a:bodyPr wrap="square" lIns="0" rIns="0" tIns="0" bIns="0" anchor="t"/>
          <a:lstStyle/>
          <a:p>
            <a:pPr algn="just">
              <a:lnSpc>
                <a:spcPts val="1053"/>
              </a:lnSpc>
            </a:pPr>
            <a:r>
              <a:rPr sz="892"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5" name="TextBox 6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