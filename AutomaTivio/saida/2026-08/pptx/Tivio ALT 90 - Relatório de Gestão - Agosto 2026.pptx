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1005480"/>
            <a:ext cx="6266332" cy="173880"/>
          </a:xfrm>
          <a:prstGeom prst="rect">
            <a:avLst/>
          </a:prstGeom>
          <a:noFill/>
        </p:spPr>
        <p:txBody>
          <a:bodyPr wrap="none" lIns="0" rIns="0" tIns="0" bIns="0" anchor="t"/>
          <a:lstStyle/>
          <a:p>
            <a:pPr algn="l">
              <a:lnSpc>
                <a:spcPts val="1321"/>
              </a:lnSpc>
            </a:pPr>
            <a:r>
              <a:rPr sz="1101" b="0" i="0">
                <a:solidFill>
                  <a:srgbClr val="FFFFFF"/>
                </a:solidFill>
                <a:latin typeface="Versos"/>
              </a:rPr>
              <a:t>TIVIO ALT HY 90 FIDC RL </a:t>
            </a:r>
            <a:r>
              <a:rPr sz="903" b="0" i="0">
                <a:solidFill>
                  <a:srgbClr val="FFFFFF"/>
                </a:solidFill>
                <a:latin typeface="Versos"/>
              </a:rPr>
              <a:t>/ CNPJ 61.020.441/0001-40</a:t>
            </a:r>
          </a:p>
        </p:txBody>
      </p:sp>
      <p:sp>
        <p:nvSpPr>
          <p:cNvPr id="4" name="TextBox 3"/>
          <p:cNvSpPr txBox="1"/>
          <p:nvPr/>
        </p:nvSpPr>
        <p:spPr>
          <a:xfrm>
            <a:off x="400680" y="140616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385560" y="1980720"/>
            <a:ext cx="7044710" cy="151200"/>
          </a:xfrm>
          <a:prstGeom prst="rect">
            <a:avLst/>
          </a:prstGeom>
          <a:noFill/>
        </p:spPr>
        <p:txBody>
          <a:bodyPr wrap="none" lIns="0" rIns="0" tIns="0" bIns="0" anchor="t"/>
          <a:lstStyle/>
          <a:p>
            <a:pPr algn="l">
              <a:lnSpc>
                <a:spcPts val="1214"/>
              </a:lnSpc>
            </a:pPr>
            <a:r>
              <a:rPr sz="1012" b="0" i="0">
                <a:solidFill>
                  <a:srgbClr val="FFFFFF"/>
                </a:solidFill>
                <a:latin typeface="Versos"/>
              </a:rPr>
              <a:t>OBJETIVO DA CARTEIRA</a:t>
            </a:r>
          </a:p>
        </p:txBody>
      </p:sp>
      <p:sp>
        <p:nvSpPr>
          <p:cNvPr id="6" name="TextBox 5"/>
          <p:cNvSpPr txBox="1"/>
          <p:nvPr/>
        </p:nvSpPr>
        <p:spPr>
          <a:xfrm>
            <a:off x="385560" y="2154600"/>
            <a:ext cx="6773760" cy="367368"/>
          </a:xfrm>
          <a:prstGeom prst="rect">
            <a:avLst/>
          </a:prstGeom>
          <a:noFill/>
        </p:spPr>
        <p:txBody>
          <a:bodyPr wrap="square" lIns="0" rIns="0" tIns="0" bIns="0" anchor="t"/>
          <a:lstStyle/>
          <a:p>
            <a:pPr algn="l">
              <a:lnSpc>
                <a:spcPts val="1464"/>
              </a:lnSpc>
            </a:pPr>
            <a:r>
              <a:rPr sz="1220" b="0" i="0">
                <a:solidFill>
                  <a:srgbClr val="FFFFFF"/>
                </a:solidFill>
                <a:latin typeface="Versos"/>
              </a:rPr>
              <a:t>O </a:t>
            </a:r>
            <a:r>
              <a:rPr sz="1220" b="1" i="0">
                <a:solidFill>
                  <a:srgbClr val="FFFFFF"/>
                </a:solidFill>
                <a:latin typeface="Versos"/>
              </a:rPr>
              <a:t>Tivio ALT 90</a:t>
            </a:r>
            <a:r>
              <a:rPr sz="1220" b="0" i="0">
                <a:solidFill>
                  <a:srgbClr val="FFFFFF"/>
                </a:solidFill>
                <a:latin typeface="Versos"/>
              </a:rPr>
              <a:t> busca retorno superior ao CDI com baixa volatilidade, por meio de FIDCs em cotas sênior, garantindo diversificação, segurança e relação risco-retorno atrativa.</a:t>
            </a:r>
          </a:p>
        </p:txBody>
      </p:sp>
      <p:sp>
        <p:nvSpPr>
          <p:cNvPr id="7" name="TextBox 6"/>
          <p:cNvSpPr txBox="1"/>
          <p:nvPr/>
        </p:nvSpPr>
        <p:spPr>
          <a:xfrm>
            <a:off x="115668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Mês</a:t>
            </a:r>
          </a:p>
        </p:txBody>
      </p:sp>
      <p:sp>
        <p:nvSpPr>
          <p:cNvPr id="8" name="TextBox 7"/>
          <p:cNvSpPr txBox="1"/>
          <p:nvPr/>
        </p:nvSpPr>
        <p:spPr>
          <a:xfrm>
            <a:off x="216216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Ano</a:t>
            </a:r>
          </a:p>
        </p:txBody>
      </p:sp>
      <p:sp>
        <p:nvSpPr>
          <p:cNvPr id="9" name="TextBox 8"/>
          <p:cNvSpPr txBox="1"/>
          <p:nvPr/>
        </p:nvSpPr>
        <p:spPr>
          <a:xfrm>
            <a:off x="316764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12M</a:t>
            </a:r>
          </a:p>
        </p:txBody>
      </p:sp>
      <p:sp>
        <p:nvSpPr>
          <p:cNvPr id="10" name="TextBox 9"/>
          <p:cNvSpPr txBox="1"/>
          <p:nvPr/>
        </p:nvSpPr>
        <p:spPr>
          <a:xfrm>
            <a:off x="417312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24M</a:t>
            </a:r>
          </a:p>
        </p:txBody>
      </p:sp>
      <p:sp>
        <p:nvSpPr>
          <p:cNvPr id="11" name="TextBox 10"/>
          <p:cNvSpPr txBox="1"/>
          <p:nvPr/>
        </p:nvSpPr>
        <p:spPr>
          <a:xfrm>
            <a:off x="517860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36M</a:t>
            </a:r>
          </a:p>
        </p:txBody>
      </p:sp>
      <p:sp>
        <p:nvSpPr>
          <p:cNvPr id="12" name="TextBox 11"/>
          <p:cNvSpPr txBox="1"/>
          <p:nvPr/>
        </p:nvSpPr>
        <p:spPr>
          <a:xfrm>
            <a:off x="618408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Desde o Início</a:t>
            </a:r>
          </a:p>
        </p:txBody>
      </p:sp>
      <p:sp>
        <p:nvSpPr>
          <p:cNvPr id="13" name="TextBox 12"/>
          <p:cNvSpPr txBox="1"/>
          <p:nvPr/>
        </p:nvSpPr>
        <p:spPr>
          <a:xfrm>
            <a:off x="370440" y="3021637"/>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Fundo</a:t>
            </a:r>
          </a:p>
        </p:txBody>
      </p:sp>
      <p:sp>
        <p:nvSpPr>
          <p:cNvPr id="14" name="TextBox 13"/>
          <p:cNvSpPr txBox="1"/>
          <p:nvPr/>
        </p:nvSpPr>
        <p:spPr>
          <a:xfrm>
            <a:off x="115668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1,22%</a:t>
            </a:r>
          </a:p>
        </p:txBody>
      </p:sp>
      <p:sp>
        <p:nvSpPr>
          <p:cNvPr id="15" name="TextBox 14"/>
          <p:cNvSpPr txBox="1"/>
          <p:nvPr/>
        </p:nvSpPr>
        <p:spPr>
          <a:xfrm>
            <a:off x="216216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10,40%</a:t>
            </a:r>
          </a:p>
        </p:txBody>
      </p:sp>
      <p:sp>
        <p:nvSpPr>
          <p:cNvPr id="16" name="TextBox 15"/>
          <p:cNvSpPr txBox="1"/>
          <p:nvPr/>
        </p:nvSpPr>
        <p:spPr>
          <a:xfrm>
            <a:off x="316764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16,49%</a:t>
            </a:r>
          </a:p>
        </p:txBody>
      </p:sp>
      <p:sp>
        <p:nvSpPr>
          <p:cNvPr id="17" name="TextBox 16"/>
          <p:cNvSpPr txBox="1"/>
          <p:nvPr/>
        </p:nvSpPr>
        <p:spPr>
          <a:xfrm>
            <a:off x="417312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a:t>
            </a:r>
          </a:p>
        </p:txBody>
      </p:sp>
      <p:sp>
        <p:nvSpPr>
          <p:cNvPr id="18" name="TextBox 17"/>
          <p:cNvSpPr txBox="1"/>
          <p:nvPr/>
        </p:nvSpPr>
        <p:spPr>
          <a:xfrm>
            <a:off x="517860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a:t>
            </a:r>
          </a:p>
        </p:txBody>
      </p:sp>
      <p:sp>
        <p:nvSpPr>
          <p:cNvPr id="19" name="TextBox 18"/>
          <p:cNvSpPr txBox="1"/>
          <p:nvPr/>
        </p:nvSpPr>
        <p:spPr>
          <a:xfrm>
            <a:off x="618408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21,25%</a:t>
            </a:r>
          </a:p>
        </p:txBody>
      </p:sp>
      <p:sp>
        <p:nvSpPr>
          <p:cNvPr id="20" name="TextBox 19"/>
          <p:cNvSpPr txBox="1"/>
          <p:nvPr/>
        </p:nvSpPr>
        <p:spPr>
          <a:xfrm>
            <a:off x="370440" y="3407197"/>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CDI</a:t>
            </a:r>
          </a:p>
        </p:txBody>
      </p:sp>
      <p:sp>
        <p:nvSpPr>
          <p:cNvPr id="21" name="TextBox 20"/>
          <p:cNvSpPr txBox="1"/>
          <p:nvPr/>
        </p:nvSpPr>
        <p:spPr>
          <a:xfrm>
            <a:off x="115668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1,09%</a:t>
            </a:r>
          </a:p>
        </p:txBody>
      </p:sp>
      <p:sp>
        <p:nvSpPr>
          <p:cNvPr id="22" name="TextBox 21"/>
          <p:cNvSpPr txBox="1"/>
          <p:nvPr/>
        </p:nvSpPr>
        <p:spPr>
          <a:xfrm>
            <a:off x="216216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9,33%</a:t>
            </a:r>
          </a:p>
        </p:txBody>
      </p:sp>
      <p:sp>
        <p:nvSpPr>
          <p:cNvPr id="23" name="TextBox 22"/>
          <p:cNvSpPr txBox="1"/>
          <p:nvPr/>
        </p:nvSpPr>
        <p:spPr>
          <a:xfrm>
            <a:off x="316764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14,57%</a:t>
            </a:r>
          </a:p>
        </p:txBody>
      </p:sp>
      <p:sp>
        <p:nvSpPr>
          <p:cNvPr id="24" name="TextBox 23"/>
          <p:cNvSpPr txBox="1"/>
          <p:nvPr/>
        </p:nvSpPr>
        <p:spPr>
          <a:xfrm>
            <a:off x="417312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25" name="TextBox 24"/>
          <p:cNvSpPr txBox="1"/>
          <p:nvPr/>
        </p:nvSpPr>
        <p:spPr>
          <a:xfrm>
            <a:off x="517860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26" name="TextBox 25"/>
          <p:cNvSpPr txBox="1"/>
          <p:nvPr/>
        </p:nvSpPr>
        <p:spPr>
          <a:xfrm>
            <a:off x="618408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18,41%</a:t>
            </a:r>
          </a:p>
        </p:txBody>
      </p:sp>
      <p:sp>
        <p:nvSpPr>
          <p:cNvPr id="27" name="TextBox 26"/>
          <p:cNvSpPr txBox="1"/>
          <p:nvPr/>
        </p:nvSpPr>
        <p:spPr>
          <a:xfrm>
            <a:off x="370440" y="3792757"/>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a:t>
            </a:r>
          </a:p>
        </p:txBody>
      </p:sp>
      <p:sp>
        <p:nvSpPr>
          <p:cNvPr id="28" name="TextBox 27"/>
          <p:cNvSpPr txBox="1"/>
          <p:nvPr/>
        </p:nvSpPr>
        <p:spPr>
          <a:xfrm>
            <a:off x="115668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111,86%</a:t>
            </a:r>
          </a:p>
        </p:txBody>
      </p:sp>
      <p:sp>
        <p:nvSpPr>
          <p:cNvPr id="29" name="TextBox 28"/>
          <p:cNvSpPr txBox="1"/>
          <p:nvPr/>
        </p:nvSpPr>
        <p:spPr>
          <a:xfrm>
            <a:off x="216216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111,49%</a:t>
            </a:r>
          </a:p>
        </p:txBody>
      </p:sp>
      <p:sp>
        <p:nvSpPr>
          <p:cNvPr id="30" name="TextBox 29"/>
          <p:cNvSpPr txBox="1"/>
          <p:nvPr/>
        </p:nvSpPr>
        <p:spPr>
          <a:xfrm>
            <a:off x="316764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113,19%</a:t>
            </a:r>
          </a:p>
        </p:txBody>
      </p:sp>
      <p:sp>
        <p:nvSpPr>
          <p:cNvPr id="31" name="TextBox 30"/>
          <p:cNvSpPr txBox="1"/>
          <p:nvPr/>
        </p:nvSpPr>
        <p:spPr>
          <a:xfrm>
            <a:off x="417312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32" name="TextBox 31"/>
          <p:cNvSpPr txBox="1"/>
          <p:nvPr/>
        </p:nvSpPr>
        <p:spPr>
          <a:xfrm>
            <a:off x="517860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33" name="TextBox 32"/>
          <p:cNvSpPr txBox="1"/>
          <p:nvPr/>
        </p:nvSpPr>
        <p:spPr>
          <a:xfrm>
            <a:off x="618408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115,41%</a:t>
            </a:r>
          </a:p>
        </p:txBody>
      </p:sp>
      <p:sp>
        <p:nvSpPr>
          <p:cNvPr id="34" name="TextBox 33"/>
          <p:cNvSpPr txBox="1"/>
          <p:nvPr/>
        </p:nvSpPr>
        <p:spPr>
          <a:xfrm>
            <a:off x="370440" y="4178317"/>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CDI+</a:t>
            </a:r>
          </a:p>
        </p:txBody>
      </p:sp>
      <p:sp>
        <p:nvSpPr>
          <p:cNvPr id="35" name="TextBox 34"/>
          <p:cNvSpPr txBox="1"/>
          <p:nvPr/>
        </p:nvSpPr>
        <p:spPr>
          <a:xfrm>
            <a:off x="115668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1,55%</a:t>
            </a:r>
          </a:p>
        </p:txBody>
      </p:sp>
      <p:sp>
        <p:nvSpPr>
          <p:cNvPr id="36" name="TextBox 35"/>
          <p:cNvSpPr txBox="1"/>
          <p:nvPr/>
        </p:nvSpPr>
        <p:spPr>
          <a:xfrm>
            <a:off x="216216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1,49%</a:t>
            </a:r>
          </a:p>
        </p:txBody>
      </p:sp>
      <p:sp>
        <p:nvSpPr>
          <p:cNvPr id="37" name="TextBox 36"/>
          <p:cNvSpPr txBox="1"/>
          <p:nvPr/>
        </p:nvSpPr>
        <p:spPr>
          <a:xfrm>
            <a:off x="316764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1,68%</a:t>
            </a:r>
          </a:p>
        </p:txBody>
      </p:sp>
      <p:sp>
        <p:nvSpPr>
          <p:cNvPr id="38" name="TextBox 37"/>
          <p:cNvSpPr txBox="1"/>
          <p:nvPr/>
        </p:nvSpPr>
        <p:spPr>
          <a:xfrm>
            <a:off x="417312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39" name="TextBox 38"/>
          <p:cNvSpPr txBox="1"/>
          <p:nvPr/>
        </p:nvSpPr>
        <p:spPr>
          <a:xfrm>
            <a:off x="517860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40" name="TextBox 39"/>
          <p:cNvSpPr txBox="1"/>
          <p:nvPr/>
        </p:nvSpPr>
        <p:spPr>
          <a:xfrm>
            <a:off x="618408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1,94%</a:t>
            </a:r>
          </a:p>
        </p:txBody>
      </p:sp>
      <p:sp>
        <p:nvSpPr>
          <p:cNvPr id="41" name="TextBox 40"/>
          <p:cNvSpPr txBox="1"/>
          <p:nvPr/>
        </p:nvSpPr>
        <p:spPr>
          <a:xfrm>
            <a:off x="385560" y="4522297"/>
            <a:ext cx="7044710" cy="113400"/>
          </a:xfrm>
          <a:prstGeom prst="rect">
            <a:avLst/>
          </a:prstGeom>
          <a:noFill/>
        </p:spPr>
        <p:txBody>
          <a:bodyPr wrap="none" lIns="0" rIns="0" tIns="0" bIns="0" anchor="t"/>
          <a:lstStyle/>
          <a:p>
            <a:pPr algn="r">
              <a:lnSpc>
                <a:spcPts val="892"/>
              </a:lnSpc>
            </a:pPr>
            <a:r>
              <a:rPr sz="744" b="1" i="0">
                <a:solidFill>
                  <a:srgbClr val="FFFFFF"/>
                </a:solidFill>
                <a:latin typeface="Versos"/>
              </a:rPr>
              <a:t>Data base:</a:t>
            </a:r>
            <a:r>
              <a:rPr sz="744" b="0" i="0">
                <a:solidFill>
                  <a:srgbClr val="FFFFFF"/>
                </a:solidFill>
                <a:latin typeface="Versos"/>
              </a:rPr>
              <a:t> 31/08/2026</a:t>
            </a:r>
          </a:p>
        </p:txBody>
      </p:sp>
      <p:sp>
        <p:nvSpPr>
          <p:cNvPr id="42" name="TextBox 41"/>
          <p:cNvSpPr txBox="1"/>
          <p:nvPr/>
        </p:nvSpPr>
        <p:spPr>
          <a:xfrm>
            <a:off x="400680" y="5028817"/>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REAL DA CARTEIRA DE CRÉDITO</a:t>
            </a:r>
          </a:p>
        </p:txBody>
      </p:sp>
      <p:sp>
        <p:nvSpPr>
          <p:cNvPr id="43" name="TextBox 42"/>
          <p:cNvSpPr txBox="1"/>
          <p:nvPr/>
        </p:nvSpPr>
        <p:spPr>
          <a:xfrm>
            <a:off x="498960" y="6089934"/>
            <a:ext cx="5402210" cy="292477"/>
          </a:xfrm>
          <a:prstGeom prst="rect">
            <a:avLst/>
          </a:prstGeom>
          <a:noFill/>
        </p:spPr>
        <p:txBody>
          <a:bodyPr wrap="square" lIns="0" rIns="0" tIns="0" bIns="0" anchor="t"/>
          <a:lstStyle/>
          <a:p>
            <a:pPr algn="l">
              <a:lnSpc>
                <a:spcPts val="1113"/>
              </a:lnSpc>
            </a:pPr>
            <a:r>
              <a:rPr sz="1012" b="0" i="0">
                <a:solidFill>
                  <a:srgbClr val="FFFFFF"/>
                </a:solidFill>
                <a:latin typeface="Versos"/>
              </a:rPr>
              <a:t>FIDCs</a:t>
            </a:r>
          </a:p>
          <a:p>
            <a:pPr algn="l">
              <a:lnSpc>
                <a:spcPts val="1113"/>
              </a:lnSpc>
            </a:pPr>
            <a:r>
              <a:rPr sz="1012" b="1" i="0">
                <a:solidFill>
                  <a:srgbClr val="FFFFFF"/>
                </a:solidFill>
                <a:latin typeface="Versos"/>
              </a:rPr>
              <a:t>Cotas Sênior</a:t>
            </a:r>
          </a:p>
        </p:txBody>
      </p:sp>
      <p:sp>
        <p:nvSpPr>
          <p:cNvPr id="44" name="TextBox 43"/>
          <p:cNvSpPr txBox="1"/>
          <p:nvPr/>
        </p:nvSpPr>
        <p:spPr>
          <a:xfrm>
            <a:off x="498960" y="6387609"/>
            <a:ext cx="5618299" cy="189000"/>
          </a:xfrm>
          <a:prstGeom prst="rect">
            <a:avLst/>
          </a:prstGeom>
          <a:noFill/>
        </p:spPr>
        <p:txBody>
          <a:bodyPr wrap="none" lIns="0" rIns="0" tIns="0" bIns="0" anchor="t"/>
          <a:lstStyle/>
          <a:p>
            <a:pPr algn="l">
              <a:lnSpc>
                <a:spcPts val="1375"/>
              </a:lnSpc>
            </a:pPr>
            <a:r>
              <a:rPr sz="1250" b="1" i="0">
                <a:solidFill>
                  <a:srgbClr val="FFFFFF"/>
                </a:solidFill>
                <a:latin typeface="Versos"/>
              </a:rPr>
              <a:t>82,9%</a:t>
            </a:r>
          </a:p>
        </p:txBody>
      </p:sp>
      <p:sp>
        <p:nvSpPr>
          <p:cNvPr id="45" name="TextBox 44"/>
          <p:cNvSpPr txBox="1"/>
          <p:nvPr/>
        </p:nvSpPr>
        <p:spPr>
          <a:xfrm>
            <a:off x="6092415" y="5564278"/>
            <a:ext cx="1012775" cy="151200"/>
          </a:xfrm>
          <a:prstGeom prst="rect">
            <a:avLst/>
          </a:prstGeom>
          <a:noFill/>
        </p:spPr>
        <p:txBody>
          <a:bodyPr wrap="none" lIns="0" rIns="0" tIns="0" bIns="0" anchor="t"/>
          <a:lstStyle/>
          <a:p>
            <a:pPr algn="l">
              <a:lnSpc>
                <a:spcPts val="1113"/>
              </a:lnSpc>
            </a:pPr>
            <a:r>
              <a:rPr sz="1012" b="0" i="0">
                <a:solidFill>
                  <a:srgbClr val="2B3744"/>
                </a:solidFill>
                <a:latin typeface="Versos"/>
              </a:rPr>
              <a:t>Bancário</a:t>
            </a:r>
          </a:p>
        </p:txBody>
      </p:sp>
      <p:sp>
        <p:nvSpPr>
          <p:cNvPr id="46" name="TextBox 45"/>
          <p:cNvSpPr txBox="1"/>
          <p:nvPr/>
        </p:nvSpPr>
        <p:spPr>
          <a:xfrm>
            <a:off x="6092415" y="5720675"/>
            <a:ext cx="1012775" cy="189000"/>
          </a:xfrm>
          <a:prstGeom prst="rect">
            <a:avLst/>
          </a:prstGeom>
          <a:noFill/>
        </p:spPr>
        <p:txBody>
          <a:bodyPr wrap="none" lIns="0" rIns="0" tIns="0" bIns="0" anchor="t"/>
          <a:lstStyle/>
          <a:p>
            <a:pPr algn="l">
              <a:lnSpc>
                <a:spcPts val="1375"/>
              </a:lnSpc>
            </a:pPr>
            <a:r>
              <a:rPr sz="1250" b="1" i="0">
                <a:solidFill>
                  <a:srgbClr val="2B3744"/>
                </a:solidFill>
                <a:latin typeface="Versos"/>
              </a:rPr>
              <a:t>8,3%</a:t>
            </a:r>
          </a:p>
        </p:txBody>
      </p:sp>
      <p:sp>
        <p:nvSpPr>
          <p:cNvPr id="47" name="TextBox 46"/>
          <p:cNvSpPr txBox="1"/>
          <p:nvPr/>
        </p:nvSpPr>
        <p:spPr>
          <a:xfrm>
            <a:off x="6037250" y="6351463"/>
            <a:ext cx="396073" cy="147892"/>
          </a:xfrm>
          <a:prstGeom prst="rect">
            <a:avLst/>
          </a:prstGeom>
          <a:noFill/>
        </p:spPr>
        <p:txBody>
          <a:bodyPr wrap="square" lIns="0" rIns="0" tIns="0" bIns="0" anchor="t"/>
          <a:lstStyle/>
          <a:p>
            <a:pPr algn="l">
              <a:lnSpc>
                <a:spcPts val="569"/>
              </a:lnSpc>
            </a:pPr>
            <a:r>
              <a:rPr sz="517" b="0" i="0">
                <a:solidFill>
                  <a:srgbClr val="FFFFFF"/>
                </a:solidFill>
                <a:latin typeface="Versos"/>
              </a:rPr>
              <a:t>Crédito</a:t>
            </a:r>
          </a:p>
          <a:p>
            <a:pPr algn="l">
              <a:lnSpc>
                <a:spcPts val="569"/>
              </a:lnSpc>
            </a:pPr>
            <a:r>
              <a:rPr sz="517" b="1" i="0">
                <a:solidFill>
                  <a:srgbClr val="FFFFFF"/>
                </a:solidFill>
                <a:latin typeface="Versos"/>
              </a:rPr>
              <a:t>Privado</a:t>
            </a:r>
          </a:p>
        </p:txBody>
      </p:sp>
      <p:sp>
        <p:nvSpPr>
          <p:cNvPr id="48" name="TextBox 47"/>
          <p:cNvSpPr txBox="1"/>
          <p:nvPr/>
        </p:nvSpPr>
        <p:spPr>
          <a:xfrm>
            <a:off x="6037250" y="6511168"/>
            <a:ext cx="411916" cy="120960"/>
          </a:xfrm>
          <a:prstGeom prst="rect">
            <a:avLst/>
          </a:prstGeom>
          <a:noFill/>
        </p:spPr>
        <p:txBody>
          <a:bodyPr wrap="none" lIns="0" rIns="0" tIns="0" bIns="0" anchor="t"/>
          <a:lstStyle/>
          <a:p>
            <a:pPr algn="l">
              <a:lnSpc>
                <a:spcPts val="877"/>
              </a:lnSpc>
            </a:pPr>
            <a:r>
              <a:rPr sz="797" b="1" i="0">
                <a:solidFill>
                  <a:srgbClr val="FFFFFF"/>
                </a:solidFill>
                <a:latin typeface="Versos"/>
              </a:rPr>
              <a:t>3,6%</a:t>
            </a:r>
          </a:p>
        </p:txBody>
      </p:sp>
      <p:sp>
        <p:nvSpPr>
          <p:cNvPr id="49" name="TextBox 48"/>
          <p:cNvSpPr txBox="1"/>
          <p:nvPr/>
        </p:nvSpPr>
        <p:spPr>
          <a:xfrm>
            <a:off x="6508923" y="6534556"/>
            <a:ext cx="307616" cy="98280"/>
          </a:xfrm>
          <a:prstGeom prst="rect">
            <a:avLst/>
          </a:prstGeom>
          <a:noFill/>
        </p:spPr>
        <p:txBody>
          <a:bodyPr wrap="none" lIns="0" rIns="0" tIns="0" bIns="0" anchor="t"/>
          <a:lstStyle/>
          <a:p>
            <a:pPr algn="l">
              <a:lnSpc>
                <a:spcPts val="694"/>
              </a:lnSpc>
            </a:pPr>
            <a:r>
              <a:rPr sz="631" b="1" i="0">
                <a:solidFill>
                  <a:srgbClr val="2B3744"/>
                </a:solidFill>
                <a:latin typeface="Versos"/>
              </a:rPr>
              <a:t>2,9%</a:t>
            </a:r>
          </a:p>
        </p:txBody>
      </p:sp>
      <p:sp>
        <p:nvSpPr>
          <p:cNvPr id="50" name="TextBox 49"/>
          <p:cNvSpPr txBox="1"/>
          <p:nvPr/>
        </p:nvSpPr>
        <p:spPr>
          <a:xfrm>
            <a:off x="6880426" y="6388790"/>
            <a:ext cx="250614" cy="83160"/>
          </a:xfrm>
          <a:prstGeom prst="rect">
            <a:avLst/>
          </a:prstGeom>
          <a:noFill/>
        </p:spPr>
        <p:txBody>
          <a:bodyPr wrap="none" lIns="0" rIns="0" tIns="0" bIns="0" anchor="t"/>
          <a:lstStyle/>
          <a:p>
            <a:pPr algn="l">
              <a:lnSpc>
                <a:spcPts val="622"/>
              </a:lnSpc>
            </a:pPr>
            <a:r>
              <a:rPr sz="565" b="1" i="0">
                <a:solidFill>
                  <a:srgbClr val="2B3744"/>
                </a:solidFill>
                <a:latin typeface="Versos"/>
              </a:rPr>
              <a:t>1,9%</a:t>
            </a:r>
          </a:p>
        </p:txBody>
      </p:sp>
      <p:sp>
        <p:nvSpPr>
          <p:cNvPr id="51" name="TextBox 50"/>
          <p:cNvSpPr txBox="1"/>
          <p:nvPr/>
        </p:nvSpPr>
        <p:spPr>
          <a:xfrm>
            <a:off x="6880426" y="6543652"/>
            <a:ext cx="250614" cy="83160"/>
          </a:xfrm>
          <a:prstGeom prst="rect">
            <a:avLst/>
          </a:prstGeom>
          <a:noFill/>
        </p:spPr>
        <p:txBody>
          <a:bodyPr wrap="none" lIns="0" rIns="0" tIns="0" bIns="0" anchor="t"/>
          <a:lstStyle/>
          <a:p>
            <a:pPr algn="l">
              <a:lnSpc>
                <a:spcPts val="622"/>
              </a:lnSpc>
            </a:pPr>
            <a:r>
              <a:rPr sz="565" b="1" i="0">
                <a:solidFill>
                  <a:srgbClr val="2B3744"/>
                </a:solidFill>
                <a:latin typeface="Versos"/>
              </a:rPr>
              <a:t>0,6%</a:t>
            </a:r>
          </a:p>
        </p:txBody>
      </p:sp>
      <p:sp>
        <p:nvSpPr>
          <p:cNvPr id="52" name="TextBox 51"/>
          <p:cNvSpPr txBox="1"/>
          <p:nvPr/>
        </p:nvSpPr>
        <p:spPr>
          <a:xfrm>
            <a:off x="529200" y="6743638"/>
            <a:ext cx="1284888" cy="113400"/>
          </a:xfrm>
          <a:prstGeom prst="rect">
            <a:avLst/>
          </a:prstGeom>
          <a:noFill/>
        </p:spPr>
        <p:txBody>
          <a:bodyPr wrap="none" lIns="0" rIns="0" tIns="0" bIns="0" anchor="t"/>
          <a:lstStyle/>
          <a:p>
            <a:pPr algn="l">
              <a:lnSpc>
                <a:spcPts val="892"/>
              </a:lnSpc>
            </a:pPr>
            <a:r>
              <a:rPr sz="744" b="0" i="0">
                <a:solidFill>
                  <a:srgbClr val="333333"/>
                </a:solidFill>
                <a:latin typeface="Versos"/>
              </a:rPr>
              <a:t>FIDCs Cotas Sênior </a:t>
            </a:r>
            <a:r>
              <a:rPr sz="744" b="1" i="0">
                <a:solidFill>
                  <a:srgbClr val="111111"/>
                </a:solidFill>
                <a:latin typeface="Versos"/>
              </a:rPr>
              <a:t>82,9%</a:t>
            </a:r>
          </a:p>
        </p:txBody>
      </p:sp>
      <p:sp>
        <p:nvSpPr>
          <p:cNvPr id="53" name="TextBox 52"/>
          <p:cNvSpPr txBox="1"/>
          <p:nvPr/>
        </p:nvSpPr>
        <p:spPr>
          <a:xfrm>
            <a:off x="2029269" y="6743638"/>
            <a:ext cx="715355" cy="113400"/>
          </a:xfrm>
          <a:prstGeom prst="rect">
            <a:avLst/>
          </a:prstGeom>
          <a:noFill/>
        </p:spPr>
        <p:txBody>
          <a:bodyPr wrap="none" lIns="0" rIns="0" tIns="0" bIns="0" anchor="t"/>
          <a:lstStyle/>
          <a:p>
            <a:pPr algn="l">
              <a:lnSpc>
                <a:spcPts val="892"/>
              </a:lnSpc>
            </a:pPr>
            <a:r>
              <a:rPr sz="744" b="0" i="0">
                <a:solidFill>
                  <a:srgbClr val="333333"/>
                </a:solidFill>
                <a:latin typeface="Versos"/>
              </a:rPr>
              <a:t>Bancário </a:t>
            </a:r>
            <a:r>
              <a:rPr sz="744" b="1" i="0">
                <a:solidFill>
                  <a:srgbClr val="111111"/>
                </a:solidFill>
                <a:latin typeface="Versos"/>
              </a:rPr>
              <a:t>8,3%</a:t>
            </a:r>
          </a:p>
        </p:txBody>
      </p:sp>
      <p:sp>
        <p:nvSpPr>
          <p:cNvPr id="54" name="TextBox 53"/>
          <p:cNvSpPr txBox="1"/>
          <p:nvPr/>
        </p:nvSpPr>
        <p:spPr>
          <a:xfrm>
            <a:off x="2981711" y="6743638"/>
            <a:ext cx="1021374" cy="113400"/>
          </a:xfrm>
          <a:prstGeom prst="rect">
            <a:avLst/>
          </a:prstGeom>
          <a:noFill/>
        </p:spPr>
        <p:txBody>
          <a:bodyPr wrap="none" lIns="0" rIns="0" tIns="0" bIns="0" anchor="t"/>
          <a:lstStyle/>
          <a:p>
            <a:pPr algn="l">
              <a:lnSpc>
                <a:spcPts val="892"/>
              </a:lnSpc>
            </a:pPr>
            <a:r>
              <a:rPr sz="744" b="0" i="0">
                <a:solidFill>
                  <a:srgbClr val="333333"/>
                </a:solidFill>
                <a:latin typeface="Versos"/>
              </a:rPr>
              <a:t>Crédito Privado </a:t>
            </a:r>
            <a:r>
              <a:rPr sz="744" b="1" i="0">
                <a:solidFill>
                  <a:srgbClr val="111111"/>
                </a:solidFill>
                <a:latin typeface="Versos"/>
              </a:rPr>
              <a:t>3,6%</a:t>
            </a:r>
          </a:p>
        </p:txBody>
      </p:sp>
      <p:sp>
        <p:nvSpPr>
          <p:cNvPr id="55" name="TextBox 54"/>
          <p:cNvSpPr txBox="1"/>
          <p:nvPr/>
        </p:nvSpPr>
        <p:spPr>
          <a:xfrm>
            <a:off x="4228402" y="6743638"/>
            <a:ext cx="585748" cy="113400"/>
          </a:xfrm>
          <a:prstGeom prst="rect">
            <a:avLst/>
          </a:prstGeom>
          <a:noFill/>
        </p:spPr>
        <p:txBody>
          <a:bodyPr wrap="none" lIns="0" rIns="0" tIns="0" bIns="0" anchor="t"/>
          <a:lstStyle/>
          <a:p>
            <a:pPr algn="l">
              <a:lnSpc>
                <a:spcPts val="892"/>
              </a:lnSpc>
            </a:pPr>
            <a:r>
              <a:rPr sz="744" b="0" i="0">
                <a:solidFill>
                  <a:srgbClr val="333333"/>
                </a:solidFill>
                <a:latin typeface="Versos"/>
              </a:rPr>
              <a:t>Fiagro </a:t>
            </a:r>
            <a:r>
              <a:rPr sz="744" b="1" i="0">
                <a:solidFill>
                  <a:srgbClr val="111111"/>
                </a:solidFill>
                <a:latin typeface="Versos"/>
              </a:rPr>
              <a:t>2,9%</a:t>
            </a:r>
          </a:p>
        </p:txBody>
      </p:sp>
      <p:sp>
        <p:nvSpPr>
          <p:cNvPr id="56" name="TextBox 55"/>
          <p:cNvSpPr txBox="1"/>
          <p:nvPr/>
        </p:nvSpPr>
        <p:spPr>
          <a:xfrm>
            <a:off x="5056222" y="6743638"/>
            <a:ext cx="665355" cy="113400"/>
          </a:xfrm>
          <a:prstGeom prst="rect">
            <a:avLst/>
          </a:prstGeom>
          <a:noFill/>
        </p:spPr>
        <p:txBody>
          <a:bodyPr wrap="none" lIns="0" rIns="0" tIns="0" bIns="0" anchor="t"/>
          <a:lstStyle/>
          <a:p>
            <a:pPr algn="l">
              <a:lnSpc>
                <a:spcPts val="892"/>
              </a:lnSpc>
            </a:pPr>
            <a:r>
              <a:rPr sz="744" b="0" i="0">
                <a:solidFill>
                  <a:srgbClr val="333333"/>
                </a:solidFill>
                <a:latin typeface="Versos"/>
              </a:rPr>
              <a:t>Liquidez </a:t>
            </a:r>
            <a:r>
              <a:rPr sz="744" b="1" i="0">
                <a:solidFill>
                  <a:srgbClr val="111111"/>
                </a:solidFill>
                <a:latin typeface="Versos"/>
              </a:rPr>
              <a:t>1,9%</a:t>
            </a:r>
          </a:p>
        </p:txBody>
      </p:sp>
      <p:sp>
        <p:nvSpPr>
          <p:cNvPr id="57" name="TextBox 56"/>
          <p:cNvSpPr txBox="1"/>
          <p:nvPr/>
        </p:nvSpPr>
        <p:spPr>
          <a:xfrm>
            <a:off x="529200" y="6902398"/>
            <a:ext cx="1373585" cy="113400"/>
          </a:xfrm>
          <a:prstGeom prst="rect">
            <a:avLst/>
          </a:prstGeom>
          <a:noFill/>
        </p:spPr>
        <p:txBody>
          <a:bodyPr wrap="none" lIns="0" rIns="0" tIns="0" bIns="0" anchor="t"/>
          <a:lstStyle/>
          <a:p>
            <a:pPr algn="l">
              <a:lnSpc>
                <a:spcPts val="892"/>
              </a:lnSpc>
            </a:pPr>
            <a:r>
              <a:rPr sz="744" b="0" i="0">
                <a:solidFill>
                  <a:srgbClr val="333333"/>
                </a:solidFill>
                <a:latin typeface="Versos"/>
              </a:rPr>
              <a:t>FIDCs Cotas Mezanino </a:t>
            </a:r>
            <a:r>
              <a:rPr sz="744" b="1" i="0">
                <a:solidFill>
                  <a:srgbClr val="111111"/>
                </a:solidFill>
                <a:latin typeface="Versos"/>
              </a:rPr>
              <a:t>0,6%</a:t>
            </a:r>
          </a:p>
        </p:txBody>
      </p:sp>
      <p:sp>
        <p:nvSpPr>
          <p:cNvPr id="58" name="TextBox 57"/>
          <p:cNvSpPr txBox="1"/>
          <p:nvPr/>
        </p:nvSpPr>
        <p:spPr>
          <a:xfrm>
            <a:off x="415800" y="7499638"/>
            <a:ext cx="6997536" cy="204120"/>
          </a:xfrm>
          <a:prstGeom prst="rect">
            <a:avLst/>
          </a:prstGeom>
          <a:noFill/>
        </p:spPr>
        <p:txBody>
          <a:bodyPr wrap="none" lIns="0" rIns="0" tIns="0" bIns="0" anchor="t"/>
          <a:lstStyle/>
          <a:p>
            <a:pPr algn="ctr">
              <a:lnSpc>
                <a:spcPts val="1571"/>
              </a:lnSpc>
            </a:pPr>
            <a:r>
              <a:rPr sz="1309" b="0" i="0">
                <a:solidFill>
                  <a:srgbClr val="707070"/>
                </a:solidFill>
                <a:latin typeface="Versos"/>
              </a:rPr>
              <a:t>Comentário do Gestor e Análise de Mercado</a:t>
            </a:r>
          </a:p>
        </p:txBody>
      </p:sp>
      <p:sp>
        <p:nvSpPr>
          <p:cNvPr id="59" name="TextBox 58"/>
          <p:cNvSpPr txBox="1"/>
          <p:nvPr/>
        </p:nvSpPr>
        <p:spPr>
          <a:xfrm>
            <a:off x="415800" y="7998598"/>
            <a:ext cx="6728400" cy="269797"/>
          </a:xfrm>
          <a:prstGeom prst="rect">
            <a:avLst/>
          </a:prstGeom>
          <a:noFill/>
        </p:spPr>
        <p:txBody>
          <a:bodyPr wrap="square" lIns="0" rIns="0" tIns="0" bIns="0" anchor="t"/>
          <a:lstStyle/>
          <a:p>
            <a:pPr algn="just">
              <a:lnSpc>
                <a:spcPts val="1053"/>
              </a:lnSpc>
            </a:pPr>
            <a:r>
              <a:rPr sz="892" b="0" i="0">
                <a:solidFill>
                  <a:srgbClr val="222222"/>
                </a:solidFill>
                <a:latin typeface="Versos"/>
              </a:rPr>
              <a:t>O Tivio ALT 90 registrou rentabilidade de 1,22% no mês, equivalente a 111,86% do CDI no período. Desde o início da estratégia, o fundo acumula retorno de 21,25%, frente a 18,41% do CDI, o que corresponde a um desempenho anualizado de 115% do CDI.</a:t>
            </a:r>
          </a:p>
        </p:txBody>
      </p:sp>
      <p:sp>
        <p:nvSpPr>
          <p:cNvPr id="60" name="TextBox 59"/>
          <p:cNvSpPr txBox="1"/>
          <p:nvPr/>
        </p:nvSpPr>
        <p:spPr>
          <a:xfrm>
            <a:off x="415800" y="8334073"/>
            <a:ext cx="6728400" cy="804667"/>
          </a:xfrm>
          <a:prstGeom prst="rect">
            <a:avLst/>
          </a:prstGeom>
          <a:noFill/>
        </p:spPr>
        <p:txBody>
          <a:bodyPr wrap="square" lIns="0" rIns="0" tIns="0" bIns="0" anchor="t"/>
          <a:lstStyle/>
          <a:p>
            <a:pPr algn="just">
              <a:lnSpc>
                <a:spcPts val="1053"/>
              </a:lnSpc>
            </a:pPr>
            <a:r>
              <a:rPr sz="892" b="0" i="0">
                <a:solidFill>
                  <a:srgbClr val="222222"/>
                </a:solidFill>
                <a:latin typeface="Versos"/>
              </a:rPr>
              <a:t>Em setembro, iniciamos posição em uma cota sênior de FIDC com exposição ao setor de telecomunicações. A tese de investimento está fundamentada na atuação consolidada do originador, que possui mais de 23 anos de experiência no segmento, bem como nas características estruturais do mercado em que atua, marcado por elevada pulverização, baixa bancarização, receitas recorrentes e oferta restrita de crédito. Adicionalmente, a operação apresenta carteira de recebíveis amplamente diversificada entre cedentes e sacados, além de mecanismos de proteção que incluem overcollateral mínimo de 25% sobre os ativos cedidos ao fundo.</a:t>
            </a:r>
          </a:p>
        </p:txBody>
      </p:sp>
      <p:sp>
        <p:nvSpPr>
          <p:cNvPr id="61" name="TextBox 60"/>
          <p:cNvSpPr txBox="1"/>
          <p:nvPr/>
        </p:nvSpPr>
        <p:spPr>
          <a:xfrm>
            <a:off x="415800" y="9204418"/>
            <a:ext cx="6728400" cy="670950"/>
          </a:xfrm>
          <a:prstGeom prst="rect">
            <a:avLst/>
          </a:prstGeom>
          <a:noFill/>
        </p:spPr>
        <p:txBody>
          <a:bodyPr wrap="square" lIns="0" rIns="0" tIns="0" bIns="0" anchor="t"/>
          <a:lstStyle/>
          <a:p>
            <a:pPr algn="just">
              <a:lnSpc>
                <a:spcPts val="1053"/>
              </a:lnSpc>
            </a:pPr>
            <a:r>
              <a:rPr sz="892" b="0" i="0">
                <a:solidFill>
                  <a:srgbClr val="222222"/>
                </a:solidFill>
                <a:latin typeface="Versos"/>
              </a:rPr>
              <a:t>A nova alocação reforça nossa estratégia de buscar operações com perfil defensivo, adequada relação entre risco e retorno e estruturas robustas de mitigação de risco. Seguimos priorizando ativos com forte alinhamento de interesses entre as partes envolvidas, qualidade na originação dos créditos e mecanismos de proteção compatíveis com o cenário de mercado. Mantemos uma postura seletiva na alocação de capital, avaliando continuamente oportunidades que possam contribuir para a geração consistente de retornos ajustados ao risco para os cotistas.</a:t>
            </a:r>
          </a:p>
        </p:txBody>
      </p:sp>
      <p:sp>
        <p:nvSpPr>
          <p:cNvPr id="62" name="TextBox 61"/>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2777118" y="37422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24720"/>
            <a:ext cx="3317932"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POR ESTRATÉGIA</a:t>
            </a:r>
          </a:p>
        </p:txBody>
      </p:sp>
      <p:sp>
        <p:nvSpPr>
          <p:cNvPr id="5" name="TextBox 4"/>
          <p:cNvSpPr txBox="1"/>
          <p:nvPr/>
        </p:nvSpPr>
        <p:spPr>
          <a:xfrm>
            <a:off x="400680" y="163071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Indústria e Comércio</a:t>
            </a:r>
          </a:p>
        </p:txBody>
      </p:sp>
      <p:sp>
        <p:nvSpPr>
          <p:cNvPr id="6" name="TextBox 5"/>
          <p:cNvSpPr txBox="1"/>
          <p:nvPr/>
        </p:nvSpPr>
        <p:spPr>
          <a:xfrm>
            <a:off x="3217488" y="1623037"/>
            <a:ext cx="457002" cy="143640"/>
          </a:xfrm>
          <a:prstGeom prst="rect">
            <a:avLst/>
          </a:prstGeom>
          <a:noFill/>
        </p:spPr>
        <p:txBody>
          <a:bodyPr wrap="none" lIns="0" rIns="0" tIns="0" bIns="0" anchor="t"/>
          <a:lstStyle/>
          <a:p>
            <a:pPr algn="l">
              <a:lnSpc>
                <a:spcPts val="1107"/>
              </a:lnSpc>
            </a:pPr>
            <a:r>
              <a:rPr sz="922" b="1" i="0">
                <a:solidFill>
                  <a:srgbClr val="111111"/>
                </a:solidFill>
                <a:latin typeface="Versos"/>
              </a:rPr>
              <a:t>39,47%</a:t>
            </a:r>
          </a:p>
        </p:txBody>
      </p:sp>
      <p:sp>
        <p:nvSpPr>
          <p:cNvPr id="7" name="TextBox 6"/>
          <p:cNvSpPr txBox="1"/>
          <p:nvPr/>
        </p:nvSpPr>
        <p:spPr>
          <a:xfrm>
            <a:off x="400680" y="188775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Consignados</a:t>
            </a:r>
          </a:p>
        </p:txBody>
      </p:sp>
      <p:sp>
        <p:nvSpPr>
          <p:cNvPr id="8" name="TextBox 7"/>
          <p:cNvSpPr txBox="1"/>
          <p:nvPr/>
        </p:nvSpPr>
        <p:spPr>
          <a:xfrm>
            <a:off x="2436328" y="1880077"/>
            <a:ext cx="433169" cy="143640"/>
          </a:xfrm>
          <a:prstGeom prst="rect">
            <a:avLst/>
          </a:prstGeom>
          <a:noFill/>
        </p:spPr>
        <p:txBody>
          <a:bodyPr wrap="none" lIns="0" rIns="0" tIns="0" bIns="0" anchor="t"/>
          <a:lstStyle/>
          <a:p>
            <a:pPr algn="l">
              <a:lnSpc>
                <a:spcPts val="1107"/>
              </a:lnSpc>
            </a:pPr>
            <a:r>
              <a:rPr sz="922" b="1" i="0">
                <a:solidFill>
                  <a:srgbClr val="111111"/>
                </a:solidFill>
                <a:latin typeface="Versos"/>
              </a:rPr>
              <a:t>13,59%</a:t>
            </a:r>
          </a:p>
        </p:txBody>
      </p:sp>
      <p:sp>
        <p:nvSpPr>
          <p:cNvPr id="9" name="TextBox 8"/>
          <p:cNvSpPr txBox="1"/>
          <p:nvPr/>
        </p:nvSpPr>
        <p:spPr>
          <a:xfrm>
            <a:off x="400680" y="214479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Crédito PF</a:t>
            </a:r>
          </a:p>
        </p:txBody>
      </p:sp>
      <p:sp>
        <p:nvSpPr>
          <p:cNvPr id="10" name="TextBox 9"/>
          <p:cNvSpPr txBox="1"/>
          <p:nvPr/>
        </p:nvSpPr>
        <p:spPr>
          <a:xfrm>
            <a:off x="2395102" y="2137117"/>
            <a:ext cx="428009" cy="143640"/>
          </a:xfrm>
          <a:prstGeom prst="rect">
            <a:avLst/>
          </a:prstGeom>
          <a:noFill/>
        </p:spPr>
        <p:txBody>
          <a:bodyPr wrap="none" lIns="0" rIns="0" tIns="0" bIns="0" anchor="t"/>
          <a:lstStyle/>
          <a:p>
            <a:pPr algn="l">
              <a:lnSpc>
                <a:spcPts val="1107"/>
              </a:lnSpc>
            </a:pPr>
            <a:r>
              <a:rPr sz="922" b="1" i="0">
                <a:solidFill>
                  <a:srgbClr val="111111"/>
                </a:solidFill>
                <a:latin typeface="Versos"/>
              </a:rPr>
              <a:t>12,23%</a:t>
            </a:r>
          </a:p>
        </p:txBody>
      </p:sp>
      <p:sp>
        <p:nvSpPr>
          <p:cNvPr id="11" name="TextBox 10"/>
          <p:cNvSpPr txBox="1"/>
          <p:nvPr/>
        </p:nvSpPr>
        <p:spPr>
          <a:xfrm>
            <a:off x="400680" y="240183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a:t>
            </a:r>
          </a:p>
        </p:txBody>
      </p:sp>
      <p:sp>
        <p:nvSpPr>
          <p:cNvPr id="12" name="TextBox 11"/>
          <p:cNvSpPr txBox="1"/>
          <p:nvPr/>
        </p:nvSpPr>
        <p:spPr>
          <a:xfrm>
            <a:off x="2276032" y="2394157"/>
            <a:ext cx="387346" cy="143640"/>
          </a:xfrm>
          <a:prstGeom prst="rect">
            <a:avLst/>
          </a:prstGeom>
          <a:noFill/>
        </p:spPr>
        <p:txBody>
          <a:bodyPr wrap="none" lIns="0" rIns="0" tIns="0" bIns="0" anchor="t"/>
          <a:lstStyle/>
          <a:p>
            <a:pPr algn="l">
              <a:lnSpc>
                <a:spcPts val="1107"/>
              </a:lnSpc>
            </a:pPr>
            <a:r>
              <a:rPr sz="922" b="1" i="0">
                <a:solidFill>
                  <a:srgbClr val="111111"/>
                </a:solidFill>
                <a:latin typeface="Versos"/>
              </a:rPr>
              <a:t>8,28%</a:t>
            </a:r>
          </a:p>
        </p:txBody>
      </p:sp>
      <p:sp>
        <p:nvSpPr>
          <p:cNvPr id="13" name="TextBox 12"/>
          <p:cNvSpPr txBox="1"/>
          <p:nvPr/>
        </p:nvSpPr>
        <p:spPr>
          <a:xfrm>
            <a:off x="400680" y="2602411"/>
            <a:ext cx="1481760" cy="234005"/>
          </a:xfrm>
          <a:prstGeom prst="rect">
            <a:avLst/>
          </a:prstGeom>
          <a:noFill/>
        </p:spPr>
        <p:txBody>
          <a:bodyPr wrap="square" lIns="0" rIns="0" tIns="0" bIns="0" anchor="t"/>
          <a:lstStyle/>
          <a:p>
            <a:pPr algn="r">
              <a:lnSpc>
                <a:spcPts val="890"/>
              </a:lnSpc>
            </a:pPr>
            <a:r>
              <a:rPr sz="809" b="0" i="0">
                <a:solidFill>
                  <a:srgbClr val="222222"/>
                </a:solidFill>
                <a:latin typeface="Versos"/>
              </a:rPr>
              <a:t>Comércio atacadista e varejista</a:t>
            </a:r>
          </a:p>
        </p:txBody>
      </p:sp>
      <p:sp>
        <p:nvSpPr>
          <p:cNvPr id="14" name="TextBox 13"/>
          <p:cNvSpPr txBox="1"/>
          <p:nvPr/>
        </p:nvSpPr>
        <p:spPr>
          <a:xfrm>
            <a:off x="2224530" y="2651197"/>
            <a:ext cx="387223" cy="143640"/>
          </a:xfrm>
          <a:prstGeom prst="rect">
            <a:avLst/>
          </a:prstGeom>
          <a:noFill/>
        </p:spPr>
        <p:txBody>
          <a:bodyPr wrap="none" lIns="0" rIns="0" tIns="0" bIns="0" anchor="t"/>
          <a:lstStyle/>
          <a:p>
            <a:pPr algn="l">
              <a:lnSpc>
                <a:spcPts val="1107"/>
              </a:lnSpc>
            </a:pPr>
            <a:r>
              <a:rPr sz="922" b="1" i="0">
                <a:solidFill>
                  <a:srgbClr val="111111"/>
                </a:solidFill>
                <a:latin typeface="Versos"/>
              </a:rPr>
              <a:t>6,58%</a:t>
            </a:r>
          </a:p>
        </p:txBody>
      </p:sp>
      <p:sp>
        <p:nvSpPr>
          <p:cNvPr id="15" name="TextBox 14"/>
          <p:cNvSpPr txBox="1"/>
          <p:nvPr/>
        </p:nvSpPr>
        <p:spPr>
          <a:xfrm>
            <a:off x="400680" y="291591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Transporte e Logística</a:t>
            </a:r>
          </a:p>
        </p:txBody>
      </p:sp>
      <p:sp>
        <p:nvSpPr>
          <p:cNvPr id="16" name="TextBox 15"/>
          <p:cNvSpPr txBox="1"/>
          <p:nvPr/>
        </p:nvSpPr>
        <p:spPr>
          <a:xfrm>
            <a:off x="2138180" y="2908237"/>
            <a:ext cx="373709" cy="143640"/>
          </a:xfrm>
          <a:prstGeom prst="rect">
            <a:avLst/>
          </a:prstGeom>
          <a:noFill/>
        </p:spPr>
        <p:txBody>
          <a:bodyPr wrap="none" lIns="0" rIns="0" tIns="0" bIns="0" anchor="t"/>
          <a:lstStyle/>
          <a:p>
            <a:pPr algn="l">
              <a:lnSpc>
                <a:spcPts val="1107"/>
              </a:lnSpc>
            </a:pPr>
            <a:r>
              <a:rPr sz="922" b="1" i="0">
                <a:solidFill>
                  <a:srgbClr val="111111"/>
                </a:solidFill>
                <a:latin typeface="Versos"/>
              </a:rPr>
              <a:t>3,72%</a:t>
            </a:r>
          </a:p>
        </p:txBody>
      </p:sp>
      <p:sp>
        <p:nvSpPr>
          <p:cNvPr id="17" name="TextBox 16"/>
          <p:cNvSpPr txBox="1"/>
          <p:nvPr/>
        </p:nvSpPr>
        <p:spPr>
          <a:xfrm>
            <a:off x="400680" y="317295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Energia Elétrica</a:t>
            </a:r>
          </a:p>
        </p:txBody>
      </p:sp>
      <p:sp>
        <p:nvSpPr>
          <p:cNvPr id="18" name="TextBox 17"/>
          <p:cNvSpPr txBox="1"/>
          <p:nvPr/>
        </p:nvSpPr>
        <p:spPr>
          <a:xfrm>
            <a:off x="2137471" y="3165277"/>
            <a:ext cx="387837" cy="143640"/>
          </a:xfrm>
          <a:prstGeom prst="rect">
            <a:avLst/>
          </a:prstGeom>
          <a:noFill/>
        </p:spPr>
        <p:txBody>
          <a:bodyPr wrap="none" lIns="0" rIns="0" tIns="0" bIns="0" anchor="t"/>
          <a:lstStyle/>
          <a:p>
            <a:pPr algn="l">
              <a:lnSpc>
                <a:spcPts val="1107"/>
              </a:lnSpc>
            </a:pPr>
            <a:r>
              <a:rPr sz="922" b="1" i="0">
                <a:solidFill>
                  <a:srgbClr val="111111"/>
                </a:solidFill>
                <a:latin typeface="Versos"/>
              </a:rPr>
              <a:t>3,69%</a:t>
            </a:r>
          </a:p>
        </p:txBody>
      </p:sp>
      <p:sp>
        <p:nvSpPr>
          <p:cNvPr id="19" name="TextBox 18"/>
          <p:cNvSpPr txBox="1"/>
          <p:nvPr/>
        </p:nvSpPr>
        <p:spPr>
          <a:xfrm>
            <a:off x="400680" y="342999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TI e Telecomunicações</a:t>
            </a:r>
          </a:p>
        </p:txBody>
      </p:sp>
      <p:sp>
        <p:nvSpPr>
          <p:cNvPr id="20" name="TextBox 19"/>
          <p:cNvSpPr txBox="1"/>
          <p:nvPr/>
        </p:nvSpPr>
        <p:spPr>
          <a:xfrm>
            <a:off x="2135345" y="3422317"/>
            <a:ext cx="381080" cy="143640"/>
          </a:xfrm>
          <a:prstGeom prst="rect">
            <a:avLst/>
          </a:prstGeom>
          <a:noFill/>
        </p:spPr>
        <p:txBody>
          <a:bodyPr wrap="none" lIns="0" rIns="0" tIns="0" bIns="0" anchor="t"/>
          <a:lstStyle/>
          <a:p>
            <a:pPr algn="l">
              <a:lnSpc>
                <a:spcPts val="1107"/>
              </a:lnSpc>
            </a:pPr>
            <a:r>
              <a:rPr sz="922" b="1" i="0">
                <a:solidFill>
                  <a:srgbClr val="111111"/>
                </a:solidFill>
                <a:latin typeface="Versos"/>
              </a:rPr>
              <a:t>3,62%</a:t>
            </a:r>
          </a:p>
        </p:txBody>
      </p:sp>
      <p:sp>
        <p:nvSpPr>
          <p:cNvPr id="21" name="TextBox 20"/>
          <p:cNvSpPr txBox="1"/>
          <p:nvPr/>
        </p:nvSpPr>
        <p:spPr>
          <a:xfrm>
            <a:off x="400680" y="368703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Açúcar, Álcool e Cana</a:t>
            </a:r>
          </a:p>
        </p:txBody>
      </p:sp>
      <p:sp>
        <p:nvSpPr>
          <p:cNvPr id="22" name="TextBox 21"/>
          <p:cNvSpPr txBox="1"/>
          <p:nvPr/>
        </p:nvSpPr>
        <p:spPr>
          <a:xfrm>
            <a:off x="2112075" y="3679357"/>
            <a:ext cx="382432" cy="143640"/>
          </a:xfrm>
          <a:prstGeom prst="rect">
            <a:avLst/>
          </a:prstGeom>
          <a:noFill/>
        </p:spPr>
        <p:txBody>
          <a:bodyPr wrap="none" lIns="0" rIns="0" tIns="0" bIns="0" anchor="t"/>
          <a:lstStyle/>
          <a:p>
            <a:pPr algn="l">
              <a:lnSpc>
                <a:spcPts val="1107"/>
              </a:lnSpc>
            </a:pPr>
            <a:r>
              <a:rPr sz="922" b="1" i="0">
                <a:solidFill>
                  <a:srgbClr val="111111"/>
                </a:solidFill>
                <a:latin typeface="Versos"/>
              </a:rPr>
              <a:t>2,85%</a:t>
            </a:r>
          </a:p>
        </p:txBody>
      </p:sp>
      <p:sp>
        <p:nvSpPr>
          <p:cNvPr id="23" name="TextBox 22"/>
          <p:cNvSpPr txBox="1"/>
          <p:nvPr/>
        </p:nvSpPr>
        <p:spPr>
          <a:xfrm>
            <a:off x="400680" y="394407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Agropecuária</a:t>
            </a:r>
          </a:p>
        </p:txBody>
      </p:sp>
      <p:sp>
        <p:nvSpPr>
          <p:cNvPr id="24" name="TextBox 23"/>
          <p:cNvSpPr txBox="1"/>
          <p:nvPr/>
        </p:nvSpPr>
        <p:spPr>
          <a:xfrm>
            <a:off x="2108176" y="3936397"/>
            <a:ext cx="372849" cy="143640"/>
          </a:xfrm>
          <a:prstGeom prst="rect">
            <a:avLst/>
          </a:prstGeom>
          <a:noFill/>
        </p:spPr>
        <p:txBody>
          <a:bodyPr wrap="none" lIns="0" rIns="0" tIns="0" bIns="0" anchor="t"/>
          <a:lstStyle/>
          <a:p>
            <a:pPr algn="l">
              <a:lnSpc>
                <a:spcPts val="1107"/>
              </a:lnSpc>
            </a:pPr>
            <a:r>
              <a:rPr sz="922" b="1" i="0">
                <a:solidFill>
                  <a:srgbClr val="111111"/>
                </a:solidFill>
                <a:latin typeface="Versos"/>
              </a:rPr>
              <a:t>2,72%</a:t>
            </a:r>
          </a:p>
        </p:txBody>
      </p:sp>
      <p:sp>
        <p:nvSpPr>
          <p:cNvPr id="25" name="TextBox 24"/>
          <p:cNvSpPr txBox="1"/>
          <p:nvPr/>
        </p:nvSpPr>
        <p:spPr>
          <a:xfrm>
            <a:off x="400680" y="420111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Caixa</a:t>
            </a:r>
          </a:p>
        </p:txBody>
      </p:sp>
      <p:sp>
        <p:nvSpPr>
          <p:cNvPr id="26" name="TextBox 25"/>
          <p:cNvSpPr txBox="1"/>
          <p:nvPr/>
        </p:nvSpPr>
        <p:spPr>
          <a:xfrm>
            <a:off x="2082307" y="4193437"/>
            <a:ext cx="348279" cy="143640"/>
          </a:xfrm>
          <a:prstGeom prst="rect">
            <a:avLst/>
          </a:prstGeom>
          <a:noFill/>
        </p:spPr>
        <p:txBody>
          <a:bodyPr wrap="none" lIns="0" rIns="0" tIns="0" bIns="0" anchor="t"/>
          <a:lstStyle/>
          <a:p>
            <a:pPr algn="l">
              <a:lnSpc>
                <a:spcPts val="1107"/>
              </a:lnSpc>
            </a:pPr>
            <a:r>
              <a:rPr sz="922" b="1" i="0">
                <a:solidFill>
                  <a:srgbClr val="111111"/>
                </a:solidFill>
                <a:latin typeface="Versos"/>
              </a:rPr>
              <a:t>1,87%</a:t>
            </a:r>
          </a:p>
        </p:txBody>
      </p:sp>
      <p:sp>
        <p:nvSpPr>
          <p:cNvPr id="27" name="TextBox 26"/>
          <p:cNvSpPr txBox="1"/>
          <p:nvPr/>
        </p:nvSpPr>
        <p:spPr>
          <a:xfrm>
            <a:off x="400680" y="445815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Precatórios</a:t>
            </a:r>
          </a:p>
        </p:txBody>
      </p:sp>
      <p:sp>
        <p:nvSpPr>
          <p:cNvPr id="28" name="TextBox 27"/>
          <p:cNvSpPr txBox="1"/>
          <p:nvPr/>
        </p:nvSpPr>
        <p:spPr>
          <a:xfrm>
            <a:off x="2070967" y="4450477"/>
            <a:ext cx="361056" cy="143640"/>
          </a:xfrm>
          <a:prstGeom prst="rect">
            <a:avLst/>
          </a:prstGeom>
          <a:noFill/>
        </p:spPr>
        <p:txBody>
          <a:bodyPr wrap="none" lIns="0" rIns="0" tIns="0" bIns="0" anchor="t"/>
          <a:lstStyle/>
          <a:p>
            <a:pPr algn="l">
              <a:lnSpc>
                <a:spcPts val="1107"/>
              </a:lnSpc>
            </a:pPr>
            <a:r>
              <a:rPr sz="922" b="1" i="0">
                <a:solidFill>
                  <a:srgbClr val="111111"/>
                </a:solidFill>
                <a:latin typeface="Versos"/>
              </a:rPr>
              <a:t>1,49%</a:t>
            </a:r>
          </a:p>
        </p:txBody>
      </p:sp>
      <p:sp>
        <p:nvSpPr>
          <p:cNvPr id="29" name="TextBox 28"/>
          <p:cNvSpPr txBox="1"/>
          <p:nvPr/>
        </p:nvSpPr>
        <p:spPr>
          <a:xfrm>
            <a:off x="3969000" y="1224720"/>
            <a:ext cx="3317932" cy="143640"/>
          </a:xfrm>
          <a:prstGeom prst="rect">
            <a:avLst/>
          </a:prstGeom>
          <a:noFill/>
        </p:spPr>
        <p:txBody>
          <a:bodyPr wrap="none" lIns="0" rIns="0" tIns="0" bIns="0" anchor="t"/>
          <a:lstStyle/>
          <a:p>
            <a:pPr algn="l">
              <a:lnSpc>
                <a:spcPts val="1142"/>
              </a:lnSpc>
            </a:pPr>
            <a:r>
              <a:rPr sz="952" b="0" i="0">
                <a:solidFill>
                  <a:srgbClr val="111111"/>
                </a:solidFill>
                <a:latin typeface="Versos"/>
              </a:rPr>
              <a:t>COLATERAIS</a:t>
            </a:r>
          </a:p>
        </p:txBody>
      </p:sp>
      <p:sp>
        <p:nvSpPr>
          <p:cNvPr id="30" name="TextBox 29"/>
          <p:cNvSpPr txBox="1"/>
          <p:nvPr/>
        </p:nvSpPr>
        <p:spPr>
          <a:xfrm>
            <a:off x="4558680" y="190051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AF de imóveis</a:t>
            </a:r>
          </a:p>
        </p:txBody>
      </p:sp>
      <p:sp>
        <p:nvSpPr>
          <p:cNvPr id="31" name="TextBox 30"/>
          <p:cNvSpPr txBox="1"/>
          <p:nvPr/>
        </p:nvSpPr>
        <p:spPr>
          <a:xfrm>
            <a:off x="6176520" y="190051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AF de automóveis</a:t>
            </a:r>
          </a:p>
        </p:txBody>
      </p:sp>
      <p:sp>
        <p:nvSpPr>
          <p:cNvPr id="32" name="TextBox 31"/>
          <p:cNvSpPr txBox="1"/>
          <p:nvPr/>
        </p:nvSpPr>
        <p:spPr>
          <a:xfrm>
            <a:off x="4558680" y="294379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AF de maquinário</a:t>
            </a:r>
          </a:p>
        </p:txBody>
      </p:sp>
      <p:sp>
        <p:nvSpPr>
          <p:cNvPr id="33" name="TextBox 32"/>
          <p:cNvSpPr txBox="1"/>
          <p:nvPr/>
        </p:nvSpPr>
        <p:spPr>
          <a:xfrm>
            <a:off x="6176520" y="294379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CF de recebíveis</a:t>
            </a:r>
          </a:p>
        </p:txBody>
      </p:sp>
      <p:sp>
        <p:nvSpPr>
          <p:cNvPr id="34" name="TextBox 33"/>
          <p:cNvSpPr txBox="1"/>
          <p:nvPr/>
        </p:nvSpPr>
        <p:spPr>
          <a:xfrm>
            <a:off x="4558680" y="4061846"/>
            <a:ext cx="2091766" cy="166320"/>
          </a:xfrm>
          <a:prstGeom prst="rect">
            <a:avLst/>
          </a:prstGeom>
          <a:noFill/>
        </p:spPr>
        <p:txBody>
          <a:bodyPr wrap="none" lIns="0" rIns="0" tIns="0" bIns="0" anchor="t"/>
          <a:lstStyle/>
          <a:p>
            <a:pPr algn="l">
              <a:lnSpc>
                <a:spcPts val="1178"/>
              </a:lnSpc>
            </a:pPr>
            <a:r>
              <a:rPr sz="1071" b="1" i="0">
                <a:solidFill>
                  <a:srgbClr val="7A7A7A"/>
                </a:solidFill>
                <a:latin typeface="Versos"/>
              </a:rPr>
              <a:t>Coobrigação do cedente/Avais</a:t>
            </a:r>
          </a:p>
        </p:txBody>
      </p:sp>
      <p:sp>
        <p:nvSpPr>
          <p:cNvPr id="35" name="TextBox 34"/>
          <p:cNvSpPr txBox="1"/>
          <p:nvPr/>
        </p:nvSpPr>
        <p:spPr>
          <a:xfrm>
            <a:off x="400680" y="4983457"/>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36" name="TextBox 35"/>
          <p:cNvSpPr txBox="1"/>
          <p:nvPr/>
        </p:nvSpPr>
        <p:spPr>
          <a:xfrm>
            <a:off x="551880" y="5476275"/>
            <a:ext cx="3066336" cy="151200"/>
          </a:xfrm>
          <a:prstGeom prst="rect">
            <a:avLst/>
          </a:prstGeom>
          <a:noFill/>
        </p:spPr>
        <p:txBody>
          <a:bodyPr wrap="none" lIns="0" rIns="0" tIns="0" bIns="0" anchor="t"/>
          <a:lstStyle/>
          <a:p>
            <a:pPr algn="l">
              <a:lnSpc>
                <a:spcPts val="1178"/>
              </a:lnSpc>
            </a:pPr>
            <a:r>
              <a:rPr sz="982" b="1" i="0">
                <a:solidFill>
                  <a:srgbClr val="FFFFFF"/>
                </a:solidFill>
                <a:latin typeface="Versos"/>
              </a:rPr>
              <a:t>Rentabilidade</a:t>
            </a:r>
          </a:p>
        </p:txBody>
      </p:sp>
      <p:sp>
        <p:nvSpPr>
          <p:cNvPr id="37" name="TextBox 36"/>
          <p:cNvSpPr txBox="1"/>
          <p:nvPr/>
        </p:nvSpPr>
        <p:spPr>
          <a:xfrm>
            <a:off x="551880" y="5793795"/>
            <a:ext cx="896313" cy="136080"/>
          </a:xfrm>
          <a:prstGeom prst="rect">
            <a:avLst/>
          </a:prstGeom>
          <a:noFill/>
        </p:spPr>
        <p:txBody>
          <a:bodyPr wrap="none" lIns="0" rIns="0" tIns="0" bIns="0" anchor="t"/>
          <a:lstStyle/>
          <a:p>
            <a:pPr algn="l">
              <a:lnSpc>
                <a:spcPts val="1035"/>
              </a:lnSpc>
            </a:pPr>
            <a:r>
              <a:rPr sz="863" b="0" i="0">
                <a:solidFill>
                  <a:srgbClr val="FFFFFF"/>
                </a:solidFill>
                <a:latin typeface="Versos"/>
              </a:rPr>
              <a:t>Desde o início</a:t>
            </a:r>
          </a:p>
        </p:txBody>
      </p:sp>
      <p:sp>
        <p:nvSpPr>
          <p:cNvPr id="38" name="TextBox 37"/>
          <p:cNvSpPr txBox="1"/>
          <p:nvPr/>
        </p:nvSpPr>
        <p:spPr>
          <a:xfrm>
            <a:off x="551880" y="5975235"/>
            <a:ext cx="896313" cy="151200"/>
          </a:xfrm>
          <a:prstGeom prst="rect">
            <a:avLst/>
          </a:prstGeom>
          <a:noFill/>
        </p:spPr>
        <p:txBody>
          <a:bodyPr wrap="none" lIns="0" rIns="0" tIns="0" bIns="0" anchor="t"/>
          <a:lstStyle/>
          <a:p>
            <a:pPr algn="l">
              <a:lnSpc>
                <a:spcPts val="1178"/>
              </a:lnSpc>
            </a:pPr>
            <a:r>
              <a:rPr sz="982" b="1" i="0">
                <a:solidFill>
                  <a:srgbClr val="FFFFFF"/>
                </a:solidFill>
                <a:latin typeface="Versos"/>
              </a:rPr>
              <a:t>CDI +</a:t>
            </a:r>
          </a:p>
        </p:txBody>
      </p:sp>
      <p:sp>
        <p:nvSpPr>
          <p:cNvPr id="39" name="TextBox 38"/>
          <p:cNvSpPr txBox="1"/>
          <p:nvPr/>
        </p:nvSpPr>
        <p:spPr>
          <a:xfrm>
            <a:off x="551880" y="6111315"/>
            <a:ext cx="896313" cy="204120"/>
          </a:xfrm>
          <a:prstGeom prst="rect">
            <a:avLst/>
          </a:prstGeom>
          <a:noFill/>
        </p:spPr>
        <p:txBody>
          <a:bodyPr wrap="none" lIns="0" rIns="0" tIns="0" bIns="0" anchor="t"/>
          <a:lstStyle/>
          <a:p>
            <a:pPr algn="l">
              <a:lnSpc>
                <a:spcPts val="1440"/>
              </a:lnSpc>
            </a:pPr>
            <a:r>
              <a:rPr sz="1309" b="1" i="0">
                <a:solidFill>
                  <a:srgbClr val="FFFFFF"/>
                </a:solidFill>
                <a:latin typeface="Versos"/>
              </a:rPr>
              <a:t>1,94%</a:t>
            </a:r>
          </a:p>
        </p:txBody>
      </p:sp>
      <p:sp>
        <p:nvSpPr>
          <p:cNvPr id="40" name="TextBox 39"/>
          <p:cNvSpPr txBox="1"/>
          <p:nvPr/>
        </p:nvSpPr>
        <p:spPr>
          <a:xfrm>
            <a:off x="1663200" y="5793795"/>
            <a:ext cx="762652" cy="136080"/>
          </a:xfrm>
          <a:prstGeom prst="rect">
            <a:avLst/>
          </a:prstGeom>
          <a:noFill/>
        </p:spPr>
        <p:txBody>
          <a:bodyPr wrap="none" lIns="0" rIns="0" tIns="0" bIns="0" anchor="t"/>
          <a:lstStyle/>
          <a:p>
            <a:pPr algn="l">
              <a:lnSpc>
                <a:spcPts val="1035"/>
              </a:lnSpc>
            </a:pPr>
            <a:r>
              <a:rPr sz="863" b="0" i="0">
                <a:solidFill>
                  <a:srgbClr val="FFFFFF"/>
                </a:solidFill>
                <a:latin typeface="Versos"/>
              </a:rPr>
              <a:t>12M</a:t>
            </a:r>
          </a:p>
        </p:txBody>
      </p:sp>
      <p:sp>
        <p:nvSpPr>
          <p:cNvPr id="41" name="TextBox 40"/>
          <p:cNvSpPr txBox="1"/>
          <p:nvPr/>
        </p:nvSpPr>
        <p:spPr>
          <a:xfrm>
            <a:off x="1663200" y="5975235"/>
            <a:ext cx="762652" cy="151200"/>
          </a:xfrm>
          <a:prstGeom prst="rect">
            <a:avLst/>
          </a:prstGeom>
          <a:noFill/>
        </p:spPr>
        <p:txBody>
          <a:bodyPr wrap="none" lIns="0" rIns="0" tIns="0" bIns="0" anchor="t"/>
          <a:lstStyle/>
          <a:p>
            <a:pPr algn="l">
              <a:lnSpc>
                <a:spcPts val="1178"/>
              </a:lnSpc>
            </a:pPr>
            <a:r>
              <a:rPr sz="982" b="1" i="0">
                <a:solidFill>
                  <a:srgbClr val="FFFFFF"/>
                </a:solidFill>
                <a:latin typeface="Versos"/>
              </a:rPr>
              <a:t>CDI +</a:t>
            </a:r>
          </a:p>
        </p:txBody>
      </p:sp>
      <p:sp>
        <p:nvSpPr>
          <p:cNvPr id="42" name="TextBox 41"/>
          <p:cNvSpPr txBox="1"/>
          <p:nvPr/>
        </p:nvSpPr>
        <p:spPr>
          <a:xfrm>
            <a:off x="1663200" y="6111315"/>
            <a:ext cx="762652" cy="204120"/>
          </a:xfrm>
          <a:prstGeom prst="rect">
            <a:avLst/>
          </a:prstGeom>
          <a:noFill/>
        </p:spPr>
        <p:txBody>
          <a:bodyPr wrap="none" lIns="0" rIns="0" tIns="0" bIns="0" anchor="t"/>
          <a:lstStyle/>
          <a:p>
            <a:pPr algn="l">
              <a:lnSpc>
                <a:spcPts val="1440"/>
              </a:lnSpc>
            </a:pPr>
            <a:r>
              <a:rPr sz="1309" b="1" i="0">
                <a:solidFill>
                  <a:srgbClr val="FFFFFF"/>
                </a:solidFill>
                <a:latin typeface="Versos"/>
              </a:rPr>
              <a:t>1,68%</a:t>
            </a:r>
          </a:p>
        </p:txBody>
      </p:sp>
      <p:sp>
        <p:nvSpPr>
          <p:cNvPr id="43" name="TextBox 42"/>
          <p:cNvSpPr txBox="1"/>
          <p:nvPr/>
        </p:nvSpPr>
        <p:spPr>
          <a:xfrm>
            <a:off x="2646000" y="5793795"/>
            <a:ext cx="762652" cy="136080"/>
          </a:xfrm>
          <a:prstGeom prst="rect">
            <a:avLst/>
          </a:prstGeom>
          <a:noFill/>
        </p:spPr>
        <p:txBody>
          <a:bodyPr wrap="none" lIns="0" rIns="0" tIns="0" bIns="0" anchor="t"/>
          <a:lstStyle/>
          <a:p>
            <a:pPr algn="l">
              <a:lnSpc>
                <a:spcPts val="1035"/>
              </a:lnSpc>
            </a:pPr>
            <a:r>
              <a:rPr sz="863" b="0" i="0">
                <a:solidFill>
                  <a:srgbClr val="FFFFFF"/>
                </a:solidFill>
                <a:latin typeface="Versos"/>
              </a:rPr>
              <a:t>Mês</a:t>
            </a:r>
          </a:p>
        </p:txBody>
      </p:sp>
      <p:sp>
        <p:nvSpPr>
          <p:cNvPr id="44" name="TextBox 43"/>
          <p:cNvSpPr txBox="1"/>
          <p:nvPr/>
        </p:nvSpPr>
        <p:spPr>
          <a:xfrm>
            <a:off x="2646000" y="5975235"/>
            <a:ext cx="762652" cy="151200"/>
          </a:xfrm>
          <a:prstGeom prst="rect">
            <a:avLst/>
          </a:prstGeom>
          <a:noFill/>
        </p:spPr>
        <p:txBody>
          <a:bodyPr wrap="none" lIns="0" rIns="0" tIns="0" bIns="0" anchor="t"/>
          <a:lstStyle/>
          <a:p>
            <a:pPr algn="l">
              <a:lnSpc>
                <a:spcPts val="1178"/>
              </a:lnSpc>
            </a:pPr>
            <a:r>
              <a:rPr sz="982" b="1" i="0">
                <a:solidFill>
                  <a:srgbClr val="FFFFFF"/>
                </a:solidFill>
                <a:latin typeface="Versos"/>
              </a:rPr>
              <a:t>CDI +</a:t>
            </a:r>
          </a:p>
        </p:txBody>
      </p:sp>
      <p:sp>
        <p:nvSpPr>
          <p:cNvPr id="45" name="TextBox 44"/>
          <p:cNvSpPr txBox="1"/>
          <p:nvPr/>
        </p:nvSpPr>
        <p:spPr>
          <a:xfrm>
            <a:off x="2646000" y="6111315"/>
            <a:ext cx="762652" cy="204120"/>
          </a:xfrm>
          <a:prstGeom prst="rect">
            <a:avLst/>
          </a:prstGeom>
          <a:noFill/>
        </p:spPr>
        <p:txBody>
          <a:bodyPr wrap="none" lIns="0" rIns="0" tIns="0" bIns="0" anchor="t"/>
          <a:lstStyle/>
          <a:p>
            <a:pPr algn="l">
              <a:lnSpc>
                <a:spcPts val="1440"/>
              </a:lnSpc>
            </a:pPr>
            <a:r>
              <a:rPr sz="1309" b="1" i="0">
                <a:solidFill>
                  <a:srgbClr val="FFFFFF"/>
                </a:solidFill>
                <a:latin typeface="Versos"/>
              </a:rPr>
              <a:t>1,55%</a:t>
            </a:r>
          </a:p>
        </p:txBody>
      </p:sp>
      <p:sp>
        <p:nvSpPr>
          <p:cNvPr id="46" name="TextBox 45"/>
          <p:cNvSpPr txBox="1"/>
          <p:nvPr/>
        </p:nvSpPr>
        <p:spPr>
          <a:xfrm>
            <a:off x="2804641" y="6498292"/>
            <a:ext cx="645085"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47" name="TextBox 46"/>
          <p:cNvSpPr txBox="1"/>
          <p:nvPr/>
        </p:nvSpPr>
        <p:spPr>
          <a:xfrm>
            <a:off x="4513556" y="6498292"/>
            <a:ext cx="251473" cy="143640"/>
          </a:xfrm>
          <a:prstGeom prst="rect">
            <a:avLst/>
          </a:prstGeom>
          <a:noFill/>
        </p:spPr>
        <p:txBody>
          <a:bodyPr wrap="none" lIns="0" rIns="0" tIns="0" bIns="0" anchor="t"/>
          <a:lstStyle/>
          <a:p>
            <a:pPr algn="l">
              <a:lnSpc>
                <a:spcPts val="1142"/>
              </a:lnSpc>
            </a:pPr>
            <a:r>
              <a:rPr sz="952" b="1" i="0">
                <a:solidFill>
                  <a:srgbClr val="111111"/>
                </a:solidFill>
                <a:latin typeface="Versos"/>
              </a:rPr>
              <a:t>CDI</a:t>
            </a:r>
          </a:p>
        </p:txBody>
      </p:sp>
      <p:sp>
        <p:nvSpPr>
          <p:cNvPr id="48" name="TextBox 47"/>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111111"/>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2777118" y="37422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Investidor qualificado</a:t>
            </a:r>
          </a:p>
        </p:txBody>
      </p:sp>
      <p:sp>
        <p:nvSpPr>
          <p:cNvPr id="9" name="TextBox 8"/>
          <p:cNvSpPr txBox="1"/>
          <p:nvPr/>
        </p:nvSpPr>
        <p:spPr>
          <a:xfrm>
            <a:off x="400680" y="30766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2656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06/06/2025</a:t>
            </a:r>
          </a:p>
        </p:txBody>
      </p:sp>
      <p:sp>
        <p:nvSpPr>
          <p:cNvPr id="11" name="TextBox 10"/>
          <p:cNvSpPr txBox="1"/>
          <p:nvPr/>
        </p:nvSpPr>
        <p:spPr>
          <a:xfrm>
            <a:off x="400680" y="376759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2" name="TextBox 11"/>
          <p:cNvSpPr txBox="1"/>
          <p:nvPr/>
        </p:nvSpPr>
        <p:spPr>
          <a:xfrm>
            <a:off x="400680" y="395659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1,25% a.a.</a:t>
            </a:r>
          </a:p>
        </p:txBody>
      </p:sp>
      <p:sp>
        <p:nvSpPr>
          <p:cNvPr id="13" name="TextBox 12"/>
          <p:cNvSpPr txBox="1"/>
          <p:nvPr/>
        </p:nvSpPr>
        <p:spPr>
          <a:xfrm>
            <a:off x="400680" y="445851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4" name="TextBox 13"/>
          <p:cNvSpPr txBox="1"/>
          <p:nvPr/>
        </p:nvSpPr>
        <p:spPr>
          <a:xfrm>
            <a:off x="400680" y="464751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R$ 19.959.710,82</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6" name="TextBox 15"/>
          <p:cNvSpPr txBox="1"/>
          <p:nvPr/>
        </p:nvSpPr>
        <p:spPr>
          <a:xfrm>
            <a:off x="3878280" y="1883857"/>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10% do que exceder do CDI</a:t>
            </a:r>
          </a:p>
        </p:txBody>
      </p:sp>
      <p:sp>
        <p:nvSpPr>
          <p:cNvPr id="17" name="TextBox 16"/>
          <p:cNvSpPr txBox="1"/>
          <p:nvPr/>
        </p:nvSpPr>
        <p:spPr>
          <a:xfrm>
            <a:off x="3878280" y="238577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8" name="TextBox 17"/>
          <p:cNvSpPr txBox="1"/>
          <p:nvPr/>
        </p:nvSpPr>
        <p:spPr>
          <a:xfrm>
            <a:off x="3878280" y="2574770"/>
            <a:ext cx="3281040" cy="1366351"/>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D+1</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D+90</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R$ 1.000,00</a:t>
            </a:r>
          </a:p>
        </p:txBody>
      </p:sp>
      <p:sp>
        <p:nvSpPr>
          <p:cNvPr id="19" name="TextBox 18"/>
          <p:cNvSpPr txBox="1"/>
          <p:nvPr/>
        </p:nvSpPr>
        <p:spPr>
          <a:xfrm>
            <a:off x="3878280" y="445851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(12M)</a:t>
            </a:r>
          </a:p>
        </p:txBody>
      </p:sp>
      <p:sp>
        <p:nvSpPr>
          <p:cNvPr id="20" name="TextBox 19"/>
          <p:cNvSpPr txBox="1"/>
          <p:nvPr/>
        </p:nvSpPr>
        <p:spPr>
          <a:xfrm>
            <a:off x="3878280" y="4647510"/>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R$ 15.653.770,20</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Disclaimer</a:t>
            </a:r>
          </a:p>
        </p:txBody>
      </p:sp>
      <p:sp>
        <p:nvSpPr>
          <p:cNvPr id="22" name="TextBox 21"/>
          <p:cNvSpPr txBox="1"/>
          <p:nvPr/>
        </p:nvSpPr>
        <p:spPr>
          <a:xfrm>
            <a:off x="400680" y="6471360"/>
            <a:ext cx="6758640" cy="593814"/>
          </a:xfrm>
          <a:prstGeom prst="rect">
            <a:avLst/>
          </a:prstGeom>
          <a:noFill/>
        </p:spPr>
        <p:txBody>
          <a:bodyPr wrap="square" lIns="0" rIns="0" tIns="0" bIns="0" anchor="t"/>
          <a:lstStyle/>
          <a:p>
            <a:pPr algn="just">
              <a:lnSpc>
                <a:spcPts val="780"/>
              </a:lnSpc>
            </a:pPr>
            <a:r>
              <a:rPr sz="639" b="0" i="0">
                <a:solidFill>
                  <a:srgbClr val="E9E9E9"/>
                </a:solidFill>
                <a:latin typeface="Versos"/>
              </a:rPr>
              <a:t>Este material foi elaborado pela Tivio Capital Distribuidora de Títulos e Valores Mobiliários S.A. (“TIVIO CAPITAL”). Este material é destinado aos seus receptores, fornecido unicamente para fins comerciais, não constituindo compromisso, indicação ou recomendação para iniciar ou encerrar qualquer transação. Este conteúdo não deve ser reproduzido no todo ou em parte, redistribuído ou transmitido para qualquer outra pessoa sem o consentimento prévio da TIVIO CAPITAL. Este documento não é, e não deve ser interpretado como, uma oferta de venda ou solicitação de uma oferta de compra de qualquer título ou valor mobiliário. A TIVIO CAPITAL, seus acionistas e demais empresas coligadas se eximem de qualquer responsabilidade por quaisquer prejuízos, diretos ou indiretos, que venham a decorrer da utilização deste material, de seu conteúdo e da realização de operações com base neste material.</a:t>
            </a:r>
          </a:p>
        </p:txBody>
      </p:sp>
      <p:sp>
        <p:nvSpPr>
          <p:cNvPr id="23" name="TextBox 22"/>
          <p:cNvSpPr txBox="1"/>
          <p:nvPr/>
        </p:nvSpPr>
        <p:spPr>
          <a:xfrm>
            <a:off x="400680" y="7094351"/>
            <a:ext cx="6758640" cy="891135"/>
          </a:xfrm>
          <a:prstGeom prst="rect">
            <a:avLst/>
          </a:prstGeom>
          <a:noFill/>
        </p:spPr>
        <p:txBody>
          <a:bodyPr wrap="square" lIns="0" rIns="0" tIns="0" bIns="0" anchor="t"/>
          <a:lstStyle/>
          <a:p>
            <a:pPr algn="just">
              <a:lnSpc>
                <a:spcPts val="780"/>
              </a:lnSpc>
            </a:pPr>
            <a:r>
              <a:rPr sz="639" b="0" i="0">
                <a:solidFill>
                  <a:srgbClr val="E9E9E9"/>
                </a:solidFill>
                <a:latin typeface="Versos"/>
              </a:rPr>
              <a:t>Consulte o documento de tributação para Fundos de Investimento para mais informações sobre a tributação aplicável, inclusive a regra aplicável em eventual desenquadramento, este documento está disponível em https://tivio.com/documentos/. A descrição acima não pode ser considerada como objetivo do fundo. Todas as informações legais podem ser observadas no regulamento do fundo, disponíveis no site https://tivio.com/fundos/. Os indicadores aqui apresentados devem ser utilizados como referência econômica e não parâmetro objetivo do fundo. Principais Fatores de Risco: (i) Crédito: risco de os emissores dos ativos financeiros e/ou das contrapartes não cumprirem suas obrigações de pagamento e/ou de liquidação das operações contratadas; (ii) Liquidez: risco de redução ou inexistência de demanda pelos ativos financeiros nos respectivos mercados em que são negociados; (iii) Mercado: Risco de oscilações decorrentes das flutuações de preços e cotações de mercado; (iv) Derivativos: pode não resultar nos efeitos desejados, devido a fatores como: descolamento entre o preço do derivativo e seu ativo objeto; alterações nas condições de negociação ou liquidação devido à interferência de órgãos reguladores ou dos mercados organizados onde são negociados; (v) Tratamento Tributário de Longo Prazo: O tratamento aplicável ao investidor depende da manutenção da carteira de ativos com prazo médio superior a 365 dias. Não há garantia de que o fundo terá o tratamento tributário de longo prazo.</a:t>
            </a:r>
          </a:p>
        </p:txBody>
      </p:sp>
      <p:sp>
        <p:nvSpPr>
          <p:cNvPr id="24" name="TextBox 23"/>
          <p:cNvSpPr txBox="1"/>
          <p:nvPr/>
        </p:nvSpPr>
        <p:spPr>
          <a:xfrm>
            <a:off x="400680" y="8014663"/>
            <a:ext cx="6758640" cy="494707"/>
          </a:xfrm>
          <a:prstGeom prst="rect">
            <a:avLst/>
          </a:prstGeom>
          <a:noFill/>
        </p:spPr>
        <p:txBody>
          <a:bodyPr wrap="square" lIns="0" rIns="0" tIns="0" bIns="0" anchor="t"/>
          <a:lstStyle/>
          <a:p>
            <a:pPr algn="just">
              <a:lnSpc>
                <a:spcPts val="780"/>
              </a:lnSpc>
            </a:pPr>
            <a:r>
              <a:rPr sz="639" b="0" i="0">
                <a:solidFill>
                  <a:srgbClr val="E9E9E9"/>
                </a:solidFill>
                <a:latin typeface="Versos"/>
              </a:rPr>
              <a:t>Leia a lâmina de informações essenciais, se houver, e o regulamento antes de investir. Estes documentos podem ser encontrados no site https://tivio.com/fundos/. Leia previamente as condições de cada produto antes de investir. Os investimentos apresentados podem não ser adequados aos seus objetivos, situação financeira ou necessidades individuais. A rentabilidade obtida no passado não representa garantia de resultados futuros. A rentabilidade divulgada não é líquida de impostos. “Os ativos financeiros integrantes nesta carteira podem não possuir liquidez imediata, podendo seus prazos e/ou rentabilidade variar de acordo com o vencimento ou prazo de resgate de cada ativo, caso seja negociado antecipadamente.</a:t>
            </a:r>
          </a:p>
        </p:txBody>
      </p:sp>
      <p:sp>
        <p:nvSpPr>
          <p:cNvPr id="25" name="TextBox 24"/>
          <p:cNvSpPr txBox="1"/>
          <p:nvPr/>
        </p:nvSpPr>
        <p:spPr>
          <a:xfrm>
            <a:off x="400680" y="8538547"/>
            <a:ext cx="6758640" cy="395600"/>
          </a:xfrm>
          <a:prstGeom prst="rect">
            <a:avLst/>
          </a:prstGeom>
          <a:noFill/>
        </p:spPr>
        <p:txBody>
          <a:bodyPr wrap="square" lIns="0" rIns="0" tIns="0" bIns="0" anchor="t"/>
          <a:lstStyle/>
          <a:p>
            <a:pPr algn="just">
              <a:lnSpc>
                <a:spcPts val="780"/>
              </a:lnSpc>
            </a:pPr>
            <a:r>
              <a:rPr sz="639" b="0" i="0">
                <a:solidFill>
                  <a:srgbClr val="E9E9E9"/>
                </a:solidFill>
                <a:latin typeface="Versos"/>
              </a:rPr>
              <a:t>Para avaliação da performance de fundo(s) de investimento(s), é recomendável uma análise de, no mínimo, 12 (doze) meses. Fundos de investimento não contam com garantia do administrador, do gestor, de qualquer mecanismo de seguro ou do Fundo Garantidor de Crédito (FGC). O preenchimento do formulário API – Análise de Perfil do Investidor ou Suitability é essencial para garantir a adequação do perfil do cliente ao produto de investimento escolhido. Os indicadores aqui apresentados devem ser utilizados como referência econômica e não parâmetro objetivo do fundo. Material de Divulgação.</a:t>
            </a:r>
          </a:p>
        </p:txBody>
      </p:sp>
      <p:sp>
        <p:nvSpPr>
          <p:cNvPr id="26" name="TextBox 25"/>
          <p:cNvSpPr txBox="1"/>
          <p:nvPr/>
        </p:nvSpPr>
        <p:spPr>
          <a:xfrm>
            <a:off x="400680" y="9086056"/>
            <a:ext cx="859477" cy="200221"/>
          </a:xfrm>
          <a:prstGeom prst="rect">
            <a:avLst/>
          </a:prstGeom>
          <a:noFill/>
        </p:spPr>
        <p:txBody>
          <a:bodyPr wrap="square" lIns="0" rIns="0" tIns="0" bIns="0" anchor="t"/>
          <a:lstStyle/>
          <a:p>
            <a:pPr algn="l">
              <a:lnSpc>
                <a:spcPts val="803"/>
              </a:lnSpc>
            </a:pPr>
            <a:r>
              <a:rPr sz="642" b="0" i="0">
                <a:solidFill>
                  <a:srgbClr val="E9E9E9"/>
                </a:solidFill>
                <a:latin typeface="Versos"/>
              </a:rPr>
              <a:t>SAC: 0800 704 8383</a:t>
            </a:r>
          </a:p>
          <a:p>
            <a:pPr algn="l">
              <a:lnSpc>
                <a:spcPts val="803"/>
              </a:lnSpc>
            </a:pPr>
            <a:r>
              <a:rPr sz="642" b="0" i="0">
                <a:solidFill>
                  <a:srgbClr val="E9E9E9"/>
                </a:solidFill>
                <a:latin typeface="Versos"/>
              </a:rPr>
              <a:t>Atendimento 24 horas</a:t>
            </a:r>
          </a:p>
        </p:txBody>
      </p:sp>
      <p:sp>
        <p:nvSpPr>
          <p:cNvPr id="27" name="TextBox 26"/>
          <p:cNvSpPr txBox="1"/>
          <p:nvPr/>
        </p:nvSpPr>
        <p:spPr>
          <a:xfrm>
            <a:off x="1381117" y="9086056"/>
            <a:ext cx="3049987" cy="200221"/>
          </a:xfrm>
          <a:prstGeom prst="rect">
            <a:avLst/>
          </a:prstGeom>
          <a:noFill/>
        </p:spPr>
        <p:txBody>
          <a:bodyPr wrap="square" lIns="0" rIns="0" tIns="0" bIns="0" anchor="t"/>
          <a:lstStyle/>
          <a:p>
            <a:pPr algn="l">
              <a:lnSpc>
                <a:spcPts val="803"/>
              </a:lnSpc>
            </a:pPr>
            <a:r>
              <a:rPr sz="642" b="0" i="0">
                <a:solidFill>
                  <a:srgbClr val="E9E9E9"/>
                </a:solidFill>
                <a:latin typeface="Versos"/>
              </a:rPr>
              <a:t>Ouvidoria: 0800 727 9933</a:t>
            </a:r>
          </a:p>
          <a:p>
            <a:pPr algn="l">
              <a:lnSpc>
                <a:spcPts val="803"/>
              </a:lnSpc>
            </a:pPr>
            <a:r>
              <a:rPr sz="642" b="0" i="0">
                <a:solidFill>
                  <a:srgbClr val="E9E9E9"/>
                </a:solidFill>
                <a:latin typeface="Versos"/>
              </a:rPr>
              <a:t>Atendimento das 9h às 18h, de segunda a sexta-feira, exceto feriados nacionais</a:t>
            </a:r>
          </a:p>
        </p:txBody>
      </p:sp>
      <p:sp>
        <p:nvSpPr>
          <p:cNvPr id="28" name="TextBox 27"/>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29" name="TextBox 28"/>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0" name="TextBox 29"/>
          <p:cNvSpPr txBox="1"/>
          <p:nvPr/>
        </p:nvSpPr>
        <p:spPr>
          <a:xfrm>
            <a:off x="4528440" y="10020071"/>
            <a:ext cx="500613"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1" name="TextBox 30"/>
          <p:cNvSpPr txBox="1"/>
          <p:nvPr/>
        </p:nvSpPr>
        <p:spPr>
          <a:xfrm>
            <a:off x="4528440" y="10110791"/>
            <a:ext cx="500613" cy="166320"/>
          </a:xfrm>
          <a:prstGeom prst="rect">
            <a:avLst/>
          </a:prstGeom>
          <a:noFill/>
        </p:spPr>
        <p:txBody>
          <a:bodyPr wrap="none" lIns="0" rIns="0" tIns="0" bIns="0" anchor="t"/>
          <a:lstStyle/>
          <a:p>
            <a:pPr algn="l">
              <a:lnSpc>
                <a:spcPts val="1285"/>
              </a:lnSpc>
            </a:pPr>
            <a:r>
              <a:rPr sz="1071" b="1" i="0">
                <a:solidFill>
                  <a:srgbClr val="FFFFFF"/>
                </a:solidFill>
                <a:latin typeface="Versos"/>
              </a:rPr>
              <a:t>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