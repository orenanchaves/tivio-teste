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1005480"/>
            <a:ext cx="6266332" cy="173880"/>
          </a:xfrm>
          <a:prstGeom prst="rect">
            <a:avLst/>
          </a:prstGeom>
          <a:noFill/>
        </p:spPr>
        <p:txBody>
          <a:bodyPr wrap="none" lIns="0" rIns="0" tIns="0" bIns="0" anchor="t"/>
          <a:lstStyle/>
          <a:p>
            <a:pPr algn="l">
              <a:lnSpc>
                <a:spcPts val="1321"/>
              </a:lnSpc>
            </a:pPr>
            <a:r>
              <a:rPr sz="1101" b="0" i="0">
                <a:solidFill>
                  <a:srgbClr val="FFFFFF"/>
                </a:solidFill>
                <a:latin typeface="Versos"/>
              </a:rPr>
              <a:t>TIVIO ALT HY 90 FIDC RL </a:t>
            </a:r>
            <a:r>
              <a:rPr sz="903" b="0" i="0">
                <a:solidFill>
                  <a:srgbClr val="FFFFFF"/>
                </a:solidFill>
                <a:latin typeface="Versos"/>
              </a:rPr>
              <a:t>/ CNPJ 61.020.441/0001-40</a:t>
            </a:r>
          </a:p>
        </p:txBody>
      </p:sp>
      <p:sp>
        <p:nvSpPr>
          <p:cNvPr id="4" name="TextBox 3"/>
          <p:cNvSpPr txBox="1"/>
          <p:nvPr/>
        </p:nvSpPr>
        <p:spPr>
          <a:xfrm>
            <a:off x="400680" y="140616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5" name="TextBox 4"/>
          <p:cNvSpPr txBox="1"/>
          <p:nvPr/>
        </p:nvSpPr>
        <p:spPr>
          <a:xfrm>
            <a:off x="385560" y="1980720"/>
            <a:ext cx="7044710" cy="151200"/>
          </a:xfrm>
          <a:prstGeom prst="rect">
            <a:avLst/>
          </a:prstGeom>
          <a:noFill/>
        </p:spPr>
        <p:txBody>
          <a:bodyPr wrap="none" lIns="0" rIns="0" tIns="0" bIns="0" anchor="t"/>
          <a:lstStyle/>
          <a:p>
            <a:pPr algn="l">
              <a:lnSpc>
                <a:spcPts val="1214"/>
              </a:lnSpc>
            </a:pPr>
            <a:r>
              <a:rPr sz="1012" b="0" i="0">
                <a:solidFill>
                  <a:srgbClr val="FFFFFF"/>
                </a:solidFill>
                <a:latin typeface="Versos"/>
              </a:rPr>
              <a:t>OBJETIVO DA CARTEIRA</a:t>
            </a:r>
          </a:p>
        </p:txBody>
      </p:sp>
      <p:sp>
        <p:nvSpPr>
          <p:cNvPr id="6" name="TextBox 5"/>
          <p:cNvSpPr txBox="1"/>
          <p:nvPr/>
        </p:nvSpPr>
        <p:spPr>
          <a:xfrm>
            <a:off x="385560" y="2154600"/>
            <a:ext cx="6773760" cy="367368"/>
          </a:xfrm>
          <a:prstGeom prst="rect">
            <a:avLst/>
          </a:prstGeom>
          <a:noFill/>
        </p:spPr>
        <p:txBody>
          <a:bodyPr wrap="square" lIns="0" rIns="0" tIns="0" bIns="0" anchor="t"/>
          <a:lstStyle/>
          <a:p>
            <a:pPr algn="l">
              <a:lnSpc>
                <a:spcPts val="1464"/>
              </a:lnSpc>
            </a:pPr>
            <a:r>
              <a:rPr sz="1220" b="0" i="0">
                <a:solidFill>
                  <a:srgbClr val="FFFFFF"/>
                </a:solidFill>
                <a:latin typeface="Versos"/>
              </a:rPr>
              <a:t>O </a:t>
            </a:r>
            <a:r>
              <a:rPr sz="1220" b="1" i="0">
                <a:solidFill>
                  <a:srgbClr val="FFFFFF"/>
                </a:solidFill>
                <a:latin typeface="Versos"/>
              </a:rPr>
              <a:t>Tivio ALT 90</a:t>
            </a:r>
            <a:r>
              <a:rPr sz="1220" b="0" i="0">
                <a:solidFill>
                  <a:srgbClr val="FFFFFF"/>
                </a:solidFill>
                <a:latin typeface="Versos"/>
              </a:rPr>
              <a:t> busca retorno superior ao CDI com baixa volatilidade, por meio de FIDCs em cotas sênior, garantindo diversificação, segurança e relação risco-retorno atrativa.</a:t>
            </a:r>
          </a:p>
        </p:txBody>
      </p:sp>
      <p:sp>
        <p:nvSpPr>
          <p:cNvPr id="7" name="TextBox 6"/>
          <p:cNvSpPr txBox="1"/>
          <p:nvPr/>
        </p:nvSpPr>
        <p:spPr>
          <a:xfrm>
            <a:off x="115668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Mês</a:t>
            </a:r>
          </a:p>
        </p:txBody>
      </p:sp>
      <p:sp>
        <p:nvSpPr>
          <p:cNvPr id="8" name="TextBox 7"/>
          <p:cNvSpPr txBox="1"/>
          <p:nvPr/>
        </p:nvSpPr>
        <p:spPr>
          <a:xfrm>
            <a:off x="216216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Ano</a:t>
            </a:r>
          </a:p>
        </p:txBody>
      </p:sp>
      <p:sp>
        <p:nvSpPr>
          <p:cNvPr id="9" name="TextBox 8"/>
          <p:cNvSpPr txBox="1"/>
          <p:nvPr/>
        </p:nvSpPr>
        <p:spPr>
          <a:xfrm>
            <a:off x="316764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12M</a:t>
            </a:r>
          </a:p>
        </p:txBody>
      </p:sp>
      <p:sp>
        <p:nvSpPr>
          <p:cNvPr id="10" name="TextBox 9"/>
          <p:cNvSpPr txBox="1"/>
          <p:nvPr/>
        </p:nvSpPr>
        <p:spPr>
          <a:xfrm>
            <a:off x="417312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24M</a:t>
            </a:r>
          </a:p>
        </p:txBody>
      </p:sp>
      <p:sp>
        <p:nvSpPr>
          <p:cNvPr id="11" name="TextBox 10"/>
          <p:cNvSpPr txBox="1"/>
          <p:nvPr/>
        </p:nvSpPr>
        <p:spPr>
          <a:xfrm>
            <a:off x="517860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36M</a:t>
            </a:r>
          </a:p>
        </p:txBody>
      </p:sp>
      <p:sp>
        <p:nvSpPr>
          <p:cNvPr id="12" name="TextBox 11"/>
          <p:cNvSpPr txBox="1"/>
          <p:nvPr/>
        </p:nvSpPr>
        <p:spPr>
          <a:xfrm>
            <a:off x="618408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Desde o Início</a:t>
            </a:r>
          </a:p>
        </p:txBody>
      </p:sp>
      <p:sp>
        <p:nvSpPr>
          <p:cNvPr id="13" name="TextBox 12"/>
          <p:cNvSpPr txBox="1"/>
          <p:nvPr/>
        </p:nvSpPr>
        <p:spPr>
          <a:xfrm>
            <a:off x="370440" y="3021637"/>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Fundo</a:t>
            </a:r>
          </a:p>
        </p:txBody>
      </p:sp>
      <p:sp>
        <p:nvSpPr>
          <p:cNvPr id="14" name="TextBox 13"/>
          <p:cNvSpPr txBox="1"/>
          <p:nvPr/>
        </p:nvSpPr>
        <p:spPr>
          <a:xfrm>
            <a:off x="115668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1,22%</a:t>
            </a:r>
          </a:p>
        </p:txBody>
      </p:sp>
      <p:sp>
        <p:nvSpPr>
          <p:cNvPr id="15" name="TextBox 14"/>
          <p:cNvSpPr txBox="1"/>
          <p:nvPr/>
        </p:nvSpPr>
        <p:spPr>
          <a:xfrm>
            <a:off x="216216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10,40%</a:t>
            </a:r>
          </a:p>
        </p:txBody>
      </p:sp>
      <p:sp>
        <p:nvSpPr>
          <p:cNvPr id="16" name="TextBox 15"/>
          <p:cNvSpPr txBox="1"/>
          <p:nvPr/>
        </p:nvSpPr>
        <p:spPr>
          <a:xfrm>
            <a:off x="316764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16,49%</a:t>
            </a:r>
          </a:p>
        </p:txBody>
      </p:sp>
      <p:sp>
        <p:nvSpPr>
          <p:cNvPr id="17" name="TextBox 16"/>
          <p:cNvSpPr txBox="1"/>
          <p:nvPr/>
        </p:nvSpPr>
        <p:spPr>
          <a:xfrm>
            <a:off x="417312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a:t>
            </a:r>
          </a:p>
        </p:txBody>
      </p:sp>
      <p:sp>
        <p:nvSpPr>
          <p:cNvPr id="18" name="TextBox 17"/>
          <p:cNvSpPr txBox="1"/>
          <p:nvPr/>
        </p:nvSpPr>
        <p:spPr>
          <a:xfrm>
            <a:off x="517860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a:t>
            </a:r>
          </a:p>
        </p:txBody>
      </p:sp>
      <p:sp>
        <p:nvSpPr>
          <p:cNvPr id="19" name="TextBox 18"/>
          <p:cNvSpPr txBox="1"/>
          <p:nvPr/>
        </p:nvSpPr>
        <p:spPr>
          <a:xfrm>
            <a:off x="618408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21,25%</a:t>
            </a:r>
          </a:p>
        </p:txBody>
      </p:sp>
      <p:sp>
        <p:nvSpPr>
          <p:cNvPr id="20" name="TextBox 19"/>
          <p:cNvSpPr txBox="1"/>
          <p:nvPr/>
        </p:nvSpPr>
        <p:spPr>
          <a:xfrm>
            <a:off x="370440" y="3407197"/>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CDI</a:t>
            </a:r>
          </a:p>
        </p:txBody>
      </p:sp>
      <p:sp>
        <p:nvSpPr>
          <p:cNvPr id="21" name="TextBox 20"/>
          <p:cNvSpPr txBox="1"/>
          <p:nvPr/>
        </p:nvSpPr>
        <p:spPr>
          <a:xfrm>
            <a:off x="115668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1,09%</a:t>
            </a:r>
          </a:p>
        </p:txBody>
      </p:sp>
      <p:sp>
        <p:nvSpPr>
          <p:cNvPr id="22" name="TextBox 21"/>
          <p:cNvSpPr txBox="1"/>
          <p:nvPr/>
        </p:nvSpPr>
        <p:spPr>
          <a:xfrm>
            <a:off x="216216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9,33%</a:t>
            </a:r>
          </a:p>
        </p:txBody>
      </p:sp>
      <p:sp>
        <p:nvSpPr>
          <p:cNvPr id="23" name="TextBox 22"/>
          <p:cNvSpPr txBox="1"/>
          <p:nvPr/>
        </p:nvSpPr>
        <p:spPr>
          <a:xfrm>
            <a:off x="316764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14,57%</a:t>
            </a:r>
          </a:p>
        </p:txBody>
      </p:sp>
      <p:sp>
        <p:nvSpPr>
          <p:cNvPr id="24" name="TextBox 23"/>
          <p:cNvSpPr txBox="1"/>
          <p:nvPr/>
        </p:nvSpPr>
        <p:spPr>
          <a:xfrm>
            <a:off x="417312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25" name="TextBox 24"/>
          <p:cNvSpPr txBox="1"/>
          <p:nvPr/>
        </p:nvSpPr>
        <p:spPr>
          <a:xfrm>
            <a:off x="517860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26" name="TextBox 25"/>
          <p:cNvSpPr txBox="1"/>
          <p:nvPr/>
        </p:nvSpPr>
        <p:spPr>
          <a:xfrm>
            <a:off x="618408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18,41%</a:t>
            </a:r>
          </a:p>
        </p:txBody>
      </p:sp>
      <p:sp>
        <p:nvSpPr>
          <p:cNvPr id="27" name="TextBox 26"/>
          <p:cNvSpPr txBox="1"/>
          <p:nvPr/>
        </p:nvSpPr>
        <p:spPr>
          <a:xfrm>
            <a:off x="370440" y="3792757"/>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a:t>
            </a:r>
          </a:p>
        </p:txBody>
      </p:sp>
      <p:sp>
        <p:nvSpPr>
          <p:cNvPr id="28" name="TextBox 27"/>
          <p:cNvSpPr txBox="1"/>
          <p:nvPr/>
        </p:nvSpPr>
        <p:spPr>
          <a:xfrm>
            <a:off x="115668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111,86%</a:t>
            </a:r>
          </a:p>
        </p:txBody>
      </p:sp>
      <p:sp>
        <p:nvSpPr>
          <p:cNvPr id="29" name="TextBox 28"/>
          <p:cNvSpPr txBox="1"/>
          <p:nvPr/>
        </p:nvSpPr>
        <p:spPr>
          <a:xfrm>
            <a:off x="216216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111,49%</a:t>
            </a:r>
          </a:p>
        </p:txBody>
      </p:sp>
      <p:sp>
        <p:nvSpPr>
          <p:cNvPr id="30" name="TextBox 29"/>
          <p:cNvSpPr txBox="1"/>
          <p:nvPr/>
        </p:nvSpPr>
        <p:spPr>
          <a:xfrm>
            <a:off x="316764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113,19%</a:t>
            </a:r>
          </a:p>
        </p:txBody>
      </p:sp>
      <p:sp>
        <p:nvSpPr>
          <p:cNvPr id="31" name="TextBox 30"/>
          <p:cNvSpPr txBox="1"/>
          <p:nvPr/>
        </p:nvSpPr>
        <p:spPr>
          <a:xfrm>
            <a:off x="417312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2" name="TextBox 31"/>
          <p:cNvSpPr txBox="1"/>
          <p:nvPr/>
        </p:nvSpPr>
        <p:spPr>
          <a:xfrm>
            <a:off x="517860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3" name="TextBox 32"/>
          <p:cNvSpPr txBox="1"/>
          <p:nvPr/>
        </p:nvSpPr>
        <p:spPr>
          <a:xfrm>
            <a:off x="618408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115,41%</a:t>
            </a:r>
          </a:p>
        </p:txBody>
      </p:sp>
      <p:sp>
        <p:nvSpPr>
          <p:cNvPr id="34" name="TextBox 33"/>
          <p:cNvSpPr txBox="1"/>
          <p:nvPr/>
        </p:nvSpPr>
        <p:spPr>
          <a:xfrm>
            <a:off x="370440" y="4178317"/>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CDI+</a:t>
            </a:r>
          </a:p>
        </p:txBody>
      </p:sp>
      <p:sp>
        <p:nvSpPr>
          <p:cNvPr id="35" name="TextBox 34"/>
          <p:cNvSpPr txBox="1"/>
          <p:nvPr/>
        </p:nvSpPr>
        <p:spPr>
          <a:xfrm>
            <a:off x="115668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1,55%</a:t>
            </a:r>
          </a:p>
        </p:txBody>
      </p:sp>
      <p:sp>
        <p:nvSpPr>
          <p:cNvPr id="36" name="TextBox 35"/>
          <p:cNvSpPr txBox="1"/>
          <p:nvPr/>
        </p:nvSpPr>
        <p:spPr>
          <a:xfrm>
            <a:off x="216216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1,49%</a:t>
            </a:r>
          </a:p>
        </p:txBody>
      </p:sp>
      <p:sp>
        <p:nvSpPr>
          <p:cNvPr id="37" name="TextBox 36"/>
          <p:cNvSpPr txBox="1"/>
          <p:nvPr/>
        </p:nvSpPr>
        <p:spPr>
          <a:xfrm>
            <a:off x="316764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1,68%</a:t>
            </a:r>
          </a:p>
        </p:txBody>
      </p:sp>
      <p:sp>
        <p:nvSpPr>
          <p:cNvPr id="38" name="TextBox 37"/>
          <p:cNvSpPr txBox="1"/>
          <p:nvPr/>
        </p:nvSpPr>
        <p:spPr>
          <a:xfrm>
            <a:off x="417312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9" name="TextBox 38"/>
          <p:cNvSpPr txBox="1"/>
          <p:nvPr/>
        </p:nvSpPr>
        <p:spPr>
          <a:xfrm>
            <a:off x="517860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40" name="TextBox 39"/>
          <p:cNvSpPr txBox="1"/>
          <p:nvPr/>
        </p:nvSpPr>
        <p:spPr>
          <a:xfrm>
            <a:off x="618408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1,94%</a:t>
            </a:r>
          </a:p>
        </p:txBody>
      </p:sp>
      <p:sp>
        <p:nvSpPr>
          <p:cNvPr id="41" name="TextBox 40"/>
          <p:cNvSpPr txBox="1"/>
          <p:nvPr/>
        </p:nvSpPr>
        <p:spPr>
          <a:xfrm>
            <a:off x="385560" y="4522297"/>
            <a:ext cx="7044710" cy="113400"/>
          </a:xfrm>
          <a:prstGeom prst="rect">
            <a:avLst/>
          </a:prstGeom>
          <a:noFill/>
        </p:spPr>
        <p:txBody>
          <a:bodyPr wrap="none" lIns="0" rIns="0" tIns="0" bIns="0" anchor="t"/>
          <a:lstStyle/>
          <a:p>
            <a:pPr algn="r">
              <a:lnSpc>
                <a:spcPts val="892"/>
              </a:lnSpc>
            </a:pPr>
            <a:r>
              <a:rPr sz="744" b="1" i="0">
                <a:solidFill>
                  <a:srgbClr val="FFFFFF"/>
                </a:solidFill>
                <a:latin typeface="Versos"/>
              </a:rPr>
              <a:t>Data base:</a:t>
            </a:r>
            <a:r>
              <a:rPr sz="744" b="0" i="0">
                <a:solidFill>
                  <a:srgbClr val="FFFFFF"/>
                </a:solidFill>
                <a:latin typeface="Versos"/>
              </a:rPr>
              <a:t> 31/08/2026</a:t>
            </a:r>
          </a:p>
        </p:txBody>
      </p:sp>
      <p:sp>
        <p:nvSpPr>
          <p:cNvPr id="42" name="TextBox 41"/>
          <p:cNvSpPr txBox="1"/>
          <p:nvPr/>
        </p:nvSpPr>
        <p:spPr>
          <a:xfrm>
            <a:off x="400680" y="5028817"/>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REAL DA CARTEIRA DE CRÉDITO</a:t>
            </a:r>
          </a:p>
        </p:txBody>
      </p:sp>
      <p:sp>
        <p:nvSpPr>
          <p:cNvPr id="43" name="TextBox 42"/>
          <p:cNvSpPr txBox="1"/>
          <p:nvPr/>
        </p:nvSpPr>
        <p:spPr>
          <a:xfrm>
            <a:off x="498960" y="6089934"/>
            <a:ext cx="5402210" cy="292477"/>
          </a:xfrm>
          <a:prstGeom prst="rect">
            <a:avLst/>
          </a:prstGeom>
          <a:noFill/>
        </p:spPr>
        <p:txBody>
          <a:bodyPr wrap="square" lIns="0" rIns="0" tIns="0" bIns="0" anchor="t"/>
          <a:lstStyle/>
          <a:p>
            <a:pPr algn="l">
              <a:lnSpc>
                <a:spcPts val="1113"/>
              </a:lnSpc>
            </a:pPr>
            <a:r>
              <a:rPr sz="1012" b="0" i="0">
                <a:solidFill>
                  <a:srgbClr val="FFFFFF"/>
                </a:solidFill>
                <a:latin typeface="Versos"/>
              </a:rPr>
              <a:t>FIDCs</a:t>
            </a:r>
          </a:p>
          <a:p>
            <a:pPr algn="l">
              <a:lnSpc>
                <a:spcPts val="1113"/>
              </a:lnSpc>
            </a:pPr>
            <a:r>
              <a:rPr sz="1012" b="1" i="0">
                <a:solidFill>
                  <a:srgbClr val="FFFFFF"/>
                </a:solidFill>
                <a:latin typeface="Versos"/>
              </a:rPr>
              <a:t>Cotas Sênior</a:t>
            </a:r>
          </a:p>
        </p:txBody>
      </p:sp>
      <p:sp>
        <p:nvSpPr>
          <p:cNvPr id="44" name="TextBox 43"/>
          <p:cNvSpPr txBox="1"/>
          <p:nvPr/>
        </p:nvSpPr>
        <p:spPr>
          <a:xfrm>
            <a:off x="498960" y="6387609"/>
            <a:ext cx="5618299" cy="189000"/>
          </a:xfrm>
          <a:prstGeom prst="rect">
            <a:avLst/>
          </a:prstGeom>
          <a:noFill/>
        </p:spPr>
        <p:txBody>
          <a:bodyPr wrap="none" lIns="0" rIns="0" tIns="0" bIns="0" anchor="t"/>
          <a:lstStyle/>
          <a:p>
            <a:pPr algn="l">
              <a:lnSpc>
                <a:spcPts val="1375"/>
              </a:lnSpc>
            </a:pPr>
            <a:r>
              <a:rPr sz="1250" b="1" i="0">
                <a:solidFill>
                  <a:srgbClr val="FFFFFF"/>
                </a:solidFill>
                <a:latin typeface="Versos"/>
              </a:rPr>
              <a:t>82,9%</a:t>
            </a:r>
          </a:p>
        </p:txBody>
      </p:sp>
      <p:sp>
        <p:nvSpPr>
          <p:cNvPr id="45" name="TextBox 44"/>
          <p:cNvSpPr txBox="1"/>
          <p:nvPr/>
        </p:nvSpPr>
        <p:spPr>
          <a:xfrm>
            <a:off x="6092415" y="5564278"/>
            <a:ext cx="1012775" cy="151200"/>
          </a:xfrm>
          <a:prstGeom prst="rect">
            <a:avLst/>
          </a:prstGeom>
          <a:noFill/>
        </p:spPr>
        <p:txBody>
          <a:bodyPr wrap="none" lIns="0" rIns="0" tIns="0" bIns="0" anchor="t"/>
          <a:lstStyle/>
          <a:p>
            <a:pPr algn="l">
              <a:lnSpc>
                <a:spcPts val="1113"/>
              </a:lnSpc>
            </a:pPr>
            <a:r>
              <a:rPr sz="1012" b="0" i="0">
                <a:solidFill>
                  <a:srgbClr val="2B3744"/>
                </a:solidFill>
                <a:latin typeface="Versos"/>
              </a:rPr>
              <a:t>Bancário</a:t>
            </a:r>
          </a:p>
        </p:txBody>
      </p:sp>
      <p:sp>
        <p:nvSpPr>
          <p:cNvPr id="46" name="TextBox 45"/>
          <p:cNvSpPr txBox="1"/>
          <p:nvPr/>
        </p:nvSpPr>
        <p:spPr>
          <a:xfrm>
            <a:off x="6092415" y="5720675"/>
            <a:ext cx="1012775" cy="189000"/>
          </a:xfrm>
          <a:prstGeom prst="rect">
            <a:avLst/>
          </a:prstGeom>
          <a:noFill/>
        </p:spPr>
        <p:txBody>
          <a:bodyPr wrap="none" lIns="0" rIns="0" tIns="0" bIns="0" anchor="t"/>
          <a:lstStyle/>
          <a:p>
            <a:pPr algn="l">
              <a:lnSpc>
                <a:spcPts val="1375"/>
              </a:lnSpc>
            </a:pPr>
            <a:r>
              <a:rPr sz="1250" b="1" i="0">
                <a:solidFill>
                  <a:srgbClr val="2B3744"/>
                </a:solidFill>
                <a:latin typeface="Versos"/>
              </a:rPr>
              <a:t>8,3%</a:t>
            </a:r>
          </a:p>
        </p:txBody>
      </p:sp>
      <p:sp>
        <p:nvSpPr>
          <p:cNvPr id="47" name="TextBox 46"/>
          <p:cNvSpPr txBox="1"/>
          <p:nvPr/>
        </p:nvSpPr>
        <p:spPr>
          <a:xfrm>
            <a:off x="6037250" y="6351463"/>
            <a:ext cx="396073" cy="147892"/>
          </a:xfrm>
          <a:prstGeom prst="rect">
            <a:avLst/>
          </a:prstGeom>
          <a:noFill/>
        </p:spPr>
        <p:txBody>
          <a:bodyPr wrap="square" lIns="0" rIns="0" tIns="0" bIns="0" anchor="t"/>
          <a:lstStyle/>
          <a:p>
            <a:pPr algn="l">
              <a:lnSpc>
                <a:spcPts val="569"/>
              </a:lnSpc>
            </a:pPr>
            <a:r>
              <a:rPr sz="517" b="0" i="0">
                <a:solidFill>
                  <a:srgbClr val="FFFFFF"/>
                </a:solidFill>
                <a:latin typeface="Versos"/>
              </a:rPr>
              <a:t>Crédito</a:t>
            </a:r>
          </a:p>
          <a:p>
            <a:pPr algn="l">
              <a:lnSpc>
                <a:spcPts val="569"/>
              </a:lnSpc>
            </a:pPr>
            <a:r>
              <a:rPr sz="517" b="1" i="0">
                <a:solidFill>
                  <a:srgbClr val="FFFFFF"/>
                </a:solidFill>
                <a:latin typeface="Versos"/>
              </a:rPr>
              <a:t>Privado</a:t>
            </a:r>
          </a:p>
        </p:txBody>
      </p:sp>
      <p:sp>
        <p:nvSpPr>
          <p:cNvPr id="48" name="TextBox 47"/>
          <p:cNvSpPr txBox="1"/>
          <p:nvPr/>
        </p:nvSpPr>
        <p:spPr>
          <a:xfrm>
            <a:off x="6037250" y="6511168"/>
            <a:ext cx="411916" cy="120960"/>
          </a:xfrm>
          <a:prstGeom prst="rect">
            <a:avLst/>
          </a:prstGeom>
          <a:noFill/>
        </p:spPr>
        <p:txBody>
          <a:bodyPr wrap="none" lIns="0" rIns="0" tIns="0" bIns="0" anchor="t"/>
          <a:lstStyle/>
          <a:p>
            <a:pPr algn="l">
              <a:lnSpc>
                <a:spcPts val="877"/>
              </a:lnSpc>
            </a:pPr>
            <a:r>
              <a:rPr sz="797" b="1" i="0">
                <a:solidFill>
                  <a:srgbClr val="FFFFFF"/>
                </a:solidFill>
                <a:latin typeface="Versos"/>
              </a:rPr>
              <a:t>3,6%</a:t>
            </a:r>
          </a:p>
        </p:txBody>
      </p:sp>
      <p:sp>
        <p:nvSpPr>
          <p:cNvPr id="49" name="TextBox 48"/>
          <p:cNvSpPr txBox="1"/>
          <p:nvPr/>
        </p:nvSpPr>
        <p:spPr>
          <a:xfrm>
            <a:off x="6508923" y="6534556"/>
            <a:ext cx="307616" cy="98280"/>
          </a:xfrm>
          <a:prstGeom prst="rect">
            <a:avLst/>
          </a:prstGeom>
          <a:noFill/>
        </p:spPr>
        <p:txBody>
          <a:bodyPr wrap="none" lIns="0" rIns="0" tIns="0" bIns="0" anchor="t"/>
          <a:lstStyle/>
          <a:p>
            <a:pPr algn="l">
              <a:lnSpc>
                <a:spcPts val="694"/>
              </a:lnSpc>
            </a:pPr>
            <a:r>
              <a:rPr sz="631" b="1" i="0">
                <a:solidFill>
                  <a:srgbClr val="2B3744"/>
                </a:solidFill>
                <a:latin typeface="Versos"/>
              </a:rPr>
              <a:t>2,9%</a:t>
            </a:r>
          </a:p>
        </p:txBody>
      </p:sp>
      <p:sp>
        <p:nvSpPr>
          <p:cNvPr id="50" name="TextBox 49"/>
          <p:cNvSpPr txBox="1"/>
          <p:nvPr/>
        </p:nvSpPr>
        <p:spPr>
          <a:xfrm>
            <a:off x="6880426" y="6388790"/>
            <a:ext cx="250614" cy="83160"/>
          </a:xfrm>
          <a:prstGeom prst="rect">
            <a:avLst/>
          </a:prstGeom>
          <a:noFill/>
        </p:spPr>
        <p:txBody>
          <a:bodyPr wrap="none" lIns="0" rIns="0" tIns="0" bIns="0" anchor="t"/>
          <a:lstStyle/>
          <a:p>
            <a:pPr algn="l">
              <a:lnSpc>
                <a:spcPts val="622"/>
              </a:lnSpc>
            </a:pPr>
            <a:r>
              <a:rPr sz="565" b="1" i="0">
                <a:solidFill>
                  <a:srgbClr val="2B3744"/>
                </a:solidFill>
                <a:latin typeface="Versos"/>
              </a:rPr>
              <a:t>1,9%</a:t>
            </a:r>
          </a:p>
        </p:txBody>
      </p:sp>
      <p:sp>
        <p:nvSpPr>
          <p:cNvPr id="51" name="TextBox 50"/>
          <p:cNvSpPr txBox="1"/>
          <p:nvPr/>
        </p:nvSpPr>
        <p:spPr>
          <a:xfrm>
            <a:off x="6880426" y="6543652"/>
            <a:ext cx="250614" cy="83160"/>
          </a:xfrm>
          <a:prstGeom prst="rect">
            <a:avLst/>
          </a:prstGeom>
          <a:noFill/>
        </p:spPr>
        <p:txBody>
          <a:bodyPr wrap="none" lIns="0" rIns="0" tIns="0" bIns="0" anchor="t"/>
          <a:lstStyle/>
          <a:p>
            <a:pPr algn="l">
              <a:lnSpc>
                <a:spcPts val="622"/>
              </a:lnSpc>
            </a:pPr>
            <a:r>
              <a:rPr sz="565" b="1" i="0">
                <a:solidFill>
                  <a:srgbClr val="2B3744"/>
                </a:solidFill>
                <a:latin typeface="Versos"/>
              </a:rPr>
              <a:t>0,6%</a:t>
            </a:r>
          </a:p>
        </p:txBody>
      </p:sp>
      <p:sp>
        <p:nvSpPr>
          <p:cNvPr id="52" name="TextBox 51"/>
          <p:cNvSpPr txBox="1"/>
          <p:nvPr/>
        </p:nvSpPr>
        <p:spPr>
          <a:xfrm>
            <a:off x="529200" y="6743638"/>
            <a:ext cx="1284888" cy="113400"/>
          </a:xfrm>
          <a:prstGeom prst="rect">
            <a:avLst/>
          </a:prstGeom>
          <a:noFill/>
        </p:spPr>
        <p:txBody>
          <a:bodyPr wrap="none" lIns="0" rIns="0" tIns="0" bIns="0" anchor="t"/>
          <a:lstStyle/>
          <a:p>
            <a:pPr algn="l">
              <a:lnSpc>
                <a:spcPts val="892"/>
              </a:lnSpc>
            </a:pPr>
            <a:r>
              <a:rPr sz="744" b="0" i="0">
                <a:solidFill>
                  <a:srgbClr val="333333"/>
                </a:solidFill>
                <a:latin typeface="Versos"/>
              </a:rPr>
              <a:t>FIDCs Cotas Sênior </a:t>
            </a:r>
            <a:r>
              <a:rPr sz="744" b="1" i="0">
                <a:solidFill>
                  <a:srgbClr val="111111"/>
                </a:solidFill>
                <a:latin typeface="Versos"/>
              </a:rPr>
              <a:t>82,9%</a:t>
            </a:r>
          </a:p>
        </p:txBody>
      </p:sp>
      <p:sp>
        <p:nvSpPr>
          <p:cNvPr id="53" name="TextBox 52"/>
          <p:cNvSpPr txBox="1"/>
          <p:nvPr/>
        </p:nvSpPr>
        <p:spPr>
          <a:xfrm>
            <a:off x="2029269" y="6743638"/>
            <a:ext cx="715355" cy="113400"/>
          </a:xfrm>
          <a:prstGeom prst="rect">
            <a:avLst/>
          </a:prstGeom>
          <a:noFill/>
        </p:spPr>
        <p:txBody>
          <a:bodyPr wrap="none" lIns="0" rIns="0" tIns="0" bIns="0" anchor="t"/>
          <a:lstStyle/>
          <a:p>
            <a:pPr algn="l">
              <a:lnSpc>
                <a:spcPts val="892"/>
              </a:lnSpc>
            </a:pPr>
            <a:r>
              <a:rPr sz="744" b="0" i="0">
                <a:solidFill>
                  <a:srgbClr val="333333"/>
                </a:solidFill>
                <a:latin typeface="Versos"/>
              </a:rPr>
              <a:t>Bancário </a:t>
            </a:r>
            <a:r>
              <a:rPr sz="744" b="1" i="0">
                <a:solidFill>
                  <a:srgbClr val="111111"/>
                </a:solidFill>
                <a:latin typeface="Versos"/>
              </a:rPr>
              <a:t>8,3%</a:t>
            </a:r>
          </a:p>
        </p:txBody>
      </p:sp>
      <p:sp>
        <p:nvSpPr>
          <p:cNvPr id="54" name="TextBox 53"/>
          <p:cNvSpPr txBox="1"/>
          <p:nvPr/>
        </p:nvSpPr>
        <p:spPr>
          <a:xfrm>
            <a:off x="2981711" y="6743638"/>
            <a:ext cx="1021374" cy="113400"/>
          </a:xfrm>
          <a:prstGeom prst="rect">
            <a:avLst/>
          </a:prstGeom>
          <a:noFill/>
        </p:spPr>
        <p:txBody>
          <a:bodyPr wrap="none" lIns="0" rIns="0" tIns="0" bIns="0" anchor="t"/>
          <a:lstStyle/>
          <a:p>
            <a:pPr algn="l">
              <a:lnSpc>
                <a:spcPts val="892"/>
              </a:lnSpc>
            </a:pPr>
            <a:r>
              <a:rPr sz="744" b="0" i="0">
                <a:solidFill>
                  <a:srgbClr val="333333"/>
                </a:solidFill>
                <a:latin typeface="Versos"/>
              </a:rPr>
              <a:t>Crédito Privado </a:t>
            </a:r>
            <a:r>
              <a:rPr sz="744" b="1" i="0">
                <a:solidFill>
                  <a:srgbClr val="111111"/>
                </a:solidFill>
                <a:latin typeface="Versos"/>
              </a:rPr>
              <a:t>3,6%</a:t>
            </a:r>
          </a:p>
        </p:txBody>
      </p:sp>
      <p:sp>
        <p:nvSpPr>
          <p:cNvPr id="55" name="TextBox 54"/>
          <p:cNvSpPr txBox="1"/>
          <p:nvPr/>
        </p:nvSpPr>
        <p:spPr>
          <a:xfrm>
            <a:off x="4228402" y="6743638"/>
            <a:ext cx="585748" cy="113400"/>
          </a:xfrm>
          <a:prstGeom prst="rect">
            <a:avLst/>
          </a:prstGeom>
          <a:noFill/>
        </p:spPr>
        <p:txBody>
          <a:bodyPr wrap="none" lIns="0" rIns="0" tIns="0" bIns="0" anchor="t"/>
          <a:lstStyle/>
          <a:p>
            <a:pPr algn="l">
              <a:lnSpc>
                <a:spcPts val="892"/>
              </a:lnSpc>
            </a:pPr>
            <a:r>
              <a:rPr sz="744" b="0" i="0">
                <a:solidFill>
                  <a:srgbClr val="333333"/>
                </a:solidFill>
                <a:latin typeface="Versos"/>
              </a:rPr>
              <a:t>Fiagro </a:t>
            </a:r>
            <a:r>
              <a:rPr sz="744" b="1" i="0">
                <a:solidFill>
                  <a:srgbClr val="111111"/>
                </a:solidFill>
                <a:latin typeface="Versos"/>
              </a:rPr>
              <a:t>2,9%</a:t>
            </a:r>
          </a:p>
        </p:txBody>
      </p:sp>
      <p:sp>
        <p:nvSpPr>
          <p:cNvPr id="56" name="TextBox 55"/>
          <p:cNvSpPr txBox="1"/>
          <p:nvPr/>
        </p:nvSpPr>
        <p:spPr>
          <a:xfrm>
            <a:off x="5056222" y="6743638"/>
            <a:ext cx="665355" cy="113400"/>
          </a:xfrm>
          <a:prstGeom prst="rect">
            <a:avLst/>
          </a:prstGeom>
          <a:noFill/>
        </p:spPr>
        <p:txBody>
          <a:bodyPr wrap="none" lIns="0" rIns="0" tIns="0" bIns="0" anchor="t"/>
          <a:lstStyle/>
          <a:p>
            <a:pPr algn="l">
              <a:lnSpc>
                <a:spcPts val="892"/>
              </a:lnSpc>
            </a:pPr>
            <a:r>
              <a:rPr sz="744" b="0" i="0">
                <a:solidFill>
                  <a:srgbClr val="333333"/>
                </a:solidFill>
                <a:latin typeface="Versos"/>
              </a:rPr>
              <a:t>Liquidez </a:t>
            </a:r>
            <a:r>
              <a:rPr sz="744" b="1" i="0">
                <a:solidFill>
                  <a:srgbClr val="111111"/>
                </a:solidFill>
                <a:latin typeface="Versos"/>
              </a:rPr>
              <a:t>1,9%</a:t>
            </a:r>
          </a:p>
        </p:txBody>
      </p:sp>
      <p:sp>
        <p:nvSpPr>
          <p:cNvPr id="57" name="TextBox 56"/>
          <p:cNvSpPr txBox="1"/>
          <p:nvPr/>
        </p:nvSpPr>
        <p:spPr>
          <a:xfrm>
            <a:off x="529200" y="6902398"/>
            <a:ext cx="1373585" cy="113400"/>
          </a:xfrm>
          <a:prstGeom prst="rect">
            <a:avLst/>
          </a:prstGeom>
          <a:noFill/>
        </p:spPr>
        <p:txBody>
          <a:bodyPr wrap="none" lIns="0" rIns="0" tIns="0" bIns="0" anchor="t"/>
          <a:lstStyle/>
          <a:p>
            <a:pPr algn="l">
              <a:lnSpc>
                <a:spcPts val="892"/>
              </a:lnSpc>
            </a:pPr>
            <a:r>
              <a:rPr sz="744" b="0" i="0">
                <a:solidFill>
                  <a:srgbClr val="333333"/>
                </a:solidFill>
                <a:latin typeface="Versos"/>
              </a:rPr>
              <a:t>FIDCs Cotas Mezanino </a:t>
            </a:r>
            <a:r>
              <a:rPr sz="744" b="1" i="0">
                <a:solidFill>
                  <a:srgbClr val="111111"/>
                </a:solidFill>
                <a:latin typeface="Versos"/>
              </a:rPr>
              <a:t>0,6%</a:t>
            </a:r>
          </a:p>
        </p:txBody>
      </p:sp>
      <p:sp>
        <p:nvSpPr>
          <p:cNvPr id="58" name="TextBox 57"/>
          <p:cNvSpPr txBox="1"/>
          <p:nvPr/>
        </p:nvSpPr>
        <p:spPr>
          <a:xfrm>
            <a:off x="415800" y="7499638"/>
            <a:ext cx="6997536" cy="204120"/>
          </a:xfrm>
          <a:prstGeom prst="rect">
            <a:avLst/>
          </a:prstGeom>
          <a:noFill/>
        </p:spPr>
        <p:txBody>
          <a:bodyPr wrap="none" lIns="0" rIns="0" tIns="0" bIns="0" anchor="t"/>
          <a:lstStyle/>
          <a:p>
            <a:pPr algn="ctr">
              <a:lnSpc>
                <a:spcPts val="1571"/>
              </a:lnSpc>
            </a:pPr>
            <a:r>
              <a:rPr sz="1309" b="0" i="0">
                <a:solidFill>
                  <a:srgbClr val="707070"/>
                </a:solidFill>
                <a:latin typeface="Versos"/>
              </a:rPr>
              <a:t>Comentário do Gestor e Análise de Mercado</a:t>
            </a:r>
          </a:p>
        </p:txBody>
      </p:sp>
      <p:sp>
        <p:nvSpPr>
          <p:cNvPr id="59" name="TextBox 58"/>
          <p:cNvSpPr txBox="1"/>
          <p:nvPr/>
        </p:nvSpPr>
        <p:spPr>
          <a:xfrm>
            <a:off x="415800" y="7998598"/>
            <a:ext cx="6728400" cy="269797"/>
          </a:xfrm>
          <a:prstGeom prst="rect">
            <a:avLst/>
          </a:prstGeom>
          <a:noFill/>
        </p:spPr>
        <p:txBody>
          <a:bodyPr wrap="square" lIns="0" rIns="0" tIns="0" bIns="0" anchor="t"/>
          <a:lstStyle/>
          <a:p>
            <a:pPr algn="just">
              <a:lnSpc>
                <a:spcPts val="1053"/>
              </a:lnSpc>
            </a:pPr>
            <a:r>
              <a:rPr sz="892" b="0" i="0">
                <a:solidFill>
                  <a:srgbClr val="222222"/>
                </a:solidFill>
                <a:latin typeface="Versos"/>
              </a:rPr>
              <a:t>O Tivio ALT 90 registrou rentabilidade de 1,22% no mês, equivalente a 111,86% do CDI no período. Desde o início da estratégia, o fundo acumula retorno de 21,25%, frente a 18,41% do CDI, o que corresponde a um desempenho anualizado de 115% do CDI.</a:t>
            </a:r>
          </a:p>
        </p:txBody>
      </p:sp>
      <p:sp>
        <p:nvSpPr>
          <p:cNvPr id="60" name="TextBox 59"/>
          <p:cNvSpPr txBox="1"/>
          <p:nvPr/>
        </p:nvSpPr>
        <p:spPr>
          <a:xfrm>
            <a:off x="415800" y="8334073"/>
            <a:ext cx="6728400" cy="804667"/>
          </a:xfrm>
          <a:prstGeom prst="rect">
            <a:avLst/>
          </a:prstGeom>
          <a:noFill/>
        </p:spPr>
        <p:txBody>
          <a:bodyPr wrap="square" lIns="0" rIns="0" tIns="0" bIns="0" anchor="t"/>
          <a:lstStyle/>
          <a:p>
            <a:pPr algn="just">
              <a:lnSpc>
                <a:spcPts val="1053"/>
              </a:lnSpc>
            </a:pPr>
            <a:r>
              <a:rPr sz="892" b="0" i="0">
                <a:solidFill>
                  <a:srgbClr val="222222"/>
                </a:solidFill>
                <a:latin typeface="Versos"/>
              </a:rPr>
              <a:t>Em setembro, iniciamos posição em uma cota sênior de FIDC com exposição ao setor de telecomunicações. A tese de investimento está fundamentada na atuação consolidada do originador, que possui mais de 23 anos de experiência no segmento, bem como nas características estruturais do mercado em que atua, marcado por elevada pulverização, baixa bancarização, receitas recorrentes e oferta restrita de crédito. Adicionalmente, a operação apresenta carteira de recebíveis amplamente diversificada entre cedentes e sacados, além de mecanismos de proteção que incluem overcollateral mínimo de 25% sobre os ativos cedidos ao fundo.</a:t>
            </a:r>
          </a:p>
        </p:txBody>
      </p:sp>
      <p:sp>
        <p:nvSpPr>
          <p:cNvPr id="61" name="TextBox 60"/>
          <p:cNvSpPr txBox="1"/>
          <p:nvPr/>
        </p:nvSpPr>
        <p:spPr>
          <a:xfrm>
            <a:off x="415800" y="9204418"/>
            <a:ext cx="6728400" cy="670950"/>
          </a:xfrm>
          <a:prstGeom prst="rect">
            <a:avLst/>
          </a:prstGeom>
          <a:noFill/>
        </p:spPr>
        <p:txBody>
          <a:bodyPr wrap="square" lIns="0" rIns="0" tIns="0" bIns="0" anchor="t"/>
          <a:lstStyle/>
          <a:p>
            <a:pPr algn="just">
              <a:lnSpc>
                <a:spcPts val="1053"/>
              </a:lnSpc>
            </a:pPr>
            <a:r>
              <a:rPr sz="892" b="0" i="0">
                <a:solidFill>
                  <a:srgbClr val="222222"/>
                </a:solidFill>
                <a:latin typeface="Versos"/>
              </a:rPr>
              <a:t>A nova alocação reforça nossa estratégia de buscar operações com perfil defensivo, adequada relação entre risco e retorno e estruturas robustas de mitigação de risco. Seguimos priorizando ativos com forte alinhamento de interesses entre as partes envolvidas, qualidade na originação dos créditos e mecanismos de proteção compatíveis com o cenário de mercado. Mantemos uma postura seletiva na alocação de capital, avaliando continuamente oportunidades que possam contribuir para a geração consistente de retornos ajustados ao risco para os cotistas.</a:t>
            </a:r>
          </a:p>
        </p:txBody>
      </p:sp>
      <p:sp>
        <p:nvSpPr>
          <p:cNvPr id="62" name="TextBox 61"/>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2777118" y="37422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24720"/>
            <a:ext cx="3317932"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POR ESTRATÉGIA</a:t>
            </a:r>
          </a:p>
        </p:txBody>
      </p:sp>
      <p:sp>
        <p:nvSpPr>
          <p:cNvPr id="5" name="TextBox 4"/>
          <p:cNvSpPr txBox="1"/>
          <p:nvPr/>
        </p:nvSpPr>
        <p:spPr>
          <a:xfrm>
            <a:off x="400680" y="163071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Indústria e Comércio</a:t>
            </a:r>
          </a:p>
        </p:txBody>
      </p:sp>
      <p:sp>
        <p:nvSpPr>
          <p:cNvPr id="6" name="TextBox 5"/>
          <p:cNvSpPr txBox="1"/>
          <p:nvPr/>
        </p:nvSpPr>
        <p:spPr>
          <a:xfrm>
            <a:off x="3217488" y="1623037"/>
            <a:ext cx="457002" cy="143640"/>
          </a:xfrm>
          <a:prstGeom prst="rect">
            <a:avLst/>
          </a:prstGeom>
          <a:noFill/>
        </p:spPr>
        <p:txBody>
          <a:bodyPr wrap="none" lIns="0" rIns="0" tIns="0" bIns="0" anchor="t"/>
          <a:lstStyle/>
          <a:p>
            <a:pPr algn="l">
              <a:lnSpc>
                <a:spcPts val="1107"/>
              </a:lnSpc>
            </a:pPr>
            <a:r>
              <a:rPr sz="922" b="1" i="0">
                <a:solidFill>
                  <a:srgbClr val="111111"/>
                </a:solidFill>
                <a:latin typeface="Versos"/>
              </a:rPr>
              <a:t>39,47%</a:t>
            </a:r>
          </a:p>
        </p:txBody>
      </p:sp>
      <p:sp>
        <p:nvSpPr>
          <p:cNvPr id="7" name="TextBox 6"/>
          <p:cNvSpPr txBox="1"/>
          <p:nvPr/>
        </p:nvSpPr>
        <p:spPr>
          <a:xfrm>
            <a:off x="400680" y="188775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Consignados</a:t>
            </a:r>
          </a:p>
        </p:txBody>
      </p:sp>
      <p:sp>
        <p:nvSpPr>
          <p:cNvPr id="8" name="TextBox 7"/>
          <p:cNvSpPr txBox="1"/>
          <p:nvPr/>
        </p:nvSpPr>
        <p:spPr>
          <a:xfrm>
            <a:off x="2436328" y="1880077"/>
            <a:ext cx="433169" cy="143640"/>
          </a:xfrm>
          <a:prstGeom prst="rect">
            <a:avLst/>
          </a:prstGeom>
          <a:noFill/>
        </p:spPr>
        <p:txBody>
          <a:bodyPr wrap="none" lIns="0" rIns="0" tIns="0" bIns="0" anchor="t"/>
          <a:lstStyle/>
          <a:p>
            <a:pPr algn="l">
              <a:lnSpc>
                <a:spcPts val="1107"/>
              </a:lnSpc>
            </a:pPr>
            <a:r>
              <a:rPr sz="922" b="1" i="0">
                <a:solidFill>
                  <a:srgbClr val="111111"/>
                </a:solidFill>
                <a:latin typeface="Versos"/>
              </a:rPr>
              <a:t>13,59%</a:t>
            </a:r>
          </a:p>
        </p:txBody>
      </p:sp>
      <p:sp>
        <p:nvSpPr>
          <p:cNvPr id="9" name="TextBox 8"/>
          <p:cNvSpPr txBox="1"/>
          <p:nvPr/>
        </p:nvSpPr>
        <p:spPr>
          <a:xfrm>
            <a:off x="400680" y="214479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Crédito PF</a:t>
            </a:r>
          </a:p>
        </p:txBody>
      </p:sp>
      <p:sp>
        <p:nvSpPr>
          <p:cNvPr id="10" name="TextBox 9"/>
          <p:cNvSpPr txBox="1"/>
          <p:nvPr/>
        </p:nvSpPr>
        <p:spPr>
          <a:xfrm>
            <a:off x="2395102" y="2137117"/>
            <a:ext cx="428009" cy="143640"/>
          </a:xfrm>
          <a:prstGeom prst="rect">
            <a:avLst/>
          </a:prstGeom>
          <a:noFill/>
        </p:spPr>
        <p:txBody>
          <a:bodyPr wrap="none" lIns="0" rIns="0" tIns="0" bIns="0" anchor="t"/>
          <a:lstStyle/>
          <a:p>
            <a:pPr algn="l">
              <a:lnSpc>
                <a:spcPts val="1107"/>
              </a:lnSpc>
            </a:pPr>
            <a:r>
              <a:rPr sz="922" b="1" i="0">
                <a:solidFill>
                  <a:srgbClr val="111111"/>
                </a:solidFill>
                <a:latin typeface="Versos"/>
              </a:rPr>
              <a:t>12,23%</a:t>
            </a:r>
          </a:p>
        </p:txBody>
      </p:sp>
      <p:sp>
        <p:nvSpPr>
          <p:cNvPr id="11" name="TextBox 10"/>
          <p:cNvSpPr txBox="1"/>
          <p:nvPr/>
        </p:nvSpPr>
        <p:spPr>
          <a:xfrm>
            <a:off x="400680" y="240183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a:t>
            </a:r>
          </a:p>
        </p:txBody>
      </p:sp>
      <p:sp>
        <p:nvSpPr>
          <p:cNvPr id="12" name="TextBox 11"/>
          <p:cNvSpPr txBox="1"/>
          <p:nvPr/>
        </p:nvSpPr>
        <p:spPr>
          <a:xfrm>
            <a:off x="2276032" y="2394157"/>
            <a:ext cx="387346" cy="143640"/>
          </a:xfrm>
          <a:prstGeom prst="rect">
            <a:avLst/>
          </a:prstGeom>
          <a:noFill/>
        </p:spPr>
        <p:txBody>
          <a:bodyPr wrap="none" lIns="0" rIns="0" tIns="0" bIns="0" anchor="t"/>
          <a:lstStyle/>
          <a:p>
            <a:pPr algn="l">
              <a:lnSpc>
                <a:spcPts val="1107"/>
              </a:lnSpc>
            </a:pPr>
            <a:r>
              <a:rPr sz="922" b="1" i="0">
                <a:solidFill>
                  <a:srgbClr val="111111"/>
                </a:solidFill>
                <a:latin typeface="Versos"/>
              </a:rPr>
              <a:t>8,28%</a:t>
            </a:r>
          </a:p>
        </p:txBody>
      </p:sp>
      <p:sp>
        <p:nvSpPr>
          <p:cNvPr id="13" name="TextBox 12"/>
          <p:cNvSpPr txBox="1"/>
          <p:nvPr/>
        </p:nvSpPr>
        <p:spPr>
          <a:xfrm>
            <a:off x="400680" y="2602411"/>
            <a:ext cx="1481760" cy="234005"/>
          </a:xfrm>
          <a:prstGeom prst="rect">
            <a:avLst/>
          </a:prstGeom>
          <a:noFill/>
        </p:spPr>
        <p:txBody>
          <a:bodyPr wrap="square" lIns="0" rIns="0" tIns="0" bIns="0" anchor="t"/>
          <a:lstStyle/>
          <a:p>
            <a:pPr algn="r">
              <a:lnSpc>
                <a:spcPts val="890"/>
              </a:lnSpc>
            </a:pPr>
            <a:r>
              <a:rPr sz="809" b="0" i="0">
                <a:solidFill>
                  <a:srgbClr val="222222"/>
                </a:solidFill>
                <a:latin typeface="Versos"/>
              </a:rPr>
              <a:t>Comércio atacadista e varejista</a:t>
            </a:r>
          </a:p>
        </p:txBody>
      </p:sp>
      <p:sp>
        <p:nvSpPr>
          <p:cNvPr id="14" name="TextBox 13"/>
          <p:cNvSpPr txBox="1"/>
          <p:nvPr/>
        </p:nvSpPr>
        <p:spPr>
          <a:xfrm>
            <a:off x="2224530" y="2651197"/>
            <a:ext cx="387223" cy="143640"/>
          </a:xfrm>
          <a:prstGeom prst="rect">
            <a:avLst/>
          </a:prstGeom>
          <a:noFill/>
        </p:spPr>
        <p:txBody>
          <a:bodyPr wrap="none" lIns="0" rIns="0" tIns="0" bIns="0" anchor="t"/>
          <a:lstStyle/>
          <a:p>
            <a:pPr algn="l">
              <a:lnSpc>
                <a:spcPts val="1107"/>
              </a:lnSpc>
            </a:pPr>
            <a:r>
              <a:rPr sz="922" b="1" i="0">
                <a:solidFill>
                  <a:srgbClr val="111111"/>
                </a:solidFill>
                <a:latin typeface="Versos"/>
              </a:rPr>
              <a:t>6,58%</a:t>
            </a:r>
          </a:p>
        </p:txBody>
      </p:sp>
      <p:sp>
        <p:nvSpPr>
          <p:cNvPr id="15" name="TextBox 14"/>
          <p:cNvSpPr txBox="1"/>
          <p:nvPr/>
        </p:nvSpPr>
        <p:spPr>
          <a:xfrm>
            <a:off x="400680" y="291591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16" name="TextBox 15"/>
          <p:cNvSpPr txBox="1"/>
          <p:nvPr/>
        </p:nvSpPr>
        <p:spPr>
          <a:xfrm>
            <a:off x="2138180" y="2908237"/>
            <a:ext cx="373709" cy="143640"/>
          </a:xfrm>
          <a:prstGeom prst="rect">
            <a:avLst/>
          </a:prstGeom>
          <a:noFill/>
        </p:spPr>
        <p:txBody>
          <a:bodyPr wrap="none" lIns="0" rIns="0" tIns="0" bIns="0" anchor="t"/>
          <a:lstStyle/>
          <a:p>
            <a:pPr algn="l">
              <a:lnSpc>
                <a:spcPts val="1107"/>
              </a:lnSpc>
            </a:pPr>
            <a:r>
              <a:rPr sz="922" b="1" i="0">
                <a:solidFill>
                  <a:srgbClr val="111111"/>
                </a:solidFill>
                <a:latin typeface="Versos"/>
              </a:rPr>
              <a:t>3,72%</a:t>
            </a:r>
          </a:p>
        </p:txBody>
      </p:sp>
      <p:sp>
        <p:nvSpPr>
          <p:cNvPr id="17" name="TextBox 16"/>
          <p:cNvSpPr txBox="1"/>
          <p:nvPr/>
        </p:nvSpPr>
        <p:spPr>
          <a:xfrm>
            <a:off x="400680" y="317295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18" name="TextBox 17"/>
          <p:cNvSpPr txBox="1"/>
          <p:nvPr/>
        </p:nvSpPr>
        <p:spPr>
          <a:xfrm>
            <a:off x="2137471" y="3165277"/>
            <a:ext cx="387837" cy="143640"/>
          </a:xfrm>
          <a:prstGeom prst="rect">
            <a:avLst/>
          </a:prstGeom>
          <a:noFill/>
        </p:spPr>
        <p:txBody>
          <a:bodyPr wrap="none" lIns="0" rIns="0" tIns="0" bIns="0" anchor="t"/>
          <a:lstStyle/>
          <a:p>
            <a:pPr algn="l">
              <a:lnSpc>
                <a:spcPts val="1107"/>
              </a:lnSpc>
            </a:pPr>
            <a:r>
              <a:rPr sz="922" b="1" i="0">
                <a:solidFill>
                  <a:srgbClr val="111111"/>
                </a:solidFill>
                <a:latin typeface="Versos"/>
              </a:rPr>
              <a:t>3,69%</a:t>
            </a:r>
          </a:p>
        </p:txBody>
      </p:sp>
      <p:sp>
        <p:nvSpPr>
          <p:cNvPr id="19" name="TextBox 18"/>
          <p:cNvSpPr txBox="1"/>
          <p:nvPr/>
        </p:nvSpPr>
        <p:spPr>
          <a:xfrm>
            <a:off x="400680" y="342999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20" name="TextBox 19"/>
          <p:cNvSpPr txBox="1"/>
          <p:nvPr/>
        </p:nvSpPr>
        <p:spPr>
          <a:xfrm>
            <a:off x="2135345" y="3422317"/>
            <a:ext cx="381080" cy="143640"/>
          </a:xfrm>
          <a:prstGeom prst="rect">
            <a:avLst/>
          </a:prstGeom>
          <a:noFill/>
        </p:spPr>
        <p:txBody>
          <a:bodyPr wrap="none" lIns="0" rIns="0" tIns="0" bIns="0" anchor="t"/>
          <a:lstStyle/>
          <a:p>
            <a:pPr algn="l">
              <a:lnSpc>
                <a:spcPts val="1107"/>
              </a:lnSpc>
            </a:pPr>
            <a:r>
              <a:rPr sz="922" b="1" i="0">
                <a:solidFill>
                  <a:srgbClr val="111111"/>
                </a:solidFill>
                <a:latin typeface="Versos"/>
              </a:rPr>
              <a:t>3,62%</a:t>
            </a:r>
          </a:p>
        </p:txBody>
      </p:sp>
      <p:sp>
        <p:nvSpPr>
          <p:cNvPr id="21" name="TextBox 20"/>
          <p:cNvSpPr txBox="1"/>
          <p:nvPr/>
        </p:nvSpPr>
        <p:spPr>
          <a:xfrm>
            <a:off x="400680" y="368703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Açúcar, Álcool e Cana</a:t>
            </a:r>
          </a:p>
        </p:txBody>
      </p:sp>
      <p:sp>
        <p:nvSpPr>
          <p:cNvPr id="22" name="TextBox 21"/>
          <p:cNvSpPr txBox="1"/>
          <p:nvPr/>
        </p:nvSpPr>
        <p:spPr>
          <a:xfrm>
            <a:off x="2112075" y="3679357"/>
            <a:ext cx="382432" cy="143640"/>
          </a:xfrm>
          <a:prstGeom prst="rect">
            <a:avLst/>
          </a:prstGeom>
          <a:noFill/>
        </p:spPr>
        <p:txBody>
          <a:bodyPr wrap="none" lIns="0" rIns="0" tIns="0" bIns="0" anchor="t"/>
          <a:lstStyle/>
          <a:p>
            <a:pPr algn="l">
              <a:lnSpc>
                <a:spcPts val="1107"/>
              </a:lnSpc>
            </a:pPr>
            <a:r>
              <a:rPr sz="922" b="1" i="0">
                <a:solidFill>
                  <a:srgbClr val="111111"/>
                </a:solidFill>
                <a:latin typeface="Versos"/>
              </a:rPr>
              <a:t>2,85%</a:t>
            </a:r>
          </a:p>
        </p:txBody>
      </p:sp>
      <p:sp>
        <p:nvSpPr>
          <p:cNvPr id="23" name="TextBox 22"/>
          <p:cNvSpPr txBox="1"/>
          <p:nvPr/>
        </p:nvSpPr>
        <p:spPr>
          <a:xfrm>
            <a:off x="400680" y="394407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Agropecuária</a:t>
            </a:r>
          </a:p>
        </p:txBody>
      </p:sp>
      <p:sp>
        <p:nvSpPr>
          <p:cNvPr id="24" name="TextBox 23"/>
          <p:cNvSpPr txBox="1"/>
          <p:nvPr/>
        </p:nvSpPr>
        <p:spPr>
          <a:xfrm>
            <a:off x="2108176" y="3936397"/>
            <a:ext cx="372849" cy="143640"/>
          </a:xfrm>
          <a:prstGeom prst="rect">
            <a:avLst/>
          </a:prstGeom>
          <a:noFill/>
        </p:spPr>
        <p:txBody>
          <a:bodyPr wrap="none" lIns="0" rIns="0" tIns="0" bIns="0" anchor="t"/>
          <a:lstStyle/>
          <a:p>
            <a:pPr algn="l">
              <a:lnSpc>
                <a:spcPts val="1107"/>
              </a:lnSpc>
            </a:pPr>
            <a:r>
              <a:rPr sz="922" b="1" i="0">
                <a:solidFill>
                  <a:srgbClr val="111111"/>
                </a:solidFill>
                <a:latin typeface="Versos"/>
              </a:rPr>
              <a:t>2,72%</a:t>
            </a:r>
          </a:p>
        </p:txBody>
      </p:sp>
      <p:sp>
        <p:nvSpPr>
          <p:cNvPr id="25" name="TextBox 24"/>
          <p:cNvSpPr txBox="1"/>
          <p:nvPr/>
        </p:nvSpPr>
        <p:spPr>
          <a:xfrm>
            <a:off x="400680" y="420111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26" name="TextBox 25"/>
          <p:cNvSpPr txBox="1"/>
          <p:nvPr/>
        </p:nvSpPr>
        <p:spPr>
          <a:xfrm>
            <a:off x="2082307" y="4193437"/>
            <a:ext cx="348279" cy="143640"/>
          </a:xfrm>
          <a:prstGeom prst="rect">
            <a:avLst/>
          </a:prstGeom>
          <a:noFill/>
        </p:spPr>
        <p:txBody>
          <a:bodyPr wrap="none" lIns="0" rIns="0" tIns="0" bIns="0" anchor="t"/>
          <a:lstStyle/>
          <a:p>
            <a:pPr algn="l">
              <a:lnSpc>
                <a:spcPts val="1107"/>
              </a:lnSpc>
            </a:pPr>
            <a:r>
              <a:rPr sz="922" b="1" i="0">
                <a:solidFill>
                  <a:srgbClr val="111111"/>
                </a:solidFill>
                <a:latin typeface="Versos"/>
              </a:rPr>
              <a:t>1,87%</a:t>
            </a:r>
          </a:p>
        </p:txBody>
      </p:sp>
      <p:sp>
        <p:nvSpPr>
          <p:cNvPr id="27" name="TextBox 26"/>
          <p:cNvSpPr txBox="1"/>
          <p:nvPr/>
        </p:nvSpPr>
        <p:spPr>
          <a:xfrm>
            <a:off x="400680" y="445815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Precatórios</a:t>
            </a:r>
          </a:p>
        </p:txBody>
      </p:sp>
      <p:sp>
        <p:nvSpPr>
          <p:cNvPr id="28" name="TextBox 27"/>
          <p:cNvSpPr txBox="1"/>
          <p:nvPr/>
        </p:nvSpPr>
        <p:spPr>
          <a:xfrm>
            <a:off x="2070967" y="4450477"/>
            <a:ext cx="361056" cy="143640"/>
          </a:xfrm>
          <a:prstGeom prst="rect">
            <a:avLst/>
          </a:prstGeom>
          <a:noFill/>
        </p:spPr>
        <p:txBody>
          <a:bodyPr wrap="none" lIns="0" rIns="0" tIns="0" bIns="0" anchor="t"/>
          <a:lstStyle/>
          <a:p>
            <a:pPr algn="l">
              <a:lnSpc>
                <a:spcPts val="1107"/>
              </a:lnSpc>
            </a:pPr>
            <a:r>
              <a:rPr sz="922" b="1" i="0">
                <a:solidFill>
                  <a:srgbClr val="111111"/>
                </a:solidFill>
                <a:latin typeface="Versos"/>
              </a:rPr>
              <a:t>1,49%</a:t>
            </a:r>
          </a:p>
        </p:txBody>
      </p:sp>
      <p:sp>
        <p:nvSpPr>
          <p:cNvPr id="29" name="TextBox 28"/>
          <p:cNvSpPr txBox="1"/>
          <p:nvPr/>
        </p:nvSpPr>
        <p:spPr>
          <a:xfrm>
            <a:off x="3969000" y="1224720"/>
            <a:ext cx="3317932" cy="143640"/>
          </a:xfrm>
          <a:prstGeom prst="rect">
            <a:avLst/>
          </a:prstGeom>
          <a:noFill/>
        </p:spPr>
        <p:txBody>
          <a:bodyPr wrap="none" lIns="0" rIns="0" tIns="0" bIns="0" anchor="t"/>
          <a:lstStyle/>
          <a:p>
            <a:pPr algn="l">
              <a:lnSpc>
                <a:spcPts val="1142"/>
              </a:lnSpc>
            </a:pPr>
            <a:r>
              <a:rPr sz="952" b="0" i="0">
                <a:solidFill>
                  <a:srgbClr val="111111"/>
                </a:solidFill>
                <a:latin typeface="Versos"/>
              </a:rPr>
              <a:t>COLATERAIS</a:t>
            </a:r>
          </a:p>
        </p:txBody>
      </p:sp>
      <p:sp>
        <p:nvSpPr>
          <p:cNvPr id="30" name="TextBox 29"/>
          <p:cNvSpPr txBox="1"/>
          <p:nvPr/>
        </p:nvSpPr>
        <p:spPr>
          <a:xfrm>
            <a:off x="4558680" y="190051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AF de imóveis</a:t>
            </a:r>
          </a:p>
        </p:txBody>
      </p:sp>
      <p:sp>
        <p:nvSpPr>
          <p:cNvPr id="31" name="TextBox 30"/>
          <p:cNvSpPr txBox="1"/>
          <p:nvPr/>
        </p:nvSpPr>
        <p:spPr>
          <a:xfrm>
            <a:off x="6176520" y="190051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AF de automóveis</a:t>
            </a:r>
          </a:p>
        </p:txBody>
      </p:sp>
      <p:sp>
        <p:nvSpPr>
          <p:cNvPr id="32" name="TextBox 31"/>
          <p:cNvSpPr txBox="1"/>
          <p:nvPr/>
        </p:nvSpPr>
        <p:spPr>
          <a:xfrm>
            <a:off x="4558680" y="294379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AF de maquinário</a:t>
            </a:r>
          </a:p>
        </p:txBody>
      </p:sp>
      <p:sp>
        <p:nvSpPr>
          <p:cNvPr id="33" name="TextBox 32"/>
          <p:cNvSpPr txBox="1"/>
          <p:nvPr/>
        </p:nvSpPr>
        <p:spPr>
          <a:xfrm>
            <a:off x="6176520" y="294379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CF de recebíveis</a:t>
            </a:r>
          </a:p>
        </p:txBody>
      </p:sp>
      <p:sp>
        <p:nvSpPr>
          <p:cNvPr id="34" name="TextBox 33"/>
          <p:cNvSpPr txBox="1"/>
          <p:nvPr/>
        </p:nvSpPr>
        <p:spPr>
          <a:xfrm>
            <a:off x="4558680" y="4061846"/>
            <a:ext cx="2091766" cy="166320"/>
          </a:xfrm>
          <a:prstGeom prst="rect">
            <a:avLst/>
          </a:prstGeom>
          <a:noFill/>
        </p:spPr>
        <p:txBody>
          <a:bodyPr wrap="none" lIns="0" rIns="0" tIns="0" bIns="0" anchor="t"/>
          <a:lstStyle/>
          <a:p>
            <a:pPr algn="l">
              <a:lnSpc>
                <a:spcPts val="1178"/>
              </a:lnSpc>
            </a:pPr>
            <a:r>
              <a:rPr sz="1071" b="1" i="0">
                <a:solidFill>
                  <a:srgbClr val="7A7A7A"/>
                </a:solidFill>
                <a:latin typeface="Versos"/>
              </a:rPr>
              <a:t>Coobrigação do cedente/Avais</a:t>
            </a:r>
          </a:p>
        </p:txBody>
      </p:sp>
      <p:sp>
        <p:nvSpPr>
          <p:cNvPr id="35" name="TextBox 34"/>
          <p:cNvSpPr txBox="1"/>
          <p:nvPr/>
        </p:nvSpPr>
        <p:spPr>
          <a:xfrm>
            <a:off x="400680" y="4983457"/>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36" name="TextBox 35"/>
          <p:cNvSpPr txBox="1"/>
          <p:nvPr/>
        </p:nvSpPr>
        <p:spPr>
          <a:xfrm>
            <a:off x="551880" y="5476275"/>
            <a:ext cx="3066336" cy="151200"/>
          </a:xfrm>
          <a:prstGeom prst="rect">
            <a:avLst/>
          </a:prstGeom>
          <a:noFill/>
        </p:spPr>
        <p:txBody>
          <a:bodyPr wrap="none" lIns="0" rIns="0" tIns="0" bIns="0" anchor="t"/>
          <a:lstStyle/>
          <a:p>
            <a:pPr algn="l">
              <a:lnSpc>
                <a:spcPts val="1178"/>
              </a:lnSpc>
            </a:pPr>
            <a:r>
              <a:rPr sz="982" b="1" i="0">
                <a:solidFill>
                  <a:srgbClr val="FFFFFF"/>
                </a:solidFill>
                <a:latin typeface="Versos"/>
              </a:rPr>
              <a:t>Rentabilidade</a:t>
            </a:r>
          </a:p>
        </p:txBody>
      </p:sp>
      <p:sp>
        <p:nvSpPr>
          <p:cNvPr id="37" name="TextBox 36"/>
          <p:cNvSpPr txBox="1"/>
          <p:nvPr/>
        </p:nvSpPr>
        <p:spPr>
          <a:xfrm>
            <a:off x="551880" y="5793795"/>
            <a:ext cx="896313" cy="136080"/>
          </a:xfrm>
          <a:prstGeom prst="rect">
            <a:avLst/>
          </a:prstGeom>
          <a:noFill/>
        </p:spPr>
        <p:txBody>
          <a:bodyPr wrap="none" lIns="0" rIns="0" tIns="0" bIns="0" anchor="t"/>
          <a:lstStyle/>
          <a:p>
            <a:pPr algn="l">
              <a:lnSpc>
                <a:spcPts val="1035"/>
              </a:lnSpc>
            </a:pPr>
            <a:r>
              <a:rPr sz="863" b="0" i="0">
                <a:solidFill>
                  <a:srgbClr val="FFFFFF"/>
                </a:solidFill>
                <a:latin typeface="Versos"/>
              </a:rPr>
              <a:t>Desde o início</a:t>
            </a:r>
          </a:p>
        </p:txBody>
      </p:sp>
      <p:sp>
        <p:nvSpPr>
          <p:cNvPr id="38" name="TextBox 37"/>
          <p:cNvSpPr txBox="1"/>
          <p:nvPr/>
        </p:nvSpPr>
        <p:spPr>
          <a:xfrm>
            <a:off x="551880" y="5975235"/>
            <a:ext cx="896313" cy="151200"/>
          </a:xfrm>
          <a:prstGeom prst="rect">
            <a:avLst/>
          </a:prstGeom>
          <a:noFill/>
        </p:spPr>
        <p:txBody>
          <a:bodyPr wrap="none" lIns="0" rIns="0" tIns="0" bIns="0" anchor="t"/>
          <a:lstStyle/>
          <a:p>
            <a:pPr algn="l">
              <a:lnSpc>
                <a:spcPts val="1178"/>
              </a:lnSpc>
            </a:pPr>
            <a:r>
              <a:rPr sz="982" b="1" i="0">
                <a:solidFill>
                  <a:srgbClr val="FFFFFF"/>
                </a:solidFill>
                <a:latin typeface="Versos"/>
              </a:rPr>
              <a:t>CDI +</a:t>
            </a:r>
          </a:p>
        </p:txBody>
      </p:sp>
      <p:sp>
        <p:nvSpPr>
          <p:cNvPr id="39" name="TextBox 38"/>
          <p:cNvSpPr txBox="1"/>
          <p:nvPr/>
        </p:nvSpPr>
        <p:spPr>
          <a:xfrm>
            <a:off x="551880" y="6111315"/>
            <a:ext cx="896313" cy="204120"/>
          </a:xfrm>
          <a:prstGeom prst="rect">
            <a:avLst/>
          </a:prstGeom>
          <a:noFill/>
        </p:spPr>
        <p:txBody>
          <a:bodyPr wrap="none" lIns="0" rIns="0" tIns="0" bIns="0" anchor="t"/>
          <a:lstStyle/>
          <a:p>
            <a:pPr algn="l">
              <a:lnSpc>
                <a:spcPts val="1440"/>
              </a:lnSpc>
            </a:pPr>
            <a:r>
              <a:rPr sz="1309" b="1" i="0">
                <a:solidFill>
                  <a:srgbClr val="FFFFFF"/>
                </a:solidFill>
                <a:latin typeface="Versos"/>
              </a:rPr>
              <a:t>1,94%</a:t>
            </a:r>
          </a:p>
        </p:txBody>
      </p:sp>
      <p:sp>
        <p:nvSpPr>
          <p:cNvPr id="40" name="TextBox 39"/>
          <p:cNvSpPr txBox="1"/>
          <p:nvPr/>
        </p:nvSpPr>
        <p:spPr>
          <a:xfrm>
            <a:off x="1663200" y="5793795"/>
            <a:ext cx="762652" cy="136080"/>
          </a:xfrm>
          <a:prstGeom prst="rect">
            <a:avLst/>
          </a:prstGeom>
          <a:noFill/>
        </p:spPr>
        <p:txBody>
          <a:bodyPr wrap="none" lIns="0" rIns="0" tIns="0" bIns="0" anchor="t"/>
          <a:lstStyle/>
          <a:p>
            <a:pPr algn="l">
              <a:lnSpc>
                <a:spcPts val="1035"/>
              </a:lnSpc>
            </a:pPr>
            <a:r>
              <a:rPr sz="863" b="0" i="0">
                <a:solidFill>
                  <a:srgbClr val="FFFFFF"/>
                </a:solidFill>
                <a:latin typeface="Versos"/>
              </a:rPr>
              <a:t>12M</a:t>
            </a:r>
          </a:p>
        </p:txBody>
      </p:sp>
      <p:sp>
        <p:nvSpPr>
          <p:cNvPr id="41" name="TextBox 40"/>
          <p:cNvSpPr txBox="1"/>
          <p:nvPr/>
        </p:nvSpPr>
        <p:spPr>
          <a:xfrm>
            <a:off x="1663200" y="5975235"/>
            <a:ext cx="762652" cy="151200"/>
          </a:xfrm>
          <a:prstGeom prst="rect">
            <a:avLst/>
          </a:prstGeom>
          <a:noFill/>
        </p:spPr>
        <p:txBody>
          <a:bodyPr wrap="none" lIns="0" rIns="0" tIns="0" bIns="0" anchor="t"/>
          <a:lstStyle/>
          <a:p>
            <a:pPr algn="l">
              <a:lnSpc>
                <a:spcPts val="1178"/>
              </a:lnSpc>
            </a:pPr>
            <a:r>
              <a:rPr sz="982" b="1" i="0">
                <a:solidFill>
                  <a:srgbClr val="FFFFFF"/>
                </a:solidFill>
                <a:latin typeface="Versos"/>
              </a:rPr>
              <a:t>CDI +</a:t>
            </a:r>
          </a:p>
        </p:txBody>
      </p:sp>
      <p:sp>
        <p:nvSpPr>
          <p:cNvPr id="42" name="TextBox 41"/>
          <p:cNvSpPr txBox="1"/>
          <p:nvPr/>
        </p:nvSpPr>
        <p:spPr>
          <a:xfrm>
            <a:off x="1663200" y="6111315"/>
            <a:ext cx="762652" cy="204120"/>
          </a:xfrm>
          <a:prstGeom prst="rect">
            <a:avLst/>
          </a:prstGeom>
          <a:noFill/>
        </p:spPr>
        <p:txBody>
          <a:bodyPr wrap="none" lIns="0" rIns="0" tIns="0" bIns="0" anchor="t"/>
          <a:lstStyle/>
          <a:p>
            <a:pPr algn="l">
              <a:lnSpc>
                <a:spcPts val="1440"/>
              </a:lnSpc>
            </a:pPr>
            <a:r>
              <a:rPr sz="1309" b="1" i="0">
                <a:solidFill>
                  <a:srgbClr val="FFFFFF"/>
                </a:solidFill>
                <a:latin typeface="Versos"/>
              </a:rPr>
              <a:t>1,68%</a:t>
            </a:r>
          </a:p>
        </p:txBody>
      </p:sp>
      <p:sp>
        <p:nvSpPr>
          <p:cNvPr id="43" name="TextBox 42"/>
          <p:cNvSpPr txBox="1"/>
          <p:nvPr/>
        </p:nvSpPr>
        <p:spPr>
          <a:xfrm>
            <a:off x="2646000" y="5793795"/>
            <a:ext cx="762652" cy="136080"/>
          </a:xfrm>
          <a:prstGeom prst="rect">
            <a:avLst/>
          </a:prstGeom>
          <a:noFill/>
        </p:spPr>
        <p:txBody>
          <a:bodyPr wrap="none" lIns="0" rIns="0" tIns="0" bIns="0" anchor="t"/>
          <a:lstStyle/>
          <a:p>
            <a:pPr algn="l">
              <a:lnSpc>
                <a:spcPts val="1035"/>
              </a:lnSpc>
            </a:pPr>
            <a:r>
              <a:rPr sz="863" b="0" i="0">
                <a:solidFill>
                  <a:srgbClr val="FFFFFF"/>
                </a:solidFill>
                <a:latin typeface="Versos"/>
              </a:rPr>
              <a:t>Mês</a:t>
            </a:r>
          </a:p>
        </p:txBody>
      </p:sp>
      <p:sp>
        <p:nvSpPr>
          <p:cNvPr id="44" name="TextBox 43"/>
          <p:cNvSpPr txBox="1"/>
          <p:nvPr/>
        </p:nvSpPr>
        <p:spPr>
          <a:xfrm>
            <a:off x="2646000" y="5975235"/>
            <a:ext cx="762652" cy="151200"/>
          </a:xfrm>
          <a:prstGeom prst="rect">
            <a:avLst/>
          </a:prstGeom>
          <a:noFill/>
        </p:spPr>
        <p:txBody>
          <a:bodyPr wrap="none" lIns="0" rIns="0" tIns="0" bIns="0" anchor="t"/>
          <a:lstStyle/>
          <a:p>
            <a:pPr algn="l">
              <a:lnSpc>
                <a:spcPts val="1178"/>
              </a:lnSpc>
            </a:pPr>
            <a:r>
              <a:rPr sz="982" b="1" i="0">
                <a:solidFill>
                  <a:srgbClr val="FFFFFF"/>
                </a:solidFill>
                <a:latin typeface="Versos"/>
              </a:rPr>
              <a:t>CDI +</a:t>
            </a:r>
          </a:p>
        </p:txBody>
      </p:sp>
      <p:sp>
        <p:nvSpPr>
          <p:cNvPr id="45" name="TextBox 44"/>
          <p:cNvSpPr txBox="1"/>
          <p:nvPr/>
        </p:nvSpPr>
        <p:spPr>
          <a:xfrm>
            <a:off x="2646000" y="6111315"/>
            <a:ext cx="762652" cy="204120"/>
          </a:xfrm>
          <a:prstGeom prst="rect">
            <a:avLst/>
          </a:prstGeom>
          <a:noFill/>
        </p:spPr>
        <p:txBody>
          <a:bodyPr wrap="none" lIns="0" rIns="0" tIns="0" bIns="0" anchor="t"/>
          <a:lstStyle/>
          <a:p>
            <a:pPr algn="l">
              <a:lnSpc>
                <a:spcPts val="1440"/>
              </a:lnSpc>
            </a:pPr>
            <a:r>
              <a:rPr sz="1309" b="1" i="0">
                <a:solidFill>
                  <a:srgbClr val="FFFFFF"/>
                </a:solidFill>
                <a:latin typeface="Versos"/>
              </a:rPr>
              <a:t>1,55%</a:t>
            </a:r>
          </a:p>
        </p:txBody>
      </p:sp>
      <p:sp>
        <p:nvSpPr>
          <p:cNvPr id="46" name="TextBox 45"/>
          <p:cNvSpPr txBox="1"/>
          <p:nvPr/>
        </p:nvSpPr>
        <p:spPr>
          <a:xfrm>
            <a:off x="2804641" y="6498292"/>
            <a:ext cx="645085"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47" name="TextBox 46"/>
          <p:cNvSpPr txBox="1"/>
          <p:nvPr/>
        </p:nvSpPr>
        <p:spPr>
          <a:xfrm>
            <a:off x="4513556" y="6498292"/>
            <a:ext cx="251473"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48" name="TextBox 47"/>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111111"/>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2777118" y="37422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 qualificado</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06/06/2025</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1,25%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10% do que exceder do CDI</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D+1</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D+90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7" name="TextBox 16"/>
          <p:cNvSpPr txBox="1"/>
          <p:nvPr/>
        </p:nvSpPr>
        <p:spPr>
          <a:xfrm>
            <a:off x="3878280" y="3767596"/>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3956596"/>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R$ 19.959.710,82</a:t>
            </a:r>
          </a:p>
        </p:txBody>
      </p:sp>
      <p:sp>
        <p:nvSpPr>
          <p:cNvPr id="19" name="TextBox 18"/>
          <p:cNvSpPr txBox="1"/>
          <p:nvPr/>
        </p:nvSpPr>
        <p:spPr>
          <a:xfrm>
            <a:off x="3878280" y="445851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(12M)</a:t>
            </a:r>
          </a:p>
        </p:txBody>
      </p:sp>
      <p:sp>
        <p:nvSpPr>
          <p:cNvPr id="20" name="TextBox 19"/>
          <p:cNvSpPr txBox="1"/>
          <p:nvPr/>
        </p:nvSpPr>
        <p:spPr>
          <a:xfrm>
            <a:off x="3878280" y="464751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R$ 15.653.770,20</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71360"/>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3" name="TextBox 22"/>
          <p:cNvSpPr txBox="1"/>
          <p:nvPr/>
        </p:nvSpPr>
        <p:spPr>
          <a:xfrm>
            <a:off x="400680" y="6808725"/>
            <a:ext cx="6758640" cy="438716"/>
          </a:xfrm>
          <a:prstGeom prst="rect">
            <a:avLst/>
          </a:prstGeom>
          <a:noFill/>
        </p:spPr>
        <p:txBody>
          <a:bodyPr wrap="square" lIns="0" rIns="0" tIns="0" bIns="0" anchor="t"/>
          <a:lstStyle/>
          <a:p>
            <a:pPr algn="just">
              <a:lnSpc>
                <a:spcPts val="1162"/>
              </a:lnSpc>
            </a:pPr>
            <a:r>
              <a:rPr sz="952"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4" name="TextBox 23"/>
          <p:cNvSpPr txBox="1"/>
          <p:nvPr/>
        </p:nvSpPr>
        <p:spPr>
          <a:xfrm>
            <a:off x="400680" y="729362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envolvem riscos. Consulte os documentos do fundo para conhecer sua estratégia, público-alvo, condições e principais fatores de risco.</a:t>
            </a:r>
          </a:p>
        </p:txBody>
      </p:sp>
      <p:sp>
        <p:nvSpPr>
          <p:cNvPr id="25" name="TextBox 24"/>
          <p:cNvSpPr txBox="1"/>
          <p:nvPr/>
        </p:nvSpPr>
        <p:spPr>
          <a:xfrm>
            <a:off x="400680" y="763099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Rentabilidade obtida no passado não representa garantia de resultados futuros. A rentabilidade divulgada não é líquida de impostos.</a:t>
            </a:r>
          </a:p>
        </p:txBody>
      </p:sp>
      <p:sp>
        <p:nvSpPr>
          <p:cNvPr id="26" name="TextBox 25"/>
          <p:cNvSpPr txBox="1"/>
          <p:nvPr/>
        </p:nvSpPr>
        <p:spPr>
          <a:xfrm>
            <a:off x="400680" y="796835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em fundos não são garantidos pelo administrador, pelo gestor, por qualquer mecanismo de seguro ou pelo Fundo Garantidor de Crédito – FGC.</a:t>
            </a:r>
          </a:p>
        </p:txBody>
      </p:sp>
      <p:sp>
        <p:nvSpPr>
          <p:cNvPr id="27" name="TextBox 26"/>
          <p:cNvSpPr txBox="1"/>
          <p:nvPr/>
        </p:nvSpPr>
        <p:spPr>
          <a:xfrm>
            <a:off x="400680" y="830572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A Tivio Capital Distribuidora de Títulos e Valores Mobiliários S.A. integra o conglomerado prudencial liderado pelo Banco Bradesco S.A.</a:t>
            </a:r>
          </a:p>
        </p:txBody>
      </p:sp>
      <p:sp>
        <p:nvSpPr>
          <p:cNvPr id="28" name="TextBox 27"/>
          <p:cNvSpPr txBox="1"/>
          <p:nvPr/>
        </p:nvSpPr>
        <p:spPr>
          <a:xfrm>
            <a:off x="400680" y="9086056"/>
            <a:ext cx="859477" cy="200221"/>
          </a:xfrm>
          <a:prstGeom prst="rect">
            <a:avLst/>
          </a:prstGeom>
          <a:noFill/>
        </p:spPr>
        <p:txBody>
          <a:bodyPr wrap="square" lIns="0" rIns="0" tIns="0" bIns="0" anchor="t"/>
          <a:lstStyle/>
          <a:p>
            <a:pPr algn="l">
              <a:lnSpc>
                <a:spcPts val="803"/>
              </a:lnSpc>
            </a:pPr>
            <a:r>
              <a:rPr sz="642" b="0" i="0">
                <a:solidFill>
                  <a:srgbClr val="E9E9E9"/>
                </a:solidFill>
                <a:latin typeface="Versos"/>
              </a:rPr>
              <a:t>SAC: 0800 704 8383</a:t>
            </a:r>
          </a:p>
          <a:p>
            <a:pPr algn="l">
              <a:lnSpc>
                <a:spcPts val="803"/>
              </a:lnSpc>
            </a:pPr>
            <a:r>
              <a:rPr sz="642" b="0" i="0">
                <a:solidFill>
                  <a:srgbClr val="E9E9E9"/>
                </a:solidFill>
                <a:latin typeface="Versos"/>
              </a:rPr>
              <a:t>Atendimento 24 horas</a:t>
            </a:r>
          </a:p>
        </p:txBody>
      </p:sp>
      <p:sp>
        <p:nvSpPr>
          <p:cNvPr id="29" name="TextBox 28"/>
          <p:cNvSpPr txBox="1"/>
          <p:nvPr/>
        </p:nvSpPr>
        <p:spPr>
          <a:xfrm>
            <a:off x="1381117" y="9086056"/>
            <a:ext cx="3049987" cy="200221"/>
          </a:xfrm>
          <a:prstGeom prst="rect">
            <a:avLst/>
          </a:prstGeom>
          <a:noFill/>
        </p:spPr>
        <p:txBody>
          <a:bodyPr wrap="square" lIns="0" rIns="0" tIns="0" bIns="0" anchor="t"/>
          <a:lstStyle/>
          <a:p>
            <a:pPr algn="l">
              <a:lnSpc>
                <a:spcPts val="803"/>
              </a:lnSpc>
            </a:pPr>
            <a:r>
              <a:rPr sz="642" b="0" i="0">
                <a:solidFill>
                  <a:srgbClr val="E9E9E9"/>
                </a:solidFill>
                <a:latin typeface="Versos"/>
              </a:rPr>
              <a:t>Ouvidoria: 0800 727 9933</a:t>
            </a:r>
          </a:p>
          <a:p>
            <a:pPr algn="l">
              <a:lnSpc>
                <a:spcPts val="803"/>
              </a:lnSpc>
            </a:pPr>
            <a:r>
              <a:rPr sz="642" b="0" i="0">
                <a:solidFill>
                  <a:srgbClr val="E9E9E9"/>
                </a:solidFill>
                <a:latin typeface="Versos"/>
              </a:rPr>
              <a:t>Atendimento das 9h às 18h, de segunda a sexta-feira, exceto feriados nacionais</a:t>
            </a:r>
          </a:p>
        </p:txBody>
      </p:sp>
      <p:sp>
        <p:nvSpPr>
          <p:cNvPr id="30" name="TextBox 29"/>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1" name="TextBox 30"/>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2" name="TextBox 31"/>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3" name="TextBox 32"/>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