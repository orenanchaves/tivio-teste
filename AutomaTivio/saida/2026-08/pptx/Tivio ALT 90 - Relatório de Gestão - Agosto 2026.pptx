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83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40221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387609"/>
            <a:ext cx="5618299" cy="189000"/>
          </a:xfrm>
          <a:prstGeom prst="rect">
            <a:avLst/>
          </a:prstGeom>
          <a:noFill/>
        </p:spPr>
        <p:txBody>
          <a:bodyPr wrap="none" lIns="0" rIns="0" tIns="0" bIns="0" anchor="t"/>
          <a:lstStyle/>
          <a:p>
            <a:pPr algn="l">
              <a:lnSpc>
                <a:spcPts val="1375"/>
              </a:lnSpc>
            </a:pPr>
            <a:r>
              <a:rPr sz="1250" b="1" i="0">
                <a:solidFill>
                  <a:srgbClr val="FFFFFF"/>
                </a:solidFill>
                <a:latin typeface="Versos"/>
              </a:rPr>
              <a:t>82,9%</a:t>
            </a:r>
          </a:p>
        </p:txBody>
      </p:sp>
      <p:sp>
        <p:nvSpPr>
          <p:cNvPr id="45" name="TextBox 44"/>
          <p:cNvSpPr txBox="1"/>
          <p:nvPr/>
        </p:nvSpPr>
        <p:spPr>
          <a:xfrm>
            <a:off x="6092415" y="5564278"/>
            <a:ext cx="101277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6" name="TextBox 45"/>
          <p:cNvSpPr txBox="1"/>
          <p:nvPr/>
        </p:nvSpPr>
        <p:spPr>
          <a:xfrm>
            <a:off x="6092415" y="5720675"/>
            <a:ext cx="1012775" cy="189000"/>
          </a:xfrm>
          <a:prstGeom prst="rect">
            <a:avLst/>
          </a:prstGeom>
          <a:noFill/>
        </p:spPr>
        <p:txBody>
          <a:bodyPr wrap="none" lIns="0" rIns="0" tIns="0" bIns="0" anchor="t"/>
          <a:lstStyle/>
          <a:p>
            <a:pPr algn="l">
              <a:lnSpc>
                <a:spcPts val="1375"/>
              </a:lnSpc>
            </a:pPr>
            <a:r>
              <a:rPr sz="1250" b="1" i="0">
                <a:solidFill>
                  <a:srgbClr val="2B3744"/>
                </a:solidFill>
                <a:latin typeface="Versos"/>
              </a:rPr>
              <a:t>8,3%</a:t>
            </a:r>
          </a:p>
        </p:txBody>
      </p:sp>
      <p:sp>
        <p:nvSpPr>
          <p:cNvPr id="47" name="TextBox 46"/>
          <p:cNvSpPr txBox="1"/>
          <p:nvPr/>
        </p:nvSpPr>
        <p:spPr>
          <a:xfrm>
            <a:off x="6037250" y="6351463"/>
            <a:ext cx="396073" cy="147892"/>
          </a:xfrm>
          <a:prstGeom prst="rect">
            <a:avLst/>
          </a:prstGeom>
          <a:noFill/>
        </p:spPr>
        <p:txBody>
          <a:bodyPr wrap="square" lIns="0" rIns="0" tIns="0" bIns="0" anchor="t"/>
          <a:lstStyle/>
          <a:p>
            <a:pPr algn="l">
              <a:lnSpc>
                <a:spcPts val="569"/>
              </a:lnSpc>
            </a:pPr>
            <a:r>
              <a:rPr sz="517" b="0" i="0">
                <a:solidFill>
                  <a:srgbClr val="FFFFFF"/>
                </a:solidFill>
                <a:latin typeface="Versos"/>
              </a:rPr>
              <a:t>Crédito</a:t>
            </a:r>
          </a:p>
          <a:p>
            <a:pPr algn="l">
              <a:lnSpc>
                <a:spcPts val="569"/>
              </a:lnSpc>
            </a:pPr>
            <a:r>
              <a:rPr sz="517" b="1" i="0">
                <a:solidFill>
                  <a:srgbClr val="FFFFFF"/>
                </a:solidFill>
                <a:latin typeface="Versos"/>
              </a:rPr>
              <a:t>Privado</a:t>
            </a:r>
          </a:p>
        </p:txBody>
      </p:sp>
      <p:sp>
        <p:nvSpPr>
          <p:cNvPr id="48" name="TextBox 47"/>
          <p:cNvSpPr txBox="1"/>
          <p:nvPr/>
        </p:nvSpPr>
        <p:spPr>
          <a:xfrm>
            <a:off x="6037250" y="6511168"/>
            <a:ext cx="411916" cy="120960"/>
          </a:xfrm>
          <a:prstGeom prst="rect">
            <a:avLst/>
          </a:prstGeom>
          <a:noFill/>
        </p:spPr>
        <p:txBody>
          <a:bodyPr wrap="none" lIns="0" rIns="0" tIns="0" bIns="0" anchor="t"/>
          <a:lstStyle/>
          <a:p>
            <a:pPr algn="l">
              <a:lnSpc>
                <a:spcPts val="877"/>
              </a:lnSpc>
            </a:pPr>
            <a:r>
              <a:rPr sz="797" b="1" i="0">
                <a:solidFill>
                  <a:srgbClr val="FFFFFF"/>
                </a:solidFill>
                <a:latin typeface="Versos"/>
              </a:rPr>
              <a:t>3,6%</a:t>
            </a:r>
          </a:p>
        </p:txBody>
      </p:sp>
      <p:sp>
        <p:nvSpPr>
          <p:cNvPr id="49" name="TextBox 48"/>
          <p:cNvSpPr txBox="1"/>
          <p:nvPr/>
        </p:nvSpPr>
        <p:spPr>
          <a:xfrm>
            <a:off x="6508923" y="6534556"/>
            <a:ext cx="307616" cy="98280"/>
          </a:xfrm>
          <a:prstGeom prst="rect">
            <a:avLst/>
          </a:prstGeom>
          <a:noFill/>
        </p:spPr>
        <p:txBody>
          <a:bodyPr wrap="none" lIns="0" rIns="0" tIns="0" bIns="0" anchor="t"/>
          <a:lstStyle/>
          <a:p>
            <a:pPr algn="l">
              <a:lnSpc>
                <a:spcPts val="694"/>
              </a:lnSpc>
            </a:pPr>
            <a:r>
              <a:rPr sz="631" b="1" i="0">
                <a:solidFill>
                  <a:srgbClr val="2B3744"/>
                </a:solidFill>
                <a:latin typeface="Versos"/>
              </a:rPr>
              <a:t>2,9%</a:t>
            </a:r>
          </a:p>
        </p:txBody>
      </p:sp>
      <p:sp>
        <p:nvSpPr>
          <p:cNvPr id="50" name="TextBox 49"/>
          <p:cNvSpPr txBox="1"/>
          <p:nvPr/>
        </p:nvSpPr>
        <p:spPr>
          <a:xfrm>
            <a:off x="6880426" y="6388790"/>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1,9%</a:t>
            </a:r>
          </a:p>
        </p:txBody>
      </p:sp>
      <p:sp>
        <p:nvSpPr>
          <p:cNvPr id="51" name="TextBox 50"/>
          <p:cNvSpPr txBox="1"/>
          <p:nvPr/>
        </p:nvSpPr>
        <p:spPr>
          <a:xfrm>
            <a:off x="6880426" y="6543652"/>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0,6%</a:t>
            </a:r>
          </a:p>
        </p:txBody>
      </p:sp>
      <p:sp>
        <p:nvSpPr>
          <p:cNvPr id="52" name="TextBox 51"/>
          <p:cNvSpPr txBox="1"/>
          <p:nvPr/>
        </p:nvSpPr>
        <p:spPr>
          <a:xfrm>
            <a:off x="529200" y="6743638"/>
            <a:ext cx="12848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82,9%</a:t>
            </a:r>
          </a:p>
        </p:txBody>
      </p:sp>
      <p:sp>
        <p:nvSpPr>
          <p:cNvPr id="53" name="TextBox 52"/>
          <p:cNvSpPr txBox="1"/>
          <p:nvPr/>
        </p:nvSpPr>
        <p:spPr>
          <a:xfrm>
            <a:off x="2029269" y="6743638"/>
            <a:ext cx="715355"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8,3%</a:t>
            </a:r>
          </a:p>
        </p:txBody>
      </p:sp>
      <p:sp>
        <p:nvSpPr>
          <p:cNvPr id="54" name="TextBox 53"/>
          <p:cNvSpPr txBox="1"/>
          <p:nvPr/>
        </p:nvSpPr>
        <p:spPr>
          <a:xfrm>
            <a:off x="2981711"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5" name="TextBox 54"/>
          <p:cNvSpPr txBox="1"/>
          <p:nvPr/>
        </p:nvSpPr>
        <p:spPr>
          <a:xfrm>
            <a:off x="4228402" y="6743638"/>
            <a:ext cx="58574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2,9%</a:t>
            </a:r>
          </a:p>
        </p:txBody>
      </p:sp>
      <p:sp>
        <p:nvSpPr>
          <p:cNvPr id="56" name="TextBox 55"/>
          <p:cNvSpPr txBox="1"/>
          <p:nvPr/>
        </p:nvSpPr>
        <p:spPr>
          <a:xfrm>
            <a:off x="5056222" y="6743638"/>
            <a:ext cx="665355"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1,9%</a:t>
            </a:r>
          </a:p>
        </p:txBody>
      </p:sp>
      <p:sp>
        <p:nvSpPr>
          <p:cNvPr id="57" name="TextBox 56"/>
          <p:cNvSpPr txBox="1"/>
          <p:nvPr/>
        </p:nvSpPr>
        <p:spPr>
          <a:xfrm>
            <a:off x="529200" y="6902398"/>
            <a:ext cx="137358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0,6%</a:t>
            </a:r>
          </a:p>
        </p:txBody>
      </p:sp>
      <p:sp>
        <p:nvSpPr>
          <p:cNvPr id="58" name="TextBox 57"/>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998598"/>
            <a:ext cx="6728400" cy="269797"/>
          </a:xfrm>
          <a:prstGeom prst="rect">
            <a:avLst/>
          </a:prstGeom>
          <a:noFill/>
        </p:spPr>
        <p:txBody>
          <a:bodyPr wrap="square" lIns="0" rIns="0" tIns="0" bIns="0" anchor="t"/>
          <a:lstStyle/>
          <a:p>
            <a:pPr algn="just">
              <a:lnSpc>
                <a:spcPts val="1053"/>
              </a:lnSpc>
            </a:pPr>
            <a:r>
              <a:rPr sz="892"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0" name="TextBox 59"/>
          <p:cNvSpPr txBox="1"/>
          <p:nvPr/>
        </p:nvSpPr>
        <p:spPr>
          <a:xfrm>
            <a:off x="415800" y="8334073"/>
            <a:ext cx="6728400" cy="804667"/>
          </a:xfrm>
          <a:prstGeom prst="rect">
            <a:avLst/>
          </a:prstGeom>
          <a:noFill/>
        </p:spPr>
        <p:txBody>
          <a:bodyPr wrap="square" lIns="0" rIns="0" tIns="0" bIns="0" anchor="t"/>
          <a:lstStyle/>
          <a:p>
            <a:pPr algn="just">
              <a:lnSpc>
                <a:spcPts val="1053"/>
              </a:lnSpc>
            </a:pPr>
            <a:r>
              <a:rPr sz="892"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1" name="TextBox 60"/>
          <p:cNvSpPr txBox="1"/>
          <p:nvPr/>
        </p:nvSpPr>
        <p:spPr>
          <a:xfrm>
            <a:off x="415800" y="9204418"/>
            <a:ext cx="6728400" cy="670950"/>
          </a:xfrm>
          <a:prstGeom prst="rect">
            <a:avLst/>
          </a:prstGeom>
          <a:noFill/>
        </p:spPr>
        <p:txBody>
          <a:bodyPr wrap="square" lIns="0" rIns="0" tIns="0" bIns="0" anchor="t"/>
          <a:lstStyle/>
          <a:p>
            <a:pPr algn="just">
              <a:lnSpc>
                <a:spcPts val="1053"/>
              </a:lnSpc>
            </a:pPr>
            <a:r>
              <a:rPr sz="892"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2" name="TextBox 61"/>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