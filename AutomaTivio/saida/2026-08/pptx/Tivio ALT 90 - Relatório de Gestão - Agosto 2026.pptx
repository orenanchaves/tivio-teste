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HY 90 FIDC RL </a:t>
            </a:r>
            <a:r>
              <a:rPr sz="903" b="0" i="0">
                <a:solidFill>
                  <a:srgbClr val="FFFFFF"/>
                </a:solidFill>
                <a:latin typeface="Versos"/>
              </a:rPr>
              <a:t>/ CNPJ 61.020.441/0001-40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90</a:t>
            </a:r>
            <a:r>
              <a:rPr sz="1220" b="0" i="0">
                <a:solidFill>
                  <a:srgbClr val="FFFFFF"/>
                </a:solidFill>
                <a:latin typeface="Versos"/>
              </a:rPr>
              <a:t> busca retorno superior ao CDI com baixa volatilidade, por meio de FIDCs em cotas sênior, garantindo diversificação, segurança e relação risco-retorno atrativa.</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10,40%</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16,49%</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21,25%</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18,41%</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111,86%</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111,49%</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113,19%</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115,41%</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1,55%</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1,49%</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1,68%</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1,94%</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089934"/>
            <a:ext cx="540221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387609"/>
            <a:ext cx="5618299" cy="189000"/>
          </a:xfrm>
          <a:prstGeom prst="rect">
            <a:avLst/>
          </a:prstGeom>
          <a:noFill/>
        </p:spPr>
        <p:txBody>
          <a:bodyPr wrap="none" lIns="0" rIns="0" tIns="0" bIns="0" anchor="t"/>
          <a:lstStyle/>
          <a:p>
            <a:pPr algn="l">
              <a:lnSpc>
                <a:spcPts val="1375"/>
              </a:lnSpc>
            </a:pPr>
            <a:r>
              <a:rPr sz="1250" b="1" i="0">
                <a:solidFill>
                  <a:srgbClr val="FFFFFF"/>
                </a:solidFill>
                <a:latin typeface="Versos"/>
              </a:rPr>
              <a:t>82,9%</a:t>
            </a:r>
          </a:p>
        </p:txBody>
      </p:sp>
      <p:sp>
        <p:nvSpPr>
          <p:cNvPr id="45" name="TextBox 44"/>
          <p:cNvSpPr txBox="1"/>
          <p:nvPr/>
        </p:nvSpPr>
        <p:spPr>
          <a:xfrm>
            <a:off x="6092415" y="5564278"/>
            <a:ext cx="101277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6" name="TextBox 45"/>
          <p:cNvSpPr txBox="1"/>
          <p:nvPr/>
        </p:nvSpPr>
        <p:spPr>
          <a:xfrm>
            <a:off x="6092415" y="5720675"/>
            <a:ext cx="1012775" cy="189000"/>
          </a:xfrm>
          <a:prstGeom prst="rect">
            <a:avLst/>
          </a:prstGeom>
          <a:noFill/>
        </p:spPr>
        <p:txBody>
          <a:bodyPr wrap="none" lIns="0" rIns="0" tIns="0" bIns="0" anchor="t"/>
          <a:lstStyle/>
          <a:p>
            <a:pPr algn="l">
              <a:lnSpc>
                <a:spcPts val="1375"/>
              </a:lnSpc>
            </a:pPr>
            <a:r>
              <a:rPr sz="1250" b="1" i="0">
                <a:solidFill>
                  <a:srgbClr val="2B3744"/>
                </a:solidFill>
                <a:latin typeface="Versos"/>
              </a:rPr>
              <a:t>8,3%</a:t>
            </a:r>
          </a:p>
        </p:txBody>
      </p:sp>
      <p:sp>
        <p:nvSpPr>
          <p:cNvPr id="47" name="TextBox 46"/>
          <p:cNvSpPr txBox="1"/>
          <p:nvPr/>
        </p:nvSpPr>
        <p:spPr>
          <a:xfrm>
            <a:off x="6037250" y="6351463"/>
            <a:ext cx="396073" cy="147892"/>
          </a:xfrm>
          <a:prstGeom prst="rect">
            <a:avLst/>
          </a:prstGeom>
          <a:noFill/>
        </p:spPr>
        <p:txBody>
          <a:bodyPr wrap="square" lIns="0" rIns="0" tIns="0" bIns="0" anchor="t"/>
          <a:lstStyle/>
          <a:p>
            <a:pPr algn="l">
              <a:lnSpc>
                <a:spcPts val="569"/>
              </a:lnSpc>
            </a:pPr>
            <a:r>
              <a:rPr sz="517" b="0" i="0">
                <a:solidFill>
                  <a:srgbClr val="FFFFFF"/>
                </a:solidFill>
                <a:latin typeface="Versos"/>
              </a:rPr>
              <a:t>Crédito</a:t>
            </a:r>
          </a:p>
          <a:p>
            <a:pPr algn="l">
              <a:lnSpc>
                <a:spcPts val="569"/>
              </a:lnSpc>
            </a:pPr>
            <a:r>
              <a:rPr sz="517" b="1" i="0">
                <a:solidFill>
                  <a:srgbClr val="FFFFFF"/>
                </a:solidFill>
                <a:latin typeface="Versos"/>
              </a:rPr>
              <a:t>Privado</a:t>
            </a:r>
          </a:p>
        </p:txBody>
      </p:sp>
      <p:sp>
        <p:nvSpPr>
          <p:cNvPr id="48" name="TextBox 47"/>
          <p:cNvSpPr txBox="1"/>
          <p:nvPr/>
        </p:nvSpPr>
        <p:spPr>
          <a:xfrm>
            <a:off x="6037250" y="6511168"/>
            <a:ext cx="411916" cy="120960"/>
          </a:xfrm>
          <a:prstGeom prst="rect">
            <a:avLst/>
          </a:prstGeom>
          <a:noFill/>
        </p:spPr>
        <p:txBody>
          <a:bodyPr wrap="none" lIns="0" rIns="0" tIns="0" bIns="0" anchor="t"/>
          <a:lstStyle/>
          <a:p>
            <a:pPr algn="l">
              <a:lnSpc>
                <a:spcPts val="877"/>
              </a:lnSpc>
            </a:pPr>
            <a:r>
              <a:rPr sz="797" b="1" i="0">
                <a:solidFill>
                  <a:srgbClr val="FFFFFF"/>
                </a:solidFill>
                <a:latin typeface="Versos"/>
              </a:rPr>
              <a:t>3,6%</a:t>
            </a:r>
          </a:p>
        </p:txBody>
      </p:sp>
      <p:sp>
        <p:nvSpPr>
          <p:cNvPr id="49" name="TextBox 48"/>
          <p:cNvSpPr txBox="1"/>
          <p:nvPr/>
        </p:nvSpPr>
        <p:spPr>
          <a:xfrm>
            <a:off x="6508923" y="6534556"/>
            <a:ext cx="307616" cy="98280"/>
          </a:xfrm>
          <a:prstGeom prst="rect">
            <a:avLst/>
          </a:prstGeom>
          <a:noFill/>
        </p:spPr>
        <p:txBody>
          <a:bodyPr wrap="none" lIns="0" rIns="0" tIns="0" bIns="0" anchor="t"/>
          <a:lstStyle/>
          <a:p>
            <a:pPr algn="l">
              <a:lnSpc>
                <a:spcPts val="694"/>
              </a:lnSpc>
            </a:pPr>
            <a:r>
              <a:rPr sz="631" b="1" i="0">
                <a:solidFill>
                  <a:srgbClr val="2B3744"/>
                </a:solidFill>
                <a:latin typeface="Versos"/>
              </a:rPr>
              <a:t>2,9%</a:t>
            </a:r>
          </a:p>
        </p:txBody>
      </p:sp>
      <p:sp>
        <p:nvSpPr>
          <p:cNvPr id="50" name="TextBox 49"/>
          <p:cNvSpPr txBox="1"/>
          <p:nvPr/>
        </p:nvSpPr>
        <p:spPr>
          <a:xfrm>
            <a:off x="6880426" y="6388790"/>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1,9%</a:t>
            </a:r>
          </a:p>
        </p:txBody>
      </p:sp>
      <p:sp>
        <p:nvSpPr>
          <p:cNvPr id="51" name="TextBox 50"/>
          <p:cNvSpPr txBox="1"/>
          <p:nvPr/>
        </p:nvSpPr>
        <p:spPr>
          <a:xfrm>
            <a:off x="6880426" y="6543652"/>
            <a:ext cx="250614" cy="83160"/>
          </a:xfrm>
          <a:prstGeom prst="rect">
            <a:avLst/>
          </a:prstGeom>
          <a:noFill/>
        </p:spPr>
        <p:txBody>
          <a:bodyPr wrap="none" lIns="0" rIns="0" tIns="0" bIns="0" anchor="t"/>
          <a:lstStyle/>
          <a:p>
            <a:pPr algn="l">
              <a:lnSpc>
                <a:spcPts val="622"/>
              </a:lnSpc>
            </a:pPr>
            <a:r>
              <a:rPr sz="565" b="1" i="0">
                <a:solidFill>
                  <a:srgbClr val="2B3744"/>
                </a:solidFill>
                <a:latin typeface="Versos"/>
              </a:rPr>
              <a:t>0,6%</a:t>
            </a:r>
          </a:p>
        </p:txBody>
      </p:sp>
      <p:sp>
        <p:nvSpPr>
          <p:cNvPr id="52" name="TextBox 51"/>
          <p:cNvSpPr txBox="1"/>
          <p:nvPr/>
        </p:nvSpPr>
        <p:spPr>
          <a:xfrm>
            <a:off x="529200" y="6743638"/>
            <a:ext cx="128488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82,9%</a:t>
            </a:r>
          </a:p>
        </p:txBody>
      </p:sp>
      <p:sp>
        <p:nvSpPr>
          <p:cNvPr id="53" name="TextBox 52"/>
          <p:cNvSpPr txBox="1"/>
          <p:nvPr/>
        </p:nvSpPr>
        <p:spPr>
          <a:xfrm>
            <a:off x="2029269" y="6743638"/>
            <a:ext cx="715355"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8,3%</a:t>
            </a:r>
          </a:p>
        </p:txBody>
      </p:sp>
      <p:sp>
        <p:nvSpPr>
          <p:cNvPr id="54" name="TextBox 53"/>
          <p:cNvSpPr txBox="1"/>
          <p:nvPr/>
        </p:nvSpPr>
        <p:spPr>
          <a:xfrm>
            <a:off x="2981711" y="6743638"/>
            <a:ext cx="102137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3,6%</a:t>
            </a:r>
          </a:p>
        </p:txBody>
      </p:sp>
      <p:sp>
        <p:nvSpPr>
          <p:cNvPr id="55" name="TextBox 54"/>
          <p:cNvSpPr txBox="1"/>
          <p:nvPr/>
        </p:nvSpPr>
        <p:spPr>
          <a:xfrm>
            <a:off x="4228402" y="6743638"/>
            <a:ext cx="585748"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2,9%</a:t>
            </a:r>
          </a:p>
        </p:txBody>
      </p:sp>
      <p:sp>
        <p:nvSpPr>
          <p:cNvPr id="56" name="TextBox 55"/>
          <p:cNvSpPr txBox="1"/>
          <p:nvPr/>
        </p:nvSpPr>
        <p:spPr>
          <a:xfrm>
            <a:off x="5056222" y="6743638"/>
            <a:ext cx="665355"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1,9%</a:t>
            </a:r>
          </a:p>
        </p:txBody>
      </p:sp>
      <p:sp>
        <p:nvSpPr>
          <p:cNvPr id="57" name="TextBox 56"/>
          <p:cNvSpPr txBox="1"/>
          <p:nvPr/>
        </p:nvSpPr>
        <p:spPr>
          <a:xfrm>
            <a:off x="529200" y="6902398"/>
            <a:ext cx="137358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0,6%</a:t>
            </a:r>
          </a:p>
        </p:txBody>
      </p:sp>
      <p:sp>
        <p:nvSpPr>
          <p:cNvPr id="58" name="TextBox 57"/>
          <p:cNvSpPr txBox="1"/>
          <p:nvPr/>
        </p:nvSpPr>
        <p:spPr>
          <a:xfrm>
            <a:off x="415800" y="749963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998598"/>
            <a:ext cx="6728400" cy="269797"/>
          </a:xfrm>
          <a:prstGeom prst="rect">
            <a:avLst/>
          </a:prstGeom>
          <a:noFill/>
        </p:spPr>
        <p:txBody>
          <a:bodyPr wrap="square" lIns="0" rIns="0" tIns="0" bIns="0" anchor="t"/>
          <a:lstStyle/>
          <a:p>
            <a:pPr algn="just">
              <a:lnSpc>
                <a:spcPts val="1053"/>
              </a:lnSpc>
            </a:pPr>
            <a:r>
              <a:rPr sz="892" b="0" i="0">
                <a:solidFill>
                  <a:srgbClr val="222222"/>
                </a:solidFill>
                <a:latin typeface="Versos"/>
              </a:rPr>
              <a:t>O Tivio ALT 90 registrou rentabilidade de 1,22% no mês, equivalente a 111,86% do CDI no período. Desde o início da estratégia, o fundo acumula retorno de 21,25%, frente a 18,41% do CDI, o que corresponde a um desempenho anualizado de 115% do CDI.</a:t>
            </a:r>
          </a:p>
        </p:txBody>
      </p:sp>
      <p:sp>
        <p:nvSpPr>
          <p:cNvPr id="60" name="TextBox 59"/>
          <p:cNvSpPr txBox="1"/>
          <p:nvPr/>
        </p:nvSpPr>
        <p:spPr>
          <a:xfrm>
            <a:off x="415800" y="8334073"/>
            <a:ext cx="6728400" cy="804667"/>
          </a:xfrm>
          <a:prstGeom prst="rect">
            <a:avLst/>
          </a:prstGeom>
          <a:noFill/>
        </p:spPr>
        <p:txBody>
          <a:bodyPr wrap="square" lIns="0" rIns="0" tIns="0" bIns="0" anchor="t"/>
          <a:lstStyle/>
          <a:p>
            <a:pPr algn="just">
              <a:lnSpc>
                <a:spcPts val="1053"/>
              </a:lnSpc>
            </a:pPr>
            <a:r>
              <a:rPr sz="892"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1" name="TextBox 60"/>
          <p:cNvSpPr txBox="1"/>
          <p:nvPr/>
        </p:nvSpPr>
        <p:spPr>
          <a:xfrm>
            <a:off x="415800" y="9204418"/>
            <a:ext cx="6728400" cy="670950"/>
          </a:xfrm>
          <a:prstGeom prst="rect">
            <a:avLst/>
          </a:prstGeom>
          <a:noFill/>
        </p:spPr>
        <p:txBody>
          <a:bodyPr wrap="square" lIns="0" rIns="0" tIns="0" bIns="0" anchor="t"/>
          <a:lstStyle/>
          <a:p>
            <a:pPr algn="just">
              <a:lnSpc>
                <a:spcPts val="1053"/>
              </a:lnSpc>
            </a:pPr>
            <a:r>
              <a:rPr sz="892"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2" name="TextBox 61"/>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57002" cy="143640"/>
          </a:xfrm>
          <a:prstGeom prst="rect">
            <a:avLst/>
          </a:prstGeom>
          <a:noFill/>
        </p:spPr>
        <p:txBody>
          <a:bodyPr wrap="none" lIns="0" rIns="0" tIns="0" bIns="0" anchor="t"/>
          <a:lstStyle/>
          <a:p>
            <a:pPr algn="l">
              <a:lnSpc>
                <a:spcPts val="1107"/>
              </a:lnSpc>
            </a:pPr>
            <a:r>
              <a:rPr sz="922" b="1" i="0">
                <a:solidFill>
                  <a:srgbClr val="111111"/>
                </a:solidFill>
                <a:latin typeface="Versos"/>
              </a:rPr>
              <a:t>39,47%</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436328" y="1880077"/>
            <a:ext cx="433169" cy="143640"/>
          </a:xfrm>
          <a:prstGeom prst="rect">
            <a:avLst/>
          </a:prstGeom>
          <a:noFill/>
        </p:spPr>
        <p:txBody>
          <a:bodyPr wrap="none" lIns="0" rIns="0" tIns="0" bIns="0" anchor="t"/>
          <a:lstStyle/>
          <a:p>
            <a:pPr algn="l">
              <a:lnSpc>
                <a:spcPts val="1107"/>
              </a:lnSpc>
            </a:pPr>
            <a:r>
              <a:rPr sz="922" b="1" i="0">
                <a:solidFill>
                  <a:srgbClr val="111111"/>
                </a:solidFill>
                <a:latin typeface="Versos"/>
              </a:rPr>
              <a:t>13,59%</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0" name="TextBox 9"/>
          <p:cNvSpPr txBox="1"/>
          <p:nvPr/>
        </p:nvSpPr>
        <p:spPr>
          <a:xfrm>
            <a:off x="2395102" y="2137117"/>
            <a:ext cx="428009" cy="143640"/>
          </a:xfrm>
          <a:prstGeom prst="rect">
            <a:avLst/>
          </a:prstGeom>
          <a:noFill/>
        </p:spPr>
        <p:txBody>
          <a:bodyPr wrap="none" lIns="0" rIns="0" tIns="0" bIns="0" anchor="t"/>
          <a:lstStyle/>
          <a:p>
            <a:pPr algn="l">
              <a:lnSpc>
                <a:spcPts val="1107"/>
              </a:lnSpc>
            </a:pPr>
            <a:r>
              <a:rPr sz="922" b="1" i="0">
                <a:solidFill>
                  <a:srgbClr val="111111"/>
                </a:solidFill>
                <a:latin typeface="Versos"/>
              </a:rPr>
              <a:t>12,23%</a:t>
            </a:r>
          </a:p>
        </p:txBody>
      </p:sp>
      <p:sp>
        <p:nvSpPr>
          <p:cNvPr id="11" name="TextBox 10"/>
          <p:cNvSpPr txBox="1"/>
          <p:nvPr/>
        </p:nvSpPr>
        <p:spPr>
          <a:xfrm>
            <a:off x="400680" y="24018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2" name="TextBox 11"/>
          <p:cNvSpPr txBox="1"/>
          <p:nvPr/>
        </p:nvSpPr>
        <p:spPr>
          <a:xfrm>
            <a:off x="2276032" y="2394157"/>
            <a:ext cx="387346" cy="143640"/>
          </a:xfrm>
          <a:prstGeom prst="rect">
            <a:avLst/>
          </a:prstGeom>
          <a:noFill/>
        </p:spPr>
        <p:txBody>
          <a:bodyPr wrap="none" lIns="0" rIns="0" tIns="0" bIns="0" anchor="t"/>
          <a:lstStyle/>
          <a:p>
            <a:pPr algn="l">
              <a:lnSpc>
                <a:spcPts val="1107"/>
              </a:lnSpc>
            </a:pPr>
            <a:r>
              <a:rPr sz="922" b="1" i="0">
                <a:solidFill>
                  <a:srgbClr val="111111"/>
                </a:solidFill>
                <a:latin typeface="Versos"/>
              </a:rPr>
              <a:t>8,28%</a:t>
            </a:r>
          </a:p>
        </p:txBody>
      </p:sp>
      <p:sp>
        <p:nvSpPr>
          <p:cNvPr id="13" name="TextBox 12"/>
          <p:cNvSpPr txBox="1"/>
          <p:nvPr/>
        </p:nvSpPr>
        <p:spPr>
          <a:xfrm>
            <a:off x="400680" y="260241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4" name="TextBox 13"/>
          <p:cNvSpPr txBox="1"/>
          <p:nvPr/>
        </p:nvSpPr>
        <p:spPr>
          <a:xfrm>
            <a:off x="2224530" y="2651197"/>
            <a:ext cx="387223" cy="143640"/>
          </a:xfrm>
          <a:prstGeom prst="rect">
            <a:avLst/>
          </a:prstGeom>
          <a:noFill/>
        </p:spPr>
        <p:txBody>
          <a:bodyPr wrap="none" lIns="0" rIns="0" tIns="0" bIns="0" anchor="t"/>
          <a:lstStyle/>
          <a:p>
            <a:pPr algn="l">
              <a:lnSpc>
                <a:spcPts val="1107"/>
              </a:lnSpc>
            </a:pPr>
            <a:r>
              <a:rPr sz="922" b="1" i="0">
                <a:solidFill>
                  <a:srgbClr val="111111"/>
                </a:solidFill>
                <a:latin typeface="Versos"/>
              </a:rPr>
              <a:t>6,58%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16" name="TextBox 15"/>
          <p:cNvSpPr txBox="1"/>
          <p:nvPr/>
        </p:nvSpPr>
        <p:spPr>
          <a:xfrm>
            <a:off x="2138180" y="2908237"/>
            <a:ext cx="373709" cy="143640"/>
          </a:xfrm>
          <a:prstGeom prst="rect">
            <a:avLst/>
          </a:prstGeom>
          <a:noFill/>
        </p:spPr>
        <p:txBody>
          <a:bodyPr wrap="none" lIns="0" rIns="0" tIns="0" bIns="0" anchor="t"/>
          <a:lstStyle/>
          <a:p>
            <a:pPr algn="l">
              <a:lnSpc>
                <a:spcPts val="1107"/>
              </a:lnSpc>
            </a:pPr>
            <a:r>
              <a:rPr sz="922" b="1" i="0">
                <a:solidFill>
                  <a:srgbClr val="111111"/>
                </a:solidFill>
                <a:latin typeface="Versos"/>
              </a:rPr>
              <a:t>3,72%</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18" name="TextBox 17"/>
          <p:cNvSpPr txBox="1"/>
          <p:nvPr/>
        </p:nvSpPr>
        <p:spPr>
          <a:xfrm>
            <a:off x="2137471" y="3165277"/>
            <a:ext cx="387837" cy="143640"/>
          </a:xfrm>
          <a:prstGeom prst="rect">
            <a:avLst/>
          </a:prstGeom>
          <a:noFill/>
        </p:spPr>
        <p:txBody>
          <a:bodyPr wrap="none" lIns="0" rIns="0" tIns="0" bIns="0" anchor="t"/>
          <a:lstStyle/>
          <a:p>
            <a:pPr algn="l">
              <a:lnSpc>
                <a:spcPts val="1107"/>
              </a:lnSpc>
            </a:pPr>
            <a:r>
              <a:rPr sz="922" b="1" i="0">
                <a:solidFill>
                  <a:srgbClr val="111111"/>
                </a:solidFill>
                <a:latin typeface="Versos"/>
              </a:rPr>
              <a:t>3,69%</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0" name="TextBox 19"/>
          <p:cNvSpPr txBox="1"/>
          <p:nvPr/>
        </p:nvSpPr>
        <p:spPr>
          <a:xfrm>
            <a:off x="2135345" y="3422317"/>
            <a:ext cx="381080" cy="143640"/>
          </a:xfrm>
          <a:prstGeom prst="rect">
            <a:avLst/>
          </a:prstGeom>
          <a:noFill/>
        </p:spPr>
        <p:txBody>
          <a:bodyPr wrap="none" lIns="0" rIns="0" tIns="0" bIns="0" anchor="t"/>
          <a:lstStyle/>
          <a:p>
            <a:pPr algn="l">
              <a:lnSpc>
                <a:spcPts val="1107"/>
              </a:lnSpc>
            </a:pPr>
            <a:r>
              <a:rPr sz="922" b="1" i="0">
                <a:solidFill>
                  <a:srgbClr val="111111"/>
                </a:solidFill>
                <a:latin typeface="Versos"/>
              </a:rPr>
              <a:t>3,62%</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22" name="TextBox 21"/>
          <p:cNvSpPr txBox="1"/>
          <p:nvPr/>
        </p:nvSpPr>
        <p:spPr>
          <a:xfrm>
            <a:off x="2112075" y="3679357"/>
            <a:ext cx="382432" cy="143640"/>
          </a:xfrm>
          <a:prstGeom prst="rect">
            <a:avLst/>
          </a:prstGeom>
          <a:noFill/>
        </p:spPr>
        <p:txBody>
          <a:bodyPr wrap="none" lIns="0" rIns="0" tIns="0" bIns="0" anchor="t"/>
          <a:lstStyle/>
          <a:p>
            <a:pPr algn="l">
              <a:lnSpc>
                <a:spcPts val="1107"/>
              </a:lnSpc>
            </a:pPr>
            <a:r>
              <a:rPr sz="922" b="1" i="0">
                <a:solidFill>
                  <a:srgbClr val="111111"/>
                </a:solidFill>
                <a:latin typeface="Versos"/>
              </a:rPr>
              <a:t>2,85%</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4" name="TextBox 23"/>
          <p:cNvSpPr txBox="1"/>
          <p:nvPr/>
        </p:nvSpPr>
        <p:spPr>
          <a:xfrm>
            <a:off x="2108176" y="3936397"/>
            <a:ext cx="372849" cy="143640"/>
          </a:xfrm>
          <a:prstGeom prst="rect">
            <a:avLst/>
          </a:prstGeom>
          <a:noFill/>
        </p:spPr>
        <p:txBody>
          <a:bodyPr wrap="none" lIns="0" rIns="0" tIns="0" bIns="0" anchor="t"/>
          <a:lstStyle/>
          <a:p>
            <a:pPr algn="l">
              <a:lnSpc>
                <a:spcPts val="1107"/>
              </a:lnSpc>
            </a:pPr>
            <a:r>
              <a:rPr sz="922" b="1" i="0">
                <a:solidFill>
                  <a:srgbClr val="111111"/>
                </a:solidFill>
                <a:latin typeface="Versos"/>
              </a:rPr>
              <a:t>2,72%</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26" name="TextBox 25"/>
          <p:cNvSpPr txBox="1"/>
          <p:nvPr/>
        </p:nvSpPr>
        <p:spPr>
          <a:xfrm>
            <a:off x="2082307" y="4193437"/>
            <a:ext cx="348279" cy="143640"/>
          </a:xfrm>
          <a:prstGeom prst="rect">
            <a:avLst/>
          </a:prstGeom>
          <a:noFill/>
        </p:spPr>
        <p:txBody>
          <a:bodyPr wrap="none" lIns="0" rIns="0" tIns="0" bIns="0" anchor="t"/>
          <a:lstStyle/>
          <a:p>
            <a:pPr algn="l">
              <a:lnSpc>
                <a:spcPts val="1107"/>
              </a:lnSpc>
            </a:pPr>
            <a:r>
              <a:rPr sz="922" b="1" i="0">
                <a:solidFill>
                  <a:srgbClr val="111111"/>
                </a:solidFill>
                <a:latin typeface="Versos"/>
              </a:rPr>
              <a:t>1,87%</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Precatórios</a:t>
            </a:r>
          </a:p>
        </p:txBody>
      </p:sp>
      <p:sp>
        <p:nvSpPr>
          <p:cNvPr id="28" name="TextBox 27"/>
          <p:cNvSpPr txBox="1"/>
          <p:nvPr/>
        </p:nvSpPr>
        <p:spPr>
          <a:xfrm>
            <a:off x="2070967" y="4450477"/>
            <a:ext cx="361056" cy="143640"/>
          </a:xfrm>
          <a:prstGeom prst="rect">
            <a:avLst/>
          </a:prstGeom>
          <a:noFill/>
        </p:spPr>
        <p:txBody>
          <a:bodyPr wrap="none" lIns="0" rIns="0" tIns="0" bIns="0" anchor="t"/>
          <a:lstStyle/>
          <a:p>
            <a:pPr algn="l">
              <a:lnSpc>
                <a:spcPts val="1107"/>
              </a:lnSpc>
            </a:pPr>
            <a:r>
              <a:rPr sz="922" b="1" i="0">
                <a:solidFill>
                  <a:srgbClr val="111111"/>
                </a:solidFill>
                <a:latin typeface="Versos"/>
              </a:rPr>
              <a:t>1,49%</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1,94%</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1,68%</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1,55%</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777118"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06/06/2025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10% do que exceder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R$ 19.959.710,82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R$ 15.653.770,20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