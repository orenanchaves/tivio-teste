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30 FIF CLASSE INVESTIMENTO RF CP LP RL </a:t>
            </a:r>
            <a:r>
              <a:rPr sz="833" b="0" i="0">
                <a:solidFill>
                  <a:srgbClr val="FFFFFF"/>
                </a:solidFill>
                <a:latin typeface="Versos"/>
              </a:rPr>
              <a:t>/ CNPJ 58.290.160/0001-00</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1,12%</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9,45%</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14,68%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25,93%</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25,71%</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0,21%</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0869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06803"/>
            <a:ext cx="201596" cy="143640"/>
          </a:xfrm>
          <a:prstGeom prst="rect">
            <a:avLst/>
          </a:prstGeom>
          <a:noFill/>
        </p:spPr>
        <p:txBody>
          <a:bodyPr wrap="none" lIns="0" rIns="0" tIns="0" bIns="0" anchor="t"/>
          <a:lstStyle/>
          <a:p>
            <a:pPr algn="l">
              <a:lnSpc>
                <a:spcPts val="1107"/>
              </a:lnSpc>
            </a:pPr>
            <a:r>
              <a:rPr sz="922" b="0" i="0">
                <a:solidFill>
                  <a:srgbClr val="5A82A0"/>
                </a:solidFill>
                <a:latin typeface="Versos"/>
              </a:rPr>
              <a:t>6%</a:t>
            </a:r>
          </a:p>
        </p:txBody>
      </p:sp>
      <p:sp>
        <p:nvSpPr>
          <p:cNvPr id="45" name="TextBox 44"/>
          <p:cNvSpPr txBox="1"/>
          <p:nvPr/>
        </p:nvSpPr>
        <p:spPr>
          <a:xfrm>
            <a:off x="400680" y="601386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23703" y="6011971"/>
            <a:ext cx="372481" cy="143640"/>
          </a:xfrm>
          <a:prstGeom prst="rect">
            <a:avLst/>
          </a:prstGeom>
          <a:noFill/>
        </p:spPr>
        <p:txBody>
          <a:bodyPr wrap="none" lIns="0" rIns="0" tIns="0" bIns="0" anchor="t"/>
          <a:lstStyle/>
          <a:p>
            <a:pPr algn="l">
              <a:lnSpc>
                <a:spcPts val="1107"/>
              </a:lnSpc>
            </a:pPr>
            <a:r>
              <a:rPr sz="922" b="0" i="0">
                <a:solidFill>
                  <a:srgbClr val="5A82A0"/>
                </a:solidFill>
                <a:latin typeface="Versos"/>
              </a:rPr>
              <a:t>3,78%</a:t>
            </a:r>
          </a:p>
        </p:txBody>
      </p:sp>
      <p:sp>
        <p:nvSpPr>
          <p:cNvPr id="47" name="TextBox 46"/>
          <p:cNvSpPr txBox="1"/>
          <p:nvPr/>
        </p:nvSpPr>
        <p:spPr>
          <a:xfrm>
            <a:off x="400680" y="64191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178579" y="6417258"/>
            <a:ext cx="376289" cy="143640"/>
          </a:xfrm>
          <a:prstGeom prst="rect">
            <a:avLst/>
          </a:prstGeom>
          <a:noFill/>
        </p:spPr>
        <p:txBody>
          <a:bodyPr wrap="none" lIns="0" rIns="0" tIns="0" bIns="0" anchor="t"/>
          <a:lstStyle/>
          <a:p>
            <a:pPr algn="l">
              <a:lnSpc>
                <a:spcPts val="1107"/>
              </a:lnSpc>
            </a:pPr>
            <a:r>
              <a:rPr sz="922" b="0" i="0">
                <a:solidFill>
                  <a:srgbClr val="5A82A0"/>
                </a:solidFill>
                <a:latin typeface="Versos"/>
              </a:rPr>
              <a:t>3,62%</a:t>
            </a:r>
          </a:p>
        </p:txBody>
      </p:sp>
      <p:sp>
        <p:nvSpPr>
          <p:cNvPr id="49" name="TextBox 48"/>
          <p:cNvSpPr txBox="1"/>
          <p:nvPr/>
        </p:nvSpPr>
        <p:spPr>
          <a:xfrm>
            <a:off x="400680" y="6824317"/>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77634" y="6822427"/>
            <a:ext cx="376289" cy="143640"/>
          </a:xfrm>
          <a:prstGeom prst="rect">
            <a:avLst/>
          </a:prstGeom>
          <a:noFill/>
        </p:spPr>
        <p:txBody>
          <a:bodyPr wrap="none" lIns="0" rIns="0" tIns="0" bIns="0" anchor="t"/>
          <a:lstStyle/>
          <a:p>
            <a:pPr algn="l">
              <a:lnSpc>
                <a:spcPts val="1107"/>
              </a:lnSpc>
            </a:pPr>
            <a:r>
              <a:rPr sz="922" b="0" i="0">
                <a:solidFill>
                  <a:srgbClr val="5A82A0"/>
                </a:solidFill>
                <a:latin typeface="Versos"/>
              </a:rPr>
              <a:t>3,62%</a:t>
            </a:r>
          </a:p>
        </p:txBody>
      </p:sp>
      <p:sp>
        <p:nvSpPr>
          <p:cNvPr id="51" name="TextBox 50"/>
          <p:cNvSpPr txBox="1"/>
          <p:nvPr/>
        </p:nvSpPr>
        <p:spPr>
          <a:xfrm>
            <a:off x="400680" y="722960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717773" y="7227714"/>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1,94%</a:t>
            </a:r>
          </a:p>
        </p:txBody>
      </p:sp>
      <p:sp>
        <p:nvSpPr>
          <p:cNvPr id="53" name="TextBox 52"/>
          <p:cNvSpPr txBox="1"/>
          <p:nvPr/>
        </p:nvSpPr>
        <p:spPr>
          <a:xfrm>
            <a:off x="400680" y="771379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1140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112116"/>
            <a:ext cx="475920" cy="143640"/>
          </a:xfrm>
          <a:prstGeom prst="rect">
            <a:avLst/>
          </a:prstGeom>
          <a:noFill/>
        </p:spPr>
        <p:txBody>
          <a:bodyPr wrap="none" lIns="0" rIns="0" tIns="0" bIns="0" anchor="t"/>
          <a:lstStyle/>
          <a:p>
            <a:pPr algn="l">
              <a:lnSpc>
                <a:spcPts val="1142"/>
              </a:lnSpc>
            </a:pPr>
            <a:r>
              <a:rPr sz="952" b="0" i="0">
                <a:solidFill>
                  <a:srgbClr val="111111"/>
                </a:solidFill>
                <a:latin typeface="Versos"/>
              </a:rPr>
              <a:t>35,99%</a:t>
            </a:r>
          </a:p>
        </p:txBody>
      </p:sp>
      <p:sp>
        <p:nvSpPr>
          <p:cNvPr id="56" name="TextBox 55"/>
          <p:cNvSpPr txBox="1"/>
          <p:nvPr/>
        </p:nvSpPr>
        <p:spPr>
          <a:xfrm>
            <a:off x="400680" y="83710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99242" y="8369156"/>
            <a:ext cx="397174" cy="143640"/>
          </a:xfrm>
          <a:prstGeom prst="rect">
            <a:avLst/>
          </a:prstGeom>
          <a:noFill/>
        </p:spPr>
        <p:txBody>
          <a:bodyPr wrap="none" lIns="0" rIns="0" tIns="0" bIns="0" anchor="t"/>
          <a:lstStyle/>
          <a:p>
            <a:pPr algn="l">
              <a:lnSpc>
                <a:spcPts val="1142"/>
              </a:lnSpc>
            </a:pPr>
            <a:r>
              <a:rPr sz="952" b="0" i="0">
                <a:solidFill>
                  <a:srgbClr val="111111"/>
                </a:solidFill>
                <a:latin typeface="Versos"/>
              </a:rPr>
              <a:t>8,56%</a:t>
            </a:r>
          </a:p>
        </p:txBody>
      </p:sp>
      <p:sp>
        <p:nvSpPr>
          <p:cNvPr id="58" name="TextBox 57"/>
          <p:cNvSpPr txBox="1"/>
          <p:nvPr/>
        </p:nvSpPr>
        <p:spPr>
          <a:xfrm>
            <a:off x="400680" y="86280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406986" y="8626196"/>
            <a:ext cx="395699" cy="143640"/>
          </a:xfrm>
          <a:prstGeom prst="rect">
            <a:avLst/>
          </a:prstGeom>
          <a:noFill/>
        </p:spPr>
        <p:txBody>
          <a:bodyPr wrap="none" lIns="0" rIns="0" tIns="0" bIns="0" anchor="t"/>
          <a:lstStyle/>
          <a:p>
            <a:pPr algn="l">
              <a:lnSpc>
                <a:spcPts val="1142"/>
              </a:lnSpc>
            </a:pPr>
            <a:r>
              <a:rPr sz="952" b="0" i="0">
                <a:solidFill>
                  <a:srgbClr val="111111"/>
                </a:solidFill>
                <a:latin typeface="Versos"/>
              </a:rPr>
              <a:t>6,83%</a:t>
            </a:r>
          </a:p>
        </p:txBody>
      </p:sp>
      <p:sp>
        <p:nvSpPr>
          <p:cNvPr id="60" name="TextBox 59"/>
          <p:cNvSpPr txBox="1"/>
          <p:nvPr/>
        </p:nvSpPr>
        <p:spPr>
          <a:xfrm>
            <a:off x="400680" y="888512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75329" y="8883236"/>
            <a:ext cx="389680" cy="143640"/>
          </a:xfrm>
          <a:prstGeom prst="rect">
            <a:avLst/>
          </a:prstGeom>
          <a:noFill/>
        </p:spPr>
        <p:txBody>
          <a:bodyPr wrap="none" lIns="0" rIns="0" tIns="0" bIns="0" anchor="t"/>
          <a:lstStyle/>
          <a:p>
            <a:pPr algn="l">
              <a:lnSpc>
                <a:spcPts val="1142"/>
              </a:lnSpc>
            </a:pPr>
            <a:r>
              <a:rPr sz="952" b="0" i="0">
                <a:solidFill>
                  <a:srgbClr val="111111"/>
                </a:solidFill>
                <a:latin typeface="Versos"/>
              </a:rPr>
              <a:t>6,23%</a:t>
            </a:r>
          </a:p>
        </p:txBody>
      </p:sp>
      <p:sp>
        <p:nvSpPr>
          <p:cNvPr id="62" name="TextBox 61"/>
          <p:cNvSpPr txBox="1"/>
          <p:nvPr/>
        </p:nvSpPr>
        <p:spPr>
          <a:xfrm>
            <a:off x="400680" y="914216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91696" y="9140276"/>
            <a:ext cx="384643" cy="143640"/>
          </a:xfrm>
          <a:prstGeom prst="rect">
            <a:avLst/>
          </a:prstGeom>
          <a:noFill/>
        </p:spPr>
        <p:txBody>
          <a:bodyPr wrap="none" lIns="0" rIns="0" tIns="0" bIns="0" anchor="t"/>
          <a:lstStyle/>
          <a:p>
            <a:pPr algn="l">
              <a:lnSpc>
                <a:spcPts val="1142"/>
              </a:lnSpc>
            </a:pPr>
            <a:r>
              <a:rPr sz="952" b="0" i="0">
                <a:solidFill>
                  <a:srgbClr val="111111"/>
                </a:solidFill>
                <a:latin typeface="Versos"/>
              </a:rPr>
              <a:t>4,67%</a:t>
            </a:r>
          </a:p>
        </p:txBody>
      </p:sp>
      <p:sp>
        <p:nvSpPr>
          <p:cNvPr id="64" name="TextBox 63"/>
          <p:cNvSpPr txBox="1"/>
          <p:nvPr/>
        </p:nvSpPr>
        <p:spPr>
          <a:xfrm>
            <a:off x="400680" y="93992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84018" y="9397316"/>
            <a:ext cx="394102" cy="143640"/>
          </a:xfrm>
          <a:prstGeom prst="rect">
            <a:avLst/>
          </a:prstGeom>
          <a:noFill/>
        </p:spPr>
        <p:txBody>
          <a:bodyPr wrap="none" lIns="0" rIns="0" tIns="0" bIns="0" anchor="t"/>
          <a:lstStyle/>
          <a:p>
            <a:pPr algn="l">
              <a:lnSpc>
                <a:spcPts val="1142"/>
              </a:lnSpc>
            </a:pPr>
            <a:r>
              <a:rPr sz="952" b="0" i="0">
                <a:solidFill>
                  <a:srgbClr val="111111"/>
                </a:solidFill>
                <a:latin typeface="Versos"/>
              </a:rPr>
              <a:t>4,52%</a:t>
            </a:r>
          </a:p>
        </p:txBody>
      </p:sp>
      <p:sp>
        <p:nvSpPr>
          <p:cNvPr id="66" name="TextBox 65"/>
          <p:cNvSpPr txBox="1"/>
          <p:nvPr/>
        </p:nvSpPr>
        <p:spPr>
          <a:xfrm>
            <a:off x="400680" y="96562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3206" y="9654356"/>
            <a:ext cx="379237" cy="143640"/>
          </a:xfrm>
          <a:prstGeom prst="rect">
            <a:avLst/>
          </a:prstGeom>
          <a:noFill/>
        </p:spPr>
        <p:txBody>
          <a:bodyPr wrap="none" lIns="0" rIns="0" tIns="0" bIns="0" anchor="t"/>
          <a:lstStyle/>
          <a:p>
            <a:pPr algn="l">
              <a:lnSpc>
                <a:spcPts val="1142"/>
              </a:lnSpc>
            </a:pPr>
            <a:r>
              <a:rPr sz="952" b="0" i="0">
                <a:solidFill>
                  <a:srgbClr val="111111"/>
                </a:solidFill>
                <a:latin typeface="Versos"/>
              </a:rPr>
              <a:t>0,75%</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5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752497" y="5517618"/>
            <a:ext cx="483414" cy="143640"/>
          </a:xfrm>
          <a:prstGeom prst="rect">
            <a:avLst/>
          </a:prstGeom>
          <a:noFill/>
        </p:spPr>
        <p:txBody>
          <a:bodyPr wrap="none" lIns="0" rIns="0" tIns="0" bIns="0" anchor="t"/>
          <a:lstStyle/>
          <a:p>
            <a:pPr algn="l">
              <a:lnSpc>
                <a:spcPts val="1142"/>
              </a:lnSpc>
            </a:pPr>
            <a:r>
              <a:rPr sz="952" b="0" i="0">
                <a:solidFill>
                  <a:srgbClr val="111111"/>
                </a:solidFill>
                <a:latin typeface="Versos"/>
              </a:rPr>
              <a:t>30,80%</a:t>
            </a:r>
          </a:p>
        </p:txBody>
      </p:sp>
      <p:sp>
        <p:nvSpPr>
          <p:cNvPr id="71" name="TextBox 70"/>
          <p:cNvSpPr txBox="1"/>
          <p:nvPr/>
        </p:nvSpPr>
        <p:spPr>
          <a:xfrm>
            <a:off x="3802680" y="5752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2" name="TextBox 71"/>
          <p:cNvSpPr txBox="1"/>
          <p:nvPr/>
        </p:nvSpPr>
        <p:spPr>
          <a:xfrm>
            <a:off x="6296535" y="5744418"/>
            <a:ext cx="442997" cy="143640"/>
          </a:xfrm>
          <a:prstGeom prst="rect">
            <a:avLst/>
          </a:prstGeom>
          <a:noFill/>
        </p:spPr>
        <p:txBody>
          <a:bodyPr wrap="none" lIns="0" rIns="0" tIns="0" bIns="0" anchor="t"/>
          <a:lstStyle/>
          <a:p>
            <a:pPr algn="l">
              <a:lnSpc>
                <a:spcPts val="1142"/>
              </a:lnSpc>
            </a:pPr>
            <a:r>
              <a:rPr sz="952" b="0" i="0">
                <a:solidFill>
                  <a:srgbClr val="111111"/>
                </a:solidFill>
                <a:latin typeface="Versos"/>
              </a:rPr>
              <a:t>19,69%</a:t>
            </a:r>
          </a:p>
        </p:txBody>
      </p:sp>
      <p:sp>
        <p:nvSpPr>
          <p:cNvPr id="73" name="TextBox 72"/>
          <p:cNvSpPr txBox="1"/>
          <p:nvPr/>
        </p:nvSpPr>
        <p:spPr>
          <a:xfrm>
            <a:off x="3802680" y="5978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78121" y="5971218"/>
            <a:ext cx="434397" cy="143640"/>
          </a:xfrm>
          <a:prstGeom prst="rect">
            <a:avLst/>
          </a:prstGeom>
          <a:noFill/>
        </p:spPr>
        <p:txBody>
          <a:bodyPr wrap="none" lIns="0" rIns="0" tIns="0" bIns="0" anchor="t"/>
          <a:lstStyle/>
          <a:p>
            <a:pPr algn="l">
              <a:lnSpc>
                <a:spcPts val="1142"/>
              </a:lnSpc>
            </a:pPr>
            <a:r>
              <a:rPr sz="952" b="0" i="0">
                <a:solidFill>
                  <a:srgbClr val="111111"/>
                </a:solidFill>
                <a:latin typeface="Versos"/>
              </a:rPr>
              <a:t>14,37%</a:t>
            </a:r>
          </a:p>
        </p:txBody>
      </p:sp>
      <p:sp>
        <p:nvSpPr>
          <p:cNvPr id="75" name="TextBox 74"/>
          <p:cNvSpPr txBox="1"/>
          <p:nvPr/>
        </p:nvSpPr>
        <p:spPr>
          <a:xfrm>
            <a:off x="3802680" y="6205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809387" y="6198018"/>
            <a:ext cx="374815" cy="143640"/>
          </a:xfrm>
          <a:prstGeom prst="rect">
            <a:avLst/>
          </a:prstGeom>
          <a:noFill/>
        </p:spPr>
        <p:txBody>
          <a:bodyPr wrap="none" lIns="0" rIns="0" tIns="0" bIns="0" anchor="t"/>
          <a:lstStyle/>
          <a:p>
            <a:pPr algn="l">
              <a:lnSpc>
                <a:spcPts val="1142"/>
              </a:lnSpc>
            </a:pPr>
            <a:r>
              <a:rPr sz="952" b="0" i="0">
                <a:solidFill>
                  <a:srgbClr val="111111"/>
                </a:solidFill>
                <a:latin typeface="Versos"/>
              </a:rPr>
              <a:t>7,82%</a:t>
            </a:r>
          </a:p>
        </p:txBody>
      </p:sp>
      <p:sp>
        <p:nvSpPr>
          <p:cNvPr id="77" name="TextBox 76"/>
          <p:cNvSpPr txBox="1"/>
          <p:nvPr/>
        </p:nvSpPr>
        <p:spPr>
          <a:xfrm>
            <a:off x="3802680" y="6432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661967" y="6424818"/>
            <a:ext cx="393120" cy="143640"/>
          </a:xfrm>
          <a:prstGeom prst="rect">
            <a:avLst/>
          </a:prstGeom>
          <a:noFill/>
        </p:spPr>
        <p:txBody>
          <a:bodyPr wrap="none" lIns="0" rIns="0" tIns="0" bIns="0" anchor="t"/>
          <a:lstStyle/>
          <a:p>
            <a:pPr algn="l">
              <a:lnSpc>
                <a:spcPts val="1142"/>
              </a:lnSpc>
            </a:pPr>
            <a:r>
              <a:rPr sz="952" b="0" i="0">
                <a:solidFill>
                  <a:srgbClr val="111111"/>
                </a:solidFill>
                <a:latin typeface="Versos"/>
              </a:rPr>
              <a:t>4,23%</a:t>
            </a:r>
          </a:p>
        </p:txBody>
      </p:sp>
      <p:sp>
        <p:nvSpPr>
          <p:cNvPr id="79" name="TextBox 78"/>
          <p:cNvSpPr txBox="1"/>
          <p:nvPr/>
        </p:nvSpPr>
        <p:spPr>
          <a:xfrm>
            <a:off x="3802680" y="6659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0" name="TextBox 79"/>
          <p:cNvSpPr txBox="1"/>
          <p:nvPr/>
        </p:nvSpPr>
        <p:spPr>
          <a:xfrm>
            <a:off x="5644603" y="6651618"/>
            <a:ext cx="357493" cy="143640"/>
          </a:xfrm>
          <a:prstGeom prst="rect">
            <a:avLst/>
          </a:prstGeom>
          <a:noFill/>
        </p:spPr>
        <p:txBody>
          <a:bodyPr wrap="none" lIns="0" rIns="0" tIns="0" bIns="0" anchor="t"/>
          <a:lstStyle/>
          <a:p>
            <a:pPr algn="l">
              <a:lnSpc>
                <a:spcPts val="1142"/>
              </a:lnSpc>
            </a:pPr>
            <a:r>
              <a:rPr sz="952" b="0" i="0">
                <a:solidFill>
                  <a:srgbClr val="111111"/>
                </a:solidFill>
                <a:latin typeface="Versos"/>
              </a:rPr>
              <a:t>3,81%</a:t>
            </a:r>
          </a:p>
        </p:txBody>
      </p:sp>
      <p:sp>
        <p:nvSpPr>
          <p:cNvPr id="81" name="TextBox 80"/>
          <p:cNvSpPr txBox="1"/>
          <p:nvPr/>
        </p:nvSpPr>
        <p:spPr>
          <a:xfrm>
            <a:off x="3802680" y="682963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2" name="TextBox 81"/>
          <p:cNvSpPr txBox="1"/>
          <p:nvPr/>
        </p:nvSpPr>
        <p:spPr>
          <a:xfrm>
            <a:off x="5641768" y="6878418"/>
            <a:ext cx="369287" cy="143640"/>
          </a:xfrm>
          <a:prstGeom prst="rect">
            <a:avLst/>
          </a:prstGeom>
          <a:noFill/>
        </p:spPr>
        <p:txBody>
          <a:bodyPr wrap="none" lIns="0" rIns="0" tIns="0" bIns="0" anchor="t"/>
          <a:lstStyle/>
          <a:p>
            <a:pPr algn="l">
              <a:lnSpc>
                <a:spcPts val="1142"/>
              </a:lnSpc>
            </a:pPr>
            <a:r>
              <a:rPr sz="952" b="0" i="0">
                <a:solidFill>
                  <a:srgbClr val="111111"/>
                </a:solidFill>
                <a:latin typeface="Versos"/>
              </a:rPr>
              <a:t>3,74%</a:t>
            </a:r>
          </a:p>
        </p:txBody>
      </p:sp>
      <p:sp>
        <p:nvSpPr>
          <p:cNvPr id="83" name="TextBox 82"/>
          <p:cNvSpPr txBox="1"/>
          <p:nvPr/>
        </p:nvSpPr>
        <p:spPr>
          <a:xfrm>
            <a:off x="3802680" y="7112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609047" y="7105218"/>
            <a:ext cx="388451" cy="143640"/>
          </a:xfrm>
          <a:prstGeom prst="rect">
            <a:avLst/>
          </a:prstGeom>
          <a:noFill/>
        </p:spPr>
        <p:txBody>
          <a:bodyPr wrap="none" lIns="0" rIns="0" tIns="0" bIns="0" anchor="t"/>
          <a:lstStyle/>
          <a:p>
            <a:pPr algn="l">
              <a:lnSpc>
                <a:spcPts val="1142"/>
              </a:lnSpc>
            </a:pPr>
            <a:r>
              <a:rPr sz="952" b="0" i="0">
                <a:solidFill>
                  <a:srgbClr val="111111"/>
                </a:solidFill>
                <a:latin typeface="Versos"/>
              </a:rPr>
              <a:t>2,94%</a:t>
            </a:r>
          </a:p>
        </p:txBody>
      </p:sp>
      <p:sp>
        <p:nvSpPr>
          <p:cNvPr id="85" name="TextBox 84"/>
          <p:cNvSpPr txBox="1"/>
          <p:nvPr/>
        </p:nvSpPr>
        <p:spPr>
          <a:xfrm>
            <a:off x="3802680" y="7339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90620" y="7332018"/>
            <a:ext cx="396559" cy="143640"/>
          </a:xfrm>
          <a:prstGeom prst="rect">
            <a:avLst/>
          </a:prstGeom>
          <a:noFill/>
        </p:spPr>
        <p:txBody>
          <a:bodyPr wrap="none" lIns="0" rIns="0" tIns="0" bIns="0" anchor="t"/>
          <a:lstStyle/>
          <a:p>
            <a:pPr algn="l">
              <a:lnSpc>
                <a:spcPts val="1142"/>
              </a:lnSpc>
            </a:pPr>
            <a:r>
              <a:rPr sz="952" b="0" i="0">
                <a:solidFill>
                  <a:srgbClr val="111111"/>
                </a:solidFill>
                <a:latin typeface="Versos"/>
              </a:rPr>
              <a:t>2,49%</a:t>
            </a:r>
          </a:p>
        </p:txBody>
      </p:sp>
      <p:sp>
        <p:nvSpPr>
          <p:cNvPr id="87" name="TextBox 86"/>
          <p:cNvSpPr txBox="1"/>
          <p:nvPr/>
        </p:nvSpPr>
        <p:spPr>
          <a:xfrm>
            <a:off x="3802680" y="7566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78453" y="7558818"/>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2,19%</a:t>
            </a:r>
          </a:p>
        </p:txBody>
      </p:sp>
      <p:sp>
        <p:nvSpPr>
          <p:cNvPr id="89" name="TextBox 88"/>
          <p:cNvSpPr txBox="1"/>
          <p:nvPr/>
        </p:nvSpPr>
        <p:spPr>
          <a:xfrm>
            <a:off x="3802680" y="7793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72192" y="7785618"/>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2,04%</a:t>
            </a:r>
          </a:p>
        </p:txBody>
      </p:sp>
      <p:sp>
        <p:nvSpPr>
          <p:cNvPr id="91" name="TextBox 90"/>
          <p:cNvSpPr txBox="1"/>
          <p:nvPr/>
        </p:nvSpPr>
        <p:spPr>
          <a:xfrm>
            <a:off x="3802680" y="8020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43133" y="8012418"/>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93" name="TextBox 92"/>
          <p:cNvSpPr txBox="1"/>
          <p:nvPr/>
        </p:nvSpPr>
        <p:spPr>
          <a:xfrm>
            <a:off x="3802680" y="8246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5573" y="8239218"/>
            <a:ext cx="317075" cy="143640"/>
          </a:xfrm>
          <a:prstGeom prst="rect">
            <a:avLst/>
          </a:prstGeom>
          <a:noFill/>
        </p:spPr>
        <p:txBody>
          <a:bodyPr wrap="none" lIns="0" rIns="0" tIns="0" bIns="0" anchor="t"/>
          <a:lstStyle/>
          <a:p>
            <a:pPr algn="l">
              <a:lnSpc>
                <a:spcPts val="1142"/>
              </a:lnSpc>
            </a:pPr>
            <a:r>
              <a:rPr sz="952" b="0" i="0">
                <a:solidFill>
                  <a:srgbClr val="111111"/>
                </a:solidFill>
                <a:latin typeface="Versos"/>
              </a:rPr>
              <a:t>1,15%</a:t>
            </a:r>
          </a:p>
        </p:txBody>
      </p:sp>
      <p:sp>
        <p:nvSpPr>
          <p:cNvPr id="95" name="TextBox 94"/>
          <p:cNvSpPr txBox="1"/>
          <p:nvPr/>
        </p:nvSpPr>
        <p:spPr>
          <a:xfrm>
            <a:off x="3802680" y="8473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8013" y="8466018"/>
            <a:ext cx="398648" cy="143640"/>
          </a:xfrm>
          <a:prstGeom prst="rect">
            <a:avLst/>
          </a:prstGeom>
          <a:noFill/>
        </p:spPr>
        <p:txBody>
          <a:bodyPr wrap="none" lIns="0" rIns="0" tIns="0" bIns="0" anchor="t"/>
          <a:lstStyle/>
          <a:p>
            <a:pPr algn="l">
              <a:lnSpc>
                <a:spcPts val="1142"/>
              </a:lnSpc>
            </a:pPr>
            <a:r>
              <a:rPr sz="952" b="0" i="0">
                <a:solidFill>
                  <a:srgbClr val="111111"/>
                </a:solidFill>
                <a:latin typeface="Versos"/>
              </a:rPr>
              <a:t>0,96%</a:t>
            </a:r>
          </a:p>
        </p:txBody>
      </p:sp>
      <p:sp>
        <p:nvSpPr>
          <p:cNvPr id="97" name="TextBox 96"/>
          <p:cNvSpPr txBox="1"/>
          <p:nvPr/>
        </p:nvSpPr>
        <p:spPr>
          <a:xfrm>
            <a:off x="3802680" y="8700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98" name="TextBox 97"/>
          <p:cNvSpPr txBox="1"/>
          <p:nvPr/>
        </p:nvSpPr>
        <p:spPr>
          <a:xfrm>
            <a:off x="5516201" y="8692818"/>
            <a:ext cx="383660" cy="143640"/>
          </a:xfrm>
          <a:prstGeom prst="rect">
            <a:avLst/>
          </a:prstGeom>
          <a:noFill/>
        </p:spPr>
        <p:txBody>
          <a:bodyPr wrap="none" lIns="0" rIns="0" tIns="0" bIns="0" anchor="t"/>
          <a:lstStyle/>
          <a:p>
            <a:pPr algn="l">
              <a:lnSpc>
                <a:spcPts val="1142"/>
              </a:lnSpc>
            </a:pPr>
            <a:r>
              <a:rPr sz="952" b="0" i="0">
                <a:solidFill>
                  <a:srgbClr val="111111"/>
                </a:solidFill>
                <a:latin typeface="Versos"/>
              </a:rPr>
              <a:t>0,67%</a:t>
            </a:r>
          </a:p>
        </p:txBody>
      </p:sp>
      <p:sp>
        <p:nvSpPr>
          <p:cNvPr id="99" name="TextBox 98"/>
          <p:cNvSpPr txBox="1"/>
          <p:nvPr/>
        </p:nvSpPr>
        <p:spPr>
          <a:xfrm>
            <a:off x="3802680" y="8927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0" name="TextBox 99"/>
          <p:cNvSpPr txBox="1"/>
          <p:nvPr/>
        </p:nvSpPr>
        <p:spPr>
          <a:xfrm>
            <a:off x="5512657" y="8919618"/>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101" name="TextBox 100"/>
          <p:cNvSpPr txBox="1"/>
          <p:nvPr/>
        </p:nvSpPr>
        <p:spPr>
          <a:xfrm>
            <a:off x="3802680" y="9154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11358" y="9146418"/>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0,56%</a:t>
            </a:r>
          </a:p>
        </p:txBody>
      </p:sp>
      <p:sp>
        <p:nvSpPr>
          <p:cNvPr id="103" name="TextBox 102"/>
          <p:cNvSpPr txBox="1"/>
          <p:nvPr/>
        </p:nvSpPr>
        <p:spPr>
          <a:xfrm>
            <a:off x="3802680" y="9380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4" name="TextBox 103"/>
          <p:cNvSpPr txBox="1"/>
          <p:nvPr/>
        </p:nvSpPr>
        <p:spPr>
          <a:xfrm>
            <a:off x="5499191" y="9373218"/>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105" name="TextBox 104"/>
          <p:cNvSpPr txBox="1"/>
          <p:nvPr/>
        </p:nvSpPr>
        <p:spPr>
          <a:xfrm>
            <a:off x="3802680" y="9607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Têxtil e Calçados</a:t>
            </a:r>
          </a:p>
        </p:txBody>
      </p:sp>
      <p:sp>
        <p:nvSpPr>
          <p:cNvPr id="106" name="TextBox 105"/>
          <p:cNvSpPr txBox="1"/>
          <p:nvPr/>
        </p:nvSpPr>
        <p:spPr>
          <a:xfrm>
            <a:off x="5498010" y="9600018"/>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0,19%</a:t>
            </a:r>
          </a:p>
        </p:txBody>
      </p:sp>
      <p:sp>
        <p:nvSpPr>
          <p:cNvPr id="107" name="TextBox 106"/>
          <p:cNvSpPr txBox="1"/>
          <p:nvPr/>
        </p:nvSpPr>
        <p:spPr>
          <a:xfrm>
            <a:off x="3802680" y="977803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Empreendimentos e participações</a:t>
            </a:r>
          </a:p>
        </p:txBody>
      </p:sp>
      <p:sp>
        <p:nvSpPr>
          <p:cNvPr id="108" name="TextBox 107"/>
          <p:cNvSpPr txBox="1"/>
          <p:nvPr/>
        </p:nvSpPr>
        <p:spPr>
          <a:xfrm>
            <a:off x="5498010" y="9826818"/>
            <a:ext cx="358353" cy="143640"/>
          </a:xfrm>
          <a:prstGeom prst="rect">
            <a:avLst/>
          </a:prstGeom>
          <a:noFill/>
        </p:spPr>
        <p:txBody>
          <a:bodyPr wrap="none" lIns="0" rIns="0" tIns="0" bIns="0" anchor="t"/>
          <a:lstStyle/>
          <a:p>
            <a:pPr algn="l">
              <a:lnSpc>
                <a:spcPts val="1142"/>
              </a:lnSpc>
            </a:pPr>
            <a:r>
              <a:rPr sz="952" b="0" i="0">
                <a:solidFill>
                  <a:srgbClr val="111111"/>
                </a:solidFill>
                <a:latin typeface="Versos"/>
              </a:rPr>
              <a:t>0,18%</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Institucional 30 apresentou rentabilidade de 1,12% no mês (102% do CDI), acumulando 9,45% (101%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580322" y="180707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6" name="TextBox 5"/>
          <p:cNvSpPr txBox="1"/>
          <p:nvPr/>
        </p:nvSpPr>
        <p:spPr>
          <a:xfrm>
            <a:off x="3715621" y="180707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7" name="TextBox 6"/>
          <p:cNvSpPr txBox="1"/>
          <p:nvPr/>
        </p:nvSpPr>
        <p:spPr>
          <a:xfrm>
            <a:off x="4169694" y="180707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8" name="TextBox 7"/>
          <p:cNvSpPr txBox="1"/>
          <p:nvPr/>
        </p:nvSpPr>
        <p:spPr>
          <a:xfrm>
            <a:off x="4865923" y="180707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9" name="TextBox 8"/>
          <p:cNvSpPr txBox="1"/>
          <p:nvPr/>
        </p:nvSpPr>
        <p:spPr>
          <a:xfrm>
            <a:off x="6039022" y="180707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10" name="TextBox 9"/>
          <p:cNvSpPr txBox="1"/>
          <p:nvPr/>
        </p:nvSpPr>
        <p:spPr>
          <a:xfrm>
            <a:off x="6553693" y="180707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11" name="TextBox 10"/>
          <p:cNvSpPr txBox="1"/>
          <p:nvPr/>
        </p:nvSpPr>
        <p:spPr>
          <a:xfrm>
            <a:off x="2580322" y="2087977"/>
            <a:ext cx="1133536" cy="173880"/>
          </a:xfrm>
          <a:prstGeom prst="rect">
            <a:avLst/>
          </a:prstGeom>
          <a:noFill/>
        </p:spPr>
        <p:txBody>
          <a:bodyPr wrap="none" lIns="0" rIns="0" tIns="0" bIns="0" anchor="t"/>
          <a:lstStyle/>
          <a:p>
            <a:pPr algn="ctr">
              <a:lnSpc>
                <a:spcPts val="1357"/>
              </a:lnSpc>
            </a:pPr>
            <a:r>
              <a:rPr sz="1131" b="1" i="0">
                <a:solidFill>
                  <a:srgbClr val="FFFFFF"/>
                </a:solidFill>
                <a:latin typeface="Versos"/>
              </a:rPr>
              <a:t>443.345</a:t>
            </a:r>
          </a:p>
        </p:txBody>
      </p:sp>
      <p:sp>
        <p:nvSpPr>
          <p:cNvPr id="12" name="TextBox 11"/>
          <p:cNvSpPr txBox="1"/>
          <p:nvPr/>
        </p:nvSpPr>
        <p:spPr>
          <a:xfrm>
            <a:off x="3715621" y="2087977"/>
            <a:ext cx="425061" cy="173880"/>
          </a:xfrm>
          <a:prstGeom prst="rect">
            <a:avLst/>
          </a:prstGeom>
          <a:noFill/>
        </p:spPr>
        <p:txBody>
          <a:bodyPr wrap="none" lIns="0" rIns="0" tIns="0" bIns="0" anchor="t"/>
          <a:lstStyle/>
          <a:p>
            <a:pPr algn="ctr">
              <a:lnSpc>
                <a:spcPts val="1357"/>
              </a:lnSpc>
            </a:pPr>
            <a:r>
              <a:rPr sz="1131" b="1" i="0">
                <a:solidFill>
                  <a:srgbClr val="FFFFFF"/>
                </a:solidFill>
                <a:latin typeface="Versos"/>
              </a:rPr>
              <a:t>100%</a:t>
            </a:r>
          </a:p>
        </p:txBody>
      </p:sp>
      <p:sp>
        <p:nvSpPr>
          <p:cNvPr id="13" name="TextBox 12"/>
          <p:cNvSpPr txBox="1"/>
          <p:nvPr/>
        </p:nvSpPr>
        <p:spPr>
          <a:xfrm>
            <a:off x="4169694" y="2087977"/>
            <a:ext cx="676903" cy="173880"/>
          </a:xfrm>
          <a:prstGeom prst="rect">
            <a:avLst/>
          </a:prstGeom>
          <a:noFill/>
        </p:spPr>
        <p:txBody>
          <a:bodyPr wrap="none" lIns="0" rIns="0" tIns="0" bIns="0" anchor="t"/>
          <a:lstStyle/>
          <a:p>
            <a:pPr algn="ctr">
              <a:lnSpc>
                <a:spcPts val="1357"/>
              </a:lnSpc>
            </a:pPr>
            <a:r>
              <a:rPr sz="1131" b="1" i="0">
                <a:solidFill>
                  <a:srgbClr val="FFFFFF"/>
                </a:solidFill>
                <a:latin typeface="Versos"/>
              </a:rPr>
              <a:t>1,22%</a:t>
            </a:r>
          </a:p>
        </p:txBody>
      </p:sp>
      <p:sp>
        <p:nvSpPr>
          <p:cNvPr id="14" name="TextBox 13"/>
          <p:cNvSpPr txBox="1"/>
          <p:nvPr/>
        </p:nvSpPr>
        <p:spPr>
          <a:xfrm>
            <a:off x="4865923" y="2087977"/>
            <a:ext cx="1172848" cy="173880"/>
          </a:xfrm>
          <a:prstGeom prst="rect">
            <a:avLst/>
          </a:prstGeom>
          <a:noFill/>
        </p:spPr>
        <p:txBody>
          <a:bodyPr wrap="none" lIns="0" rIns="0" tIns="0" bIns="0" anchor="t"/>
          <a:lstStyle/>
          <a:p>
            <a:pPr algn="ctr">
              <a:lnSpc>
                <a:spcPts val="1357"/>
              </a:lnSpc>
            </a:pPr>
            <a:r>
              <a:rPr sz="1131" b="1" i="0">
                <a:solidFill>
                  <a:srgbClr val="FFFFFF"/>
                </a:solidFill>
                <a:latin typeface="Versos"/>
              </a:rPr>
              <a:t>1,19%</a:t>
            </a:r>
          </a:p>
        </p:txBody>
      </p:sp>
      <p:sp>
        <p:nvSpPr>
          <p:cNvPr id="15" name="TextBox 14"/>
          <p:cNvSpPr txBox="1"/>
          <p:nvPr/>
        </p:nvSpPr>
        <p:spPr>
          <a:xfrm>
            <a:off x="6039022" y="2087977"/>
            <a:ext cx="488083" cy="173880"/>
          </a:xfrm>
          <a:prstGeom prst="rect">
            <a:avLst/>
          </a:prstGeom>
          <a:noFill/>
        </p:spPr>
        <p:txBody>
          <a:bodyPr wrap="none" lIns="0" rIns="0" tIns="0" bIns="0" anchor="t"/>
          <a:lstStyle/>
          <a:p>
            <a:pPr algn="ctr">
              <a:lnSpc>
                <a:spcPts val="1357"/>
              </a:lnSpc>
            </a:pPr>
            <a:r>
              <a:rPr sz="1131" b="1" i="0">
                <a:solidFill>
                  <a:srgbClr val="FFFFFF"/>
                </a:solidFill>
                <a:latin typeface="Versos"/>
              </a:rPr>
              <a:t>0,03%</a:t>
            </a:r>
          </a:p>
        </p:txBody>
      </p:sp>
      <p:sp>
        <p:nvSpPr>
          <p:cNvPr id="16" name="TextBox 15"/>
          <p:cNvSpPr txBox="1"/>
          <p:nvPr/>
        </p:nvSpPr>
        <p:spPr>
          <a:xfrm>
            <a:off x="6553693" y="2087977"/>
            <a:ext cx="488328" cy="173880"/>
          </a:xfrm>
          <a:prstGeom prst="rect">
            <a:avLst/>
          </a:prstGeom>
          <a:noFill/>
        </p:spPr>
        <p:txBody>
          <a:bodyPr wrap="none" lIns="0" rIns="0" tIns="0" bIns="0" anchor="t"/>
          <a:lstStyle/>
          <a:p>
            <a:pPr algn="ctr">
              <a:lnSpc>
                <a:spcPts val="1357"/>
              </a:lnSpc>
            </a:pPr>
            <a:r>
              <a:rPr sz="1131" b="1" i="0">
                <a:solidFill>
                  <a:srgbClr val="FFFFFF"/>
                </a:solidFill>
                <a:latin typeface="Versos"/>
              </a:rPr>
              <a:t>2,71</a:t>
            </a:r>
          </a:p>
        </p:txBody>
      </p:sp>
      <p:sp>
        <p:nvSpPr>
          <p:cNvPr id="17" name="TextBox 16"/>
          <p:cNvSpPr txBox="1"/>
          <p:nvPr/>
        </p:nvSpPr>
        <p:spPr>
          <a:xfrm>
            <a:off x="536760" y="2585756"/>
            <a:ext cx="2078130" cy="113400"/>
          </a:xfrm>
          <a:prstGeom prst="rect">
            <a:avLst/>
          </a:prstGeom>
          <a:noFill/>
        </p:spPr>
        <p:txBody>
          <a:bodyPr wrap="none" lIns="0" rIns="0" tIns="0" bIns="0" anchor="t"/>
          <a:lstStyle/>
          <a:p>
            <a:pPr algn="ctr">
              <a:lnSpc>
                <a:spcPts val="851"/>
              </a:lnSpc>
            </a:pPr>
            <a:r>
              <a:rPr sz="773" b="1" i="0">
                <a:solidFill>
                  <a:srgbClr val="FFFFFF"/>
                </a:solidFill>
                <a:latin typeface="Versos"/>
              </a:rPr>
              <a:t>Setor</a:t>
            </a:r>
          </a:p>
        </p:txBody>
      </p:sp>
      <p:sp>
        <p:nvSpPr>
          <p:cNvPr id="18" name="TextBox 17"/>
          <p:cNvSpPr txBox="1"/>
          <p:nvPr/>
        </p:nvSpPr>
        <p:spPr>
          <a:xfrm>
            <a:off x="2580322" y="258575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19" name="TextBox 18"/>
          <p:cNvSpPr txBox="1"/>
          <p:nvPr/>
        </p:nvSpPr>
        <p:spPr>
          <a:xfrm>
            <a:off x="3715621" y="258575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20" name="TextBox 19"/>
          <p:cNvSpPr txBox="1"/>
          <p:nvPr/>
        </p:nvSpPr>
        <p:spPr>
          <a:xfrm>
            <a:off x="4169694" y="258575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21" name="TextBox 20"/>
          <p:cNvSpPr txBox="1"/>
          <p:nvPr/>
        </p:nvSpPr>
        <p:spPr>
          <a:xfrm>
            <a:off x="4865923" y="258575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22" name="TextBox 21"/>
          <p:cNvSpPr txBox="1"/>
          <p:nvPr/>
        </p:nvSpPr>
        <p:spPr>
          <a:xfrm>
            <a:off x="6039022" y="258575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23" name="TextBox 22"/>
          <p:cNvSpPr txBox="1"/>
          <p:nvPr/>
        </p:nvSpPr>
        <p:spPr>
          <a:xfrm>
            <a:off x="6553693" y="258575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24" name="TextBox 23"/>
          <p:cNvSpPr txBox="1"/>
          <p:nvPr/>
        </p:nvSpPr>
        <p:spPr>
          <a:xfrm>
            <a:off x="604800" y="28634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Energia elétrica</a:t>
            </a:r>
          </a:p>
        </p:txBody>
      </p:sp>
      <p:sp>
        <p:nvSpPr>
          <p:cNvPr id="25" name="TextBox 24"/>
          <p:cNvSpPr txBox="1"/>
          <p:nvPr/>
        </p:nvSpPr>
        <p:spPr>
          <a:xfrm>
            <a:off x="2580322" y="28704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108.945</a:t>
            </a:r>
          </a:p>
        </p:txBody>
      </p:sp>
      <p:sp>
        <p:nvSpPr>
          <p:cNvPr id="26" name="TextBox 25"/>
          <p:cNvSpPr txBox="1"/>
          <p:nvPr/>
        </p:nvSpPr>
        <p:spPr>
          <a:xfrm>
            <a:off x="3715621" y="28704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24,6%</a:t>
            </a:r>
          </a:p>
        </p:txBody>
      </p:sp>
      <p:sp>
        <p:nvSpPr>
          <p:cNvPr id="27" name="TextBox 26"/>
          <p:cNvSpPr txBox="1"/>
          <p:nvPr/>
        </p:nvSpPr>
        <p:spPr>
          <a:xfrm>
            <a:off x="4169694" y="28704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8" name="TextBox 27"/>
          <p:cNvSpPr txBox="1"/>
          <p:nvPr/>
        </p:nvSpPr>
        <p:spPr>
          <a:xfrm>
            <a:off x="4865923" y="28704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9" name="TextBox 28"/>
          <p:cNvSpPr txBox="1"/>
          <p:nvPr/>
        </p:nvSpPr>
        <p:spPr>
          <a:xfrm>
            <a:off x="6039022" y="28704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30" name="TextBox 29"/>
          <p:cNvSpPr txBox="1"/>
          <p:nvPr/>
        </p:nvSpPr>
        <p:spPr>
          <a:xfrm>
            <a:off x="6553693" y="28704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31" name="TextBox 30"/>
          <p:cNvSpPr txBox="1"/>
          <p:nvPr/>
        </p:nvSpPr>
        <p:spPr>
          <a:xfrm>
            <a:off x="604800" y="31583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Assistência médica</a:t>
            </a:r>
          </a:p>
        </p:txBody>
      </p:sp>
      <p:sp>
        <p:nvSpPr>
          <p:cNvPr id="32" name="TextBox 31"/>
          <p:cNvSpPr txBox="1"/>
          <p:nvPr/>
        </p:nvSpPr>
        <p:spPr>
          <a:xfrm>
            <a:off x="2580322" y="31652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43.410</a:t>
            </a:r>
          </a:p>
        </p:txBody>
      </p:sp>
      <p:sp>
        <p:nvSpPr>
          <p:cNvPr id="33" name="TextBox 32"/>
          <p:cNvSpPr txBox="1"/>
          <p:nvPr/>
        </p:nvSpPr>
        <p:spPr>
          <a:xfrm>
            <a:off x="3715621" y="31652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9,8%</a:t>
            </a:r>
          </a:p>
        </p:txBody>
      </p:sp>
      <p:sp>
        <p:nvSpPr>
          <p:cNvPr id="34" name="TextBox 33"/>
          <p:cNvSpPr txBox="1"/>
          <p:nvPr/>
        </p:nvSpPr>
        <p:spPr>
          <a:xfrm>
            <a:off x="4169694" y="31652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2,55%</a:t>
            </a:r>
          </a:p>
        </p:txBody>
      </p:sp>
      <p:sp>
        <p:nvSpPr>
          <p:cNvPr id="35" name="TextBox 34"/>
          <p:cNvSpPr txBox="1"/>
          <p:nvPr/>
        </p:nvSpPr>
        <p:spPr>
          <a:xfrm>
            <a:off x="4865923" y="31652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2,23%</a:t>
            </a:r>
          </a:p>
        </p:txBody>
      </p:sp>
      <p:sp>
        <p:nvSpPr>
          <p:cNvPr id="36" name="TextBox 35"/>
          <p:cNvSpPr txBox="1"/>
          <p:nvPr/>
        </p:nvSpPr>
        <p:spPr>
          <a:xfrm>
            <a:off x="6039022" y="31652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0,32%</a:t>
            </a:r>
          </a:p>
        </p:txBody>
      </p:sp>
      <p:sp>
        <p:nvSpPr>
          <p:cNvPr id="37" name="TextBox 36"/>
          <p:cNvSpPr txBox="1"/>
          <p:nvPr/>
        </p:nvSpPr>
        <p:spPr>
          <a:xfrm>
            <a:off x="6553693" y="31652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38" name="TextBox 37"/>
          <p:cNvSpPr txBox="1"/>
          <p:nvPr/>
        </p:nvSpPr>
        <p:spPr>
          <a:xfrm>
            <a:off x="604800" y="34531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Saneamento</a:t>
            </a:r>
          </a:p>
        </p:txBody>
      </p:sp>
      <p:sp>
        <p:nvSpPr>
          <p:cNvPr id="39" name="TextBox 38"/>
          <p:cNvSpPr txBox="1"/>
          <p:nvPr/>
        </p:nvSpPr>
        <p:spPr>
          <a:xfrm>
            <a:off x="2580322" y="34601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39.943</a:t>
            </a:r>
          </a:p>
        </p:txBody>
      </p:sp>
      <p:sp>
        <p:nvSpPr>
          <p:cNvPr id="40" name="TextBox 39"/>
          <p:cNvSpPr txBox="1"/>
          <p:nvPr/>
        </p:nvSpPr>
        <p:spPr>
          <a:xfrm>
            <a:off x="3715621" y="34601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9,0%</a:t>
            </a:r>
          </a:p>
        </p:txBody>
      </p:sp>
      <p:sp>
        <p:nvSpPr>
          <p:cNvPr id="41" name="TextBox 40"/>
          <p:cNvSpPr txBox="1"/>
          <p:nvPr/>
        </p:nvSpPr>
        <p:spPr>
          <a:xfrm>
            <a:off x="4169694" y="34601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42" name="TextBox 41"/>
          <p:cNvSpPr txBox="1"/>
          <p:nvPr/>
        </p:nvSpPr>
        <p:spPr>
          <a:xfrm>
            <a:off x="4865923" y="34601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1,67%</a:t>
            </a:r>
          </a:p>
        </p:txBody>
      </p:sp>
      <p:sp>
        <p:nvSpPr>
          <p:cNvPr id="43" name="TextBox 42"/>
          <p:cNvSpPr txBox="1"/>
          <p:nvPr/>
        </p:nvSpPr>
        <p:spPr>
          <a:xfrm>
            <a:off x="6039022" y="34601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44" name="TextBox 43"/>
          <p:cNvSpPr txBox="1"/>
          <p:nvPr/>
        </p:nvSpPr>
        <p:spPr>
          <a:xfrm>
            <a:off x="6553693" y="34601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45" name="TextBox 44"/>
          <p:cNvSpPr txBox="1"/>
          <p:nvPr/>
        </p:nvSpPr>
        <p:spPr>
          <a:xfrm>
            <a:off x="604800" y="37479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Locação de veículos</a:t>
            </a:r>
          </a:p>
        </p:txBody>
      </p:sp>
      <p:sp>
        <p:nvSpPr>
          <p:cNvPr id="46" name="TextBox 45"/>
          <p:cNvSpPr txBox="1"/>
          <p:nvPr/>
        </p:nvSpPr>
        <p:spPr>
          <a:xfrm>
            <a:off x="2580322" y="37549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33.800</a:t>
            </a:r>
          </a:p>
        </p:txBody>
      </p:sp>
      <p:sp>
        <p:nvSpPr>
          <p:cNvPr id="47" name="TextBox 46"/>
          <p:cNvSpPr txBox="1"/>
          <p:nvPr/>
        </p:nvSpPr>
        <p:spPr>
          <a:xfrm>
            <a:off x="3715621" y="37549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7,6%</a:t>
            </a:r>
          </a:p>
        </p:txBody>
      </p:sp>
      <p:sp>
        <p:nvSpPr>
          <p:cNvPr id="48" name="TextBox 47"/>
          <p:cNvSpPr txBox="1"/>
          <p:nvPr/>
        </p:nvSpPr>
        <p:spPr>
          <a:xfrm>
            <a:off x="4169694" y="37549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1,62%</a:t>
            </a:r>
          </a:p>
        </p:txBody>
      </p:sp>
      <p:sp>
        <p:nvSpPr>
          <p:cNvPr id="49" name="TextBox 48"/>
          <p:cNvSpPr txBox="1"/>
          <p:nvPr/>
        </p:nvSpPr>
        <p:spPr>
          <a:xfrm>
            <a:off x="4865923" y="37549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1,65%</a:t>
            </a:r>
          </a:p>
        </p:txBody>
      </p:sp>
      <p:sp>
        <p:nvSpPr>
          <p:cNvPr id="50" name="TextBox 49"/>
          <p:cNvSpPr txBox="1"/>
          <p:nvPr/>
        </p:nvSpPr>
        <p:spPr>
          <a:xfrm>
            <a:off x="6039022" y="37549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51" name="TextBox 50"/>
          <p:cNvSpPr txBox="1"/>
          <p:nvPr/>
        </p:nvSpPr>
        <p:spPr>
          <a:xfrm>
            <a:off x="6553693" y="37549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52" name="TextBox 51"/>
          <p:cNvSpPr txBox="1"/>
          <p:nvPr/>
        </p:nvSpPr>
        <p:spPr>
          <a:xfrm>
            <a:off x="604800" y="40428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Petróleo e gás</a:t>
            </a:r>
          </a:p>
        </p:txBody>
      </p:sp>
      <p:sp>
        <p:nvSpPr>
          <p:cNvPr id="53" name="TextBox 52"/>
          <p:cNvSpPr txBox="1"/>
          <p:nvPr/>
        </p:nvSpPr>
        <p:spPr>
          <a:xfrm>
            <a:off x="2580322" y="40497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33.070</a:t>
            </a:r>
          </a:p>
        </p:txBody>
      </p:sp>
      <p:sp>
        <p:nvSpPr>
          <p:cNvPr id="54" name="TextBox 53"/>
          <p:cNvSpPr txBox="1"/>
          <p:nvPr/>
        </p:nvSpPr>
        <p:spPr>
          <a:xfrm>
            <a:off x="3715621" y="40497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7,5%</a:t>
            </a:r>
          </a:p>
        </p:txBody>
      </p:sp>
      <p:sp>
        <p:nvSpPr>
          <p:cNvPr id="55" name="TextBox 54"/>
          <p:cNvSpPr txBox="1"/>
          <p:nvPr/>
        </p:nvSpPr>
        <p:spPr>
          <a:xfrm>
            <a:off x="4169694" y="40497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0,80%</a:t>
            </a:r>
          </a:p>
        </p:txBody>
      </p:sp>
      <p:sp>
        <p:nvSpPr>
          <p:cNvPr id="56" name="TextBox 55"/>
          <p:cNvSpPr txBox="1"/>
          <p:nvPr/>
        </p:nvSpPr>
        <p:spPr>
          <a:xfrm>
            <a:off x="4865923" y="40497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0,82%</a:t>
            </a:r>
          </a:p>
        </p:txBody>
      </p:sp>
      <p:sp>
        <p:nvSpPr>
          <p:cNvPr id="57" name="TextBox 56"/>
          <p:cNvSpPr txBox="1"/>
          <p:nvPr/>
        </p:nvSpPr>
        <p:spPr>
          <a:xfrm>
            <a:off x="6039022" y="40497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58" name="TextBox 57"/>
          <p:cNvSpPr txBox="1"/>
          <p:nvPr/>
        </p:nvSpPr>
        <p:spPr>
          <a:xfrm>
            <a:off x="6553693" y="40497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2,8</a:t>
            </a:r>
          </a:p>
        </p:txBody>
      </p:sp>
      <p:sp>
        <p:nvSpPr>
          <p:cNvPr id="59" name="TextBox 58"/>
          <p:cNvSpPr txBox="1"/>
          <p:nvPr/>
        </p:nvSpPr>
        <p:spPr>
          <a:xfrm>
            <a:off x="604800" y="43376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Transporte e logística</a:t>
            </a:r>
          </a:p>
        </p:txBody>
      </p:sp>
      <p:sp>
        <p:nvSpPr>
          <p:cNvPr id="60" name="TextBox 59"/>
          <p:cNvSpPr txBox="1"/>
          <p:nvPr/>
        </p:nvSpPr>
        <p:spPr>
          <a:xfrm>
            <a:off x="2580322" y="43446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29.782</a:t>
            </a:r>
          </a:p>
        </p:txBody>
      </p:sp>
      <p:sp>
        <p:nvSpPr>
          <p:cNvPr id="61" name="TextBox 60"/>
          <p:cNvSpPr txBox="1"/>
          <p:nvPr/>
        </p:nvSpPr>
        <p:spPr>
          <a:xfrm>
            <a:off x="3715621" y="43446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6,7%</a:t>
            </a:r>
          </a:p>
        </p:txBody>
      </p:sp>
      <p:sp>
        <p:nvSpPr>
          <p:cNvPr id="62" name="TextBox 61"/>
          <p:cNvSpPr txBox="1"/>
          <p:nvPr/>
        </p:nvSpPr>
        <p:spPr>
          <a:xfrm>
            <a:off x="4169694" y="43446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63" name="TextBox 62"/>
          <p:cNvSpPr txBox="1"/>
          <p:nvPr/>
        </p:nvSpPr>
        <p:spPr>
          <a:xfrm>
            <a:off x="4865923" y="43446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64" name="TextBox 63"/>
          <p:cNvSpPr txBox="1"/>
          <p:nvPr/>
        </p:nvSpPr>
        <p:spPr>
          <a:xfrm>
            <a:off x="6039022" y="43446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0,08%</a:t>
            </a:r>
          </a:p>
        </p:txBody>
      </p:sp>
      <p:sp>
        <p:nvSpPr>
          <p:cNvPr id="65" name="TextBox 64"/>
          <p:cNvSpPr txBox="1"/>
          <p:nvPr/>
        </p:nvSpPr>
        <p:spPr>
          <a:xfrm>
            <a:off x="6553693" y="43446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66" name="TextBox 65"/>
          <p:cNvSpPr txBox="1"/>
          <p:nvPr/>
        </p:nvSpPr>
        <p:spPr>
          <a:xfrm>
            <a:off x="604800" y="46325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Comércio atacadista e varejista</a:t>
            </a:r>
          </a:p>
        </p:txBody>
      </p:sp>
      <p:sp>
        <p:nvSpPr>
          <p:cNvPr id="67" name="TextBox 66"/>
          <p:cNvSpPr txBox="1"/>
          <p:nvPr/>
        </p:nvSpPr>
        <p:spPr>
          <a:xfrm>
            <a:off x="2580322" y="46394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26.963</a:t>
            </a:r>
          </a:p>
        </p:txBody>
      </p:sp>
      <p:sp>
        <p:nvSpPr>
          <p:cNvPr id="68" name="TextBox 67"/>
          <p:cNvSpPr txBox="1"/>
          <p:nvPr/>
        </p:nvSpPr>
        <p:spPr>
          <a:xfrm>
            <a:off x="3715621" y="46394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6,1%</a:t>
            </a:r>
          </a:p>
        </p:txBody>
      </p:sp>
      <p:sp>
        <p:nvSpPr>
          <p:cNvPr id="69" name="TextBox 68"/>
          <p:cNvSpPr txBox="1"/>
          <p:nvPr/>
        </p:nvSpPr>
        <p:spPr>
          <a:xfrm>
            <a:off x="4169694" y="46394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70" name="TextBox 69"/>
          <p:cNvSpPr txBox="1"/>
          <p:nvPr/>
        </p:nvSpPr>
        <p:spPr>
          <a:xfrm>
            <a:off x="4865923" y="46394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1,32%</a:t>
            </a:r>
          </a:p>
        </p:txBody>
      </p:sp>
      <p:sp>
        <p:nvSpPr>
          <p:cNvPr id="71" name="TextBox 70"/>
          <p:cNvSpPr txBox="1"/>
          <p:nvPr/>
        </p:nvSpPr>
        <p:spPr>
          <a:xfrm>
            <a:off x="6039022" y="46394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72" name="TextBox 71"/>
          <p:cNvSpPr txBox="1"/>
          <p:nvPr/>
        </p:nvSpPr>
        <p:spPr>
          <a:xfrm>
            <a:off x="6553693" y="46394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73" name="TextBox 72"/>
          <p:cNvSpPr txBox="1"/>
          <p:nvPr/>
        </p:nvSpPr>
        <p:spPr>
          <a:xfrm>
            <a:off x="604800" y="49273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Financeiro</a:t>
            </a:r>
          </a:p>
        </p:txBody>
      </p:sp>
      <p:sp>
        <p:nvSpPr>
          <p:cNvPr id="74" name="TextBox 73"/>
          <p:cNvSpPr txBox="1"/>
          <p:nvPr/>
        </p:nvSpPr>
        <p:spPr>
          <a:xfrm>
            <a:off x="2580322" y="49343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23.678</a:t>
            </a:r>
          </a:p>
        </p:txBody>
      </p:sp>
      <p:sp>
        <p:nvSpPr>
          <p:cNvPr id="75" name="TextBox 74"/>
          <p:cNvSpPr txBox="1"/>
          <p:nvPr/>
        </p:nvSpPr>
        <p:spPr>
          <a:xfrm>
            <a:off x="3715621" y="49343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5,3%</a:t>
            </a:r>
          </a:p>
        </p:txBody>
      </p:sp>
      <p:sp>
        <p:nvSpPr>
          <p:cNvPr id="76" name="TextBox 75"/>
          <p:cNvSpPr txBox="1"/>
          <p:nvPr/>
        </p:nvSpPr>
        <p:spPr>
          <a:xfrm>
            <a:off x="4169694" y="49343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0,45%</a:t>
            </a:r>
          </a:p>
        </p:txBody>
      </p:sp>
      <p:sp>
        <p:nvSpPr>
          <p:cNvPr id="77" name="TextBox 76"/>
          <p:cNvSpPr txBox="1"/>
          <p:nvPr/>
        </p:nvSpPr>
        <p:spPr>
          <a:xfrm>
            <a:off x="4865923" y="49343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0,46%</a:t>
            </a:r>
          </a:p>
        </p:txBody>
      </p:sp>
      <p:sp>
        <p:nvSpPr>
          <p:cNvPr id="78" name="TextBox 77"/>
          <p:cNvSpPr txBox="1"/>
          <p:nvPr/>
        </p:nvSpPr>
        <p:spPr>
          <a:xfrm>
            <a:off x="6039022" y="49343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79" name="TextBox 78"/>
          <p:cNvSpPr txBox="1"/>
          <p:nvPr/>
        </p:nvSpPr>
        <p:spPr>
          <a:xfrm>
            <a:off x="6553693" y="49343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80" name="TextBox 79"/>
          <p:cNvSpPr txBox="1"/>
          <p:nvPr/>
        </p:nvSpPr>
        <p:spPr>
          <a:xfrm>
            <a:off x="604800" y="52221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Indústria e comércio</a:t>
            </a:r>
          </a:p>
        </p:txBody>
      </p:sp>
      <p:sp>
        <p:nvSpPr>
          <p:cNvPr id="81" name="TextBox 80"/>
          <p:cNvSpPr txBox="1"/>
          <p:nvPr/>
        </p:nvSpPr>
        <p:spPr>
          <a:xfrm>
            <a:off x="2580322" y="52291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22.210</a:t>
            </a:r>
          </a:p>
        </p:txBody>
      </p:sp>
      <p:sp>
        <p:nvSpPr>
          <p:cNvPr id="82" name="TextBox 81"/>
          <p:cNvSpPr txBox="1"/>
          <p:nvPr/>
        </p:nvSpPr>
        <p:spPr>
          <a:xfrm>
            <a:off x="3715621" y="52291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5,0%</a:t>
            </a:r>
          </a:p>
        </p:txBody>
      </p:sp>
      <p:sp>
        <p:nvSpPr>
          <p:cNvPr id="83" name="TextBox 82"/>
          <p:cNvSpPr txBox="1"/>
          <p:nvPr/>
        </p:nvSpPr>
        <p:spPr>
          <a:xfrm>
            <a:off x="4169694" y="52291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4" name="TextBox 83"/>
          <p:cNvSpPr txBox="1"/>
          <p:nvPr/>
        </p:nvSpPr>
        <p:spPr>
          <a:xfrm>
            <a:off x="4865923" y="52291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5" name="TextBox 84"/>
          <p:cNvSpPr txBox="1"/>
          <p:nvPr/>
        </p:nvSpPr>
        <p:spPr>
          <a:xfrm>
            <a:off x="6039022" y="52291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86" name="TextBox 85"/>
          <p:cNvSpPr txBox="1"/>
          <p:nvPr/>
        </p:nvSpPr>
        <p:spPr>
          <a:xfrm>
            <a:off x="6553693" y="52291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2,6</a:t>
            </a:r>
          </a:p>
        </p:txBody>
      </p:sp>
      <p:sp>
        <p:nvSpPr>
          <p:cNvPr id="87" name="TextBox 86"/>
          <p:cNvSpPr txBox="1"/>
          <p:nvPr/>
        </p:nvSpPr>
        <p:spPr>
          <a:xfrm>
            <a:off x="604800" y="55170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Ti e telecomunicações</a:t>
            </a:r>
          </a:p>
        </p:txBody>
      </p:sp>
      <p:sp>
        <p:nvSpPr>
          <p:cNvPr id="88" name="TextBox 87"/>
          <p:cNvSpPr txBox="1"/>
          <p:nvPr/>
        </p:nvSpPr>
        <p:spPr>
          <a:xfrm>
            <a:off x="2580322" y="55239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18.606</a:t>
            </a:r>
          </a:p>
        </p:txBody>
      </p:sp>
      <p:sp>
        <p:nvSpPr>
          <p:cNvPr id="89" name="TextBox 88"/>
          <p:cNvSpPr txBox="1"/>
          <p:nvPr/>
        </p:nvSpPr>
        <p:spPr>
          <a:xfrm>
            <a:off x="3715621" y="55239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4,2%</a:t>
            </a:r>
          </a:p>
        </p:txBody>
      </p:sp>
      <p:sp>
        <p:nvSpPr>
          <p:cNvPr id="90" name="TextBox 89"/>
          <p:cNvSpPr txBox="1"/>
          <p:nvPr/>
        </p:nvSpPr>
        <p:spPr>
          <a:xfrm>
            <a:off x="4169694" y="55239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1" name="TextBox 90"/>
          <p:cNvSpPr txBox="1"/>
          <p:nvPr/>
        </p:nvSpPr>
        <p:spPr>
          <a:xfrm>
            <a:off x="4865923" y="55239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2" name="TextBox 91"/>
          <p:cNvSpPr txBox="1"/>
          <p:nvPr/>
        </p:nvSpPr>
        <p:spPr>
          <a:xfrm>
            <a:off x="6039022" y="55239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93" name="TextBox 92"/>
          <p:cNvSpPr txBox="1"/>
          <p:nvPr/>
        </p:nvSpPr>
        <p:spPr>
          <a:xfrm>
            <a:off x="6553693" y="55239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94" name="TextBox 93"/>
          <p:cNvSpPr txBox="1"/>
          <p:nvPr/>
        </p:nvSpPr>
        <p:spPr>
          <a:xfrm>
            <a:off x="604800" y="58118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Bioenergia</a:t>
            </a:r>
          </a:p>
        </p:txBody>
      </p:sp>
      <p:sp>
        <p:nvSpPr>
          <p:cNvPr id="95" name="TextBox 94"/>
          <p:cNvSpPr txBox="1"/>
          <p:nvPr/>
        </p:nvSpPr>
        <p:spPr>
          <a:xfrm>
            <a:off x="2580322" y="58188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9.534</a:t>
            </a:r>
          </a:p>
        </p:txBody>
      </p:sp>
      <p:sp>
        <p:nvSpPr>
          <p:cNvPr id="96" name="TextBox 95"/>
          <p:cNvSpPr txBox="1"/>
          <p:nvPr/>
        </p:nvSpPr>
        <p:spPr>
          <a:xfrm>
            <a:off x="3715621" y="58188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97" name="TextBox 96"/>
          <p:cNvSpPr txBox="1"/>
          <p:nvPr/>
        </p:nvSpPr>
        <p:spPr>
          <a:xfrm>
            <a:off x="4169694" y="58188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1,69%</a:t>
            </a:r>
          </a:p>
        </p:txBody>
      </p:sp>
      <p:sp>
        <p:nvSpPr>
          <p:cNvPr id="98" name="TextBox 97"/>
          <p:cNvSpPr txBox="1"/>
          <p:nvPr/>
        </p:nvSpPr>
        <p:spPr>
          <a:xfrm>
            <a:off x="4865923" y="58188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99" name="TextBox 98"/>
          <p:cNvSpPr txBox="1"/>
          <p:nvPr/>
        </p:nvSpPr>
        <p:spPr>
          <a:xfrm>
            <a:off x="6039022" y="58188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100" name="TextBox 99"/>
          <p:cNvSpPr txBox="1"/>
          <p:nvPr/>
        </p:nvSpPr>
        <p:spPr>
          <a:xfrm>
            <a:off x="6553693" y="58188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3,0</a:t>
            </a:r>
          </a:p>
        </p:txBody>
      </p:sp>
      <p:sp>
        <p:nvSpPr>
          <p:cNvPr id="101" name="TextBox 100"/>
          <p:cNvSpPr txBox="1"/>
          <p:nvPr/>
        </p:nvSpPr>
        <p:spPr>
          <a:xfrm>
            <a:off x="604800" y="61067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Metalurgia e siderurgia</a:t>
            </a:r>
          </a:p>
        </p:txBody>
      </p:sp>
      <p:sp>
        <p:nvSpPr>
          <p:cNvPr id="102" name="TextBox 101"/>
          <p:cNvSpPr txBox="1"/>
          <p:nvPr/>
        </p:nvSpPr>
        <p:spPr>
          <a:xfrm>
            <a:off x="2580322" y="61136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9.897</a:t>
            </a:r>
          </a:p>
        </p:txBody>
      </p:sp>
      <p:sp>
        <p:nvSpPr>
          <p:cNvPr id="103" name="TextBox 102"/>
          <p:cNvSpPr txBox="1"/>
          <p:nvPr/>
        </p:nvSpPr>
        <p:spPr>
          <a:xfrm>
            <a:off x="3715621" y="61136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104" name="TextBox 103"/>
          <p:cNvSpPr txBox="1"/>
          <p:nvPr/>
        </p:nvSpPr>
        <p:spPr>
          <a:xfrm>
            <a:off x="4169694" y="61136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1,22%</a:t>
            </a:r>
          </a:p>
        </p:txBody>
      </p:sp>
      <p:sp>
        <p:nvSpPr>
          <p:cNvPr id="105" name="TextBox 104"/>
          <p:cNvSpPr txBox="1"/>
          <p:nvPr/>
        </p:nvSpPr>
        <p:spPr>
          <a:xfrm>
            <a:off x="4865923" y="61136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106" name="TextBox 105"/>
          <p:cNvSpPr txBox="1"/>
          <p:nvPr/>
        </p:nvSpPr>
        <p:spPr>
          <a:xfrm>
            <a:off x="6039022" y="61136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07" name="TextBox 106"/>
          <p:cNvSpPr txBox="1"/>
          <p:nvPr/>
        </p:nvSpPr>
        <p:spPr>
          <a:xfrm>
            <a:off x="6553693" y="61136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08" name="TextBox 107"/>
          <p:cNvSpPr txBox="1"/>
          <p:nvPr/>
        </p:nvSpPr>
        <p:spPr>
          <a:xfrm>
            <a:off x="604800" y="64015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Educação</a:t>
            </a:r>
          </a:p>
        </p:txBody>
      </p:sp>
      <p:sp>
        <p:nvSpPr>
          <p:cNvPr id="109" name="TextBox 108"/>
          <p:cNvSpPr txBox="1"/>
          <p:nvPr/>
        </p:nvSpPr>
        <p:spPr>
          <a:xfrm>
            <a:off x="2580322" y="64085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7.210</a:t>
            </a:r>
          </a:p>
        </p:txBody>
      </p:sp>
      <p:sp>
        <p:nvSpPr>
          <p:cNvPr id="110" name="TextBox 109"/>
          <p:cNvSpPr txBox="1"/>
          <p:nvPr/>
        </p:nvSpPr>
        <p:spPr>
          <a:xfrm>
            <a:off x="3715621" y="64085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1,6%</a:t>
            </a:r>
          </a:p>
        </p:txBody>
      </p:sp>
      <p:sp>
        <p:nvSpPr>
          <p:cNvPr id="111" name="TextBox 110"/>
          <p:cNvSpPr txBox="1"/>
          <p:nvPr/>
        </p:nvSpPr>
        <p:spPr>
          <a:xfrm>
            <a:off x="4169694" y="64085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1,13%</a:t>
            </a:r>
          </a:p>
        </p:txBody>
      </p:sp>
      <p:sp>
        <p:nvSpPr>
          <p:cNvPr id="112" name="TextBox 111"/>
          <p:cNvSpPr txBox="1"/>
          <p:nvPr/>
        </p:nvSpPr>
        <p:spPr>
          <a:xfrm>
            <a:off x="4865923" y="64085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1,17%</a:t>
            </a:r>
          </a:p>
        </p:txBody>
      </p:sp>
      <p:sp>
        <p:nvSpPr>
          <p:cNvPr id="113" name="TextBox 112"/>
          <p:cNvSpPr txBox="1"/>
          <p:nvPr/>
        </p:nvSpPr>
        <p:spPr>
          <a:xfrm>
            <a:off x="6039022" y="64085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14" name="TextBox 113"/>
          <p:cNvSpPr txBox="1"/>
          <p:nvPr/>
        </p:nvSpPr>
        <p:spPr>
          <a:xfrm>
            <a:off x="6553693" y="64085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115" name="TextBox 114"/>
          <p:cNvSpPr txBox="1"/>
          <p:nvPr/>
        </p:nvSpPr>
        <p:spPr>
          <a:xfrm>
            <a:off x="604800" y="66963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Serviços imobiliários</a:t>
            </a:r>
          </a:p>
        </p:txBody>
      </p:sp>
      <p:sp>
        <p:nvSpPr>
          <p:cNvPr id="116" name="TextBox 115"/>
          <p:cNvSpPr txBox="1"/>
          <p:nvPr/>
        </p:nvSpPr>
        <p:spPr>
          <a:xfrm>
            <a:off x="2580322" y="67033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5.994</a:t>
            </a:r>
          </a:p>
        </p:txBody>
      </p:sp>
      <p:sp>
        <p:nvSpPr>
          <p:cNvPr id="117" name="TextBox 116"/>
          <p:cNvSpPr txBox="1"/>
          <p:nvPr/>
        </p:nvSpPr>
        <p:spPr>
          <a:xfrm>
            <a:off x="3715621" y="67033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1,4%</a:t>
            </a:r>
          </a:p>
        </p:txBody>
      </p:sp>
      <p:sp>
        <p:nvSpPr>
          <p:cNvPr id="118" name="TextBox 117"/>
          <p:cNvSpPr txBox="1"/>
          <p:nvPr/>
        </p:nvSpPr>
        <p:spPr>
          <a:xfrm>
            <a:off x="4169694" y="67033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0,53%</a:t>
            </a:r>
          </a:p>
        </p:txBody>
      </p:sp>
      <p:sp>
        <p:nvSpPr>
          <p:cNvPr id="119" name="TextBox 118"/>
          <p:cNvSpPr txBox="1"/>
          <p:nvPr/>
        </p:nvSpPr>
        <p:spPr>
          <a:xfrm>
            <a:off x="4865923" y="67033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0,54%</a:t>
            </a:r>
          </a:p>
        </p:txBody>
      </p:sp>
      <p:sp>
        <p:nvSpPr>
          <p:cNvPr id="120" name="TextBox 119"/>
          <p:cNvSpPr txBox="1"/>
          <p:nvPr/>
        </p:nvSpPr>
        <p:spPr>
          <a:xfrm>
            <a:off x="6039022" y="67033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21" name="TextBox 120"/>
          <p:cNvSpPr txBox="1"/>
          <p:nvPr/>
        </p:nvSpPr>
        <p:spPr>
          <a:xfrm>
            <a:off x="6553693" y="67033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122" name="TextBox 121"/>
          <p:cNvSpPr txBox="1"/>
          <p:nvPr/>
        </p:nvSpPr>
        <p:spPr>
          <a:xfrm>
            <a:off x="604800" y="69912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Outros serviços</a:t>
            </a:r>
          </a:p>
        </p:txBody>
      </p:sp>
      <p:sp>
        <p:nvSpPr>
          <p:cNvPr id="123" name="TextBox 122"/>
          <p:cNvSpPr txBox="1"/>
          <p:nvPr/>
        </p:nvSpPr>
        <p:spPr>
          <a:xfrm>
            <a:off x="2580322" y="69981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6.611</a:t>
            </a:r>
          </a:p>
        </p:txBody>
      </p:sp>
      <p:sp>
        <p:nvSpPr>
          <p:cNvPr id="124" name="TextBox 123"/>
          <p:cNvSpPr txBox="1"/>
          <p:nvPr/>
        </p:nvSpPr>
        <p:spPr>
          <a:xfrm>
            <a:off x="3715621" y="69981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1,5%</a:t>
            </a:r>
          </a:p>
        </p:txBody>
      </p:sp>
      <p:sp>
        <p:nvSpPr>
          <p:cNvPr id="125" name="TextBox 124"/>
          <p:cNvSpPr txBox="1"/>
          <p:nvPr/>
        </p:nvSpPr>
        <p:spPr>
          <a:xfrm>
            <a:off x="4169694" y="69981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1,25%</a:t>
            </a:r>
          </a:p>
        </p:txBody>
      </p:sp>
      <p:sp>
        <p:nvSpPr>
          <p:cNvPr id="126" name="TextBox 125"/>
          <p:cNvSpPr txBox="1"/>
          <p:nvPr/>
        </p:nvSpPr>
        <p:spPr>
          <a:xfrm>
            <a:off x="4865923" y="69981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127" name="TextBox 126"/>
          <p:cNvSpPr txBox="1"/>
          <p:nvPr/>
        </p:nvSpPr>
        <p:spPr>
          <a:xfrm>
            <a:off x="6039022" y="69981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0,16%</a:t>
            </a:r>
          </a:p>
        </p:txBody>
      </p:sp>
      <p:sp>
        <p:nvSpPr>
          <p:cNvPr id="128" name="TextBox 127"/>
          <p:cNvSpPr txBox="1"/>
          <p:nvPr/>
        </p:nvSpPr>
        <p:spPr>
          <a:xfrm>
            <a:off x="6553693" y="69981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29" name="TextBox 128"/>
          <p:cNvSpPr txBox="1"/>
          <p:nvPr/>
        </p:nvSpPr>
        <p:spPr>
          <a:xfrm>
            <a:off x="604800" y="7221217"/>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Empreendimentos e participações</a:t>
            </a:r>
          </a:p>
        </p:txBody>
      </p:sp>
      <p:sp>
        <p:nvSpPr>
          <p:cNvPr id="130" name="TextBox 129"/>
          <p:cNvSpPr txBox="1"/>
          <p:nvPr/>
        </p:nvSpPr>
        <p:spPr>
          <a:xfrm>
            <a:off x="2580322" y="7295636"/>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9.181</a:t>
            </a:r>
          </a:p>
        </p:txBody>
      </p:sp>
      <p:sp>
        <p:nvSpPr>
          <p:cNvPr id="131" name="TextBox 130"/>
          <p:cNvSpPr txBox="1"/>
          <p:nvPr/>
        </p:nvSpPr>
        <p:spPr>
          <a:xfrm>
            <a:off x="3715621" y="7295636"/>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32" name="TextBox 131"/>
          <p:cNvSpPr txBox="1"/>
          <p:nvPr/>
        </p:nvSpPr>
        <p:spPr>
          <a:xfrm>
            <a:off x="4169694" y="7295636"/>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3" name="TextBox 132"/>
          <p:cNvSpPr txBox="1"/>
          <p:nvPr/>
        </p:nvSpPr>
        <p:spPr>
          <a:xfrm>
            <a:off x="4865923" y="7295636"/>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4" name="TextBox 133"/>
          <p:cNvSpPr txBox="1"/>
          <p:nvPr/>
        </p:nvSpPr>
        <p:spPr>
          <a:xfrm>
            <a:off x="6039022" y="7295636"/>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35" name="TextBox 134"/>
          <p:cNvSpPr txBox="1"/>
          <p:nvPr/>
        </p:nvSpPr>
        <p:spPr>
          <a:xfrm>
            <a:off x="6553693" y="7295636"/>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3,2</a:t>
            </a:r>
          </a:p>
        </p:txBody>
      </p:sp>
      <p:sp>
        <p:nvSpPr>
          <p:cNvPr id="136" name="TextBox 135"/>
          <p:cNvSpPr txBox="1"/>
          <p:nvPr/>
        </p:nvSpPr>
        <p:spPr>
          <a:xfrm>
            <a:off x="604800" y="7586105"/>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Papel e Celulose</a:t>
            </a:r>
          </a:p>
        </p:txBody>
      </p:sp>
      <p:sp>
        <p:nvSpPr>
          <p:cNvPr id="137" name="TextBox 136"/>
          <p:cNvSpPr txBox="1"/>
          <p:nvPr/>
        </p:nvSpPr>
        <p:spPr>
          <a:xfrm>
            <a:off x="2580322" y="7593075"/>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5.316</a:t>
            </a:r>
          </a:p>
        </p:txBody>
      </p:sp>
      <p:sp>
        <p:nvSpPr>
          <p:cNvPr id="138" name="TextBox 137"/>
          <p:cNvSpPr txBox="1"/>
          <p:nvPr/>
        </p:nvSpPr>
        <p:spPr>
          <a:xfrm>
            <a:off x="3715621" y="7593075"/>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1,2%</a:t>
            </a:r>
          </a:p>
        </p:txBody>
      </p:sp>
      <p:sp>
        <p:nvSpPr>
          <p:cNvPr id="139" name="TextBox 138"/>
          <p:cNvSpPr txBox="1"/>
          <p:nvPr/>
        </p:nvSpPr>
        <p:spPr>
          <a:xfrm>
            <a:off x="4169694" y="7593075"/>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0,52%</a:t>
            </a:r>
          </a:p>
        </p:txBody>
      </p:sp>
      <p:sp>
        <p:nvSpPr>
          <p:cNvPr id="140" name="TextBox 139"/>
          <p:cNvSpPr txBox="1"/>
          <p:nvPr/>
        </p:nvSpPr>
        <p:spPr>
          <a:xfrm>
            <a:off x="4865923" y="7593075"/>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0,49%</a:t>
            </a:r>
          </a:p>
        </p:txBody>
      </p:sp>
      <p:sp>
        <p:nvSpPr>
          <p:cNvPr id="141" name="TextBox 140"/>
          <p:cNvSpPr txBox="1"/>
          <p:nvPr/>
        </p:nvSpPr>
        <p:spPr>
          <a:xfrm>
            <a:off x="6039022" y="7593075"/>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142" name="TextBox 141"/>
          <p:cNvSpPr txBox="1"/>
          <p:nvPr/>
        </p:nvSpPr>
        <p:spPr>
          <a:xfrm>
            <a:off x="6553693" y="7593075"/>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4,4</a:t>
            </a:r>
          </a:p>
        </p:txBody>
      </p:sp>
      <p:sp>
        <p:nvSpPr>
          <p:cNvPr id="143" name="TextBox 142"/>
          <p:cNvSpPr txBox="1"/>
          <p:nvPr/>
        </p:nvSpPr>
        <p:spPr>
          <a:xfrm>
            <a:off x="604800" y="7816095"/>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Materiais de construção e agregados</a:t>
            </a:r>
          </a:p>
        </p:txBody>
      </p:sp>
      <p:sp>
        <p:nvSpPr>
          <p:cNvPr id="144" name="TextBox 143"/>
          <p:cNvSpPr txBox="1"/>
          <p:nvPr/>
        </p:nvSpPr>
        <p:spPr>
          <a:xfrm>
            <a:off x="2580322" y="7890513"/>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3.551</a:t>
            </a:r>
          </a:p>
        </p:txBody>
      </p:sp>
      <p:sp>
        <p:nvSpPr>
          <p:cNvPr id="145" name="TextBox 144"/>
          <p:cNvSpPr txBox="1"/>
          <p:nvPr/>
        </p:nvSpPr>
        <p:spPr>
          <a:xfrm>
            <a:off x="3715621" y="7890513"/>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0,8%</a:t>
            </a:r>
          </a:p>
        </p:txBody>
      </p:sp>
      <p:sp>
        <p:nvSpPr>
          <p:cNvPr id="146" name="TextBox 145"/>
          <p:cNvSpPr txBox="1"/>
          <p:nvPr/>
        </p:nvSpPr>
        <p:spPr>
          <a:xfrm>
            <a:off x="4169694" y="7890513"/>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0,88%</a:t>
            </a:r>
          </a:p>
        </p:txBody>
      </p:sp>
      <p:sp>
        <p:nvSpPr>
          <p:cNvPr id="147" name="TextBox 146"/>
          <p:cNvSpPr txBox="1"/>
          <p:nvPr/>
        </p:nvSpPr>
        <p:spPr>
          <a:xfrm>
            <a:off x="4865923" y="7890513"/>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48" name="TextBox 147"/>
          <p:cNvSpPr txBox="1"/>
          <p:nvPr/>
        </p:nvSpPr>
        <p:spPr>
          <a:xfrm>
            <a:off x="6039022" y="7890513"/>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49" name="TextBox 148"/>
          <p:cNvSpPr txBox="1"/>
          <p:nvPr/>
        </p:nvSpPr>
        <p:spPr>
          <a:xfrm>
            <a:off x="6553693" y="7890513"/>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0" name="TextBox 149"/>
          <p:cNvSpPr txBox="1"/>
          <p:nvPr/>
        </p:nvSpPr>
        <p:spPr>
          <a:xfrm>
            <a:off x="604800" y="818098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Química e petroquímica</a:t>
            </a:r>
          </a:p>
        </p:txBody>
      </p:sp>
      <p:sp>
        <p:nvSpPr>
          <p:cNvPr id="151" name="TextBox 150"/>
          <p:cNvSpPr txBox="1"/>
          <p:nvPr/>
        </p:nvSpPr>
        <p:spPr>
          <a:xfrm>
            <a:off x="2580322" y="818795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2.512</a:t>
            </a:r>
          </a:p>
        </p:txBody>
      </p:sp>
      <p:sp>
        <p:nvSpPr>
          <p:cNvPr id="152" name="TextBox 151"/>
          <p:cNvSpPr txBox="1"/>
          <p:nvPr/>
        </p:nvSpPr>
        <p:spPr>
          <a:xfrm>
            <a:off x="3715621" y="818795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0,6%</a:t>
            </a:r>
          </a:p>
        </p:txBody>
      </p:sp>
      <p:sp>
        <p:nvSpPr>
          <p:cNvPr id="153" name="TextBox 152"/>
          <p:cNvSpPr txBox="1"/>
          <p:nvPr/>
        </p:nvSpPr>
        <p:spPr>
          <a:xfrm>
            <a:off x="4169694" y="818795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4" name="TextBox 153"/>
          <p:cNvSpPr txBox="1"/>
          <p:nvPr/>
        </p:nvSpPr>
        <p:spPr>
          <a:xfrm>
            <a:off x="4865923" y="818795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5" name="TextBox 154"/>
          <p:cNvSpPr txBox="1"/>
          <p:nvPr/>
        </p:nvSpPr>
        <p:spPr>
          <a:xfrm>
            <a:off x="6039022" y="818795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156" name="TextBox 155"/>
          <p:cNvSpPr txBox="1"/>
          <p:nvPr/>
        </p:nvSpPr>
        <p:spPr>
          <a:xfrm>
            <a:off x="6553693" y="818795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7" name="TextBox 156"/>
          <p:cNvSpPr txBox="1"/>
          <p:nvPr/>
        </p:nvSpPr>
        <p:spPr>
          <a:xfrm>
            <a:off x="604800" y="847582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Alimentos e bebidas</a:t>
            </a:r>
          </a:p>
        </p:txBody>
      </p:sp>
      <p:sp>
        <p:nvSpPr>
          <p:cNvPr id="158" name="TextBox 157"/>
          <p:cNvSpPr txBox="1"/>
          <p:nvPr/>
        </p:nvSpPr>
        <p:spPr>
          <a:xfrm>
            <a:off x="2580322" y="848279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1.739</a:t>
            </a:r>
          </a:p>
        </p:txBody>
      </p:sp>
      <p:sp>
        <p:nvSpPr>
          <p:cNvPr id="159" name="TextBox 158"/>
          <p:cNvSpPr txBox="1"/>
          <p:nvPr/>
        </p:nvSpPr>
        <p:spPr>
          <a:xfrm>
            <a:off x="3715621" y="848279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0,4%</a:t>
            </a:r>
          </a:p>
        </p:txBody>
      </p:sp>
      <p:sp>
        <p:nvSpPr>
          <p:cNvPr id="160" name="TextBox 159"/>
          <p:cNvSpPr txBox="1"/>
          <p:nvPr/>
        </p:nvSpPr>
        <p:spPr>
          <a:xfrm>
            <a:off x="4169694" y="848279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1,51%</a:t>
            </a:r>
          </a:p>
        </p:txBody>
      </p:sp>
      <p:sp>
        <p:nvSpPr>
          <p:cNvPr id="161" name="TextBox 160"/>
          <p:cNvSpPr txBox="1"/>
          <p:nvPr/>
        </p:nvSpPr>
        <p:spPr>
          <a:xfrm>
            <a:off x="4865923" y="848279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1,46%</a:t>
            </a:r>
          </a:p>
        </p:txBody>
      </p:sp>
      <p:sp>
        <p:nvSpPr>
          <p:cNvPr id="162" name="TextBox 161"/>
          <p:cNvSpPr txBox="1"/>
          <p:nvPr/>
        </p:nvSpPr>
        <p:spPr>
          <a:xfrm>
            <a:off x="6039022" y="848279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0,05%</a:t>
            </a:r>
          </a:p>
        </p:txBody>
      </p:sp>
      <p:sp>
        <p:nvSpPr>
          <p:cNvPr id="163" name="TextBox 162"/>
          <p:cNvSpPr txBox="1"/>
          <p:nvPr/>
        </p:nvSpPr>
        <p:spPr>
          <a:xfrm>
            <a:off x="6553693" y="848279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64" name="TextBox 163"/>
          <p:cNvSpPr txBox="1"/>
          <p:nvPr/>
        </p:nvSpPr>
        <p:spPr>
          <a:xfrm>
            <a:off x="604800" y="877066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Têxtil e calçados</a:t>
            </a:r>
          </a:p>
        </p:txBody>
      </p:sp>
      <p:sp>
        <p:nvSpPr>
          <p:cNvPr id="165" name="TextBox 164"/>
          <p:cNvSpPr txBox="1"/>
          <p:nvPr/>
        </p:nvSpPr>
        <p:spPr>
          <a:xfrm>
            <a:off x="2580322" y="877763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261</a:t>
            </a:r>
          </a:p>
        </p:txBody>
      </p:sp>
      <p:sp>
        <p:nvSpPr>
          <p:cNvPr id="166" name="TextBox 165"/>
          <p:cNvSpPr txBox="1"/>
          <p:nvPr/>
        </p:nvSpPr>
        <p:spPr>
          <a:xfrm>
            <a:off x="3715621" y="877763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0,1%</a:t>
            </a:r>
          </a:p>
        </p:txBody>
      </p:sp>
      <p:sp>
        <p:nvSpPr>
          <p:cNvPr id="167" name="TextBox 166"/>
          <p:cNvSpPr txBox="1"/>
          <p:nvPr/>
        </p:nvSpPr>
        <p:spPr>
          <a:xfrm>
            <a:off x="4169694" y="877763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0,98%</a:t>
            </a:r>
          </a:p>
        </p:txBody>
      </p:sp>
      <p:sp>
        <p:nvSpPr>
          <p:cNvPr id="168" name="TextBox 167"/>
          <p:cNvSpPr txBox="1"/>
          <p:nvPr/>
        </p:nvSpPr>
        <p:spPr>
          <a:xfrm>
            <a:off x="4865923" y="877763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69" name="TextBox 168"/>
          <p:cNvSpPr txBox="1"/>
          <p:nvPr/>
        </p:nvSpPr>
        <p:spPr>
          <a:xfrm>
            <a:off x="6039022" y="877763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70" name="TextBox 169"/>
          <p:cNvSpPr txBox="1"/>
          <p:nvPr/>
        </p:nvSpPr>
        <p:spPr>
          <a:xfrm>
            <a:off x="6553693" y="877763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171" name="TextBox 170"/>
          <p:cNvSpPr txBox="1"/>
          <p:nvPr/>
        </p:nvSpPr>
        <p:spPr>
          <a:xfrm>
            <a:off x="604800" y="906550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Mineração</a:t>
            </a:r>
          </a:p>
        </p:txBody>
      </p:sp>
      <p:sp>
        <p:nvSpPr>
          <p:cNvPr id="172" name="TextBox 171"/>
          <p:cNvSpPr txBox="1"/>
          <p:nvPr/>
        </p:nvSpPr>
        <p:spPr>
          <a:xfrm>
            <a:off x="2580322" y="907247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1.082</a:t>
            </a:r>
          </a:p>
        </p:txBody>
      </p:sp>
      <p:sp>
        <p:nvSpPr>
          <p:cNvPr id="173" name="TextBox 172"/>
          <p:cNvSpPr txBox="1"/>
          <p:nvPr/>
        </p:nvSpPr>
        <p:spPr>
          <a:xfrm>
            <a:off x="3715621" y="907247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0,2%</a:t>
            </a:r>
          </a:p>
        </p:txBody>
      </p:sp>
      <p:sp>
        <p:nvSpPr>
          <p:cNvPr id="174" name="TextBox 173"/>
          <p:cNvSpPr txBox="1"/>
          <p:nvPr/>
        </p:nvSpPr>
        <p:spPr>
          <a:xfrm>
            <a:off x="4169694" y="907247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0,71%</a:t>
            </a:r>
          </a:p>
        </p:txBody>
      </p:sp>
      <p:sp>
        <p:nvSpPr>
          <p:cNvPr id="175" name="TextBox 174"/>
          <p:cNvSpPr txBox="1"/>
          <p:nvPr/>
        </p:nvSpPr>
        <p:spPr>
          <a:xfrm>
            <a:off x="4865923" y="907247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176" name="TextBox 175"/>
          <p:cNvSpPr txBox="1"/>
          <p:nvPr/>
        </p:nvSpPr>
        <p:spPr>
          <a:xfrm>
            <a:off x="6039022" y="907247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77" name="TextBox 176"/>
          <p:cNvSpPr txBox="1"/>
          <p:nvPr/>
        </p:nvSpPr>
        <p:spPr>
          <a:xfrm>
            <a:off x="6553693" y="907247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78" name="TextBox 177"/>
          <p:cNvSpPr txBox="1"/>
          <p:nvPr/>
        </p:nvSpPr>
        <p:spPr>
          <a:xfrm>
            <a:off x="604800" y="936034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Construção civil</a:t>
            </a:r>
          </a:p>
        </p:txBody>
      </p:sp>
      <p:sp>
        <p:nvSpPr>
          <p:cNvPr id="179" name="TextBox 178"/>
          <p:cNvSpPr txBox="1"/>
          <p:nvPr/>
        </p:nvSpPr>
        <p:spPr>
          <a:xfrm>
            <a:off x="2580322" y="936731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51</a:t>
            </a:r>
          </a:p>
        </p:txBody>
      </p:sp>
      <p:sp>
        <p:nvSpPr>
          <p:cNvPr id="180" name="TextBox 179"/>
          <p:cNvSpPr txBox="1"/>
          <p:nvPr/>
        </p:nvSpPr>
        <p:spPr>
          <a:xfrm>
            <a:off x="3715621" y="936731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0,0%</a:t>
            </a:r>
          </a:p>
        </p:txBody>
      </p:sp>
      <p:sp>
        <p:nvSpPr>
          <p:cNvPr id="181" name="TextBox 180"/>
          <p:cNvSpPr txBox="1"/>
          <p:nvPr/>
        </p:nvSpPr>
        <p:spPr>
          <a:xfrm>
            <a:off x="4169694" y="936731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82" name="TextBox 181"/>
          <p:cNvSpPr txBox="1"/>
          <p:nvPr/>
        </p:nvSpPr>
        <p:spPr>
          <a:xfrm>
            <a:off x="4865923" y="936731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83" name="TextBox 182"/>
          <p:cNvSpPr txBox="1"/>
          <p:nvPr/>
        </p:nvSpPr>
        <p:spPr>
          <a:xfrm>
            <a:off x="6039022" y="936731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84" name="TextBox 183"/>
          <p:cNvSpPr txBox="1"/>
          <p:nvPr/>
        </p:nvSpPr>
        <p:spPr>
          <a:xfrm>
            <a:off x="6553693" y="936731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11/12/2024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R$ 126.168.780,56</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do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Não há</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R$ 158.893.390,74</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600901"/>
          </a:xfrm>
          <a:prstGeom prst="rect">
            <a:avLst/>
          </a:prstGeom>
          <a:noFill/>
        </p:spPr>
        <p:txBody>
          <a:bodyPr wrap="square" lIns="0" rIns="0" tIns="0" bIns="0" anchor="t"/>
          <a:lstStyle/>
          <a:p>
            <a:pPr algn="just">
              <a:lnSpc>
                <a:spcPts val="791"/>
              </a:lnSpc>
            </a:pPr>
            <a:r>
              <a:rPr sz="648"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103328"/>
            <a:ext cx="6758640" cy="902475"/>
          </a:xfrm>
          <a:prstGeom prst="rect">
            <a:avLst/>
          </a:prstGeom>
          <a:noFill/>
        </p:spPr>
        <p:txBody>
          <a:bodyPr wrap="square" lIns="0" rIns="0" tIns="0" bIns="0" anchor="t"/>
          <a:lstStyle/>
          <a:p>
            <a:pPr algn="just">
              <a:lnSpc>
                <a:spcPts val="791"/>
              </a:lnSpc>
            </a:pPr>
            <a:r>
              <a:rPr sz="648"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36870"/>
            <a:ext cx="6758640" cy="500377"/>
          </a:xfrm>
          <a:prstGeom prst="rect">
            <a:avLst/>
          </a:prstGeom>
          <a:noFill/>
        </p:spPr>
        <p:txBody>
          <a:bodyPr wrap="square" lIns="0" rIns="0" tIns="0" bIns="0" anchor="t"/>
          <a:lstStyle/>
          <a:p>
            <a:pPr algn="just">
              <a:lnSpc>
                <a:spcPts val="791"/>
              </a:lnSpc>
            </a:pPr>
            <a:r>
              <a:rPr sz="648"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68315"/>
            <a:ext cx="6758640" cy="399853"/>
          </a:xfrm>
          <a:prstGeom prst="rect">
            <a:avLst/>
          </a:prstGeom>
          <a:noFill/>
        </p:spPr>
        <p:txBody>
          <a:bodyPr wrap="square" lIns="0" rIns="0" tIns="0" bIns="0" anchor="t"/>
          <a:lstStyle/>
          <a:p>
            <a:pPr algn="just">
              <a:lnSpc>
                <a:spcPts val="791"/>
              </a:lnSpc>
            </a:pPr>
            <a:r>
              <a:rPr sz="648"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