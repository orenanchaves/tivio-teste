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36080"/>
          </a:xfrm>
          <a:prstGeom prst="rect">
            <a:avLst/>
          </a:prstGeom>
          <a:noFill/>
        </p:spPr>
        <p:txBody>
          <a:bodyPr wrap="none" lIns="0" rIns="0" tIns="0" bIns="0" anchor="t"/>
          <a:lstStyle/>
          <a:p>
            <a:pPr algn="l">
              <a:lnSpc>
                <a:spcPts val="1078"/>
              </a:lnSpc>
            </a:pPr>
            <a:r>
              <a:rPr sz="898" b="0" i="0">
                <a:solidFill>
                  <a:srgbClr val="FFFFFF"/>
                </a:solidFill>
                <a:latin typeface="Versos"/>
              </a:rPr>
              <a:t>TIVIO INSTITUCIONAL 30 FIF CLASSE INVESTIMENTO RF CP LP RL </a:t>
            </a:r>
            <a:r>
              <a:rPr sz="737" b="0" i="0">
                <a:solidFill>
                  <a:srgbClr val="FFFFFF"/>
                </a:solidFill>
                <a:latin typeface="Versos"/>
              </a:rPr>
              <a:t>/ CNPJ 58.290.160/0001-00</a:t>
            </a:r>
          </a:p>
        </p:txBody>
      </p:sp>
      <p:sp>
        <p:nvSpPr>
          <p:cNvPr id="4" name="TextBox 3"/>
          <p:cNvSpPr txBox="1"/>
          <p:nvPr/>
        </p:nvSpPr>
        <p:spPr>
          <a:xfrm>
            <a:off x="400680" y="111132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9,45%</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25,93%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25,71%</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0,21%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201596" cy="143640"/>
          </a:xfrm>
          <a:prstGeom prst="rect">
            <a:avLst/>
          </a:prstGeom>
          <a:noFill/>
        </p:spPr>
        <p:txBody>
          <a:bodyPr wrap="none" lIns="0" rIns="0" tIns="0" bIns="0" anchor="t"/>
          <a:lstStyle/>
          <a:p>
            <a:pPr algn="l">
              <a:lnSpc>
                <a:spcPts val="1107"/>
              </a:lnSpc>
            </a:pPr>
            <a:r>
              <a:rPr sz="922" b="0" i="0">
                <a:solidFill>
                  <a:srgbClr val="5A82A0"/>
                </a:solidFill>
                <a:latin typeface="Versos"/>
              </a:rPr>
              <a:t>6%</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52606"/>
            <a:ext cx="372481" cy="143640"/>
          </a:xfrm>
          <a:prstGeom prst="rect">
            <a:avLst/>
          </a:prstGeom>
          <a:noFill/>
        </p:spPr>
        <p:txBody>
          <a:bodyPr wrap="none" lIns="0" rIns="0" tIns="0" bIns="0" anchor="t"/>
          <a:lstStyle/>
          <a:p>
            <a:pPr algn="l">
              <a:lnSpc>
                <a:spcPts val="1107"/>
              </a:lnSpc>
            </a:pPr>
            <a:r>
              <a:rPr sz="922" b="0" i="0">
                <a:solidFill>
                  <a:srgbClr val="5A82A0"/>
                </a:solidFill>
                <a:latin typeface="Versos"/>
              </a:rPr>
              <a:t>3,78%</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84944"/>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917281"/>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349619"/>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1,94%</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75920" cy="143640"/>
          </a:xfrm>
          <a:prstGeom prst="rect">
            <a:avLst/>
          </a:prstGeom>
          <a:noFill/>
        </p:spPr>
        <p:txBody>
          <a:bodyPr wrap="none" lIns="0" rIns="0" tIns="0" bIns="0" anchor="t"/>
          <a:lstStyle/>
          <a:p>
            <a:pPr algn="l">
              <a:lnSpc>
                <a:spcPts val="1142"/>
              </a:lnSpc>
            </a:pPr>
            <a:r>
              <a:rPr sz="952" b="0" i="0">
                <a:solidFill>
                  <a:srgbClr val="111111"/>
                </a:solidFill>
                <a:latin typeface="Versos"/>
              </a:rPr>
              <a:t>35,99%</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515158"/>
            <a:ext cx="397174" cy="143640"/>
          </a:xfrm>
          <a:prstGeom prst="rect">
            <a:avLst/>
          </a:prstGeom>
          <a:noFill/>
        </p:spPr>
        <p:txBody>
          <a:bodyPr wrap="none" lIns="0" rIns="0" tIns="0" bIns="0" anchor="t"/>
          <a:lstStyle/>
          <a:p>
            <a:pPr algn="l">
              <a:lnSpc>
                <a:spcPts val="1142"/>
              </a:lnSpc>
            </a:pPr>
            <a:r>
              <a:rPr sz="952" b="0" i="0">
                <a:solidFill>
                  <a:srgbClr val="111111"/>
                </a:solidFill>
                <a:latin typeface="Versos"/>
              </a:rPr>
              <a:t>8,56%</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779286"/>
            <a:ext cx="395699" cy="143640"/>
          </a:xfrm>
          <a:prstGeom prst="rect">
            <a:avLst/>
          </a:prstGeom>
          <a:noFill/>
        </p:spPr>
        <p:txBody>
          <a:bodyPr wrap="none" lIns="0" rIns="0" tIns="0" bIns="0" anchor="t"/>
          <a:lstStyle/>
          <a:p>
            <a:pPr algn="l">
              <a:lnSpc>
                <a:spcPts val="1142"/>
              </a:lnSpc>
            </a:pPr>
            <a:r>
              <a:rPr sz="952" b="0" i="0">
                <a:solidFill>
                  <a:srgbClr val="111111"/>
                </a:solidFill>
                <a:latin typeface="Versos"/>
              </a:rPr>
              <a:t>6,83%</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9043413"/>
            <a:ext cx="389680" cy="143640"/>
          </a:xfrm>
          <a:prstGeom prst="rect">
            <a:avLst/>
          </a:prstGeom>
          <a:noFill/>
        </p:spPr>
        <p:txBody>
          <a:bodyPr wrap="none" lIns="0" rIns="0" tIns="0" bIns="0" anchor="t"/>
          <a:lstStyle/>
          <a:p>
            <a:pPr algn="l">
              <a:lnSpc>
                <a:spcPts val="1142"/>
              </a:lnSpc>
            </a:pPr>
            <a:r>
              <a:rPr sz="952" b="0" i="0">
                <a:solidFill>
                  <a:srgbClr val="111111"/>
                </a:solidFill>
                <a:latin typeface="Versos"/>
              </a:rPr>
              <a:t>6,23%</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307541"/>
            <a:ext cx="384643" cy="143640"/>
          </a:xfrm>
          <a:prstGeom prst="rect">
            <a:avLst/>
          </a:prstGeom>
          <a:noFill/>
        </p:spPr>
        <p:txBody>
          <a:bodyPr wrap="none" lIns="0" rIns="0" tIns="0" bIns="0" anchor="t"/>
          <a:lstStyle/>
          <a:p>
            <a:pPr algn="l">
              <a:lnSpc>
                <a:spcPts val="1142"/>
              </a:lnSpc>
            </a:pPr>
            <a:r>
              <a:rPr sz="952" b="0" i="0">
                <a:solidFill>
                  <a:srgbClr val="111111"/>
                </a:solidFill>
                <a:latin typeface="Versos"/>
              </a:rPr>
              <a:t>4,67%</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571668"/>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4,52%</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835796"/>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8209"/>
            <a:ext cx="483414" cy="143640"/>
          </a:xfrm>
          <a:prstGeom prst="rect">
            <a:avLst/>
          </a:prstGeom>
          <a:noFill/>
        </p:spPr>
        <p:txBody>
          <a:bodyPr wrap="none" lIns="0" rIns="0" tIns="0" bIns="0" anchor="t"/>
          <a:lstStyle/>
          <a:p>
            <a:pPr algn="l">
              <a:lnSpc>
                <a:spcPts val="1142"/>
              </a:lnSpc>
            </a:pPr>
            <a:r>
              <a:rPr sz="952" b="0" i="0">
                <a:solidFill>
                  <a:srgbClr val="111111"/>
                </a:solidFill>
                <a:latin typeface="Versos"/>
              </a:rPr>
              <a:t>30,80%</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296535" y="5746426"/>
            <a:ext cx="442997" cy="143640"/>
          </a:xfrm>
          <a:prstGeom prst="rect">
            <a:avLst/>
          </a:prstGeom>
          <a:noFill/>
        </p:spPr>
        <p:txBody>
          <a:bodyPr wrap="none" lIns="0" rIns="0" tIns="0" bIns="0" anchor="t"/>
          <a:lstStyle/>
          <a:p>
            <a:pPr algn="l">
              <a:lnSpc>
                <a:spcPts val="1142"/>
              </a:lnSpc>
            </a:pPr>
            <a:r>
              <a:rPr sz="952" b="0" i="0">
                <a:solidFill>
                  <a:srgbClr val="111111"/>
                </a:solidFill>
                <a:latin typeface="Versos"/>
              </a:rPr>
              <a:t>19,69%</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4526"/>
            <a:ext cx="434397" cy="143640"/>
          </a:xfrm>
          <a:prstGeom prst="rect">
            <a:avLst/>
          </a:prstGeom>
          <a:noFill/>
        </p:spPr>
        <p:txBody>
          <a:bodyPr wrap="none" lIns="0" rIns="0" tIns="0" bIns="0" anchor="t"/>
          <a:lstStyle/>
          <a:p>
            <a:pPr algn="l">
              <a:lnSpc>
                <a:spcPts val="1142"/>
              </a:lnSpc>
            </a:pPr>
            <a:r>
              <a:rPr sz="952" b="0" i="0">
                <a:solidFill>
                  <a:srgbClr val="111111"/>
                </a:solidFill>
                <a:latin typeface="Versos"/>
              </a:rPr>
              <a:t>14,37%</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202743"/>
            <a:ext cx="374815" cy="143640"/>
          </a:xfrm>
          <a:prstGeom prst="rect">
            <a:avLst/>
          </a:prstGeom>
          <a:noFill/>
        </p:spPr>
        <p:txBody>
          <a:bodyPr wrap="none" lIns="0" rIns="0" tIns="0" bIns="0" anchor="t"/>
          <a:lstStyle/>
          <a:p>
            <a:pPr algn="l">
              <a:lnSpc>
                <a:spcPts val="1142"/>
              </a:lnSpc>
            </a:pPr>
            <a:r>
              <a:rPr sz="952" b="0" i="0">
                <a:solidFill>
                  <a:srgbClr val="111111"/>
                </a:solidFill>
                <a:latin typeface="Versos"/>
              </a:rPr>
              <a:t>7,82%</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30843"/>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79" name="TextBox 78"/>
          <p:cNvSpPr txBox="1"/>
          <p:nvPr/>
        </p:nvSpPr>
        <p:spPr>
          <a:xfrm>
            <a:off x="3802680" y="66667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9060"/>
            <a:ext cx="357493" cy="143640"/>
          </a:xfrm>
          <a:prstGeom prst="rect">
            <a:avLst/>
          </a:prstGeom>
          <a:noFill/>
        </p:spPr>
        <p:txBody>
          <a:bodyPr wrap="none" lIns="0" rIns="0" tIns="0" bIns="0" anchor="t"/>
          <a:lstStyle/>
          <a:p>
            <a:pPr algn="l">
              <a:lnSpc>
                <a:spcPts val="1142"/>
              </a:lnSpc>
            </a:pPr>
            <a:r>
              <a:rPr sz="952" b="0" i="0">
                <a:solidFill>
                  <a:srgbClr val="111111"/>
                </a:solidFill>
                <a:latin typeface="Versos"/>
              </a:rPr>
              <a:t>3,81%</a:t>
            </a:r>
          </a:p>
        </p:txBody>
      </p:sp>
      <p:sp>
        <p:nvSpPr>
          <p:cNvPr id="81" name="TextBox 80"/>
          <p:cNvSpPr txBox="1"/>
          <p:nvPr/>
        </p:nvSpPr>
        <p:spPr>
          <a:xfrm>
            <a:off x="3802680" y="6838374"/>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87160"/>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15377"/>
            <a:ext cx="388451" cy="143640"/>
          </a:xfrm>
          <a:prstGeom prst="rect">
            <a:avLst/>
          </a:prstGeom>
          <a:noFill/>
        </p:spPr>
        <p:txBody>
          <a:bodyPr wrap="none" lIns="0" rIns="0" tIns="0" bIns="0" anchor="t"/>
          <a:lstStyle/>
          <a:p>
            <a:pPr algn="l">
              <a:lnSpc>
                <a:spcPts val="1142"/>
              </a:lnSpc>
            </a:pPr>
            <a:r>
              <a:rPr sz="952" b="0" i="0">
                <a:solidFill>
                  <a:srgbClr val="111111"/>
                </a:solidFill>
                <a:latin typeface="Versos"/>
              </a:rPr>
              <a:t>2,94%</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43476"/>
            <a:ext cx="396559" cy="143640"/>
          </a:xfrm>
          <a:prstGeom prst="rect">
            <a:avLst/>
          </a:prstGeom>
          <a:noFill/>
        </p:spPr>
        <p:txBody>
          <a:bodyPr wrap="none" lIns="0" rIns="0" tIns="0" bIns="0" anchor="t"/>
          <a:lstStyle/>
          <a:p>
            <a:pPr algn="l">
              <a:lnSpc>
                <a:spcPts val="1142"/>
              </a:lnSpc>
            </a:pPr>
            <a:r>
              <a:rPr sz="952" b="0" i="0">
                <a:solidFill>
                  <a:srgbClr val="111111"/>
                </a:solidFill>
                <a:latin typeface="Versos"/>
              </a:rPr>
              <a:t>2,49%</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71694"/>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2,19%</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99793"/>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28011"/>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56228"/>
            <a:ext cx="317075" cy="143640"/>
          </a:xfrm>
          <a:prstGeom prst="rect">
            <a:avLst/>
          </a:prstGeom>
          <a:noFill/>
        </p:spPr>
        <p:txBody>
          <a:bodyPr wrap="none" lIns="0" rIns="0" tIns="0" bIns="0" anchor="t"/>
          <a:lstStyle/>
          <a:p>
            <a:pPr algn="l">
              <a:lnSpc>
                <a:spcPts val="1142"/>
              </a:lnSpc>
            </a:pPr>
            <a:r>
              <a:rPr sz="952" b="0" i="0">
                <a:solidFill>
                  <a:srgbClr val="111111"/>
                </a:solidFill>
                <a:latin typeface="Versos"/>
              </a:rPr>
              <a:t>1,15%</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84446"/>
            <a:ext cx="398648" cy="143640"/>
          </a:xfrm>
          <a:prstGeom prst="rect">
            <a:avLst/>
          </a:prstGeom>
          <a:noFill/>
        </p:spPr>
        <p:txBody>
          <a:bodyPr wrap="none" lIns="0" rIns="0" tIns="0" bIns="0" anchor="t"/>
          <a:lstStyle/>
          <a:p>
            <a:pPr algn="l">
              <a:lnSpc>
                <a:spcPts val="1142"/>
              </a:lnSpc>
            </a:pPr>
            <a:r>
              <a:rPr sz="952" b="0" i="0">
                <a:solidFill>
                  <a:srgbClr val="111111"/>
                </a:solidFill>
                <a:latin typeface="Versos"/>
              </a:rPr>
              <a:t>0,96%</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712663"/>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0,67%</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40881"/>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69098"/>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0,56%</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97316"/>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25533"/>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0,19%</a:t>
            </a:r>
          </a:p>
        </p:txBody>
      </p:sp>
      <p:sp>
        <p:nvSpPr>
          <p:cNvPr id="107" name="TextBox 106"/>
          <p:cNvSpPr txBox="1"/>
          <p:nvPr/>
        </p:nvSpPr>
        <p:spPr>
          <a:xfrm>
            <a:off x="3802680" y="980496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53751"/>
            <a:ext cx="358353" cy="143640"/>
          </a:xfrm>
          <a:prstGeom prst="rect">
            <a:avLst/>
          </a:prstGeom>
          <a:noFill/>
        </p:spPr>
        <p:txBody>
          <a:bodyPr wrap="none" lIns="0" rIns="0" tIns="0" bIns="0" anchor="t"/>
          <a:lstStyle/>
          <a:p>
            <a:pPr algn="l">
              <a:lnSpc>
                <a:spcPts val="1142"/>
              </a:lnSpc>
            </a:pPr>
            <a:r>
              <a:rPr sz="952" b="0" i="0">
                <a:solidFill>
                  <a:srgbClr val="111111"/>
                </a:solidFill>
                <a:latin typeface="Versos"/>
              </a:rPr>
              <a:t>0,18%</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30 apresentou rentabilidade de 1,12% no mês (102% do CDI), acumulando 9,45% (101%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11/12/2024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R$ 126.168.780,56</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R$ 158.893.390,74</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