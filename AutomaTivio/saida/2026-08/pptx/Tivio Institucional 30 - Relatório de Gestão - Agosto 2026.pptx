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INSTITUCIONAL 30 FIF CLASSE INVESTIMENTO RF CP LP RL </a:t>
            </a:r>
            <a:r>
              <a:rPr sz="833" b="0" i="0">
                <a:solidFill>
                  <a:srgbClr val="FFFFFF"/>
                </a:solidFill>
                <a:latin typeface="Versos"/>
              </a:rPr>
              <a:t>/ CNPJ 58.290.160/0001-00</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grade/mid grade (Bancário, Corporativo e FIDC).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1,12%</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9,45%</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14,68%</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25,93%</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25,71%</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0,03%</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0,12%</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0,11%</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0,21%</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101%</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101%</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101%</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2215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C6</a:t>
            </a:r>
          </a:p>
        </p:txBody>
      </p:sp>
      <p:sp>
        <p:nvSpPr>
          <p:cNvPr id="44" name="TextBox 43"/>
          <p:cNvSpPr txBox="1"/>
          <p:nvPr/>
        </p:nvSpPr>
        <p:spPr>
          <a:xfrm>
            <a:off x="2831928" y="5620269"/>
            <a:ext cx="201596" cy="143640"/>
          </a:xfrm>
          <a:prstGeom prst="rect">
            <a:avLst/>
          </a:prstGeom>
          <a:noFill/>
        </p:spPr>
        <p:txBody>
          <a:bodyPr wrap="none" lIns="0" rIns="0" tIns="0" bIns="0" anchor="t"/>
          <a:lstStyle/>
          <a:p>
            <a:pPr algn="l">
              <a:lnSpc>
                <a:spcPts val="1107"/>
              </a:lnSpc>
            </a:pPr>
            <a:r>
              <a:rPr sz="922" b="0" i="0">
                <a:solidFill>
                  <a:srgbClr val="5A82A0"/>
                </a:solidFill>
                <a:latin typeface="Versos"/>
              </a:rPr>
              <a:t>6%</a:t>
            </a:r>
          </a:p>
        </p:txBody>
      </p:sp>
      <p:sp>
        <p:nvSpPr>
          <p:cNvPr id="45" name="TextBox 44"/>
          <p:cNvSpPr txBox="1"/>
          <p:nvPr/>
        </p:nvSpPr>
        <p:spPr>
          <a:xfrm>
            <a:off x="400680" y="6054496"/>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46" name="TextBox 45"/>
          <p:cNvSpPr txBox="1"/>
          <p:nvPr/>
        </p:nvSpPr>
        <p:spPr>
          <a:xfrm>
            <a:off x="2223703" y="6052606"/>
            <a:ext cx="372481" cy="143640"/>
          </a:xfrm>
          <a:prstGeom prst="rect">
            <a:avLst/>
          </a:prstGeom>
          <a:noFill/>
        </p:spPr>
        <p:txBody>
          <a:bodyPr wrap="none" lIns="0" rIns="0" tIns="0" bIns="0" anchor="t"/>
          <a:lstStyle/>
          <a:p>
            <a:pPr algn="l">
              <a:lnSpc>
                <a:spcPts val="1107"/>
              </a:lnSpc>
            </a:pPr>
            <a:r>
              <a:rPr sz="922" b="0" i="0">
                <a:solidFill>
                  <a:srgbClr val="5A82A0"/>
                </a:solidFill>
                <a:latin typeface="Versos"/>
              </a:rPr>
              <a:t>3,78%</a:t>
            </a:r>
          </a:p>
        </p:txBody>
      </p:sp>
      <p:sp>
        <p:nvSpPr>
          <p:cNvPr id="47" name="TextBox 46"/>
          <p:cNvSpPr txBox="1"/>
          <p:nvPr/>
        </p:nvSpPr>
        <p:spPr>
          <a:xfrm>
            <a:off x="400680" y="648683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XP</a:t>
            </a:r>
          </a:p>
        </p:txBody>
      </p:sp>
      <p:sp>
        <p:nvSpPr>
          <p:cNvPr id="48" name="TextBox 47"/>
          <p:cNvSpPr txBox="1"/>
          <p:nvPr/>
        </p:nvSpPr>
        <p:spPr>
          <a:xfrm>
            <a:off x="2178579" y="6484944"/>
            <a:ext cx="376289" cy="143640"/>
          </a:xfrm>
          <a:prstGeom prst="rect">
            <a:avLst/>
          </a:prstGeom>
          <a:noFill/>
        </p:spPr>
        <p:txBody>
          <a:bodyPr wrap="none" lIns="0" rIns="0" tIns="0" bIns="0" anchor="t"/>
          <a:lstStyle/>
          <a:p>
            <a:pPr algn="l">
              <a:lnSpc>
                <a:spcPts val="1107"/>
              </a:lnSpc>
            </a:pPr>
            <a:r>
              <a:rPr sz="922" b="0" i="0">
                <a:solidFill>
                  <a:srgbClr val="5A82A0"/>
                </a:solidFill>
                <a:latin typeface="Versos"/>
              </a:rPr>
              <a:t>3,62%</a:t>
            </a:r>
          </a:p>
        </p:txBody>
      </p:sp>
      <p:sp>
        <p:nvSpPr>
          <p:cNvPr id="49" name="TextBox 48"/>
          <p:cNvSpPr txBox="1"/>
          <p:nvPr/>
        </p:nvSpPr>
        <p:spPr>
          <a:xfrm>
            <a:off x="400680" y="6919171"/>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50" name="TextBox 49"/>
          <p:cNvSpPr txBox="1"/>
          <p:nvPr/>
        </p:nvSpPr>
        <p:spPr>
          <a:xfrm>
            <a:off x="2177634" y="6917281"/>
            <a:ext cx="376289" cy="143640"/>
          </a:xfrm>
          <a:prstGeom prst="rect">
            <a:avLst/>
          </a:prstGeom>
          <a:noFill/>
        </p:spPr>
        <p:txBody>
          <a:bodyPr wrap="none" lIns="0" rIns="0" tIns="0" bIns="0" anchor="t"/>
          <a:lstStyle/>
          <a:p>
            <a:pPr algn="l">
              <a:lnSpc>
                <a:spcPts val="1107"/>
              </a:lnSpc>
            </a:pPr>
            <a:r>
              <a:rPr sz="922" b="0" i="0">
                <a:solidFill>
                  <a:srgbClr val="5A82A0"/>
                </a:solidFill>
                <a:latin typeface="Versos"/>
              </a:rPr>
              <a:t>3,62%</a:t>
            </a:r>
          </a:p>
        </p:txBody>
      </p:sp>
      <p:sp>
        <p:nvSpPr>
          <p:cNvPr id="51" name="TextBox 50"/>
          <p:cNvSpPr txBox="1"/>
          <p:nvPr/>
        </p:nvSpPr>
        <p:spPr>
          <a:xfrm>
            <a:off x="400680" y="735150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BRADESCO</a:t>
            </a:r>
          </a:p>
        </p:txBody>
      </p:sp>
      <p:sp>
        <p:nvSpPr>
          <p:cNvPr id="52" name="TextBox 51"/>
          <p:cNvSpPr txBox="1"/>
          <p:nvPr/>
        </p:nvSpPr>
        <p:spPr>
          <a:xfrm>
            <a:off x="1717773" y="7349619"/>
            <a:ext cx="347051" cy="143640"/>
          </a:xfrm>
          <a:prstGeom prst="rect">
            <a:avLst/>
          </a:prstGeom>
          <a:noFill/>
        </p:spPr>
        <p:txBody>
          <a:bodyPr wrap="none" lIns="0" rIns="0" tIns="0" bIns="0" anchor="t"/>
          <a:lstStyle/>
          <a:p>
            <a:pPr algn="l">
              <a:lnSpc>
                <a:spcPts val="1107"/>
              </a:lnSpc>
            </a:pPr>
            <a:r>
              <a:rPr sz="922" b="0" i="0">
                <a:solidFill>
                  <a:srgbClr val="5A82A0"/>
                </a:solidFill>
                <a:latin typeface="Versos"/>
              </a:rPr>
              <a:t>1,94%</a:t>
            </a:r>
          </a:p>
        </p:txBody>
      </p:sp>
      <p:sp>
        <p:nvSpPr>
          <p:cNvPr id="53" name="TextBox 52"/>
          <p:cNvSpPr txBox="1"/>
          <p:nvPr/>
        </p:nvSpPr>
        <p:spPr>
          <a:xfrm>
            <a:off x="400680" y="7849288"/>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25292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251031"/>
            <a:ext cx="475920" cy="143640"/>
          </a:xfrm>
          <a:prstGeom prst="rect">
            <a:avLst/>
          </a:prstGeom>
          <a:noFill/>
        </p:spPr>
        <p:txBody>
          <a:bodyPr wrap="none" lIns="0" rIns="0" tIns="0" bIns="0" anchor="t"/>
          <a:lstStyle/>
          <a:p>
            <a:pPr algn="l">
              <a:lnSpc>
                <a:spcPts val="1142"/>
              </a:lnSpc>
            </a:pPr>
            <a:r>
              <a:rPr sz="952" b="0" i="0">
                <a:solidFill>
                  <a:srgbClr val="111111"/>
                </a:solidFill>
                <a:latin typeface="Versos"/>
              </a:rPr>
              <a:t>35,99%</a:t>
            </a:r>
          </a:p>
        </p:txBody>
      </p:sp>
      <p:sp>
        <p:nvSpPr>
          <p:cNvPr id="56" name="TextBox 55"/>
          <p:cNvSpPr txBox="1"/>
          <p:nvPr/>
        </p:nvSpPr>
        <p:spPr>
          <a:xfrm>
            <a:off x="400680" y="851704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499242" y="8515158"/>
            <a:ext cx="397174" cy="143640"/>
          </a:xfrm>
          <a:prstGeom prst="rect">
            <a:avLst/>
          </a:prstGeom>
          <a:noFill/>
        </p:spPr>
        <p:txBody>
          <a:bodyPr wrap="none" lIns="0" rIns="0" tIns="0" bIns="0" anchor="t"/>
          <a:lstStyle/>
          <a:p>
            <a:pPr algn="l">
              <a:lnSpc>
                <a:spcPts val="1142"/>
              </a:lnSpc>
            </a:pPr>
            <a:r>
              <a:rPr sz="952" b="0" i="0">
                <a:solidFill>
                  <a:srgbClr val="111111"/>
                </a:solidFill>
                <a:latin typeface="Versos"/>
              </a:rPr>
              <a:t>8,56%</a:t>
            </a:r>
          </a:p>
        </p:txBody>
      </p:sp>
      <p:sp>
        <p:nvSpPr>
          <p:cNvPr id="58" name="TextBox 57"/>
          <p:cNvSpPr txBox="1"/>
          <p:nvPr/>
        </p:nvSpPr>
        <p:spPr>
          <a:xfrm>
            <a:off x="400680" y="878117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9" name="TextBox 58"/>
          <p:cNvSpPr txBox="1"/>
          <p:nvPr/>
        </p:nvSpPr>
        <p:spPr>
          <a:xfrm>
            <a:off x="1406986" y="8779286"/>
            <a:ext cx="395699" cy="143640"/>
          </a:xfrm>
          <a:prstGeom prst="rect">
            <a:avLst/>
          </a:prstGeom>
          <a:noFill/>
        </p:spPr>
        <p:txBody>
          <a:bodyPr wrap="none" lIns="0" rIns="0" tIns="0" bIns="0" anchor="t"/>
          <a:lstStyle/>
          <a:p>
            <a:pPr algn="l">
              <a:lnSpc>
                <a:spcPts val="1142"/>
              </a:lnSpc>
            </a:pPr>
            <a:r>
              <a:rPr sz="952" b="0" i="0">
                <a:solidFill>
                  <a:srgbClr val="111111"/>
                </a:solidFill>
                <a:latin typeface="Versos"/>
              </a:rPr>
              <a:t>6,83%</a:t>
            </a:r>
          </a:p>
        </p:txBody>
      </p:sp>
      <p:sp>
        <p:nvSpPr>
          <p:cNvPr id="60" name="TextBox 59"/>
          <p:cNvSpPr txBox="1"/>
          <p:nvPr/>
        </p:nvSpPr>
        <p:spPr>
          <a:xfrm>
            <a:off x="400680" y="904530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375329" y="9043413"/>
            <a:ext cx="389680" cy="143640"/>
          </a:xfrm>
          <a:prstGeom prst="rect">
            <a:avLst/>
          </a:prstGeom>
          <a:noFill/>
        </p:spPr>
        <p:txBody>
          <a:bodyPr wrap="none" lIns="0" rIns="0" tIns="0" bIns="0" anchor="t"/>
          <a:lstStyle/>
          <a:p>
            <a:pPr algn="l">
              <a:lnSpc>
                <a:spcPts val="1142"/>
              </a:lnSpc>
            </a:pPr>
            <a:r>
              <a:rPr sz="952" b="0" i="0">
                <a:solidFill>
                  <a:srgbClr val="111111"/>
                </a:solidFill>
                <a:latin typeface="Versos"/>
              </a:rPr>
              <a:t>6,23%</a:t>
            </a:r>
          </a:p>
        </p:txBody>
      </p:sp>
      <p:sp>
        <p:nvSpPr>
          <p:cNvPr id="62" name="TextBox 61"/>
          <p:cNvSpPr txBox="1"/>
          <p:nvPr/>
        </p:nvSpPr>
        <p:spPr>
          <a:xfrm>
            <a:off x="400680" y="930943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3" name="TextBox 62"/>
          <p:cNvSpPr txBox="1"/>
          <p:nvPr/>
        </p:nvSpPr>
        <p:spPr>
          <a:xfrm>
            <a:off x="1291696" y="9307541"/>
            <a:ext cx="384643" cy="143640"/>
          </a:xfrm>
          <a:prstGeom prst="rect">
            <a:avLst/>
          </a:prstGeom>
          <a:noFill/>
        </p:spPr>
        <p:txBody>
          <a:bodyPr wrap="none" lIns="0" rIns="0" tIns="0" bIns="0" anchor="t"/>
          <a:lstStyle/>
          <a:p>
            <a:pPr algn="l">
              <a:lnSpc>
                <a:spcPts val="1142"/>
              </a:lnSpc>
            </a:pPr>
            <a:r>
              <a:rPr sz="952" b="0" i="0">
                <a:solidFill>
                  <a:srgbClr val="111111"/>
                </a:solidFill>
                <a:latin typeface="Versos"/>
              </a:rPr>
              <a:t>4,67%</a:t>
            </a:r>
          </a:p>
        </p:txBody>
      </p:sp>
      <p:sp>
        <p:nvSpPr>
          <p:cNvPr id="64" name="TextBox 63"/>
          <p:cNvSpPr txBox="1"/>
          <p:nvPr/>
        </p:nvSpPr>
        <p:spPr>
          <a:xfrm>
            <a:off x="400680" y="957355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5" name="TextBox 64"/>
          <p:cNvSpPr txBox="1"/>
          <p:nvPr/>
        </p:nvSpPr>
        <p:spPr>
          <a:xfrm>
            <a:off x="1284018" y="9571668"/>
            <a:ext cx="394102" cy="143640"/>
          </a:xfrm>
          <a:prstGeom prst="rect">
            <a:avLst/>
          </a:prstGeom>
          <a:noFill/>
        </p:spPr>
        <p:txBody>
          <a:bodyPr wrap="none" lIns="0" rIns="0" tIns="0" bIns="0" anchor="t"/>
          <a:lstStyle/>
          <a:p>
            <a:pPr algn="l">
              <a:lnSpc>
                <a:spcPts val="1142"/>
              </a:lnSpc>
            </a:pPr>
            <a:r>
              <a:rPr sz="952" b="0" i="0">
                <a:solidFill>
                  <a:srgbClr val="111111"/>
                </a:solidFill>
                <a:latin typeface="Versos"/>
              </a:rPr>
              <a:t>4,52%</a:t>
            </a:r>
          </a:p>
        </p:txBody>
      </p:sp>
      <p:sp>
        <p:nvSpPr>
          <p:cNvPr id="66" name="TextBox 65"/>
          <p:cNvSpPr txBox="1"/>
          <p:nvPr/>
        </p:nvSpPr>
        <p:spPr>
          <a:xfrm>
            <a:off x="400680" y="983768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BB</a:t>
            </a:r>
          </a:p>
        </p:txBody>
      </p:sp>
      <p:sp>
        <p:nvSpPr>
          <p:cNvPr id="67" name="TextBox 66"/>
          <p:cNvSpPr txBox="1"/>
          <p:nvPr/>
        </p:nvSpPr>
        <p:spPr>
          <a:xfrm>
            <a:off x="1083206" y="9835796"/>
            <a:ext cx="379237" cy="143640"/>
          </a:xfrm>
          <a:prstGeom prst="rect">
            <a:avLst/>
          </a:prstGeom>
          <a:noFill/>
        </p:spPr>
        <p:txBody>
          <a:bodyPr wrap="none" lIns="0" rIns="0" tIns="0" bIns="0" anchor="t"/>
          <a:lstStyle/>
          <a:p>
            <a:pPr algn="l">
              <a:lnSpc>
                <a:spcPts val="1142"/>
              </a:lnSpc>
            </a:pPr>
            <a:r>
              <a:rPr sz="952" b="0" i="0">
                <a:solidFill>
                  <a:srgbClr val="111111"/>
                </a:solidFill>
                <a:latin typeface="Versos"/>
              </a:rPr>
              <a:t>0,75%</a:t>
            </a:r>
          </a:p>
        </p:txBody>
      </p:sp>
      <p:sp>
        <p:nvSpPr>
          <p:cNvPr id="68" name="TextBox 67"/>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9" name="TextBox 68"/>
          <p:cNvSpPr txBox="1"/>
          <p:nvPr/>
        </p:nvSpPr>
        <p:spPr>
          <a:xfrm>
            <a:off x="3802680" y="552600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70" name="TextBox 69"/>
          <p:cNvSpPr txBox="1"/>
          <p:nvPr/>
        </p:nvSpPr>
        <p:spPr>
          <a:xfrm>
            <a:off x="6752497" y="5518209"/>
            <a:ext cx="483414" cy="143640"/>
          </a:xfrm>
          <a:prstGeom prst="rect">
            <a:avLst/>
          </a:prstGeom>
          <a:noFill/>
        </p:spPr>
        <p:txBody>
          <a:bodyPr wrap="none" lIns="0" rIns="0" tIns="0" bIns="0" anchor="t"/>
          <a:lstStyle/>
          <a:p>
            <a:pPr algn="l">
              <a:lnSpc>
                <a:spcPts val="1142"/>
              </a:lnSpc>
            </a:pPr>
            <a:r>
              <a:rPr sz="952" b="0" i="0">
                <a:solidFill>
                  <a:srgbClr val="111111"/>
                </a:solidFill>
                <a:latin typeface="Versos"/>
              </a:rPr>
              <a:t>30,80%</a:t>
            </a:r>
          </a:p>
        </p:txBody>
      </p:sp>
      <p:sp>
        <p:nvSpPr>
          <p:cNvPr id="71" name="TextBox 70"/>
          <p:cNvSpPr txBox="1"/>
          <p:nvPr/>
        </p:nvSpPr>
        <p:spPr>
          <a:xfrm>
            <a:off x="3802680" y="575410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2" name="TextBox 71"/>
          <p:cNvSpPr txBox="1"/>
          <p:nvPr/>
        </p:nvSpPr>
        <p:spPr>
          <a:xfrm>
            <a:off x="6296535" y="5746426"/>
            <a:ext cx="442997" cy="143640"/>
          </a:xfrm>
          <a:prstGeom prst="rect">
            <a:avLst/>
          </a:prstGeom>
          <a:noFill/>
        </p:spPr>
        <p:txBody>
          <a:bodyPr wrap="none" lIns="0" rIns="0" tIns="0" bIns="0" anchor="t"/>
          <a:lstStyle/>
          <a:p>
            <a:pPr algn="l">
              <a:lnSpc>
                <a:spcPts val="1142"/>
              </a:lnSpc>
            </a:pPr>
            <a:r>
              <a:rPr sz="952" b="0" i="0">
                <a:solidFill>
                  <a:srgbClr val="111111"/>
                </a:solidFill>
                <a:latin typeface="Versos"/>
              </a:rPr>
              <a:t>19,69%</a:t>
            </a:r>
          </a:p>
        </p:txBody>
      </p:sp>
      <p:sp>
        <p:nvSpPr>
          <p:cNvPr id="73" name="TextBox 72"/>
          <p:cNvSpPr txBox="1"/>
          <p:nvPr/>
        </p:nvSpPr>
        <p:spPr>
          <a:xfrm>
            <a:off x="3802680" y="5982322"/>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74" name="TextBox 73"/>
          <p:cNvSpPr txBox="1"/>
          <p:nvPr/>
        </p:nvSpPr>
        <p:spPr>
          <a:xfrm>
            <a:off x="6078121" y="5974526"/>
            <a:ext cx="434397" cy="143640"/>
          </a:xfrm>
          <a:prstGeom prst="rect">
            <a:avLst/>
          </a:prstGeom>
          <a:noFill/>
        </p:spPr>
        <p:txBody>
          <a:bodyPr wrap="none" lIns="0" rIns="0" tIns="0" bIns="0" anchor="t"/>
          <a:lstStyle/>
          <a:p>
            <a:pPr algn="l">
              <a:lnSpc>
                <a:spcPts val="1142"/>
              </a:lnSpc>
            </a:pPr>
            <a:r>
              <a:rPr sz="952" b="0" i="0">
                <a:solidFill>
                  <a:srgbClr val="111111"/>
                </a:solidFill>
                <a:latin typeface="Versos"/>
              </a:rPr>
              <a:t>14,37%</a:t>
            </a:r>
          </a:p>
        </p:txBody>
      </p:sp>
      <p:sp>
        <p:nvSpPr>
          <p:cNvPr id="75" name="TextBox 74"/>
          <p:cNvSpPr txBox="1"/>
          <p:nvPr/>
        </p:nvSpPr>
        <p:spPr>
          <a:xfrm>
            <a:off x="3802680" y="621042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6" name="TextBox 75"/>
          <p:cNvSpPr txBox="1"/>
          <p:nvPr/>
        </p:nvSpPr>
        <p:spPr>
          <a:xfrm>
            <a:off x="5809387" y="6202743"/>
            <a:ext cx="374815" cy="143640"/>
          </a:xfrm>
          <a:prstGeom prst="rect">
            <a:avLst/>
          </a:prstGeom>
          <a:noFill/>
        </p:spPr>
        <p:txBody>
          <a:bodyPr wrap="none" lIns="0" rIns="0" tIns="0" bIns="0" anchor="t"/>
          <a:lstStyle/>
          <a:p>
            <a:pPr algn="l">
              <a:lnSpc>
                <a:spcPts val="1142"/>
              </a:lnSpc>
            </a:pPr>
            <a:r>
              <a:rPr sz="952" b="0" i="0">
                <a:solidFill>
                  <a:srgbClr val="111111"/>
                </a:solidFill>
                <a:latin typeface="Versos"/>
              </a:rPr>
              <a:t>7,82%</a:t>
            </a:r>
          </a:p>
        </p:txBody>
      </p:sp>
      <p:sp>
        <p:nvSpPr>
          <p:cNvPr id="77" name="TextBox 76"/>
          <p:cNvSpPr txBox="1"/>
          <p:nvPr/>
        </p:nvSpPr>
        <p:spPr>
          <a:xfrm>
            <a:off x="3802680" y="643863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8" name="TextBox 77"/>
          <p:cNvSpPr txBox="1"/>
          <p:nvPr/>
        </p:nvSpPr>
        <p:spPr>
          <a:xfrm>
            <a:off x="5661967" y="6430843"/>
            <a:ext cx="393120" cy="143640"/>
          </a:xfrm>
          <a:prstGeom prst="rect">
            <a:avLst/>
          </a:prstGeom>
          <a:noFill/>
        </p:spPr>
        <p:txBody>
          <a:bodyPr wrap="none" lIns="0" rIns="0" tIns="0" bIns="0" anchor="t"/>
          <a:lstStyle/>
          <a:p>
            <a:pPr algn="l">
              <a:lnSpc>
                <a:spcPts val="1142"/>
              </a:lnSpc>
            </a:pPr>
            <a:r>
              <a:rPr sz="952" b="0" i="0">
                <a:solidFill>
                  <a:srgbClr val="111111"/>
                </a:solidFill>
                <a:latin typeface="Versos"/>
              </a:rPr>
              <a:t>4,23%</a:t>
            </a:r>
          </a:p>
        </p:txBody>
      </p:sp>
      <p:sp>
        <p:nvSpPr>
          <p:cNvPr id="79" name="TextBox 78"/>
          <p:cNvSpPr txBox="1"/>
          <p:nvPr/>
        </p:nvSpPr>
        <p:spPr>
          <a:xfrm>
            <a:off x="3802680" y="666673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80" name="TextBox 79"/>
          <p:cNvSpPr txBox="1"/>
          <p:nvPr/>
        </p:nvSpPr>
        <p:spPr>
          <a:xfrm>
            <a:off x="5644603" y="6659060"/>
            <a:ext cx="357493" cy="143640"/>
          </a:xfrm>
          <a:prstGeom prst="rect">
            <a:avLst/>
          </a:prstGeom>
          <a:noFill/>
        </p:spPr>
        <p:txBody>
          <a:bodyPr wrap="none" lIns="0" rIns="0" tIns="0" bIns="0" anchor="t"/>
          <a:lstStyle/>
          <a:p>
            <a:pPr algn="l">
              <a:lnSpc>
                <a:spcPts val="1142"/>
              </a:lnSpc>
            </a:pPr>
            <a:r>
              <a:rPr sz="952" b="0" i="0">
                <a:solidFill>
                  <a:srgbClr val="111111"/>
                </a:solidFill>
                <a:latin typeface="Versos"/>
              </a:rPr>
              <a:t>3,81%</a:t>
            </a:r>
          </a:p>
        </p:txBody>
      </p:sp>
      <p:sp>
        <p:nvSpPr>
          <p:cNvPr id="81" name="TextBox 80"/>
          <p:cNvSpPr txBox="1"/>
          <p:nvPr/>
        </p:nvSpPr>
        <p:spPr>
          <a:xfrm>
            <a:off x="3802680" y="6838374"/>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82" name="TextBox 81"/>
          <p:cNvSpPr txBox="1"/>
          <p:nvPr/>
        </p:nvSpPr>
        <p:spPr>
          <a:xfrm>
            <a:off x="5641768" y="6887160"/>
            <a:ext cx="369287" cy="143640"/>
          </a:xfrm>
          <a:prstGeom prst="rect">
            <a:avLst/>
          </a:prstGeom>
          <a:noFill/>
        </p:spPr>
        <p:txBody>
          <a:bodyPr wrap="none" lIns="0" rIns="0" tIns="0" bIns="0" anchor="t"/>
          <a:lstStyle/>
          <a:p>
            <a:pPr algn="l">
              <a:lnSpc>
                <a:spcPts val="1142"/>
              </a:lnSpc>
            </a:pPr>
            <a:r>
              <a:rPr sz="952" b="0" i="0">
                <a:solidFill>
                  <a:srgbClr val="111111"/>
                </a:solidFill>
                <a:latin typeface="Versos"/>
              </a:rPr>
              <a:t>3,74%</a:t>
            </a:r>
          </a:p>
        </p:txBody>
      </p:sp>
      <p:sp>
        <p:nvSpPr>
          <p:cNvPr id="83" name="TextBox 82"/>
          <p:cNvSpPr txBox="1"/>
          <p:nvPr/>
        </p:nvSpPr>
        <p:spPr>
          <a:xfrm>
            <a:off x="3802680" y="712305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84" name="TextBox 83"/>
          <p:cNvSpPr txBox="1"/>
          <p:nvPr/>
        </p:nvSpPr>
        <p:spPr>
          <a:xfrm>
            <a:off x="5609047" y="7115377"/>
            <a:ext cx="388451" cy="143640"/>
          </a:xfrm>
          <a:prstGeom prst="rect">
            <a:avLst/>
          </a:prstGeom>
          <a:noFill/>
        </p:spPr>
        <p:txBody>
          <a:bodyPr wrap="none" lIns="0" rIns="0" tIns="0" bIns="0" anchor="t"/>
          <a:lstStyle/>
          <a:p>
            <a:pPr algn="l">
              <a:lnSpc>
                <a:spcPts val="1142"/>
              </a:lnSpc>
            </a:pPr>
            <a:r>
              <a:rPr sz="952" b="0" i="0">
                <a:solidFill>
                  <a:srgbClr val="111111"/>
                </a:solidFill>
                <a:latin typeface="Versos"/>
              </a:rPr>
              <a:t>2,94%</a:t>
            </a:r>
          </a:p>
        </p:txBody>
      </p:sp>
      <p:sp>
        <p:nvSpPr>
          <p:cNvPr id="85" name="TextBox 84"/>
          <p:cNvSpPr txBox="1"/>
          <p:nvPr/>
        </p:nvSpPr>
        <p:spPr>
          <a:xfrm>
            <a:off x="3802680" y="735127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86" name="TextBox 85"/>
          <p:cNvSpPr txBox="1"/>
          <p:nvPr/>
        </p:nvSpPr>
        <p:spPr>
          <a:xfrm>
            <a:off x="5590620" y="7343476"/>
            <a:ext cx="396559" cy="143640"/>
          </a:xfrm>
          <a:prstGeom prst="rect">
            <a:avLst/>
          </a:prstGeom>
          <a:noFill/>
        </p:spPr>
        <p:txBody>
          <a:bodyPr wrap="none" lIns="0" rIns="0" tIns="0" bIns="0" anchor="t"/>
          <a:lstStyle/>
          <a:p>
            <a:pPr algn="l">
              <a:lnSpc>
                <a:spcPts val="1142"/>
              </a:lnSpc>
            </a:pPr>
            <a:r>
              <a:rPr sz="952" b="0" i="0">
                <a:solidFill>
                  <a:srgbClr val="111111"/>
                </a:solidFill>
                <a:latin typeface="Versos"/>
              </a:rPr>
              <a:t>2,49%</a:t>
            </a:r>
          </a:p>
        </p:txBody>
      </p:sp>
      <p:sp>
        <p:nvSpPr>
          <p:cNvPr id="87" name="TextBox 86"/>
          <p:cNvSpPr txBox="1"/>
          <p:nvPr/>
        </p:nvSpPr>
        <p:spPr>
          <a:xfrm>
            <a:off x="3802680" y="7579372"/>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88" name="TextBox 87"/>
          <p:cNvSpPr txBox="1"/>
          <p:nvPr/>
        </p:nvSpPr>
        <p:spPr>
          <a:xfrm>
            <a:off x="5578453" y="7571694"/>
            <a:ext cx="354176" cy="143640"/>
          </a:xfrm>
          <a:prstGeom prst="rect">
            <a:avLst/>
          </a:prstGeom>
          <a:noFill/>
        </p:spPr>
        <p:txBody>
          <a:bodyPr wrap="none" lIns="0" rIns="0" tIns="0" bIns="0" anchor="t"/>
          <a:lstStyle/>
          <a:p>
            <a:pPr algn="l">
              <a:lnSpc>
                <a:spcPts val="1142"/>
              </a:lnSpc>
            </a:pPr>
            <a:r>
              <a:rPr sz="952" b="0" i="0">
                <a:solidFill>
                  <a:srgbClr val="111111"/>
                </a:solidFill>
                <a:latin typeface="Versos"/>
              </a:rPr>
              <a:t>2,19%</a:t>
            </a:r>
          </a:p>
        </p:txBody>
      </p:sp>
      <p:sp>
        <p:nvSpPr>
          <p:cNvPr id="89" name="TextBox 88"/>
          <p:cNvSpPr txBox="1"/>
          <p:nvPr/>
        </p:nvSpPr>
        <p:spPr>
          <a:xfrm>
            <a:off x="3802680" y="7807590"/>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90" name="TextBox 89"/>
          <p:cNvSpPr txBox="1"/>
          <p:nvPr/>
        </p:nvSpPr>
        <p:spPr>
          <a:xfrm>
            <a:off x="5572192" y="7799793"/>
            <a:ext cx="390908" cy="143640"/>
          </a:xfrm>
          <a:prstGeom prst="rect">
            <a:avLst/>
          </a:prstGeom>
          <a:noFill/>
        </p:spPr>
        <p:txBody>
          <a:bodyPr wrap="none" lIns="0" rIns="0" tIns="0" bIns="0" anchor="t"/>
          <a:lstStyle/>
          <a:p>
            <a:pPr algn="l">
              <a:lnSpc>
                <a:spcPts val="1142"/>
              </a:lnSpc>
            </a:pPr>
            <a:r>
              <a:rPr sz="952" b="0" i="0">
                <a:solidFill>
                  <a:srgbClr val="111111"/>
                </a:solidFill>
                <a:latin typeface="Versos"/>
              </a:rPr>
              <a:t>2,04%</a:t>
            </a:r>
          </a:p>
        </p:txBody>
      </p:sp>
      <p:sp>
        <p:nvSpPr>
          <p:cNvPr id="91" name="TextBox 90"/>
          <p:cNvSpPr txBox="1"/>
          <p:nvPr/>
        </p:nvSpPr>
        <p:spPr>
          <a:xfrm>
            <a:off x="3802680" y="803568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92" name="TextBox 91"/>
          <p:cNvSpPr txBox="1"/>
          <p:nvPr/>
        </p:nvSpPr>
        <p:spPr>
          <a:xfrm>
            <a:off x="5543133" y="8028011"/>
            <a:ext cx="362407" cy="143640"/>
          </a:xfrm>
          <a:prstGeom prst="rect">
            <a:avLst/>
          </a:prstGeom>
          <a:noFill/>
        </p:spPr>
        <p:txBody>
          <a:bodyPr wrap="none" lIns="0" rIns="0" tIns="0" bIns="0" anchor="t"/>
          <a:lstStyle/>
          <a:p>
            <a:pPr algn="l">
              <a:lnSpc>
                <a:spcPts val="1142"/>
              </a:lnSpc>
            </a:pPr>
            <a:r>
              <a:rPr sz="952" b="0" i="0">
                <a:solidFill>
                  <a:srgbClr val="111111"/>
                </a:solidFill>
                <a:latin typeface="Versos"/>
              </a:rPr>
              <a:t>1,33%</a:t>
            </a:r>
          </a:p>
        </p:txBody>
      </p:sp>
      <p:sp>
        <p:nvSpPr>
          <p:cNvPr id="93" name="TextBox 92"/>
          <p:cNvSpPr txBox="1"/>
          <p:nvPr/>
        </p:nvSpPr>
        <p:spPr>
          <a:xfrm>
            <a:off x="3802680" y="826390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94" name="TextBox 93"/>
          <p:cNvSpPr txBox="1"/>
          <p:nvPr/>
        </p:nvSpPr>
        <p:spPr>
          <a:xfrm>
            <a:off x="5535573" y="8256228"/>
            <a:ext cx="317075" cy="143640"/>
          </a:xfrm>
          <a:prstGeom prst="rect">
            <a:avLst/>
          </a:prstGeom>
          <a:noFill/>
        </p:spPr>
        <p:txBody>
          <a:bodyPr wrap="none" lIns="0" rIns="0" tIns="0" bIns="0" anchor="t"/>
          <a:lstStyle/>
          <a:p>
            <a:pPr algn="l">
              <a:lnSpc>
                <a:spcPts val="1142"/>
              </a:lnSpc>
            </a:pPr>
            <a:r>
              <a:rPr sz="952" b="0" i="0">
                <a:solidFill>
                  <a:srgbClr val="111111"/>
                </a:solidFill>
                <a:latin typeface="Versos"/>
              </a:rPr>
              <a:t>1,15%</a:t>
            </a:r>
          </a:p>
        </p:txBody>
      </p:sp>
      <p:sp>
        <p:nvSpPr>
          <p:cNvPr id="95" name="TextBox 94"/>
          <p:cNvSpPr txBox="1"/>
          <p:nvPr/>
        </p:nvSpPr>
        <p:spPr>
          <a:xfrm>
            <a:off x="3802680" y="8492124"/>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96" name="TextBox 95"/>
          <p:cNvSpPr txBox="1"/>
          <p:nvPr/>
        </p:nvSpPr>
        <p:spPr>
          <a:xfrm>
            <a:off x="5528013" y="8484446"/>
            <a:ext cx="398648" cy="143640"/>
          </a:xfrm>
          <a:prstGeom prst="rect">
            <a:avLst/>
          </a:prstGeom>
          <a:noFill/>
        </p:spPr>
        <p:txBody>
          <a:bodyPr wrap="none" lIns="0" rIns="0" tIns="0" bIns="0" anchor="t"/>
          <a:lstStyle/>
          <a:p>
            <a:pPr algn="l">
              <a:lnSpc>
                <a:spcPts val="1142"/>
              </a:lnSpc>
            </a:pPr>
            <a:r>
              <a:rPr sz="952" b="0" i="0">
                <a:solidFill>
                  <a:srgbClr val="111111"/>
                </a:solidFill>
                <a:latin typeface="Versos"/>
              </a:rPr>
              <a:t>0,96%</a:t>
            </a:r>
          </a:p>
        </p:txBody>
      </p:sp>
      <p:sp>
        <p:nvSpPr>
          <p:cNvPr id="97" name="TextBox 96"/>
          <p:cNvSpPr txBox="1"/>
          <p:nvPr/>
        </p:nvSpPr>
        <p:spPr>
          <a:xfrm>
            <a:off x="3802680" y="872034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Agropecuária</a:t>
            </a:r>
          </a:p>
        </p:txBody>
      </p:sp>
      <p:sp>
        <p:nvSpPr>
          <p:cNvPr id="98" name="TextBox 97"/>
          <p:cNvSpPr txBox="1"/>
          <p:nvPr/>
        </p:nvSpPr>
        <p:spPr>
          <a:xfrm>
            <a:off x="5516201" y="8712663"/>
            <a:ext cx="383660" cy="143640"/>
          </a:xfrm>
          <a:prstGeom prst="rect">
            <a:avLst/>
          </a:prstGeom>
          <a:noFill/>
        </p:spPr>
        <p:txBody>
          <a:bodyPr wrap="none" lIns="0" rIns="0" tIns="0" bIns="0" anchor="t"/>
          <a:lstStyle/>
          <a:p>
            <a:pPr algn="l">
              <a:lnSpc>
                <a:spcPts val="1142"/>
              </a:lnSpc>
            </a:pPr>
            <a:r>
              <a:rPr sz="952" b="0" i="0">
                <a:solidFill>
                  <a:srgbClr val="111111"/>
                </a:solidFill>
                <a:latin typeface="Versos"/>
              </a:rPr>
              <a:t>0,67%</a:t>
            </a:r>
          </a:p>
        </p:txBody>
      </p:sp>
      <p:sp>
        <p:nvSpPr>
          <p:cNvPr id="99" name="TextBox 98"/>
          <p:cNvSpPr txBox="1"/>
          <p:nvPr/>
        </p:nvSpPr>
        <p:spPr>
          <a:xfrm>
            <a:off x="3802680" y="894855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Alimentos e bebidas</a:t>
            </a:r>
          </a:p>
        </p:txBody>
      </p:sp>
      <p:sp>
        <p:nvSpPr>
          <p:cNvPr id="100" name="TextBox 99"/>
          <p:cNvSpPr txBox="1"/>
          <p:nvPr/>
        </p:nvSpPr>
        <p:spPr>
          <a:xfrm>
            <a:off x="5512657" y="8940881"/>
            <a:ext cx="396682" cy="143640"/>
          </a:xfrm>
          <a:prstGeom prst="rect">
            <a:avLst/>
          </a:prstGeom>
          <a:noFill/>
        </p:spPr>
        <p:txBody>
          <a:bodyPr wrap="none" lIns="0" rIns="0" tIns="0" bIns="0" anchor="t"/>
          <a:lstStyle/>
          <a:p>
            <a:pPr algn="l">
              <a:lnSpc>
                <a:spcPts val="1142"/>
              </a:lnSpc>
            </a:pPr>
            <a:r>
              <a:rPr sz="952" b="0" i="0">
                <a:solidFill>
                  <a:srgbClr val="111111"/>
                </a:solidFill>
                <a:latin typeface="Versos"/>
              </a:rPr>
              <a:t>0,59%</a:t>
            </a:r>
          </a:p>
        </p:txBody>
      </p:sp>
      <p:sp>
        <p:nvSpPr>
          <p:cNvPr id="101" name="TextBox 100"/>
          <p:cNvSpPr txBox="1"/>
          <p:nvPr/>
        </p:nvSpPr>
        <p:spPr>
          <a:xfrm>
            <a:off x="3802680" y="91767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102" name="TextBox 101"/>
          <p:cNvSpPr txBox="1"/>
          <p:nvPr/>
        </p:nvSpPr>
        <p:spPr>
          <a:xfrm>
            <a:off x="5511358" y="9169098"/>
            <a:ext cx="396682" cy="143640"/>
          </a:xfrm>
          <a:prstGeom prst="rect">
            <a:avLst/>
          </a:prstGeom>
          <a:noFill/>
        </p:spPr>
        <p:txBody>
          <a:bodyPr wrap="none" lIns="0" rIns="0" tIns="0" bIns="0" anchor="t"/>
          <a:lstStyle/>
          <a:p>
            <a:pPr algn="l">
              <a:lnSpc>
                <a:spcPts val="1142"/>
              </a:lnSpc>
            </a:pPr>
            <a:r>
              <a:rPr sz="952" b="0" i="0">
                <a:solidFill>
                  <a:srgbClr val="111111"/>
                </a:solidFill>
                <a:latin typeface="Versos"/>
              </a:rPr>
              <a:t>0,56%</a:t>
            </a:r>
          </a:p>
        </p:txBody>
      </p:sp>
      <p:sp>
        <p:nvSpPr>
          <p:cNvPr id="103" name="TextBox 102"/>
          <p:cNvSpPr txBox="1"/>
          <p:nvPr/>
        </p:nvSpPr>
        <p:spPr>
          <a:xfrm>
            <a:off x="3802680" y="9404994"/>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104" name="TextBox 103"/>
          <p:cNvSpPr txBox="1"/>
          <p:nvPr/>
        </p:nvSpPr>
        <p:spPr>
          <a:xfrm>
            <a:off x="5499191" y="9397316"/>
            <a:ext cx="394348" cy="143640"/>
          </a:xfrm>
          <a:prstGeom prst="rect">
            <a:avLst/>
          </a:prstGeom>
          <a:noFill/>
        </p:spPr>
        <p:txBody>
          <a:bodyPr wrap="none" lIns="0" rIns="0" tIns="0" bIns="0" anchor="t"/>
          <a:lstStyle/>
          <a:p>
            <a:pPr algn="l">
              <a:lnSpc>
                <a:spcPts val="1142"/>
              </a:lnSpc>
            </a:pPr>
            <a:r>
              <a:rPr sz="952" b="0" i="0">
                <a:solidFill>
                  <a:srgbClr val="111111"/>
                </a:solidFill>
                <a:latin typeface="Versos"/>
              </a:rPr>
              <a:t>0,26%</a:t>
            </a:r>
          </a:p>
        </p:txBody>
      </p:sp>
      <p:sp>
        <p:nvSpPr>
          <p:cNvPr id="105" name="TextBox 104"/>
          <p:cNvSpPr txBox="1"/>
          <p:nvPr/>
        </p:nvSpPr>
        <p:spPr>
          <a:xfrm>
            <a:off x="3802680" y="963321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Têxtil e Calçados</a:t>
            </a:r>
          </a:p>
        </p:txBody>
      </p:sp>
      <p:sp>
        <p:nvSpPr>
          <p:cNvPr id="106" name="TextBox 105"/>
          <p:cNvSpPr txBox="1"/>
          <p:nvPr/>
        </p:nvSpPr>
        <p:spPr>
          <a:xfrm>
            <a:off x="5498010" y="9625533"/>
            <a:ext cx="357862" cy="143640"/>
          </a:xfrm>
          <a:prstGeom prst="rect">
            <a:avLst/>
          </a:prstGeom>
          <a:noFill/>
        </p:spPr>
        <p:txBody>
          <a:bodyPr wrap="none" lIns="0" rIns="0" tIns="0" bIns="0" anchor="t"/>
          <a:lstStyle/>
          <a:p>
            <a:pPr algn="l">
              <a:lnSpc>
                <a:spcPts val="1142"/>
              </a:lnSpc>
            </a:pPr>
            <a:r>
              <a:rPr sz="952" b="0" i="0">
                <a:solidFill>
                  <a:srgbClr val="111111"/>
                </a:solidFill>
                <a:latin typeface="Versos"/>
              </a:rPr>
              <a:t>0,19%</a:t>
            </a:r>
          </a:p>
        </p:txBody>
      </p:sp>
      <p:sp>
        <p:nvSpPr>
          <p:cNvPr id="107" name="TextBox 106"/>
          <p:cNvSpPr txBox="1"/>
          <p:nvPr/>
        </p:nvSpPr>
        <p:spPr>
          <a:xfrm>
            <a:off x="3802680" y="9804965"/>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Empreendimentos e participações</a:t>
            </a:r>
          </a:p>
        </p:txBody>
      </p:sp>
      <p:sp>
        <p:nvSpPr>
          <p:cNvPr id="108" name="TextBox 107"/>
          <p:cNvSpPr txBox="1"/>
          <p:nvPr/>
        </p:nvSpPr>
        <p:spPr>
          <a:xfrm>
            <a:off x="5498010" y="9853751"/>
            <a:ext cx="358353" cy="143640"/>
          </a:xfrm>
          <a:prstGeom prst="rect">
            <a:avLst/>
          </a:prstGeom>
          <a:noFill/>
        </p:spPr>
        <p:txBody>
          <a:bodyPr wrap="none" lIns="0" rIns="0" tIns="0" bIns="0" anchor="t"/>
          <a:lstStyle/>
          <a:p>
            <a:pPr algn="l">
              <a:lnSpc>
                <a:spcPts val="1142"/>
              </a:lnSpc>
            </a:pPr>
            <a:r>
              <a:rPr sz="952" b="0" i="0">
                <a:solidFill>
                  <a:srgbClr val="111111"/>
                </a:solidFill>
                <a:latin typeface="Versos"/>
              </a:rPr>
              <a:t>0,18%</a:t>
            </a:r>
          </a:p>
        </p:txBody>
      </p:sp>
      <p:sp>
        <p:nvSpPr>
          <p:cNvPr id="109" name="TextBox 108"/>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7" name="TextBox 6"/>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8" name="TextBox 7"/>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9" name="TextBox 8"/>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0" name="TextBox 9"/>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1" name="TextBox 10"/>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2" name="TextBox 11"/>
          <p:cNvSpPr txBox="1"/>
          <p:nvPr/>
        </p:nvSpPr>
        <p:spPr>
          <a:xfrm>
            <a:off x="529200" y="9348294"/>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Tivio Institucional 30 apresentou rentabilidade de 1,12% no mês (102% do CDI), acumulando 9,45% (101% do CDI) no ano. Na parcela de corporativos, os maiores atribuidores de resultado foram para Tupy e Randon, enquanto Hapvida foi o maior detrator.</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11/12/2024</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0,625%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R$ 126.168.780,56</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20% do que exceder 100% do CDI</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D+30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Não há</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R$ 158.893.390,74</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