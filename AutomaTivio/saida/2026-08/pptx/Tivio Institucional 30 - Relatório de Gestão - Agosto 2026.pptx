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36080"/>
          </a:xfrm>
          <a:prstGeom prst="rect">
            <a:avLst/>
          </a:prstGeom>
          <a:noFill/>
        </p:spPr>
        <p:txBody>
          <a:bodyPr wrap="none" lIns="0" rIns="0" tIns="0" bIns="0" anchor="t"/>
          <a:lstStyle/>
          <a:p>
            <a:pPr algn="l">
              <a:lnSpc>
                <a:spcPts val="1078"/>
              </a:lnSpc>
            </a:pPr>
            <a:r>
              <a:rPr sz="898" b="0" i="0">
                <a:solidFill>
                  <a:srgbClr val="FFFFFF"/>
                </a:solidFill>
                <a:latin typeface="Versos"/>
              </a:rPr>
              <a:t>TIVIO INSTITUCIONAL 30 FIF CLASSE INVESTIMENTO RF CP LP RL </a:t>
            </a:r>
            <a:r>
              <a:rPr sz="737" b="0" i="0">
                <a:solidFill>
                  <a:srgbClr val="FFFFFF"/>
                </a:solidFill>
                <a:latin typeface="Versos"/>
              </a:rPr>
              <a:t>/ CNPJ 58.290.160/0001-00</a:t>
            </a:r>
          </a:p>
        </p:txBody>
      </p:sp>
      <p:sp>
        <p:nvSpPr>
          <p:cNvPr id="4" name="TextBox 3"/>
          <p:cNvSpPr txBox="1"/>
          <p:nvPr/>
        </p:nvSpPr>
        <p:spPr>
          <a:xfrm>
            <a:off x="400680" y="111132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9,45%</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25,93%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25,71%</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0,21%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201596" cy="143640"/>
          </a:xfrm>
          <a:prstGeom prst="rect">
            <a:avLst/>
          </a:prstGeom>
          <a:noFill/>
        </p:spPr>
        <p:txBody>
          <a:bodyPr wrap="none" lIns="0" rIns="0" tIns="0" bIns="0" anchor="t"/>
          <a:lstStyle/>
          <a:p>
            <a:pPr algn="l">
              <a:lnSpc>
                <a:spcPts val="1107"/>
              </a:lnSpc>
            </a:pPr>
            <a:r>
              <a:rPr sz="922" b="0" i="0">
                <a:solidFill>
                  <a:srgbClr val="5A82A0"/>
                </a:solidFill>
                <a:latin typeface="Versos"/>
              </a:rPr>
              <a:t>6%</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72481" cy="143640"/>
          </a:xfrm>
          <a:prstGeom prst="rect">
            <a:avLst/>
          </a:prstGeom>
          <a:noFill/>
        </p:spPr>
        <p:txBody>
          <a:bodyPr wrap="none" lIns="0" rIns="0" tIns="0" bIns="0" anchor="t"/>
          <a:lstStyle/>
          <a:p>
            <a:pPr algn="l">
              <a:lnSpc>
                <a:spcPts val="1107"/>
              </a:lnSpc>
            </a:pPr>
            <a:r>
              <a:rPr sz="922" b="0" i="0">
                <a:solidFill>
                  <a:srgbClr val="5A82A0"/>
                </a:solidFill>
                <a:latin typeface="Versos"/>
              </a:rPr>
              <a:t>3,78%</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1,94%</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5920" cy="143640"/>
          </a:xfrm>
          <a:prstGeom prst="rect">
            <a:avLst/>
          </a:prstGeom>
          <a:noFill/>
        </p:spPr>
        <p:txBody>
          <a:bodyPr wrap="none" lIns="0" rIns="0" tIns="0" bIns="0" anchor="t"/>
          <a:lstStyle/>
          <a:p>
            <a:pPr algn="l">
              <a:lnSpc>
                <a:spcPts val="1142"/>
              </a:lnSpc>
            </a:pPr>
            <a:r>
              <a:rPr sz="952" b="0" i="0">
                <a:solidFill>
                  <a:srgbClr val="111111"/>
                </a:solidFill>
                <a:latin typeface="Versos"/>
              </a:rPr>
              <a:t>35,99%</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97174" cy="143640"/>
          </a:xfrm>
          <a:prstGeom prst="rect">
            <a:avLst/>
          </a:prstGeom>
          <a:noFill/>
        </p:spPr>
        <p:txBody>
          <a:bodyPr wrap="none" lIns="0" rIns="0" tIns="0" bIns="0" anchor="t"/>
          <a:lstStyle/>
          <a:p>
            <a:pPr algn="l">
              <a:lnSpc>
                <a:spcPts val="1142"/>
              </a:lnSpc>
            </a:pPr>
            <a:r>
              <a:rPr sz="952" b="0" i="0">
                <a:solidFill>
                  <a:srgbClr val="111111"/>
                </a:solidFill>
                <a:latin typeface="Versos"/>
              </a:rPr>
              <a:t>8,56%</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5699" cy="143640"/>
          </a:xfrm>
          <a:prstGeom prst="rect">
            <a:avLst/>
          </a:prstGeom>
          <a:noFill/>
        </p:spPr>
        <p:txBody>
          <a:bodyPr wrap="none" lIns="0" rIns="0" tIns="0" bIns="0" anchor="t"/>
          <a:lstStyle/>
          <a:p>
            <a:pPr algn="l">
              <a:lnSpc>
                <a:spcPts val="1142"/>
              </a:lnSpc>
            </a:pPr>
            <a:r>
              <a:rPr sz="952" b="0" i="0">
                <a:solidFill>
                  <a:srgbClr val="111111"/>
                </a:solidFill>
                <a:latin typeface="Versos"/>
              </a:rPr>
              <a:t>6,83%</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89680" cy="143640"/>
          </a:xfrm>
          <a:prstGeom prst="rect">
            <a:avLst/>
          </a:prstGeom>
          <a:noFill/>
        </p:spPr>
        <p:txBody>
          <a:bodyPr wrap="none" lIns="0" rIns="0" tIns="0" bIns="0" anchor="t"/>
          <a:lstStyle/>
          <a:p>
            <a:pPr algn="l">
              <a:lnSpc>
                <a:spcPts val="1142"/>
              </a:lnSpc>
            </a:pPr>
            <a:r>
              <a:rPr sz="952" b="0" i="0">
                <a:solidFill>
                  <a:srgbClr val="111111"/>
                </a:solidFill>
                <a:latin typeface="Versos"/>
              </a:rPr>
              <a:t>6,23%</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84643" cy="143640"/>
          </a:xfrm>
          <a:prstGeom prst="rect">
            <a:avLst/>
          </a:prstGeom>
          <a:noFill/>
        </p:spPr>
        <p:txBody>
          <a:bodyPr wrap="none" lIns="0" rIns="0" tIns="0" bIns="0" anchor="t"/>
          <a:lstStyle/>
          <a:p>
            <a:pPr algn="l">
              <a:lnSpc>
                <a:spcPts val="1142"/>
              </a:lnSpc>
            </a:pPr>
            <a:r>
              <a:rPr sz="952" b="0" i="0">
                <a:solidFill>
                  <a:srgbClr val="111111"/>
                </a:solidFill>
                <a:latin typeface="Versos"/>
              </a:rPr>
              <a:t>4,67%</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4,52%</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83414" cy="143640"/>
          </a:xfrm>
          <a:prstGeom prst="rect">
            <a:avLst/>
          </a:prstGeom>
          <a:noFill/>
        </p:spPr>
        <p:txBody>
          <a:bodyPr wrap="none" lIns="0" rIns="0" tIns="0" bIns="0" anchor="t"/>
          <a:lstStyle/>
          <a:p>
            <a:pPr algn="l">
              <a:lnSpc>
                <a:spcPts val="1142"/>
              </a:lnSpc>
            </a:pPr>
            <a:r>
              <a:rPr sz="952" b="0" i="0">
                <a:solidFill>
                  <a:srgbClr val="111111"/>
                </a:solidFill>
                <a:latin typeface="Versos"/>
              </a:rPr>
              <a:t>30,80%</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296535" y="5746426"/>
            <a:ext cx="442997" cy="143640"/>
          </a:xfrm>
          <a:prstGeom prst="rect">
            <a:avLst/>
          </a:prstGeom>
          <a:noFill/>
        </p:spPr>
        <p:txBody>
          <a:bodyPr wrap="none" lIns="0" rIns="0" tIns="0" bIns="0" anchor="t"/>
          <a:lstStyle/>
          <a:p>
            <a:pPr algn="l">
              <a:lnSpc>
                <a:spcPts val="1142"/>
              </a:lnSpc>
            </a:pPr>
            <a:r>
              <a:rPr sz="952" b="0" i="0">
                <a:solidFill>
                  <a:srgbClr val="111111"/>
                </a:solidFill>
                <a:latin typeface="Versos"/>
              </a:rPr>
              <a:t>19,69%</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4397" cy="143640"/>
          </a:xfrm>
          <a:prstGeom prst="rect">
            <a:avLst/>
          </a:prstGeom>
          <a:noFill/>
        </p:spPr>
        <p:txBody>
          <a:bodyPr wrap="none" lIns="0" rIns="0" tIns="0" bIns="0" anchor="t"/>
          <a:lstStyle/>
          <a:p>
            <a:pPr algn="l">
              <a:lnSpc>
                <a:spcPts val="1142"/>
              </a:lnSpc>
            </a:pPr>
            <a:r>
              <a:rPr sz="952" b="0" i="0">
                <a:solidFill>
                  <a:srgbClr val="111111"/>
                </a:solidFill>
                <a:latin typeface="Versos"/>
              </a:rPr>
              <a:t>14,37%</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74815" cy="143640"/>
          </a:xfrm>
          <a:prstGeom prst="rect">
            <a:avLst/>
          </a:prstGeom>
          <a:noFill/>
        </p:spPr>
        <p:txBody>
          <a:bodyPr wrap="none" lIns="0" rIns="0" tIns="0" bIns="0" anchor="t"/>
          <a:lstStyle/>
          <a:p>
            <a:pPr algn="l">
              <a:lnSpc>
                <a:spcPts val="1142"/>
              </a:lnSpc>
            </a:pPr>
            <a:r>
              <a:rPr sz="952" b="0" i="0">
                <a:solidFill>
                  <a:srgbClr val="111111"/>
                </a:solidFill>
                <a:latin typeface="Versos"/>
              </a:rPr>
              <a:t>7,82%</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57493" cy="143640"/>
          </a:xfrm>
          <a:prstGeom prst="rect">
            <a:avLst/>
          </a:prstGeom>
          <a:noFill/>
        </p:spPr>
        <p:txBody>
          <a:bodyPr wrap="none" lIns="0" rIns="0" tIns="0" bIns="0" anchor="t"/>
          <a:lstStyle/>
          <a:p>
            <a:pPr algn="l">
              <a:lnSpc>
                <a:spcPts val="1142"/>
              </a:lnSpc>
            </a:pPr>
            <a:r>
              <a:rPr sz="952" b="0" i="0">
                <a:solidFill>
                  <a:srgbClr val="111111"/>
                </a:solidFill>
                <a:latin typeface="Versos"/>
              </a:rPr>
              <a:t>3,81%</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88451" cy="143640"/>
          </a:xfrm>
          <a:prstGeom prst="rect">
            <a:avLst/>
          </a:prstGeom>
          <a:noFill/>
        </p:spPr>
        <p:txBody>
          <a:bodyPr wrap="none" lIns="0" rIns="0" tIns="0" bIns="0" anchor="t"/>
          <a:lstStyle/>
          <a:p>
            <a:pPr algn="l">
              <a:lnSpc>
                <a:spcPts val="1142"/>
              </a:lnSpc>
            </a:pPr>
            <a:r>
              <a:rPr sz="952" b="0" i="0">
                <a:solidFill>
                  <a:srgbClr val="111111"/>
                </a:solidFill>
                <a:latin typeface="Versos"/>
              </a:rPr>
              <a:t>2,94%</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6559" cy="143640"/>
          </a:xfrm>
          <a:prstGeom prst="rect">
            <a:avLst/>
          </a:prstGeom>
          <a:noFill/>
        </p:spPr>
        <p:txBody>
          <a:bodyPr wrap="none" lIns="0" rIns="0" tIns="0" bIns="0" anchor="t"/>
          <a:lstStyle/>
          <a:p>
            <a:pPr algn="l">
              <a:lnSpc>
                <a:spcPts val="1142"/>
              </a:lnSpc>
            </a:pPr>
            <a:r>
              <a:rPr sz="952" b="0" i="0">
                <a:solidFill>
                  <a:srgbClr val="111111"/>
                </a:solidFill>
                <a:latin typeface="Versos"/>
              </a:rPr>
              <a:t>2,49%</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2,19%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17075" cy="143640"/>
          </a:xfrm>
          <a:prstGeom prst="rect">
            <a:avLst/>
          </a:prstGeom>
          <a:noFill/>
        </p:spPr>
        <p:txBody>
          <a:bodyPr wrap="none" lIns="0" rIns="0" tIns="0" bIns="0" anchor="t"/>
          <a:lstStyle/>
          <a:p>
            <a:pPr algn="l">
              <a:lnSpc>
                <a:spcPts val="1142"/>
              </a:lnSpc>
            </a:pPr>
            <a:r>
              <a:rPr sz="952" b="0" i="0">
                <a:solidFill>
                  <a:srgbClr val="111111"/>
                </a:solidFill>
                <a:latin typeface="Versos"/>
              </a:rPr>
              <a:t>1,15%</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0,96%</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0,67%</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0,56%</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0,19%</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8353" cy="143640"/>
          </a:xfrm>
          <a:prstGeom prst="rect">
            <a:avLst/>
          </a:prstGeom>
          <a:noFill/>
        </p:spPr>
        <p:txBody>
          <a:bodyPr wrap="none" lIns="0" rIns="0" tIns="0" bIns="0" anchor="t"/>
          <a:lstStyle/>
          <a:p>
            <a:pPr algn="l">
              <a:lnSpc>
                <a:spcPts val="1142"/>
              </a:lnSpc>
            </a:pPr>
            <a:r>
              <a:rPr sz="952" b="0" i="0">
                <a:solidFill>
                  <a:srgbClr val="111111"/>
                </a:solidFill>
                <a:latin typeface="Versos"/>
              </a:rPr>
              <a:t>0,18%</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30 apresentou rentabilidade de 1,12% no mês (102% do CDI), acumulando 9,45% (101%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11/12/2024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R$ 126.168.780,56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R$ 158.893.390,74</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