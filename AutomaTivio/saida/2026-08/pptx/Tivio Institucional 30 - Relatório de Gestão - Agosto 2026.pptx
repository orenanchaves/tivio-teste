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748440"/>
            <a:ext cx="6266332" cy="151200"/>
          </a:xfrm>
          <a:prstGeom prst="rect">
            <a:avLst/>
          </a:prstGeom>
          <a:noFill/>
        </p:spPr>
        <p:txBody>
          <a:bodyPr wrap="none" lIns="0" rIns="0" tIns="0" bIns="0" anchor="t"/>
          <a:lstStyle/>
          <a:p>
            <a:pPr algn="l">
              <a:lnSpc>
                <a:spcPts val="1214"/>
              </a:lnSpc>
            </a:pPr>
            <a:r>
              <a:rPr sz="1012" b="0" i="0">
                <a:solidFill>
                  <a:srgbClr val="FFFFFF"/>
                </a:solidFill>
                <a:latin typeface="Versos"/>
              </a:rPr>
              <a:t>TIVIO INSTITUCIONAL 30 FIF CLASSE INVESTIMENTO RF CP LP RL </a:t>
            </a:r>
            <a:r>
              <a:rPr sz="833" b="0" i="0">
                <a:solidFill>
                  <a:srgbClr val="FFFFFF"/>
                </a:solidFill>
                <a:latin typeface="Versos"/>
              </a:rPr>
              <a:t>/ CNPJ 58.290.160/0001-00</a:t>
            </a:r>
          </a:p>
        </p:txBody>
      </p:sp>
      <p:sp>
        <p:nvSpPr>
          <p:cNvPr id="4" name="TextBox 3"/>
          <p:cNvSpPr txBox="1"/>
          <p:nvPr/>
        </p:nvSpPr>
        <p:spPr>
          <a:xfrm>
            <a:off x="400680" y="112644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6" name="TextBox 5"/>
          <p:cNvSpPr txBox="1"/>
          <p:nvPr/>
        </p:nvSpPr>
        <p:spPr>
          <a:xfrm>
            <a:off x="355320" y="2026080"/>
            <a:ext cx="6350400" cy="338900"/>
          </a:xfrm>
          <a:prstGeom prst="rect">
            <a:avLst/>
          </a:prstGeom>
          <a:noFill/>
        </p:spPr>
        <p:txBody>
          <a:bodyPr wrap="square" lIns="0" rIns="0" tIns="0" bIns="0" anchor="t"/>
          <a:lstStyle/>
          <a:p>
            <a:pPr algn="l">
              <a:lnSpc>
                <a:spcPts val="1299"/>
              </a:lnSpc>
            </a:pPr>
            <a:r>
              <a:rPr sz="1101" b="0" i="0">
                <a:solidFill>
                  <a:srgbClr val="1E1E1E"/>
                </a:solidFill>
                <a:latin typeface="Versos"/>
              </a:rPr>
              <a:t>O fundo tem como objetivo identificar oportunidades em ativos de crédito high grade/mid grade (Bancário, Corporativo e FIDC). Ele busca superar a variação do CDI no longo prazo.</a:t>
            </a:r>
          </a:p>
        </p:txBody>
      </p:sp>
      <p:sp>
        <p:nvSpPr>
          <p:cNvPr id="7" name="TextBox 6"/>
          <p:cNvSpPr txBox="1"/>
          <p:nvPr/>
        </p:nvSpPr>
        <p:spPr>
          <a:xfrm>
            <a:off x="1126440"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8" name="TextBox 7"/>
          <p:cNvSpPr txBox="1"/>
          <p:nvPr/>
        </p:nvSpPr>
        <p:spPr>
          <a:xfrm>
            <a:off x="2136881"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9" name="TextBox 8"/>
          <p:cNvSpPr txBox="1"/>
          <p:nvPr/>
        </p:nvSpPr>
        <p:spPr>
          <a:xfrm>
            <a:off x="3147322"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0" name="TextBox 9"/>
          <p:cNvSpPr txBox="1"/>
          <p:nvPr/>
        </p:nvSpPr>
        <p:spPr>
          <a:xfrm>
            <a:off x="4157763"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1" name="TextBox 10"/>
          <p:cNvSpPr txBox="1"/>
          <p:nvPr/>
        </p:nvSpPr>
        <p:spPr>
          <a:xfrm>
            <a:off x="5168205"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2" name="TextBox 11"/>
          <p:cNvSpPr txBox="1"/>
          <p:nvPr/>
        </p:nvSpPr>
        <p:spPr>
          <a:xfrm>
            <a:off x="6178646" y="2590481"/>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3" name="TextBox 12"/>
          <p:cNvSpPr txBox="1"/>
          <p:nvPr/>
        </p:nvSpPr>
        <p:spPr>
          <a:xfrm>
            <a:off x="340200" y="296659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4" name="TextBox 13"/>
          <p:cNvSpPr txBox="1"/>
          <p:nvPr/>
        </p:nvSpPr>
        <p:spPr>
          <a:xfrm>
            <a:off x="1126440"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1,12%</a:t>
            </a:r>
          </a:p>
        </p:txBody>
      </p:sp>
      <p:sp>
        <p:nvSpPr>
          <p:cNvPr id="15" name="TextBox 14"/>
          <p:cNvSpPr txBox="1"/>
          <p:nvPr/>
        </p:nvSpPr>
        <p:spPr>
          <a:xfrm>
            <a:off x="2136881"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9,45%</a:t>
            </a:r>
          </a:p>
        </p:txBody>
      </p:sp>
      <p:sp>
        <p:nvSpPr>
          <p:cNvPr id="16" name="TextBox 15"/>
          <p:cNvSpPr txBox="1"/>
          <p:nvPr/>
        </p:nvSpPr>
        <p:spPr>
          <a:xfrm>
            <a:off x="3147322"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14,68%</a:t>
            </a:r>
          </a:p>
        </p:txBody>
      </p:sp>
      <p:sp>
        <p:nvSpPr>
          <p:cNvPr id="17" name="TextBox 16"/>
          <p:cNvSpPr txBox="1"/>
          <p:nvPr/>
        </p:nvSpPr>
        <p:spPr>
          <a:xfrm>
            <a:off x="4157763"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a:t>
            </a:r>
          </a:p>
        </p:txBody>
      </p:sp>
      <p:sp>
        <p:nvSpPr>
          <p:cNvPr id="18" name="TextBox 17"/>
          <p:cNvSpPr txBox="1"/>
          <p:nvPr/>
        </p:nvSpPr>
        <p:spPr>
          <a:xfrm>
            <a:off x="5168205"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a:t>
            </a:r>
          </a:p>
        </p:txBody>
      </p:sp>
      <p:sp>
        <p:nvSpPr>
          <p:cNvPr id="19" name="TextBox 18"/>
          <p:cNvSpPr txBox="1"/>
          <p:nvPr/>
        </p:nvSpPr>
        <p:spPr>
          <a:xfrm>
            <a:off x="6178646" y="2962811"/>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25,93%</a:t>
            </a:r>
          </a:p>
        </p:txBody>
      </p:sp>
      <p:sp>
        <p:nvSpPr>
          <p:cNvPr id="20" name="TextBox 19"/>
          <p:cNvSpPr txBox="1"/>
          <p:nvPr/>
        </p:nvSpPr>
        <p:spPr>
          <a:xfrm>
            <a:off x="340200" y="335782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21" name="TextBox 20"/>
          <p:cNvSpPr txBox="1"/>
          <p:nvPr/>
        </p:nvSpPr>
        <p:spPr>
          <a:xfrm>
            <a:off x="1126440"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1,09%</a:t>
            </a:r>
          </a:p>
        </p:txBody>
      </p:sp>
      <p:sp>
        <p:nvSpPr>
          <p:cNvPr id="22" name="TextBox 21"/>
          <p:cNvSpPr txBox="1"/>
          <p:nvPr/>
        </p:nvSpPr>
        <p:spPr>
          <a:xfrm>
            <a:off x="2136881"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9,33%</a:t>
            </a:r>
          </a:p>
        </p:txBody>
      </p:sp>
      <p:sp>
        <p:nvSpPr>
          <p:cNvPr id="23" name="TextBox 22"/>
          <p:cNvSpPr txBox="1"/>
          <p:nvPr/>
        </p:nvSpPr>
        <p:spPr>
          <a:xfrm>
            <a:off x="3147322"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14,57%</a:t>
            </a:r>
          </a:p>
        </p:txBody>
      </p:sp>
      <p:sp>
        <p:nvSpPr>
          <p:cNvPr id="24" name="TextBox 23"/>
          <p:cNvSpPr txBox="1"/>
          <p:nvPr/>
        </p:nvSpPr>
        <p:spPr>
          <a:xfrm>
            <a:off x="4157763"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25" name="TextBox 24"/>
          <p:cNvSpPr txBox="1"/>
          <p:nvPr/>
        </p:nvSpPr>
        <p:spPr>
          <a:xfrm>
            <a:off x="5168205"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26" name="TextBox 25"/>
          <p:cNvSpPr txBox="1"/>
          <p:nvPr/>
        </p:nvSpPr>
        <p:spPr>
          <a:xfrm>
            <a:off x="6178646" y="335404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25,71%</a:t>
            </a:r>
          </a:p>
        </p:txBody>
      </p:sp>
      <p:sp>
        <p:nvSpPr>
          <p:cNvPr id="27" name="TextBox 26"/>
          <p:cNvSpPr txBox="1"/>
          <p:nvPr/>
        </p:nvSpPr>
        <p:spPr>
          <a:xfrm>
            <a:off x="340200" y="375094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Alfa</a:t>
            </a:r>
          </a:p>
        </p:txBody>
      </p:sp>
      <p:sp>
        <p:nvSpPr>
          <p:cNvPr id="28" name="TextBox 27"/>
          <p:cNvSpPr txBox="1"/>
          <p:nvPr/>
        </p:nvSpPr>
        <p:spPr>
          <a:xfrm>
            <a:off x="1126440"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0,03%</a:t>
            </a:r>
          </a:p>
        </p:txBody>
      </p:sp>
      <p:sp>
        <p:nvSpPr>
          <p:cNvPr id="29" name="TextBox 28"/>
          <p:cNvSpPr txBox="1"/>
          <p:nvPr/>
        </p:nvSpPr>
        <p:spPr>
          <a:xfrm>
            <a:off x="2136881"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0,12%</a:t>
            </a:r>
          </a:p>
        </p:txBody>
      </p:sp>
      <p:sp>
        <p:nvSpPr>
          <p:cNvPr id="30" name="TextBox 29"/>
          <p:cNvSpPr txBox="1"/>
          <p:nvPr/>
        </p:nvSpPr>
        <p:spPr>
          <a:xfrm>
            <a:off x="3147322"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0,11%</a:t>
            </a:r>
          </a:p>
        </p:txBody>
      </p:sp>
      <p:sp>
        <p:nvSpPr>
          <p:cNvPr id="31" name="TextBox 30"/>
          <p:cNvSpPr txBox="1"/>
          <p:nvPr/>
        </p:nvSpPr>
        <p:spPr>
          <a:xfrm>
            <a:off x="4157763"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32" name="TextBox 31"/>
          <p:cNvSpPr txBox="1"/>
          <p:nvPr/>
        </p:nvSpPr>
        <p:spPr>
          <a:xfrm>
            <a:off x="5168205"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33" name="TextBox 32"/>
          <p:cNvSpPr txBox="1"/>
          <p:nvPr/>
        </p:nvSpPr>
        <p:spPr>
          <a:xfrm>
            <a:off x="6178646" y="374716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0,21%</a:t>
            </a:r>
          </a:p>
        </p:txBody>
      </p:sp>
      <p:sp>
        <p:nvSpPr>
          <p:cNvPr id="34" name="TextBox 33"/>
          <p:cNvSpPr txBox="1"/>
          <p:nvPr/>
        </p:nvSpPr>
        <p:spPr>
          <a:xfrm>
            <a:off x="340200" y="414406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t>
            </a:r>
          </a:p>
        </p:txBody>
      </p:sp>
      <p:sp>
        <p:nvSpPr>
          <p:cNvPr id="35" name="TextBox 34"/>
          <p:cNvSpPr txBox="1"/>
          <p:nvPr/>
        </p:nvSpPr>
        <p:spPr>
          <a:xfrm>
            <a:off x="1126440"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102%</a:t>
            </a:r>
          </a:p>
        </p:txBody>
      </p:sp>
      <p:sp>
        <p:nvSpPr>
          <p:cNvPr id="36" name="TextBox 35"/>
          <p:cNvSpPr txBox="1"/>
          <p:nvPr/>
        </p:nvSpPr>
        <p:spPr>
          <a:xfrm>
            <a:off x="2136881"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101%</a:t>
            </a:r>
          </a:p>
        </p:txBody>
      </p:sp>
      <p:sp>
        <p:nvSpPr>
          <p:cNvPr id="37" name="TextBox 36"/>
          <p:cNvSpPr txBox="1"/>
          <p:nvPr/>
        </p:nvSpPr>
        <p:spPr>
          <a:xfrm>
            <a:off x="3147322"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101%</a:t>
            </a:r>
          </a:p>
        </p:txBody>
      </p:sp>
      <p:sp>
        <p:nvSpPr>
          <p:cNvPr id="38" name="TextBox 37"/>
          <p:cNvSpPr txBox="1"/>
          <p:nvPr/>
        </p:nvSpPr>
        <p:spPr>
          <a:xfrm>
            <a:off x="4157763"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39" name="TextBox 38"/>
          <p:cNvSpPr txBox="1"/>
          <p:nvPr/>
        </p:nvSpPr>
        <p:spPr>
          <a:xfrm>
            <a:off x="5168205"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40" name="TextBox 39"/>
          <p:cNvSpPr txBox="1"/>
          <p:nvPr/>
        </p:nvSpPr>
        <p:spPr>
          <a:xfrm>
            <a:off x="6178646" y="414028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101%</a:t>
            </a:r>
          </a:p>
        </p:txBody>
      </p:sp>
      <p:sp>
        <p:nvSpPr>
          <p:cNvPr id="41" name="TextBox 40"/>
          <p:cNvSpPr txBox="1"/>
          <p:nvPr/>
        </p:nvSpPr>
        <p:spPr>
          <a:xfrm>
            <a:off x="355320" y="4476701"/>
            <a:ext cx="7076160" cy="113400"/>
          </a:xfrm>
          <a:prstGeom prst="rect">
            <a:avLst/>
          </a:prstGeom>
          <a:noFill/>
        </p:spPr>
        <p:txBody>
          <a:bodyPr wrap="none" lIns="0" rIns="0" tIns="0" bIns="0" anchor="t"/>
          <a:lstStyle/>
          <a:p>
            <a:pPr algn="r">
              <a:lnSpc>
                <a:spcPts val="892"/>
              </a:lnSpc>
            </a:pPr>
            <a:r>
              <a:rPr sz="744" b="0" i="0">
                <a:solidFill>
                  <a:srgbClr val="444444"/>
                </a:solidFill>
                <a:latin typeface="Versos"/>
              </a:rPr>
              <a:t>31/08/2026</a:t>
            </a:r>
          </a:p>
        </p:txBody>
      </p:sp>
      <p:sp>
        <p:nvSpPr>
          <p:cNvPr id="42" name="TextBox 41"/>
          <p:cNvSpPr txBox="1"/>
          <p:nvPr/>
        </p:nvSpPr>
        <p:spPr>
          <a:xfrm>
            <a:off x="400680" y="5134421"/>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43" name="TextBox 42"/>
          <p:cNvSpPr txBox="1"/>
          <p:nvPr/>
        </p:nvSpPr>
        <p:spPr>
          <a:xfrm>
            <a:off x="400680" y="5608693"/>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C6</a:t>
            </a:r>
          </a:p>
        </p:txBody>
      </p:sp>
      <p:sp>
        <p:nvSpPr>
          <p:cNvPr id="44" name="TextBox 43"/>
          <p:cNvSpPr txBox="1"/>
          <p:nvPr/>
        </p:nvSpPr>
        <p:spPr>
          <a:xfrm>
            <a:off x="2831928" y="5606803"/>
            <a:ext cx="201596" cy="143640"/>
          </a:xfrm>
          <a:prstGeom prst="rect">
            <a:avLst/>
          </a:prstGeom>
          <a:noFill/>
        </p:spPr>
        <p:txBody>
          <a:bodyPr wrap="none" lIns="0" rIns="0" tIns="0" bIns="0" anchor="t"/>
          <a:lstStyle/>
          <a:p>
            <a:pPr algn="l">
              <a:lnSpc>
                <a:spcPts val="1107"/>
              </a:lnSpc>
            </a:pPr>
            <a:r>
              <a:rPr sz="922" b="0" i="0">
                <a:solidFill>
                  <a:srgbClr val="5A82A0"/>
                </a:solidFill>
                <a:latin typeface="Versos"/>
              </a:rPr>
              <a:t>6%</a:t>
            </a:r>
          </a:p>
        </p:txBody>
      </p:sp>
      <p:sp>
        <p:nvSpPr>
          <p:cNvPr id="45" name="TextBox 44"/>
          <p:cNvSpPr txBox="1"/>
          <p:nvPr/>
        </p:nvSpPr>
        <p:spPr>
          <a:xfrm>
            <a:off x="400680" y="6013861"/>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ABC</a:t>
            </a:r>
          </a:p>
        </p:txBody>
      </p:sp>
      <p:sp>
        <p:nvSpPr>
          <p:cNvPr id="46" name="TextBox 45"/>
          <p:cNvSpPr txBox="1"/>
          <p:nvPr/>
        </p:nvSpPr>
        <p:spPr>
          <a:xfrm>
            <a:off x="2223703" y="6011971"/>
            <a:ext cx="372481" cy="143640"/>
          </a:xfrm>
          <a:prstGeom prst="rect">
            <a:avLst/>
          </a:prstGeom>
          <a:noFill/>
        </p:spPr>
        <p:txBody>
          <a:bodyPr wrap="none" lIns="0" rIns="0" tIns="0" bIns="0" anchor="t"/>
          <a:lstStyle/>
          <a:p>
            <a:pPr algn="l">
              <a:lnSpc>
                <a:spcPts val="1107"/>
              </a:lnSpc>
            </a:pPr>
            <a:r>
              <a:rPr sz="922" b="0" i="0">
                <a:solidFill>
                  <a:srgbClr val="5A82A0"/>
                </a:solidFill>
                <a:latin typeface="Versos"/>
              </a:rPr>
              <a:t>3,78%</a:t>
            </a:r>
          </a:p>
        </p:txBody>
      </p:sp>
      <p:sp>
        <p:nvSpPr>
          <p:cNvPr id="47" name="TextBox 46"/>
          <p:cNvSpPr txBox="1"/>
          <p:nvPr/>
        </p:nvSpPr>
        <p:spPr>
          <a:xfrm>
            <a:off x="400680" y="641914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XP</a:t>
            </a:r>
          </a:p>
        </p:txBody>
      </p:sp>
      <p:sp>
        <p:nvSpPr>
          <p:cNvPr id="48" name="TextBox 47"/>
          <p:cNvSpPr txBox="1"/>
          <p:nvPr/>
        </p:nvSpPr>
        <p:spPr>
          <a:xfrm>
            <a:off x="2178579" y="6417258"/>
            <a:ext cx="376289" cy="143640"/>
          </a:xfrm>
          <a:prstGeom prst="rect">
            <a:avLst/>
          </a:prstGeom>
          <a:noFill/>
        </p:spPr>
        <p:txBody>
          <a:bodyPr wrap="none" lIns="0" rIns="0" tIns="0" bIns="0" anchor="t"/>
          <a:lstStyle/>
          <a:p>
            <a:pPr algn="l">
              <a:lnSpc>
                <a:spcPts val="1107"/>
              </a:lnSpc>
            </a:pPr>
            <a:r>
              <a:rPr sz="922" b="0" i="0">
                <a:solidFill>
                  <a:srgbClr val="5A82A0"/>
                </a:solidFill>
                <a:latin typeface="Versos"/>
              </a:rPr>
              <a:t>3,62%</a:t>
            </a:r>
          </a:p>
        </p:txBody>
      </p:sp>
      <p:sp>
        <p:nvSpPr>
          <p:cNvPr id="49" name="TextBox 48"/>
          <p:cNvSpPr txBox="1"/>
          <p:nvPr/>
        </p:nvSpPr>
        <p:spPr>
          <a:xfrm>
            <a:off x="400680" y="6824317"/>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BTG</a:t>
            </a:r>
          </a:p>
        </p:txBody>
      </p:sp>
      <p:sp>
        <p:nvSpPr>
          <p:cNvPr id="50" name="TextBox 49"/>
          <p:cNvSpPr txBox="1"/>
          <p:nvPr/>
        </p:nvSpPr>
        <p:spPr>
          <a:xfrm>
            <a:off x="2177634" y="6822427"/>
            <a:ext cx="376289" cy="143640"/>
          </a:xfrm>
          <a:prstGeom prst="rect">
            <a:avLst/>
          </a:prstGeom>
          <a:noFill/>
        </p:spPr>
        <p:txBody>
          <a:bodyPr wrap="none" lIns="0" rIns="0" tIns="0" bIns="0" anchor="t"/>
          <a:lstStyle/>
          <a:p>
            <a:pPr algn="l">
              <a:lnSpc>
                <a:spcPts val="1107"/>
              </a:lnSpc>
            </a:pPr>
            <a:r>
              <a:rPr sz="922" b="0" i="0">
                <a:solidFill>
                  <a:srgbClr val="5A82A0"/>
                </a:solidFill>
                <a:latin typeface="Versos"/>
              </a:rPr>
              <a:t>3,62%</a:t>
            </a:r>
          </a:p>
        </p:txBody>
      </p:sp>
      <p:sp>
        <p:nvSpPr>
          <p:cNvPr id="51" name="TextBox 50"/>
          <p:cNvSpPr txBox="1"/>
          <p:nvPr/>
        </p:nvSpPr>
        <p:spPr>
          <a:xfrm>
            <a:off x="400680" y="7229604"/>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BRADESCO</a:t>
            </a:r>
          </a:p>
        </p:txBody>
      </p:sp>
      <p:sp>
        <p:nvSpPr>
          <p:cNvPr id="52" name="TextBox 51"/>
          <p:cNvSpPr txBox="1"/>
          <p:nvPr/>
        </p:nvSpPr>
        <p:spPr>
          <a:xfrm>
            <a:off x="1717773" y="7227714"/>
            <a:ext cx="347051" cy="143640"/>
          </a:xfrm>
          <a:prstGeom prst="rect">
            <a:avLst/>
          </a:prstGeom>
          <a:noFill/>
        </p:spPr>
        <p:txBody>
          <a:bodyPr wrap="none" lIns="0" rIns="0" tIns="0" bIns="0" anchor="t"/>
          <a:lstStyle/>
          <a:p>
            <a:pPr algn="l">
              <a:lnSpc>
                <a:spcPts val="1107"/>
              </a:lnSpc>
            </a:pPr>
            <a:r>
              <a:rPr sz="922" b="0" i="0">
                <a:solidFill>
                  <a:srgbClr val="5A82A0"/>
                </a:solidFill>
                <a:latin typeface="Versos"/>
              </a:rPr>
              <a:t>1,94%</a:t>
            </a:r>
          </a:p>
        </p:txBody>
      </p:sp>
      <p:sp>
        <p:nvSpPr>
          <p:cNvPr id="53" name="TextBox 52"/>
          <p:cNvSpPr txBox="1"/>
          <p:nvPr/>
        </p:nvSpPr>
        <p:spPr>
          <a:xfrm>
            <a:off x="400680" y="7713798"/>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54" name="TextBox 53"/>
          <p:cNvSpPr txBox="1"/>
          <p:nvPr/>
        </p:nvSpPr>
        <p:spPr>
          <a:xfrm>
            <a:off x="400680" y="811400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55" name="TextBox 54"/>
          <p:cNvSpPr txBox="1"/>
          <p:nvPr/>
        </p:nvSpPr>
        <p:spPr>
          <a:xfrm>
            <a:off x="2960448" y="8112116"/>
            <a:ext cx="475920" cy="143640"/>
          </a:xfrm>
          <a:prstGeom prst="rect">
            <a:avLst/>
          </a:prstGeom>
          <a:noFill/>
        </p:spPr>
        <p:txBody>
          <a:bodyPr wrap="none" lIns="0" rIns="0" tIns="0" bIns="0" anchor="t"/>
          <a:lstStyle/>
          <a:p>
            <a:pPr algn="l">
              <a:lnSpc>
                <a:spcPts val="1142"/>
              </a:lnSpc>
            </a:pPr>
            <a:r>
              <a:rPr sz="952" b="0" i="0">
                <a:solidFill>
                  <a:srgbClr val="111111"/>
                </a:solidFill>
                <a:latin typeface="Versos"/>
              </a:rPr>
              <a:t>35,99%</a:t>
            </a:r>
          </a:p>
        </p:txBody>
      </p:sp>
      <p:sp>
        <p:nvSpPr>
          <p:cNvPr id="56" name="TextBox 55"/>
          <p:cNvSpPr txBox="1"/>
          <p:nvPr/>
        </p:nvSpPr>
        <p:spPr>
          <a:xfrm>
            <a:off x="400680" y="837104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7" name="TextBox 56"/>
          <p:cNvSpPr txBox="1"/>
          <p:nvPr/>
        </p:nvSpPr>
        <p:spPr>
          <a:xfrm>
            <a:off x="1499242" y="8369156"/>
            <a:ext cx="397174" cy="143640"/>
          </a:xfrm>
          <a:prstGeom prst="rect">
            <a:avLst/>
          </a:prstGeom>
          <a:noFill/>
        </p:spPr>
        <p:txBody>
          <a:bodyPr wrap="none" lIns="0" rIns="0" tIns="0" bIns="0" anchor="t"/>
          <a:lstStyle/>
          <a:p>
            <a:pPr algn="l">
              <a:lnSpc>
                <a:spcPts val="1142"/>
              </a:lnSpc>
            </a:pPr>
            <a:r>
              <a:rPr sz="952" b="0" i="0">
                <a:solidFill>
                  <a:srgbClr val="111111"/>
                </a:solidFill>
                <a:latin typeface="Versos"/>
              </a:rPr>
              <a:t>8,56%</a:t>
            </a:r>
          </a:p>
        </p:txBody>
      </p:sp>
      <p:sp>
        <p:nvSpPr>
          <p:cNvPr id="58" name="TextBox 57"/>
          <p:cNvSpPr txBox="1"/>
          <p:nvPr/>
        </p:nvSpPr>
        <p:spPr>
          <a:xfrm>
            <a:off x="400680" y="862808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9" name="TextBox 58"/>
          <p:cNvSpPr txBox="1"/>
          <p:nvPr/>
        </p:nvSpPr>
        <p:spPr>
          <a:xfrm>
            <a:off x="1406986" y="8626196"/>
            <a:ext cx="395699" cy="143640"/>
          </a:xfrm>
          <a:prstGeom prst="rect">
            <a:avLst/>
          </a:prstGeom>
          <a:noFill/>
        </p:spPr>
        <p:txBody>
          <a:bodyPr wrap="none" lIns="0" rIns="0" tIns="0" bIns="0" anchor="t"/>
          <a:lstStyle/>
          <a:p>
            <a:pPr algn="l">
              <a:lnSpc>
                <a:spcPts val="1142"/>
              </a:lnSpc>
            </a:pPr>
            <a:r>
              <a:rPr sz="952" b="0" i="0">
                <a:solidFill>
                  <a:srgbClr val="111111"/>
                </a:solidFill>
                <a:latin typeface="Versos"/>
              </a:rPr>
              <a:t>6,83%</a:t>
            </a:r>
          </a:p>
        </p:txBody>
      </p:sp>
      <p:sp>
        <p:nvSpPr>
          <p:cNvPr id="60" name="TextBox 59"/>
          <p:cNvSpPr txBox="1"/>
          <p:nvPr/>
        </p:nvSpPr>
        <p:spPr>
          <a:xfrm>
            <a:off x="400680" y="888512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1" name="TextBox 60"/>
          <p:cNvSpPr txBox="1"/>
          <p:nvPr/>
        </p:nvSpPr>
        <p:spPr>
          <a:xfrm>
            <a:off x="1375329" y="8883236"/>
            <a:ext cx="389680" cy="143640"/>
          </a:xfrm>
          <a:prstGeom prst="rect">
            <a:avLst/>
          </a:prstGeom>
          <a:noFill/>
        </p:spPr>
        <p:txBody>
          <a:bodyPr wrap="none" lIns="0" rIns="0" tIns="0" bIns="0" anchor="t"/>
          <a:lstStyle/>
          <a:p>
            <a:pPr algn="l">
              <a:lnSpc>
                <a:spcPts val="1142"/>
              </a:lnSpc>
            </a:pPr>
            <a:r>
              <a:rPr sz="952" b="0" i="0">
                <a:solidFill>
                  <a:srgbClr val="111111"/>
                </a:solidFill>
                <a:latin typeface="Versos"/>
              </a:rPr>
              <a:t>6,23%</a:t>
            </a:r>
          </a:p>
        </p:txBody>
      </p:sp>
      <p:sp>
        <p:nvSpPr>
          <p:cNvPr id="62" name="TextBox 61"/>
          <p:cNvSpPr txBox="1"/>
          <p:nvPr/>
        </p:nvSpPr>
        <p:spPr>
          <a:xfrm>
            <a:off x="400680" y="914216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63" name="TextBox 62"/>
          <p:cNvSpPr txBox="1"/>
          <p:nvPr/>
        </p:nvSpPr>
        <p:spPr>
          <a:xfrm>
            <a:off x="1291696" y="9140276"/>
            <a:ext cx="384643" cy="143640"/>
          </a:xfrm>
          <a:prstGeom prst="rect">
            <a:avLst/>
          </a:prstGeom>
          <a:noFill/>
        </p:spPr>
        <p:txBody>
          <a:bodyPr wrap="none" lIns="0" rIns="0" tIns="0" bIns="0" anchor="t"/>
          <a:lstStyle/>
          <a:p>
            <a:pPr algn="l">
              <a:lnSpc>
                <a:spcPts val="1142"/>
              </a:lnSpc>
            </a:pPr>
            <a:r>
              <a:rPr sz="952" b="0" i="0">
                <a:solidFill>
                  <a:srgbClr val="111111"/>
                </a:solidFill>
                <a:latin typeface="Versos"/>
              </a:rPr>
              <a:t>4,67%</a:t>
            </a:r>
          </a:p>
        </p:txBody>
      </p:sp>
      <p:sp>
        <p:nvSpPr>
          <p:cNvPr id="64" name="TextBox 63"/>
          <p:cNvSpPr txBox="1"/>
          <p:nvPr/>
        </p:nvSpPr>
        <p:spPr>
          <a:xfrm>
            <a:off x="400680" y="939920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5" name="TextBox 64"/>
          <p:cNvSpPr txBox="1"/>
          <p:nvPr/>
        </p:nvSpPr>
        <p:spPr>
          <a:xfrm>
            <a:off x="1284018" y="9397316"/>
            <a:ext cx="394102" cy="143640"/>
          </a:xfrm>
          <a:prstGeom prst="rect">
            <a:avLst/>
          </a:prstGeom>
          <a:noFill/>
        </p:spPr>
        <p:txBody>
          <a:bodyPr wrap="none" lIns="0" rIns="0" tIns="0" bIns="0" anchor="t"/>
          <a:lstStyle/>
          <a:p>
            <a:pPr algn="l">
              <a:lnSpc>
                <a:spcPts val="1142"/>
              </a:lnSpc>
            </a:pPr>
            <a:r>
              <a:rPr sz="952" b="0" i="0">
                <a:solidFill>
                  <a:srgbClr val="111111"/>
                </a:solidFill>
                <a:latin typeface="Versos"/>
              </a:rPr>
              <a:t>4,52%</a:t>
            </a:r>
          </a:p>
        </p:txBody>
      </p:sp>
      <p:sp>
        <p:nvSpPr>
          <p:cNvPr id="66" name="TextBox 65"/>
          <p:cNvSpPr txBox="1"/>
          <p:nvPr/>
        </p:nvSpPr>
        <p:spPr>
          <a:xfrm>
            <a:off x="400680" y="965624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BB</a:t>
            </a:r>
          </a:p>
        </p:txBody>
      </p:sp>
      <p:sp>
        <p:nvSpPr>
          <p:cNvPr id="67" name="TextBox 66"/>
          <p:cNvSpPr txBox="1"/>
          <p:nvPr/>
        </p:nvSpPr>
        <p:spPr>
          <a:xfrm>
            <a:off x="1083206" y="9654356"/>
            <a:ext cx="379237" cy="143640"/>
          </a:xfrm>
          <a:prstGeom prst="rect">
            <a:avLst/>
          </a:prstGeom>
          <a:noFill/>
        </p:spPr>
        <p:txBody>
          <a:bodyPr wrap="none" lIns="0" rIns="0" tIns="0" bIns="0" anchor="t"/>
          <a:lstStyle/>
          <a:p>
            <a:pPr algn="l">
              <a:lnSpc>
                <a:spcPts val="1142"/>
              </a:lnSpc>
            </a:pPr>
            <a:r>
              <a:rPr sz="952" b="0" i="0">
                <a:solidFill>
                  <a:srgbClr val="111111"/>
                </a:solidFill>
                <a:latin typeface="Versos"/>
              </a:rPr>
              <a:t>0,75%</a:t>
            </a:r>
          </a:p>
        </p:txBody>
      </p:sp>
      <p:sp>
        <p:nvSpPr>
          <p:cNvPr id="68" name="TextBox 67"/>
          <p:cNvSpPr txBox="1"/>
          <p:nvPr/>
        </p:nvSpPr>
        <p:spPr>
          <a:xfrm>
            <a:off x="3802680" y="5134421"/>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69" name="TextBox 68"/>
          <p:cNvSpPr txBox="1"/>
          <p:nvPr/>
        </p:nvSpPr>
        <p:spPr>
          <a:xfrm>
            <a:off x="3802680" y="55252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a:t>
            </a:r>
          </a:p>
        </p:txBody>
      </p:sp>
      <p:sp>
        <p:nvSpPr>
          <p:cNvPr id="70" name="TextBox 69"/>
          <p:cNvSpPr txBox="1"/>
          <p:nvPr/>
        </p:nvSpPr>
        <p:spPr>
          <a:xfrm>
            <a:off x="6752497" y="5517618"/>
            <a:ext cx="483414" cy="143640"/>
          </a:xfrm>
          <a:prstGeom prst="rect">
            <a:avLst/>
          </a:prstGeom>
          <a:noFill/>
        </p:spPr>
        <p:txBody>
          <a:bodyPr wrap="none" lIns="0" rIns="0" tIns="0" bIns="0" anchor="t"/>
          <a:lstStyle/>
          <a:p>
            <a:pPr algn="l">
              <a:lnSpc>
                <a:spcPts val="1142"/>
              </a:lnSpc>
            </a:pPr>
            <a:r>
              <a:rPr sz="952" b="0" i="0">
                <a:solidFill>
                  <a:srgbClr val="111111"/>
                </a:solidFill>
                <a:latin typeface="Versos"/>
              </a:rPr>
              <a:t>30,80%</a:t>
            </a:r>
          </a:p>
        </p:txBody>
      </p:sp>
      <p:sp>
        <p:nvSpPr>
          <p:cNvPr id="71" name="TextBox 70"/>
          <p:cNvSpPr txBox="1"/>
          <p:nvPr/>
        </p:nvSpPr>
        <p:spPr>
          <a:xfrm>
            <a:off x="3802680" y="57520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72" name="TextBox 71"/>
          <p:cNvSpPr txBox="1"/>
          <p:nvPr/>
        </p:nvSpPr>
        <p:spPr>
          <a:xfrm>
            <a:off x="6296535" y="5744418"/>
            <a:ext cx="442997" cy="143640"/>
          </a:xfrm>
          <a:prstGeom prst="rect">
            <a:avLst/>
          </a:prstGeom>
          <a:noFill/>
        </p:spPr>
        <p:txBody>
          <a:bodyPr wrap="none" lIns="0" rIns="0" tIns="0" bIns="0" anchor="t"/>
          <a:lstStyle/>
          <a:p>
            <a:pPr algn="l">
              <a:lnSpc>
                <a:spcPts val="1142"/>
              </a:lnSpc>
            </a:pPr>
            <a:r>
              <a:rPr sz="952" b="0" i="0">
                <a:solidFill>
                  <a:srgbClr val="111111"/>
                </a:solidFill>
                <a:latin typeface="Versos"/>
              </a:rPr>
              <a:t>19,69%</a:t>
            </a:r>
          </a:p>
        </p:txBody>
      </p:sp>
      <p:sp>
        <p:nvSpPr>
          <p:cNvPr id="73" name="TextBox 72"/>
          <p:cNvSpPr txBox="1"/>
          <p:nvPr/>
        </p:nvSpPr>
        <p:spPr>
          <a:xfrm>
            <a:off x="3802680" y="59788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FIDC</a:t>
            </a:r>
          </a:p>
        </p:txBody>
      </p:sp>
      <p:sp>
        <p:nvSpPr>
          <p:cNvPr id="74" name="TextBox 73"/>
          <p:cNvSpPr txBox="1"/>
          <p:nvPr/>
        </p:nvSpPr>
        <p:spPr>
          <a:xfrm>
            <a:off x="6078121" y="5971218"/>
            <a:ext cx="434397" cy="143640"/>
          </a:xfrm>
          <a:prstGeom prst="rect">
            <a:avLst/>
          </a:prstGeom>
          <a:noFill/>
        </p:spPr>
        <p:txBody>
          <a:bodyPr wrap="none" lIns="0" rIns="0" tIns="0" bIns="0" anchor="t"/>
          <a:lstStyle/>
          <a:p>
            <a:pPr algn="l">
              <a:lnSpc>
                <a:spcPts val="1142"/>
              </a:lnSpc>
            </a:pPr>
            <a:r>
              <a:rPr sz="952" b="0" i="0">
                <a:solidFill>
                  <a:srgbClr val="111111"/>
                </a:solidFill>
                <a:latin typeface="Versos"/>
              </a:rPr>
              <a:t>14,37%</a:t>
            </a:r>
          </a:p>
        </p:txBody>
      </p:sp>
      <p:sp>
        <p:nvSpPr>
          <p:cNvPr id="75" name="TextBox 74"/>
          <p:cNvSpPr txBox="1"/>
          <p:nvPr/>
        </p:nvSpPr>
        <p:spPr>
          <a:xfrm>
            <a:off x="3802680" y="62056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76" name="TextBox 75"/>
          <p:cNvSpPr txBox="1"/>
          <p:nvPr/>
        </p:nvSpPr>
        <p:spPr>
          <a:xfrm>
            <a:off x="5809387" y="6198018"/>
            <a:ext cx="374815" cy="143640"/>
          </a:xfrm>
          <a:prstGeom prst="rect">
            <a:avLst/>
          </a:prstGeom>
          <a:noFill/>
        </p:spPr>
        <p:txBody>
          <a:bodyPr wrap="none" lIns="0" rIns="0" tIns="0" bIns="0" anchor="t"/>
          <a:lstStyle/>
          <a:p>
            <a:pPr algn="l">
              <a:lnSpc>
                <a:spcPts val="1142"/>
              </a:lnSpc>
            </a:pPr>
            <a:r>
              <a:rPr sz="952" b="0" i="0">
                <a:solidFill>
                  <a:srgbClr val="111111"/>
                </a:solidFill>
                <a:latin typeface="Versos"/>
              </a:rPr>
              <a:t>7,82%</a:t>
            </a:r>
          </a:p>
        </p:txBody>
      </p:sp>
      <p:sp>
        <p:nvSpPr>
          <p:cNvPr id="77" name="TextBox 76"/>
          <p:cNvSpPr txBox="1"/>
          <p:nvPr/>
        </p:nvSpPr>
        <p:spPr>
          <a:xfrm>
            <a:off x="3802680" y="64324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Locação de veículos</a:t>
            </a:r>
          </a:p>
        </p:txBody>
      </p:sp>
      <p:sp>
        <p:nvSpPr>
          <p:cNvPr id="78" name="TextBox 77"/>
          <p:cNvSpPr txBox="1"/>
          <p:nvPr/>
        </p:nvSpPr>
        <p:spPr>
          <a:xfrm>
            <a:off x="5661967" y="6424818"/>
            <a:ext cx="393120" cy="143640"/>
          </a:xfrm>
          <a:prstGeom prst="rect">
            <a:avLst/>
          </a:prstGeom>
          <a:noFill/>
        </p:spPr>
        <p:txBody>
          <a:bodyPr wrap="none" lIns="0" rIns="0" tIns="0" bIns="0" anchor="t"/>
          <a:lstStyle/>
          <a:p>
            <a:pPr algn="l">
              <a:lnSpc>
                <a:spcPts val="1142"/>
              </a:lnSpc>
            </a:pPr>
            <a:r>
              <a:rPr sz="952" b="0" i="0">
                <a:solidFill>
                  <a:srgbClr val="111111"/>
                </a:solidFill>
                <a:latin typeface="Versos"/>
              </a:rPr>
              <a:t>4,23%</a:t>
            </a:r>
          </a:p>
        </p:txBody>
      </p:sp>
      <p:sp>
        <p:nvSpPr>
          <p:cNvPr id="79" name="TextBox 78"/>
          <p:cNvSpPr txBox="1"/>
          <p:nvPr/>
        </p:nvSpPr>
        <p:spPr>
          <a:xfrm>
            <a:off x="3802680" y="66592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Saneamento</a:t>
            </a:r>
          </a:p>
        </p:txBody>
      </p:sp>
      <p:sp>
        <p:nvSpPr>
          <p:cNvPr id="80" name="TextBox 79"/>
          <p:cNvSpPr txBox="1"/>
          <p:nvPr/>
        </p:nvSpPr>
        <p:spPr>
          <a:xfrm>
            <a:off x="5644603" y="6651618"/>
            <a:ext cx="357493" cy="143640"/>
          </a:xfrm>
          <a:prstGeom prst="rect">
            <a:avLst/>
          </a:prstGeom>
          <a:noFill/>
        </p:spPr>
        <p:txBody>
          <a:bodyPr wrap="none" lIns="0" rIns="0" tIns="0" bIns="0" anchor="t"/>
          <a:lstStyle/>
          <a:p>
            <a:pPr algn="l">
              <a:lnSpc>
                <a:spcPts val="1142"/>
              </a:lnSpc>
            </a:pPr>
            <a:r>
              <a:rPr sz="952" b="0" i="0">
                <a:solidFill>
                  <a:srgbClr val="111111"/>
                </a:solidFill>
                <a:latin typeface="Versos"/>
              </a:rPr>
              <a:t>3,81%</a:t>
            </a:r>
          </a:p>
        </p:txBody>
      </p:sp>
      <p:sp>
        <p:nvSpPr>
          <p:cNvPr id="81" name="TextBox 80"/>
          <p:cNvSpPr txBox="1"/>
          <p:nvPr/>
        </p:nvSpPr>
        <p:spPr>
          <a:xfrm>
            <a:off x="3802680" y="6829633"/>
            <a:ext cx="1542240" cy="234005"/>
          </a:xfrm>
          <a:prstGeom prst="rect">
            <a:avLst/>
          </a:prstGeom>
          <a:noFill/>
        </p:spPr>
        <p:txBody>
          <a:bodyPr wrap="square" lIns="0" rIns="0" tIns="0" bIns="0" anchor="t"/>
          <a:lstStyle/>
          <a:p>
            <a:pPr algn="r">
              <a:lnSpc>
                <a:spcPts val="890"/>
              </a:lnSpc>
            </a:pPr>
            <a:r>
              <a:rPr sz="809" b="0" i="0">
                <a:solidFill>
                  <a:srgbClr val="222222"/>
                </a:solidFill>
                <a:latin typeface="Versos"/>
              </a:rPr>
              <a:t>Comércio atacadista e varejista</a:t>
            </a:r>
          </a:p>
        </p:txBody>
      </p:sp>
      <p:sp>
        <p:nvSpPr>
          <p:cNvPr id="82" name="TextBox 81"/>
          <p:cNvSpPr txBox="1"/>
          <p:nvPr/>
        </p:nvSpPr>
        <p:spPr>
          <a:xfrm>
            <a:off x="5641768" y="6878418"/>
            <a:ext cx="369287" cy="143640"/>
          </a:xfrm>
          <a:prstGeom prst="rect">
            <a:avLst/>
          </a:prstGeom>
          <a:noFill/>
        </p:spPr>
        <p:txBody>
          <a:bodyPr wrap="none" lIns="0" rIns="0" tIns="0" bIns="0" anchor="t"/>
          <a:lstStyle/>
          <a:p>
            <a:pPr algn="l">
              <a:lnSpc>
                <a:spcPts val="1142"/>
              </a:lnSpc>
            </a:pPr>
            <a:r>
              <a:rPr sz="952" b="0" i="0">
                <a:solidFill>
                  <a:srgbClr val="111111"/>
                </a:solidFill>
                <a:latin typeface="Versos"/>
              </a:rPr>
              <a:t>3,74%</a:t>
            </a:r>
          </a:p>
        </p:txBody>
      </p:sp>
      <p:sp>
        <p:nvSpPr>
          <p:cNvPr id="83" name="TextBox 82"/>
          <p:cNvSpPr txBox="1"/>
          <p:nvPr/>
        </p:nvSpPr>
        <p:spPr>
          <a:xfrm>
            <a:off x="3802680" y="71128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84" name="TextBox 83"/>
          <p:cNvSpPr txBox="1"/>
          <p:nvPr/>
        </p:nvSpPr>
        <p:spPr>
          <a:xfrm>
            <a:off x="5609047" y="7105218"/>
            <a:ext cx="388451" cy="143640"/>
          </a:xfrm>
          <a:prstGeom prst="rect">
            <a:avLst/>
          </a:prstGeom>
          <a:noFill/>
        </p:spPr>
        <p:txBody>
          <a:bodyPr wrap="none" lIns="0" rIns="0" tIns="0" bIns="0" anchor="t"/>
          <a:lstStyle/>
          <a:p>
            <a:pPr algn="l">
              <a:lnSpc>
                <a:spcPts val="1142"/>
              </a:lnSpc>
            </a:pPr>
            <a:r>
              <a:rPr sz="952" b="0" i="0">
                <a:solidFill>
                  <a:srgbClr val="111111"/>
                </a:solidFill>
                <a:latin typeface="Versos"/>
              </a:rPr>
              <a:t>2,94%</a:t>
            </a:r>
          </a:p>
        </p:txBody>
      </p:sp>
      <p:sp>
        <p:nvSpPr>
          <p:cNvPr id="85" name="TextBox 84"/>
          <p:cNvSpPr txBox="1"/>
          <p:nvPr/>
        </p:nvSpPr>
        <p:spPr>
          <a:xfrm>
            <a:off x="3802680" y="73396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Assistência médica</a:t>
            </a:r>
          </a:p>
        </p:txBody>
      </p:sp>
      <p:sp>
        <p:nvSpPr>
          <p:cNvPr id="86" name="TextBox 85"/>
          <p:cNvSpPr txBox="1"/>
          <p:nvPr/>
        </p:nvSpPr>
        <p:spPr>
          <a:xfrm>
            <a:off x="5590620" y="7332018"/>
            <a:ext cx="396559" cy="143640"/>
          </a:xfrm>
          <a:prstGeom prst="rect">
            <a:avLst/>
          </a:prstGeom>
          <a:noFill/>
        </p:spPr>
        <p:txBody>
          <a:bodyPr wrap="none" lIns="0" rIns="0" tIns="0" bIns="0" anchor="t"/>
          <a:lstStyle/>
          <a:p>
            <a:pPr algn="l">
              <a:lnSpc>
                <a:spcPts val="1142"/>
              </a:lnSpc>
            </a:pPr>
            <a:r>
              <a:rPr sz="952" b="0" i="0">
                <a:solidFill>
                  <a:srgbClr val="111111"/>
                </a:solidFill>
                <a:latin typeface="Versos"/>
              </a:rPr>
              <a:t>2,49%</a:t>
            </a:r>
          </a:p>
        </p:txBody>
      </p:sp>
      <p:sp>
        <p:nvSpPr>
          <p:cNvPr id="87" name="TextBox 86"/>
          <p:cNvSpPr txBox="1"/>
          <p:nvPr/>
        </p:nvSpPr>
        <p:spPr>
          <a:xfrm>
            <a:off x="3802680" y="75664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Indústria e Comércio</a:t>
            </a:r>
          </a:p>
        </p:txBody>
      </p:sp>
      <p:sp>
        <p:nvSpPr>
          <p:cNvPr id="88" name="TextBox 87"/>
          <p:cNvSpPr txBox="1"/>
          <p:nvPr/>
        </p:nvSpPr>
        <p:spPr>
          <a:xfrm>
            <a:off x="5578453" y="7558818"/>
            <a:ext cx="354176" cy="143640"/>
          </a:xfrm>
          <a:prstGeom prst="rect">
            <a:avLst/>
          </a:prstGeom>
          <a:noFill/>
        </p:spPr>
        <p:txBody>
          <a:bodyPr wrap="none" lIns="0" rIns="0" tIns="0" bIns="0" anchor="t"/>
          <a:lstStyle/>
          <a:p>
            <a:pPr algn="l">
              <a:lnSpc>
                <a:spcPts val="1142"/>
              </a:lnSpc>
            </a:pPr>
            <a:r>
              <a:rPr sz="952" b="0" i="0">
                <a:solidFill>
                  <a:srgbClr val="111111"/>
                </a:solidFill>
                <a:latin typeface="Versos"/>
              </a:rPr>
              <a:t>2,19%</a:t>
            </a:r>
          </a:p>
        </p:txBody>
      </p:sp>
      <p:sp>
        <p:nvSpPr>
          <p:cNvPr id="89" name="TextBox 88"/>
          <p:cNvSpPr txBox="1"/>
          <p:nvPr/>
        </p:nvSpPr>
        <p:spPr>
          <a:xfrm>
            <a:off x="3802680" y="77932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90" name="TextBox 89"/>
          <p:cNvSpPr txBox="1"/>
          <p:nvPr/>
        </p:nvSpPr>
        <p:spPr>
          <a:xfrm>
            <a:off x="5572192" y="7785618"/>
            <a:ext cx="390908" cy="143640"/>
          </a:xfrm>
          <a:prstGeom prst="rect">
            <a:avLst/>
          </a:prstGeom>
          <a:noFill/>
        </p:spPr>
        <p:txBody>
          <a:bodyPr wrap="none" lIns="0" rIns="0" tIns="0" bIns="0" anchor="t"/>
          <a:lstStyle/>
          <a:p>
            <a:pPr algn="l">
              <a:lnSpc>
                <a:spcPts val="1142"/>
              </a:lnSpc>
            </a:pPr>
            <a:r>
              <a:rPr sz="952" b="0" i="0">
                <a:solidFill>
                  <a:srgbClr val="111111"/>
                </a:solidFill>
                <a:latin typeface="Versos"/>
              </a:rPr>
              <a:t>2,04%</a:t>
            </a:r>
          </a:p>
        </p:txBody>
      </p:sp>
      <p:sp>
        <p:nvSpPr>
          <p:cNvPr id="91" name="TextBox 90"/>
          <p:cNvSpPr txBox="1"/>
          <p:nvPr/>
        </p:nvSpPr>
        <p:spPr>
          <a:xfrm>
            <a:off x="3802680" y="80200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Petróleo e Gás</a:t>
            </a:r>
          </a:p>
        </p:txBody>
      </p:sp>
      <p:sp>
        <p:nvSpPr>
          <p:cNvPr id="92" name="TextBox 91"/>
          <p:cNvSpPr txBox="1"/>
          <p:nvPr/>
        </p:nvSpPr>
        <p:spPr>
          <a:xfrm>
            <a:off x="5543133" y="8012418"/>
            <a:ext cx="362407" cy="143640"/>
          </a:xfrm>
          <a:prstGeom prst="rect">
            <a:avLst/>
          </a:prstGeom>
          <a:noFill/>
        </p:spPr>
        <p:txBody>
          <a:bodyPr wrap="none" lIns="0" rIns="0" tIns="0" bIns="0" anchor="t"/>
          <a:lstStyle/>
          <a:p>
            <a:pPr algn="l">
              <a:lnSpc>
                <a:spcPts val="1142"/>
              </a:lnSpc>
            </a:pPr>
            <a:r>
              <a:rPr sz="952" b="0" i="0">
                <a:solidFill>
                  <a:srgbClr val="111111"/>
                </a:solidFill>
                <a:latin typeface="Versos"/>
              </a:rPr>
              <a:t>1,33%</a:t>
            </a:r>
          </a:p>
        </p:txBody>
      </p:sp>
      <p:sp>
        <p:nvSpPr>
          <p:cNvPr id="93" name="TextBox 92"/>
          <p:cNvSpPr txBox="1"/>
          <p:nvPr/>
        </p:nvSpPr>
        <p:spPr>
          <a:xfrm>
            <a:off x="3802680" y="82468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Educação</a:t>
            </a:r>
          </a:p>
        </p:txBody>
      </p:sp>
      <p:sp>
        <p:nvSpPr>
          <p:cNvPr id="94" name="TextBox 93"/>
          <p:cNvSpPr txBox="1"/>
          <p:nvPr/>
        </p:nvSpPr>
        <p:spPr>
          <a:xfrm>
            <a:off x="5535573" y="8239218"/>
            <a:ext cx="317075" cy="143640"/>
          </a:xfrm>
          <a:prstGeom prst="rect">
            <a:avLst/>
          </a:prstGeom>
          <a:noFill/>
        </p:spPr>
        <p:txBody>
          <a:bodyPr wrap="none" lIns="0" rIns="0" tIns="0" bIns="0" anchor="t"/>
          <a:lstStyle/>
          <a:p>
            <a:pPr algn="l">
              <a:lnSpc>
                <a:spcPts val="1142"/>
              </a:lnSpc>
            </a:pPr>
            <a:r>
              <a:rPr sz="952" b="0" i="0">
                <a:solidFill>
                  <a:srgbClr val="111111"/>
                </a:solidFill>
                <a:latin typeface="Versos"/>
              </a:rPr>
              <a:t>1,15%</a:t>
            </a:r>
          </a:p>
        </p:txBody>
      </p:sp>
      <p:sp>
        <p:nvSpPr>
          <p:cNvPr id="95" name="TextBox 94"/>
          <p:cNvSpPr txBox="1"/>
          <p:nvPr/>
        </p:nvSpPr>
        <p:spPr>
          <a:xfrm>
            <a:off x="3802680" y="84736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Metalurgia e Siderurgia</a:t>
            </a:r>
          </a:p>
        </p:txBody>
      </p:sp>
      <p:sp>
        <p:nvSpPr>
          <p:cNvPr id="96" name="TextBox 95"/>
          <p:cNvSpPr txBox="1"/>
          <p:nvPr/>
        </p:nvSpPr>
        <p:spPr>
          <a:xfrm>
            <a:off x="5528013" y="8466018"/>
            <a:ext cx="398648" cy="143640"/>
          </a:xfrm>
          <a:prstGeom prst="rect">
            <a:avLst/>
          </a:prstGeom>
          <a:noFill/>
        </p:spPr>
        <p:txBody>
          <a:bodyPr wrap="none" lIns="0" rIns="0" tIns="0" bIns="0" anchor="t"/>
          <a:lstStyle/>
          <a:p>
            <a:pPr algn="l">
              <a:lnSpc>
                <a:spcPts val="1142"/>
              </a:lnSpc>
            </a:pPr>
            <a:r>
              <a:rPr sz="952" b="0" i="0">
                <a:solidFill>
                  <a:srgbClr val="111111"/>
                </a:solidFill>
                <a:latin typeface="Versos"/>
              </a:rPr>
              <a:t>0,96%</a:t>
            </a:r>
          </a:p>
        </p:txBody>
      </p:sp>
      <p:sp>
        <p:nvSpPr>
          <p:cNvPr id="97" name="TextBox 96"/>
          <p:cNvSpPr txBox="1"/>
          <p:nvPr/>
        </p:nvSpPr>
        <p:spPr>
          <a:xfrm>
            <a:off x="3802680" y="87004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Agropecuária</a:t>
            </a:r>
          </a:p>
        </p:txBody>
      </p:sp>
      <p:sp>
        <p:nvSpPr>
          <p:cNvPr id="98" name="TextBox 97"/>
          <p:cNvSpPr txBox="1"/>
          <p:nvPr/>
        </p:nvSpPr>
        <p:spPr>
          <a:xfrm>
            <a:off x="5516201" y="8692818"/>
            <a:ext cx="383660" cy="143640"/>
          </a:xfrm>
          <a:prstGeom prst="rect">
            <a:avLst/>
          </a:prstGeom>
          <a:noFill/>
        </p:spPr>
        <p:txBody>
          <a:bodyPr wrap="none" lIns="0" rIns="0" tIns="0" bIns="0" anchor="t"/>
          <a:lstStyle/>
          <a:p>
            <a:pPr algn="l">
              <a:lnSpc>
                <a:spcPts val="1142"/>
              </a:lnSpc>
            </a:pPr>
            <a:r>
              <a:rPr sz="952" b="0" i="0">
                <a:solidFill>
                  <a:srgbClr val="111111"/>
                </a:solidFill>
                <a:latin typeface="Versos"/>
              </a:rPr>
              <a:t>0,67%</a:t>
            </a:r>
          </a:p>
        </p:txBody>
      </p:sp>
      <p:sp>
        <p:nvSpPr>
          <p:cNvPr id="99" name="TextBox 98"/>
          <p:cNvSpPr txBox="1"/>
          <p:nvPr/>
        </p:nvSpPr>
        <p:spPr>
          <a:xfrm>
            <a:off x="3802680" y="89272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Alimentos e bebidas</a:t>
            </a:r>
          </a:p>
        </p:txBody>
      </p:sp>
      <p:sp>
        <p:nvSpPr>
          <p:cNvPr id="100" name="TextBox 99"/>
          <p:cNvSpPr txBox="1"/>
          <p:nvPr/>
        </p:nvSpPr>
        <p:spPr>
          <a:xfrm>
            <a:off x="5512657" y="8919618"/>
            <a:ext cx="396682" cy="143640"/>
          </a:xfrm>
          <a:prstGeom prst="rect">
            <a:avLst/>
          </a:prstGeom>
          <a:noFill/>
        </p:spPr>
        <p:txBody>
          <a:bodyPr wrap="none" lIns="0" rIns="0" tIns="0" bIns="0" anchor="t"/>
          <a:lstStyle/>
          <a:p>
            <a:pPr algn="l">
              <a:lnSpc>
                <a:spcPts val="1142"/>
              </a:lnSpc>
            </a:pPr>
            <a:r>
              <a:rPr sz="952" b="0" i="0">
                <a:solidFill>
                  <a:srgbClr val="111111"/>
                </a:solidFill>
                <a:latin typeface="Versos"/>
              </a:rPr>
              <a:t>0,59%</a:t>
            </a:r>
          </a:p>
        </p:txBody>
      </p:sp>
      <p:sp>
        <p:nvSpPr>
          <p:cNvPr id="101" name="TextBox 100"/>
          <p:cNvSpPr txBox="1"/>
          <p:nvPr/>
        </p:nvSpPr>
        <p:spPr>
          <a:xfrm>
            <a:off x="3802680" y="91540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 Corp</a:t>
            </a:r>
          </a:p>
        </p:txBody>
      </p:sp>
      <p:sp>
        <p:nvSpPr>
          <p:cNvPr id="102" name="TextBox 101"/>
          <p:cNvSpPr txBox="1"/>
          <p:nvPr/>
        </p:nvSpPr>
        <p:spPr>
          <a:xfrm>
            <a:off x="5511358" y="9146418"/>
            <a:ext cx="396682" cy="143640"/>
          </a:xfrm>
          <a:prstGeom prst="rect">
            <a:avLst/>
          </a:prstGeom>
          <a:noFill/>
        </p:spPr>
        <p:txBody>
          <a:bodyPr wrap="none" lIns="0" rIns="0" tIns="0" bIns="0" anchor="t"/>
          <a:lstStyle/>
          <a:p>
            <a:pPr algn="l">
              <a:lnSpc>
                <a:spcPts val="1142"/>
              </a:lnSpc>
            </a:pPr>
            <a:r>
              <a:rPr sz="952" b="0" i="0">
                <a:solidFill>
                  <a:srgbClr val="111111"/>
                </a:solidFill>
                <a:latin typeface="Versos"/>
              </a:rPr>
              <a:t>0,56%</a:t>
            </a:r>
          </a:p>
        </p:txBody>
      </p:sp>
      <p:sp>
        <p:nvSpPr>
          <p:cNvPr id="103" name="TextBox 102"/>
          <p:cNvSpPr txBox="1"/>
          <p:nvPr/>
        </p:nvSpPr>
        <p:spPr>
          <a:xfrm>
            <a:off x="3802680" y="93808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Outros</a:t>
            </a:r>
          </a:p>
        </p:txBody>
      </p:sp>
      <p:sp>
        <p:nvSpPr>
          <p:cNvPr id="104" name="TextBox 103"/>
          <p:cNvSpPr txBox="1"/>
          <p:nvPr/>
        </p:nvSpPr>
        <p:spPr>
          <a:xfrm>
            <a:off x="5499191" y="9373218"/>
            <a:ext cx="394348" cy="143640"/>
          </a:xfrm>
          <a:prstGeom prst="rect">
            <a:avLst/>
          </a:prstGeom>
          <a:noFill/>
        </p:spPr>
        <p:txBody>
          <a:bodyPr wrap="none" lIns="0" rIns="0" tIns="0" bIns="0" anchor="t"/>
          <a:lstStyle/>
          <a:p>
            <a:pPr algn="l">
              <a:lnSpc>
                <a:spcPts val="1142"/>
              </a:lnSpc>
            </a:pPr>
            <a:r>
              <a:rPr sz="952" b="0" i="0">
                <a:solidFill>
                  <a:srgbClr val="111111"/>
                </a:solidFill>
                <a:latin typeface="Versos"/>
              </a:rPr>
              <a:t>0,26%</a:t>
            </a:r>
          </a:p>
        </p:txBody>
      </p:sp>
      <p:sp>
        <p:nvSpPr>
          <p:cNvPr id="105" name="TextBox 104"/>
          <p:cNvSpPr txBox="1"/>
          <p:nvPr/>
        </p:nvSpPr>
        <p:spPr>
          <a:xfrm>
            <a:off x="3802680" y="96076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Têxtil e Calçados</a:t>
            </a:r>
          </a:p>
        </p:txBody>
      </p:sp>
      <p:sp>
        <p:nvSpPr>
          <p:cNvPr id="106" name="TextBox 105"/>
          <p:cNvSpPr txBox="1"/>
          <p:nvPr/>
        </p:nvSpPr>
        <p:spPr>
          <a:xfrm>
            <a:off x="5498010" y="9600018"/>
            <a:ext cx="357862" cy="143640"/>
          </a:xfrm>
          <a:prstGeom prst="rect">
            <a:avLst/>
          </a:prstGeom>
          <a:noFill/>
        </p:spPr>
        <p:txBody>
          <a:bodyPr wrap="none" lIns="0" rIns="0" tIns="0" bIns="0" anchor="t"/>
          <a:lstStyle/>
          <a:p>
            <a:pPr algn="l">
              <a:lnSpc>
                <a:spcPts val="1142"/>
              </a:lnSpc>
            </a:pPr>
            <a:r>
              <a:rPr sz="952" b="0" i="0">
                <a:solidFill>
                  <a:srgbClr val="111111"/>
                </a:solidFill>
                <a:latin typeface="Versos"/>
              </a:rPr>
              <a:t>0,19%</a:t>
            </a:r>
          </a:p>
        </p:txBody>
      </p:sp>
      <p:sp>
        <p:nvSpPr>
          <p:cNvPr id="107" name="TextBox 106"/>
          <p:cNvSpPr txBox="1"/>
          <p:nvPr/>
        </p:nvSpPr>
        <p:spPr>
          <a:xfrm>
            <a:off x="3802680" y="9778033"/>
            <a:ext cx="1542240" cy="234005"/>
          </a:xfrm>
          <a:prstGeom prst="rect">
            <a:avLst/>
          </a:prstGeom>
          <a:noFill/>
        </p:spPr>
        <p:txBody>
          <a:bodyPr wrap="square" lIns="0" rIns="0" tIns="0" bIns="0" anchor="t"/>
          <a:lstStyle/>
          <a:p>
            <a:pPr algn="r">
              <a:lnSpc>
                <a:spcPts val="890"/>
              </a:lnSpc>
            </a:pPr>
            <a:r>
              <a:rPr sz="809" b="0" i="0">
                <a:solidFill>
                  <a:srgbClr val="222222"/>
                </a:solidFill>
                <a:latin typeface="Versos"/>
              </a:rPr>
              <a:t>Empreendimentos e participações</a:t>
            </a:r>
          </a:p>
        </p:txBody>
      </p:sp>
      <p:sp>
        <p:nvSpPr>
          <p:cNvPr id="108" name="TextBox 107"/>
          <p:cNvSpPr txBox="1"/>
          <p:nvPr/>
        </p:nvSpPr>
        <p:spPr>
          <a:xfrm>
            <a:off x="5498010" y="9826818"/>
            <a:ext cx="358353" cy="143640"/>
          </a:xfrm>
          <a:prstGeom prst="rect">
            <a:avLst/>
          </a:prstGeom>
          <a:noFill/>
        </p:spPr>
        <p:txBody>
          <a:bodyPr wrap="none" lIns="0" rIns="0" tIns="0" bIns="0" anchor="t"/>
          <a:lstStyle/>
          <a:p>
            <a:pPr algn="l">
              <a:lnSpc>
                <a:spcPts val="1142"/>
              </a:lnSpc>
            </a:pPr>
            <a:r>
              <a:rPr sz="952" b="0" i="0">
                <a:solidFill>
                  <a:srgbClr val="111111"/>
                </a:solidFill>
                <a:latin typeface="Versos"/>
              </a:rPr>
              <a:t>0,18%</a:t>
            </a:r>
          </a:p>
        </p:txBody>
      </p:sp>
      <p:sp>
        <p:nvSpPr>
          <p:cNvPr id="109" name="TextBox 108"/>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5" name="TextBox 4"/>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6" name="TextBox 5"/>
          <p:cNvSpPr txBox="1"/>
          <p:nvPr/>
        </p:nvSpPr>
        <p:spPr>
          <a:xfrm>
            <a:off x="529200" y="5216518"/>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agosto, o mercado de crédito foi marcado por um ambiente de menor liquidez nas negociações do mercado secundário e por uma leve reabertura dos spreads de crédito. Após meses consecutivos de compressão dos prêmios de risco, observou-se um movimento mais cauteloso por parte dos investidores, com os spreads médios dos títulos corporativos indexados ao CDI avançando aproximadamente 0,03%, passando de CDI + 1,19% para CDI + 1,22% ao ano. Apesar desse ajuste, os níveis de prêmio permaneceram próximos das mínimas históricas observadas ao longo do ciclo recente.</a:t>
            </a:r>
          </a:p>
        </p:txBody>
      </p:sp>
      <p:sp>
        <p:nvSpPr>
          <p:cNvPr id="7" name="TextBox 6"/>
          <p:cNvSpPr txBox="1"/>
          <p:nvPr/>
        </p:nvSpPr>
        <p:spPr>
          <a:xfrm>
            <a:off x="529200" y="5948893"/>
            <a:ext cx="6501600" cy="390993"/>
          </a:xfrm>
          <a:prstGeom prst="rect">
            <a:avLst/>
          </a:prstGeom>
          <a:noFill/>
        </p:spPr>
        <p:txBody>
          <a:bodyPr wrap="square" lIns="0" rIns="0" tIns="0" bIns="0" anchor="t"/>
          <a:lstStyle/>
          <a:p>
            <a:pPr algn="just">
              <a:lnSpc>
                <a:spcPts val="1033"/>
              </a:lnSpc>
            </a:pPr>
            <a:r>
              <a:rPr sz="833" b="0" i="0">
                <a:solidFill>
                  <a:srgbClr val="F1F1F1"/>
                </a:solidFill>
                <a:latin typeface="Versos"/>
              </a:rPr>
              <a:t>No mercado secundário, a redução do volume negociado contribuiu para uma formação de preços mais seletiva, especialmente em ativos corporativos com menor liquidez. Ainda assim, o comportamento dos investidores permaneceu construtivo, sustentado por um ambiente técnico favorável e pela continuidade da elevada demanda por ativos de crédito.</a:t>
            </a:r>
          </a:p>
        </p:txBody>
      </p:sp>
      <p:sp>
        <p:nvSpPr>
          <p:cNvPr id="8" name="TextBox 7"/>
          <p:cNvSpPr txBox="1"/>
          <p:nvPr/>
        </p:nvSpPr>
        <p:spPr>
          <a:xfrm>
            <a:off x="529200" y="6418794"/>
            <a:ext cx="6501600" cy="784704"/>
          </a:xfrm>
          <a:prstGeom prst="rect">
            <a:avLst/>
          </a:prstGeom>
          <a:noFill/>
        </p:spPr>
        <p:txBody>
          <a:bodyPr wrap="square" lIns="0" rIns="0" tIns="0" bIns="0" anchor="t"/>
          <a:lstStyle/>
          <a:p>
            <a:pPr algn="just">
              <a:lnSpc>
                <a:spcPts val="1033"/>
              </a:lnSpc>
            </a:pPr>
            <a:r>
              <a:rPr sz="833" b="0" i="0">
                <a:solidFill>
                  <a:srgbClr val="F1F1F1"/>
                </a:solidFill>
                <a:latin typeface="Versos"/>
              </a:rPr>
              <a:t>Já no mercado primário, as emissões bancárias seguiram registrando forte demanda por parte dos investidores. As ofertas de Letras Financeiras Seniores distribuídas ao longo do mês apresentaram níveis elevados de subscrição, com demanda que, em diversos casos, superou três vezes o volume ofertado. Esse forte apetite permitiu que as operações fossem precificadas com taxas inferiores aos limites inicialmente indicados pelos emissores, evidenciando a elevada disponibilidade de recursos para alocação na indústria de crédito. Por outro lado, o pipeline de emissões corporativas permaneceu limitado, restringindo a oferta de novos ativos em um momento de demanda ainda aquecida.</a:t>
            </a:r>
          </a:p>
        </p:txBody>
      </p:sp>
      <p:sp>
        <p:nvSpPr>
          <p:cNvPr id="9" name="TextBox 8"/>
          <p:cNvSpPr txBox="1"/>
          <p:nvPr/>
        </p:nvSpPr>
        <p:spPr>
          <a:xfrm>
            <a:off x="529200" y="7282406"/>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relação aos fluxos, os fundos com alocação mínima de 15% em crédito e ao menos 1% em debêntures apresentaram captação líquida próxima de R$ 8 bilhões em agosto, resultado significativamente superior ao observado no mês anterior. O volume reforça a percepção de que os investidores seguem direcionando recursos para estratégias de crédito, impulsionados pelo elevado nível de carrego proporcionado pelos ativos indexados ao CDI e pela busca por alternativas de investimento com perfil de risco-retorno atrativo.</a:t>
            </a:r>
          </a:p>
        </p:txBody>
      </p:sp>
      <p:sp>
        <p:nvSpPr>
          <p:cNvPr id="10" name="TextBox 9"/>
          <p:cNvSpPr txBox="1"/>
          <p:nvPr/>
        </p:nvSpPr>
        <p:spPr>
          <a:xfrm>
            <a:off x="529200" y="8014781"/>
            <a:ext cx="6501600" cy="522230"/>
          </a:xfrm>
          <a:prstGeom prst="rect">
            <a:avLst/>
          </a:prstGeom>
          <a:noFill/>
        </p:spPr>
        <p:txBody>
          <a:bodyPr wrap="square" lIns="0" rIns="0" tIns="0" bIns="0" anchor="t"/>
          <a:lstStyle/>
          <a:p>
            <a:pPr algn="just">
              <a:lnSpc>
                <a:spcPts val="1033"/>
              </a:lnSpc>
            </a:pPr>
            <a:r>
              <a:rPr sz="833" b="0" i="0">
                <a:solidFill>
                  <a:srgbClr val="F1F1F1"/>
                </a:solidFill>
                <a:latin typeface="Versos"/>
              </a:rPr>
              <a:t>Nesse contexto, a combinação entre fluxos positivos para a indústria, vencimentos e amortizações recorrentes das carteiras, além da limitada oferta de novos ativos corporativos, continuou sustentando a demanda por crédito privado. Ainda que agosto tenha apresentado uma leve reabertura dos spreads médios de mercado, a dinâmica técnica permanece favorável e os prêmios seguem negociando em patamares historicamente reduzidos.</a:t>
            </a:r>
          </a:p>
        </p:txBody>
      </p:sp>
      <p:sp>
        <p:nvSpPr>
          <p:cNvPr id="11" name="TextBox 10"/>
          <p:cNvSpPr txBox="1"/>
          <p:nvPr/>
        </p:nvSpPr>
        <p:spPr>
          <a:xfrm>
            <a:off x="529200" y="8615919"/>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Por fim, sob a ótica da gestão, seguimos acompanhando de forma criteriosa a evolução dos fundamentos dos emissores presentes nas carteiras, com atenção especial aos indicadores operacionais, à geração de caixa e à manutenção de estruturas de capital adequadas. Em um ambiente em que os spreads permanecem comprimidos em termos históricos, mantemos disciplina na alocação dos recursos, priorizando operações que apresentem adequada relação entre risco e retorno e preservando flexibilidade para captura de oportunidades que possam surgir em eventuais períodos de maior volatilidade do mercado.</a:t>
            </a:r>
          </a:p>
        </p:txBody>
      </p:sp>
      <p:sp>
        <p:nvSpPr>
          <p:cNvPr id="12" name="TextBox 11"/>
          <p:cNvSpPr txBox="1"/>
          <p:nvPr/>
        </p:nvSpPr>
        <p:spPr>
          <a:xfrm>
            <a:off x="529200" y="9348294"/>
            <a:ext cx="6501600" cy="390993"/>
          </a:xfrm>
          <a:prstGeom prst="rect">
            <a:avLst/>
          </a:prstGeom>
          <a:noFill/>
        </p:spPr>
        <p:txBody>
          <a:bodyPr wrap="square" lIns="0" rIns="0" tIns="0" bIns="0" anchor="t"/>
          <a:lstStyle/>
          <a:p>
            <a:pPr algn="just">
              <a:lnSpc>
                <a:spcPts val="1033"/>
              </a:lnSpc>
            </a:pPr>
            <a:r>
              <a:rPr sz="833" b="0" i="0">
                <a:solidFill>
                  <a:srgbClr val="F1F1F1"/>
                </a:solidFill>
                <a:latin typeface="Versos"/>
              </a:rPr>
              <a:t>Nesse cenário, o Tivio Institucional 30 apresentou rentabilidade de 1,12% no mês (102% do CDI), acumulando 9,45% (101% do CDI) no ano. Na parcela de corporativos, os maiores atribuidores de resultado foram para Tupy e Randon, enquanto Hapvida foi o maior detrator.</a:t>
            </a:r>
          </a:p>
        </p:txBody>
      </p:sp>
      <p:sp>
        <p:nvSpPr>
          <p:cNvPr id="13" name="TextBox 12"/>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5" name="TextBox 4"/>
          <p:cNvSpPr txBox="1"/>
          <p:nvPr/>
        </p:nvSpPr>
        <p:spPr>
          <a:xfrm>
            <a:off x="2580322" y="1807076"/>
            <a:ext cx="1133536" cy="113400"/>
          </a:xfrm>
          <a:prstGeom prst="rect">
            <a:avLst/>
          </a:prstGeom>
          <a:noFill/>
        </p:spPr>
        <p:txBody>
          <a:bodyPr wrap="none" lIns="0" rIns="0" tIns="0" bIns="0" anchor="t"/>
          <a:lstStyle/>
          <a:p>
            <a:pPr algn="ctr">
              <a:lnSpc>
                <a:spcPts val="851"/>
              </a:lnSpc>
            </a:pPr>
            <a:r>
              <a:rPr sz="773" b="1" i="0">
                <a:solidFill>
                  <a:srgbClr val="FFFFFF"/>
                </a:solidFill>
                <a:latin typeface="Versos"/>
              </a:rPr>
              <a:t>Volume (R$ MM)</a:t>
            </a:r>
          </a:p>
        </p:txBody>
      </p:sp>
      <p:sp>
        <p:nvSpPr>
          <p:cNvPr id="6" name="TextBox 5"/>
          <p:cNvSpPr txBox="1"/>
          <p:nvPr/>
        </p:nvSpPr>
        <p:spPr>
          <a:xfrm>
            <a:off x="3715621" y="1807076"/>
            <a:ext cx="425061" cy="113400"/>
          </a:xfrm>
          <a:prstGeom prst="rect">
            <a:avLst/>
          </a:prstGeom>
          <a:noFill/>
        </p:spPr>
        <p:txBody>
          <a:bodyPr wrap="none" lIns="0" rIns="0" tIns="0" bIns="0" anchor="t"/>
          <a:lstStyle/>
          <a:p>
            <a:pPr algn="ctr">
              <a:lnSpc>
                <a:spcPts val="851"/>
              </a:lnSpc>
            </a:pPr>
            <a:r>
              <a:rPr sz="773" b="1" i="0">
                <a:solidFill>
                  <a:srgbClr val="FFFFFF"/>
                </a:solidFill>
                <a:latin typeface="Versos"/>
              </a:rPr>
              <a:t>%</a:t>
            </a:r>
          </a:p>
        </p:txBody>
      </p:sp>
      <p:sp>
        <p:nvSpPr>
          <p:cNvPr id="7" name="TextBox 6"/>
          <p:cNvSpPr txBox="1"/>
          <p:nvPr/>
        </p:nvSpPr>
        <p:spPr>
          <a:xfrm>
            <a:off x="4169694" y="1807076"/>
            <a:ext cx="676903" cy="113400"/>
          </a:xfrm>
          <a:prstGeom prst="rect">
            <a:avLst/>
          </a:prstGeom>
          <a:noFill/>
        </p:spPr>
        <p:txBody>
          <a:bodyPr wrap="none" lIns="0" rIns="0" tIns="0" bIns="0" anchor="t"/>
          <a:lstStyle/>
          <a:p>
            <a:pPr algn="ctr">
              <a:lnSpc>
                <a:spcPts val="851"/>
              </a:lnSpc>
            </a:pPr>
            <a:r>
              <a:rPr sz="773" b="1" i="0">
                <a:solidFill>
                  <a:srgbClr val="FFFFFF"/>
                </a:solidFill>
                <a:latin typeface="Versos"/>
              </a:rPr>
              <a:t>Spread Atual</a:t>
            </a:r>
          </a:p>
        </p:txBody>
      </p:sp>
      <p:sp>
        <p:nvSpPr>
          <p:cNvPr id="8" name="TextBox 7"/>
          <p:cNvSpPr txBox="1"/>
          <p:nvPr/>
        </p:nvSpPr>
        <p:spPr>
          <a:xfrm>
            <a:off x="4865923" y="1807076"/>
            <a:ext cx="1172848" cy="113400"/>
          </a:xfrm>
          <a:prstGeom prst="rect">
            <a:avLst/>
          </a:prstGeom>
          <a:noFill/>
        </p:spPr>
        <p:txBody>
          <a:bodyPr wrap="none" lIns="0" rIns="0" tIns="0" bIns="0" anchor="t"/>
          <a:lstStyle/>
          <a:p>
            <a:pPr algn="ctr">
              <a:lnSpc>
                <a:spcPts val="851"/>
              </a:lnSpc>
            </a:pPr>
            <a:r>
              <a:rPr sz="773" b="1" i="0">
                <a:solidFill>
                  <a:srgbClr val="FFFFFF"/>
                </a:solidFill>
                <a:latin typeface="Versos"/>
              </a:rPr>
              <a:t>Spread mês anterior</a:t>
            </a:r>
          </a:p>
        </p:txBody>
      </p:sp>
      <p:sp>
        <p:nvSpPr>
          <p:cNvPr id="9" name="TextBox 8"/>
          <p:cNvSpPr txBox="1"/>
          <p:nvPr/>
        </p:nvSpPr>
        <p:spPr>
          <a:xfrm>
            <a:off x="6039022" y="1807076"/>
            <a:ext cx="488083" cy="113400"/>
          </a:xfrm>
          <a:prstGeom prst="rect">
            <a:avLst/>
          </a:prstGeom>
          <a:noFill/>
        </p:spPr>
        <p:txBody>
          <a:bodyPr wrap="none" lIns="0" rIns="0" tIns="0" bIns="0" anchor="t"/>
          <a:lstStyle/>
          <a:p>
            <a:pPr algn="ctr">
              <a:lnSpc>
                <a:spcPts val="851"/>
              </a:lnSpc>
            </a:pPr>
            <a:r>
              <a:rPr sz="773" b="1" i="0">
                <a:solidFill>
                  <a:srgbClr val="FFFFFF"/>
                </a:solidFill>
                <a:latin typeface="Versos"/>
              </a:rPr>
              <a:t>Variação</a:t>
            </a:r>
          </a:p>
        </p:txBody>
      </p:sp>
      <p:sp>
        <p:nvSpPr>
          <p:cNvPr id="10" name="TextBox 9"/>
          <p:cNvSpPr txBox="1"/>
          <p:nvPr/>
        </p:nvSpPr>
        <p:spPr>
          <a:xfrm>
            <a:off x="6553693" y="1807076"/>
            <a:ext cx="488328" cy="113400"/>
          </a:xfrm>
          <a:prstGeom prst="rect">
            <a:avLst/>
          </a:prstGeom>
          <a:noFill/>
        </p:spPr>
        <p:txBody>
          <a:bodyPr wrap="none" lIns="0" rIns="0" tIns="0" bIns="0" anchor="t"/>
          <a:lstStyle/>
          <a:p>
            <a:pPr algn="ctr">
              <a:lnSpc>
                <a:spcPts val="851"/>
              </a:lnSpc>
            </a:pPr>
            <a:r>
              <a:rPr sz="773" b="1" i="0">
                <a:solidFill>
                  <a:srgbClr val="FFFFFF"/>
                </a:solidFill>
                <a:latin typeface="Versos"/>
              </a:rPr>
              <a:t>Duration</a:t>
            </a:r>
          </a:p>
        </p:txBody>
      </p:sp>
      <p:sp>
        <p:nvSpPr>
          <p:cNvPr id="11" name="TextBox 10"/>
          <p:cNvSpPr txBox="1"/>
          <p:nvPr/>
        </p:nvSpPr>
        <p:spPr>
          <a:xfrm>
            <a:off x="2580322" y="2087977"/>
            <a:ext cx="1133536" cy="173880"/>
          </a:xfrm>
          <a:prstGeom prst="rect">
            <a:avLst/>
          </a:prstGeom>
          <a:noFill/>
        </p:spPr>
        <p:txBody>
          <a:bodyPr wrap="none" lIns="0" rIns="0" tIns="0" bIns="0" anchor="t"/>
          <a:lstStyle/>
          <a:p>
            <a:pPr algn="ctr">
              <a:lnSpc>
                <a:spcPts val="1357"/>
              </a:lnSpc>
            </a:pPr>
            <a:r>
              <a:rPr sz="1131" b="1" i="0">
                <a:solidFill>
                  <a:srgbClr val="FFFFFF"/>
                </a:solidFill>
                <a:latin typeface="Versos"/>
              </a:rPr>
              <a:t>443.345</a:t>
            </a:r>
          </a:p>
        </p:txBody>
      </p:sp>
      <p:sp>
        <p:nvSpPr>
          <p:cNvPr id="12" name="TextBox 11"/>
          <p:cNvSpPr txBox="1"/>
          <p:nvPr/>
        </p:nvSpPr>
        <p:spPr>
          <a:xfrm>
            <a:off x="3715621" y="2087977"/>
            <a:ext cx="425061" cy="173880"/>
          </a:xfrm>
          <a:prstGeom prst="rect">
            <a:avLst/>
          </a:prstGeom>
          <a:noFill/>
        </p:spPr>
        <p:txBody>
          <a:bodyPr wrap="none" lIns="0" rIns="0" tIns="0" bIns="0" anchor="t"/>
          <a:lstStyle/>
          <a:p>
            <a:pPr algn="ctr">
              <a:lnSpc>
                <a:spcPts val="1357"/>
              </a:lnSpc>
            </a:pPr>
            <a:r>
              <a:rPr sz="1131" b="1" i="0">
                <a:solidFill>
                  <a:srgbClr val="FFFFFF"/>
                </a:solidFill>
                <a:latin typeface="Versos"/>
              </a:rPr>
              <a:t>100%</a:t>
            </a:r>
          </a:p>
        </p:txBody>
      </p:sp>
      <p:sp>
        <p:nvSpPr>
          <p:cNvPr id="13" name="TextBox 12"/>
          <p:cNvSpPr txBox="1"/>
          <p:nvPr/>
        </p:nvSpPr>
        <p:spPr>
          <a:xfrm>
            <a:off x="4169694" y="2087977"/>
            <a:ext cx="676903" cy="173880"/>
          </a:xfrm>
          <a:prstGeom prst="rect">
            <a:avLst/>
          </a:prstGeom>
          <a:noFill/>
        </p:spPr>
        <p:txBody>
          <a:bodyPr wrap="none" lIns="0" rIns="0" tIns="0" bIns="0" anchor="t"/>
          <a:lstStyle/>
          <a:p>
            <a:pPr algn="ctr">
              <a:lnSpc>
                <a:spcPts val="1357"/>
              </a:lnSpc>
            </a:pPr>
            <a:r>
              <a:rPr sz="1131" b="1" i="0">
                <a:solidFill>
                  <a:srgbClr val="FFFFFF"/>
                </a:solidFill>
                <a:latin typeface="Versos"/>
              </a:rPr>
              <a:t>1,22%</a:t>
            </a:r>
          </a:p>
        </p:txBody>
      </p:sp>
      <p:sp>
        <p:nvSpPr>
          <p:cNvPr id="14" name="TextBox 13"/>
          <p:cNvSpPr txBox="1"/>
          <p:nvPr/>
        </p:nvSpPr>
        <p:spPr>
          <a:xfrm>
            <a:off x="4865923" y="2087977"/>
            <a:ext cx="1172848" cy="173880"/>
          </a:xfrm>
          <a:prstGeom prst="rect">
            <a:avLst/>
          </a:prstGeom>
          <a:noFill/>
        </p:spPr>
        <p:txBody>
          <a:bodyPr wrap="none" lIns="0" rIns="0" tIns="0" bIns="0" anchor="t"/>
          <a:lstStyle/>
          <a:p>
            <a:pPr algn="ctr">
              <a:lnSpc>
                <a:spcPts val="1357"/>
              </a:lnSpc>
            </a:pPr>
            <a:r>
              <a:rPr sz="1131" b="1" i="0">
                <a:solidFill>
                  <a:srgbClr val="FFFFFF"/>
                </a:solidFill>
                <a:latin typeface="Versos"/>
              </a:rPr>
              <a:t>1,19%</a:t>
            </a:r>
          </a:p>
        </p:txBody>
      </p:sp>
      <p:sp>
        <p:nvSpPr>
          <p:cNvPr id="15" name="TextBox 14"/>
          <p:cNvSpPr txBox="1"/>
          <p:nvPr/>
        </p:nvSpPr>
        <p:spPr>
          <a:xfrm>
            <a:off x="6039022" y="2087977"/>
            <a:ext cx="488083" cy="173880"/>
          </a:xfrm>
          <a:prstGeom prst="rect">
            <a:avLst/>
          </a:prstGeom>
          <a:noFill/>
        </p:spPr>
        <p:txBody>
          <a:bodyPr wrap="none" lIns="0" rIns="0" tIns="0" bIns="0" anchor="t"/>
          <a:lstStyle/>
          <a:p>
            <a:pPr algn="ctr">
              <a:lnSpc>
                <a:spcPts val="1357"/>
              </a:lnSpc>
            </a:pPr>
            <a:r>
              <a:rPr sz="1131" b="1" i="0">
                <a:solidFill>
                  <a:srgbClr val="FFFFFF"/>
                </a:solidFill>
                <a:latin typeface="Versos"/>
              </a:rPr>
              <a:t>0,03%</a:t>
            </a:r>
          </a:p>
        </p:txBody>
      </p:sp>
      <p:sp>
        <p:nvSpPr>
          <p:cNvPr id="16" name="TextBox 15"/>
          <p:cNvSpPr txBox="1"/>
          <p:nvPr/>
        </p:nvSpPr>
        <p:spPr>
          <a:xfrm>
            <a:off x="6553693" y="2087977"/>
            <a:ext cx="488328" cy="173880"/>
          </a:xfrm>
          <a:prstGeom prst="rect">
            <a:avLst/>
          </a:prstGeom>
          <a:noFill/>
        </p:spPr>
        <p:txBody>
          <a:bodyPr wrap="none" lIns="0" rIns="0" tIns="0" bIns="0" anchor="t"/>
          <a:lstStyle/>
          <a:p>
            <a:pPr algn="ctr">
              <a:lnSpc>
                <a:spcPts val="1357"/>
              </a:lnSpc>
            </a:pPr>
            <a:r>
              <a:rPr sz="1131" b="1" i="0">
                <a:solidFill>
                  <a:srgbClr val="FFFFFF"/>
                </a:solidFill>
                <a:latin typeface="Versos"/>
              </a:rPr>
              <a:t>2,71</a:t>
            </a:r>
          </a:p>
        </p:txBody>
      </p:sp>
      <p:sp>
        <p:nvSpPr>
          <p:cNvPr id="17" name="TextBox 16"/>
          <p:cNvSpPr txBox="1"/>
          <p:nvPr/>
        </p:nvSpPr>
        <p:spPr>
          <a:xfrm>
            <a:off x="536760" y="2585756"/>
            <a:ext cx="2078130" cy="113400"/>
          </a:xfrm>
          <a:prstGeom prst="rect">
            <a:avLst/>
          </a:prstGeom>
          <a:noFill/>
        </p:spPr>
        <p:txBody>
          <a:bodyPr wrap="none" lIns="0" rIns="0" tIns="0" bIns="0" anchor="t"/>
          <a:lstStyle/>
          <a:p>
            <a:pPr algn="ctr">
              <a:lnSpc>
                <a:spcPts val="851"/>
              </a:lnSpc>
            </a:pPr>
            <a:r>
              <a:rPr sz="773" b="1" i="0">
                <a:solidFill>
                  <a:srgbClr val="FFFFFF"/>
                </a:solidFill>
                <a:latin typeface="Versos"/>
              </a:rPr>
              <a:t>Setor</a:t>
            </a:r>
          </a:p>
        </p:txBody>
      </p:sp>
      <p:sp>
        <p:nvSpPr>
          <p:cNvPr id="18" name="TextBox 17"/>
          <p:cNvSpPr txBox="1"/>
          <p:nvPr/>
        </p:nvSpPr>
        <p:spPr>
          <a:xfrm>
            <a:off x="2580322" y="2585756"/>
            <a:ext cx="1133536" cy="113400"/>
          </a:xfrm>
          <a:prstGeom prst="rect">
            <a:avLst/>
          </a:prstGeom>
          <a:noFill/>
        </p:spPr>
        <p:txBody>
          <a:bodyPr wrap="none" lIns="0" rIns="0" tIns="0" bIns="0" anchor="t"/>
          <a:lstStyle/>
          <a:p>
            <a:pPr algn="ctr">
              <a:lnSpc>
                <a:spcPts val="851"/>
              </a:lnSpc>
            </a:pPr>
            <a:r>
              <a:rPr sz="773" b="1" i="0">
                <a:solidFill>
                  <a:srgbClr val="FFFFFF"/>
                </a:solidFill>
                <a:latin typeface="Versos"/>
              </a:rPr>
              <a:t>Volume (R$ MM)</a:t>
            </a:r>
          </a:p>
        </p:txBody>
      </p:sp>
      <p:sp>
        <p:nvSpPr>
          <p:cNvPr id="19" name="TextBox 18"/>
          <p:cNvSpPr txBox="1"/>
          <p:nvPr/>
        </p:nvSpPr>
        <p:spPr>
          <a:xfrm>
            <a:off x="3715621" y="2585756"/>
            <a:ext cx="425061" cy="113400"/>
          </a:xfrm>
          <a:prstGeom prst="rect">
            <a:avLst/>
          </a:prstGeom>
          <a:noFill/>
        </p:spPr>
        <p:txBody>
          <a:bodyPr wrap="none" lIns="0" rIns="0" tIns="0" bIns="0" anchor="t"/>
          <a:lstStyle/>
          <a:p>
            <a:pPr algn="ctr">
              <a:lnSpc>
                <a:spcPts val="851"/>
              </a:lnSpc>
            </a:pPr>
            <a:r>
              <a:rPr sz="773" b="1" i="0">
                <a:solidFill>
                  <a:srgbClr val="FFFFFF"/>
                </a:solidFill>
                <a:latin typeface="Versos"/>
              </a:rPr>
              <a:t>%</a:t>
            </a:r>
          </a:p>
        </p:txBody>
      </p:sp>
      <p:sp>
        <p:nvSpPr>
          <p:cNvPr id="20" name="TextBox 19"/>
          <p:cNvSpPr txBox="1"/>
          <p:nvPr/>
        </p:nvSpPr>
        <p:spPr>
          <a:xfrm>
            <a:off x="4169694" y="2585756"/>
            <a:ext cx="676903" cy="113400"/>
          </a:xfrm>
          <a:prstGeom prst="rect">
            <a:avLst/>
          </a:prstGeom>
          <a:noFill/>
        </p:spPr>
        <p:txBody>
          <a:bodyPr wrap="none" lIns="0" rIns="0" tIns="0" bIns="0" anchor="t"/>
          <a:lstStyle/>
          <a:p>
            <a:pPr algn="ctr">
              <a:lnSpc>
                <a:spcPts val="851"/>
              </a:lnSpc>
            </a:pPr>
            <a:r>
              <a:rPr sz="773" b="1" i="0">
                <a:solidFill>
                  <a:srgbClr val="FFFFFF"/>
                </a:solidFill>
                <a:latin typeface="Versos"/>
              </a:rPr>
              <a:t>Spread Atual</a:t>
            </a:r>
          </a:p>
        </p:txBody>
      </p:sp>
      <p:sp>
        <p:nvSpPr>
          <p:cNvPr id="21" name="TextBox 20"/>
          <p:cNvSpPr txBox="1"/>
          <p:nvPr/>
        </p:nvSpPr>
        <p:spPr>
          <a:xfrm>
            <a:off x="4865923" y="2585756"/>
            <a:ext cx="1172848" cy="113400"/>
          </a:xfrm>
          <a:prstGeom prst="rect">
            <a:avLst/>
          </a:prstGeom>
          <a:noFill/>
        </p:spPr>
        <p:txBody>
          <a:bodyPr wrap="none" lIns="0" rIns="0" tIns="0" bIns="0" anchor="t"/>
          <a:lstStyle/>
          <a:p>
            <a:pPr algn="ctr">
              <a:lnSpc>
                <a:spcPts val="851"/>
              </a:lnSpc>
            </a:pPr>
            <a:r>
              <a:rPr sz="773" b="1" i="0">
                <a:solidFill>
                  <a:srgbClr val="FFFFFF"/>
                </a:solidFill>
                <a:latin typeface="Versos"/>
              </a:rPr>
              <a:t>Spread mês anterior</a:t>
            </a:r>
          </a:p>
        </p:txBody>
      </p:sp>
      <p:sp>
        <p:nvSpPr>
          <p:cNvPr id="22" name="TextBox 21"/>
          <p:cNvSpPr txBox="1"/>
          <p:nvPr/>
        </p:nvSpPr>
        <p:spPr>
          <a:xfrm>
            <a:off x="6039022" y="2585756"/>
            <a:ext cx="488083" cy="113400"/>
          </a:xfrm>
          <a:prstGeom prst="rect">
            <a:avLst/>
          </a:prstGeom>
          <a:noFill/>
        </p:spPr>
        <p:txBody>
          <a:bodyPr wrap="none" lIns="0" rIns="0" tIns="0" bIns="0" anchor="t"/>
          <a:lstStyle/>
          <a:p>
            <a:pPr algn="ctr">
              <a:lnSpc>
                <a:spcPts val="851"/>
              </a:lnSpc>
            </a:pPr>
            <a:r>
              <a:rPr sz="773" b="1" i="0">
                <a:solidFill>
                  <a:srgbClr val="FFFFFF"/>
                </a:solidFill>
                <a:latin typeface="Versos"/>
              </a:rPr>
              <a:t>Variação</a:t>
            </a:r>
          </a:p>
        </p:txBody>
      </p:sp>
      <p:sp>
        <p:nvSpPr>
          <p:cNvPr id="23" name="TextBox 22"/>
          <p:cNvSpPr txBox="1"/>
          <p:nvPr/>
        </p:nvSpPr>
        <p:spPr>
          <a:xfrm>
            <a:off x="6553693" y="2585756"/>
            <a:ext cx="488328" cy="113400"/>
          </a:xfrm>
          <a:prstGeom prst="rect">
            <a:avLst/>
          </a:prstGeom>
          <a:noFill/>
        </p:spPr>
        <p:txBody>
          <a:bodyPr wrap="none" lIns="0" rIns="0" tIns="0" bIns="0" anchor="t"/>
          <a:lstStyle/>
          <a:p>
            <a:pPr algn="ctr">
              <a:lnSpc>
                <a:spcPts val="851"/>
              </a:lnSpc>
            </a:pPr>
            <a:r>
              <a:rPr sz="773" b="1" i="0">
                <a:solidFill>
                  <a:srgbClr val="FFFFFF"/>
                </a:solidFill>
                <a:latin typeface="Versos"/>
              </a:rPr>
              <a:t>Duration</a:t>
            </a:r>
          </a:p>
        </p:txBody>
      </p:sp>
      <p:sp>
        <p:nvSpPr>
          <p:cNvPr id="24" name="TextBox 23"/>
          <p:cNvSpPr txBox="1"/>
          <p:nvPr/>
        </p:nvSpPr>
        <p:spPr>
          <a:xfrm>
            <a:off x="604800" y="286346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Energia elétrica</a:t>
            </a:r>
          </a:p>
        </p:txBody>
      </p:sp>
      <p:sp>
        <p:nvSpPr>
          <p:cNvPr id="25" name="TextBox 24"/>
          <p:cNvSpPr txBox="1"/>
          <p:nvPr/>
        </p:nvSpPr>
        <p:spPr>
          <a:xfrm>
            <a:off x="2580322" y="287043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108.945</a:t>
            </a:r>
          </a:p>
        </p:txBody>
      </p:sp>
      <p:sp>
        <p:nvSpPr>
          <p:cNvPr id="26" name="TextBox 25"/>
          <p:cNvSpPr txBox="1"/>
          <p:nvPr/>
        </p:nvSpPr>
        <p:spPr>
          <a:xfrm>
            <a:off x="3715621" y="287043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24,6%</a:t>
            </a:r>
          </a:p>
        </p:txBody>
      </p:sp>
      <p:sp>
        <p:nvSpPr>
          <p:cNvPr id="27" name="TextBox 26"/>
          <p:cNvSpPr txBox="1"/>
          <p:nvPr/>
        </p:nvSpPr>
        <p:spPr>
          <a:xfrm>
            <a:off x="4169694" y="287043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0,72%</a:t>
            </a:r>
          </a:p>
        </p:txBody>
      </p:sp>
      <p:sp>
        <p:nvSpPr>
          <p:cNvPr id="28" name="TextBox 27"/>
          <p:cNvSpPr txBox="1"/>
          <p:nvPr/>
        </p:nvSpPr>
        <p:spPr>
          <a:xfrm>
            <a:off x="4865923" y="287043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0,72%</a:t>
            </a:r>
          </a:p>
        </p:txBody>
      </p:sp>
      <p:sp>
        <p:nvSpPr>
          <p:cNvPr id="29" name="TextBox 28"/>
          <p:cNvSpPr txBox="1"/>
          <p:nvPr/>
        </p:nvSpPr>
        <p:spPr>
          <a:xfrm>
            <a:off x="6039022" y="287043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0,00%</a:t>
            </a:r>
          </a:p>
        </p:txBody>
      </p:sp>
      <p:sp>
        <p:nvSpPr>
          <p:cNvPr id="30" name="TextBox 29"/>
          <p:cNvSpPr txBox="1"/>
          <p:nvPr/>
        </p:nvSpPr>
        <p:spPr>
          <a:xfrm>
            <a:off x="6553693" y="287043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2,7</a:t>
            </a:r>
          </a:p>
        </p:txBody>
      </p:sp>
      <p:sp>
        <p:nvSpPr>
          <p:cNvPr id="31" name="TextBox 30"/>
          <p:cNvSpPr txBox="1"/>
          <p:nvPr/>
        </p:nvSpPr>
        <p:spPr>
          <a:xfrm>
            <a:off x="604800" y="315830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Assistência médica</a:t>
            </a:r>
          </a:p>
        </p:txBody>
      </p:sp>
      <p:sp>
        <p:nvSpPr>
          <p:cNvPr id="32" name="TextBox 31"/>
          <p:cNvSpPr txBox="1"/>
          <p:nvPr/>
        </p:nvSpPr>
        <p:spPr>
          <a:xfrm>
            <a:off x="2580322" y="316527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43.410</a:t>
            </a:r>
          </a:p>
        </p:txBody>
      </p:sp>
      <p:sp>
        <p:nvSpPr>
          <p:cNvPr id="33" name="TextBox 32"/>
          <p:cNvSpPr txBox="1"/>
          <p:nvPr/>
        </p:nvSpPr>
        <p:spPr>
          <a:xfrm>
            <a:off x="3715621" y="316527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9,8%</a:t>
            </a:r>
          </a:p>
        </p:txBody>
      </p:sp>
      <p:sp>
        <p:nvSpPr>
          <p:cNvPr id="34" name="TextBox 33"/>
          <p:cNvSpPr txBox="1"/>
          <p:nvPr/>
        </p:nvSpPr>
        <p:spPr>
          <a:xfrm>
            <a:off x="4169694" y="316527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2,55%</a:t>
            </a:r>
          </a:p>
        </p:txBody>
      </p:sp>
      <p:sp>
        <p:nvSpPr>
          <p:cNvPr id="35" name="TextBox 34"/>
          <p:cNvSpPr txBox="1"/>
          <p:nvPr/>
        </p:nvSpPr>
        <p:spPr>
          <a:xfrm>
            <a:off x="4865923" y="316527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2,23%</a:t>
            </a:r>
          </a:p>
        </p:txBody>
      </p:sp>
      <p:sp>
        <p:nvSpPr>
          <p:cNvPr id="36" name="TextBox 35"/>
          <p:cNvSpPr txBox="1"/>
          <p:nvPr/>
        </p:nvSpPr>
        <p:spPr>
          <a:xfrm>
            <a:off x="6039022" y="316527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0,32%</a:t>
            </a:r>
          </a:p>
        </p:txBody>
      </p:sp>
      <p:sp>
        <p:nvSpPr>
          <p:cNvPr id="37" name="TextBox 36"/>
          <p:cNvSpPr txBox="1"/>
          <p:nvPr/>
        </p:nvSpPr>
        <p:spPr>
          <a:xfrm>
            <a:off x="6553693" y="316527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3,3</a:t>
            </a:r>
          </a:p>
        </p:txBody>
      </p:sp>
      <p:sp>
        <p:nvSpPr>
          <p:cNvPr id="38" name="TextBox 37"/>
          <p:cNvSpPr txBox="1"/>
          <p:nvPr/>
        </p:nvSpPr>
        <p:spPr>
          <a:xfrm>
            <a:off x="604800" y="345314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Saneamento</a:t>
            </a:r>
          </a:p>
        </p:txBody>
      </p:sp>
      <p:sp>
        <p:nvSpPr>
          <p:cNvPr id="39" name="TextBox 38"/>
          <p:cNvSpPr txBox="1"/>
          <p:nvPr/>
        </p:nvSpPr>
        <p:spPr>
          <a:xfrm>
            <a:off x="2580322" y="346011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39.943</a:t>
            </a:r>
          </a:p>
        </p:txBody>
      </p:sp>
      <p:sp>
        <p:nvSpPr>
          <p:cNvPr id="40" name="TextBox 39"/>
          <p:cNvSpPr txBox="1"/>
          <p:nvPr/>
        </p:nvSpPr>
        <p:spPr>
          <a:xfrm>
            <a:off x="3715621" y="346011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9,0%</a:t>
            </a:r>
          </a:p>
        </p:txBody>
      </p:sp>
      <p:sp>
        <p:nvSpPr>
          <p:cNvPr id="41" name="TextBox 40"/>
          <p:cNvSpPr txBox="1"/>
          <p:nvPr/>
        </p:nvSpPr>
        <p:spPr>
          <a:xfrm>
            <a:off x="4169694" y="346011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1,66%</a:t>
            </a:r>
          </a:p>
        </p:txBody>
      </p:sp>
      <p:sp>
        <p:nvSpPr>
          <p:cNvPr id="42" name="TextBox 41"/>
          <p:cNvSpPr txBox="1"/>
          <p:nvPr/>
        </p:nvSpPr>
        <p:spPr>
          <a:xfrm>
            <a:off x="4865923" y="346011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1,67%</a:t>
            </a:r>
          </a:p>
        </p:txBody>
      </p:sp>
      <p:sp>
        <p:nvSpPr>
          <p:cNvPr id="43" name="TextBox 42"/>
          <p:cNvSpPr txBox="1"/>
          <p:nvPr/>
        </p:nvSpPr>
        <p:spPr>
          <a:xfrm>
            <a:off x="6039022" y="346011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-0,01%</a:t>
            </a:r>
          </a:p>
        </p:txBody>
      </p:sp>
      <p:sp>
        <p:nvSpPr>
          <p:cNvPr id="44" name="TextBox 43"/>
          <p:cNvSpPr txBox="1"/>
          <p:nvPr/>
        </p:nvSpPr>
        <p:spPr>
          <a:xfrm>
            <a:off x="6553693" y="346011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2,7</a:t>
            </a:r>
          </a:p>
        </p:txBody>
      </p:sp>
      <p:sp>
        <p:nvSpPr>
          <p:cNvPr id="45" name="TextBox 44"/>
          <p:cNvSpPr txBox="1"/>
          <p:nvPr/>
        </p:nvSpPr>
        <p:spPr>
          <a:xfrm>
            <a:off x="604800" y="374798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Locação de veículos</a:t>
            </a:r>
          </a:p>
        </p:txBody>
      </p:sp>
      <p:sp>
        <p:nvSpPr>
          <p:cNvPr id="46" name="TextBox 45"/>
          <p:cNvSpPr txBox="1"/>
          <p:nvPr/>
        </p:nvSpPr>
        <p:spPr>
          <a:xfrm>
            <a:off x="2580322" y="375495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33.800</a:t>
            </a:r>
          </a:p>
        </p:txBody>
      </p:sp>
      <p:sp>
        <p:nvSpPr>
          <p:cNvPr id="47" name="TextBox 46"/>
          <p:cNvSpPr txBox="1"/>
          <p:nvPr/>
        </p:nvSpPr>
        <p:spPr>
          <a:xfrm>
            <a:off x="3715621" y="375495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7,6%</a:t>
            </a:r>
          </a:p>
        </p:txBody>
      </p:sp>
      <p:sp>
        <p:nvSpPr>
          <p:cNvPr id="48" name="TextBox 47"/>
          <p:cNvSpPr txBox="1"/>
          <p:nvPr/>
        </p:nvSpPr>
        <p:spPr>
          <a:xfrm>
            <a:off x="4169694" y="375495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1,62%</a:t>
            </a:r>
          </a:p>
        </p:txBody>
      </p:sp>
      <p:sp>
        <p:nvSpPr>
          <p:cNvPr id="49" name="TextBox 48"/>
          <p:cNvSpPr txBox="1"/>
          <p:nvPr/>
        </p:nvSpPr>
        <p:spPr>
          <a:xfrm>
            <a:off x="4865923" y="375495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1,65%</a:t>
            </a:r>
          </a:p>
        </p:txBody>
      </p:sp>
      <p:sp>
        <p:nvSpPr>
          <p:cNvPr id="50" name="TextBox 49"/>
          <p:cNvSpPr txBox="1"/>
          <p:nvPr/>
        </p:nvSpPr>
        <p:spPr>
          <a:xfrm>
            <a:off x="6039022" y="375495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-0,03%</a:t>
            </a:r>
          </a:p>
        </p:txBody>
      </p:sp>
      <p:sp>
        <p:nvSpPr>
          <p:cNvPr id="51" name="TextBox 50"/>
          <p:cNvSpPr txBox="1"/>
          <p:nvPr/>
        </p:nvSpPr>
        <p:spPr>
          <a:xfrm>
            <a:off x="6553693" y="375495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2,4</a:t>
            </a:r>
          </a:p>
        </p:txBody>
      </p:sp>
      <p:sp>
        <p:nvSpPr>
          <p:cNvPr id="52" name="TextBox 51"/>
          <p:cNvSpPr txBox="1"/>
          <p:nvPr/>
        </p:nvSpPr>
        <p:spPr>
          <a:xfrm>
            <a:off x="604800" y="404282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Petróleo e gás</a:t>
            </a:r>
          </a:p>
        </p:txBody>
      </p:sp>
      <p:sp>
        <p:nvSpPr>
          <p:cNvPr id="53" name="TextBox 52"/>
          <p:cNvSpPr txBox="1"/>
          <p:nvPr/>
        </p:nvSpPr>
        <p:spPr>
          <a:xfrm>
            <a:off x="2580322" y="404979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33.070</a:t>
            </a:r>
          </a:p>
        </p:txBody>
      </p:sp>
      <p:sp>
        <p:nvSpPr>
          <p:cNvPr id="54" name="TextBox 53"/>
          <p:cNvSpPr txBox="1"/>
          <p:nvPr/>
        </p:nvSpPr>
        <p:spPr>
          <a:xfrm>
            <a:off x="3715621" y="404979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7,5%</a:t>
            </a:r>
          </a:p>
        </p:txBody>
      </p:sp>
      <p:sp>
        <p:nvSpPr>
          <p:cNvPr id="55" name="TextBox 54"/>
          <p:cNvSpPr txBox="1"/>
          <p:nvPr/>
        </p:nvSpPr>
        <p:spPr>
          <a:xfrm>
            <a:off x="4169694" y="404979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0,80%</a:t>
            </a:r>
          </a:p>
        </p:txBody>
      </p:sp>
      <p:sp>
        <p:nvSpPr>
          <p:cNvPr id="56" name="TextBox 55"/>
          <p:cNvSpPr txBox="1"/>
          <p:nvPr/>
        </p:nvSpPr>
        <p:spPr>
          <a:xfrm>
            <a:off x="4865923" y="404979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0,82%</a:t>
            </a:r>
          </a:p>
        </p:txBody>
      </p:sp>
      <p:sp>
        <p:nvSpPr>
          <p:cNvPr id="57" name="TextBox 56"/>
          <p:cNvSpPr txBox="1"/>
          <p:nvPr/>
        </p:nvSpPr>
        <p:spPr>
          <a:xfrm>
            <a:off x="6039022" y="404979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-0,02%</a:t>
            </a:r>
          </a:p>
        </p:txBody>
      </p:sp>
      <p:sp>
        <p:nvSpPr>
          <p:cNvPr id="58" name="TextBox 57"/>
          <p:cNvSpPr txBox="1"/>
          <p:nvPr/>
        </p:nvSpPr>
        <p:spPr>
          <a:xfrm>
            <a:off x="6553693" y="404979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2,8</a:t>
            </a:r>
          </a:p>
        </p:txBody>
      </p:sp>
      <p:sp>
        <p:nvSpPr>
          <p:cNvPr id="59" name="TextBox 58"/>
          <p:cNvSpPr txBox="1"/>
          <p:nvPr/>
        </p:nvSpPr>
        <p:spPr>
          <a:xfrm>
            <a:off x="604800" y="433766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Transporte e logística</a:t>
            </a:r>
          </a:p>
        </p:txBody>
      </p:sp>
      <p:sp>
        <p:nvSpPr>
          <p:cNvPr id="60" name="TextBox 59"/>
          <p:cNvSpPr txBox="1"/>
          <p:nvPr/>
        </p:nvSpPr>
        <p:spPr>
          <a:xfrm>
            <a:off x="2580322" y="434463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29.782</a:t>
            </a:r>
          </a:p>
        </p:txBody>
      </p:sp>
      <p:sp>
        <p:nvSpPr>
          <p:cNvPr id="61" name="TextBox 60"/>
          <p:cNvSpPr txBox="1"/>
          <p:nvPr/>
        </p:nvSpPr>
        <p:spPr>
          <a:xfrm>
            <a:off x="3715621" y="434463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6,7%</a:t>
            </a:r>
          </a:p>
        </p:txBody>
      </p:sp>
      <p:sp>
        <p:nvSpPr>
          <p:cNvPr id="62" name="TextBox 61"/>
          <p:cNvSpPr txBox="1"/>
          <p:nvPr/>
        </p:nvSpPr>
        <p:spPr>
          <a:xfrm>
            <a:off x="4169694" y="434463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1,34%</a:t>
            </a:r>
          </a:p>
        </p:txBody>
      </p:sp>
      <p:sp>
        <p:nvSpPr>
          <p:cNvPr id="63" name="TextBox 62"/>
          <p:cNvSpPr txBox="1"/>
          <p:nvPr/>
        </p:nvSpPr>
        <p:spPr>
          <a:xfrm>
            <a:off x="4865923" y="434463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1,26%</a:t>
            </a:r>
          </a:p>
        </p:txBody>
      </p:sp>
      <p:sp>
        <p:nvSpPr>
          <p:cNvPr id="64" name="TextBox 63"/>
          <p:cNvSpPr txBox="1"/>
          <p:nvPr/>
        </p:nvSpPr>
        <p:spPr>
          <a:xfrm>
            <a:off x="6039022" y="434463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0,08%</a:t>
            </a:r>
          </a:p>
        </p:txBody>
      </p:sp>
      <p:sp>
        <p:nvSpPr>
          <p:cNvPr id="65" name="TextBox 64"/>
          <p:cNvSpPr txBox="1"/>
          <p:nvPr/>
        </p:nvSpPr>
        <p:spPr>
          <a:xfrm>
            <a:off x="6553693" y="434463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2,7</a:t>
            </a:r>
          </a:p>
        </p:txBody>
      </p:sp>
      <p:sp>
        <p:nvSpPr>
          <p:cNvPr id="66" name="TextBox 65"/>
          <p:cNvSpPr txBox="1"/>
          <p:nvPr/>
        </p:nvSpPr>
        <p:spPr>
          <a:xfrm>
            <a:off x="604800" y="463250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Comércio atacadista e varejista</a:t>
            </a:r>
          </a:p>
        </p:txBody>
      </p:sp>
      <p:sp>
        <p:nvSpPr>
          <p:cNvPr id="67" name="TextBox 66"/>
          <p:cNvSpPr txBox="1"/>
          <p:nvPr/>
        </p:nvSpPr>
        <p:spPr>
          <a:xfrm>
            <a:off x="2580322" y="463947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26.963</a:t>
            </a:r>
          </a:p>
        </p:txBody>
      </p:sp>
      <p:sp>
        <p:nvSpPr>
          <p:cNvPr id="68" name="TextBox 67"/>
          <p:cNvSpPr txBox="1"/>
          <p:nvPr/>
        </p:nvSpPr>
        <p:spPr>
          <a:xfrm>
            <a:off x="3715621" y="463947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6,1%</a:t>
            </a:r>
          </a:p>
        </p:txBody>
      </p:sp>
      <p:sp>
        <p:nvSpPr>
          <p:cNvPr id="69" name="TextBox 68"/>
          <p:cNvSpPr txBox="1"/>
          <p:nvPr/>
        </p:nvSpPr>
        <p:spPr>
          <a:xfrm>
            <a:off x="4169694" y="463947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1,34%</a:t>
            </a:r>
          </a:p>
        </p:txBody>
      </p:sp>
      <p:sp>
        <p:nvSpPr>
          <p:cNvPr id="70" name="TextBox 69"/>
          <p:cNvSpPr txBox="1"/>
          <p:nvPr/>
        </p:nvSpPr>
        <p:spPr>
          <a:xfrm>
            <a:off x="4865923" y="463947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1,32%</a:t>
            </a:r>
          </a:p>
        </p:txBody>
      </p:sp>
      <p:sp>
        <p:nvSpPr>
          <p:cNvPr id="71" name="TextBox 70"/>
          <p:cNvSpPr txBox="1"/>
          <p:nvPr/>
        </p:nvSpPr>
        <p:spPr>
          <a:xfrm>
            <a:off x="6039022" y="463947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0,02%</a:t>
            </a:r>
          </a:p>
        </p:txBody>
      </p:sp>
      <p:sp>
        <p:nvSpPr>
          <p:cNvPr id="72" name="TextBox 71"/>
          <p:cNvSpPr txBox="1"/>
          <p:nvPr/>
        </p:nvSpPr>
        <p:spPr>
          <a:xfrm>
            <a:off x="6553693" y="463947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2,4</a:t>
            </a:r>
          </a:p>
        </p:txBody>
      </p:sp>
      <p:sp>
        <p:nvSpPr>
          <p:cNvPr id="73" name="TextBox 72"/>
          <p:cNvSpPr txBox="1"/>
          <p:nvPr/>
        </p:nvSpPr>
        <p:spPr>
          <a:xfrm>
            <a:off x="604800" y="492734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Financeiro</a:t>
            </a:r>
          </a:p>
        </p:txBody>
      </p:sp>
      <p:sp>
        <p:nvSpPr>
          <p:cNvPr id="74" name="TextBox 73"/>
          <p:cNvSpPr txBox="1"/>
          <p:nvPr/>
        </p:nvSpPr>
        <p:spPr>
          <a:xfrm>
            <a:off x="2580322" y="493431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23.678</a:t>
            </a:r>
          </a:p>
        </p:txBody>
      </p:sp>
      <p:sp>
        <p:nvSpPr>
          <p:cNvPr id="75" name="TextBox 74"/>
          <p:cNvSpPr txBox="1"/>
          <p:nvPr/>
        </p:nvSpPr>
        <p:spPr>
          <a:xfrm>
            <a:off x="3715621" y="493431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5,3%</a:t>
            </a:r>
          </a:p>
        </p:txBody>
      </p:sp>
      <p:sp>
        <p:nvSpPr>
          <p:cNvPr id="76" name="TextBox 75"/>
          <p:cNvSpPr txBox="1"/>
          <p:nvPr/>
        </p:nvSpPr>
        <p:spPr>
          <a:xfrm>
            <a:off x="4169694" y="493431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0,45%</a:t>
            </a:r>
          </a:p>
        </p:txBody>
      </p:sp>
      <p:sp>
        <p:nvSpPr>
          <p:cNvPr id="77" name="TextBox 76"/>
          <p:cNvSpPr txBox="1"/>
          <p:nvPr/>
        </p:nvSpPr>
        <p:spPr>
          <a:xfrm>
            <a:off x="4865923" y="493431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0,46%</a:t>
            </a:r>
          </a:p>
        </p:txBody>
      </p:sp>
      <p:sp>
        <p:nvSpPr>
          <p:cNvPr id="78" name="TextBox 77"/>
          <p:cNvSpPr txBox="1"/>
          <p:nvPr/>
        </p:nvSpPr>
        <p:spPr>
          <a:xfrm>
            <a:off x="6039022" y="493431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-0,01%</a:t>
            </a:r>
          </a:p>
        </p:txBody>
      </p:sp>
      <p:sp>
        <p:nvSpPr>
          <p:cNvPr id="79" name="TextBox 78"/>
          <p:cNvSpPr txBox="1"/>
          <p:nvPr/>
        </p:nvSpPr>
        <p:spPr>
          <a:xfrm>
            <a:off x="6553693" y="493431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2,0</a:t>
            </a:r>
          </a:p>
        </p:txBody>
      </p:sp>
      <p:sp>
        <p:nvSpPr>
          <p:cNvPr id="80" name="TextBox 79"/>
          <p:cNvSpPr txBox="1"/>
          <p:nvPr/>
        </p:nvSpPr>
        <p:spPr>
          <a:xfrm>
            <a:off x="604800" y="522218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Indústria e comércio</a:t>
            </a:r>
          </a:p>
        </p:txBody>
      </p:sp>
      <p:sp>
        <p:nvSpPr>
          <p:cNvPr id="81" name="TextBox 80"/>
          <p:cNvSpPr txBox="1"/>
          <p:nvPr/>
        </p:nvSpPr>
        <p:spPr>
          <a:xfrm>
            <a:off x="2580322" y="522915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22.210</a:t>
            </a:r>
          </a:p>
        </p:txBody>
      </p:sp>
      <p:sp>
        <p:nvSpPr>
          <p:cNvPr id="82" name="TextBox 81"/>
          <p:cNvSpPr txBox="1"/>
          <p:nvPr/>
        </p:nvSpPr>
        <p:spPr>
          <a:xfrm>
            <a:off x="3715621" y="522915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5,0%</a:t>
            </a:r>
          </a:p>
        </p:txBody>
      </p:sp>
      <p:sp>
        <p:nvSpPr>
          <p:cNvPr id="83" name="TextBox 82"/>
          <p:cNvSpPr txBox="1"/>
          <p:nvPr/>
        </p:nvSpPr>
        <p:spPr>
          <a:xfrm>
            <a:off x="4169694" y="522915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1,21%</a:t>
            </a:r>
          </a:p>
        </p:txBody>
      </p:sp>
      <p:sp>
        <p:nvSpPr>
          <p:cNvPr id="84" name="TextBox 83"/>
          <p:cNvSpPr txBox="1"/>
          <p:nvPr/>
        </p:nvSpPr>
        <p:spPr>
          <a:xfrm>
            <a:off x="4865923" y="522915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1,21%</a:t>
            </a:r>
          </a:p>
        </p:txBody>
      </p:sp>
      <p:sp>
        <p:nvSpPr>
          <p:cNvPr id="85" name="TextBox 84"/>
          <p:cNvSpPr txBox="1"/>
          <p:nvPr/>
        </p:nvSpPr>
        <p:spPr>
          <a:xfrm>
            <a:off x="6039022" y="522915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0,00%</a:t>
            </a:r>
          </a:p>
        </p:txBody>
      </p:sp>
      <p:sp>
        <p:nvSpPr>
          <p:cNvPr id="86" name="TextBox 85"/>
          <p:cNvSpPr txBox="1"/>
          <p:nvPr/>
        </p:nvSpPr>
        <p:spPr>
          <a:xfrm>
            <a:off x="6553693" y="522915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2,6</a:t>
            </a:r>
          </a:p>
        </p:txBody>
      </p:sp>
      <p:sp>
        <p:nvSpPr>
          <p:cNvPr id="87" name="TextBox 86"/>
          <p:cNvSpPr txBox="1"/>
          <p:nvPr/>
        </p:nvSpPr>
        <p:spPr>
          <a:xfrm>
            <a:off x="604800" y="551702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Ti e telecomunicações</a:t>
            </a:r>
          </a:p>
        </p:txBody>
      </p:sp>
      <p:sp>
        <p:nvSpPr>
          <p:cNvPr id="88" name="TextBox 87"/>
          <p:cNvSpPr txBox="1"/>
          <p:nvPr/>
        </p:nvSpPr>
        <p:spPr>
          <a:xfrm>
            <a:off x="2580322" y="552399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18.606</a:t>
            </a:r>
          </a:p>
        </p:txBody>
      </p:sp>
      <p:sp>
        <p:nvSpPr>
          <p:cNvPr id="89" name="TextBox 88"/>
          <p:cNvSpPr txBox="1"/>
          <p:nvPr/>
        </p:nvSpPr>
        <p:spPr>
          <a:xfrm>
            <a:off x="3715621" y="552399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4,2%</a:t>
            </a:r>
          </a:p>
        </p:txBody>
      </p:sp>
      <p:sp>
        <p:nvSpPr>
          <p:cNvPr id="90" name="TextBox 89"/>
          <p:cNvSpPr txBox="1"/>
          <p:nvPr/>
        </p:nvSpPr>
        <p:spPr>
          <a:xfrm>
            <a:off x="4169694" y="552399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1,00%</a:t>
            </a:r>
          </a:p>
        </p:txBody>
      </p:sp>
      <p:sp>
        <p:nvSpPr>
          <p:cNvPr id="91" name="TextBox 90"/>
          <p:cNvSpPr txBox="1"/>
          <p:nvPr/>
        </p:nvSpPr>
        <p:spPr>
          <a:xfrm>
            <a:off x="4865923" y="552399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1,00%</a:t>
            </a:r>
          </a:p>
        </p:txBody>
      </p:sp>
      <p:sp>
        <p:nvSpPr>
          <p:cNvPr id="92" name="TextBox 91"/>
          <p:cNvSpPr txBox="1"/>
          <p:nvPr/>
        </p:nvSpPr>
        <p:spPr>
          <a:xfrm>
            <a:off x="6039022" y="552399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0,00%</a:t>
            </a:r>
          </a:p>
        </p:txBody>
      </p:sp>
      <p:sp>
        <p:nvSpPr>
          <p:cNvPr id="93" name="TextBox 92"/>
          <p:cNvSpPr txBox="1"/>
          <p:nvPr/>
        </p:nvSpPr>
        <p:spPr>
          <a:xfrm>
            <a:off x="6553693" y="552399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2,2</a:t>
            </a:r>
          </a:p>
        </p:txBody>
      </p:sp>
      <p:sp>
        <p:nvSpPr>
          <p:cNvPr id="94" name="TextBox 93"/>
          <p:cNvSpPr txBox="1"/>
          <p:nvPr/>
        </p:nvSpPr>
        <p:spPr>
          <a:xfrm>
            <a:off x="604800" y="581186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Bioenergia</a:t>
            </a:r>
          </a:p>
        </p:txBody>
      </p:sp>
      <p:sp>
        <p:nvSpPr>
          <p:cNvPr id="95" name="TextBox 94"/>
          <p:cNvSpPr txBox="1"/>
          <p:nvPr/>
        </p:nvSpPr>
        <p:spPr>
          <a:xfrm>
            <a:off x="2580322" y="581883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9.534</a:t>
            </a:r>
          </a:p>
        </p:txBody>
      </p:sp>
      <p:sp>
        <p:nvSpPr>
          <p:cNvPr id="96" name="TextBox 95"/>
          <p:cNvSpPr txBox="1"/>
          <p:nvPr/>
        </p:nvSpPr>
        <p:spPr>
          <a:xfrm>
            <a:off x="3715621" y="581883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2,1%</a:t>
            </a:r>
          </a:p>
        </p:txBody>
      </p:sp>
      <p:sp>
        <p:nvSpPr>
          <p:cNvPr id="97" name="TextBox 96"/>
          <p:cNvSpPr txBox="1"/>
          <p:nvPr/>
        </p:nvSpPr>
        <p:spPr>
          <a:xfrm>
            <a:off x="4169694" y="581883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1,69%</a:t>
            </a:r>
          </a:p>
        </p:txBody>
      </p:sp>
      <p:sp>
        <p:nvSpPr>
          <p:cNvPr id="98" name="TextBox 97"/>
          <p:cNvSpPr txBox="1"/>
          <p:nvPr/>
        </p:nvSpPr>
        <p:spPr>
          <a:xfrm>
            <a:off x="4865923" y="581883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1,66%</a:t>
            </a:r>
          </a:p>
        </p:txBody>
      </p:sp>
      <p:sp>
        <p:nvSpPr>
          <p:cNvPr id="99" name="TextBox 98"/>
          <p:cNvSpPr txBox="1"/>
          <p:nvPr/>
        </p:nvSpPr>
        <p:spPr>
          <a:xfrm>
            <a:off x="6039022" y="581883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0,03%</a:t>
            </a:r>
          </a:p>
        </p:txBody>
      </p:sp>
      <p:sp>
        <p:nvSpPr>
          <p:cNvPr id="100" name="TextBox 99"/>
          <p:cNvSpPr txBox="1"/>
          <p:nvPr/>
        </p:nvSpPr>
        <p:spPr>
          <a:xfrm>
            <a:off x="6553693" y="581883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3,0</a:t>
            </a:r>
          </a:p>
        </p:txBody>
      </p:sp>
      <p:sp>
        <p:nvSpPr>
          <p:cNvPr id="101" name="TextBox 100"/>
          <p:cNvSpPr txBox="1"/>
          <p:nvPr/>
        </p:nvSpPr>
        <p:spPr>
          <a:xfrm>
            <a:off x="604800" y="610670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Metalurgia e siderurgia</a:t>
            </a:r>
          </a:p>
        </p:txBody>
      </p:sp>
      <p:sp>
        <p:nvSpPr>
          <p:cNvPr id="102" name="TextBox 101"/>
          <p:cNvSpPr txBox="1"/>
          <p:nvPr/>
        </p:nvSpPr>
        <p:spPr>
          <a:xfrm>
            <a:off x="2580322" y="611367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9.897</a:t>
            </a:r>
          </a:p>
        </p:txBody>
      </p:sp>
      <p:sp>
        <p:nvSpPr>
          <p:cNvPr id="103" name="TextBox 102"/>
          <p:cNvSpPr txBox="1"/>
          <p:nvPr/>
        </p:nvSpPr>
        <p:spPr>
          <a:xfrm>
            <a:off x="3715621" y="611367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2,2%</a:t>
            </a:r>
          </a:p>
        </p:txBody>
      </p:sp>
      <p:sp>
        <p:nvSpPr>
          <p:cNvPr id="104" name="TextBox 103"/>
          <p:cNvSpPr txBox="1"/>
          <p:nvPr/>
        </p:nvSpPr>
        <p:spPr>
          <a:xfrm>
            <a:off x="4169694" y="611367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1,22%</a:t>
            </a:r>
          </a:p>
        </p:txBody>
      </p:sp>
      <p:sp>
        <p:nvSpPr>
          <p:cNvPr id="105" name="TextBox 104"/>
          <p:cNvSpPr txBox="1"/>
          <p:nvPr/>
        </p:nvSpPr>
        <p:spPr>
          <a:xfrm>
            <a:off x="4865923" y="611367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1,26%</a:t>
            </a:r>
          </a:p>
        </p:txBody>
      </p:sp>
      <p:sp>
        <p:nvSpPr>
          <p:cNvPr id="106" name="TextBox 105"/>
          <p:cNvSpPr txBox="1"/>
          <p:nvPr/>
        </p:nvSpPr>
        <p:spPr>
          <a:xfrm>
            <a:off x="6039022" y="611367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-0,04%</a:t>
            </a:r>
          </a:p>
        </p:txBody>
      </p:sp>
      <p:sp>
        <p:nvSpPr>
          <p:cNvPr id="107" name="TextBox 106"/>
          <p:cNvSpPr txBox="1"/>
          <p:nvPr/>
        </p:nvSpPr>
        <p:spPr>
          <a:xfrm>
            <a:off x="6553693" y="611367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2,7</a:t>
            </a:r>
          </a:p>
        </p:txBody>
      </p:sp>
      <p:sp>
        <p:nvSpPr>
          <p:cNvPr id="108" name="TextBox 107"/>
          <p:cNvSpPr txBox="1"/>
          <p:nvPr/>
        </p:nvSpPr>
        <p:spPr>
          <a:xfrm>
            <a:off x="604800" y="640154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Educação</a:t>
            </a:r>
          </a:p>
        </p:txBody>
      </p:sp>
      <p:sp>
        <p:nvSpPr>
          <p:cNvPr id="109" name="TextBox 108"/>
          <p:cNvSpPr txBox="1"/>
          <p:nvPr/>
        </p:nvSpPr>
        <p:spPr>
          <a:xfrm>
            <a:off x="2580322" y="640851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7.210</a:t>
            </a:r>
          </a:p>
        </p:txBody>
      </p:sp>
      <p:sp>
        <p:nvSpPr>
          <p:cNvPr id="110" name="TextBox 109"/>
          <p:cNvSpPr txBox="1"/>
          <p:nvPr/>
        </p:nvSpPr>
        <p:spPr>
          <a:xfrm>
            <a:off x="3715621" y="640851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1,6%</a:t>
            </a:r>
          </a:p>
        </p:txBody>
      </p:sp>
      <p:sp>
        <p:nvSpPr>
          <p:cNvPr id="111" name="TextBox 110"/>
          <p:cNvSpPr txBox="1"/>
          <p:nvPr/>
        </p:nvSpPr>
        <p:spPr>
          <a:xfrm>
            <a:off x="4169694" y="640851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1,13%</a:t>
            </a:r>
          </a:p>
        </p:txBody>
      </p:sp>
      <p:sp>
        <p:nvSpPr>
          <p:cNvPr id="112" name="TextBox 111"/>
          <p:cNvSpPr txBox="1"/>
          <p:nvPr/>
        </p:nvSpPr>
        <p:spPr>
          <a:xfrm>
            <a:off x="4865923" y="640851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1,17%</a:t>
            </a:r>
          </a:p>
        </p:txBody>
      </p:sp>
      <p:sp>
        <p:nvSpPr>
          <p:cNvPr id="113" name="TextBox 112"/>
          <p:cNvSpPr txBox="1"/>
          <p:nvPr/>
        </p:nvSpPr>
        <p:spPr>
          <a:xfrm>
            <a:off x="6039022" y="640851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-0,04%</a:t>
            </a:r>
          </a:p>
        </p:txBody>
      </p:sp>
      <p:sp>
        <p:nvSpPr>
          <p:cNvPr id="114" name="TextBox 113"/>
          <p:cNvSpPr txBox="1"/>
          <p:nvPr/>
        </p:nvSpPr>
        <p:spPr>
          <a:xfrm>
            <a:off x="6553693" y="640851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2,0</a:t>
            </a:r>
          </a:p>
        </p:txBody>
      </p:sp>
      <p:sp>
        <p:nvSpPr>
          <p:cNvPr id="115" name="TextBox 114"/>
          <p:cNvSpPr txBox="1"/>
          <p:nvPr/>
        </p:nvSpPr>
        <p:spPr>
          <a:xfrm>
            <a:off x="604800" y="669638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Serviços imobiliários</a:t>
            </a:r>
          </a:p>
        </p:txBody>
      </p:sp>
      <p:sp>
        <p:nvSpPr>
          <p:cNvPr id="116" name="TextBox 115"/>
          <p:cNvSpPr txBox="1"/>
          <p:nvPr/>
        </p:nvSpPr>
        <p:spPr>
          <a:xfrm>
            <a:off x="2580322" y="670335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5.994</a:t>
            </a:r>
          </a:p>
        </p:txBody>
      </p:sp>
      <p:sp>
        <p:nvSpPr>
          <p:cNvPr id="117" name="TextBox 116"/>
          <p:cNvSpPr txBox="1"/>
          <p:nvPr/>
        </p:nvSpPr>
        <p:spPr>
          <a:xfrm>
            <a:off x="3715621" y="670335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1,4%</a:t>
            </a:r>
          </a:p>
        </p:txBody>
      </p:sp>
      <p:sp>
        <p:nvSpPr>
          <p:cNvPr id="118" name="TextBox 117"/>
          <p:cNvSpPr txBox="1"/>
          <p:nvPr/>
        </p:nvSpPr>
        <p:spPr>
          <a:xfrm>
            <a:off x="4169694" y="670335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0,53%</a:t>
            </a:r>
          </a:p>
        </p:txBody>
      </p:sp>
      <p:sp>
        <p:nvSpPr>
          <p:cNvPr id="119" name="TextBox 118"/>
          <p:cNvSpPr txBox="1"/>
          <p:nvPr/>
        </p:nvSpPr>
        <p:spPr>
          <a:xfrm>
            <a:off x="4865923" y="670335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0,54%</a:t>
            </a:r>
          </a:p>
        </p:txBody>
      </p:sp>
      <p:sp>
        <p:nvSpPr>
          <p:cNvPr id="120" name="TextBox 119"/>
          <p:cNvSpPr txBox="1"/>
          <p:nvPr/>
        </p:nvSpPr>
        <p:spPr>
          <a:xfrm>
            <a:off x="6039022" y="670335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-0,01%</a:t>
            </a:r>
          </a:p>
        </p:txBody>
      </p:sp>
      <p:sp>
        <p:nvSpPr>
          <p:cNvPr id="121" name="TextBox 120"/>
          <p:cNvSpPr txBox="1"/>
          <p:nvPr/>
        </p:nvSpPr>
        <p:spPr>
          <a:xfrm>
            <a:off x="6553693" y="670335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3,3</a:t>
            </a:r>
          </a:p>
        </p:txBody>
      </p:sp>
      <p:sp>
        <p:nvSpPr>
          <p:cNvPr id="122" name="TextBox 121"/>
          <p:cNvSpPr txBox="1"/>
          <p:nvPr/>
        </p:nvSpPr>
        <p:spPr>
          <a:xfrm>
            <a:off x="604800" y="699122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Outros serviços</a:t>
            </a:r>
          </a:p>
        </p:txBody>
      </p:sp>
      <p:sp>
        <p:nvSpPr>
          <p:cNvPr id="123" name="TextBox 122"/>
          <p:cNvSpPr txBox="1"/>
          <p:nvPr/>
        </p:nvSpPr>
        <p:spPr>
          <a:xfrm>
            <a:off x="2580322" y="699819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6.611</a:t>
            </a:r>
          </a:p>
        </p:txBody>
      </p:sp>
      <p:sp>
        <p:nvSpPr>
          <p:cNvPr id="124" name="TextBox 123"/>
          <p:cNvSpPr txBox="1"/>
          <p:nvPr/>
        </p:nvSpPr>
        <p:spPr>
          <a:xfrm>
            <a:off x="3715621" y="699819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1,5%</a:t>
            </a:r>
          </a:p>
        </p:txBody>
      </p:sp>
      <p:sp>
        <p:nvSpPr>
          <p:cNvPr id="125" name="TextBox 124"/>
          <p:cNvSpPr txBox="1"/>
          <p:nvPr/>
        </p:nvSpPr>
        <p:spPr>
          <a:xfrm>
            <a:off x="4169694" y="699819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1,25%</a:t>
            </a:r>
          </a:p>
        </p:txBody>
      </p:sp>
      <p:sp>
        <p:nvSpPr>
          <p:cNvPr id="126" name="TextBox 125"/>
          <p:cNvSpPr txBox="1"/>
          <p:nvPr/>
        </p:nvSpPr>
        <p:spPr>
          <a:xfrm>
            <a:off x="4865923" y="699819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1,09%</a:t>
            </a:r>
          </a:p>
        </p:txBody>
      </p:sp>
      <p:sp>
        <p:nvSpPr>
          <p:cNvPr id="127" name="TextBox 126"/>
          <p:cNvSpPr txBox="1"/>
          <p:nvPr/>
        </p:nvSpPr>
        <p:spPr>
          <a:xfrm>
            <a:off x="6039022" y="699819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0,16%</a:t>
            </a:r>
          </a:p>
        </p:txBody>
      </p:sp>
      <p:sp>
        <p:nvSpPr>
          <p:cNvPr id="128" name="TextBox 127"/>
          <p:cNvSpPr txBox="1"/>
          <p:nvPr/>
        </p:nvSpPr>
        <p:spPr>
          <a:xfrm>
            <a:off x="6553693" y="699819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2,7</a:t>
            </a:r>
          </a:p>
        </p:txBody>
      </p:sp>
      <p:sp>
        <p:nvSpPr>
          <p:cNvPr id="129" name="TextBox 128"/>
          <p:cNvSpPr txBox="1"/>
          <p:nvPr/>
        </p:nvSpPr>
        <p:spPr>
          <a:xfrm>
            <a:off x="604800" y="7221217"/>
            <a:ext cx="1930162" cy="286098"/>
          </a:xfrm>
          <a:prstGeom prst="rect">
            <a:avLst/>
          </a:prstGeom>
          <a:noFill/>
        </p:spPr>
        <p:txBody>
          <a:bodyPr wrap="square" lIns="0" rIns="0" tIns="0" bIns="0" anchor="t"/>
          <a:lstStyle/>
          <a:p>
            <a:pPr algn="l">
              <a:lnSpc>
                <a:spcPts val="1062"/>
              </a:lnSpc>
            </a:pPr>
            <a:r>
              <a:rPr sz="1012" b="0" i="0">
                <a:solidFill>
                  <a:srgbClr val="FFFFFF"/>
                </a:solidFill>
                <a:latin typeface="Versos"/>
              </a:rPr>
              <a:t>Empreendimentos e participações</a:t>
            </a:r>
          </a:p>
        </p:txBody>
      </p:sp>
      <p:sp>
        <p:nvSpPr>
          <p:cNvPr id="130" name="TextBox 129"/>
          <p:cNvSpPr txBox="1"/>
          <p:nvPr/>
        </p:nvSpPr>
        <p:spPr>
          <a:xfrm>
            <a:off x="2580322" y="7295636"/>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9.181</a:t>
            </a:r>
          </a:p>
        </p:txBody>
      </p:sp>
      <p:sp>
        <p:nvSpPr>
          <p:cNvPr id="131" name="TextBox 130"/>
          <p:cNvSpPr txBox="1"/>
          <p:nvPr/>
        </p:nvSpPr>
        <p:spPr>
          <a:xfrm>
            <a:off x="3715621" y="7295636"/>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2,1%</a:t>
            </a:r>
          </a:p>
        </p:txBody>
      </p:sp>
      <p:sp>
        <p:nvSpPr>
          <p:cNvPr id="132" name="TextBox 131"/>
          <p:cNvSpPr txBox="1"/>
          <p:nvPr/>
        </p:nvSpPr>
        <p:spPr>
          <a:xfrm>
            <a:off x="4169694" y="7295636"/>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1,43%</a:t>
            </a:r>
          </a:p>
        </p:txBody>
      </p:sp>
      <p:sp>
        <p:nvSpPr>
          <p:cNvPr id="133" name="TextBox 132"/>
          <p:cNvSpPr txBox="1"/>
          <p:nvPr/>
        </p:nvSpPr>
        <p:spPr>
          <a:xfrm>
            <a:off x="4865923" y="7295636"/>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1,43%</a:t>
            </a:r>
          </a:p>
        </p:txBody>
      </p:sp>
      <p:sp>
        <p:nvSpPr>
          <p:cNvPr id="134" name="TextBox 133"/>
          <p:cNvSpPr txBox="1"/>
          <p:nvPr/>
        </p:nvSpPr>
        <p:spPr>
          <a:xfrm>
            <a:off x="6039022" y="7295636"/>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-0,01%</a:t>
            </a:r>
          </a:p>
        </p:txBody>
      </p:sp>
      <p:sp>
        <p:nvSpPr>
          <p:cNvPr id="135" name="TextBox 134"/>
          <p:cNvSpPr txBox="1"/>
          <p:nvPr/>
        </p:nvSpPr>
        <p:spPr>
          <a:xfrm>
            <a:off x="6553693" y="7295636"/>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3,2</a:t>
            </a:r>
          </a:p>
        </p:txBody>
      </p:sp>
      <p:sp>
        <p:nvSpPr>
          <p:cNvPr id="136" name="TextBox 135"/>
          <p:cNvSpPr txBox="1"/>
          <p:nvPr/>
        </p:nvSpPr>
        <p:spPr>
          <a:xfrm>
            <a:off x="604800" y="7586105"/>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Papel e Celulose</a:t>
            </a:r>
          </a:p>
        </p:txBody>
      </p:sp>
      <p:sp>
        <p:nvSpPr>
          <p:cNvPr id="137" name="TextBox 136"/>
          <p:cNvSpPr txBox="1"/>
          <p:nvPr/>
        </p:nvSpPr>
        <p:spPr>
          <a:xfrm>
            <a:off x="2580322" y="7593075"/>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5.316</a:t>
            </a:r>
          </a:p>
        </p:txBody>
      </p:sp>
      <p:sp>
        <p:nvSpPr>
          <p:cNvPr id="138" name="TextBox 137"/>
          <p:cNvSpPr txBox="1"/>
          <p:nvPr/>
        </p:nvSpPr>
        <p:spPr>
          <a:xfrm>
            <a:off x="3715621" y="7593075"/>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1,2%</a:t>
            </a:r>
          </a:p>
        </p:txBody>
      </p:sp>
      <p:sp>
        <p:nvSpPr>
          <p:cNvPr id="139" name="TextBox 138"/>
          <p:cNvSpPr txBox="1"/>
          <p:nvPr/>
        </p:nvSpPr>
        <p:spPr>
          <a:xfrm>
            <a:off x="4169694" y="7593075"/>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0,52%</a:t>
            </a:r>
          </a:p>
        </p:txBody>
      </p:sp>
      <p:sp>
        <p:nvSpPr>
          <p:cNvPr id="140" name="TextBox 139"/>
          <p:cNvSpPr txBox="1"/>
          <p:nvPr/>
        </p:nvSpPr>
        <p:spPr>
          <a:xfrm>
            <a:off x="4865923" y="7593075"/>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0,49%</a:t>
            </a:r>
          </a:p>
        </p:txBody>
      </p:sp>
      <p:sp>
        <p:nvSpPr>
          <p:cNvPr id="141" name="TextBox 140"/>
          <p:cNvSpPr txBox="1"/>
          <p:nvPr/>
        </p:nvSpPr>
        <p:spPr>
          <a:xfrm>
            <a:off x="6039022" y="7593075"/>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0,02%</a:t>
            </a:r>
          </a:p>
        </p:txBody>
      </p:sp>
      <p:sp>
        <p:nvSpPr>
          <p:cNvPr id="142" name="TextBox 141"/>
          <p:cNvSpPr txBox="1"/>
          <p:nvPr/>
        </p:nvSpPr>
        <p:spPr>
          <a:xfrm>
            <a:off x="6553693" y="7593075"/>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4,4</a:t>
            </a:r>
          </a:p>
        </p:txBody>
      </p:sp>
      <p:sp>
        <p:nvSpPr>
          <p:cNvPr id="143" name="TextBox 142"/>
          <p:cNvSpPr txBox="1"/>
          <p:nvPr/>
        </p:nvSpPr>
        <p:spPr>
          <a:xfrm>
            <a:off x="604800" y="7816095"/>
            <a:ext cx="1930162" cy="286098"/>
          </a:xfrm>
          <a:prstGeom prst="rect">
            <a:avLst/>
          </a:prstGeom>
          <a:noFill/>
        </p:spPr>
        <p:txBody>
          <a:bodyPr wrap="square" lIns="0" rIns="0" tIns="0" bIns="0" anchor="t"/>
          <a:lstStyle/>
          <a:p>
            <a:pPr algn="l">
              <a:lnSpc>
                <a:spcPts val="1062"/>
              </a:lnSpc>
            </a:pPr>
            <a:r>
              <a:rPr sz="1012" b="0" i="0">
                <a:solidFill>
                  <a:srgbClr val="FFFFFF"/>
                </a:solidFill>
                <a:latin typeface="Versos"/>
              </a:rPr>
              <a:t>Materiais de construção e agregados</a:t>
            </a:r>
          </a:p>
        </p:txBody>
      </p:sp>
      <p:sp>
        <p:nvSpPr>
          <p:cNvPr id="144" name="TextBox 143"/>
          <p:cNvSpPr txBox="1"/>
          <p:nvPr/>
        </p:nvSpPr>
        <p:spPr>
          <a:xfrm>
            <a:off x="2580322" y="7890513"/>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3.551</a:t>
            </a:r>
          </a:p>
        </p:txBody>
      </p:sp>
      <p:sp>
        <p:nvSpPr>
          <p:cNvPr id="145" name="TextBox 144"/>
          <p:cNvSpPr txBox="1"/>
          <p:nvPr/>
        </p:nvSpPr>
        <p:spPr>
          <a:xfrm>
            <a:off x="3715621" y="7890513"/>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0,8%</a:t>
            </a:r>
          </a:p>
        </p:txBody>
      </p:sp>
      <p:sp>
        <p:nvSpPr>
          <p:cNvPr id="146" name="TextBox 145"/>
          <p:cNvSpPr txBox="1"/>
          <p:nvPr/>
        </p:nvSpPr>
        <p:spPr>
          <a:xfrm>
            <a:off x="4169694" y="7890513"/>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0,88%</a:t>
            </a:r>
          </a:p>
        </p:txBody>
      </p:sp>
      <p:sp>
        <p:nvSpPr>
          <p:cNvPr id="147" name="TextBox 146"/>
          <p:cNvSpPr txBox="1"/>
          <p:nvPr/>
        </p:nvSpPr>
        <p:spPr>
          <a:xfrm>
            <a:off x="4865923" y="7890513"/>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0,93%</a:t>
            </a:r>
          </a:p>
        </p:txBody>
      </p:sp>
      <p:sp>
        <p:nvSpPr>
          <p:cNvPr id="148" name="TextBox 147"/>
          <p:cNvSpPr txBox="1"/>
          <p:nvPr/>
        </p:nvSpPr>
        <p:spPr>
          <a:xfrm>
            <a:off x="6039022" y="7890513"/>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-0,06%</a:t>
            </a:r>
          </a:p>
        </p:txBody>
      </p:sp>
      <p:sp>
        <p:nvSpPr>
          <p:cNvPr id="149" name="TextBox 148"/>
          <p:cNvSpPr txBox="1"/>
          <p:nvPr/>
        </p:nvSpPr>
        <p:spPr>
          <a:xfrm>
            <a:off x="6553693" y="7890513"/>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3,5</a:t>
            </a:r>
          </a:p>
        </p:txBody>
      </p:sp>
      <p:sp>
        <p:nvSpPr>
          <p:cNvPr id="150" name="TextBox 149"/>
          <p:cNvSpPr txBox="1"/>
          <p:nvPr/>
        </p:nvSpPr>
        <p:spPr>
          <a:xfrm>
            <a:off x="604800" y="8180983"/>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Química e petroquímica</a:t>
            </a:r>
          </a:p>
        </p:txBody>
      </p:sp>
      <p:sp>
        <p:nvSpPr>
          <p:cNvPr id="151" name="TextBox 150"/>
          <p:cNvSpPr txBox="1"/>
          <p:nvPr/>
        </p:nvSpPr>
        <p:spPr>
          <a:xfrm>
            <a:off x="2580322" y="8187952"/>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2.512</a:t>
            </a:r>
          </a:p>
        </p:txBody>
      </p:sp>
      <p:sp>
        <p:nvSpPr>
          <p:cNvPr id="152" name="TextBox 151"/>
          <p:cNvSpPr txBox="1"/>
          <p:nvPr/>
        </p:nvSpPr>
        <p:spPr>
          <a:xfrm>
            <a:off x="3715621" y="8187952"/>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0,6%</a:t>
            </a:r>
          </a:p>
        </p:txBody>
      </p:sp>
      <p:sp>
        <p:nvSpPr>
          <p:cNvPr id="153" name="TextBox 152"/>
          <p:cNvSpPr txBox="1"/>
          <p:nvPr/>
        </p:nvSpPr>
        <p:spPr>
          <a:xfrm>
            <a:off x="4169694" y="8187952"/>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1,47%</a:t>
            </a:r>
          </a:p>
        </p:txBody>
      </p:sp>
      <p:sp>
        <p:nvSpPr>
          <p:cNvPr id="154" name="TextBox 153"/>
          <p:cNvSpPr txBox="1"/>
          <p:nvPr/>
        </p:nvSpPr>
        <p:spPr>
          <a:xfrm>
            <a:off x="4865923" y="8187952"/>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1,47%</a:t>
            </a:r>
          </a:p>
        </p:txBody>
      </p:sp>
      <p:sp>
        <p:nvSpPr>
          <p:cNvPr id="155" name="TextBox 154"/>
          <p:cNvSpPr txBox="1"/>
          <p:nvPr/>
        </p:nvSpPr>
        <p:spPr>
          <a:xfrm>
            <a:off x="6039022" y="8187952"/>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0,00%</a:t>
            </a:r>
          </a:p>
        </p:txBody>
      </p:sp>
      <p:sp>
        <p:nvSpPr>
          <p:cNvPr id="156" name="TextBox 155"/>
          <p:cNvSpPr txBox="1"/>
          <p:nvPr/>
        </p:nvSpPr>
        <p:spPr>
          <a:xfrm>
            <a:off x="6553693" y="8187952"/>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3,5</a:t>
            </a:r>
          </a:p>
        </p:txBody>
      </p:sp>
      <p:sp>
        <p:nvSpPr>
          <p:cNvPr id="157" name="TextBox 156"/>
          <p:cNvSpPr txBox="1"/>
          <p:nvPr/>
        </p:nvSpPr>
        <p:spPr>
          <a:xfrm>
            <a:off x="604800" y="8475823"/>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Alimentos e bebidas</a:t>
            </a:r>
          </a:p>
        </p:txBody>
      </p:sp>
      <p:sp>
        <p:nvSpPr>
          <p:cNvPr id="158" name="TextBox 157"/>
          <p:cNvSpPr txBox="1"/>
          <p:nvPr/>
        </p:nvSpPr>
        <p:spPr>
          <a:xfrm>
            <a:off x="2580322" y="8482792"/>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1.739</a:t>
            </a:r>
          </a:p>
        </p:txBody>
      </p:sp>
      <p:sp>
        <p:nvSpPr>
          <p:cNvPr id="159" name="TextBox 158"/>
          <p:cNvSpPr txBox="1"/>
          <p:nvPr/>
        </p:nvSpPr>
        <p:spPr>
          <a:xfrm>
            <a:off x="3715621" y="8482792"/>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0,4%</a:t>
            </a:r>
          </a:p>
        </p:txBody>
      </p:sp>
      <p:sp>
        <p:nvSpPr>
          <p:cNvPr id="160" name="TextBox 159"/>
          <p:cNvSpPr txBox="1"/>
          <p:nvPr/>
        </p:nvSpPr>
        <p:spPr>
          <a:xfrm>
            <a:off x="4169694" y="8482792"/>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1,51%</a:t>
            </a:r>
          </a:p>
        </p:txBody>
      </p:sp>
      <p:sp>
        <p:nvSpPr>
          <p:cNvPr id="161" name="TextBox 160"/>
          <p:cNvSpPr txBox="1"/>
          <p:nvPr/>
        </p:nvSpPr>
        <p:spPr>
          <a:xfrm>
            <a:off x="4865923" y="8482792"/>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1,46%</a:t>
            </a:r>
          </a:p>
        </p:txBody>
      </p:sp>
      <p:sp>
        <p:nvSpPr>
          <p:cNvPr id="162" name="TextBox 161"/>
          <p:cNvSpPr txBox="1"/>
          <p:nvPr/>
        </p:nvSpPr>
        <p:spPr>
          <a:xfrm>
            <a:off x="6039022" y="8482792"/>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0,05%</a:t>
            </a:r>
          </a:p>
        </p:txBody>
      </p:sp>
      <p:sp>
        <p:nvSpPr>
          <p:cNvPr id="163" name="TextBox 162"/>
          <p:cNvSpPr txBox="1"/>
          <p:nvPr/>
        </p:nvSpPr>
        <p:spPr>
          <a:xfrm>
            <a:off x="6553693" y="8482792"/>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0,9</a:t>
            </a:r>
          </a:p>
        </p:txBody>
      </p:sp>
      <p:sp>
        <p:nvSpPr>
          <p:cNvPr id="164" name="TextBox 163"/>
          <p:cNvSpPr txBox="1"/>
          <p:nvPr/>
        </p:nvSpPr>
        <p:spPr>
          <a:xfrm>
            <a:off x="604800" y="8770663"/>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Têxtil e calçados</a:t>
            </a:r>
          </a:p>
        </p:txBody>
      </p:sp>
      <p:sp>
        <p:nvSpPr>
          <p:cNvPr id="165" name="TextBox 164"/>
          <p:cNvSpPr txBox="1"/>
          <p:nvPr/>
        </p:nvSpPr>
        <p:spPr>
          <a:xfrm>
            <a:off x="2580322" y="8777632"/>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261</a:t>
            </a:r>
          </a:p>
        </p:txBody>
      </p:sp>
      <p:sp>
        <p:nvSpPr>
          <p:cNvPr id="166" name="TextBox 165"/>
          <p:cNvSpPr txBox="1"/>
          <p:nvPr/>
        </p:nvSpPr>
        <p:spPr>
          <a:xfrm>
            <a:off x="3715621" y="8777632"/>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0,1%</a:t>
            </a:r>
          </a:p>
        </p:txBody>
      </p:sp>
      <p:sp>
        <p:nvSpPr>
          <p:cNvPr id="167" name="TextBox 166"/>
          <p:cNvSpPr txBox="1"/>
          <p:nvPr/>
        </p:nvSpPr>
        <p:spPr>
          <a:xfrm>
            <a:off x="4169694" y="8777632"/>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0,98%</a:t>
            </a:r>
          </a:p>
        </p:txBody>
      </p:sp>
      <p:sp>
        <p:nvSpPr>
          <p:cNvPr id="168" name="TextBox 167"/>
          <p:cNvSpPr txBox="1"/>
          <p:nvPr/>
        </p:nvSpPr>
        <p:spPr>
          <a:xfrm>
            <a:off x="4865923" y="8777632"/>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0,92%</a:t>
            </a:r>
          </a:p>
        </p:txBody>
      </p:sp>
      <p:sp>
        <p:nvSpPr>
          <p:cNvPr id="169" name="TextBox 168"/>
          <p:cNvSpPr txBox="1"/>
          <p:nvPr/>
        </p:nvSpPr>
        <p:spPr>
          <a:xfrm>
            <a:off x="6039022" y="8777632"/>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0,06%</a:t>
            </a:r>
          </a:p>
        </p:txBody>
      </p:sp>
      <p:sp>
        <p:nvSpPr>
          <p:cNvPr id="170" name="TextBox 169"/>
          <p:cNvSpPr txBox="1"/>
          <p:nvPr/>
        </p:nvSpPr>
        <p:spPr>
          <a:xfrm>
            <a:off x="6553693" y="8777632"/>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2,4</a:t>
            </a:r>
          </a:p>
        </p:txBody>
      </p:sp>
      <p:sp>
        <p:nvSpPr>
          <p:cNvPr id="171" name="TextBox 170"/>
          <p:cNvSpPr txBox="1"/>
          <p:nvPr/>
        </p:nvSpPr>
        <p:spPr>
          <a:xfrm>
            <a:off x="604800" y="9065503"/>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Mineração</a:t>
            </a:r>
          </a:p>
        </p:txBody>
      </p:sp>
      <p:sp>
        <p:nvSpPr>
          <p:cNvPr id="172" name="TextBox 171"/>
          <p:cNvSpPr txBox="1"/>
          <p:nvPr/>
        </p:nvSpPr>
        <p:spPr>
          <a:xfrm>
            <a:off x="2580322" y="9072472"/>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1.082</a:t>
            </a:r>
          </a:p>
        </p:txBody>
      </p:sp>
      <p:sp>
        <p:nvSpPr>
          <p:cNvPr id="173" name="TextBox 172"/>
          <p:cNvSpPr txBox="1"/>
          <p:nvPr/>
        </p:nvSpPr>
        <p:spPr>
          <a:xfrm>
            <a:off x="3715621" y="9072472"/>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0,2%</a:t>
            </a:r>
          </a:p>
        </p:txBody>
      </p:sp>
      <p:sp>
        <p:nvSpPr>
          <p:cNvPr id="174" name="TextBox 173"/>
          <p:cNvSpPr txBox="1"/>
          <p:nvPr/>
        </p:nvSpPr>
        <p:spPr>
          <a:xfrm>
            <a:off x="4169694" y="9072472"/>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0,71%</a:t>
            </a:r>
          </a:p>
        </p:txBody>
      </p:sp>
      <p:sp>
        <p:nvSpPr>
          <p:cNvPr id="175" name="TextBox 174"/>
          <p:cNvSpPr txBox="1"/>
          <p:nvPr/>
        </p:nvSpPr>
        <p:spPr>
          <a:xfrm>
            <a:off x="4865923" y="9072472"/>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0,72%</a:t>
            </a:r>
          </a:p>
        </p:txBody>
      </p:sp>
      <p:sp>
        <p:nvSpPr>
          <p:cNvPr id="176" name="TextBox 175"/>
          <p:cNvSpPr txBox="1"/>
          <p:nvPr/>
        </p:nvSpPr>
        <p:spPr>
          <a:xfrm>
            <a:off x="6039022" y="9072472"/>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-0,01%</a:t>
            </a:r>
          </a:p>
        </p:txBody>
      </p:sp>
      <p:sp>
        <p:nvSpPr>
          <p:cNvPr id="177" name="TextBox 176"/>
          <p:cNvSpPr txBox="1"/>
          <p:nvPr/>
        </p:nvSpPr>
        <p:spPr>
          <a:xfrm>
            <a:off x="6553693" y="9072472"/>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2,1</a:t>
            </a:r>
          </a:p>
        </p:txBody>
      </p:sp>
      <p:sp>
        <p:nvSpPr>
          <p:cNvPr id="178" name="TextBox 177"/>
          <p:cNvSpPr txBox="1"/>
          <p:nvPr/>
        </p:nvSpPr>
        <p:spPr>
          <a:xfrm>
            <a:off x="604800" y="9360343"/>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Construção civil</a:t>
            </a:r>
          </a:p>
        </p:txBody>
      </p:sp>
      <p:sp>
        <p:nvSpPr>
          <p:cNvPr id="179" name="TextBox 178"/>
          <p:cNvSpPr txBox="1"/>
          <p:nvPr/>
        </p:nvSpPr>
        <p:spPr>
          <a:xfrm>
            <a:off x="2580322" y="9367312"/>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51</a:t>
            </a:r>
          </a:p>
        </p:txBody>
      </p:sp>
      <p:sp>
        <p:nvSpPr>
          <p:cNvPr id="180" name="TextBox 179"/>
          <p:cNvSpPr txBox="1"/>
          <p:nvPr/>
        </p:nvSpPr>
        <p:spPr>
          <a:xfrm>
            <a:off x="3715621" y="9367312"/>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0,0%</a:t>
            </a:r>
          </a:p>
        </p:txBody>
      </p:sp>
      <p:sp>
        <p:nvSpPr>
          <p:cNvPr id="181" name="TextBox 180"/>
          <p:cNvSpPr txBox="1"/>
          <p:nvPr/>
        </p:nvSpPr>
        <p:spPr>
          <a:xfrm>
            <a:off x="4169694" y="9367312"/>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0,93%</a:t>
            </a:r>
          </a:p>
        </p:txBody>
      </p:sp>
      <p:sp>
        <p:nvSpPr>
          <p:cNvPr id="182" name="TextBox 181"/>
          <p:cNvSpPr txBox="1"/>
          <p:nvPr/>
        </p:nvSpPr>
        <p:spPr>
          <a:xfrm>
            <a:off x="4865923" y="9367312"/>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0,92%</a:t>
            </a:r>
          </a:p>
        </p:txBody>
      </p:sp>
      <p:sp>
        <p:nvSpPr>
          <p:cNvPr id="183" name="TextBox 182"/>
          <p:cNvSpPr txBox="1"/>
          <p:nvPr/>
        </p:nvSpPr>
        <p:spPr>
          <a:xfrm>
            <a:off x="6039022" y="9367312"/>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0,01%</a:t>
            </a:r>
          </a:p>
        </p:txBody>
      </p:sp>
      <p:sp>
        <p:nvSpPr>
          <p:cNvPr id="184" name="TextBox 183"/>
          <p:cNvSpPr txBox="1"/>
          <p:nvPr/>
        </p:nvSpPr>
        <p:spPr>
          <a:xfrm>
            <a:off x="6553693" y="9367312"/>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0,9</a:t>
            </a:r>
          </a:p>
        </p:txBody>
      </p:sp>
      <p:sp>
        <p:nvSpPr>
          <p:cNvPr id="185" name="TextBox 184"/>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precificadas pela ANBIMA corrigidas por CDI + spread. Desconsideramos as debêntures que começaram a ser precificadas ou que venceram ao longo do mês, para que a comparação com o mês anterior seja feita com a mesma base de ativos.</a:t>
            </a:r>
          </a:p>
        </p:txBody>
      </p:sp>
      <p:sp>
        <p:nvSpPr>
          <p:cNvPr id="186" name="TextBox 185"/>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Investidores em geral</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11/12/2024</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0,625%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R$ 126.168.780,56</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6" name="TextBox 15"/>
          <p:cNvSpPr txBox="1"/>
          <p:nvPr/>
        </p:nvSpPr>
        <p:spPr>
          <a:xfrm>
            <a:off x="3878280" y="1883857"/>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20% do que exceder 100% do CDI</a:t>
            </a:r>
          </a:p>
        </p:txBody>
      </p:sp>
      <p:sp>
        <p:nvSpPr>
          <p:cNvPr id="17" name="TextBox 16"/>
          <p:cNvSpPr txBox="1"/>
          <p:nvPr/>
        </p:nvSpPr>
        <p:spPr>
          <a:xfrm>
            <a:off x="3878280" y="238577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8" name="TextBox 17"/>
          <p:cNvSpPr txBox="1"/>
          <p:nvPr/>
        </p:nvSpPr>
        <p:spPr>
          <a:xfrm>
            <a:off x="3878280" y="2574770"/>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D+30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Não há</a:t>
            </a:r>
          </a:p>
        </p:txBody>
      </p:sp>
      <p:sp>
        <p:nvSpPr>
          <p:cNvPr id="19" name="TextBox 18"/>
          <p:cNvSpPr txBox="1"/>
          <p:nvPr/>
        </p:nvSpPr>
        <p:spPr>
          <a:xfrm>
            <a:off x="3878280" y="445851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0" name="TextBox 19"/>
          <p:cNvSpPr txBox="1"/>
          <p:nvPr/>
        </p:nvSpPr>
        <p:spPr>
          <a:xfrm>
            <a:off x="3878280" y="464751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R$ 158.893.390,74</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Disclaimer</a:t>
            </a:r>
          </a:p>
        </p:txBody>
      </p:sp>
      <p:sp>
        <p:nvSpPr>
          <p:cNvPr id="22" name="TextBox 21"/>
          <p:cNvSpPr txBox="1"/>
          <p:nvPr/>
        </p:nvSpPr>
        <p:spPr>
          <a:xfrm>
            <a:off x="400680" y="6471360"/>
            <a:ext cx="6758640" cy="593814"/>
          </a:xfrm>
          <a:prstGeom prst="rect">
            <a:avLst/>
          </a:prstGeom>
          <a:noFill/>
        </p:spPr>
        <p:txBody>
          <a:bodyPr wrap="square" lIns="0" rIns="0" tIns="0" bIns="0" anchor="t"/>
          <a:lstStyle/>
          <a:p>
            <a:pPr algn="just">
              <a:lnSpc>
                <a:spcPts val="780"/>
              </a:lnSpc>
            </a:pPr>
            <a:r>
              <a:rPr sz="639" b="0" i="0">
                <a:solidFill>
                  <a:srgbClr val="E9E9E9"/>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p:txBody>
      </p:sp>
      <p:sp>
        <p:nvSpPr>
          <p:cNvPr id="23" name="TextBox 22"/>
          <p:cNvSpPr txBox="1"/>
          <p:nvPr/>
        </p:nvSpPr>
        <p:spPr>
          <a:xfrm>
            <a:off x="400680" y="7094351"/>
            <a:ext cx="6758640" cy="891135"/>
          </a:xfrm>
          <a:prstGeom prst="rect">
            <a:avLst/>
          </a:prstGeom>
          <a:noFill/>
        </p:spPr>
        <p:txBody>
          <a:bodyPr wrap="square" lIns="0" rIns="0" tIns="0" bIns="0" anchor="t"/>
          <a:lstStyle/>
          <a:p>
            <a:pPr algn="just">
              <a:lnSpc>
                <a:spcPts val="780"/>
              </a:lnSpc>
            </a:pPr>
            <a:r>
              <a:rPr sz="639" b="0" i="0">
                <a:solidFill>
                  <a:srgbClr val="E9E9E9"/>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p:txBody>
      </p:sp>
      <p:sp>
        <p:nvSpPr>
          <p:cNvPr id="24" name="TextBox 23"/>
          <p:cNvSpPr txBox="1"/>
          <p:nvPr/>
        </p:nvSpPr>
        <p:spPr>
          <a:xfrm>
            <a:off x="400680" y="8014663"/>
            <a:ext cx="6758640" cy="494707"/>
          </a:xfrm>
          <a:prstGeom prst="rect">
            <a:avLst/>
          </a:prstGeom>
          <a:noFill/>
        </p:spPr>
        <p:txBody>
          <a:bodyPr wrap="square" lIns="0" rIns="0" tIns="0" bIns="0" anchor="t"/>
          <a:lstStyle/>
          <a:p>
            <a:pPr algn="just">
              <a:lnSpc>
                <a:spcPts val="780"/>
              </a:lnSpc>
            </a:pPr>
            <a:r>
              <a:rPr sz="639" b="0" i="0">
                <a:solidFill>
                  <a:srgbClr val="E9E9E9"/>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p:txBody>
      </p:sp>
      <p:sp>
        <p:nvSpPr>
          <p:cNvPr id="25" name="TextBox 24"/>
          <p:cNvSpPr txBox="1"/>
          <p:nvPr/>
        </p:nvSpPr>
        <p:spPr>
          <a:xfrm>
            <a:off x="400680" y="8538547"/>
            <a:ext cx="6758640" cy="395600"/>
          </a:xfrm>
          <a:prstGeom prst="rect">
            <a:avLst/>
          </a:prstGeom>
          <a:noFill/>
        </p:spPr>
        <p:txBody>
          <a:bodyPr wrap="square" lIns="0" rIns="0" tIns="0" bIns="0" anchor="t"/>
          <a:lstStyle/>
          <a:p>
            <a:pPr algn="just">
              <a:lnSpc>
                <a:spcPts val="780"/>
              </a:lnSpc>
            </a:pPr>
            <a:r>
              <a:rPr sz="639" b="0" i="0">
                <a:solidFill>
                  <a:srgbClr val="E9E9E9"/>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26" name="TextBox 25"/>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27" name="TextBox 26"/>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28" name="TextBox 27"/>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29" name="TextBox 28"/>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0" name="TextBox 29"/>
          <p:cNvSpPr txBox="1"/>
          <p:nvPr/>
        </p:nvSpPr>
        <p:spPr>
          <a:xfrm>
            <a:off x="4528440" y="10020071"/>
            <a:ext cx="500613"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1" name="TextBox 30"/>
          <p:cNvSpPr txBox="1"/>
          <p:nvPr/>
        </p:nvSpPr>
        <p:spPr>
          <a:xfrm>
            <a:off x="4528440" y="10110791"/>
            <a:ext cx="500613" cy="166320"/>
          </a:xfrm>
          <a:prstGeom prst="rect">
            <a:avLst/>
          </a:prstGeom>
          <a:noFill/>
        </p:spPr>
        <p:txBody>
          <a:bodyPr wrap="none" lIns="0" rIns="0" tIns="0" bIns="0" anchor="t"/>
          <a:lstStyle/>
          <a:p>
            <a:pPr algn="l">
              <a:lnSpc>
                <a:spcPts val="1285"/>
              </a:lnSpc>
            </a:pPr>
            <a:r>
              <a:rPr sz="1071" b="1" i="0">
                <a:solidFill>
                  <a:srgbClr val="FFFFFF"/>
                </a:solidFill>
                <a:latin typeface="Versos"/>
              </a:rPr>
              <a:t>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