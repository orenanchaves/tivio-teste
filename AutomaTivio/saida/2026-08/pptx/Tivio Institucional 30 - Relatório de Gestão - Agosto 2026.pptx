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36080"/>
          </a:xfrm>
          <a:prstGeom prst="rect">
            <a:avLst/>
          </a:prstGeom>
          <a:noFill/>
        </p:spPr>
        <p:txBody>
          <a:bodyPr wrap="none" lIns="0" rIns="0" tIns="0" bIns="0" anchor="t"/>
          <a:lstStyle/>
          <a:p>
            <a:pPr algn="l">
              <a:lnSpc>
                <a:spcPts val="1078"/>
              </a:lnSpc>
            </a:pPr>
            <a:r>
              <a:rPr sz="898" b="0" i="0">
                <a:solidFill>
                  <a:srgbClr val="FFFFFF"/>
                </a:solidFill>
                <a:latin typeface="Versos"/>
              </a:rPr>
              <a:t>TIVIO INSTITUCIONAL 30 FIF CLASSE INVESTIMENTO RF CP LP RL </a:t>
            </a:r>
            <a:r>
              <a:rPr sz="737" b="0" i="0">
                <a:solidFill>
                  <a:srgbClr val="FFFFFF"/>
                </a:solidFill>
                <a:latin typeface="Versos"/>
              </a:rPr>
              <a:t>/ CNPJ 58.290.160/0001-00</a:t>
            </a:r>
          </a:p>
        </p:txBody>
      </p:sp>
      <p:sp>
        <p:nvSpPr>
          <p:cNvPr id="4" name="TextBox 3"/>
          <p:cNvSpPr txBox="1"/>
          <p:nvPr/>
        </p:nvSpPr>
        <p:spPr>
          <a:xfrm>
            <a:off x="400680" y="111132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1,12%</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9,45%</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25,93%</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25,71%</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0,11%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0,21%</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101%</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2215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20269"/>
            <a:ext cx="201596" cy="143640"/>
          </a:xfrm>
          <a:prstGeom prst="rect">
            <a:avLst/>
          </a:prstGeom>
          <a:noFill/>
        </p:spPr>
        <p:txBody>
          <a:bodyPr wrap="none" lIns="0" rIns="0" tIns="0" bIns="0" anchor="t"/>
          <a:lstStyle/>
          <a:p>
            <a:pPr algn="l">
              <a:lnSpc>
                <a:spcPts val="1107"/>
              </a:lnSpc>
            </a:pPr>
            <a:r>
              <a:rPr sz="922" b="0" i="0">
                <a:solidFill>
                  <a:srgbClr val="5A82A0"/>
                </a:solidFill>
                <a:latin typeface="Versos"/>
              </a:rPr>
              <a:t>6%</a:t>
            </a:r>
          </a:p>
        </p:txBody>
      </p:sp>
      <p:sp>
        <p:nvSpPr>
          <p:cNvPr id="45" name="TextBox 44"/>
          <p:cNvSpPr txBox="1"/>
          <p:nvPr/>
        </p:nvSpPr>
        <p:spPr>
          <a:xfrm>
            <a:off x="400680" y="605449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52606"/>
            <a:ext cx="372481" cy="143640"/>
          </a:xfrm>
          <a:prstGeom prst="rect">
            <a:avLst/>
          </a:prstGeom>
          <a:noFill/>
        </p:spPr>
        <p:txBody>
          <a:bodyPr wrap="none" lIns="0" rIns="0" tIns="0" bIns="0" anchor="t"/>
          <a:lstStyle/>
          <a:p>
            <a:pPr algn="l">
              <a:lnSpc>
                <a:spcPts val="1107"/>
              </a:lnSpc>
            </a:pPr>
            <a:r>
              <a:rPr sz="922" b="0" i="0">
                <a:solidFill>
                  <a:srgbClr val="5A82A0"/>
                </a:solidFill>
                <a:latin typeface="Versos"/>
              </a:rPr>
              <a:t>3,78%</a:t>
            </a:r>
          </a:p>
        </p:txBody>
      </p:sp>
      <p:sp>
        <p:nvSpPr>
          <p:cNvPr id="47" name="TextBox 46"/>
          <p:cNvSpPr txBox="1"/>
          <p:nvPr/>
        </p:nvSpPr>
        <p:spPr>
          <a:xfrm>
            <a:off x="400680" y="648683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84944"/>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49" name="TextBox 48"/>
          <p:cNvSpPr txBox="1"/>
          <p:nvPr/>
        </p:nvSpPr>
        <p:spPr>
          <a:xfrm>
            <a:off x="400680" y="691917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917281"/>
            <a:ext cx="376289" cy="143640"/>
          </a:xfrm>
          <a:prstGeom prst="rect">
            <a:avLst/>
          </a:prstGeom>
          <a:noFill/>
        </p:spPr>
        <p:txBody>
          <a:bodyPr wrap="none" lIns="0" rIns="0" tIns="0" bIns="0" anchor="t"/>
          <a:lstStyle/>
          <a:p>
            <a:pPr algn="l">
              <a:lnSpc>
                <a:spcPts val="1107"/>
              </a:lnSpc>
            </a:pPr>
            <a:r>
              <a:rPr sz="922" b="0" i="0">
                <a:solidFill>
                  <a:srgbClr val="5A82A0"/>
                </a:solidFill>
                <a:latin typeface="Versos"/>
              </a:rPr>
              <a:t>3,62%</a:t>
            </a:r>
          </a:p>
        </p:txBody>
      </p:sp>
      <p:sp>
        <p:nvSpPr>
          <p:cNvPr id="51" name="TextBox 50"/>
          <p:cNvSpPr txBox="1"/>
          <p:nvPr/>
        </p:nvSpPr>
        <p:spPr>
          <a:xfrm>
            <a:off x="400680" y="7351509"/>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349619"/>
            <a:ext cx="347051" cy="143640"/>
          </a:xfrm>
          <a:prstGeom prst="rect">
            <a:avLst/>
          </a:prstGeom>
          <a:noFill/>
        </p:spPr>
        <p:txBody>
          <a:bodyPr wrap="none" lIns="0" rIns="0" tIns="0" bIns="0" anchor="t"/>
          <a:lstStyle/>
          <a:p>
            <a:pPr algn="l">
              <a:lnSpc>
                <a:spcPts val="1107"/>
              </a:lnSpc>
            </a:pPr>
            <a:r>
              <a:rPr sz="922" b="0" i="0">
                <a:solidFill>
                  <a:srgbClr val="5A82A0"/>
                </a:solidFill>
                <a:latin typeface="Versos"/>
              </a:rPr>
              <a:t>1,94%</a:t>
            </a:r>
          </a:p>
        </p:txBody>
      </p:sp>
      <p:sp>
        <p:nvSpPr>
          <p:cNvPr id="53" name="TextBox 52"/>
          <p:cNvSpPr txBox="1"/>
          <p:nvPr/>
        </p:nvSpPr>
        <p:spPr>
          <a:xfrm>
            <a:off x="400680" y="784928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25292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251031"/>
            <a:ext cx="475920" cy="143640"/>
          </a:xfrm>
          <a:prstGeom prst="rect">
            <a:avLst/>
          </a:prstGeom>
          <a:noFill/>
        </p:spPr>
        <p:txBody>
          <a:bodyPr wrap="none" lIns="0" rIns="0" tIns="0" bIns="0" anchor="t"/>
          <a:lstStyle/>
          <a:p>
            <a:pPr algn="l">
              <a:lnSpc>
                <a:spcPts val="1142"/>
              </a:lnSpc>
            </a:pPr>
            <a:r>
              <a:rPr sz="952" b="0" i="0">
                <a:solidFill>
                  <a:srgbClr val="111111"/>
                </a:solidFill>
                <a:latin typeface="Versos"/>
              </a:rPr>
              <a:t>35,99%</a:t>
            </a:r>
          </a:p>
        </p:txBody>
      </p:sp>
      <p:sp>
        <p:nvSpPr>
          <p:cNvPr id="56" name="TextBox 55"/>
          <p:cNvSpPr txBox="1"/>
          <p:nvPr/>
        </p:nvSpPr>
        <p:spPr>
          <a:xfrm>
            <a:off x="400680" y="851704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515158"/>
            <a:ext cx="397174" cy="143640"/>
          </a:xfrm>
          <a:prstGeom prst="rect">
            <a:avLst/>
          </a:prstGeom>
          <a:noFill/>
        </p:spPr>
        <p:txBody>
          <a:bodyPr wrap="none" lIns="0" rIns="0" tIns="0" bIns="0" anchor="t"/>
          <a:lstStyle/>
          <a:p>
            <a:pPr algn="l">
              <a:lnSpc>
                <a:spcPts val="1142"/>
              </a:lnSpc>
            </a:pPr>
            <a:r>
              <a:rPr sz="952" b="0" i="0">
                <a:solidFill>
                  <a:srgbClr val="111111"/>
                </a:solidFill>
                <a:latin typeface="Versos"/>
              </a:rPr>
              <a:t>8,56%</a:t>
            </a:r>
          </a:p>
        </p:txBody>
      </p:sp>
      <p:sp>
        <p:nvSpPr>
          <p:cNvPr id="58" name="TextBox 57"/>
          <p:cNvSpPr txBox="1"/>
          <p:nvPr/>
        </p:nvSpPr>
        <p:spPr>
          <a:xfrm>
            <a:off x="400680" y="87811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779286"/>
            <a:ext cx="395699" cy="143640"/>
          </a:xfrm>
          <a:prstGeom prst="rect">
            <a:avLst/>
          </a:prstGeom>
          <a:noFill/>
        </p:spPr>
        <p:txBody>
          <a:bodyPr wrap="none" lIns="0" rIns="0" tIns="0" bIns="0" anchor="t"/>
          <a:lstStyle/>
          <a:p>
            <a:pPr algn="l">
              <a:lnSpc>
                <a:spcPts val="1142"/>
              </a:lnSpc>
            </a:pPr>
            <a:r>
              <a:rPr sz="952" b="0" i="0">
                <a:solidFill>
                  <a:srgbClr val="111111"/>
                </a:solidFill>
                <a:latin typeface="Versos"/>
              </a:rPr>
              <a:t>6,83%</a:t>
            </a:r>
          </a:p>
        </p:txBody>
      </p:sp>
      <p:sp>
        <p:nvSpPr>
          <p:cNvPr id="60" name="TextBox 59"/>
          <p:cNvSpPr txBox="1"/>
          <p:nvPr/>
        </p:nvSpPr>
        <p:spPr>
          <a:xfrm>
            <a:off x="400680" y="904530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9043413"/>
            <a:ext cx="389680" cy="143640"/>
          </a:xfrm>
          <a:prstGeom prst="rect">
            <a:avLst/>
          </a:prstGeom>
          <a:noFill/>
        </p:spPr>
        <p:txBody>
          <a:bodyPr wrap="none" lIns="0" rIns="0" tIns="0" bIns="0" anchor="t"/>
          <a:lstStyle/>
          <a:p>
            <a:pPr algn="l">
              <a:lnSpc>
                <a:spcPts val="1142"/>
              </a:lnSpc>
            </a:pPr>
            <a:r>
              <a:rPr sz="952" b="0" i="0">
                <a:solidFill>
                  <a:srgbClr val="111111"/>
                </a:solidFill>
                <a:latin typeface="Versos"/>
              </a:rPr>
              <a:t>6,23%</a:t>
            </a:r>
          </a:p>
        </p:txBody>
      </p:sp>
      <p:sp>
        <p:nvSpPr>
          <p:cNvPr id="62" name="TextBox 61"/>
          <p:cNvSpPr txBox="1"/>
          <p:nvPr/>
        </p:nvSpPr>
        <p:spPr>
          <a:xfrm>
            <a:off x="400680" y="930943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307541"/>
            <a:ext cx="384643" cy="143640"/>
          </a:xfrm>
          <a:prstGeom prst="rect">
            <a:avLst/>
          </a:prstGeom>
          <a:noFill/>
        </p:spPr>
        <p:txBody>
          <a:bodyPr wrap="none" lIns="0" rIns="0" tIns="0" bIns="0" anchor="t"/>
          <a:lstStyle/>
          <a:p>
            <a:pPr algn="l">
              <a:lnSpc>
                <a:spcPts val="1142"/>
              </a:lnSpc>
            </a:pPr>
            <a:r>
              <a:rPr sz="952" b="0" i="0">
                <a:solidFill>
                  <a:srgbClr val="111111"/>
                </a:solidFill>
                <a:latin typeface="Versos"/>
              </a:rPr>
              <a:t>4,67%</a:t>
            </a:r>
          </a:p>
        </p:txBody>
      </p:sp>
      <p:sp>
        <p:nvSpPr>
          <p:cNvPr id="64" name="TextBox 63"/>
          <p:cNvSpPr txBox="1"/>
          <p:nvPr/>
        </p:nvSpPr>
        <p:spPr>
          <a:xfrm>
            <a:off x="400680" y="957355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571668"/>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4,52%</a:t>
            </a:r>
          </a:p>
        </p:txBody>
      </p:sp>
      <p:sp>
        <p:nvSpPr>
          <p:cNvPr id="66" name="TextBox 65"/>
          <p:cNvSpPr txBox="1"/>
          <p:nvPr/>
        </p:nvSpPr>
        <p:spPr>
          <a:xfrm>
            <a:off x="400680" y="98376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835796"/>
            <a:ext cx="379237" cy="143640"/>
          </a:xfrm>
          <a:prstGeom prst="rect">
            <a:avLst/>
          </a:prstGeom>
          <a:noFill/>
        </p:spPr>
        <p:txBody>
          <a:bodyPr wrap="none" lIns="0" rIns="0" tIns="0" bIns="0" anchor="t"/>
          <a:lstStyle/>
          <a:p>
            <a:pPr algn="l">
              <a:lnSpc>
                <a:spcPts val="1142"/>
              </a:lnSpc>
            </a:pPr>
            <a:r>
              <a:rPr sz="952" b="0" i="0">
                <a:solidFill>
                  <a:srgbClr val="111111"/>
                </a:solidFill>
                <a:latin typeface="Versos"/>
              </a:rPr>
              <a:t>0,75%</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60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8209"/>
            <a:ext cx="483414" cy="143640"/>
          </a:xfrm>
          <a:prstGeom prst="rect">
            <a:avLst/>
          </a:prstGeom>
          <a:noFill/>
        </p:spPr>
        <p:txBody>
          <a:bodyPr wrap="none" lIns="0" rIns="0" tIns="0" bIns="0" anchor="t"/>
          <a:lstStyle/>
          <a:p>
            <a:pPr algn="l">
              <a:lnSpc>
                <a:spcPts val="1142"/>
              </a:lnSpc>
            </a:pPr>
            <a:r>
              <a:rPr sz="952" b="0" i="0">
                <a:solidFill>
                  <a:srgbClr val="111111"/>
                </a:solidFill>
                <a:latin typeface="Versos"/>
              </a:rPr>
              <a:t>30,80%</a:t>
            </a:r>
          </a:p>
        </p:txBody>
      </p:sp>
      <p:sp>
        <p:nvSpPr>
          <p:cNvPr id="71" name="TextBox 70"/>
          <p:cNvSpPr txBox="1"/>
          <p:nvPr/>
        </p:nvSpPr>
        <p:spPr>
          <a:xfrm>
            <a:off x="3802680" y="575410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296535" y="5746426"/>
            <a:ext cx="442997" cy="143640"/>
          </a:xfrm>
          <a:prstGeom prst="rect">
            <a:avLst/>
          </a:prstGeom>
          <a:noFill/>
        </p:spPr>
        <p:txBody>
          <a:bodyPr wrap="none" lIns="0" rIns="0" tIns="0" bIns="0" anchor="t"/>
          <a:lstStyle/>
          <a:p>
            <a:pPr algn="l">
              <a:lnSpc>
                <a:spcPts val="1142"/>
              </a:lnSpc>
            </a:pPr>
            <a:r>
              <a:rPr sz="952" b="0" i="0">
                <a:solidFill>
                  <a:srgbClr val="111111"/>
                </a:solidFill>
                <a:latin typeface="Versos"/>
              </a:rPr>
              <a:t>19,69%</a:t>
            </a:r>
          </a:p>
        </p:txBody>
      </p:sp>
      <p:sp>
        <p:nvSpPr>
          <p:cNvPr id="73" name="TextBox 72"/>
          <p:cNvSpPr txBox="1"/>
          <p:nvPr/>
        </p:nvSpPr>
        <p:spPr>
          <a:xfrm>
            <a:off x="3802680" y="598232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4526"/>
            <a:ext cx="434397" cy="143640"/>
          </a:xfrm>
          <a:prstGeom prst="rect">
            <a:avLst/>
          </a:prstGeom>
          <a:noFill/>
        </p:spPr>
        <p:txBody>
          <a:bodyPr wrap="none" lIns="0" rIns="0" tIns="0" bIns="0" anchor="t"/>
          <a:lstStyle/>
          <a:p>
            <a:pPr algn="l">
              <a:lnSpc>
                <a:spcPts val="1142"/>
              </a:lnSpc>
            </a:pPr>
            <a:r>
              <a:rPr sz="952" b="0" i="0">
                <a:solidFill>
                  <a:srgbClr val="111111"/>
                </a:solidFill>
                <a:latin typeface="Versos"/>
              </a:rPr>
              <a:t>14,37%</a:t>
            </a:r>
          </a:p>
        </p:txBody>
      </p:sp>
      <p:sp>
        <p:nvSpPr>
          <p:cNvPr id="75" name="TextBox 74"/>
          <p:cNvSpPr txBox="1"/>
          <p:nvPr/>
        </p:nvSpPr>
        <p:spPr>
          <a:xfrm>
            <a:off x="3802680" y="621042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202743"/>
            <a:ext cx="374815" cy="143640"/>
          </a:xfrm>
          <a:prstGeom prst="rect">
            <a:avLst/>
          </a:prstGeom>
          <a:noFill/>
        </p:spPr>
        <p:txBody>
          <a:bodyPr wrap="none" lIns="0" rIns="0" tIns="0" bIns="0" anchor="t"/>
          <a:lstStyle/>
          <a:p>
            <a:pPr algn="l">
              <a:lnSpc>
                <a:spcPts val="1142"/>
              </a:lnSpc>
            </a:pPr>
            <a:r>
              <a:rPr sz="952" b="0" i="0">
                <a:solidFill>
                  <a:srgbClr val="111111"/>
                </a:solidFill>
                <a:latin typeface="Versos"/>
              </a:rPr>
              <a:t>7,82%</a:t>
            </a:r>
          </a:p>
        </p:txBody>
      </p:sp>
      <p:sp>
        <p:nvSpPr>
          <p:cNvPr id="77" name="TextBox 76"/>
          <p:cNvSpPr txBox="1"/>
          <p:nvPr/>
        </p:nvSpPr>
        <p:spPr>
          <a:xfrm>
            <a:off x="3802680" y="643863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30843"/>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79" name="TextBox 78"/>
          <p:cNvSpPr txBox="1"/>
          <p:nvPr/>
        </p:nvSpPr>
        <p:spPr>
          <a:xfrm>
            <a:off x="3802680" y="66667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9060"/>
            <a:ext cx="357493" cy="143640"/>
          </a:xfrm>
          <a:prstGeom prst="rect">
            <a:avLst/>
          </a:prstGeom>
          <a:noFill/>
        </p:spPr>
        <p:txBody>
          <a:bodyPr wrap="none" lIns="0" rIns="0" tIns="0" bIns="0" anchor="t"/>
          <a:lstStyle/>
          <a:p>
            <a:pPr algn="l">
              <a:lnSpc>
                <a:spcPts val="1142"/>
              </a:lnSpc>
            </a:pPr>
            <a:r>
              <a:rPr sz="952" b="0" i="0">
                <a:solidFill>
                  <a:srgbClr val="111111"/>
                </a:solidFill>
                <a:latin typeface="Versos"/>
              </a:rPr>
              <a:t>3,81%</a:t>
            </a:r>
          </a:p>
        </p:txBody>
      </p:sp>
      <p:sp>
        <p:nvSpPr>
          <p:cNvPr id="81" name="TextBox 80"/>
          <p:cNvSpPr txBox="1"/>
          <p:nvPr/>
        </p:nvSpPr>
        <p:spPr>
          <a:xfrm>
            <a:off x="3802680" y="6838374"/>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87160"/>
            <a:ext cx="369287" cy="143640"/>
          </a:xfrm>
          <a:prstGeom prst="rect">
            <a:avLst/>
          </a:prstGeom>
          <a:noFill/>
        </p:spPr>
        <p:txBody>
          <a:bodyPr wrap="none" lIns="0" rIns="0" tIns="0" bIns="0" anchor="t"/>
          <a:lstStyle/>
          <a:p>
            <a:pPr algn="l">
              <a:lnSpc>
                <a:spcPts val="1142"/>
              </a:lnSpc>
            </a:pPr>
            <a:r>
              <a:rPr sz="952" b="0" i="0">
                <a:solidFill>
                  <a:srgbClr val="111111"/>
                </a:solidFill>
                <a:latin typeface="Versos"/>
              </a:rPr>
              <a:t>3,74%</a:t>
            </a:r>
          </a:p>
        </p:txBody>
      </p:sp>
      <p:sp>
        <p:nvSpPr>
          <p:cNvPr id="83" name="TextBox 82"/>
          <p:cNvSpPr txBox="1"/>
          <p:nvPr/>
        </p:nvSpPr>
        <p:spPr>
          <a:xfrm>
            <a:off x="3802680" y="71230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15377"/>
            <a:ext cx="388451" cy="143640"/>
          </a:xfrm>
          <a:prstGeom prst="rect">
            <a:avLst/>
          </a:prstGeom>
          <a:noFill/>
        </p:spPr>
        <p:txBody>
          <a:bodyPr wrap="none" lIns="0" rIns="0" tIns="0" bIns="0" anchor="t"/>
          <a:lstStyle/>
          <a:p>
            <a:pPr algn="l">
              <a:lnSpc>
                <a:spcPts val="1142"/>
              </a:lnSpc>
            </a:pPr>
            <a:r>
              <a:rPr sz="952" b="0" i="0">
                <a:solidFill>
                  <a:srgbClr val="111111"/>
                </a:solidFill>
                <a:latin typeface="Versos"/>
              </a:rPr>
              <a:t>2,94%</a:t>
            </a:r>
          </a:p>
        </p:txBody>
      </p:sp>
      <p:sp>
        <p:nvSpPr>
          <p:cNvPr id="85" name="TextBox 84"/>
          <p:cNvSpPr txBox="1"/>
          <p:nvPr/>
        </p:nvSpPr>
        <p:spPr>
          <a:xfrm>
            <a:off x="3802680" y="735127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43476"/>
            <a:ext cx="396559" cy="143640"/>
          </a:xfrm>
          <a:prstGeom prst="rect">
            <a:avLst/>
          </a:prstGeom>
          <a:noFill/>
        </p:spPr>
        <p:txBody>
          <a:bodyPr wrap="none" lIns="0" rIns="0" tIns="0" bIns="0" anchor="t"/>
          <a:lstStyle/>
          <a:p>
            <a:pPr algn="l">
              <a:lnSpc>
                <a:spcPts val="1142"/>
              </a:lnSpc>
            </a:pPr>
            <a:r>
              <a:rPr sz="952" b="0" i="0">
                <a:solidFill>
                  <a:srgbClr val="111111"/>
                </a:solidFill>
                <a:latin typeface="Versos"/>
              </a:rPr>
              <a:t>2,49%</a:t>
            </a:r>
          </a:p>
        </p:txBody>
      </p:sp>
      <p:sp>
        <p:nvSpPr>
          <p:cNvPr id="87" name="TextBox 86"/>
          <p:cNvSpPr txBox="1"/>
          <p:nvPr/>
        </p:nvSpPr>
        <p:spPr>
          <a:xfrm>
            <a:off x="3802680" y="7579372"/>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71694"/>
            <a:ext cx="354176" cy="143640"/>
          </a:xfrm>
          <a:prstGeom prst="rect">
            <a:avLst/>
          </a:prstGeom>
          <a:noFill/>
        </p:spPr>
        <p:txBody>
          <a:bodyPr wrap="none" lIns="0" rIns="0" tIns="0" bIns="0" anchor="t"/>
          <a:lstStyle/>
          <a:p>
            <a:pPr algn="l">
              <a:lnSpc>
                <a:spcPts val="1142"/>
              </a:lnSpc>
            </a:pPr>
            <a:r>
              <a:rPr sz="952" b="0" i="0">
                <a:solidFill>
                  <a:srgbClr val="111111"/>
                </a:solidFill>
                <a:latin typeface="Versos"/>
              </a:rPr>
              <a:t>2,19%</a:t>
            </a:r>
          </a:p>
        </p:txBody>
      </p:sp>
      <p:sp>
        <p:nvSpPr>
          <p:cNvPr id="89" name="TextBox 88"/>
          <p:cNvSpPr txBox="1"/>
          <p:nvPr/>
        </p:nvSpPr>
        <p:spPr>
          <a:xfrm>
            <a:off x="3802680" y="780759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99793"/>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91" name="TextBox 90"/>
          <p:cNvSpPr txBox="1"/>
          <p:nvPr/>
        </p:nvSpPr>
        <p:spPr>
          <a:xfrm>
            <a:off x="3802680" y="803568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28011"/>
            <a:ext cx="362407" cy="143640"/>
          </a:xfrm>
          <a:prstGeom prst="rect">
            <a:avLst/>
          </a:prstGeom>
          <a:noFill/>
        </p:spPr>
        <p:txBody>
          <a:bodyPr wrap="none" lIns="0" rIns="0" tIns="0" bIns="0" anchor="t"/>
          <a:lstStyle/>
          <a:p>
            <a:pPr algn="l">
              <a:lnSpc>
                <a:spcPts val="1142"/>
              </a:lnSpc>
            </a:pPr>
            <a:r>
              <a:rPr sz="952" b="0" i="0">
                <a:solidFill>
                  <a:srgbClr val="111111"/>
                </a:solidFill>
                <a:latin typeface="Versos"/>
              </a:rPr>
              <a:t>1,33%</a:t>
            </a:r>
          </a:p>
        </p:txBody>
      </p:sp>
      <p:sp>
        <p:nvSpPr>
          <p:cNvPr id="93" name="TextBox 92"/>
          <p:cNvSpPr txBox="1"/>
          <p:nvPr/>
        </p:nvSpPr>
        <p:spPr>
          <a:xfrm>
            <a:off x="3802680" y="826390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56228"/>
            <a:ext cx="317075" cy="143640"/>
          </a:xfrm>
          <a:prstGeom prst="rect">
            <a:avLst/>
          </a:prstGeom>
          <a:noFill/>
        </p:spPr>
        <p:txBody>
          <a:bodyPr wrap="none" lIns="0" rIns="0" tIns="0" bIns="0" anchor="t"/>
          <a:lstStyle/>
          <a:p>
            <a:pPr algn="l">
              <a:lnSpc>
                <a:spcPts val="1142"/>
              </a:lnSpc>
            </a:pPr>
            <a:r>
              <a:rPr sz="952" b="0" i="0">
                <a:solidFill>
                  <a:srgbClr val="111111"/>
                </a:solidFill>
                <a:latin typeface="Versos"/>
              </a:rPr>
              <a:t>1,15%</a:t>
            </a:r>
          </a:p>
        </p:txBody>
      </p:sp>
      <p:sp>
        <p:nvSpPr>
          <p:cNvPr id="95" name="TextBox 94"/>
          <p:cNvSpPr txBox="1"/>
          <p:nvPr/>
        </p:nvSpPr>
        <p:spPr>
          <a:xfrm>
            <a:off x="3802680" y="849212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84446"/>
            <a:ext cx="398648" cy="143640"/>
          </a:xfrm>
          <a:prstGeom prst="rect">
            <a:avLst/>
          </a:prstGeom>
          <a:noFill/>
        </p:spPr>
        <p:txBody>
          <a:bodyPr wrap="none" lIns="0" rIns="0" tIns="0" bIns="0" anchor="t"/>
          <a:lstStyle/>
          <a:p>
            <a:pPr algn="l">
              <a:lnSpc>
                <a:spcPts val="1142"/>
              </a:lnSpc>
            </a:pPr>
            <a:r>
              <a:rPr sz="952" b="0" i="0">
                <a:solidFill>
                  <a:srgbClr val="111111"/>
                </a:solidFill>
                <a:latin typeface="Versos"/>
              </a:rPr>
              <a:t>0,96%</a:t>
            </a:r>
          </a:p>
        </p:txBody>
      </p:sp>
      <p:sp>
        <p:nvSpPr>
          <p:cNvPr id="97" name="TextBox 96"/>
          <p:cNvSpPr txBox="1"/>
          <p:nvPr/>
        </p:nvSpPr>
        <p:spPr>
          <a:xfrm>
            <a:off x="3802680" y="8720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712663"/>
            <a:ext cx="383660" cy="143640"/>
          </a:xfrm>
          <a:prstGeom prst="rect">
            <a:avLst/>
          </a:prstGeom>
          <a:noFill/>
        </p:spPr>
        <p:txBody>
          <a:bodyPr wrap="none" lIns="0" rIns="0" tIns="0" bIns="0" anchor="t"/>
          <a:lstStyle/>
          <a:p>
            <a:pPr algn="l">
              <a:lnSpc>
                <a:spcPts val="1142"/>
              </a:lnSpc>
            </a:pPr>
            <a:r>
              <a:rPr sz="952" b="0" i="0">
                <a:solidFill>
                  <a:srgbClr val="111111"/>
                </a:solidFill>
                <a:latin typeface="Versos"/>
              </a:rPr>
              <a:t>0,67%</a:t>
            </a:r>
          </a:p>
        </p:txBody>
      </p:sp>
      <p:sp>
        <p:nvSpPr>
          <p:cNvPr id="99" name="TextBox 98"/>
          <p:cNvSpPr txBox="1"/>
          <p:nvPr/>
        </p:nvSpPr>
        <p:spPr>
          <a:xfrm>
            <a:off x="3802680" y="894855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40881"/>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0,59%</a:t>
            </a:r>
          </a:p>
        </p:txBody>
      </p:sp>
      <p:sp>
        <p:nvSpPr>
          <p:cNvPr id="101" name="TextBox 100"/>
          <p:cNvSpPr txBox="1"/>
          <p:nvPr/>
        </p:nvSpPr>
        <p:spPr>
          <a:xfrm>
            <a:off x="3802680" y="91767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69098"/>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0,56%</a:t>
            </a:r>
          </a:p>
        </p:txBody>
      </p:sp>
      <p:sp>
        <p:nvSpPr>
          <p:cNvPr id="103" name="TextBox 102"/>
          <p:cNvSpPr txBox="1"/>
          <p:nvPr/>
        </p:nvSpPr>
        <p:spPr>
          <a:xfrm>
            <a:off x="3802680" y="9404994"/>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9731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105" name="TextBox 104"/>
          <p:cNvSpPr txBox="1"/>
          <p:nvPr/>
        </p:nvSpPr>
        <p:spPr>
          <a:xfrm>
            <a:off x="3802680" y="963321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25533"/>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0,19%</a:t>
            </a:r>
          </a:p>
        </p:txBody>
      </p:sp>
      <p:sp>
        <p:nvSpPr>
          <p:cNvPr id="107" name="TextBox 106"/>
          <p:cNvSpPr txBox="1"/>
          <p:nvPr/>
        </p:nvSpPr>
        <p:spPr>
          <a:xfrm>
            <a:off x="3802680" y="9804965"/>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53751"/>
            <a:ext cx="358353" cy="143640"/>
          </a:xfrm>
          <a:prstGeom prst="rect">
            <a:avLst/>
          </a:prstGeom>
          <a:noFill/>
        </p:spPr>
        <p:txBody>
          <a:bodyPr wrap="none" lIns="0" rIns="0" tIns="0" bIns="0" anchor="t"/>
          <a:lstStyle/>
          <a:p>
            <a:pPr algn="l">
              <a:lnSpc>
                <a:spcPts val="1142"/>
              </a:lnSpc>
            </a:pPr>
            <a:r>
              <a:rPr sz="952" b="0" i="0">
                <a:solidFill>
                  <a:srgbClr val="111111"/>
                </a:solidFill>
                <a:latin typeface="Versos"/>
              </a:rPr>
              <a:t>0,18%</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30 apresentou rentabilidade de 1,12% no mês (102% do CDI), acumulando 9,45% (101%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11/12/2024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0,625%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100% do CDI</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R$ 126.168.780,56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R$ 158.893.390,74</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