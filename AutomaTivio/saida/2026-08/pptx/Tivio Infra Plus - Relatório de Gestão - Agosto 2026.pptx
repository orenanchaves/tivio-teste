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INFRA PLUS IPCA RF FIF RL </a:t>
            </a:r>
            <a:r>
              <a:rPr sz="833" b="0" i="0">
                <a:solidFill>
                  <a:srgbClr val="FFFFFF"/>
                </a:solidFill>
                <a:latin typeface="Versos"/>
              </a:rPr>
              <a:t>/ CNPJ 32.485.590/0001-86</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503921"/>
          </a:xfrm>
          <a:prstGeom prst="rect">
            <a:avLst/>
          </a:prstGeom>
          <a:noFill/>
        </p:spPr>
        <p:txBody>
          <a:bodyPr wrap="square" lIns="0" rIns="0" tIns="0" bIns="0" anchor="t"/>
          <a:lstStyle/>
          <a:p>
            <a:pPr algn="l">
              <a:lnSpc>
                <a:spcPts val="1299"/>
              </a:lnSpc>
            </a:pPr>
            <a:r>
              <a:rPr sz="1101" b="0" i="0">
                <a:solidFill>
                  <a:srgbClr val="1E1E1E"/>
                </a:solidFill>
                <a:latin typeface="Versos"/>
              </a:rPr>
              <a:t>O fundo busca promover o investimento em debêntures de infraestrutura (Lei 12.431/11) que oferece benefício fiscal para o cotista pessoa física. O fundo busca superar o retorno de ativos indexados à inflação.</a:t>
            </a:r>
          </a:p>
        </p:txBody>
      </p:sp>
      <p:sp>
        <p:nvSpPr>
          <p:cNvPr id="7" name="TextBox 6"/>
          <p:cNvSpPr txBox="1"/>
          <p:nvPr/>
        </p:nvSpPr>
        <p:spPr>
          <a:xfrm>
            <a:off x="1126440"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75550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13161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1,26%</a:t>
            </a:r>
          </a:p>
        </p:txBody>
      </p:sp>
      <p:sp>
        <p:nvSpPr>
          <p:cNvPr id="15" name="TextBox 14"/>
          <p:cNvSpPr txBox="1"/>
          <p:nvPr/>
        </p:nvSpPr>
        <p:spPr>
          <a:xfrm>
            <a:off x="2136881"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5,98%</a:t>
            </a:r>
          </a:p>
        </p:txBody>
      </p:sp>
      <p:sp>
        <p:nvSpPr>
          <p:cNvPr id="16" name="TextBox 15"/>
          <p:cNvSpPr txBox="1"/>
          <p:nvPr/>
        </p:nvSpPr>
        <p:spPr>
          <a:xfrm>
            <a:off x="3147322"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9,91%</a:t>
            </a:r>
          </a:p>
        </p:txBody>
      </p:sp>
      <p:sp>
        <p:nvSpPr>
          <p:cNvPr id="17" name="TextBox 16"/>
          <p:cNvSpPr txBox="1"/>
          <p:nvPr/>
        </p:nvSpPr>
        <p:spPr>
          <a:xfrm>
            <a:off x="4157763"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19,03%</a:t>
            </a:r>
          </a:p>
        </p:txBody>
      </p:sp>
      <p:sp>
        <p:nvSpPr>
          <p:cNvPr id="18" name="TextBox 17"/>
          <p:cNvSpPr txBox="1"/>
          <p:nvPr/>
        </p:nvSpPr>
        <p:spPr>
          <a:xfrm>
            <a:off x="5168205"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29,49%</a:t>
            </a:r>
          </a:p>
        </p:txBody>
      </p:sp>
      <p:sp>
        <p:nvSpPr>
          <p:cNvPr id="19" name="TextBox 18"/>
          <p:cNvSpPr txBox="1"/>
          <p:nvPr/>
        </p:nvSpPr>
        <p:spPr>
          <a:xfrm>
            <a:off x="6178646" y="312783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77,41%</a:t>
            </a:r>
          </a:p>
        </p:txBody>
      </p:sp>
      <p:sp>
        <p:nvSpPr>
          <p:cNvPr id="20" name="TextBox 19"/>
          <p:cNvSpPr txBox="1"/>
          <p:nvPr/>
        </p:nvSpPr>
        <p:spPr>
          <a:xfrm>
            <a:off x="340200" y="35228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23,32%</a:t>
            </a:r>
          </a:p>
        </p:txBody>
      </p:sp>
      <p:sp>
        <p:nvSpPr>
          <p:cNvPr id="25" name="TextBox 24"/>
          <p:cNvSpPr txBox="1"/>
          <p:nvPr/>
        </p:nvSpPr>
        <p:spPr>
          <a:xfrm>
            <a:off x="5168205"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33,11%</a:t>
            </a:r>
          </a:p>
        </p:txBody>
      </p:sp>
      <p:sp>
        <p:nvSpPr>
          <p:cNvPr id="26" name="TextBox 25"/>
          <p:cNvSpPr txBox="1"/>
          <p:nvPr/>
        </p:nvSpPr>
        <p:spPr>
          <a:xfrm>
            <a:off x="6178646" y="35190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87,91%</a:t>
            </a:r>
          </a:p>
        </p:txBody>
      </p:sp>
      <p:sp>
        <p:nvSpPr>
          <p:cNvPr id="27" name="TextBox 26"/>
          <p:cNvSpPr txBox="1"/>
          <p:nvPr/>
        </p:nvSpPr>
        <p:spPr>
          <a:xfrm>
            <a:off x="340200" y="39159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−3,20%</a:t>
            </a:r>
          </a:p>
        </p:txBody>
      </p:sp>
      <p:sp>
        <p:nvSpPr>
          <p:cNvPr id="30" name="TextBox 29"/>
          <p:cNvSpPr txBox="1"/>
          <p:nvPr/>
        </p:nvSpPr>
        <p:spPr>
          <a:xfrm>
            <a:off x="3147322"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−3,44%</a:t>
            </a:r>
          </a:p>
        </p:txBody>
      </p:sp>
      <p:sp>
        <p:nvSpPr>
          <p:cNvPr id="31" name="TextBox 30"/>
          <p:cNvSpPr txBox="1"/>
          <p:nvPr/>
        </p:nvSpPr>
        <p:spPr>
          <a:xfrm>
            <a:off x="4157763"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−4,28%</a:t>
            </a:r>
          </a:p>
        </p:txBody>
      </p:sp>
      <p:sp>
        <p:nvSpPr>
          <p:cNvPr id="32" name="TextBox 31"/>
          <p:cNvSpPr txBox="1"/>
          <p:nvPr/>
        </p:nvSpPr>
        <p:spPr>
          <a:xfrm>
            <a:off x="5168205"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−3,62%</a:t>
            </a:r>
          </a:p>
        </p:txBody>
      </p:sp>
      <p:sp>
        <p:nvSpPr>
          <p:cNvPr id="33" name="TextBox 32"/>
          <p:cNvSpPr txBox="1"/>
          <p:nvPr/>
        </p:nvSpPr>
        <p:spPr>
          <a:xfrm>
            <a:off x="6178646" y="39121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−10,50%</a:t>
            </a:r>
          </a:p>
        </p:txBody>
      </p:sp>
      <p:sp>
        <p:nvSpPr>
          <p:cNvPr id="34" name="TextBox 33"/>
          <p:cNvSpPr txBox="1"/>
          <p:nvPr/>
        </p:nvSpPr>
        <p:spPr>
          <a:xfrm>
            <a:off x="355320" y="42486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35" name="TextBox 34"/>
          <p:cNvSpPr txBox="1"/>
          <p:nvPr/>
        </p:nvSpPr>
        <p:spPr>
          <a:xfrm>
            <a:off x="400680" y="49063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38059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37" name="TextBox 36"/>
          <p:cNvSpPr txBox="1"/>
          <p:nvPr/>
        </p:nvSpPr>
        <p:spPr>
          <a:xfrm>
            <a:off x="2831928" y="5378703"/>
            <a:ext cx="366584" cy="143640"/>
          </a:xfrm>
          <a:prstGeom prst="rect">
            <a:avLst/>
          </a:prstGeom>
          <a:noFill/>
        </p:spPr>
        <p:txBody>
          <a:bodyPr wrap="none" lIns="0" rIns="0" tIns="0" bIns="0" anchor="t"/>
          <a:lstStyle/>
          <a:p>
            <a:pPr algn="l">
              <a:lnSpc>
                <a:spcPts val="1107"/>
              </a:lnSpc>
            </a:pPr>
            <a:r>
              <a:rPr sz="922" b="0" i="0">
                <a:solidFill>
                  <a:srgbClr val="5A82A0"/>
                </a:solidFill>
                <a:latin typeface="Versos"/>
              </a:rPr>
              <a:t>7,68%</a:t>
            </a:r>
          </a:p>
        </p:txBody>
      </p:sp>
      <p:sp>
        <p:nvSpPr>
          <p:cNvPr id="38" name="TextBox 37"/>
          <p:cNvSpPr txBox="1"/>
          <p:nvPr/>
        </p:nvSpPr>
        <p:spPr>
          <a:xfrm>
            <a:off x="400680" y="5785762"/>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9" name="TextBox 38"/>
          <p:cNvSpPr txBox="1"/>
          <p:nvPr/>
        </p:nvSpPr>
        <p:spPr>
          <a:xfrm>
            <a:off x="2737074" y="5783872"/>
            <a:ext cx="354422" cy="143640"/>
          </a:xfrm>
          <a:prstGeom prst="rect">
            <a:avLst/>
          </a:prstGeom>
          <a:noFill/>
        </p:spPr>
        <p:txBody>
          <a:bodyPr wrap="none" lIns="0" rIns="0" tIns="0" bIns="0" anchor="t"/>
          <a:lstStyle/>
          <a:p>
            <a:pPr algn="l">
              <a:lnSpc>
                <a:spcPts val="1107"/>
              </a:lnSpc>
            </a:pPr>
            <a:r>
              <a:rPr sz="922" b="0" i="0">
                <a:solidFill>
                  <a:srgbClr val="5A82A0"/>
                </a:solidFill>
                <a:latin typeface="Versos"/>
              </a:rPr>
              <a:t>7,24%</a:t>
            </a:r>
          </a:p>
        </p:txBody>
      </p:sp>
      <p:sp>
        <p:nvSpPr>
          <p:cNvPr id="40" name="TextBox 39"/>
          <p:cNvSpPr txBox="1"/>
          <p:nvPr/>
        </p:nvSpPr>
        <p:spPr>
          <a:xfrm>
            <a:off x="400680" y="619104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EDF</a:t>
            </a:r>
          </a:p>
        </p:txBody>
      </p:sp>
      <p:sp>
        <p:nvSpPr>
          <p:cNvPr id="41" name="TextBox 40"/>
          <p:cNvSpPr txBox="1"/>
          <p:nvPr/>
        </p:nvSpPr>
        <p:spPr>
          <a:xfrm>
            <a:off x="2372540" y="6189159"/>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5,54%</a:t>
            </a:r>
          </a:p>
        </p:txBody>
      </p:sp>
      <p:sp>
        <p:nvSpPr>
          <p:cNvPr id="42" name="TextBox 41"/>
          <p:cNvSpPr txBox="1"/>
          <p:nvPr/>
        </p:nvSpPr>
        <p:spPr>
          <a:xfrm>
            <a:off x="400680" y="659621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SINOP</a:t>
            </a:r>
          </a:p>
        </p:txBody>
      </p:sp>
      <p:sp>
        <p:nvSpPr>
          <p:cNvPr id="43" name="TextBox 42"/>
          <p:cNvSpPr txBox="1"/>
          <p:nvPr/>
        </p:nvSpPr>
        <p:spPr>
          <a:xfrm>
            <a:off x="2041436" y="6594328"/>
            <a:ext cx="383414" cy="143640"/>
          </a:xfrm>
          <a:prstGeom prst="rect">
            <a:avLst/>
          </a:prstGeom>
          <a:noFill/>
        </p:spPr>
        <p:txBody>
          <a:bodyPr wrap="none" lIns="0" rIns="0" tIns="0" bIns="0" anchor="t"/>
          <a:lstStyle/>
          <a:p>
            <a:pPr algn="l">
              <a:lnSpc>
                <a:spcPts val="1107"/>
              </a:lnSpc>
            </a:pPr>
            <a:r>
              <a:rPr sz="922" b="0" i="0">
                <a:solidFill>
                  <a:srgbClr val="5A82A0"/>
                </a:solidFill>
                <a:latin typeface="Versos"/>
              </a:rPr>
              <a:t>3,99%</a:t>
            </a:r>
          </a:p>
        </p:txBody>
      </p:sp>
      <p:sp>
        <p:nvSpPr>
          <p:cNvPr id="44" name="TextBox 43"/>
          <p:cNvSpPr txBox="1"/>
          <p:nvPr/>
        </p:nvSpPr>
        <p:spPr>
          <a:xfrm>
            <a:off x="400680" y="7001505"/>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1968435" y="6999615"/>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3,65%</a:t>
            </a:r>
          </a:p>
        </p:txBody>
      </p:sp>
      <p:sp>
        <p:nvSpPr>
          <p:cNvPr id="46" name="TextBox 45"/>
          <p:cNvSpPr txBox="1"/>
          <p:nvPr/>
        </p:nvSpPr>
        <p:spPr>
          <a:xfrm>
            <a:off x="400680" y="748569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78859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7884016"/>
            <a:ext cx="476289" cy="143640"/>
          </a:xfrm>
          <a:prstGeom prst="rect">
            <a:avLst/>
          </a:prstGeom>
          <a:noFill/>
        </p:spPr>
        <p:txBody>
          <a:bodyPr wrap="none" lIns="0" rIns="0" tIns="0" bIns="0" anchor="t"/>
          <a:lstStyle/>
          <a:p>
            <a:pPr algn="l">
              <a:lnSpc>
                <a:spcPts val="1142"/>
              </a:lnSpc>
            </a:pPr>
            <a:r>
              <a:rPr sz="952" b="0" i="0">
                <a:solidFill>
                  <a:srgbClr val="111111"/>
                </a:solidFill>
                <a:latin typeface="Versos"/>
              </a:rPr>
              <a:t>35,39%</a:t>
            </a:r>
          </a:p>
        </p:txBody>
      </p:sp>
      <p:sp>
        <p:nvSpPr>
          <p:cNvPr id="49" name="TextBox 48"/>
          <p:cNvSpPr txBox="1"/>
          <p:nvPr/>
        </p:nvSpPr>
        <p:spPr>
          <a:xfrm>
            <a:off x="400680" y="81429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453810" y="8141056"/>
            <a:ext cx="467321" cy="143640"/>
          </a:xfrm>
          <a:prstGeom prst="rect">
            <a:avLst/>
          </a:prstGeom>
          <a:noFill/>
        </p:spPr>
        <p:txBody>
          <a:bodyPr wrap="none" lIns="0" rIns="0" tIns="0" bIns="0" anchor="t"/>
          <a:lstStyle/>
          <a:p>
            <a:pPr algn="l">
              <a:lnSpc>
                <a:spcPts val="1142"/>
              </a:lnSpc>
            </a:pPr>
            <a:r>
              <a:rPr sz="952" b="0" i="0">
                <a:solidFill>
                  <a:srgbClr val="111111"/>
                </a:solidFill>
                <a:latin typeface="Versos"/>
              </a:rPr>
              <a:t>26,04%</a:t>
            </a:r>
          </a:p>
        </p:txBody>
      </p:sp>
      <p:sp>
        <p:nvSpPr>
          <p:cNvPr id="51" name="TextBox 50"/>
          <p:cNvSpPr txBox="1"/>
          <p:nvPr/>
        </p:nvSpPr>
        <p:spPr>
          <a:xfrm>
            <a:off x="400680" y="83999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643355" y="8398096"/>
            <a:ext cx="414004" cy="143640"/>
          </a:xfrm>
          <a:prstGeom prst="rect">
            <a:avLst/>
          </a:prstGeom>
          <a:noFill/>
        </p:spPr>
        <p:txBody>
          <a:bodyPr wrap="none" lIns="0" rIns="0" tIns="0" bIns="0" anchor="t"/>
          <a:lstStyle/>
          <a:p>
            <a:pPr algn="l">
              <a:lnSpc>
                <a:spcPts val="1142"/>
              </a:lnSpc>
            </a:pPr>
            <a:r>
              <a:rPr sz="952" b="0" i="0">
                <a:solidFill>
                  <a:srgbClr val="111111"/>
                </a:solidFill>
                <a:latin typeface="Versos"/>
              </a:rPr>
              <a:t>11,08%</a:t>
            </a:r>
          </a:p>
        </p:txBody>
      </p:sp>
      <p:sp>
        <p:nvSpPr>
          <p:cNvPr id="53" name="TextBox 52"/>
          <p:cNvSpPr txBox="1"/>
          <p:nvPr/>
        </p:nvSpPr>
        <p:spPr>
          <a:xfrm>
            <a:off x="400680" y="86570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518969" y="8655136"/>
            <a:ext cx="387714" cy="143640"/>
          </a:xfrm>
          <a:prstGeom prst="rect">
            <a:avLst/>
          </a:prstGeom>
          <a:noFill/>
        </p:spPr>
        <p:txBody>
          <a:bodyPr wrap="none" lIns="0" rIns="0" tIns="0" bIns="0" anchor="t"/>
          <a:lstStyle/>
          <a:p>
            <a:pPr algn="l">
              <a:lnSpc>
                <a:spcPts val="1142"/>
              </a:lnSpc>
            </a:pPr>
            <a:r>
              <a:rPr sz="952" b="0" i="0">
                <a:solidFill>
                  <a:srgbClr val="111111"/>
                </a:solidFill>
                <a:latin typeface="Versos"/>
              </a:rPr>
              <a:t>8,78%</a:t>
            </a:r>
          </a:p>
        </p:txBody>
      </p:sp>
      <p:sp>
        <p:nvSpPr>
          <p:cNvPr id="55" name="TextBox 54"/>
          <p:cNvSpPr txBox="1"/>
          <p:nvPr/>
        </p:nvSpPr>
        <p:spPr>
          <a:xfrm>
            <a:off x="400680" y="89140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320046" y="8912176"/>
            <a:ext cx="318304" cy="143640"/>
          </a:xfrm>
          <a:prstGeom prst="rect">
            <a:avLst/>
          </a:prstGeom>
          <a:noFill/>
        </p:spPr>
        <p:txBody>
          <a:bodyPr wrap="none" lIns="0" rIns="0" tIns="0" bIns="0" anchor="t"/>
          <a:lstStyle/>
          <a:p>
            <a:pPr algn="l">
              <a:lnSpc>
                <a:spcPts val="1142"/>
              </a:lnSpc>
            </a:pPr>
            <a:r>
              <a:rPr sz="952" b="0" i="0">
                <a:solidFill>
                  <a:srgbClr val="111111"/>
                </a:solidFill>
                <a:latin typeface="Versos"/>
              </a:rPr>
              <a:t>5,11%</a:t>
            </a:r>
          </a:p>
        </p:txBody>
      </p:sp>
      <p:sp>
        <p:nvSpPr>
          <p:cNvPr id="57" name="TextBox 56"/>
          <p:cNvSpPr txBox="1"/>
          <p:nvPr/>
        </p:nvSpPr>
        <p:spPr>
          <a:xfrm>
            <a:off x="400680" y="91711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75461" y="9169216"/>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2,44%</a:t>
            </a:r>
          </a:p>
        </p:txBody>
      </p:sp>
      <p:sp>
        <p:nvSpPr>
          <p:cNvPr id="59" name="TextBox 58"/>
          <p:cNvSpPr txBox="1"/>
          <p:nvPr/>
        </p:nvSpPr>
        <p:spPr>
          <a:xfrm>
            <a:off x="3802680" y="49063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2971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289519"/>
            <a:ext cx="471006" cy="143640"/>
          </a:xfrm>
          <a:prstGeom prst="rect">
            <a:avLst/>
          </a:prstGeom>
          <a:noFill/>
        </p:spPr>
        <p:txBody>
          <a:bodyPr wrap="none" lIns="0" rIns="0" tIns="0" bIns="0" anchor="t"/>
          <a:lstStyle/>
          <a:p>
            <a:pPr algn="l">
              <a:lnSpc>
                <a:spcPts val="1142"/>
              </a:lnSpc>
            </a:pPr>
            <a:r>
              <a:rPr sz="952" b="0" i="0">
                <a:solidFill>
                  <a:srgbClr val="111111"/>
                </a:solidFill>
                <a:latin typeface="Versos"/>
              </a:rPr>
              <a:t>55,85%</a:t>
            </a:r>
          </a:p>
        </p:txBody>
      </p:sp>
      <p:sp>
        <p:nvSpPr>
          <p:cNvPr id="62" name="TextBox 61"/>
          <p:cNvSpPr txBox="1"/>
          <p:nvPr/>
        </p:nvSpPr>
        <p:spPr>
          <a:xfrm>
            <a:off x="3802680" y="55239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3" name="TextBox 62"/>
          <p:cNvSpPr txBox="1"/>
          <p:nvPr/>
        </p:nvSpPr>
        <p:spPr>
          <a:xfrm>
            <a:off x="5834548" y="5516319"/>
            <a:ext cx="438083" cy="143640"/>
          </a:xfrm>
          <a:prstGeom prst="rect">
            <a:avLst/>
          </a:prstGeom>
          <a:noFill/>
        </p:spPr>
        <p:txBody>
          <a:bodyPr wrap="none" lIns="0" rIns="0" tIns="0" bIns="0" anchor="t"/>
          <a:lstStyle/>
          <a:p>
            <a:pPr algn="l">
              <a:lnSpc>
                <a:spcPts val="1142"/>
              </a:lnSpc>
            </a:pPr>
            <a:r>
              <a:rPr sz="952" b="0" i="0">
                <a:solidFill>
                  <a:srgbClr val="111111"/>
                </a:solidFill>
                <a:latin typeface="Versos"/>
              </a:rPr>
              <a:t>15,29%</a:t>
            </a:r>
          </a:p>
        </p:txBody>
      </p:sp>
      <p:sp>
        <p:nvSpPr>
          <p:cNvPr id="64" name="TextBox 63"/>
          <p:cNvSpPr txBox="1"/>
          <p:nvPr/>
        </p:nvSpPr>
        <p:spPr>
          <a:xfrm>
            <a:off x="3802680" y="57507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5" name="TextBox 64"/>
          <p:cNvSpPr txBox="1"/>
          <p:nvPr/>
        </p:nvSpPr>
        <p:spPr>
          <a:xfrm>
            <a:off x="5654289" y="5743119"/>
            <a:ext cx="372849" cy="143640"/>
          </a:xfrm>
          <a:prstGeom prst="rect">
            <a:avLst/>
          </a:prstGeom>
          <a:noFill/>
        </p:spPr>
        <p:txBody>
          <a:bodyPr wrap="none" lIns="0" rIns="0" tIns="0" bIns="0" anchor="t"/>
          <a:lstStyle/>
          <a:p>
            <a:pPr algn="l">
              <a:lnSpc>
                <a:spcPts val="1142"/>
              </a:lnSpc>
            </a:pPr>
            <a:r>
              <a:rPr sz="952" b="0" i="0">
                <a:solidFill>
                  <a:srgbClr val="111111"/>
                </a:solidFill>
                <a:latin typeface="Versos"/>
              </a:rPr>
              <a:t>7,32%</a:t>
            </a:r>
          </a:p>
        </p:txBody>
      </p:sp>
      <p:sp>
        <p:nvSpPr>
          <p:cNvPr id="66" name="TextBox 65"/>
          <p:cNvSpPr txBox="1"/>
          <p:nvPr/>
        </p:nvSpPr>
        <p:spPr>
          <a:xfrm>
            <a:off x="3802680" y="59775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7" name="TextBox 66"/>
          <p:cNvSpPr txBox="1"/>
          <p:nvPr/>
        </p:nvSpPr>
        <p:spPr>
          <a:xfrm>
            <a:off x="5610110" y="5969919"/>
            <a:ext cx="396314" cy="143640"/>
          </a:xfrm>
          <a:prstGeom prst="rect">
            <a:avLst/>
          </a:prstGeom>
          <a:noFill/>
        </p:spPr>
        <p:txBody>
          <a:bodyPr wrap="none" lIns="0" rIns="0" tIns="0" bIns="0" anchor="t"/>
          <a:lstStyle/>
          <a:p>
            <a:pPr algn="l">
              <a:lnSpc>
                <a:spcPts val="1142"/>
              </a:lnSpc>
            </a:pPr>
            <a:r>
              <a:rPr sz="952" b="0" i="0">
                <a:solidFill>
                  <a:srgbClr val="111111"/>
                </a:solidFill>
                <a:latin typeface="Versos"/>
              </a:rPr>
              <a:t>5,38%</a:t>
            </a:r>
          </a:p>
        </p:txBody>
      </p:sp>
      <p:sp>
        <p:nvSpPr>
          <p:cNvPr id="68" name="TextBox 67"/>
          <p:cNvSpPr txBox="1"/>
          <p:nvPr/>
        </p:nvSpPr>
        <p:spPr>
          <a:xfrm>
            <a:off x="3802680" y="62043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597943" y="6196719"/>
            <a:ext cx="396068" cy="143640"/>
          </a:xfrm>
          <a:prstGeom prst="rect">
            <a:avLst/>
          </a:prstGeom>
          <a:noFill/>
        </p:spPr>
        <p:txBody>
          <a:bodyPr wrap="none" lIns="0" rIns="0" tIns="0" bIns="0" anchor="t"/>
          <a:lstStyle/>
          <a:p>
            <a:pPr algn="l">
              <a:lnSpc>
                <a:spcPts val="1142"/>
              </a:lnSpc>
            </a:pPr>
            <a:r>
              <a:rPr sz="952" b="0" i="0">
                <a:solidFill>
                  <a:srgbClr val="111111"/>
                </a:solidFill>
                <a:latin typeface="Versos"/>
              </a:rPr>
              <a:t>4,84%</a:t>
            </a:r>
          </a:p>
        </p:txBody>
      </p:sp>
      <p:sp>
        <p:nvSpPr>
          <p:cNvPr id="70" name="TextBox 69"/>
          <p:cNvSpPr txBox="1"/>
          <p:nvPr/>
        </p:nvSpPr>
        <p:spPr>
          <a:xfrm>
            <a:off x="3802680" y="64311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1" name="TextBox 70"/>
          <p:cNvSpPr txBox="1"/>
          <p:nvPr/>
        </p:nvSpPr>
        <p:spPr>
          <a:xfrm>
            <a:off x="5596998" y="6423519"/>
            <a:ext cx="403930" cy="143640"/>
          </a:xfrm>
          <a:prstGeom prst="rect">
            <a:avLst/>
          </a:prstGeom>
          <a:noFill/>
        </p:spPr>
        <p:txBody>
          <a:bodyPr wrap="none" lIns="0" rIns="0" tIns="0" bIns="0" anchor="t"/>
          <a:lstStyle/>
          <a:p>
            <a:pPr algn="l">
              <a:lnSpc>
                <a:spcPts val="1142"/>
              </a:lnSpc>
            </a:pPr>
            <a:r>
              <a:rPr sz="952" b="0" i="0">
                <a:solidFill>
                  <a:srgbClr val="111111"/>
                </a:solidFill>
                <a:latin typeface="Versos"/>
              </a:rPr>
              <a:t>4,80%</a:t>
            </a:r>
          </a:p>
        </p:txBody>
      </p:sp>
      <p:sp>
        <p:nvSpPr>
          <p:cNvPr id="72" name="TextBox 71"/>
          <p:cNvSpPr txBox="1"/>
          <p:nvPr/>
        </p:nvSpPr>
        <p:spPr>
          <a:xfrm>
            <a:off x="3802680" y="66579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73" name="TextBox 72"/>
          <p:cNvSpPr txBox="1"/>
          <p:nvPr/>
        </p:nvSpPr>
        <p:spPr>
          <a:xfrm>
            <a:off x="5573137" y="6650319"/>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74" name="TextBox 73"/>
          <p:cNvSpPr txBox="1"/>
          <p:nvPr/>
        </p:nvSpPr>
        <p:spPr>
          <a:xfrm>
            <a:off x="3802680" y="68847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5" name="TextBox 74"/>
          <p:cNvSpPr txBox="1"/>
          <p:nvPr/>
        </p:nvSpPr>
        <p:spPr>
          <a:xfrm>
            <a:off x="5555773" y="6877119"/>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2,97%</a:t>
            </a:r>
          </a:p>
        </p:txBody>
      </p:sp>
      <p:sp>
        <p:nvSpPr>
          <p:cNvPr id="76" name="TextBox 75"/>
          <p:cNvSpPr txBox="1"/>
          <p:nvPr/>
        </p:nvSpPr>
        <p:spPr>
          <a:xfrm>
            <a:off x="3802680" y="71115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7" name="TextBox 76"/>
          <p:cNvSpPr txBox="1"/>
          <p:nvPr/>
        </p:nvSpPr>
        <p:spPr>
          <a:xfrm>
            <a:off x="5515492" y="7103919"/>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78" name="TextBox 77"/>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838923"/>
          </a:xfrm>
          <a:prstGeom prst="rect">
            <a:avLst/>
          </a:prstGeom>
          <a:noFill/>
        </p:spPr>
        <p:txBody>
          <a:bodyPr wrap="square" lIns="0" rIns="0" tIns="0" bIns="0" anchor="t"/>
          <a:lstStyle/>
          <a:p>
            <a:pPr algn="just">
              <a:lnSpc>
                <a:spcPts val="1107"/>
              </a:lnSpc>
            </a:pPr>
            <a:r>
              <a:rPr sz="892"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141555"/>
            <a:ext cx="6501600" cy="557786"/>
          </a:xfrm>
          <a:prstGeom prst="rect">
            <a:avLst/>
          </a:prstGeom>
          <a:noFill/>
        </p:spPr>
        <p:txBody>
          <a:bodyPr wrap="square" lIns="0" rIns="0" tIns="0" bIns="0" anchor="t"/>
          <a:lstStyle/>
          <a:p>
            <a:pPr algn="just">
              <a:lnSpc>
                <a:spcPts val="1107"/>
              </a:lnSpc>
            </a:pPr>
            <a:r>
              <a:rPr sz="892"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6785454"/>
            <a:ext cx="6501600" cy="979492"/>
          </a:xfrm>
          <a:prstGeom prst="rect">
            <a:avLst/>
          </a:prstGeom>
          <a:noFill/>
        </p:spPr>
        <p:txBody>
          <a:bodyPr wrap="square" lIns="0" rIns="0" tIns="0" bIns="0" anchor="t"/>
          <a:lstStyle/>
          <a:p>
            <a:pPr algn="just">
              <a:lnSpc>
                <a:spcPts val="1107"/>
              </a:lnSpc>
            </a:pPr>
            <a:r>
              <a:rPr sz="892"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7851060"/>
            <a:ext cx="6501600" cy="417217"/>
          </a:xfrm>
          <a:prstGeom prst="rect">
            <a:avLst/>
          </a:prstGeom>
          <a:noFill/>
        </p:spPr>
        <p:txBody>
          <a:bodyPr wrap="square" lIns="0" rIns="0" tIns="0" bIns="0" anchor="t"/>
          <a:lstStyle/>
          <a:p>
            <a:pPr algn="just">
              <a:lnSpc>
                <a:spcPts val="1107"/>
              </a:lnSpc>
            </a:pPr>
            <a:r>
              <a:rPr sz="892" b="0" i="0">
                <a:solidFill>
                  <a:srgbClr val="F1F1F1"/>
                </a:solidFill>
                <a:latin typeface="Versos"/>
              </a:rPr>
              <a:t>Nesse cenário, o Tivio Infra Plus apresentou rentabilidade, isenta de imposto de renda de 1,26% no mês, acumulando 5,98% no ano. Na atribuição de performance, pode-se destacar as debêntures de NTS e São Simão, enquanto as de Jalles Machado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20410"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Volume (R$ MM)</a:t>
            </a:r>
          </a:p>
        </p:txBody>
      </p:sp>
      <p:sp>
        <p:nvSpPr>
          <p:cNvPr id="6" name="TextBox 5"/>
          <p:cNvSpPr txBox="1"/>
          <p:nvPr/>
        </p:nvSpPr>
        <p:spPr>
          <a:xfrm>
            <a:off x="2581267"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a:t>
            </a:r>
          </a:p>
        </p:txBody>
      </p:sp>
      <p:sp>
        <p:nvSpPr>
          <p:cNvPr id="7" name="TextBox 6"/>
          <p:cNvSpPr txBox="1"/>
          <p:nvPr/>
        </p:nvSpPr>
        <p:spPr>
          <a:xfrm>
            <a:off x="3142125"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Taxa Atual</a:t>
            </a:r>
          </a:p>
        </p:txBody>
      </p:sp>
      <p:sp>
        <p:nvSpPr>
          <p:cNvPr id="8" name="TextBox 7"/>
          <p:cNvSpPr txBox="1"/>
          <p:nvPr/>
        </p:nvSpPr>
        <p:spPr>
          <a:xfrm>
            <a:off x="3702982"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Taxa mês anterior</a:t>
            </a:r>
          </a:p>
        </p:txBody>
      </p:sp>
      <p:sp>
        <p:nvSpPr>
          <p:cNvPr id="9" name="TextBox 8"/>
          <p:cNvSpPr txBox="1"/>
          <p:nvPr/>
        </p:nvSpPr>
        <p:spPr>
          <a:xfrm>
            <a:off x="4263840"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10" name="TextBox 9"/>
          <p:cNvSpPr txBox="1"/>
          <p:nvPr/>
        </p:nvSpPr>
        <p:spPr>
          <a:xfrm>
            <a:off x="4824697" y="1805186"/>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Spread Atual</a:t>
            </a:r>
          </a:p>
        </p:txBody>
      </p:sp>
      <p:sp>
        <p:nvSpPr>
          <p:cNvPr id="11" name="TextBox 10"/>
          <p:cNvSpPr txBox="1"/>
          <p:nvPr/>
        </p:nvSpPr>
        <p:spPr>
          <a:xfrm>
            <a:off x="5385555" y="1755337"/>
            <a:ext cx="515497" cy="305235"/>
          </a:xfrm>
          <a:prstGeom prst="rect">
            <a:avLst/>
          </a:prstGeom>
          <a:noFill/>
        </p:spPr>
        <p:txBody>
          <a:bodyPr wrap="square" lIns="0" rIns="0" tIns="0" bIns="0" anchor="t"/>
          <a:lstStyle/>
          <a:p>
            <a:pPr algn="ctr">
              <a:lnSpc>
                <a:spcPts val="785"/>
              </a:lnSpc>
            </a:pPr>
            <a:r>
              <a:rPr sz="714" b="1" i="0">
                <a:solidFill>
                  <a:srgbClr val="FFFFFF"/>
                </a:solidFill>
                <a:latin typeface="Versos"/>
              </a:rPr>
              <a:t>Spread mês anterior</a:t>
            </a:r>
          </a:p>
        </p:txBody>
      </p:sp>
      <p:sp>
        <p:nvSpPr>
          <p:cNvPr id="12" name="TextBox 11"/>
          <p:cNvSpPr txBox="1"/>
          <p:nvPr/>
        </p:nvSpPr>
        <p:spPr>
          <a:xfrm>
            <a:off x="5946412" y="1855035"/>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13" name="TextBox 12"/>
          <p:cNvSpPr txBox="1"/>
          <p:nvPr/>
        </p:nvSpPr>
        <p:spPr>
          <a:xfrm>
            <a:off x="6507270" y="1855035"/>
            <a:ext cx="536608" cy="105840"/>
          </a:xfrm>
          <a:prstGeom prst="rect">
            <a:avLst/>
          </a:prstGeom>
          <a:noFill/>
        </p:spPr>
        <p:txBody>
          <a:bodyPr wrap="none" lIns="0" rIns="0" tIns="0" bIns="0" anchor="t"/>
          <a:lstStyle/>
          <a:p>
            <a:pPr algn="ctr">
              <a:lnSpc>
                <a:spcPts val="785"/>
              </a:lnSpc>
            </a:pPr>
            <a:r>
              <a:rPr sz="714" b="1" i="0">
                <a:solidFill>
                  <a:srgbClr val="FFFFFF"/>
                </a:solidFill>
                <a:latin typeface="Versos"/>
              </a:rPr>
              <a:t>Duration</a:t>
            </a:r>
          </a:p>
        </p:txBody>
      </p:sp>
      <p:sp>
        <p:nvSpPr>
          <p:cNvPr id="14" name="TextBox 13"/>
          <p:cNvSpPr txBox="1"/>
          <p:nvPr/>
        </p:nvSpPr>
        <p:spPr>
          <a:xfrm>
            <a:off x="2020410"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392.485</a:t>
            </a:r>
          </a:p>
        </p:txBody>
      </p:sp>
      <p:sp>
        <p:nvSpPr>
          <p:cNvPr id="15" name="TextBox 14"/>
          <p:cNvSpPr txBox="1"/>
          <p:nvPr/>
        </p:nvSpPr>
        <p:spPr>
          <a:xfrm>
            <a:off x="2581267"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100%</a:t>
            </a:r>
          </a:p>
        </p:txBody>
      </p:sp>
      <p:sp>
        <p:nvSpPr>
          <p:cNvPr id="16" name="TextBox 15"/>
          <p:cNvSpPr txBox="1"/>
          <p:nvPr/>
        </p:nvSpPr>
        <p:spPr>
          <a:xfrm>
            <a:off x="3142125"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8,30%</a:t>
            </a:r>
          </a:p>
        </p:txBody>
      </p:sp>
      <p:sp>
        <p:nvSpPr>
          <p:cNvPr id="17" name="TextBox 16"/>
          <p:cNvSpPr txBox="1"/>
          <p:nvPr/>
        </p:nvSpPr>
        <p:spPr>
          <a:xfrm>
            <a:off x="3702982"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8,47%</a:t>
            </a:r>
          </a:p>
        </p:txBody>
      </p:sp>
      <p:sp>
        <p:nvSpPr>
          <p:cNvPr id="18" name="TextBox 17"/>
          <p:cNvSpPr txBox="1"/>
          <p:nvPr/>
        </p:nvSpPr>
        <p:spPr>
          <a:xfrm>
            <a:off x="4263840"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0,05%</a:t>
            </a:r>
          </a:p>
        </p:txBody>
      </p:sp>
      <p:sp>
        <p:nvSpPr>
          <p:cNvPr id="19" name="TextBox 18"/>
          <p:cNvSpPr txBox="1"/>
          <p:nvPr/>
        </p:nvSpPr>
        <p:spPr>
          <a:xfrm>
            <a:off x="4824697"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0,34%</a:t>
            </a:r>
          </a:p>
        </p:txBody>
      </p:sp>
      <p:sp>
        <p:nvSpPr>
          <p:cNvPr id="20" name="TextBox 19"/>
          <p:cNvSpPr txBox="1"/>
          <p:nvPr/>
        </p:nvSpPr>
        <p:spPr>
          <a:xfrm>
            <a:off x="5385555"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0,29%</a:t>
            </a:r>
          </a:p>
        </p:txBody>
      </p:sp>
      <p:sp>
        <p:nvSpPr>
          <p:cNvPr id="21" name="TextBox 20"/>
          <p:cNvSpPr txBox="1"/>
          <p:nvPr/>
        </p:nvSpPr>
        <p:spPr>
          <a:xfrm>
            <a:off x="5946412" y="2190510"/>
            <a:ext cx="536117" cy="143640"/>
          </a:xfrm>
          <a:prstGeom prst="rect">
            <a:avLst/>
          </a:prstGeom>
          <a:noFill/>
        </p:spPr>
        <p:txBody>
          <a:bodyPr wrap="none" lIns="0" rIns="0" tIns="0" bIns="0" anchor="t"/>
          <a:lstStyle/>
          <a:p>
            <a:pPr algn="ctr">
              <a:lnSpc>
                <a:spcPts val="1107"/>
              </a:lnSpc>
            </a:pPr>
            <a:r>
              <a:rPr sz="922" b="1" i="0">
                <a:solidFill>
                  <a:srgbClr val="FFFFFF"/>
                </a:solidFill>
                <a:latin typeface="Versos"/>
              </a:rPr>
              <a:t>0,05%</a:t>
            </a:r>
          </a:p>
        </p:txBody>
      </p:sp>
      <p:sp>
        <p:nvSpPr>
          <p:cNvPr id="22" name="TextBox 21"/>
          <p:cNvSpPr txBox="1"/>
          <p:nvPr/>
        </p:nvSpPr>
        <p:spPr>
          <a:xfrm>
            <a:off x="6507270" y="2190510"/>
            <a:ext cx="536608" cy="143640"/>
          </a:xfrm>
          <a:prstGeom prst="rect">
            <a:avLst/>
          </a:prstGeom>
          <a:noFill/>
        </p:spPr>
        <p:txBody>
          <a:bodyPr wrap="none" lIns="0" rIns="0" tIns="0" bIns="0" anchor="t"/>
          <a:lstStyle/>
          <a:p>
            <a:pPr algn="ctr">
              <a:lnSpc>
                <a:spcPts val="1107"/>
              </a:lnSpc>
            </a:pPr>
            <a:r>
              <a:rPr sz="922" b="1" i="0">
                <a:solidFill>
                  <a:srgbClr val="FFFFFF"/>
                </a:solidFill>
                <a:latin typeface="Versos"/>
              </a:rPr>
              <a:t>5,38</a:t>
            </a:r>
          </a:p>
        </p:txBody>
      </p:sp>
      <p:sp>
        <p:nvSpPr>
          <p:cNvPr id="23" name="TextBox 22"/>
          <p:cNvSpPr txBox="1"/>
          <p:nvPr/>
        </p:nvSpPr>
        <p:spPr>
          <a:xfrm>
            <a:off x="536760" y="2721127"/>
            <a:ext cx="1495821" cy="105840"/>
          </a:xfrm>
          <a:prstGeom prst="rect">
            <a:avLst/>
          </a:prstGeom>
          <a:noFill/>
        </p:spPr>
        <p:txBody>
          <a:bodyPr wrap="none" lIns="0" rIns="0" tIns="0" bIns="0" anchor="t"/>
          <a:lstStyle/>
          <a:p>
            <a:pPr algn="ctr">
              <a:lnSpc>
                <a:spcPts val="785"/>
              </a:lnSpc>
            </a:pPr>
            <a:r>
              <a:rPr sz="714" b="1" i="0">
                <a:solidFill>
                  <a:srgbClr val="FFFFFF"/>
                </a:solidFill>
                <a:latin typeface="Versos"/>
              </a:rPr>
              <a:t>Setor</a:t>
            </a:r>
          </a:p>
        </p:txBody>
      </p:sp>
      <p:sp>
        <p:nvSpPr>
          <p:cNvPr id="24" name="TextBox 23"/>
          <p:cNvSpPr txBox="1"/>
          <p:nvPr/>
        </p:nvSpPr>
        <p:spPr>
          <a:xfrm>
            <a:off x="2020410"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Volume (R$ MM)</a:t>
            </a:r>
          </a:p>
        </p:txBody>
      </p:sp>
      <p:sp>
        <p:nvSpPr>
          <p:cNvPr id="25" name="TextBox 24"/>
          <p:cNvSpPr txBox="1"/>
          <p:nvPr/>
        </p:nvSpPr>
        <p:spPr>
          <a:xfrm>
            <a:off x="2581267"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a:t>
            </a:r>
          </a:p>
        </p:txBody>
      </p:sp>
      <p:sp>
        <p:nvSpPr>
          <p:cNvPr id="26" name="TextBox 25"/>
          <p:cNvSpPr txBox="1"/>
          <p:nvPr/>
        </p:nvSpPr>
        <p:spPr>
          <a:xfrm>
            <a:off x="3142125"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Taxa Atual</a:t>
            </a:r>
          </a:p>
        </p:txBody>
      </p:sp>
      <p:sp>
        <p:nvSpPr>
          <p:cNvPr id="27" name="TextBox 26"/>
          <p:cNvSpPr txBox="1"/>
          <p:nvPr/>
        </p:nvSpPr>
        <p:spPr>
          <a:xfrm>
            <a:off x="3702982"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Taxa mês anterior</a:t>
            </a:r>
          </a:p>
        </p:txBody>
      </p:sp>
      <p:sp>
        <p:nvSpPr>
          <p:cNvPr id="28" name="TextBox 27"/>
          <p:cNvSpPr txBox="1"/>
          <p:nvPr/>
        </p:nvSpPr>
        <p:spPr>
          <a:xfrm>
            <a:off x="4263840"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29" name="TextBox 28"/>
          <p:cNvSpPr txBox="1"/>
          <p:nvPr/>
        </p:nvSpPr>
        <p:spPr>
          <a:xfrm>
            <a:off x="4824697" y="2671278"/>
            <a:ext cx="515497" cy="205537"/>
          </a:xfrm>
          <a:prstGeom prst="rect">
            <a:avLst/>
          </a:prstGeom>
          <a:noFill/>
        </p:spPr>
        <p:txBody>
          <a:bodyPr wrap="square" lIns="0" rIns="0" tIns="0" bIns="0" anchor="t"/>
          <a:lstStyle/>
          <a:p>
            <a:pPr algn="ctr">
              <a:lnSpc>
                <a:spcPts val="785"/>
              </a:lnSpc>
            </a:pPr>
            <a:r>
              <a:rPr sz="714" b="1" i="0">
                <a:solidFill>
                  <a:srgbClr val="FFFFFF"/>
                </a:solidFill>
                <a:latin typeface="Versos"/>
              </a:rPr>
              <a:t>Spread Atual</a:t>
            </a:r>
          </a:p>
        </p:txBody>
      </p:sp>
      <p:sp>
        <p:nvSpPr>
          <p:cNvPr id="30" name="TextBox 29"/>
          <p:cNvSpPr txBox="1"/>
          <p:nvPr/>
        </p:nvSpPr>
        <p:spPr>
          <a:xfrm>
            <a:off x="5385555" y="2621430"/>
            <a:ext cx="515497" cy="305235"/>
          </a:xfrm>
          <a:prstGeom prst="rect">
            <a:avLst/>
          </a:prstGeom>
          <a:noFill/>
        </p:spPr>
        <p:txBody>
          <a:bodyPr wrap="square" lIns="0" rIns="0" tIns="0" bIns="0" anchor="t"/>
          <a:lstStyle/>
          <a:p>
            <a:pPr algn="ctr">
              <a:lnSpc>
                <a:spcPts val="785"/>
              </a:lnSpc>
            </a:pPr>
            <a:r>
              <a:rPr sz="714" b="1" i="0">
                <a:solidFill>
                  <a:srgbClr val="FFFFFF"/>
                </a:solidFill>
                <a:latin typeface="Versos"/>
              </a:rPr>
              <a:t>Spread mês anterior</a:t>
            </a:r>
          </a:p>
        </p:txBody>
      </p:sp>
      <p:sp>
        <p:nvSpPr>
          <p:cNvPr id="31" name="TextBox 30"/>
          <p:cNvSpPr txBox="1"/>
          <p:nvPr/>
        </p:nvSpPr>
        <p:spPr>
          <a:xfrm>
            <a:off x="5946412" y="2721127"/>
            <a:ext cx="536117" cy="105840"/>
          </a:xfrm>
          <a:prstGeom prst="rect">
            <a:avLst/>
          </a:prstGeom>
          <a:noFill/>
        </p:spPr>
        <p:txBody>
          <a:bodyPr wrap="none" lIns="0" rIns="0" tIns="0" bIns="0" anchor="t"/>
          <a:lstStyle/>
          <a:p>
            <a:pPr algn="ctr">
              <a:lnSpc>
                <a:spcPts val="785"/>
              </a:lnSpc>
            </a:pPr>
            <a:r>
              <a:rPr sz="714" b="1" i="0">
                <a:solidFill>
                  <a:srgbClr val="FFFFFF"/>
                </a:solidFill>
                <a:latin typeface="Versos"/>
              </a:rPr>
              <a:t>Variação</a:t>
            </a:r>
          </a:p>
        </p:txBody>
      </p:sp>
      <p:sp>
        <p:nvSpPr>
          <p:cNvPr id="32" name="TextBox 31"/>
          <p:cNvSpPr txBox="1"/>
          <p:nvPr/>
        </p:nvSpPr>
        <p:spPr>
          <a:xfrm>
            <a:off x="6507270" y="2721127"/>
            <a:ext cx="536608" cy="105840"/>
          </a:xfrm>
          <a:prstGeom prst="rect">
            <a:avLst/>
          </a:prstGeom>
          <a:noFill/>
        </p:spPr>
        <p:txBody>
          <a:bodyPr wrap="none" lIns="0" rIns="0" tIns="0" bIns="0" anchor="t"/>
          <a:lstStyle/>
          <a:p>
            <a:pPr algn="ctr">
              <a:lnSpc>
                <a:spcPts val="785"/>
              </a:lnSpc>
            </a:pPr>
            <a:r>
              <a:rPr sz="714" b="1" i="0">
                <a:solidFill>
                  <a:srgbClr val="FFFFFF"/>
                </a:solidFill>
                <a:latin typeface="Versos"/>
              </a:rPr>
              <a:t>Duration</a:t>
            </a:r>
          </a:p>
        </p:txBody>
      </p:sp>
      <p:sp>
        <p:nvSpPr>
          <p:cNvPr id="33" name="TextBox 32"/>
          <p:cNvSpPr txBox="1"/>
          <p:nvPr/>
        </p:nvSpPr>
        <p:spPr>
          <a:xfrm>
            <a:off x="604800" y="318736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Energia elétrica</a:t>
            </a:r>
          </a:p>
        </p:txBody>
      </p:sp>
      <p:sp>
        <p:nvSpPr>
          <p:cNvPr id="34" name="TextBox 33"/>
          <p:cNvSpPr txBox="1"/>
          <p:nvPr/>
        </p:nvSpPr>
        <p:spPr>
          <a:xfrm>
            <a:off x="2020410" y="3195990"/>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191.166</a:t>
            </a:r>
          </a:p>
        </p:txBody>
      </p:sp>
      <p:sp>
        <p:nvSpPr>
          <p:cNvPr id="35" name="TextBox 34"/>
          <p:cNvSpPr txBox="1"/>
          <p:nvPr/>
        </p:nvSpPr>
        <p:spPr>
          <a:xfrm>
            <a:off x="2581267"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48,7%</a:t>
            </a:r>
          </a:p>
        </p:txBody>
      </p:sp>
      <p:sp>
        <p:nvSpPr>
          <p:cNvPr id="36" name="TextBox 35"/>
          <p:cNvSpPr txBox="1"/>
          <p:nvPr/>
        </p:nvSpPr>
        <p:spPr>
          <a:xfrm>
            <a:off x="3142125"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7,93%</a:t>
            </a:r>
          </a:p>
        </p:txBody>
      </p:sp>
      <p:sp>
        <p:nvSpPr>
          <p:cNvPr id="37" name="TextBox 36"/>
          <p:cNvSpPr txBox="1"/>
          <p:nvPr/>
        </p:nvSpPr>
        <p:spPr>
          <a:xfrm>
            <a:off x="3702982"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8,13%</a:t>
            </a:r>
          </a:p>
        </p:txBody>
      </p:sp>
      <p:sp>
        <p:nvSpPr>
          <p:cNvPr id="38" name="TextBox 37"/>
          <p:cNvSpPr txBox="1"/>
          <p:nvPr/>
        </p:nvSpPr>
        <p:spPr>
          <a:xfrm>
            <a:off x="4263840"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39" name="TextBox 38"/>
          <p:cNvSpPr txBox="1"/>
          <p:nvPr/>
        </p:nvSpPr>
        <p:spPr>
          <a:xfrm>
            <a:off x="4824697"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40" name="TextBox 39"/>
          <p:cNvSpPr txBox="1"/>
          <p:nvPr/>
        </p:nvSpPr>
        <p:spPr>
          <a:xfrm>
            <a:off x="5385555"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41" name="TextBox 40"/>
          <p:cNvSpPr txBox="1"/>
          <p:nvPr/>
        </p:nvSpPr>
        <p:spPr>
          <a:xfrm>
            <a:off x="5946412" y="31959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42" name="TextBox 41"/>
          <p:cNvSpPr txBox="1"/>
          <p:nvPr/>
        </p:nvSpPr>
        <p:spPr>
          <a:xfrm>
            <a:off x="6507270" y="319599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5,3</a:t>
            </a:r>
          </a:p>
        </p:txBody>
      </p:sp>
      <p:sp>
        <p:nvSpPr>
          <p:cNvPr id="43" name="TextBox 42"/>
          <p:cNvSpPr txBox="1"/>
          <p:nvPr/>
        </p:nvSpPr>
        <p:spPr>
          <a:xfrm>
            <a:off x="604800" y="376854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Transporte e logística</a:t>
            </a:r>
          </a:p>
        </p:txBody>
      </p:sp>
      <p:sp>
        <p:nvSpPr>
          <p:cNvPr id="44" name="TextBox 43"/>
          <p:cNvSpPr txBox="1"/>
          <p:nvPr/>
        </p:nvSpPr>
        <p:spPr>
          <a:xfrm>
            <a:off x="2020410" y="3777165"/>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89.369</a:t>
            </a:r>
          </a:p>
        </p:txBody>
      </p:sp>
      <p:sp>
        <p:nvSpPr>
          <p:cNvPr id="45" name="TextBox 44"/>
          <p:cNvSpPr txBox="1"/>
          <p:nvPr/>
        </p:nvSpPr>
        <p:spPr>
          <a:xfrm>
            <a:off x="2581267"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22,8%</a:t>
            </a:r>
          </a:p>
        </p:txBody>
      </p:sp>
      <p:sp>
        <p:nvSpPr>
          <p:cNvPr id="46" name="TextBox 45"/>
          <p:cNvSpPr txBox="1"/>
          <p:nvPr/>
        </p:nvSpPr>
        <p:spPr>
          <a:xfrm>
            <a:off x="3142125"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8,32%</a:t>
            </a:r>
          </a:p>
        </p:txBody>
      </p:sp>
      <p:sp>
        <p:nvSpPr>
          <p:cNvPr id="47" name="TextBox 46"/>
          <p:cNvSpPr txBox="1"/>
          <p:nvPr/>
        </p:nvSpPr>
        <p:spPr>
          <a:xfrm>
            <a:off x="3702982"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8,48%</a:t>
            </a:r>
          </a:p>
        </p:txBody>
      </p:sp>
      <p:sp>
        <p:nvSpPr>
          <p:cNvPr id="48" name="TextBox 47"/>
          <p:cNvSpPr txBox="1"/>
          <p:nvPr/>
        </p:nvSpPr>
        <p:spPr>
          <a:xfrm>
            <a:off x="4263840"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-0,15%</a:t>
            </a:r>
          </a:p>
        </p:txBody>
      </p:sp>
      <p:sp>
        <p:nvSpPr>
          <p:cNvPr id="49" name="TextBox 48"/>
          <p:cNvSpPr txBox="1"/>
          <p:nvPr/>
        </p:nvSpPr>
        <p:spPr>
          <a:xfrm>
            <a:off x="4824697"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0,36%</a:t>
            </a:r>
          </a:p>
        </p:txBody>
      </p:sp>
      <p:sp>
        <p:nvSpPr>
          <p:cNvPr id="50" name="TextBox 49"/>
          <p:cNvSpPr txBox="1"/>
          <p:nvPr/>
        </p:nvSpPr>
        <p:spPr>
          <a:xfrm>
            <a:off x="5385555"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0,30%</a:t>
            </a:r>
          </a:p>
        </p:txBody>
      </p:sp>
      <p:sp>
        <p:nvSpPr>
          <p:cNvPr id="51" name="TextBox 50"/>
          <p:cNvSpPr txBox="1"/>
          <p:nvPr/>
        </p:nvSpPr>
        <p:spPr>
          <a:xfrm>
            <a:off x="5946412" y="37771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0,06%</a:t>
            </a:r>
          </a:p>
        </p:txBody>
      </p:sp>
      <p:sp>
        <p:nvSpPr>
          <p:cNvPr id="52" name="TextBox 51"/>
          <p:cNvSpPr txBox="1"/>
          <p:nvPr/>
        </p:nvSpPr>
        <p:spPr>
          <a:xfrm>
            <a:off x="6507270" y="377716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5,2</a:t>
            </a:r>
          </a:p>
        </p:txBody>
      </p:sp>
      <p:sp>
        <p:nvSpPr>
          <p:cNvPr id="53" name="TextBox 52"/>
          <p:cNvSpPr txBox="1"/>
          <p:nvPr/>
        </p:nvSpPr>
        <p:spPr>
          <a:xfrm>
            <a:off x="604800" y="434971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Saneamento</a:t>
            </a:r>
          </a:p>
        </p:txBody>
      </p:sp>
      <p:sp>
        <p:nvSpPr>
          <p:cNvPr id="54" name="TextBox 53"/>
          <p:cNvSpPr txBox="1"/>
          <p:nvPr/>
        </p:nvSpPr>
        <p:spPr>
          <a:xfrm>
            <a:off x="2020410" y="4358340"/>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35.248</a:t>
            </a:r>
          </a:p>
        </p:txBody>
      </p:sp>
      <p:sp>
        <p:nvSpPr>
          <p:cNvPr id="55" name="TextBox 54"/>
          <p:cNvSpPr txBox="1"/>
          <p:nvPr/>
        </p:nvSpPr>
        <p:spPr>
          <a:xfrm>
            <a:off x="2581267"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9,0%</a:t>
            </a:r>
          </a:p>
        </p:txBody>
      </p:sp>
      <p:sp>
        <p:nvSpPr>
          <p:cNvPr id="56" name="TextBox 55"/>
          <p:cNvSpPr txBox="1"/>
          <p:nvPr/>
        </p:nvSpPr>
        <p:spPr>
          <a:xfrm>
            <a:off x="3142125"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9,69%</a:t>
            </a:r>
          </a:p>
        </p:txBody>
      </p:sp>
      <p:sp>
        <p:nvSpPr>
          <p:cNvPr id="57" name="TextBox 56"/>
          <p:cNvSpPr txBox="1"/>
          <p:nvPr/>
        </p:nvSpPr>
        <p:spPr>
          <a:xfrm>
            <a:off x="3702982"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9,75%</a:t>
            </a:r>
          </a:p>
        </p:txBody>
      </p:sp>
      <p:sp>
        <p:nvSpPr>
          <p:cNvPr id="58" name="TextBox 57"/>
          <p:cNvSpPr txBox="1"/>
          <p:nvPr/>
        </p:nvSpPr>
        <p:spPr>
          <a:xfrm>
            <a:off x="4263840"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-0,05%</a:t>
            </a:r>
          </a:p>
        </p:txBody>
      </p:sp>
      <p:sp>
        <p:nvSpPr>
          <p:cNvPr id="59" name="TextBox 58"/>
          <p:cNvSpPr txBox="1"/>
          <p:nvPr/>
        </p:nvSpPr>
        <p:spPr>
          <a:xfrm>
            <a:off x="4824697"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1,68%</a:t>
            </a:r>
          </a:p>
        </p:txBody>
      </p:sp>
      <p:sp>
        <p:nvSpPr>
          <p:cNvPr id="60" name="TextBox 59"/>
          <p:cNvSpPr txBox="1"/>
          <p:nvPr/>
        </p:nvSpPr>
        <p:spPr>
          <a:xfrm>
            <a:off x="5385555"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1,51%</a:t>
            </a:r>
          </a:p>
        </p:txBody>
      </p:sp>
      <p:sp>
        <p:nvSpPr>
          <p:cNvPr id="61" name="TextBox 60"/>
          <p:cNvSpPr txBox="1"/>
          <p:nvPr/>
        </p:nvSpPr>
        <p:spPr>
          <a:xfrm>
            <a:off x="5946412" y="43583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0,17%</a:t>
            </a:r>
          </a:p>
        </p:txBody>
      </p:sp>
      <p:sp>
        <p:nvSpPr>
          <p:cNvPr id="62" name="TextBox 61"/>
          <p:cNvSpPr txBox="1"/>
          <p:nvPr/>
        </p:nvSpPr>
        <p:spPr>
          <a:xfrm>
            <a:off x="6507270" y="435834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6,2</a:t>
            </a:r>
          </a:p>
        </p:txBody>
      </p:sp>
      <p:sp>
        <p:nvSpPr>
          <p:cNvPr id="63" name="TextBox 62"/>
          <p:cNvSpPr txBox="1"/>
          <p:nvPr/>
        </p:nvSpPr>
        <p:spPr>
          <a:xfrm>
            <a:off x="604800" y="493089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Petróleo e gás</a:t>
            </a:r>
          </a:p>
        </p:txBody>
      </p:sp>
      <p:sp>
        <p:nvSpPr>
          <p:cNvPr id="64" name="TextBox 63"/>
          <p:cNvSpPr txBox="1"/>
          <p:nvPr/>
        </p:nvSpPr>
        <p:spPr>
          <a:xfrm>
            <a:off x="2020410" y="4939515"/>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26.236</a:t>
            </a:r>
          </a:p>
        </p:txBody>
      </p:sp>
      <p:sp>
        <p:nvSpPr>
          <p:cNvPr id="65" name="TextBox 64"/>
          <p:cNvSpPr txBox="1"/>
          <p:nvPr/>
        </p:nvSpPr>
        <p:spPr>
          <a:xfrm>
            <a:off x="2581267"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6,7%</a:t>
            </a:r>
          </a:p>
        </p:txBody>
      </p:sp>
      <p:sp>
        <p:nvSpPr>
          <p:cNvPr id="66" name="TextBox 65"/>
          <p:cNvSpPr txBox="1"/>
          <p:nvPr/>
        </p:nvSpPr>
        <p:spPr>
          <a:xfrm>
            <a:off x="3142125"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7,91%</a:t>
            </a:r>
          </a:p>
        </p:txBody>
      </p:sp>
      <p:sp>
        <p:nvSpPr>
          <p:cNvPr id="67" name="TextBox 66"/>
          <p:cNvSpPr txBox="1"/>
          <p:nvPr/>
        </p:nvSpPr>
        <p:spPr>
          <a:xfrm>
            <a:off x="3702982"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8,08%</a:t>
            </a:r>
          </a:p>
        </p:txBody>
      </p:sp>
      <p:sp>
        <p:nvSpPr>
          <p:cNvPr id="68" name="TextBox 67"/>
          <p:cNvSpPr txBox="1"/>
          <p:nvPr/>
        </p:nvSpPr>
        <p:spPr>
          <a:xfrm>
            <a:off x="4263840"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-0,16%</a:t>
            </a:r>
          </a:p>
        </p:txBody>
      </p:sp>
      <p:sp>
        <p:nvSpPr>
          <p:cNvPr id="69" name="TextBox 68"/>
          <p:cNvSpPr txBox="1"/>
          <p:nvPr/>
        </p:nvSpPr>
        <p:spPr>
          <a:xfrm>
            <a:off x="4824697"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70" name="TextBox 69"/>
          <p:cNvSpPr txBox="1"/>
          <p:nvPr/>
        </p:nvSpPr>
        <p:spPr>
          <a:xfrm>
            <a:off x="5385555"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-0,07%</a:t>
            </a:r>
          </a:p>
        </p:txBody>
      </p:sp>
      <p:sp>
        <p:nvSpPr>
          <p:cNvPr id="71" name="TextBox 70"/>
          <p:cNvSpPr txBox="1"/>
          <p:nvPr/>
        </p:nvSpPr>
        <p:spPr>
          <a:xfrm>
            <a:off x="5946412" y="49395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72" name="TextBox 71"/>
          <p:cNvSpPr txBox="1"/>
          <p:nvPr/>
        </p:nvSpPr>
        <p:spPr>
          <a:xfrm>
            <a:off x="6507270" y="493951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5,2</a:t>
            </a:r>
          </a:p>
        </p:txBody>
      </p:sp>
      <p:sp>
        <p:nvSpPr>
          <p:cNvPr id="73" name="TextBox 72"/>
          <p:cNvSpPr txBox="1"/>
          <p:nvPr/>
        </p:nvSpPr>
        <p:spPr>
          <a:xfrm>
            <a:off x="604800" y="551206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TI e Telecomunicações</a:t>
            </a:r>
          </a:p>
        </p:txBody>
      </p:sp>
      <p:sp>
        <p:nvSpPr>
          <p:cNvPr id="74" name="TextBox 73"/>
          <p:cNvSpPr txBox="1"/>
          <p:nvPr/>
        </p:nvSpPr>
        <p:spPr>
          <a:xfrm>
            <a:off x="2020410" y="5520690"/>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16.942</a:t>
            </a:r>
          </a:p>
        </p:txBody>
      </p:sp>
      <p:sp>
        <p:nvSpPr>
          <p:cNvPr id="75" name="TextBox 74"/>
          <p:cNvSpPr txBox="1"/>
          <p:nvPr/>
        </p:nvSpPr>
        <p:spPr>
          <a:xfrm>
            <a:off x="2581267"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4,3%</a:t>
            </a:r>
          </a:p>
        </p:txBody>
      </p:sp>
      <p:sp>
        <p:nvSpPr>
          <p:cNvPr id="76" name="TextBox 75"/>
          <p:cNvSpPr txBox="1"/>
          <p:nvPr/>
        </p:nvSpPr>
        <p:spPr>
          <a:xfrm>
            <a:off x="3142125"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9,41%</a:t>
            </a:r>
          </a:p>
        </p:txBody>
      </p:sp>
      <p:sp>
        <p:nvSpPr>
          <p:cNvPr id="77" name="TextBox 76"/>
          <p:cNvSpPr txBox="1"/>
          <p:nvPr/>
        </p:nvSpPr>
        <p:spPr>
          <a:xfrm>
            <a:off x="3702982"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9,53%</a:t>
            </a:r>
          </a:p>
        </p:txBody>
      </p:sp>
      <p:sp>
        <p:nvSpPr>
          <p:cNvPr id="78" name="TextBox 77"/>
          <p:cNvSpPr txBox="1"/>
          <p:nvPr/>
        </p:nvSpPr>
        <p:spPr>
          <a:xfrm>
            <a:off x="4263840"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-0,11%</a:t>
            </a:r>
          </a:p>
        </p:txBody>
      </p:sp>
      <p:sp>
        <p:nvSpPr>
          <p:cNvPr id="79" name="TextBox 78"/>
          <p:cNvSpPr txBox="1"/>
          <p:nvPr/>
        </p:nvSpPr>
        <p:spPr>
          <a:xfrm>
            <a:off x="4824697"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1,41%</a:t>
            </a:r>
          </a:p>
        </p:txBody>
      </p:sp>
      <p:sp>
        <p:nvSpPr>
          <p:cNvPr id="80" name="TextBox 79"/>
          <p:cNvSpPr txBox="1"/>
          <p:nvPr/>
        </p:nvSpPr>
        <p:spPr>
          <a:xfrm>
            <a:off x="5385555"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1,21%</a:t>
            </a:r>
          </a:p>
        </p:txBody>
      </p:sp>
      <p:sp>
        <p:nvSpPr>
          <p:cNvPr id="81" name="TextBox 80"/>
          <p:cNvSpPr txBox="1"/>
          <p:nvPr/>
        </p:nvSpPr>
        <p:spPr>
          <a:xfrm>
            <a:off x="5946412" y="55206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82" name="TextBox 81"/>
          <p:cNvSpPr txBox="1"/>
          <p:nvPr/>
        </p:nvSpPr>
        <p:spPr>
          <a:xfrm>
            <a:off x="6507270" y="552069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3,9</a:t>
            </a:r>
          </a:p>
        </p:txBody>
      </p:sp>
      <p:sp>
        <p:nvSpPr>
          <p:cNvPr id="83" name="TextBox 82"/>
          <p:cNvSpPr txBox="1"/>
          <p:nvPr/>
        </p:nvSpPr>
        <p:spPr>
          <a:xfrm>
            <a:off x="604800" y="609324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Mineração</a:t>
            </a:r>
          </a:p>
        </p:txBody>
      </p:sp>
      <p:sp>
        <p:nvSpPr>
          <p:cNvPr id="84" name="TextBox 83"/>
          <p:cNvSpPr txBox="1"/>
          <p:nvPr/>
        </p:nvSpPr>
        <p:spPr>
          <a:xfrm>
            <a:off x="2020410" y="6101865"/>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14.839</a:t>
            </a:r>
          </a:p>
        </p:txBody>
      </p:sp>
      <p:sp>
        <p:nvSpPr>
          <p:cNvPr id="85" name="TextBox 84"/>
          <p:cNvSpPr txBox="1"/>
          <p:nvPr/>
        </p:nvSpPr>
        <p:spPr>
          <a:xfrm>
            <a:off x="2581267"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3,8%</a:t>
            </a:r>
          </a:p>
        </p:txBody>
      </p:sp>
      <p:sp>
        <p:nvSpPr>
          <p:cNvPr id="86" name="TextBox 85"/>
          <p:cNvSpPr txBox="1"/>
          <p:nvPr/>
        </p:nvSpPr>
        <p:spPr>
          <a:xfrm>
            <a:off x="3142125"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8,09%</a:t>
            </a:r>
          </a:p>
        </p:txBody>
      </p:sp>
      <p:sp>
        <p:nvSpPr>
          <p:cNvPr id="87" name="TextBox 86"/>
          <p:cNvSpPr txBox="1"/>
          <p:nvPr/>
        </p:nvSpPr>
        <p:spPr>
          <a:xfrm>
            <a:off x="3702982"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8,30%</a:t>
            </a:r>
          </a:p>
        </p:txBody>
      </p:sp>
      <p:sp>
        <p:nvSpPr>
          <p:cNvPr id="88" name="TextBox 87"/>
          <p:cNvSpPr txBox="1"/>
          <p:nvPr/>
        </p:nvSpPr>
        <p:spPr>
          <a:xfrm>
            <a:off x="4263840"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-0,19%</a:t>
            </a:r>
          </a:p>
        </p:txBody>
      </p:sp>
      <p:sp>
        <p:nvSpPr>
          <p:cNvPr id="89" name="TextBox 88"/>
          <p:cNvSpPr txBox="1"/>
          <p:nvPr/>
        </p:nvSpPr>
        <p:spPr>
          <a:xfrm>
            <a:off x="4824697"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0,18%</a:t>
            </a:r>
          </a:p>
        </p:txBody>
      </p:sp>
      <p:sp>
        <p:nvSpPr>
          <p:cNvPr id="90" name="TextBox 89"/>
          <p:cNvSpPr txBox="1"/>
          <p:nvPr/>
        </p:nvSpPr>
        <p:spPr>
          <a:xfrm>
            <a:off x="5385555"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0,21%</a:t>
            </a:r>
          </a:p>
        </p:txBody>
      </p:sp>
      <p:sp>
        <p:nvSpPr>
          <p:cNvPr id="91" name="TextBox 90"/>
          <p:cNvSpPr txBox="1"/>
          <p:nvPr/>
        </p:nvSpPr>
        <p:spPr>
          <a:xfrm>
            <a:off x="5946412" y="61018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92" name="TextBox 91"/>
          <p:cNvSpPr txBox="1"/>
          <p:nvPr/>
        </p:nvSpPr>
        <p:spPr>
          <a:xfrm>
            <a:off x="6507270" y="610186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6,5</a:t>
            </a:r>
          </a:p>
        </p:txBody>
      </p:sp>
      <p:sp>
        <p:nvSpPr>
          <p:cNvPr id="93" name="TextBox 92"/>
          <p:cNvSpPr txBox="1"/>
          <p:nvPr/>
        </p:nvSpPr>
        <p:spPr>
          <a:xfrm>
            <a:off x="604800" y="667441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Bioenergia</a:t>
            </a:r>
          </a:p>
        </p:txBody>
      </p:sp>
      <p:sp>
        <p:nvSpPr>
          <p:cNvPr id="94" name="TextBox 93"/>
          <p:cNvSpPr txBox="1"/>
          <p:nvPr/>
        </p:nvSpPr>
        <p:spPr>
          <a:xfrm>
            <a:off x="2020410" y="6683040"/>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6.924</a:t>
            </a:r>
          </a:p>
        </p:txBody>
      </p:sp>
      <p:sp>
        <p:nvSpPr>
          <p:cNvPr id="95" name="TextBox 94"/>
          <p:cNvSpPr txBox="1"/>
          <p:nvPr/>
        </p:nvSpPr>
        <p:spPr>
          <a:xfrm>
            <a:off x="2581267"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1,8%</a:t>
            </a:r>
          </a:p>
        </p:txBody>
      </p:sp>
      <p:sp>
        <p:nvSpPr>
          <p:cNvPr id="96" name="TextBox 95"/>
          <p:cNvSpPr txBox="1"/>
          <p:nvPr/>
        </p:nvSpPr>
        <p:spPr>
          <a:xfrm>
            <a:off x="3142125"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8,96%</a:t>
            </a:r>
          </a:p>
        </p:txBody>
      </p:sp>
      <p:sp>
        <p:nvSpPr>
          <p:cNvPr id="97" name="TextBox 96"/>
          <p:cNvSpPr txBox="1"/>
          <p:nvPr/>
        </p:nvSpPr>
        <p:spPr>
          <a:xfrm>
            <a:off x="3702982"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9,07%</a:t>
            </a:r>
          </a:p>
        </p:txBody>
      </p:sp>
      <p:sp>
        <p:nvSpPr>
          <p:cNvPr id="98" name="TextBox 97"/>
          <p:cNvSpPr txBox="1"/>
          <p:nvPr/>
        </p:nvSpPr>
        <p:spPr>
          <a:xfrm>
            <a:off x="4263840"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-0,11%</a:t>
            </a:r>
          </a:p>
        </p:txBody>
      </p:sp>
      <p:sp>
        <p:nvSpPr>
          <p:cNvPr id="99" name="TextBox 98"/>
          <p:cNvSpPr txBox="1"/>
          <p:nvPr/>
        </p:nvSpPr>
        <p:spPr>
          <a:xfrm>
            <a:off x="4824697"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0,86%</a:t>
            </a:r>
          </a:p>
        </p:txBody>
      </p:sp>
      <p:sp>
        <p:nvSpPr>
          <p:cNvPr id="100" name="TextBox 99"/>
          <p:cNvSpPr txBox="1"/>
          <p:nvPr/>
        </p:nvSpPr>
        <p:spPr>
          <a:xfrm>
            <a:off x="5385555"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0,76%</a:t>
            </a:r>
          </a:p>
        </p:txBody>
      </p:sp>
      <p:sp>
        <p:nvSpPr>
          <p:cNvPr id="101" name="TextBox 100"/>
          <p:cNvSpPr txBox="1"/>
          <p:nvPr/>
        </p:nvSpPr>
        <p:spPr>
          <a:xfrm>
            <a:off x="5946412" y="668304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0,10%</a:t>
            </a:r>
          </a:p>
        </p:txBody>
      </p:sp>
      <p:sp>
        <p:nvSpPr>
          <p:cNvPr id="102" name="TextBox 101"/>
          <p:cNvSpPr txBox="1"/>
          <p:nvPr/>
        </p:nvSpPr>
        <p:spPr>
          <a:xfrm>
            <a:off x="6507270" y="668304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4,4</a:t>
            </a:r>
          </a:p>
        </p:txBody>
      </p:sp>
      <p:sp>
        <p:nvSpPr>
          <p:cNvPr id="103" name="TextBox 102"/>
          <p:cNvSpPr txBox="1"/>
          <p:nvPr/>
        </p:nvSpPr>
        <p:spPr>
          <a:xfrm>
            <a:off x="604800" y="725559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Papel e celulose</a:t>
            </a:r>
          </a:p>
        </p:txBody>
      </p:sp>
      <p:sp>
        <p:nvSpPr>
          <p:cNvPr id="104" name="TextBox 103"/>
          <p:cNvSpPr txBox="1"/>
          <p:nvPr/>
        </p:nvSpPr>
        <p:spPr>
          <a:xfrm>
            <a:off x="2020410" y="7264215"/>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7.223</a:t>
            </a:r>
          </a:p>
        </p:txBody>
      </p:sp>
      <p:sp>
        <p:nvSpPr>
          <p:cNvPr id="105" name="TextBox 104"/>
          <p:cNvSpPr txBox="1"/>
          <p:nvPr/>
        </p:nvSpPr>
        <p:spPr>
          <a:xfrm>
            <a:off x="2581267"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1,8%</a:t>
            </a:r>
          </a:p>
        </p:txBody>
      </p:sp>
      <p:sp>
        <p:nvSpPr>
          <p:cNvPr id="106" name="TextBox 105"/>
          <p:cNvSpPr txBox="1"/>
          <p:nvPr/>
        </p:nvSpPr>
        <p:spPr>
          <a:xfrm>
            <a:off x="3142125"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7,65%</a:t>
            </a:r>
          </a:p>
        </p:txBody>
      </p:sp>
      <p:sp>
        <p:nvSpPr>
          <p:cNvPr id="107" name="TextBox 106"/>
          <p:cNvSpPr txBox="1"/>
          <p:nvPr/>
        </p:nvSpPr>
        <p:spPr>
          <a:xfrm>
            <a:off x="3702982"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7,87%</a:t>
            </a:r>
          </a:p>
        </p:txBody>
      </p:sp>
      <p:sp>
        <p:nvSpPr>
          <p:cNvPr id="108" name="TextBox 107"/>
          <p:cNvSpPr txBox="1"/>
          <p:nvPr/>
        </p:nvSpPr>
        <p:spPr>
          <a:xfrm>
            <a:off x="4263840"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-0,20%</a:t>
            </a:r>
          </a:p>
        </p:txBody>
      </p:sp>
      <p:sp>
        <p:nvSpPr>
          <p:cNvPr id="109" name="TextBox 108"/>
          <p:cNvSpPr txBox="1"/>
          <p:nvPr/>
        </p:nvSpPr>
        <p:spPr>
          <a:xfrm>
            <a:off x="4824697"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-0,23%</a:t>
            </a:r>
          </a:p>
        </p:txBody>
      </p:sp>
      <p:sp>
        <p:nvSpPr>
          <p:cNvPr id="110" name="TextBox 109"/>
          <p:cNvSpPr txBox="1"/>
          <p:nvPr/>
        </p:nvSpPr>
        <p:spPr>
          <a:xfrm>
            <a:off x="5385555"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-0,20%</a:t>
            </a:r>
          </a:p>
        </p:txBody>
      </p:sp>
      <p:sp>
        <p:nvSpPr>
          <p:cNvPr id="111" name="TextBox 110"/>
          <p:cNvSpPr txBox="1"/>
          <p:nvPr/>
        </p:nvSpPr>
        <p:spPr>
          <a:xfrm>
            <a:off x="5946412" y="726421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-0,04%</a:t>
            </a:r>
          </a:p>
        </p:txBody>
      </p:sp>
      <p:sp>
        <p:nvSpPr>
          <p:cNvPr id="112" name="TextBox 111"/>
          <p:cNvSpPr txBox="1"/>
          <p:nvPr/>
        </p:nvSpPr>
        <p:spPr>
          <a:xfrm>
            <a:off x="6507270" y="726421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6,9</a:t>
            </a:r>
          </a:p>
        </p:txBody>
      </p:sp>
      <p:sp>
        <p:nvSpPr>
          <p:cNvPr id="113" name="TextBox 112"/>
          <p:cNvSpPr txBox="1"/>
          <p:nvPr/>
        </p:nvSpPr>
        <p:spPr>
          <a:xfrm>
            <a:off x="604800" y="7836766"/>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Outros serviços</a:t>
            </a:r>
          </a:p>
        </p:txBody>
      </p:sp>
      <p:sp>
        <p:nvSpPr>
          <p:cNvPr id="114" name="TextBox 113"/>
          <p:cNvSpPr txBox="1"/>
          <p:nvPr/>
        </p:nvSpPr>
        <p:spPr>
          <a:xfrm>
            <a:off x="2020410" y="7845390"/>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1.671</a:t>
            </a:r>
          </a:p>
        </p:txBody>
      </p:sp>
      <p:sp>
        <p:nvSpPr>
          <p:cNvPr id="115" name="TextBox 114"/>
          <p:cNvSpPr txBox="1"/>
          <p:nvPr/>
        </p:nvSpPr>
        <p:spPr>
          <a:xfrm>
            <a:off x="2581267"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0,4%</a:t>
            </a:r>
          </a:p>
        </p:txBody>
      </p:sp>
      <p:sp>
        <p:nvSpPr>
          <p:cNvPr id="116" name="TextBox 115"/>
          <p:cNvSpPr txBox="1"/>
          <p:nvPr/>
        </p:nvSpPr>
        <p:spPr>
          <a:xfrm>
            <a:off x="3142125"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7,71%</a:t>
            </a:r>
          </a:p>
        </p:txBody>
      </p:sp>
      <p:sp>
        <p:nvSpPr>
          <p:cNvPr id="117" name="TextBox 116"/>
          <p:cNvSpPr txBox="1"/>
          <p:nvPr/>
        </p:nvSpPr>
        <p:spPr>
          <a:xfrm>
            <a:off x="3702982"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7,95%</a:t>
            </a:r>
          </a:p>
        </p:txBody>
      </p:sp>
      <p:sp>
        <p:nvSpPr>
          <p:cNvPr id="118" name="TextBox 117"/>
          <p:cNvSpPr txBox="1"/>
          <p:nvPr/>
        </p:nvSpPr>
        <p:spPr>
          <a:xfrm>
            <a:off x="4263840"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-0,23%</a:t>
            </a:r>
          </a:p>
        </p:txBody>
      </p:sp>
      <p:sp>
        <p:nvSpPr>
          <p:cNvPr id="119" name="TextBox 118"/>
          <p:cNvSpPr txBox="1"/>
          <p:nvPr/>
        </p:nvSpPr>
        <p:spPr>
          <a:xfrm>
            <a:off x="4824697"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-0,30%</a:t>
            </a:r>
          </a:p>
        </p:txBody>
      </p:sp>
      <p:sp>
        <p:nvSpPr>
          <p:cNvPr id="120" name="TextBox 119"/>
          <p:cNvSpPr txBox="1"/>
          <p:nvPr/>
        </p:nvSpPr>
        <p:spPr>
          <a:xfrm>
            <a:off x="5385555"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-0,27%</a:t>
            </a:r>
          </a:p>
        </p:txBody>
      </p:sp>
      <p:sp>
        <p:nvSpPr>
          <p:cNvPr id="121" name="TextBox 120"/>
          <p:cNvSpPr txBox="1"/>
          <p:nvPr/>
        </p:nvSpPr>
        <p:spPr>
          <a:xfrm>
            <a:off x="5946412" y="784539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-0,03%</a:t>
            </a:r>
          </a:p>
        </p:txBody>
      </p:sp>
      <p:sp>
        <p:nvSpPr>
          <p:cNvPr id="122" name="TextBox 121"/>
          <p:cNvSpPr txBox="1"/>
          <p:nvPr/>
        </p:nvSpPr>
        <p:spPr>
          <a:xfrm>
            <a:off x="6507270" y="784539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3,3</a:t>
            </a:r>
          </a:p>
        </p:txBody>
      </p:sp>
      <p:sp>
        <p:nvSpPr>
          <p:cNvPr id="123" name="TextBox 122"/>
          <p:cNvSpPr txBox="1"/>
          <p:nvPr/>
        </p:nvSpPr>
        <p:spPr>
          <a:xfrm>
            <a:off x="604800" y="8417941"/>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Comunicação</a:t>
            </a:r>
          </a:p>
        </p:txBody>
      </p:sp>
      <p:sp>
        <p:nvSpPr>
          <p:cNvPr id="124" name="TextBox 123"/>
          <p:cNvSpPr txBox="1"/>
          <p:nvPr/>
        </p:nvSpPr>
        <p:spPr>
          <a:xfrm>
            <a:off x="2020410" y="8426565"/>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1.747</a:t>
            </a:r>
          </a:p>
        </p:txBody>
      </p:sp>
      <p:sp>
        <p:nvSpPr>
          <p:cNvPr id="125" name="TextBox 124"/>
          <p:cNvSpPr txBox="1"/>
          <p:nvPr/>
        </p:nvSpPr>
        <p:spPr>
          <a:xfrm>
            <a:off x="2581267"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0,5%</a:t>
            </a:r>
          </a:p>
        </p:txBody>
      </p:sp>
      <p:sp>
        <p:nvSpPr>
          <p:cNvPr id="126" name="TextBox 125"/>
          <p:cNvSpPr txBox="1"/>
          <p:nvPr/>
        </p:nvSpPr>
        <p:spPr>
          <a:xfrm>
            <a:off x="3142125"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7,95%</a:t>
            </a:r>
          </a:p>
        </p:txBody>
      </p:sp>
      <p:sp>
        <p:nvSpPr>
          <p:cNvPr id="127" name="TextBox 126"/>
          <p:cNvSpPr txBox="1"/>
          <p:nvPr/>
        </p:nvSpPr>
        <p:spPr>
          <a:xfrm>
            <a:off x="3702982"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8,09%</a:t>
            </a:r>
          </a:p>
        </p:txBody>
      </p:sp>
      <p:sp>
        <p:nvSpPr>
          <p:cNvPr id="128" name="TextBox 127"/>
          <p:cNvSpPr txBox="1"/>
          <p:nvPr/>
        </p:nvSpPr>
        <p:spPr>
          <a:xfrm>
            <a:off x="4263840"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-0,13%</a:t>
            </a:r>
          </a:p>
        </p:txBody>
      </p:sp>
      <p:sp>
        <p:nvSpPr>
          <p:cNvPr id="129" name="TextBox 128"/>
          <p:cNvSpPr txBox="1"/>
          <p:nvPr/>
        </p:nvSpPr>
        <p:spPr>
          <a:xfrm>
            <a:off x="4824697"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-0,14%</a:t>
            </a:r>
          </a:p>
        </p:txBody>
      </p:sp>
      <p:sp>
        <p:nvSpPr>
          <p:cNvPr id="130" name="TextBox 129"/>
          <p:cNvSpPr txBox="1"/>
          <p:nvPr/>
        </p:nvSpPr>
        <p:spPr>
          <a:xfrm>
            <a:off x="5385555"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-0,16%</a:t>
            </a:r>
          </a:p>
        </p:txBody>
      </p:sp>
      <p:sp>
        <p:nvSpPr>
          <p:cNvPr id="131" name="TextBox 130"/>
          <p:cNvSpPr txBox="1"/>
          <p:nvPr/>
        </p:nvSpPr>
        <p:spPr>
          <a:xfrm>
            <a:off x="5946412" y="8426565"/>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0,02%</a:t>
            </a:r>
          </a:p>
        </p:txBody>
      </p:sp>
      <p:sp>
        <p:nvSpPr>
          <p:cNvPr id="132" name="TextBox 131"/>
          <p:cNvSpPr txBox="1"/>
          <p:nvPr/>
        </p:nvSpPr>
        <p:spPr>
          <a:xfrm>
            <a:off x="6507270" y="8426565"/>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4,2</a:t>
            </a:r>
          </a:p>
        </p:txBody>
      </p:sp>
      <p:sp>
        <p:nvSpPr>
          <p:cNvPr id="133" name="TextBox 132"/>
          <p:cNvSpPr txBox="1"/>
          <p:nvPr/>
        </p:nvSpPr>
        <p:spPr>
          <a:xfrm>
            <a:off x="604800" y="8999707"/>
            <a:ext cx="1425060" cy="143640"/>
          </a:xfrm>
          <a:prstGeom prst="rect">
            <a:avLst/>
          </a:prstGeom>
          <a:noFill/>
        </p:spPr>
        <p:txBody>
          <a:bodyPr wrap="none" lIns="0" rIns="0" tIns="0" bIns="0" anchor="t"/>
          <a:lstStyle/>
          <a:p>
            <a:pPr algn="l">
              <a:lnSpc>
                <a:spcPts val="968"/>
              </a:lnSpc>
            </a:pPr>
            <a:r>
              <a:rPr sz="922" b="0" i="0">
                <a:solidFill>
                  <a:srgbClr val="FFFFFF"/>
                </a:solidFill>
                <a:latin typeface="Versos"/>
              </a:rPr>
              <a:t>Metalurgia e siderurgia</a:t>
            </a:r>
          </a:p>
        </p:txBody>
      </p:sp>
      <p:sp>
        <p:nvSpPr>
          <p:cNvPr id="134" name="TextBox 133"/>
          <p:cNvSpPr txBox="1"/>
          <p:nvPr/>
        </p:nvSpPr>
        <p:spPr>
          <a:xfrm>
            <a:off x="2020410" y="9008330"/>
            <a:ext cx="536117" cy="136080"/>
          </a:xfrm>
          <a:prstGeom prst="rect">
            <a:avLst/>
          </a:prstGeom>
          <a:noFill/>
        </p:spPr>
        <p:txBody>
          <a:bodyPr wrap="none" lIns="0" rIns="0" tIns="0" bIns="0" anchor="t"/>
          <a:lstStyle/>
          <a:p>
            <a:pPr algn="ctr">
              <a:lnSpc>
                <a:spcPts val="1071"/>
              </a:lnSpc>
            </a:pPr>
            <a:r>
              <a:rPr sz="892" b="0" i="0">
                <a:solidFill>
                  <a:srgbClr val="C1F4D4"/>
                </a:solidFill>
                <a:latin typeface="Versos"/>
              </a:rPr>
              <a:t>1.120</a:t>
            </a:r>
          </a:p>
        </p:txBody>
      </p:sp>
      <p:sp>
        <p:nvSpPr>
          <p:cNvPr id="135" name="TextBox 134"/>
          <p:cNvSpPr txBox="1"/>
          <p:nvPr/>
        </p:nvSpPr>
        <p:spPr>
          <a:xfrm>
            <a:off x="2581267"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0,3%</a:t>
            </a:r>
          </a:p>
        </p:txBody>
      </p:sp>
      <p:sp>
        <p:nvSpPr>
          <p:cNvPr id="136" name="TextBox 135"/>
          <p:cNvSpPr txBox="1"/>
          <p:nvPr/>
        </p:nvSpPr>
        <p:spPr>
          <a:xfrm>
            <a:off x="3142125"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23,57%</a:t>
            </a:r>
          </a:p>
        </p:txBody>
      </p:sp>
      <p:sp>
        <p:nvSpPr>
          <p:cNvPr id="137" name="TextBox 136"/>
          <p:cNvSpPr txBox="1"/>
          <p:nvPr/>
        </p:nvSpPr>
        <p:spPr>
          <a:xfrm>
            <a:off x="3702982"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21,71%</a:t>
            </a:r>
          </a:p>
        </p:txBody>
      </p:sp>
      <p:sp>
        <p:nvSpPr>
          <p:cNvPr id="138" name="TextBox 137"/>
          <p:cNvSpPr txBox="1"/>
          <p:nvPr/>
        </p:nvSpPr>
        <p:spPr>
          <a:xfrm>
            <a:off x="4263840"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1,53%</a:t>
            </a:r>
          </a:p>
        </p:txBody>
      </p:sp>
      <p:sp>
        <p:nvSpPr>
          <p:cNvPr id="139" name="TextBox 138"/>
          <p:cNvSpPr txBox="1"/>
          <p:nvPr/>
        </p:nvSpPr>
        <p:spPr>
          <a:xfrm>
            <a:off x="4824697"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14,35%</a:t>
            </a:r>
          </a:p>
        </p:txBody>
      </p:sp>
      <p:sp>
        <p:nvSpPr>
          <p:cNvPr id="140" name="TextBox 139"/>
          <p:cNvSpPr txBox="1"/>
          <p:nvPr/>
        </p:nvSpPr>
        <p:spPr>
          <a:xfrm>
            <a:off x="5385555"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12,46%</a:t>
            </a:r>
          </a:p>
        </p:txBody>
      </p:sp>
      <p:sp>
        <p:nvSpPr>
          <p:cNvPr id="141" name="TextBox 140"/>
          <p:cNvSpPr txBox="1"/>
          <p:nvPr/>
        </p:nvSpPr>
        <p:spPr>
          <a:xfrm>
            <a:off x="5946412" y="9008330"/>
            <a:ext cx="536117" cy="136080"/>
          </a:xfrm>
          <a:prstGeom prst="rect">
            <a:avLst/>
          </a:prstGeom>
          <a:noFill/>
        </p:spPr>
        <p:txBody>
          <a:bodyPr wrap="none" lIns="0" rIns="0" tIns="0" bIns="0" anchor="t"/>
          <a:lstStyle/>
          <a:p>
            <a:pPr algn="ctr">
              <a:lnSpc>
                <a:spcPts val="1071"/>
              </a:lnSpc>
            </a:pPr>
            <a:r>
              <a:rPr sz="892" b="0" i="0">
                <a:solidFill>
                  <a:srgbClr val="FFFFFF"/>
                </a:solidFill>
                <a:latin typeface="Versos"/>
              </a:rPr>
              <a:t>1,68%</a:t>
            </a:r>
          </a:p>
        </p:txBody>
      </p:sp>
      <p:sp>
        <p:nvSpPr>
          <p:cNvPr id="142" name="TextBox 141"/>
          <p:cNvSpPr txBox="1"/>
          <p:nvPr/>
        </p:nvSpPr>
        <p:spPr>
          <a:xfrm>
            <a:off x="6507270" y="9008330"/>
            <a:ext cx="536608" cy="136080"/>
          </a:xfrm>
          <a:prstGeom prst="rect">
            <a:avLst/>
          </a:prstGeom>
          <a:noFill/>
        </p:spPr>
        <p:txBody>
          <a:bodyPr wrap="none" lIns="0" rIns="0" tIns="0" bIns="0" anchor="t"/>
          <a:lstStyle/>
          <a:p>
            <a:pPr algn="ctr">
              <a:lnSpc>
                <a:spcPts val="1071"/>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31/05/2021</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R$ 42.694.019,75</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D+31</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R$ 49.421.174,50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600901"/>
          </a:xfrm>
          <a:prstGeom prst="rect">
            <a:avLst/>
          </a:prstGeom>
          <a:noFill/>
        </p:spPr>
        <p:txBody>
          <a:bodyPr wrap="square" lIns="0" rIns="0" tIns="0" bIns="0" anchor="t"/>
          <a:lstStyle/>
          <a:p>
            <a:pPr algn="just">
              <a:lnSpc>
                <a:spcPts val="791"/>
              </a:lnSpc>
            </a:pPr>
            <a:r>
              <a:rPr sz="648"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103328"/>
            <a:ext cx="6758640" cy="902475"/>
          </a:xfrm>
          <a:prstGeom prst="rect">
            <a:avLst/>
          </a:prstGeom>
          <a:noFill/>
        </p:spPr>
        <p:txBody>
          <a:bodyPr wrap="square" lIns="0" rIns="0" tIns="0" bIns="0" anchor="t"/>
          <a:lstStyle/>
          <a:p>
            <a:pPr algn="just">
              <a:lnSpc>
                <a:spcPts val="791"/>
              </a:lnSpc>
            </a:pPr>
            <a:r>
              <a:rPr sz="648"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36870"/>
            <a:ext cx="6758640" cy="500377"/>
          </a:xfrm>
          <a:prstGeom prst="rect">
            <a:avLst/>
          </a:prstGeom>
          <a:noFill/>
        </p:spPr>
        <p:txBody>
          <a:bodyPr wrap="square" lIns="0" rIns="0" tIns="0" bIns="0" anchor="t"/>
          <a:lstStyle/>
          <a:p>
            <a:pPr algn="just">
              <a:lnSpc>
                <a:spcPts val="791"/>
              </a:lnSpc>
            </a:pPr>
            <a:r>
              <a:rPr sz="648"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68315"/>
            <a:ext cx="6758640" cy="399853"/>
          </a:xfrm>
          <a:prstGeom prst="rect">
            <a:avLst/>
          </a:prstGeom>
          <a:noFill/>
        </p:spPr>
        <p:txBody>
          <a:bodyPr wrap="square" lIns="0" rIns="0" tIns="0" bIns="0" anchor="t"/>
          <a:lstStyle/>
          <a:p>
            <a:pPr algn="just">
              <a:lnSpc>
                <a:spcPts val="791"/>
              </a:lnSpc>
            </a:pPr>
            <a:r>
              <a:rPr sz="648"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