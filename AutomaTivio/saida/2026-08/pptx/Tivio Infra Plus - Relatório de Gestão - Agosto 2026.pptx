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748440"/>
            <a:ext cx="6266332" cy="113400"/>
          </a:xfrm>
          <a:prstGeom prst="rect">
            <a:avLst/>
          </a:prstGeom>
          <a:noFill/>
        </p:spPr>
        <p:txBody>
          <a:bodyPr wrap="none" lIns="0" rIns="0" tIns="0" bIns="0" anchor="t"/>
          <a:lstStyle/>
          <a:p>
            <a:pPr algn="l">
              <a:lnSpc>
                <a:spcPts val="921"/>
              </a:lnSpc>
            </a:pPr>
            <a:r>
              <a:rPr sz="767" b="0" i="0">
                <a:solidFill>
                  <a:srgbClr val="FFFFFF"/>
                </a:solidFill>
                <a:latin typeface="Versos"/>
              </a:rPr>
              <a:t>TIVIO PLUS RF FUNDO INCENTIVADO DE INVESTIMENTO FINANCEIRO EM INFRA – RL </a:t>
            </a:r>
            <a:r>
              <a:rPr sz="629" b="0" i="0">
                <a:solidFill>
                  <a:srgbClr val="FFFFFF"/>
                </a:solidFill>
                <a:latin typeface="Versos"/>
              </a:rPr>
              <a:t>/ CNPJ 32.485.590/0001-86</a:t>
            </a:r>
          </a:p>
        </p:txBody>
      </p:sp>
      <p:sp>
        <p:nvSpPr>
          <p:cNvPr id="4" name="TextBox 3"/>
          <p:cNvSpPr txBox="1"/>
          <p:nvPr/>
        </p:nvSpPr>
        <p:spPr>
          <a:xfrm>
            <a:off x="400680" y="108864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5" name="TextBox 4"/>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6" name="TextBox 5"/>
          <p:cNvSpPr txBox="1"/>
          <p:nvPr/>
        </p:nvSpPr>
        <p:spPr>
          <a:xfrm>
            <a:off x="355320" y="2026080"/>
            <a:ext cx="6350400" cy="503921"/>
          </a:xfrm>
          <a:prstGeom prst="rect">
            <a:avLst/>
          </a:prstGeom>
          <a:noFill/>
        </p:spPr>
        <p:txBody>
          <a:bodyPr wrap="square" lIns="0" rIns="0" tIns="0" bIns="0" anchor="t"/>
          <a:lstStyle/>
          <a:p>
            <a:pPr algn="l">
              <a:lnSpc>
                <a:spcPts val="1299"/>
              </a:lnSpc>
            </a:pPr>
            <a:r>
              <a:rPr sz="1101" b="0" i="0">
                <a:solidFill>
                  <a:srgbClr val="1E1E1E"/>
                </a:solidFill>
                <a:latin typeface="Versos"/>
              </a:rPr>
              <a:t>O fundo busca promover o investimento em debêntures de infraestrutura (Lei 12.431/11) que oferece benefício fiscal para o cotista pessoa física. O fundo busca superar o retorno de ativos indexados à inflação.</a:t>
            </a:r>
          </a:p>
        </p:txBody>
      </p:sp>
      <p:sp>
        <p:nvSpPr>
          <p:cNvPr id="7" name="TextBox 6"/>
          <p:cNvSpPr txBox="1"/>
          <p:nvPr/>
        </p:nvSpPr>
        <p:spPr>
          <a:xfrm>
            <a:off x="1126440" y="275550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8" name="TextBox 7"/>
          <p:cNvSpPr txBox="1"/>
          <p:nvPr/>
        </p:nvSpPr>
        <p:spPr>
          <a:xfrm>
            <a:off x="2136881" y="275550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9" name="TextBox 8"/>
          <p:cNvSpPr txBox="1"/>
          <p:nvPr/>
        </p:nvSpPr>
        <p:spPr>
          <a:xfrm>
            <a:off x="3147322" y="275550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0" name="TextBox 9"/>
          <p:cNvSpPr txBox="1"/>
          <p:nvPr/>
        </p:nvSpPr>
        <p:spPr>
          <a:xfrm>
            <a:off x="4157763" y="275550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1" name="TextBox 10"/>
          <p:cNvSpPr txBox="1"/>
          <p:nvPr/>
        </p:nvSpPr>
        <p:spPr>
          <a:xfrm>
            <a:off x="5168205" y="275550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2" name="TextBox 11"/>
          <p:cNvSpPr txBox="1"/>
          <p:nvPr/>
        </p:nvSpPr>
        <p:spPr>
          <a:xfrm>
            <a:off x="6178646" y="2755501"/>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3" name="TextBox 12"/>
          <p:cNvSpPr txBox="1"/>
          <p:nvPr/>
        </p:nvSpPr>
        <p:spPr>
          <a:xfrm>
            <a:off x="340200" y="313161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4" name="TextBox 13"/>
          <p:cNvSpPr txBox="1"/>
          <p:nvPr/>
        </p:nvSpPr>
        <p:spPr>
          <a:xfrm>
            <a:off x="1126440" y="312783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1,26%</a:t>
            </a:r>
          </a:p>
        </p:txBody>
      </p:sp>
      <p:sp>
        <p:nvSpPr>
          <p:cNvPr id="15" name="TextBox 14"/>
          <p:cNvSpPr txBox="1"/>
          <p:nvPr/>
        </p:nvSpPr>
        <p:spPr>
          <a:xfrm>
            <a:off x="2136881" y="312783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5,98%</a:t>
            </a:r>
          </a:p>
        </p:txBody>
      </p:sp>
      <p:sp>
        <p:nvSpPr>
          <p:cNvPr id="16" name="TextBox 15"/>
          <p:cNvSpPr txBox="1"/>
          <p:nvPr/>
        </p:nvSpPr>
        <p:spPr>
          <a:xfrm>
            <a:off x="3147322" y="312783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9,91%</a:t>
            </a:r>
          </a:p>
        </p:txBody>
      </p:sp>
      <p:sp>
        <p:nvSpPr>
          <p:cNvPr id="17" name="TextBox 16"/>
          <p:cNvSpPr txBox="1"/>
          <p:nvPr/>
        </p:nvSpPr>
        <p:spPr>
          <a:xfrm>
            <a:off x="4157763" y="312783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19,03%</a:t>
            </a:r>
          </a:p>
        </p:txBody>
      </p:sp>
      <p:sp>
        <p:nvSpPr>
          <p:cNvPr id="18" name="TextBox 17"/>
          <p:cNvSpPr txBox="1"/>
          <p:nvPr/>
        </p:nvSpPr>
        <p:spPr>
          <a:xfrm>
            <a:off x="5168205" y="312783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29,49%</a:t>
            </a:r>
          </a:p>
        </p:txBody>
      </p:sp>
      <p:sp>
        <p:nvSpPr>
          <p:cNvPr id="19" name="TextBox 18"/>
          <p:cNvSpPr txBox="1"/>
          <p:nvPr/>
        </p:nvSpPr>
        <p:spPr>
          <a:xfrm>
            <a:off x="6178646" y="3127831"/>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77,41%</a:t>
            </a:r>
          </a:p>
        </p:txBody>
      </p:sp>
      <p:sp>
        <p:nvSpPr>
          <p:cNvPr id="20" name="TextBox 19"/>
          <p:cNvSpPr txBox="1"/>
          <p:nvPr/>
        </p:nvSpPr>
        <p:spPr>
          <a:xfrm>
            <a:off x="340200" y="352284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IMA-B 5</a:t>
            </a:r>
          </a:p>
        </p:txBody>
      </p:sp>
      <p:sp>
        <p:nvSpPr>
          <p:cNvPr id="21" name="TextBox 20"/>
          <p:cNvSpPr txBox="1"/>
          <p:nvPr/>
        </p:nvSpPr>
        <p:spPr>
          <a:xfrm>
            <a:off x="1126440" y="35190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1,28%</a:t>
            </a:r>
          </a:p>
        </p:txBody>
      </p:sp>
      <p:sp>
        <p:nvSpPr>
          <p:cNvPr id="22" name="TextBox 21"/>
          <p:cNvSpPr txBox="1"/>
          <p:nvPr/>
        </p:nvSpPr>
        <p:spPr>
          <a:xfrm>
            <a:off x="2136881" y="35190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9,18%</a:t>
            </a:r>
          </a:p>
        </p:txBody>
      </p:sp>
      <p:sp>
        <p:nvSpPr>
          <p:cNvPr id="23" name="TextBox 22"/>
          <p:cNvSpPr txBox="1"/>
          <p:nvPr/>
        </p:nvSpPr>
        <p:spPr>
          <a:xfrm>
            <a:off x="3147322" y="35190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13,34%</a:t>
            </a:r>
          </a:p>
        </p:txBody>
      </p:sp>
      <p:sp>
        <p:nvSpPr>
          <p:cNvPr id="24" name="TextBox 23"/>
          <p:cNvSpPr txBox="1"/>
          <p:nvPr/>
        </p:nvSpPr>
        <p:spPr>
          <a:xfrm>
            <a:off x="4157763" y="35190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23,32%</a:t>
            </a:r>
          </a:p>
        </p:txBody>
      </p:sp>
      <p:sp>
        <p:nvSpPr>
          <p:cNvPr id="25" name="TextBox 24"/>
          <p:cNvSpPr txBox="1"/>
          <p:nvPr/>
        </p:nvSpPr>
        <p:spPr>
          <a:xfrm>
            <a:off x="5168205" y="35190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33,11%</a:t>
            </a:r>
          </a:p>
        </p:txBody>
      </p:sp>
      <p:sp>
        <p:nvSpPr>
          <p:cNvPr id="26" name="TextBox 25"/>
          <p:cNvSpPr txBox="1"/>
          <p:nvPr/>
        </p:nvSpPr>
        <p:spPr>
          <a:xfrm>
            <a:off x="6178646" y="351906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87,91%</a:t>
            </a:r>
          </a:p>
        </p:txBody>
      </p:sp>
      <p:sp>
        <p:nvSpPr>
          <p:cNvPr id="27" name="TextBox 26"/>
          <p:cNvSpPr txBox="1"/>
          <p:nvPr/>
        </p:nvSpPr>
        <p:spPr>
          <a:xfrm>
            <a:off x="340200" y="391596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Alfa</a:t>
            </a:r>
          </a:p>
        </p:txBody>
      </p:sp>
      <p:sp>
        <p:nvSpPr>
          <p:cNvPr id="28" name="TextBox 27"/>
          <p:cNvSpPr txBox="1"/>
          <p:nvPr/>
        </p:nvSpPr>
        <p:spPr>
          <a:xfrm>
            <a:off x="1126440" y="39121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−0,01%</a:t>
            </a:r>
          </a:p>
        </p:txBody>
      </p:sp>
      <p:sp>
        <p:nvSpPr>
          <p:cNvPr id="29" name="TextBox 28"/>
          <p:cNvSpPr txBox="1"/>
          <p:nvPr/>
        </p:nvSpPr>
        <p:spPr>
          <a:xfrm>
            <a:off x="2136881" y="39121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−3,20%</a:t>
            </a:r>
          </a:p>
        </p:txBody>
      </p:sp>
      <p:sp>
        <p:nvSpPr>
          <p:cNvPr id="30" name="TextBox 29"/>
          <p:cNvSpPr txBox="1"/>
          <p:nvPr/>
        </p:nvSpPr>
        <p:spPr>
          <a:xfrm>
            <a:off x="3147322" y="39121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−3,44%</a:t>
            </a:r>
          </a:p>
        </p:txBody>
      </p:sp>
      <p:sp>
        <p:nvSpPr>
          <p:cNvPr id="31" name="TextBox 30"/>
          <p:cNvSpPr txBox="1"/>
          <p:nvPr/>
        </p:nvSpPr>
        <p:spPr>
          <a:xfrm>
            <a:off x="4157763" y="39121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−4,28%</a:t>
            </a:r>
          </a:p>
        </p:txBody>
      </p:sp>
      <p:sp>
        <p:nvSpPr>
          <p:cNvPr id="32" name="TextBox 31"/>
          <p:cNvSpPr txBox="1"/>
          <p:nvPr/>
        </p:nvSpPr>
        <p:spPr>
          <a:xfrm>
            <a:off x="5168205" y="39121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−3,62%</a:t>
            </a:r>
          </a:p>
        </p:txBody>
      </p:sp>
      <p:sp>
        <p:nvSpPr>
          <p:cNvPr id="33" name="TextBox 32"/>
          <p:cNvSpPr txBox="1"/>
          <p:nvPr/>
        </p:nvSpPr>
        <p:spPr>
          <a:xfrm>
            <a:off x="6178646" y="391218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−10,50%</a:t>
            </a:r>
          </a:p>
        </p:txBody>
      </p:sp>
      <p:sp>
        <p:nvSpPr>
          <p:cNvPr id="34" name="TextBox 33"/>
          <p:cNvSpPr txBox="1"/>
          <p:nvPr/>
        </p:nvSpPr>
        <p:spPr>
          <a:xfrm>
            <a:off x="355320" y="4248601"/>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31/08/2026</a:t>
            </a:r>
          </a:p>
        </p:txBody>
      </p:sp>
      <p:sp>
        <p:nvSpPr>
          <p:cNvPr id="35" name="TextBox 34"/>
          <p:cNvSpPr txBox="1"/>
          <p:nvPr/>
        </p:nvSpPr>
        <p:spPr>
          <a:xfrm>
            <a:off x="400680" y="4906321"/>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36" name="TextBox 35"/>
          <p:cNvSpPr txBox="1"/>
          <p:nvPr/>
        </p:nvSpPr>
        <p:spPr>
          <a:xfrm>
            <a:off x="400680" y="541992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AUREN</a:t>
            </a:r>
          </a:p>
        </p:txBody>
      </p:sp>
      <p:sp>
        <p:nvSpPr>
          <p:cNvPr id="37" name="TextBox 36"/>
          <p:cNvSpPr txBox="1"/>
          <p:nvPr/>
        </p:nvSpPr>
        <p:spPr>
          <a:xfrm>
            <a:off x="2831928" y="5418039"/>
            <a:ext cx="366584" cy="143640"/>
          </a:xfrm>
          <a:prstGeom prst="rect">
            <a:avLst/>
          </a:prstGeom>
          <a:noFill/>
        </p:spPr>
        <p:txBody>
          <a:bodyPr wrap="none" lIns="0" rIns="0" tIns="0" bIns="0" anchor="t"/>
          <a:lstStyle/>
          <a:p>
            <a:pPr algn="l">
              <a:lnSpc>
                <a:spcPts val="1107"/>
              </a:lnSpc>
            </a:pPr>
            <a:r>
              <a:rPr sz="922" b="0" i="0">
                <a:solidFill>
                  <a:srgbClr val="5A82A0"/>
                </a:solidFill>
                <a:latin typeface="Versos"/>
              </a:rPr>
              <a:t>7,68%</a:t>
            </a:r>
          </a:p>
        </p:txBody>
      </p:sp>
      <p:sp>
        <p:nvSpPr>
          <p:cNvPr id="38" name="TextBox 37"/>
          <p:cNvSpPr txBox="1"/>
          <p:nvPr/>
        </p:nvSpPr>
        <p:spPr>
          <a:xfrm>
            <a:off x="400680" y="5903769"/>
            <a:ext cx="762898" cy="136080"/>
          </a:xfrm>
          <a:prstGeom prst="rect">
            <a:avLst/>
          </a:prstGeom>
          <a:noFill/>
        </p:spPr>
        <p:txBody>
          <a:bodyPr wrap="none" lIns="0" rIns="0" tIns="0" bIns="0" anchor="t"/>
          <a:lstStyle/>
          <a:p>
            <a:pPr algn="r">
              <a:lnSpc>
                <a:spcPts val="982"/>
              </a:lnSpc>
            </a:pPr>
            <a:r>
              <a:rPr sz="892" b="0" i="0">
                <a:solidFill>
                  <a:srgbClr val="222222"/>
                </a:solidFill>
                <a:latin typeface="Versos"/>
              </a:rPr>
              <a:t>EQUATORIAL</a:t>
            </a:r>
          </a:p>
        </p:txBody>
      </p:sp>
      <p:sp>
        <p:nvSpPr>
          <p:cNvPr id="39" name="TextBox 38"/>
          <p:cNvSpPr txBox="1"/>
          <p:nvPr/>
        </p:nvSpPr>
        <p:spPr>
          <a:xfrm>
            <a:off x="2737074" y="5901879"/>
            <a:ext cx="354422" cy="143640"/>
          </a:xfrm>
          <a:prstGeom prst="rect">
            <a:avLst/>
          </a:prstGeom>
          <a:noFill/>
        </p:spPr>
        <p:txBody>
          <a:bodyPr wrap="none" lIns="0" rIns="0" tIns="0" bIns="0" anchor="t"/>
          <a:lstStyle/>
          <a:p>
            <a:pPr algn="l">
              <a:lnSpc>
                <a:spcPts val="1107"/>
              </a:lnSpc>
            </a:pPr>
            <a:r>
              <a:rPr sz="922" b="0" i="0">
                <a:solidFill>
                  <a:srgbClr val="5A82A0"/>
                </a:solidFill>
                <a:latin typeface="Versos"/>
              </a:rPr>
              <a:t>7,24%</a:t>
            </a:r>
          </a:p>
        </p:txBody>
      </p:sp>
      <p:sp>
        <p:nvSpPr>
          <p:cNvPr id="40" name="TextBox 39"/>
          <p:cNvSpPr txBox="1"/>
          <p:nvPr/>
        </p:nvSpPr>
        <p:spPr>
          <a:xfrm>
            <a:off x="400680" y="638760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EDF</a:t>
            </a:r>
          </a:p>
        </p:txBody>
      </p:sp>
      <p:sp>
        <p:nvSpPr>
          <p:cNvPr id="41" name="TextBox 40"/>
          <p:cNvSpPr txBox="1"/>
          <p:nvPr/>
        </p:nvSpPr>
        <p:spPr>
          <a:xfrm>
            <a:off x="2372540" y="6385719"/>
            <a:ext cx="376780" cy="143640"/>
          </a:xfrm>
          <a:prstGeom prst="rect">
            <a:avLst/>
          </a:prstGeom>
          <a:noFill/>
        </p:spPr>
        <p:txBody>
          <a:bodyPr wrap="none" lIns="0" rIns="0" tIns="0" bIns="0" anchor="t"/>
          <a:lstStyle/>
          <a:p>
            <a:pPr algn="l">
              <a:lnSpc>
                <a:spcPts val="1107"/>
              </a:lnSpc>
            </a:pPr>
            <a:r>
              <a:rPr sz="922" b="0" i="0">
                <a:solidFill>
                  <a:srgbClr val="5A82A0"/>
                </a:solidFill>
                <a:latin typeface="Versos"/>
              </a:rPr>
              <a:t>5,54%</a:t>
            </a:r>
          </a:p>
        </p:txBody>
      </p:sp>
      <p:sp>
        <p:nvSpPr>
          <p:cNvPr id="42" name="TextBox 41"/>
          <p:cNvSpPr txBox="1"/>
          <p:nvPr/>
        </p:nvSpPr>
        <p:spPr>
          <a:xfrm>
            <a:off x="400680" y="687144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SINOP</a:t>
            </a:r>
          </a:p>
        </p:txBody>
      </p:sp>
      <p:sp>
        <p:nvSpPr>
          <p:cNvPr id="43" name="TextBox 42"/>
          <p:cNvSpPr txBox="1"/>
          <p:nvPr/>
        </p:nvSpPr>
        <p:spPr>
          <a:xfrm>
            <a:off x="2041436" y="6869559"/>
            <a:ext cx="383414" cy="143640"/>
          </a:xfrm>
          <a:prstGeom prst="rect">
            <a:avLst/>
          </a:prstGeom>
          <a:noFill/>
        </p:spPr>
        <p:txBody>
          <a:bodyPr wrap="none" lIns="0" rIns="0" tIns="0" bIns="0" anchor="t"/>
          <a:lstStyle/>
          <a:p>
            <a:pPr algn="l">
              <a:lnSpc>
                <a:spcPts val="1107"/>
              </a:lnSpc>
            </a:pPr>
            <a:r>
              <a:rPr sz="922" b="0" i="0">
                <a:solidFill>
                  <a:srgbClr val="5A82A0"/>
                </a:solidFill>
                <a:latin typeface="Versos"/>
              </a:rPr>
              <a:t>3,99%</a:t>
            </a:r>
          </a:p>
        </p:txBody>
      </p:sp>
      <p:sp>
        <p:nvSpPr>
          <p:cNvPr id="44" name="TextBox 43"/>
          <p:cNvSpPr txBox="1"/>
          <p:nvPr/>
        </p:nvSpPr>
        <p:spPr>
          <a:xfrm>
            <a:off x="400680" y="7355289"/>
            <a:ext cx="773340" cy="136080"/>
          </a:xfrm>
          <a:prstGeom prst="rect">
            <a:avLst/>
          </a:prstGeom>
          <a:noFill/>
        </p:spPr>
        <p:txBody>
          <a:bodyPr wrap="none" lIns="0" rIns="0" tIns="0" bIns="0" anchor="t"/>
          <a:lstStyle/>
          <a:p>
            <a:pPr algn="r">
              <a:lnSpc>
                <a:spcPts val="982"/>
              </a:lnSpc>
            </a:pPr>
            <a:r>
              <a:rPr sz="892" b="0" i="0">
                <a:solidFill>
                  <a:srgbClr val="222222"/>
                </a:solidFill>
                <a:latin typeface="Versos"/>
              </a:rPr>
              <a:t>ELETROBRAS</a:t>
            </a:r>
          </a:p>
        </p:txBody>
      </p:sp>
      <p:sp>
        <p:nvSpPr>
          <p:cNvPr id="45" name="TextBox 44"/>
          <p:cNvSpPr txBox="1"/>
          <p:nvPr/>
        </p:nvSpPr>
        <p:spPr>
          <a:xfrm>
            <a:off x="1968435" y="7353399"/>
            <a:ext cx="376780" cy="143640"/>
          </a:xfrm>
          <a:prstGeom prst="rect">
            <a:avLst/>
          </a:prstGeom>
          <a:noFill/>
        </p:spPr>
        <p:txBody>
          <a:bodyPr wrap="none" lIns="0" rIns="0" tIns="0" bIns="0" anchor="t"/>
          <a:lstStyle/>
          <a:p>
            <a:pPr algn="l">
              <a:lnSpc>
                <a:spcPts val="1107"/>
              </a:lnSpc>
            </a:pPr>
            <a:r>
              <a:rPr sz="922" b="0" i="0">
                <a:solidFill>
                  <a:srgbClr val="5A82A0"/>
                </a:solidFill>
                <a:latin typeface="Versos"/>
              </a:rPr>
              <a:t>3,65%</a:t>
            </a:r>
          </a:p>
        </p:txBody>
      </p:sp>
      <p:sp>
        <p:nvSpPr>
          <p:cNvPr id="46" name="TextBox 45"/>
          <p:cNvSpPr txBox="1"/>
          <p:nvPr/>
        </p:nvSpPr>
        <p:spPr>
          <a:xfrm>
            <a:off x="400680" y="7930440"/>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47" name="TextBox 46"/>
          <p:cNvSpPr txBox="1"/>
          <p:nvPr/>
        </p:nvSpPr>
        <p:spPr>
          <a:xfrm>
            <a:off x="400680" y="8349429"/>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48" name="TextBox 47"/>
          <p:cNvSpPr txBox="1"/>
          <p:nvPr/>
        </p:nvSpPr>
        <p:spPr>
          <a:xfrm>
            <a:off x="2960448" y="8347539"/>
            <a:ext cx="476289" cy="143640"/>
          </a:xfrm>
          <a:prstGeom prst="rect">
            <a:avLst/>
          </a:prstGeom>
          <a:noFill/>
        </p:spPr>
        <p:txBody>
          <a:bodyPr wrap="none" lIns="0" rIns="0" tIns="0" bIns="0" anchor="t"/>
          <a:lstStyle/>
          <a:p>
            <a:pPr algn="l">
              <a:lnSpc>
                <a:spcPts val="1142"/>
              </a:lnSpc>
            </a:pPr>
            <a:r>
              <a:rPr sz="952" b="0" i="0">
                <a:solidFill>
                  <a:srgbClr val="111111"/>
                </a:solidFill>
                <a:latin typeface="Versos"/>
              </a:rPr>
              <a:t>35,39%</a:t>
            </a:r>
          </a:p>
        </p:txBody>
      </p:sp>
      <p:sp>
        <p:nvSpPr>
          <p:cNvPr id="49" name="TextBox 48"/>
          <p:cNvSpPr txBox="1"/>
          <p:nvPr/>
        </p:nvSpPr>
        <p:spPr>
          <a:xfrm>
            <a:off x="400680" y="864403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0" name="TextBox 49"/>
          <p:cNvSpPr txBox="1"/>
          <p:nvPr/>
        </p:nvSpPr>
        <p:spPr>
          <a:xfrm>
            <a:off x="2453810" y="8642143"/>
            <a:ext cx="467321" cy="143640"/>
          </a:xfrm>
          <a:prstGeom prst="rect">
            <a:avLst/>
          </a:prstGeom>
          <a:noFill/>
        </p:spPr>
        <p:txBody>
          <a:bodyPr wrap="none" lIns="0" rIns="0" tIns="0" bIns="0" anchor="t"/>
          <a:lstStyle/>
          <a:p>
            <a:pPr algn="l">
              <a:lnSpc>
                <a:spcPts val="1142"/>
              </a:lnSpc>
            </a:pPr>
            <a:r>
              <a:rPr sz="952" b="0" i="0">
                <a:solidFill>
                  <a:srgbClr val="111111"/>
                </a:solidFill>
                <a:latin typeface="Versos"/>
              </a:rPr>
              <a:t>26,04%</a:t>
            </a:r>
          </a:p>
        </p:txBody>
      </p:sp>
      <p:sp>
        <p:nvSpPr>
          <p:cNvPr id="51" name="TextBox 50"/>
          <p:cNvSpPr txBox="1"/>
          <p:nvPr/>
        </p:nvSpPr>
        <p:spPr>
          <a:xfrm>
            <a:off x="400680" y="893863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2" name="TextBox 51"/>
          <p:cNvSpPr txBox="1"/>
          <p:nvPr/>
        </p:nvSpPr>
        <p:spPr>
          <a:xfrm>
            <a:off x="1643355" y="8936746"/>
            <a:ext cx="414004" cy="143640"/>
          </a:xfrm>
          <a:prstGeom prst="rect">
            <a:avLst/>
          </a:prstGeom>
          <a:noFill/>
        </p:spPr>
        <p:txBody>
          <a:bodyPr wrap="none" lIns="0" rIns="0" tIns="0" bIns="0" anchor="t"/>
          <a:lstStyle/>
          <a:p>
            <a:pPr algn="l">
              <a:lnSpc>
                <a:spcPts val="1142"/>
              </a:lnSpc>
            </a:pPr>
            <a:r>
              <a:rPr sz="952" b="0" i="0">
                <a:solidFill>
                  <a:srgbClr val="111111"/>
                </a:solidFill>
                <a:latin typeface="Versos"/>
              </a:rPr>
              <a:t>11,08%</a:t>
            </a:r>
          </a:p>
        </p:txBody>
      </p:sp>
      <p:sp>
        <p:nvSpPr>
          <p:cNvPr id="53" name="TextBox 52"/>
          <p:cNvSpPr txBox="1"/>
          <p:nvPr/>
        </p:nvSpPr>
        <p:spPr>
          <a:xfrm>
            <a:off x="400680" y="9233240"/>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4" name="TextBox 53"/>
          <p:cNvSpPr txBox="1"/>
          <p:nvPr/>
        </p:nvSpPr>
        <p:spPr>
          <a:xfrm>
            <a:off x="1518969" y="9231350"/>
            <a:ext cx="387714" cy="143640"/>
          </a:xfrm>
          <a:prstGeom prst="rect">
            <a:avLst/>
          </a:prstGeom>
          <a:noFill/>
        </p:spPr>
        <p:txBody>
          <a:bodyPr wrap="none" lIns="0" rIns="0" tIns="0" bIns="0" anchor="t"/>
          <a:lstStyle/>
          <a:p>
            <a:pPr algn="l">
              <a:lnSpc>
                <a:spcPts val="1142"/>
              </a:lnSpc>
            </a:pPr>
            <a:r>
              <a:rPr sz="952" b="0" i="0">
                <a:solidFill>
                  <a:srgbClr val="111111"/>
                </a:solidFill>
                <a:latin typeface="Versos"/>
              </a:rPr>
              <a:t>8,78%</a:t>
            </a:r>
          </a:p>
        </p:txBody>
      </p:sp>
      <p:sp>
        <p:nvSpPr>
          <p:cNvPr id="55" name="TextBox 54"/>
          <p:cNvSpPr txBox="1"/>
          <p:nvPr/>
        </p:nvSpPr>
        <p:spPr>
          <a:xfrm>
            <a:off x="400680" y="9527844"/>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6" name="TextBox 55"/>
          <p:cNvSpPr txBox="1"/>
          <p:nvPr/>
        </p:nvSpPr>
        <p:spPr>
          <a:xfrm>
            <a:off x="1320046" y="9525954"/>
            <a:ext cx="318304" cy="143640"/>
          </a:xfrm>
          <a:prstGeom prst="rect">
            <a:avLst/>
          </a:prstGeom>
          <a:noFill/>
        </p:spPr>
        <p:txBody>
          <a:bodyPr wrap="none" lIns="0" rIns="0" tIns="0" bIns="0" anchor="t"/>
          <a:lstStyle/>
          <a:p>
            <a:pPr algn="l">
              <a:lnSpc>
                <a:spcPts val="1142"/>
              </a:lnSpc>
            </a:pPr>
            <a:r>
              <a:rPr sz="952" b="0" i="0">
                <a:solidFill>
                  <a:srgbClr val="111111"/>
                </a:solidFill>
                <a:latin typeface="Versos"/>
              </a:rPr>
              <a:t>5,11%</a:t>
            </a:r>
          </a:p>
        </p:txBody>
      </p:sp>
      <p:sp>
        <p:nvSpPr>
          <p:cNvPr id="57" name="TextBox 56"/>
          <p:cNvSpPr txBox="1"/>
          <p:nvPr/>
        </p:nvSpPr>
        <p:spPr>
          <a:xfrm>
            <a:off x="400680" y="982244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8" name="TextBox 57"/>
          <p:cNvSpPr txBox="1"/>
          <p:nvPr/>
        </p:nvSpPr>
        <p:spPr>
          <a:xfrm>
            <a:off x="1175461" y="9820558"/>
            <a:ext cx="390663" cy="143640"/>
          </a:xfrm>
          <a:prstGeom prst="rect">
            <a:avLst/>
          </a:prstGeom>
          <a:noFill/>
        </p:spPr>
        <p:txBody>
          <a:bodyPr wrap="none" lIns="0" rIns="0" tIns="0" bIns="0" anchor="t"/>
          <a:lstStyle/>
          <a:p>
            <a:pPr algn="l">
              <a:lnSpc>
                <a:spcPts val="1142"/>
              </a:lnSpc>
            </a:pPr>
            <a:r>
              <a:rPr sz="952" b="0" i="0">
                <a:solidFill>
                  <a:srgbClr val="111111"/>
                </a:solidFill>
                <a:latin typeface="Versos"/>
              </a:rPr>
              <a:t>2,44%</a:t>
            </a:r>
          </a:p>
        </p:txBody>
      </p:sp>
      <p:sp>
        <p:nvSpPr>
          <p:cNvPr id="59" name="TextBox 58"/>
          <p:cNvSpPr txBox="1"/>
          <p:nvPr/>
        </p:nvSpPr>
        <p:spPr>
          <a:xfrm>
            <a:off x="3802680" y="4906321"/>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60" name="TextBox 59"/>
          <p:cNvSpPr txBox="1"/>
          <p:nvPr/>
        </p:nvSpPr>
        <p:spPr>
          <a:xfrm>
            <a:off x="3802680" y="541815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61" name="TextBox 60"/>
          <p:cNvSpPr txBox="1"/>
          <p:nvPr/>
        </p:nvSpPr>
        <p:spPr>
          <a:xfrm>
            <a:off x="6752497" y="5410479"/>
            <a:ext cx="471006" cy="143640"/>
          </a:xfrm>
          <a:prstGeom prst="rect">
            <a:avLst/>
          </a:prstGeom>
          <a:noFill/>
        </p:spPr>
        <p:txBody>
          <a:bodyPr wrap="none" lIns="0" rIns="0" tIns="0" bIns="0" anchor="t"/>
          <a:lstStyle/>
          <a:p>
            <a:pPr algn="l">
              <a:lnSpc>
                <a:spcPts val="1142"/>
              </a:lnSpc>
            </a:pPr>
            <a:r>
              <a:rPr sz="952" b="0" i="0">
                <a:solidFill>
                  <a:srgbClr val="111111"/>
                </a:solidFill>
                <a:latin typeface="Versos"/>
              </a:rPr>
              <a:t>55,85%</a:t>
            </a:r>
          </a:p>
        </p:txBody>
      </p:sp>
      <p:sp>
        <p:nvSpPr>
          <p:cNvPr id="62" name="TextBox 61"/>
          <p:cNvSpPr txBox="1"/>
          <p:nvPr/>
        </p:nvSpPr>
        <p:spPr>
          <a:xfrm>
            <a:off x="3802680" y="588687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Transporte e Logística</a:t>
            </a:r>
          </a:p>
        </p:txBody>
      </p:sp>
      <p:sp>
        <p:nvSpPr>
          <p:cNvPr id="63" name="TextBox 62"/>
          <p:cNvSpPr txBox="1"/>
          <p:nvPr/>
        </p:nvSpPr>
        <p:spPr>
          <a:xfrm>
            <a:off x="5834548" y="5879199"/>
            <a:ext cx="438083" cy="143640"/>
          </a:xfrm>
          <a:prstGeom prst="rect">
            <a:avLst/>
          </a:prstGeom>
          <a:noFill/>
        </p:spPr>
        <p:txBody>
          <a:bodyPr wrap="none" lIns="0" rIns="0" tIns="0" bIns="0" anchor="t"/>
          <a:lstStyle/>
          <a:p>
            <a:pPr algn="l">
              <a:lnSpc>
                <a:spcPts val="1142"/>
              </a:lnSpc>
            </a:pPr>
            <a:r>
              <a:rPr sz="952" b="0" i="0">
                <a:solidFill>
                  <a:srgbClr val="111111"/>
                </a:solidFill>
                <a:latin typeface="Versos"/>
              </a:rPr>
              <a:t>15,29%</a:t>
            </a:r>
          </a:p>
        </p:txBody>
      </p:sp>
      <p:sp>
        <p:nvSpPr>
          <p:cNvPr id="64" name="TextBox 63"/>
          <p:cNvSpPr txBox="1"/>
          <p:nvPr/>
        </p:nvSpPr>
        <p:spPr>
          <a:xfrm>
            <a:off x="3802680" y="635559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Saneamento</a:t>
            </a:r>
          </a:p>
        </p:txBody>
      </p:sp>
      <p:sp>
        <p:nvSpPr>
          <p:cNvPr id="65" name="TextBox 64"/>
          <p:cNvSpPr txBox="1"/>
          <p:nvPr/>
        </p:nvSpPr>
        <p:spPr>
          <a:xfrm>
            <a:off x="5654289" y="6347919"/>
            <a:ext cx="372849" cy="143640"/>
          </a:xfrm>
          <a:prstGeom prst="rect">
            <a:avLst/>
          </a:prstGeom>
          <a:noFill/>
        </p:spPr>
        <p:txBody>
          <a:bodyPr wrap="none" lIns="0" rIns="0" tIns="0" bIns="0" anchor="t"/>
          <a:lstStyle/>
          <a:p>
            <a:pPr algn="l">
              <a:lnSpc>
                <a:spcPts val="1142"/>
              </a:lnSpc>
            </a:pPr>
            <a:r>
              <a:rPr sz="952" b="0" i="0">
                <a:solidFill>
                  <a:srgbClr val="111111"/>
                </a:solidFill>
                <a:latin typeface="Versos"/>
              </a:rPr>
              <a:t>7,32%</a:t>
            </a:r>
          </a:p>
        </p:txBody>
      </p:sp>
      <p:sp>
        <p:nvSpPr>
          <p:cNvPr id="66" name="TextBox 65"/>
          <p:cNvSpPr txBox="1"/>
          <p:nvPr/>
        </p:nvSpPr>
        <p:spPr>
          <a:xfrm>
            <a:off x="3802680" y="682431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67" name="TextBox 66"/>
          <p:cNvSpPr txBox="1"/>
          <p:nvPr/>
        </p:nvSpPr>
        <p:spPr>
          <a:xfrm>
            <a:off x="5610110" y="6816639"/>
            <a:ext cx="396314" cy="143640"/>
          </a:xfrm>
          <a:prstGeom prst="rect">
            <a:avLst/>
          </a:prstGeom>
          <a:noFill/>
        </p:spPr>
        <p:txBody>
          <a:bodyPr wrap="none" lIns="0" rIns="0" tIns="0" bIns="0" anchor="t"/>
          <a:lstStyle/>
          <a:p>
            <a:pPr algn="l">
              <a:lnSpc>
                <a:spcPts val="1142"/>
              </a:lnSpc>
            </a:pPr>
            <a:r>
              <a:rPr sz="952" b="0" i="0">
                <a:solidFill>
                  <a:srgbClr val="111111"/>
                </a:solidFill>
                <a:latin typeface="Versos"/>
              </a:rPr>
              <a:t>5,38%</a:t>
            </a:r>
          </a:p>
        </p:txBody>
      </p:sp>
      <p:sp>
        <p:nvSpPr>
          <p:cNvPr id="68" name="TextBox 67"/>
          <p:cNvSpPr txBox="1"/>
          <p:nvPr/>
        </p:nvSpPr>
        <p:spPr>
          <a:xfrm>
            <a:off x="3802680" y="729303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Petróleo e Gás</a:t>
            </a:r>
          </a:p>
        </p:txBody>
      </p:sp>
      <p:sp>
        <p:nvSpPr>
          <p:cNvPr id="69" name="TextBox 68"/>
          <p:cNvSpPr txBox="1"/>
          <p:nvPr/>
        </p:nvSpPr>
        <p:spPr>
          <a:xfrm>
            <a:off x="5597943" y="7285359"/>
            <a:ext cx="396068" cy="143640"/>
          </a:xfrm>
          <a:prstGeom prst="rect">
            <a:avLst/>
          </a:prstGeom>
          <a:noFill/>
        </p:spPr>
        <p:txBody>
          <a:bodyPr wrap="none" lIns="0" rIns="0" tIns="0" bIns="0" anchor="t"/>
          <a:lstStyle/>
          <a:p>
            <a:pPr algn="l">
              <a:lnSpc>
                <a:spcPts val="1142"/>
              </a:lnSpc>
            </a:pPr>
            <a:r>
              <a:rPr sz="952" b="0" i="0">
                <a:solidFill>
                  <a:srgbClr val="111111"/>
                </a:solidFill>
                <a:latin typeface="Versos"/>
              </a:rPr>
              <a:t>4,84%</a:t>
            </a:r>
          </a:p>
        </p:txBody>
      </p:sp>
      <p:sp>
        <p:nvSpPr>
          <p:cNvPr id="70" name="TextBox 69"/>
          <p:cNvSpPr txBox="1"/>
          <p:nvPr/>
        </p:nvSpPr>
        <p:spPr>
          <a:xfrm>
            <a:off x="3802680" y="776175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71" name="TextBox 70"/>
          <p:cNvSpPr txBox="1"/>
          <p:nvPr/>
        </p:nvSpPr>
        <p:spPr>
          <a:xfrm>
            <a:off x="5596998" y="7754079"/>
            <a:ext cx="403930" cy="143640"/>
          </a:xfrm>
          <a:prstGeom prst="rect">
            <a:avLst/>
          </a:prstGeom>
          <a:noFill/>
        </p:spPr>
        <p:txBody>
          <a:bodyPr wrap="none" lIns="0" rIns="0" tIns="0" bIns="0" anchor="t"/>
          <a:lstStyle/>
          <a:p>
            <a:pPr algn="l">
              <a:lnSpc>
                <a:spcPts val="1142"/>
              </a:lnSpc>
            </a:pPr>
            <a:r>
              <a:rPr sz="952" b="0" i="0">
                <a:solidFill>
                  <a:srgbClr val="111111"/>
                </a:solidFill>
                <a:latin typeface="Versos"/>
              </a:rPr>
              <a:t>4,80%</a:t>
            </a:r>
          </a:p>
        </p:txBody>
      </p:sp>
      <p:sp>
        <p:nvSpPr>
          <p:cNvPr id="72" name="TextBox 71"/>
          <p:cNvSpPr txBox="1"/>
          <p:nvPr/>
        </p:nvSpPr>
        <p:spPr>
          <a:xfrm>
            <a:off x="3802680" y="823047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Açúcar, Álcool e Cana</a:t>
            </a:r>
          </a:p>
        </p:txBody>
      </p:sp>
      <p:sp>
        <p:nvSpPr>
          <p:cNvPr id="73" name="TextBox 72"/>
          <p:cNvSpPr txBox="1"/>
          <p:nvPr/>
        </p:nvSpPr>
        <p:spPr>
          <a:xfrm>
            <a:off x="5573137" y="8222799"/>
            <a:ext cx="369287" cy="143640"/>
          </a:xfrm>
          <a:prstGeom prst="rect">
            <a:avLst/>
          </a:prstGeom>
          <a:noFill/>
        </p:spPr>
        <p:txBody>
          <a:bodyPr wrap="none" lIns="0" rIns="0" tIns="0" bIns="0" anchor="t"/>
          <a:lstStyle/>
          <a:p>
            <a:pPr algn="l">
              <a:lnSpc>
                <a:spcPts val="1142"/>
              </a:lnSpc>
            </a:pPr>
            <a:r>
              <a:rPr sz="952" b="0" i="0">
                <a:solidFill>
                  <a:srgbClr val="111111"/>
                </a:solidFill>
                <a:latin typeface="Versos"/>
              </a:rPr>
              <a:t>3,74%</a:t>
            </a:r>
          </a:p>
        </p:txBody>
      </p:sp>
      <p:sp>
        <p:nvSpPr>
          <p:cNvPr id="74" name="TextBox 73"/>
          <p:cNvSpPr txBox="1"/>
          <p:nvPr/>
        </p:nvSpPr>
        <p:spPr>
          <a:xfrm>
            <a:off x="3802680" y="869919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Locação de veículos</a:t>
            </a:r>
          </a:p>
        </p:txBody>
      </p:sp>
      <p:sp>
        <p:nvSpPr>
          <p:cNvPr id="75" name="TextBox 74"/>
          <p:cNvSpPr txBox="1"/>
          <p:nvPr/>
        </p:nvSpPr>
        <p:spPr>
          <a:xfrm>
            <a:off x="5555773" y="8691519"/>
            <a:ext cx="379975" cy="143640"/>
          </a:xfrm>
          <a:prstGeom prst="rect">
            <a:avLst/>
          </a:prstGeom>
          <a:noFill/>
        </p:spPr>
        <p:txBody>
          <a:bodyPr wrap="none" lIns="0" rIns="0" tIns="0" bIns="0" anchor="t"/>
          <a:lstStyle/>
          <a:p>
            <a:pPr algn="l">
              <a:lnSpc>
                <a:spcPts val="1142"/>
              </a:lnSpc>
            </a:pPr>
            <a:r>
              <a:rPr sz="952" b="0" i="0">
                <a:solidFill>
                  <a:srgbClr val="111111"/>
                </a:solidFill>
                <a:latin typeface="Versos"/>
              </a:rPr>
              <a:t>2,97%</a:t>
            </a:r>
          </a:p>
        </p:txBody>
      </p:sp>
      <p:sp>
        <p:nvSpPr>
          <p:cNvPr id="76" name="TextBox 75"/>
          <p:cNvSpPr txBox="1"/>
          <p:nvPr/>
        </p:nvSpPr>
        <p:spPr>
          <a:xfrm>
            <a:off x="3802680" y="916791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Outros</a:t>
            </a:r>
          </a:p>
        </p:txBody>
      </p:sp>
      <p:sp>
        <p:nvSpPr>
          <p:cNvPr id="77" name="TextBox 76"/>
          <p:cNvSpPr txBox="1"/>
          <p:nvPr/>
        </p:nvSpPr>
        <p:spPr>
          <a:xfrm>
            <a:off x="5515492" y="9160239"/>
            <a:ext cx="323955" cy="143640"/>
          </a:xfrm>
          <a:prstGeom prst="rect">
            <a:avLst/>
          </a:prstGeom>
          <a:noFill/>
        </p:spPr>
        <p:txBody>
          <a:bodyPr wrap="none" lIns="0" rIns="0" tIns="0" bIns="0" anchor="t"/>
          <a:lstStyle/>
          <a:p>
            <a:pPr algn="l">
              <a:lnSpc>
                <a:spcPts val="1142"/>
              </a:lnSpc>
            </a:pPr>
            <a:r>
              <a:rPr sz="952" b="0" i="0">
                <a:solidFill>
                  <a:srgbClr val="111111"/>
                </a:solidFill>
                <a:latin typeface="Versos"/>
              </a:rPr>
              <a:t>1,19%</a:t>
            </a:r>
          </a:p>
        </p:txBody>
      </p:sp>
      <p:sp>
        <p:nvSpPr>
          <p:cNvPr id="78" name="TextBox 77"/>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5" name="TextBox 4"/>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6" name="TextBox 5"/>
          <p:cNvSpPr txBox="1"/>
          <p:nvPr/>
        </p:nvSpPr>
        <p:spPr>
          <a:xfrm>
            <a:off x="529200" y="5216518"/>
            <a:ext cx="6501600" cy="1256141"/>
          </a:xfrm>
          <a:prstGeom prst="rect">
            <a:avLst/>
          </a:prstGeom>
          <a:noFill/>
        </p:spPr>
        <p:txBody>
          <a:bodyPr wrap="square" lIns="0" rIns="0" tIns="0" bIns="0" anchor="t"/>
          <a:lstStyle/>
          <a:p>
            <a:pPr algn="just">
              <a:lnSpc>
                <a:spcPts val="1420"/>
              </a:lnSpc>
            </a:pPr>
            <a:r>
              <a:rPr sz="1145" b="0" i="0">
                <a:solidFill>
                  <a:srgbClr val="F1F1F1"/>
                </a:solidFill>
                <a:latin typeface="Versos"/>
              </a:rPr>
              <a:t>Em agosto, os títulos de crédito indexados ao IPCA precificados pela ANBIMA apresentaram desempenho positivo, refletindo principalmente o movimento de fechamento da curva real de juros observado ao longo do período. Embora os spreads de crédito tenham registrado abertura média de aproximadamente 5 bps em relação a julho, a redução das taxas reais ao longo da estrutura a termo mais do que compensou esse movimento. Como resultado, as taxas médias dos títulos incentivados precificados pela ANBIMA encerraram o mês com fechamento próximo de 16 bps, proporcionando valorização dos ativos no mercado secundário.</a:t>
            </a:r>
          </a:p>
        </p:txBody>
      </p:sp>
      <p:sp>
        <p:nvSpPr>
          <p:cNvPr id="7" name="TextBox 6"/>
          <p:cNvSpPr txBox="1"/>
          <p:nvPr/>
        </p:nvSpPr>
        <p:spPr>
          <a:xfrm>
            <a:off x="529200" y="6583933"/>
            <a:ext cx="6501600" cy="895387"/>
          </a:xfrm>
          <a:prstGeom prst="rect">
            <a:avLst/>
          </a:prstGeom>
          <a:noFill/>
        </p:spPr>
        <p:txBody>
          <a:bodyPr wrap="square" lIns="0" rIns="0" tIns="0" bIns="0" anchor="t"/>
          <a:lstStyle/>
          <a:p>
            <a:pPr algn="just">
              <a:lnSpc>
                <a:spcPts val="1420"/>
              </a:lnSpc>
            </a:pPr>
            <a:r>
              <a:rPr sz="1145" b="0" i="0">
                <a:solidFill>
                  <a:srgbClr val="F1F1F1"/>
                </a:solidFill>
                <a:latin typeface="Versos"/>
              </a:rPr>
              <a:t>No mercado primário, manteve-se o cenário de oferta restrita de ativos, com parcela relevante das emissões sendo absorvida diretamente pelos balanços dos bancos distribuidores. Já no mercado secundário, observou-se um nível de liquidez inferior à média observada ao longo de 2025, contribuindo para um ambiente de maior equilíbrio entre oferta e demanda dos ativos negociados.</a:t>
            </a:r>
          </a:p>
        </p:txBody>
      </p:sp>
      <p:sp>
        <p:nvSpPr>
          <p:cNvPr id="8" name="TextBox 7"/>
          <p:cNvSpPr txBox="1"/>
          <p:nvPr/>
        </p:nvSpPr>
        <p:spPr>
          <a:xfrm>
            <a:off x="529200" y="7590594"/>
            <a:ext cx="6501600" cy="1616895"/>
          </a:xfrm>
          <a:prstGeom prst="rect">
            <a:avLst/>
          </a:prstGeom>
          <a:noFill/>
        </p:spPr>
        <p:txBody>
          <a:bodyPr wrap="square" lIns="0" rIns="0" tIns="0" bIns="0" anchor="t"/>
          <a:lstStyle/>
          <a:p>
            <a:pPr algn="just">
              <a:lnSpc>
                <a:spcPts val="1420"/>
              </a:lnSpc>
            </a:pPr>
            <a:r>
              <a:rPr sz="1145" b="0" i="0">
                <a:solidFill>
                  <a:srgbClr val="F1F1F1"/>
                </a:solidFill>
                <a:latin typeface="Versos"/>
              </a:rPr>
              <a:t>Sob a ótica da gestão, mantivemos uma postura cautelosa ao longo do período, priorizando o encurtamento da duration da carteira como forma de mitigar a volatilidade e reduzir a sensibilidade do portfólio a eventuais movimentos adversos nos spreads de crédito. Apesar da melhora observada no desempenho dos ativos incentivados no mês, seguimos avaliando que os níveis atuais de prêmio ainda oferecem pouca margem de segurança frente aos riscos inerentes à classe. Dessa forma, permanecemos atentos à evolução das condições de mercado e à dinâmica de precificação dos ativos, buscando identificar oportunidades mais atrativas para aumentar a exposição ao risco de crédito de forma gradual e criteriosa, quando a relação risco-retorno se mostrar mais favorável.</a:t>
            </a:r>
          </a:p>
        </p:txBody>
      </p:sp>
      <p:sp>
        <p:nvSpPr>
          <p:cNvPr id="9" name="TextBox 8"/>
          <p:cNvSpPr txBox="1"/>
          <p:nvPr/>
        </p:nvSpPr>
        <p:spPr>
          <a:xfrm>
            <a:off x="529200" y="9318763"/>
            <a:ext cx="6501600" cy="534633"/>
          </a:xfrm>
          <a:prstGeom prst="rect">
            <a:avLst/>
          </a:prstGeom>
          <a:noFill/>
        </p:spPr>
        <p:txBody>
          <a:bodyPr wrap="square" lIns="0" rIns="0" tIns="0" bIns="0" anchor="t"/>
          <a:lstStyle/>
          <a:p>
            <a:pPr algn="just">
              <a:lnSpc>
                <a:spcPts val="1420"/>
              </a:lnSpc>
            </a:pPr>
            <a:r>
              <a:rPr sz="1145" b="0" i="0">
                <a:solidFill>
                  <a:srgbClr val="F1F1F1"/>
                </a:solidFill>
                <a:latin typeface="Versos"/>
              </a:rPr>
              <a:t>Nesse cenário, o Tivio Infra Plus apresentou rentabilidade, isenta de imposto de renda de 1,26% no mês, acumulando 5,98% no ano. Na atribuição de performance, pode-se destacar as debêntures de NTS e São Simão, enquanto as de Jalles Machado foram as maiores detratoras.</a:t>
            </a:r>
          </a:p>
        </p:txBody>
      </p:sp>
      <p:sp>
        <p:nvSpPr>
          <p:cNvPr id="10" name="TextBox 9"/>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5" name="TextBox 4"/>
          <p:cNvSpPr txBox="1"/>
          <p:nvPr/>
        </p:nvSpPr>
        <p:spPr>
          <a:xfrm>
            <a:off x="2043090" y="1807430"/>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Volume (R$ MM)</a:t>
            </a:r>
          </a:p>
        </p:txBody>
      </p:sp>
      <p:sp>
        <p:nvSpPr>
          <p:cNvPr id="6" name="TextBox 5"/>
          <p:cNvSpPr txBox="1"/>
          <p:nvPr/>
        </p:nvSpPr>
        <p:spPr>
          <a:xfrm>
            <a:off x="2603947" y="1859641"/>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a:t>
            </a:r>
          </a:p>
        </p:txBody>
      </p:sp>
      <p:sp>
        <p:nvSpPr>
          <p:cNvPr id="7" name="TextBox 6"/>
          <p:cNvSpPr txBox="1"/>
          <p:nvPr/>
        </p:nvSpPr>
        <p:spPr>
          <a:xfrm>
            <a:off x="3164805" y="1859641"/>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Taxa Atual</a:t>
            </a:r>
          </a:p>
        </p:txBody>
      </p:sp>
      <p:sp>
        <p:nvSpPr>
          <p:cNvPr id="8" name="TextBox 7"/>
          <p:cNvSpPr txBox="1"/>
          <p:nvPr/>
        </p:nvSpPr>
        <p:spPr>
          <a:xfrm>
            <a:off x="3725662" y="1807430"/>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Taxa mês anterior</a:t>
            </a:r>
          </a:p>
        </p:txBody>
      </p:sp>
      <p:sp>
        <p:nvSpPr>
          <p:cNvPr id="9" name="TextBox 8"/>
          <p:cNvSpPr txBox="1"/>
          <p:nvPr/>
        </p:nvSpPr>
        <p:spPr>
          <a:xfrm>
            <a:off x="4286520" y="1859641"/>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Variação</a:t>
            </a:r>
          </a:p>
        </p:txBody>
      </p:sp>
      <p:sp>
        <p:nvSpPr>
          <p:cNvPr id="10" name="TextBox 9"/>
          <p:cNvSpPr txBox="1"/>
          <p:nvPr/>
        </p:nvSpPr>
        <p:spPr>
          <a:xfrm>
            <a:off x="4847377" y="1807430"/>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Spread Atual</a:t>
            </a:r>
          </a:p>
        </p:txBody>
      </p:sp>
      <p:sp>
        <p:nvSpPr>
          <p:cNvPr id="11" name="TextBox 10"/>
          <p:cNvSpPr txBox="1"/>
          <p:nvPr/>
        </p:nvSpPr>
        <p:spPr>
          <a:xfrm>
            <a:off x="5408235" y="1755337"/>
            <a:ext cx="470137" cy="314448"/>
          </a:xfrm>
          <a:prstGeom prst="rect">
            <a:avLst/>
          </a:prstGeom>
          <a:noFill/>
        </p:spPr>
        <p:txBody>
          <a:bodyPr wrap="square" lIns="0" rIns="0" tIns="0" bIns="0" anchor="t"/>
          <a:lstStyle/>
          <a:p>
            <a:pPr algn="ctr">
              <a:lnSpc>
                <a:spcPts val="821"/>
              </a:lnSpc>
            </a:pPr>
            <a:r>
              <a:rPr sz="714" b="1" i="0">
                <a:solidFill>
                  <a:srgbClr val="FFFFFF"/>
                </a:solidFill>
                <a:latin typeface="Versos"/>
              </a:rPr>
              <a:t>Spread mês anterior</a:t>
            </a:r>
          </a:p>
        </p:txBody>
      </p:sp>
      <p:sp>
        <p:nvSpPr>
          <p:cNvPr id="12" name="TextBox 11"/>
          <p:cNvSpPr txBox="1"/>
          <p:nvPr/>
        </p:nvSpPr>
        <p:spPr>
          <a:xfrm>
            <a:off x="5969092" y="1859641"/>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Variação</a:t>
            </a:r>
          </a:p>
        </p:txBody>
      </p:sp>
      <p:sp>
        <p:nvSpPr>
          <p:cNvPr id="13" name="TextBox 12"/>
          <p:cNvSpPr txBox="1"/>
          <p:nvPr/>
        </p:nvSpPr>
        <p:spPr>
          <a:xfrm>
            <a:off x="6529950" y="1859641"/>
            <a:ext cx="489434" cy="105840"/>
          </a:xfrm>
          <a:prstGeom prst="rect">
            <a:avLst/>
          </a:prstGeom>
          <a:noFill/>
        </p:spPr>
        <p:txBody>
          <a:bodyPr wrap="none" lIns="0" rIns="0" tIns="0" bIns="0" anchor="t"/>
          <a:lstStyle/>
          <a:p>
            <a:pPr algn="ctr">
              <a:lnSpc>
                <a:spcPts val="821"/>
              </a:lnSpc>
            </a:pPr>
            <a:r>
              <a:rPr sz="714" b="1" i="0">
                <a:solidFill>
                  <a:srgbClr val="FFFFFF"/>
                </a:solidFill>
                <a:latin typeface="Versos"/>
              </a:rPr>
              <a:t>Duration</a:t>
            </a:r>
          </a:p>
        </p:txBody>
      </p:sp>
      <p:sp>
        <p:nvSpPr>
          <p:cNvPr id="14" name="TextBox 13"/>
          <p:cNvSpPr txBox="1"/>
          <p:nvPr/>
        </p:nvSpPr>
        <p:spPr>
          <a:xfrm>
            <a:off x="2043090" y="2201259"/>
            <a:ext cx="505036" cy="143640"/>
          </a:xfrm>
          <a:prstGeom prst="rect">
            <a:avLst/>
          </a:prstGeom>
          <a:noFill/>
        </p:spPr>
        <p:txBody>
          <a:bodyPr wrap="none" lIns="0" rIns="0" tIns="0" bIns="0" anchor="t"/>
          <a:lstStyle/>
          <a:p>
            <a:pPr algn="ctr">
              <a:lnSpc>
                <a:spcPts val="1061"/>
              </a:lnSpc>
            </a:pPr>
            <a:r>
              <a:rPr sz="922" b="1" i="0">
                <a:solidFill>
                  <a:srgbClr val="FFFFFF"/>
                </a:solidFill>
                <a:latin typeface="Versos"/>
              </a:rPr>
              <a:t>392.485</a:t>
            </a:r>
          </a:p>
        </p:txBody>
      </p:sp>
      <p:sp>
        <p:nvSpPr>
          <p:cNvPr id="15" name="TextBox 14"/>
          <p:cNvSpPr txBox="1"/>
          <p:nvPr/>
        </p:nvSpPr>
        <p:spPr>
          <a:xfrm>
            <a:off x="2603947"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100%</a:t>
            </a:r>
          </a:p>
        </p:txBody>
      </p:sp>
      <p:sp>
        <p:nvSpPr>
          <p:cNvPr id="16" name="TextBox 15"/>
          <p:cNvSpPr txBox="1"/>
          <p:nvPr/>
        </p:nvSpPr>
        <p:spPr>
          <a:xfrm>
            <a:off x="3164805"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8,30%</a:t>
            </a:r>
          </a:p>
        </p:txBody>
      </p:sp>
      <p:sp>
        <p:nvSpPr>
          <p:cNvPr id="17" name="TextBox 16"/>
          <p:cNvSpPr txBox="1"/>
          <p:nvPr/>
        </p:nvSpPr>
        <p:spPr>
          <a:xfrm>
            <a:off x="3725662"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8,47%</a:t>
            </a:r>
          </a:p>
        </p:txBody>
      </p:sp>
      <p:sp>
        <p:nvSpPr>
          <p:cNvPr id="18" name="TextBox 17"/>
          <p:cNvSpPr txBox="1"/>
          <p:nvPr/>
        </p:nvSpPr>
        <p:spPr>
          <a:xfrm>
            <a:off x="4286520"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0,05%</a:t>
            </a:r>
          </a:p>
        </p:txBody>
      </p:sp>
      <p:sp>
        <p:nvSpPr>
          <p:cNvPr id="19" name="TextBox 18"/>
          <p:cNvSpPr txBox="1"/>
          <p:nvPr/>
        </p:nvSpPr>
        <p:spPr>
          <a:xfrm>
            <a:off x="4847377"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0,34%</a:t>
            </a:r>
          </a:p>
        </p:txBody>
      </p:sp>
      <p:sp>
        <p:nvSpPr>
          <p:cNvPr id="20" name="TextBox 19"/>
          <p:cNvSpPr txBox="1"/>
          <p:nvPr/>
        </p:nvSpPr>
        <p:spPr>
          <a:xfrm>
            <a:off x="5408235"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0,29%</a:t>
            </a:r>
          </a:p>
        </p:txBody>
      </p:sp>
      <p:sp>
        <p:nvSpPr>
          <p:cNvPr id="21" name="TextBox 20"/>
          <p:cNvSpPr txBox="1"/>
          <p:nvPr/>
        </p:nvSpPr>
        <p:spPr>
          <a:xfrm>
            <a:off x="5969092"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0,05%</a:t>
            </a:r>
          </a:p>
        </p:txBody>
      </p:sp>
      <p:sp>
        <p:nvSpPr>
          <p:cNvPr id="22" name="TextBox 21"/>
          <p:cNvSpPr txBox="1"/>
          <p:nvPr/>
        </p:nvSpPr>
        <p:spPr>
          <a:xfrm>
            <a:off x="6529950" y="2201259"/>
            <a:ext cx="489434" cy="143640"/>
          </a:xfrm>
          <a:prstGeom prst="rect">
            <a:avLst/>
          </a:prstGeom>
          <a:noFill/>
        </p:spPr>
        <p:txBody>
          <a:bodyPr wrap="none" lIns="0" rIns="0" tIns="0" bIns="0" anchor="t"/>
          <a:lstStyle/>
          <a:p>
            <a:pPr algn="ctr">
              <a:lnSpc>
                <a:spcPts val="1061"/>
              </a:lnSpc>
            </a:pPr>
            <a:r>
              <a:rPr sz="922" b="1" i="0">
                <a:solidFill>
                  <a:srgbClr val="FFFFFF"/>
                </a:solidFill>
                <a:latin typeface="Versos"/>
              </a:rPr>
              <a:t>5,38</a:t>
            </a:r>
          </a:p>
        </p:txBody>
      </p:sp>
      <p:sp>
        <p:nvSpPr>
          <p:cNvPr id="23" name="TextBox 22"/>
          <p:cNvSpPr txBox="1"/>
          <p:nvPr/>
        </p:nvSpPr>
        <p:spPr>
          <a:xfrm>
            <a:off x="559440" y="2739555"/>
            <a:ext cx="1448647" cy="105840"/>
          </a:xfrm>
          <a:prstGeom prst="rect">
            <a:avLst/>
          </a:prstGeom>
          <a:noFill/>
        </p:spPr>
        <p:txBody>
          <a:bodyPr wrap="none" lIns="0" rIns="0" tIns="0" bIns="0" anchor="t"/>
          <a:lstStyle/>
          <a:p>
            <a:pPr algn="ctr">
              <a:lnSpc>
                <a:spcPts val="821"/>
              </a:lnSpc>
            </a:pPr>
            <a:r>
              <a:rPr sz="714" b="1" i="0">
                <a:solidFill>
                  <a:srgbClr val="FFFFFF"/>
                </a:solidFill>
                <a:latin typeface="Versos"/>
              </a:rPr>
              <a:t>Setor</a:t>
            </a:r>
          </a:p>
        </p:txBody>
      </p:sp>
      <p:sp>
        <p:nvSpPr>
          <p:cNvPr id="24" name="TextBox 23"/>
          <p:cNvSpPr txBox="1"/>
          <p:nvPr/>
        </p:nvSpPr>
        <p:spPr>
          <a:xfrm>
            <a:off x="2043090" y="2687343"/>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Volume (R$ MM)</a:t>
            </a:r>
          </a:p>
        </p:txBody>
      </p:sp>
      <p:sp>
        <p:nvSpPr>
          <p:cNvPr id="25" name="TextBox 24"/>
          <p:cNvSpPr txBox="1"/>
          <p:nvPr/>
        </p:nvSpPr>
        <p:spPr>
          <a:xfrm>
            <a:off x="2603947" y="2739555"/>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a:t>
            </a:r>
          </a:p>
        </p:txBody>
      </p:sp>
      <p:sp>
        <p:nvSpPr>
          <p:cNvPr id="26" name="TextBox 25"/>
          <p:cNvSpPr txBox="1"/>
          <p:nvPr/>
        </p:nvSpPr>
        <p:spPr>
          <a:xfrm>
            <a:off x="3164805" y="2739555"/>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Taxa Atual</a:t>
            </a:r>
          </a:p>
        </p:txBody>
      </p:sp>
      <p:sp>
        <p:nvSpPr>
          <p:cNvPr id="27" name="TextBox 26"/>
          <p:cNvSpPr txBox="1"/>
          <p:nvPr/>
        </p:nvSpPr>
        <p:spPr>
          <a:xfrm>
            <a:off x="3725662" y="2687343"/>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Taxa mês anterior</a:t>
            </a:r>
          </a:p>
        </p:txBody>
      </p:sp>
      <p:sp>
        <p:nvSpPr>
          <p:cNvPr id="28" name="TextBox 27"/>
          <p:cNvSpPr txBox="1"/>
          <p:nvPr/>
        </p:nvSpPr>
        <p:spPr>
          <a:xfrm>
            <a:off x="4286520" y="2739555"/>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Variação</a:t>
            </a:r>
          </a:p>
        </p:txBody>
      </p:sp>
      <p:sp>
        <p:nvSpPr>
          <p:cNvPr id="29" name="TextBox 28"/>
          <p:cNvSpPr txBox="1"/>
          <p:nvPr/>
        </p:nvSpPr>
        <p:spPr>
          <a:xfrm>
            <a:off x="4847377" y="2687343"/>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Spread Atual</a:t>
            </a:r>
          </a:p>
        </p:txBody>
      </p:sp>
      <p:sp>
        <p:nvSpPr>
          <p:cNvPr id="30" name="TextBox 29"/>
          <p:cNvSpPr txBox="1"/>
          <p:nvPr/>
        </p:nvSpPr>
        <p:spPr>
          <a:xfrm>
            <a:off x="5408235" y="2635250"/>
            <a:ext cx="470137" cy="314448"/>
          </a:xfrm>
          <a:prstGeom prst="rect">
            <a:avLst/>
          </a:prstGeom>
          <a:noFill/>
        </p:spPr>
        <p:txBody>
          <a:bodyPr wrap="square" lIns="0" rIns="0" tIns="0" bIns="0" anchor="t"/>
          <a:lstStyle/>
          <a:p>
            <a:pPr algn="ctr">
              <a:lnSpc>
                <a:spcPts val="821"/>
              </a:lnSpc>
            </a:pPr>
            <a:r>
              <a:rPr sz="714" b="1" i="0">
                <a:solidFill>
                  <a:srgbClr val="FFFFFF"/>
                </a:solidFill>
                <a:latin typeface="Versos"/>
              </a:rPr>
              <a:t>Spread mês anterior</a:t>
            </a:r>
          </a:p>
        </p:txBody>
      </p:sp>
      <p:sp>
        <p:nvSpPr>
          <p:cNvPr id="31" name="TextBox 30"/>
          <p:cNvSpPr txBox="1"/>
          <p:nvPr/>
        </p:nvSpPr>
        <p:spPr>
          <a:xfrm>
            <a:off x="5969092" y="2739555"/>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Variação</a:t>
            </a:r>
          </a:p>
        </p:txBody>
      </p:sp>
      <p:sp>
        <p:nvSpPr>
          <p:cNvPr id="32" name="TextBox 31"/>
          <p:cNvSpPr txBox="1"/>
          <p:nvPr/>
        </p:nvSpPr>
        <p:spPr>
          <a:xfrm>
            <a:off x="6529950" y="2739555"/>
            <a:ext cx="489434" cy="105840"/>
          </a:xfrm>
          <a:prstGeom prst="rect">
            <a:avLst/>
          </a:prstGeom>
          <a:noFill/>
        </p:spPr>
        <p:txBody>
          <a:bodyPr wrap="none" lIns="0" rIns="0" tIns="0" bIns="0" anchor="t"/>
          <a:lstStyle/>
          <a:p>
            <a:pPr algn="ctr">
              <a:lnSpc>
                <a:spcPts val="821"/>
              </a:lnSpc>
            </a:pPr>
            <a:r>
              <a:rPr sz="714" b="1" i="0">
                <a:solidFill>
                  <a:srgbClr val="FFFFFF"/>
                </a:solidFill>
                <a:latin typeface="Versos"/>
              </a:rPr>
              <a:t>Duration</a:t>
            </a:r>
          </a:p>
        </p:txBody>
      </p:sp>
      <p:sp>
        <p:nvSpPr>
          <p:cNvPr id="33" name="TextBox 32"/>
          <p:cNvSpPr txBox="1"/>
          <p:nvPr/>
        </p:nvSpPr>
        <p:spPr>
          <a:xfrm>
            <a:off x="604800" y="3216898"/>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Energia elétrica</a:t>
            </a:r>
          </a:p>
        </p:txBody>
      </p:sp>
      <p:sp>
        <p:nvSpPr>
          <p:cNvPr id="34" name="TextBox 33"/>
          <p:cNvSpPr txBox="1"/>
          <p:nvPr/>
        </p:nvSpPr>
        <p:spPr>
          <a:xfrm>
            <a:off x="2043090" y="3219024"/>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191.166</a:t>
            </a:r>
          </a:p>
        </p:txBody>
      </p:sp>
      <p:sp>
        <p:nvSpPr>
          <p:cNvPr id="35" name="TextBox 34"/>
          <p:cNvSpPr txBox="1"/>
          <p:nvPr/>
        </p:nvSpPr>
        <p:spPr>
          <a:xfrm>
            <a:off x="2603947"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48,7%</a:t>
            </a:r>
          </a:p>
        </p:txBody>
      </p:sp>
      <p:sp>
        <p:nvSpPr>
          <p:cNvPr id="36" name="TextBox 35"/>
          <p:cNvSpPr txBox="1"/>
          <p:nvPr/>
        </p:nvSpPr>
        <p:spPr>
          <a:xfrm>
            <a:off x="3164805"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7,93%</a:t>
            </a:r>
          </a:p>
        </p:txBody>
      </p:sp>
      <p:sp>
        <p:nvSpPr>
          <p:cNvPr id="37" name="TextBox 36"/>
          <p:cNvSpPr txBox="1"/>
          <p:nvPr/>
        </p:nvSpPr>
        <p:spPr>
          <a:xfrm>
            <a:off x="3725662"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8,13%</a:t>
            </a:r>
          </a:p>
        </p:txBody>
      </p:sp>
      <p:sp>
        <p:nvSpPr>
          <p:cNvPr id="38" name="TextBox 37"/>
          <p:cNvSpPr txBox="1"/>
          <p:nvPr/>
        </p:nvSpPr>
        <p:spPr>
          <a:xfrm>
            <a:off x="4286520"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-0,19%</a:t>
            </a:r>
          </a:p>
        </p:txBody>
      </p:sp>
      <p:sp>
        <p:nvSpPr>
          <p:cNvPr id="39" name="TextBox 38"/>
          <p:cNvSpPr txBox="1"/>
          <p:nvPr/>
        </p:nvSpPr>
        <p:spPr>
          <a:xfrm>
            <a:off x="4847377"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-0,02%</a:t>
            </a:r>
          </a:p>
        </p:txBody>
      </p:sp>
      <p:sp>
        <p:nvSpPr>
          <p:cNvPr id="40" name="TextBox 39"/>
          <p:cNvSpPr txBox="1"/>
          <p:nvPr/>
        </p:nvSpPr>
        <p:spPr>
          <a:xfrm>
            <a:off x="5408235"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-0,04%</a:t>
            </a:r>
          </a:p>
        </p:txBody>
      </p:sp>
      <p:sp>
        <p:nvSpPr>
          <p:cNvPr id="41" name="TextBox 40"/>
          <p:cNvSpPr txBox="1"/>
          <p:nvPr/>
        </p:nvSpPr>
        <p:spPr>
          <a:xfrm>
            <a:off x="5969092"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0,02%</a:t>
            </a:r>
          </a:p>
        </p:txBody>
      </p:sp>
      <p:sp>
        <p:nvSpPr>
          <p:cNvPr id="42" name="TextBox 41"/>
          <p:cNvSpPr txBox="1"/>
          <p:nvPr/>
        </p:nvSpPr>
        <p:spPr>
          <a:xfrm>
            <a:off x="6529950" y="3219024"/>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5,3</a:t>
            </a:r>
          </a:p>
        </p:txBody>
      </p:sp>
      <p:sp>
        <p:nvSpPr>
          <p:cNvPr id="43" name="TextBox 42"/>
          <p:cNvSpPr txBox="1"/>
          <p:nvPr/>
        </p:nvSpPr>
        <p:spPr>
          <a:xfrm>
            <a:off x="604800" y="3798309"/>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Transporte e logística</a:t>
            </a:r>
          </a:p>
        </p:txBody>
      </p:sp>
      <p:sp>
        <p:nvSpPr>
          <p:cNvPr id="44" name="TextBox 43"/>
          <p:cNvSpPr txBox="1"/>
          <p:nvPr/>
        </p:nvSpPr>
        <p:spPr>
          <a:xfrm>
            <a:off x="2043090" y="3800435"/>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89.369</a:t>
            </a:r>
          </a:p>
        </p:txBody>
      </p:sp>
      <p:sp>
        <p:nvSpPr>
          <p:cNvPr id="45" name="TextBox 44"/>
          <p:cNvSpPr txBox="1"/>
          <p:nvPr/>
        </p:nvSpPr>
        <p:spPr>
          <a:xfrm>
            <a:off x="2603947"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22,8%</a:t>
            </a:r>
          </a:p>
        </p:txBody>
      </p:sp>
      <p:sp>
        <p:nvSpPr>
          <p:cNvPr id="46" name="TextBox 45"/>
          <p:cNvSpPr txBox="1"/>
          <p:nvPr/>
        </p:nvSpPr>
        <p:spPr>
          <a:xfrm>
            <a:off x="3164805"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8,32%</a:t>
            </a:r>
          </a:p>
        </p:txBody>
      </p:sp>
      <p:sp>
        <p:nvSpPr>
          <p:cNvPr id="47" name="TextBox 46"/>
          <p:cNvSpPr txBox="1"/>
          <p:nvPr/>
        </p:nvSpPr>
        <p:spPr>
          <a:xfrm>
            <a:off x="3725662"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8,48%</a:t>
            </a:r>
          </a:p>
        </p:txBody>
      </p:sp>
      <p:sp>
        <p:nvSpPr>
          <p:cNvPr id="48" name="TextBox 47"/>
          <p:cNvSpPr txBox="1"/>
          <p:nvPr/>
        </p:nvSpPr>
        <p:spPr>
          <a:xfrm>
            <a:off x="4286520"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-0,15%</a:t>
            </a:r>
          </a:p>
        </p:txBody>
      </p:sp>
      <p:sp>
        <p:nvSpPr>
          <p:cNvPr id="49" name="TextBox 48"/>
          <p:cNvSpPr txBox="1"/>
          <p:nvPr/>
        </p:nvSpPr>
        <p:spPr>
          <a:xfrm>
            <a:off x="4847377"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0,36%</a:t>
            </a:r>
          </a:p>
        </p:txBody>
      </p:sp>
      <p:sp>
        <p:nvSpPr>
          <p:cNvPr id="50" name="TextBox 49"/>
          <p:cNvSpPr txBox="1"/>
          <p:nvPr/>
        </p:nvSpPr>
        <p:spPr>
          <a:xfrm>
            <a:off x="5408235"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0,30%</a:t>
            </a:r>
          </a:p>
        </p:txBody>
      </p:sp>
      <p:sp>
        <p:nvSpPr>
          <p:cNvPr id="51" name="TextBox 50"/>
          <p:cNvSpPr txBox="1"/>
          <p:nvPr/>
        </p:nvSpPr>
        <p:spPr>
          <a:xfrm>
            <a:off x="5969092"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0,06%</a:t>
            </a:r>
          </a:p>
        </p:txBody>
      </p:sp>
      <p:sp>
        <p:nvSpPr>
          <p:cNvPr id="52" name="TextBox 51"/>
          <p:cNvSpPr txBox="1"/>
          <p:nvPr/>
        </p:nvSpPr>
        <p:spPr>
          <a:xfrm>
            <a:off x="6529950" y="3800435"/>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5,2</a:t>
            </a:r>
          </a:p>
        </p:txBody>
      </p:sp>
      <p:sp>
        <p:nvSpPr>
          <p:cNvPr id="53" name="TextBox 52"/>
          <p:cNvSpPr txBox="1"/>
          <p:nvPr/>
        </p:nvSpPr>
        <p:spPr>
          <a:xfrm>
            <a:off x="604800" y="4379720"/>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Saneamento</a:t>
            </a:r>
          </a:p>
        </p:txBody>
      </p:sp>
      <p:sp>
        <p:nvSpPr>
          <p:cNvPr id="54" name="TextBox 53"/>
          <p:cNvSpPr txBox="1"/>
          <p:nvPr/>
        </p:nvSpPr>
        <p:spPr>
          <a:xfrm>
            <a:off x="2043090" y="4381846"/>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35.248</a:t>
            </a:r>
          </a:p>
        </p:txBody>
      </p:sp>
      <p:sp>
        <p:nvSpPr>
          <p:cNvPr id="55" name="TextBox 54"/>
          <p:cNvSpPr txBox="1"/>
          <p:nvPr/>
        </p:nvSpPr>
        <p:spPr>
          <a:xfrm>
            <a:off x="2603947"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9,0%</a:t>
            </a:r>
          </a:p>
        </p:txBody>
      </p:sp>
      <p:sp>
        <p:nvSpPr>
          <p:cNvPr id="56" name="TextBox 55"/>
          <p:cNvSpPr txBox="1"/>
          <p:nvPr/>
        </p:nvSpPr>
        <p:spPr>
          <a:xfrm>
            <a:off x="3164805"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9,69%</a:t>
            </a:r>
          </a:p>
        </p:txBody>
      </p:sp>
      <p:sp>
        <p:nvSpPr>
          <p:cNvPr id="57" name="TextBox 56"/>
          <p:cNvSpPr txBox="1"/>
          <p:nvPr/>
        </p:nvSpPr>
        <p:spPr>
          <a:xfrm>
            <a:off x="3725662"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9,75%</a:t>
            </a:r>
          </a:p>
        </p:txBody>
      </p:sp>
      <p:sp>
        <p:nvSpPr>
          <p:cNvPr id="58" name="TextBox 57"/>
          <p:cNvSpPr txBox="1"/>
          <p:nvPr/>
        </p:nvSpPr>
        <p:spPr>
          <a:xfrm>
            <a:off x="4286520"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-0,05%</a:t>
            </a:r>
          </a:p>
        </p:txBody>
      </p:sp>
      <p:sp>
        <p:nvSpPr>
          <p:cNvPr id="59" name="TextBox 58"/>
          <p:cNvSpPr txBox="1"/>
          <p:nvPr/>
        </p:nvSpPr>
        <p:spPr>
          <a:xfrm>
            <a:off x="4847377"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1,68%</a:t>
            </a:r>
          </a:p>
        </p:txBody>
      </p:sp>
      <p:sp>
        <p:nvSpPr>
          <p:cNvPr id="60" name="TextBox 59"/>
          <p:cNvSpPr txBox="1"/>
          <p:nvPr/>
        </p:nvSpPr>
        <p:spPr>
          <a:xfrm>
            <a:off x="5408235"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1,51%</a:t>
            </a:r>
          </a:p>
        </p:txBody>
      </p:sp>
      <p:sp>
        <p:nvSpPr>
          <p:cNvPr id="61" name="TextBox 60"/>
          <p:cNvSpPr txBox="1"/>
          <p:nvPr/>
        </p:nvSpPr>
        <p:spPr>
          <a:xfrm>
            <a:off x="5969092"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0,17%</a:t>
            </a:r>
          </a:p>
        </p:txBody>
      </p:sp>
      <p:sp>
        <p:nvSpPr>
          <p:cNvPr id="62" name="TextBox 61"/>
          <p:cNvSpPr txBox="1"/>
          <p:nvPr/>
        </p:nvSpPr>
        <p:spPr>
          <a:xfrm>
            <a:off x="6529950" y="4381846"/>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6,2</a:t>
            </a:r>
          </a:p>
        </p:txBody>
      </p:sp>
      <p:sp>
        <p:nvSpPr>
          <p:cNvPr id="63" name="TextBox 62"/>
          <p:cNvSpPr txBox="1"/>
          <p:nvPr/>
        </p:nvSpPr>
        <p:spPr>
          <a:xfrm>
            <a:off x="604800" y="4961131"/>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Petróleo e gás</a:t>
            </a:r>
          </a:p>
        </p:txBody>
      </p:sp>
      <p:sp>
        <p:nvSpPr>
          <p:cNvPr id="64" name="TextBox 63"/>
          <p:cNvSpPr txBox="1"/>
          <p:nvPr/>
        </p:nvSpPr>
        <p:spPr>
          <a:xfrm>
            <a:off x="2043090" y="4963258"/>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26.236</a:t>
            </a:r>
          </a:p>
        </p:txBody>
      </p:sp>
      <p:sp>
        <p:nvSpPr>
          <p:cNvPr id="65" name="TextBox 64"/>
          <p:cNvSpPr txBox="1"/>
          <p:nvPr/>
        </p:nvSpPr>
        <p:spPr>
          <a:xfrm>
            <a:off x="2603947"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6,7%</a:t>
            </a:r>
          </a:p>
        </p:txBody>
      </p:sp>
      <p:sp>
        <p:nvSpPr>
          <p:cNvPr id="66" name="TextBox 65"/>
          <p:cNvSpPr txBox="1"/>
          <p:nvPr/>
        </p:nvSpPr>
        <p:spPr>
          <a:xfrm>
            <a:off x="3164805"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7,91%</a:t>
            </a:r>
          </a:p>
        </p:txBody>
      </p:sp>
      <p:sp>
        <p:nvSpPr>
          <p:cNvPr id="67" name="TextBox 66"/>
          <p:cNvSpPr txBox="1"/>
          <p:nvPr/>
        </p:nvSpPr>
        <p:spPr>
          <a:xfrm>
            <a:off x="3725662"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8,08%</a:t>
            </a:r>
          </a:p>
        </p:txBody>
      </p:sp>
      <p:sp>
        <p:nvSpPr>
          <p:cNvPr id="68" name="TextBox 67"/>
          <p:cNvSpPr txBox="1"/>
          <p:nvPr/>
        </p:nvSpPr>
        <p:spPr>
          <a:xfrm>
            <a:off x="4286520"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-0,16%</a:t>
            </a:r>
          </a:p>
        </p:txBody>
      </p:sp>
      <p:sp>
        <p:nvSpPr>
          <p:cNvPr id="69" name="TextBox 68"/>
          <p:cNvSpPr txBox="1"/>
          <p:nvPr/>
        </p:nvSpPr>
        <p:spPr>
          <a:xfrm>
            <a:off x="4847377"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-0,03%</a:t>
            </a:r>
          </a:p>
        </p:txBody>
      </p:sp>
      <p:sp>
        <p:nvSpPr>
          <p:cNvPr id="70" name="TextBox 69"/>
          <p:cNvSpPr txBox="1"/>
          <p:nvPr/>
        </p:nvSpPr>
        <p:spPr>
          <a:xfrm>
            <a:off x="5408235"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-0,07%</a:t>
            </a:r>
          </a:p>
        </p:txBody>
      </p:sp>
      <p:sp>
        <p:nvSpPr>
          <p:cNvPr id="71" name="TextBox 70"/>
          <p:cNvSpPr txBox="1"/>
          <p:nvPr/>
        </p:nvSpPr>
        <p:spPr>
          <a:xfrm>
            <a:off x="5969092"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0,04%</a:t>
            </a:r>
          </a:p>
        </p:txBody>
      </p:sp>
      <p:sp>
        <p:nvSpPr>
          <p:cNvPr id="72" name="TextBox 71"/>
          <p:cNvSpPr txBox="1"/>
          <p:nvPr/>
        </p:nvSpPr>
        <p:spPr>
          <a:xfrm>
            <a:off x="6529950" y="4963258"/>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5,2</a:t>
            </a:r>
          </a:p>
        </p:txBody>
      </p:sp>
      <p:sp>
        <p:nvSpPr>
          <p:cNvPr id="73" name="TextBox 72"/>
          <p:cNvSpPr txBox="1"/>
          <p:nvPr/>
        </p:nvSpPr>
        <p:spPr>
          <a:xfrm>
            <a:off x="604800" y="5542543"/>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TI e Telecomunicações</a:t>
            </a:r>
          </a:p>
        </p:txBody>
      </p:sp>
      <p:sp>
        <p:nvSpPr>
          <p:cNvPr id="74" name="TextBox 73"/>
          <p:cNvSpPr txBox="1"/>
          <p:nvPr/>
        </p:nvSpPr>
        <p:spPr>
          <a:xfrm>
            <a:off x="2043090" y="5544669"/>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16.942</a:t>
            </a:r>
          </a:p>
        </p:txBody>
      </p:sp>
      <p:sp>
        <p:nvSpPr>
          <p:cNvPr id="75" name="TextBox 74"/>
          <p:cNvSpPr txBox="1"/>
          <p:nvPr/>
        </p:nvSpPr>
        <p:spPr>
          <a:xfrm>
            <a:off x="2603947"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4,3%</a:t>
            </a:r>
          </a:p>
        </p:txBody>
      </p:sp>
      <p:sp>
        <p:nvSpPr>
          <p:cNvPr id="76" name="TextBox 75"/>
          <p:cNvSpPr txBox="1"/>
          <p:nvPr/>
        </p:nvSpPr>
        <p:spPr>
          <a:xfrm>
            <a:off x="3164805"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9,41%</a:t>
            </a:r>
          </a:p>
        </p:txBody>
      </p:sp>
      <p:sp>
        <p:nvSpPr>
          <p:cNvPr id="77" name="TextBox 76"/>
          <p:cNvSpPr txBox="1"/>
          <p:nvPr/>
        </p:nvSpPr>
        <p:spPr>
          <a:xfrm>
            <a:off x="3725662"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9,53%</a:t>
            </a:r>
          </a:p>
        </p:txBody>
      </p:sp>
      <p:sp>
        <p:nvSpPr>
          <p:cNvPr id="78" name="TextBox 77"/>
          <p:cNvSpPr txBox="1"/>
          <p:nvPr/>
        </p:nvSpPr>
        <p:spPr>
          <a:xfrm>
            <a:off x="4286520"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-0,11%</a:t>
            </a:r>
          </a:p>
        </p:txBody>
      </p:sp>
      <p:sp>
        <p:nvSpPr>
          <p:cNvPr id="79" name="TextBox 78"/>
          <p:cNvSpPr txBox="1"/>
          <p:nvPr/>
        </p:nvSpPr>
        <p:spPr>
          <a:xfrm>
            <a:off x="4847377"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1,41%</a:t>
            </a:r>
          </a:p>
        </p:txBody>
      </p:sp>
      <p:sp>
        <p:nvSpPr>
          <p:cNvPr id="80" name="TextBox 79"/>
          <p:cNvSpPr txBox="1"/>
          <p:nvPr/>
        </p:nvSpPr>
        <p:spPr>
          <a:xfrm>
            <a:off x="5408235"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1,21%</a:t>
            </a:r>
          </a:p>
        </p:txBody>
      </p:sp>
      <p:sp>
        <p:nvSpPr>
          <p:cNvPr id="81" name="TextBox 80"/>
          <p:cNvSpPr txBox="1"/>
          <p:nvPr/>
        </p:nvSpPr>
        <p:spPr>
          <a:xfrm>
            <a:off x="5969092"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0,19%</a:t>
            </a:r>
          </a:p>
        </p:txBody>
      </p:sp>
      <p:sp>
        <p:nvSpPr>
          <p:cNvPr id="82" name="TextBox 81"/>
          <p:cNvSpPr txBox="1"/>
          <p:nvPr/>
        </p:nvSpPr>
        <p:spPr>
          <a:xfrm>
            <a:off x="6529950" y="5544669"/>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3,9</a:t>
            </a:r>
          </a:p>
        </p:txBody>
      </p:sp>
      <p:sp>
        <p:nvSpPr>
          <p:cNvPr id="83" name="TextBox 82"/>
          <p:cNvSpPr txBox="1"/>
          <p:nvPr/>
        </p:nvSpPr>
        <p:spPr>
          <a:xfrm>
            <a:off x="604800" y="6123954"/>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Mineração</a:t>
            </a:r>
          </a:p>
        </p:txBody>
      </p:sp>
      <p:sp>
        <p:nvSpPr>
          <p:cNvPr id="84" name="TextBox 83"/>
          <p:cNvSpPr txBox="1"/>
          <p:nvPr/>
        </p:nvSpPr>
        <p:spPr>
          <a:xfrm>
            <a:off x="2043090" y="6126080"/>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14.839</a:t>
            </a:r>
          </a:p>
        </p:txBody>
      </p:sp>
      <p:sp>
        <p:nvSpPr>
          <p:cNvPr id="85" name="TextBox 84"/>
          <p:cNvSpPr txBox="1"/>
          <p:nvPr/>
        </p:nvSpPr>
        <p:spPr>
          <a:xfrm>
            <a:off x="2603947"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3,8%</a:t>
            </a:r>
          </a:p>
        </p:txBody>
      </p:sp>
      <p:sp>
        <p:nvSpPr>
          <p:cNvPr id="86" name="TextBox 85"/>
          <p:cNvSpPr txBox="1"/>
          <p:nvPr/>
        </p:nvSpPr>
        <p:spPr>
          <a:xfrm>
            <a:off x="3164805"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8,09%</a:t>
            </a:r>
          </a:p>
        </p:txBody>
      </p:sp>
      <p:sp>
        <p:nvSpPr>
          <p:cNvPr id="87" name="TextBox 86"/>
          <p:cNvSpPr txBox="1"/>
          <p:nvPr/>
        </p:nvSpPr>
        <p:spPr>
          <a:xfrm>
            <a:off x="3725662"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8,30%</a:t>
            </a:r>
          </a:p>
        </p:txBody>
      </p:sp>
      <p:sp>
        <p:nvSpPr>
          <p:cNvPr id="88" name="TextBox 87"/>
          <p:cNvSpPr txBox="1"/>
          <p:nvPr/>
        </p:nvSpPr>
        <p:spPr>
          <a:xfrm>
            <a:off x="4286520"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-0,19%</a:t>
            </a:r>
          </a:p>
        </p:txBody>
      </p:sp>
      <p:sp>
        <p:nvSpPr>
          <p:cNvPr id="89" name="TextBox 88"/>
          <p:cNvSpPr txBox="1"/>
          <p:nvPr/>
        </p:nvSpPr>
        <p:spPr>
          <a:xfrm>
            <a:off x="4847377"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0,18%</a:t>
            </a:r>
          </a:p>
        </p:txBody>
      </p:sp>
      <p:sp>
        <p:nvSpPr>
          <p:cNvPr id="90" name="TextBox 89"/>
          <p:cNvSpPr txBox="1"/>
          <p:nvPr/>
        </p:nvSpPr>
        <p:spPr>
          <a:xfrm>
            <a:off x="5408235"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0,21%</a:t>
            </a:r>
          </a:p>
        </p:txBody>
      </p:sp>
      <p:sp>
        <p:nvSpPr>
          <p:cNvPr id="91" name="TextBox 90"/>
          <p:cNvSpPr txBox="1"/>
          <p:nvPr/>
        </p:nvSpPr>
        <p:spPr>
          <a:xfrm>
            <a:off x="5969092"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-0,03%</a:t>
            </a:r>
          </a:p>
        </p:txBody>
      </p:sp>
      <p:sp>
        <p:nvSpPr>
          <p:cNvPr id="92" name="TextBox 91"/>
          <p:cNvSpPr txBox="1"/>
          <p:nvPr/>
        </p:nvSpPr>
        <p:spPr>
          <a:xfrm>
            <a:off x="6529950" y="6126080"/>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6,5</a:t>
            </a:r>
          </a:p>
        </p:txBody>
      </p:sp>
      <p:sp>
        <p:nvSpPr>
          <p:cNvPr id="93" name="TextBox 92"/>
          <p:cNvSpPr txBox="1"/>
          <p:nvPr/>
        </p:nvSpPr>
        <p:spPr>
          <a:xfrm>
            <a:off x="604800" y="6705365"/>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Bioenergia</a:t>
            </a:r>
          </a:p>
        </p:txBody>
      </p:sp>
      <p:sp>
        <p:nvSpPr>
          <p:cNvPr id="94" name="TextBox 93"/>
          <p:cNvSpPr txBox="1"/>
          <p:nvPr/>
        </p:nvSpPr>
        <p:spPr>
          <a:xfrm>
            <a:off x="2043090" y="6707491"/>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6.924</a:t>
            </a:r>
          </a:p>
        </p:txBody>
      </p:sp>
      <p:sp>
        <p:nvSpPr>
          <p:cNvPr id="95" name="TextBox 94"/>
          <p:cNvSpPr txBox="1"/>
          <p:nvPr/>
        </p:nvSpPr>
        <p:spPr>
          <a:xfrm>
            <a:off x="2603947"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1,8%</a:t>
            </a:r>
          </a:p>
        </p:txBody>
      </p:sp>
      <p:sp>
        <p:nvSpPr>
          <p:cNvPr id="96" name="TextBox 95"/>
          <p:cNvSpPr txBox="1"/>
          <p:nvPr/>
        </p:nvSpPr>
        <p:spPr>
          <a:xfrm>
            <a:off x="3164805"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8,96%</a:t>
            </a:r>
          </a:p>
        </p:txBody>
      </p:sp>
      <p:sp>
        <p:nvSpPr>
          <p:cNvPr id="97" name="TextBox 96"/>
          <p:cNvSpPr txBox="1"/>
          <p:nvPr/>
        </p:nvSpPr>
        <p:spPr>
          <a:xfrm>
            <a:off x="3725662"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9,07%</a:t>
            </a:r>
          </a:p>
        </p:txBody>
      </p:sp>
      <p:sp>
        <p:nvSpPr>
          <p:cNvPr id="98" name="TextBox 97"/>
          <p:cNvSpPr txBox="1"/>
          <p:nvPr/>
        </p:nvSpPr>
        <p:spPr>
          <a:xfrm>
            <a:off x="4286520"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-0,11%</a:t>
            </a:r>
          </a:p>
        </p:txBody>
      </p:sp>
      <p:sp>
        <p:nvSpPr>
          <p:cNvPr id="99" name="TextBox 98"/>
          <p:cNvSpPr txBox="1"/>
          <p:nvPr/>
        </p:nvSpPr>
        <p:spPr>
          <a:xfrm>
            <a:off x="4847377"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0,86%</a:t>
            </a:r>
          </a:p>
        </p:txBody>
      </p:sp>
      <p:sp>
        <p:nvSpPr>
          <p:cNvPr id="100" name="TextBox 99"/>
          <p:cNvSpPr txBox="1"/>
          <p:nvPr/>
        </p:nvSpPr>
        <p:spPr>
          <a:xfrm>
            <a:off x="5408235"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0,76%</a:t>
            </a:r>
          </a:p>
        </p:txBody>
      </p:sp>
      <p:sp>
        <p:nvSpPr>
          <p:cNvPr id="101" name="TextBox 100"/>
          <p:cNvSpPr txBox="1"/>
          <p:nvPr/>
        </p:nvSpPr>
        <p:spPr>
          <a:xfrm>
            <a:off x="5969092"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0,10%</a:t>
            </a:r>
          </a:p>
        </p:txBody>
      </p:sp>
      <p:sp>
        <p:nvSpPr>
          <p:cNvPr id="102" name="TextBox 101"/>
          <p:cNvSpPr txBox="1"/>
          <p:nvPr/>
        </p:nvSpPr>
        <p:spPr>
          <a:xfrm>
            <a:off x="6529950" y="6707491"/>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4,4</a:t>
            </a:r>
          </a:p>
        </p:txBody>
      </p:sp>
      <p:sp>
        <p:nvSpPr>
          <p:cNvPr id="103" name="TextBox 102"/>
          <p:cNvSpPr txBox="1"/>
          <p:nvPr/>
        </p:nvSpPr>
        <p:spPr>
          <a:xfrm>
            <a:off x="604800" y="7286776"/>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Papel e celulose</a:t>
            </a:r>
          </a:p>
        </p:txBody>
      </p:sp>
      <p:sp>
        <p:nvSpPr>
          <p:cNvPr id="104" name="TextBox 103"/>
          <p:cNvSpPr txBox="1"/>
          <p:nvPr/>
        </p:nvSpPr>
        <p:spPr>
          <a:xfrm>
            <a:off x="2043090" y="7288903"/>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7.223</a:t>
            </a:r>
          </a:p>
        </p:txBody>
      </p:sp>
      <p:sp>
        <p:nvSpPr>
          <p:cNvPr id="105" name="TextBox 104"/>
          <p:cNvSpPr txBox="1"/>
          <p:nvPr/>
        </p:nvSpPr>
        <p:spPr>
          <a:xfrm>
            <a:off x="2603947"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1,8%</a:t>
            </a:r>
          </a:p>
        </p:txBody>
      </p:sp>
      <p:sp>
        <p:nvSpPr>
          <p:cNvPr id="106" name="TextBox 105"/>
          <p:cNvSpPr txBox="1"/>
          <p:nvPr/>
        </p:nvSpPr>
        <p:spPr>
          <a:xfrm>
            <a:off x="3164805"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7,65%</a:t>
            </a:r>
          </a:p>
        </p:txBody>
      </p:sp>
      <p:sp>
        <p:nvSpPr>
          <p:cNvPr id="107" name="TextBox 106"/>
          <p:cNvSpPr txBox="1"/>
          <p:nvPr/>
        </p:nvSpPr>
        <p:spPr>
          <a:xfrm>
            <a:off x="3725662"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7,87%</a:t>
            </a:r>
          </a:p>
        </p:txBody>
      </p:sp>
      <p:sp>
        <p:nvSpPr>
          <p:cNvPr id="108" name="TextBox 107"/>
          <p:cNvSpPr txBox="1"/>
          <p:nvPr/>
        </p:nvSpPr>
        <p:spPr>
          <a:xfrm>
            <a:off x="4286520"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-0,20%</a:t>
            </a:r>
          </a:p>
        </p:txBody>
      </p:sp>
      <p:sp>
        <p:nvSpPr>
          <p:cNvPr id="109" name="TextBox 108"/>
          <p:cNvSpPr txBox="1"/>
          <p:nvPr/>
        </p:nvSpPr>
        <p:spPr>
          <a:xfrm>
            <a:off x="4847377"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-0,23%</a:t>
            </a:r>
          </a:p>
        </p:txBody>
      </p:sp>
      <p:sp>
        <p:nvSpPr>
          <p:cNvPr id="110" name="TextBox 109"/>
          <p:cNvSpPr txBox="1"/>
          <p:nvPr/>
        </p:nvSpPr>
        <p:spPr>
          <a:xfrm>
            <a:off x="5408235"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-0,20%</a:t>
            </a:r>
          </a:p>
        </p:txBody>
      </p:sp>
      <p:sp>
        <p:nvSpPr>
          <p:cNvPr id="111" name="TextBox 110"/>
          <p:cNvSpPr txBox="1"/>
          <p:nvPr/>
        </p:nvSpPr>
        <p:spPr>
          <a:xfrm>
            <a:off x="5969092"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-0,04%</a:t>
            </a:r>
          </a:p>
        </p:txBody>
      </p:sp>
      <p:sp>
        <p:nvSpPr>
          <p:cNvPr id="112" name="TextBox 111"/>
          <p:cNvSpPr txBox="1"/>
          <p:nvPr/>
        </p:nvSpPr>
        <p:spPr>
          <a:xfrm>
            <a:off x="6529950" y="7288903"/>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6,9</a:t>
            </a:r>
          </a:p>
        </p:txBody>
      </p:sp>
      <p:sp>
        <p:nvSpPr>
          <p:cNvPr id="113" name="TextBox 112"/>
          <p:cNvSpPr txBox="1"/>
          <p:nvPr/>
        </p:nvSpPr>
        <p:spPr>
          <a:xfrm>
            <a:off x="604800" y="7868188"/>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Outros serviços</a:t>
            </a:r>
          </a:p>
        </p:txBody>
      </p:sp>
      <p:sp>
        <p:nvSpPr>
          <p:cNvPr id="114" name="TextBox 113"/>
          <p:cNvSpPr txBox="1"/>
          <p:nvPr/>
        </p:nvSpPr>
        <p:spPr>
          <a:xfrm>
            <a:off x="2043090" y="7870314"/>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1.671</a:t>
            </a:r>
          </a:p>
        </p:txBody>
      </p:sp>
      <p:sp>
        <p:nvSpPr>
          <p:cNvPr id="115" name="TextBox 114"/>
          <p:cNvSpPr txBox="1"/>
          <p:nvPr/>
        </p:nvSpPr>
        <p:spPr>
          <a:xfrm>
            <a:off x="2603947"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0,4%</a:t>
            </a:r>
          </a:p>
        </p:txBody>
      </p:sp>
      <p:sp>
        <p:nvSpPr>
          <p:cNvPr id="116" name="TextBox 115"/>
          <p:cNvSpPr txBox="1"/>
          <p:nvPr/>
        </p:nvSpPr>
        <p:spPr>
          <a:xfrm>
            <a:off x="3164805"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7,71%</a:t>
            </a:r>
          </a:p>
        </p:txBody>
      </p:sp>
      <p:sp>
        <p:nvSpPr>
          <p:cNvPr id="117" name="TextBox 116"/>
          <p:cNvSpPr txBox="1"/>
          <p:nvPr/>
        </p:nvSpPr>
        <p:spPr>
          <a:xfrm>
            <a:off x="3725662"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7,95%</a:t>
            </a:r>
          </a:p>
        </p:txBody>
      </p:sp>
      <p:sp>
        <p:nvSpPr>
          <p:cNvPr id="118" name="TextBox 117"/>
          <p:cNvSpPr txBox="1"/>
          <p:nvPr/>
        </p:nvSpPr>
        <p:spPr>
          <a:xfrm>
            <a:off x="4286520"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-0,23%</a:t>
            </a:r>
          </a:p>
        </p:txBody>
      </p:sp>
      <p:sp>
        <p:nvSpPr>
          <p:cNvPr id="119" name="TextBox 118"/>
          <p:cNvSpPr txBox="1"/>
          <p:nvPr/>
        </p:nvSpPr>
        <p:spPr>
          <a:xfrm>
            <a:off x="4847377"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-0,30%</a:t>
            </a:r>
          </a:p>
        </p:txBody>
      </p:sp>
      <p:sp>
        <p:nvSpPr>
          <p:cNvPr id="120" name="TextBox 119"/>
          <p:cNvSpPr txBox="1"/>
          <p:nvPr/>
        </p:nvSpPr>
        <p:spPr>
          <a:xfrm>
            <a:off x="5408235"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-0,27%</a:t>
            </a:r>
          </a:p>
        </p:txBody>
      </p:sp>
      <p:sp>
        <p:nvSpPr>
          <p:cNvPr id="121" name="TextBox 120"/>
          <p:cNvSpPr txBox="1"/>
          <p:nvPr/>
        </p:nvSpPr>
        <p:spPr>
          <a:xfrm>
            <a:off x="5969092"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-0,03%</a:t>
            </a:r>
          </a:p>
        </p:txBody>
      </p:sp>
      <p:sp>
        <p:nvSpPr>
          <p:cNvPr id="122" name="TextBox 121"/>
          <p:cNvSpPr txBox="1"/>
          <p:nvPr/>
        </p:nvSpPr>
        <p:spPr>
          <a:xfrm>
            <a:off x="6529950" y="7870314"/>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3,3</a:t>
            </a:r>
          </a:p>
        </p:txBody>
      </p:sp>
      <p:sp>
        <p:nvSpPr>
          <p:cNvPr id="123" name="TextBox 122"/>
          <p:cNvSpPr txBox="1"/>
          <p:nvPr/>
        </p:nvSpPr>
        <p:spPr>
          <a:xfrm>
            <a:off x="604800" y="8449599"/>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Comunicação</a:t>
            </a:r>
          </a:p>
        </p:txBody>
      </p:sp>
      <p:sp>
        <p:nvSpPr>
          <p:cNvPr id="124" name="TextBox 123"/>
          <p:cNvSpPr txBox="1"/>
          <p:nvPr/>
        </p:nvSpPr>
        <p:spPr>
          <a:xfrm>
            <a:off x="2043090" y="8451725"/>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1.747</a:t>
            </a:r>
          </a:p>
        </p:txBody>
      </p:sp>
      <p:sp>
        <p:nvSpPr>
          <p:cNvPr id="125" name="TextBox 124"/>
          <p:cNvSpPr txBox="1"/>
          <p:nvPr/>
        </p:nvSpPr>
        <p:spPr>
          <a:xfrm>
            <a:off x="2603947"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0,5%</a:t>
            </a:r>
          </a:p>
        </p:txBody>
      </p:sp>
      <p:sp>
        <p:nvSpPr>
          <p:cNvPr id="126" name="TextBox 125"/>
          <p:cNvSpPr txBox="1"/>
          <p:nvPr/>
        </p:nvSpPr>
        <p:spPr>
          <a:xfrm>
            <a:off x="3164805"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7,95%</a:t>
            </a:r>
          </a:p>
        </p:txBody>
      </p:sp>
      <p:sp>
        <p:nvSpPr>
          <p:cNvPr id="127" name="TextBox 126"/>
          <p:cNvSpPr txBox="1"/>
          <p:nvPr/>
        </p:nvSpPr>
        <p:spPr>
          <a:xfrm>
            <a:off x="3725662"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8,09%</a:t>
            </a:r>
          </a:p>
        </p:txBody>
      </p:sp>
      <p:sp>
        <p:nvSpPr>
          <p:cNvPr id="128" name="TextBox 127"/>
          <p:cNvSpPr txBox="1"/>
          <p:nvPr/>
        </p:nvSpPr>
        <p:spPr>
          <a:xfrm>
            <a:off x="4286520"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-0,13%</a:t>
            </a:r>
          </a:p>
        </p:txBody>
      </p:sp>
      <p:sp>
        <p:nvSpPr>
          <p:cNvPr id="129" name="TextBox 128"/>
          <p:cNvSpPr txBox="1"/>
          <p:nvPr/>
        </p:nvSpPr>
        <p:spPr>
          <a:xfrm>
            <a:off x="4847377"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-0,14%</a:t>
            </a:r>
          </a:p>
        </p:txBody>
      </p:sp>
      <p:sp>
        <p:nvSpPr>
          <p:cNvPr id="130" name="TextBox 129"/>
          <p:cNvSpPr txBox="1"/>
          <p:nvPr/>
        </p:nvSpPr>
        <p:spPr>
          <a:xfrm>
            <a:off x="5408235"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-0,16%</a:t>
            </a:r>
          </a:p>
        </p:txBody>
      </p:sp>
      <p:sp>
        <p:nvSpPr>
          <p:cNvPr id="131" name="TextBox 130"/>
          <p:cNvSpPr txBox="1"/>
          <p:nvPr/>
        </p:nvSpPr>
        <p:spPr>
          <a:xfrm>
            <a:off x="5969092"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0,02%</a:t>
            </a:r>
          </a:p>
        </p:txBody>
      </p:sp>
      <p:sp>
        <p:nvSpPr>
          <p:cNvPr id="132" name="TextBox 131"/>
          <p:cNvSpPr txBox="1"/>
          <p:nvPr/>
        </p:nvSpPr>
        <p:spPr>
          <a:xfrm>
            <a:off x="6529950" y="8451725"/>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4,2</a:t>
            </a:r>
          </a:p>
        </p:txBody>
      </p:sp>
      <p:sp>
        <p:nvSpPr>
          <p:cNvPr id="133" name="TextBox 132"/>
          <p:cNvSpPr txBox="1"/>
          <p:nvPr/>
        </p:nvSpPr>
        <p:spPr>
          <a:xfrm>
            <a:off x="604800" y="9031601"/>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Metalurgia e siderurgia</a:t>
            </a:r>
          </a:p>
        </p:txBody>
      </p:sp>
      <p:sp>
        <p:nvSpPr>
          <p:cNvPr id="134" name="TextBox 133"/>
          <p:cNvSpPr txBox="1"/>
          <p:nvPr/>
        </p:nvSpPr>
        <p:spPr>
          <a:xfrm>
            <a:off x="2043090" y="9033727"/>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1.120</a:t>
            </a:r>
          </a:p>
        </p:txBody>
      </p:sp>
      <p:sp>
        <p:nvSpPr>
          <p:cNvPr id="135" name="TextBox 134"/>
          <p:cNvSpPr txBox="1"/>
          <p:nvPr/>
        </p:nvSpPr>
        <p:spPr>
          <a:xfrm>
            <a:off x="2603947"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0,3%</a:t>
            </a:r>
          </a:p>
        </p:txBody>
      </p:sp>
      <p:sp>
        <p:nvSpPr>
          <p:cNvPr id="136" name="TextBox 135"/>
          <p:cNvSpPr txBox="1"/>
          <p:nvPr/>
        </p:nvSpPr>
        <p:spPr>
          <a:xfrm>
            <a:off x="3164805"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23,57%</a:t>
            </a:r>
          </a:p>
        </p:txBody>
      </p:sp>
      <p:sp>
        <p:nvSpPr>
          <p:cNvPr id="137" name="TextBox 136"/>
          <p:cNvSpPr txBox="1"/>
          <p:nvPr/>
        </p:nvSpPr>
        <p:spPr>
          <a:xfrm>
            <a:off x="3725662"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21,71%</a:t>
            </a:r>
          </a:p>
        </p:txBody>
      </p:sp>
      <p:sp>
        <p:nvSpPr>
          <p:cNvPr id="138" name="TextBox 137"/>
          <p:cNvSpPr txBox="1"/>
          <p:nvPr/>
        </p:nvSpPr>
        <p:spPr>
          <a:xfrm>
            <a:off x="4286520"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1,53%</a:t>
            </a:r>
          </a:p>
        </p:txBody>
      </p:sp>
      <p:sp>
        <p:nvSpPr>
          <p:cNvPr id="139" name="TextBox 138"/>
          <p:cNvSpPr txBox="1"/>
          <p:nvPr/>
        </p:nvSpPr>
        <p:spPr>
          <a:xfrm>
            <a:off x="4847377"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14,35%</a:t>
            </a:r>
          </a:p>
        </p:txBody>
      </p:sp>
      <p:sp>
        <p:nvSpPr>
          <p:cNvPr id="140" name="TextBox 139"/>
          <p:cNvSpPr txBox="1"/>
          <p:nvPr/>
        </p:nvSpPr>
        <p:spPr>
          <a:xfrm>
            <a:off x="5408235"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12,46%</a:t>
            </a:r>
          </a:p>
        </p:txBody>
      </p:sp>
      <p:sp>
        <p:nvSpPr>
          <p:cNvPr id="141" name="TextBox 140"/>
          <p:cNvSpPr txBox="1"/>
          <p:nvPr/>
        </p:nvSpPr>
        <p:spPr>
          <a:xfrm>
            <a:off x="5969092"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1,68%</a:t>
            </a:r>
          </a:p>
        </p:txBody>
      </p:sp>
      <p:sp>
        <p:nvSpPr>
          <p:cNvPr id="142" name="TextBox 141"/>
          <p:cNvSpPr txBox="1"/>
          <p:nvPr/>
        </p:nvSpPr>
        <p:spPr>
          <a:xfrm>
            <a:off x="6529950" y="9033727"/>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4,9</a:t>
            </a:r>
          </a:p>
        </p:txBody>
      </p:sp>
      <p:sp>
        <p:nvSpPr>
          <p:cNvPr id="143" name="TextBox 142"/>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incentivadas precificadas pela ANBIMA. Desconsideramos as debêntures que começaram a ser precificadas ou que venceram ao longo do mês, para que a comparação com o mês anterior seja feita com a mesma base de ativos.</a:t>
            </a:r>
          </a:p>
        </p:txBody>
      </p:sp>
      <p:sp>
        <p:nvSpPr>
          <p:cNvPr id="144" name="TextBox 143"/>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Investidores em geral</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31/05/2021</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0,75%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R$ 42.694.019,75</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6" name="TextBox 15"/>
          <p:cNvSpPr txBox="1"/>
          <p:nvPr/>
        </p:nvSpPr>
        <p:spPr>
          <a:xfrm>
            <a:off x="3878280" y="1883857"/>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Não há</a:t>
            </a:r>
          </a:p>
        </p:txBody>
      </p:sp>
      <p:sp>
        <p:nvSpPr>
          <p:cNvPr id="17" name="TextBox 16"/>
          <p:cNvSpPr txBox="1"/>
          <p:nvPr/>
        </p:nvSpPr>
        <p:spPr>
          <a:xfrm>
            <a:off x="3878280" y="238577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8" name="TextBox 17"/>
          <p:cNvSpPr txBox="1"/>
          <p:nvPr/>
        </p:nvSpPr>
        <p:spPr>
          <a:xfrm>
            <a:off x="3878280" y="2574770"/>
            <a:ext cx="3281040" cy="1366351"/>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D+31</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9" name="TextBox 18"/>
          <p:cNvSpPr txBox="1"/>
          <p:nvPr/>
        </p:nvSpPr>
        <p:spPr>
          <a:xfrm>
            <a:off x="3878280" y="445851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0" name="TextBox 19"/>
          <p:cNvSpPr txBox="1"/>
          <p:nvPr/>
        </p:nvSpPr>
        <p:spPr>
          <a:xfrm>
            <a:off x="3878280" y="4647510"/>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R$ 49.421.174,50</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Disclaimer</a:t>
            </a:r>
          </a:p>
        </p:txBody>
      </p:sp>
      <p:sp>
        <p:nvSpPr>
          <p:cNvPr id="22" name="TextBox 21"/>
          <p:cNvSpPr txBox="1"/>
          <p:nvPr/>
        </p:nvSpPr>
        <p:spPr>
          <a:xfrm>
            <a:off x="400680" y="6471360"/>
            <a:ext cx="6758640" cy="593814"/>
          </a:xfrm>
          <a:prstGeom prst="rect">
            <a:avLst/>
          </a:prstGeom>
          <a:noFill/>
        </p:spPr>
        <p:txBody>
          <a:bodyPr wrap="square" lIns="0" rIns="0" tIns="0" bIns="0" anchor="t"/>
          <a:lstStyle/>
          <a:p>
            <a:pPr algn="just">
              <a:lnSpc>
                <a:spcPts val="780"/>
              </a:lnSpc>
            </a:pPr>
            <a:r>
              <a:rPr sz="639" b="0" i="0">
                <a:solidFill>
                  <a:srgbClr val="E9E9E9"/>
                </a:solidFill>
                <a:latin typeface="Versos"/>
              </a:rPr>
              <a:t>Este material foi elaborado pela Tivio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p:txBody>
      </p:sp>
      <p:sp>
        <p:nvSpPr>
          <p:cNvPr id="23" name="TextBox 22"/>
          <p:cNvSpPr txBox="1"/>
          <p:nvPr/>
        </p:nvSpPr>
        <p:spPr>
          <a:xfrm>
            <a:off x="400680" y="7094351"/>
            <a:ext cx="6758640" cy="891135"/>
          </a:xfrm>
          <a:prstGeom prst="rect">
            <a:avLst/>
          </a:prstGeom>
          <a:noFill/>
        </p:spPr>
        <p:txBody>
          <a:bodyPr wrap="square" lIns="0" rIns="0" tIns="0" bIns="0" anchor="t"/>
          <a:lstStyle/>
          <a:p>
            <a:pPr algn="just">
              <a:lnSpc>
                <a:spcPts val="780"/>
              </a:lnSpc>
            </a:pPr>
            <a:r>
              <a:rPr sz="639" b="0" i="0">
                <a:solidFill>
                  <a:srgbClr val="E9E9E9"/>
                </a:solidFill>
                <a:latin typeface="Versos"/>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podem ser observadas no regulamento do fundo, disponíveis no site https://tivio.com/fundos/. Os indicadores aqui apresentados devem ser utilizados como referência econômica e não parâmetro objetivo do fundo. Principais Fatores de Risco: (i) Crédito: risco de os emissores dos ativos financeiros e/ou das contrapartes não cumprirem suas obrigações de pagamento e/ou de liquidação das operações contratadas; (ii) Liquidez: risco de redução ou inexistência de demanda pelos ativos financeiros nos respectivos mercados em que são negociados; (iii) Mercado: Risco de oscilações decorrentes das flutuações de preços e cotações de mercado; (iv)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p:txBody>
      </p:sp>
      <p:sp>
        <p:nvSpPr>
          <p:cNvPr id="24" name="TextBox 23"/>
          <p:cNvSpPr txBox="1"/>
          <p:nvPr/>
        </p:nvSpPr>
        <p:spPr>
          <a:xfrm>
            <a:off x="400680" y="8014663"/>
            <a:ext cx="6758640" cy="494707"/>
          </a:xfrm>
          <a:prstGeom prst="rect">
            <a:avLst/>
          </a:prstGeom>
          <a:noFill/>
        </p:spPr>
        <p:txBody>
          <a:bodyPr wrap="square" lIns="0" rIns="0" tIns="0" bIns="0" anchor="t"/>
          <a:lstStyle/>
          <a:p>
            <a:pPr algn="just">
              <a:lnSpc>
                <a:spcPts val="780"/>
              </a:lnSpc>
            </a:pPr>
            <a:r>
              <a:rPr sz="639" b="0" i="0">
                <a:solidFill>
                  <a:srgbClr val="E9E9E9"/>
                </a:solidFill>
                <a:latin typeface="Versos"/>
              </a:rPr>
              <a:t>Leia a lâmina de informações essenciais, se houver, e o regulamento antes de investir. Estes documentos podem ser encontrados no site https://tivio.com/fundos/. Leia previamente as condições de cada produto antes de investir. Os investimentos apresentados podem não ser adequados aos seus objetivos, situação financeira ou necessidades individuais. A rentabilidade obtida no passado não representa garantia de resultados futuros. A rentabilidade divulgada não é líquida de impostos. “Os ativos financeiros integrantes nesta carteira podem não possuir liquidez imediata, podendo seus prazos e/ou rentabilidade variar de acordo com o vencimento ou prazo de resgate de cada ativo, caso seja negociado antecipadamente.</a:t>
            </a:r>
          </a:p>
        </p:txBody>
      </p:sp>
      <p:sp>
        <p:nvSpPr>
          <p:cNvPr id="25" name="TextBox 24"/>
          <p:cNvSpPr txBox="1"/>
          <p:nvPr/>
        </p:nvSpPr>
        <p:spPr>
          <a:xfrm>
            <a:off x="400680" y="8538547"/>
            <a:ext cx="6758640" cy="395600"/>
          </a:xfrm>
          <a:prstGeom prst="rect">
            <a:avLst/>
          </a:prstGeom>
          <a:noFill/>
        </p:spPr>
        <p:txBody>
          <a:bodyPr wrap="square" lIns="0" rIns="0" tIns="0" bIns="0" anchor="t"/>
          <a:lstStyle/>
          <a:p>
            <a:pPr algn="just">
              <a:lnSpc>
                <a:spcPts val="780"/>
              </a:lnSpc>
            </a:pPr>
            <a:r>
              <a:rPr sz="639" b="0" i="0">
                <a:solidFill>
                  <a:srgbClr val="E9E9E9"/>
                </a:solidFill>
                <a:latin typeface="Versos"/>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Suitability é essencial para garantir a adequação do perfil do cliente ao produto de investimento escolhido. Os indicadores aqui apresentados devem ser utilizados como referência econômica e não parâmetro objetivo do fundo. Material de Divulgação.</a:t>
            </a:r>
          </a:p>
        </p:txBody>
      </p:sp>
      <p:sp>
        <p:nvSpPr>
          <p:cNvPr id="26" name="TextBox 25"/>
          <p:cNvSpPr txBox="1"/>
          <p:nvPr/>
        </p:nvSpPr>
        <p:spPr>
          <a:xfrm>
            <a:off x="400680" y="9086056"/>
            <a:ext cx="859477" cy="200221"/>
          </a:xfrm>
          <a:prstGeom prst="rect">
            <a:avLst/>
          </a:prstGeom>
          <a:noFill/>
        </p:spPr>
        <p:txBody>
          <a:bodyPr wrap="square" lIns="0" rIns="0" tIns="0" bIns="0" anchor="t"/>
          <a:lstStyle/>
          <a:p>
            <a:pPr algn="l">
              <a:lnSpc>
                <a:spcPts val="803"/>
              </a:lnSpc>
            </a:pPr>
            <a:r>
              <a:rPr sz="642" b="0" i="0">
                <a:solidFill>
                  <a:srgbClr val="E9E9E9"/>
                </a:solidFill>
                <a:latin typeface="Versos"/>
              </a:rPr>
              <a:t>SAC: 0800 704 8383</a:t>
            </a:r>
          </a:p>
          <a:p>
            <a:pPr algn="l">
              <a:lnSpc>
                <a:spcPts val="803"/>
              </a:lnSpc>
            </a:pPr>
            <a:r>
              <a:rPr sz="642" b="0" i="0">
                <a:solidFill>
                  <a:srgbClr val="E9E9E9"/>
                </a:solidFill>
                <a:latin typeface="Versos"/>
              </a:rPr>
              <a:t>Atendimento 24 horas</a:t>
            </a:r>
          </a:p>
        </p:txBody>
      </p:sp>
      <p:sp>
        <p:nvSpPr>
          <p:cNvPr id="27" name="TextBox 26"/>
          <p:cNvSpPr txBox="1"/>
          <p:nvPr/>
        </p:nvSpPr>
        <p:spPr>
          <a:xfrm>
            <a:off x="1381117" y="9086056"/>
            <a:ext cx="3049987" cy="200221"/>
          </a:xfrm>
          <a:prstGeom prst="rect">
            <a:avLst/>
          </a:prstGeom>
          <a:noFill/>
        </p:spPr>
        <p:txBody>
          <a:bodyPr wrap="square" lIns="0" rIns="0" tIns="0" bIns="0" anchor="t"/>
          <a:lstStyle/>
          <a:p>
            <a:pPr algn="l">
              <a:lnSpc>
                <a:spcPts val="803"/>
              </a:lnSpc>
            </a:pPr>
            <a:r>
              <a:rPr sz="642" b="0" i="0">
                <a:solidFill>
                  <a:srgbClr val="E9E9E9"/>
                </a:solidFill>
                <a:latin typeface="Versos"/>
              </a:rPr>
              <a:t>Ouvidoria: 0800 727 9933</a:t>
            </a:r>
          </a:p>
          <a:p>
            <a:pPr algn="l">
              <a:lnSpc>
                <a:spcPts val="803"/>
              </a:lnSpc>
            </a:pPr>
            <a:r>
              <a:rPr sz="642" b="0" i="0">
                <a:solidFill>
                  <a:srgbClr val="E9E9E9"/>
                </a:solidFill>
                <a:latin typeface="Versos"/>
              </a:rPr>
              <a:t>Atendimento das 9h às 18h, de segunda a sexta-feira, exceto feriados nacionais</a:t>
            </a:r>
          </a:p>
        </p:txBody>
      </p:sp>
      <p:sp>
        <p:nvSpPr>
          <p:cNvPr id="28" name="TextBox 27"/>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29" name="TextBox 28"/>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0" name="TextBox 29"/>
          <p:cNvSpPr txBox="1"/>
          <p:nvPr/>
        </p:nvSpPr>
        <p:spPr>
          <a:xfrm>
            <a:off x="4528440" y="10020071"/>
            <a:ext cx="500613"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1" name="TextBox 30"/>
          <p:cNvSpPr txBox="1"/>
          <p:nvPr/>
        </p:nvSpPr>
        <p:spPr>
          <a:xfrm>
            <a:off x="4528440" y="10110791"/>
            <a:ext cx="500613" cy="166320"/>
          </a:xfrm>
          <a:prstGeom prst="rect">
            <a:avLst/>
          </a:prstGeom>
          <a:noFill/>
        </p:spPr>
        <p:txBody>
          <a:bodyPr wrap="none" lIns="0" rIns="0" tIns="0" bIns="0" anchor="t"/>
          <a:lstStyle/>
          <a:p>
            <a:pPr algn="l">
              <a:lnSpc>
                <a:spcPts val="1285"/>
              </a:lnSpc>
            </a:pPr>
            <a:r>
              <a:rPr sz="1071" b="1" i="0">
                <a:solidFill>
                  <a:srgbClr val="FFFFFF"/>
                </a:solidFill>
                <a:latin typeface="Versos"/>
              </a:rPr>
              <a:t>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