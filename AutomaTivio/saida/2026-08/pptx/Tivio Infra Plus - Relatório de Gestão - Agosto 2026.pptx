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IPCA RF FIF RL </a:t>
            </a:r>
            <a:r>
              <a:rPr sz="833" b="0" i="0">
                <a:solidFill>
                  <a:srgbClr val="FFFFFF"/>
                </a:solidFill>
                <a:latin typeface="Versos"/>
              </a:rPr>
              <a:t>/ CNPJ 32.485.590/0001-86</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503921"/>
          </a:xfrm>
          <a:prstGeom prst="rect">
            <a:avLst/>
          </a:prstGeom>
          <a:noFill/>
        </p:spPr>
        <p:txBody>
          <a:bodyPr wrap="square" lIns="0" rIns="0" tIns="0" bIns="0" anchor="t"/>
          <a:lstStyle/>
          <a:p>
            <a:pPr algn="l">
              <a:lnSpc>
                <a:spcPts val="1299"/>
              </a:lnSpc>
            </a:pPr>
            <a:r>
              <a:rPr sz="1101" b="0" i="0">
                <a:solidFill>
                  <a:srgbClr val="1E1E1E"/>
                </a:solidFill>
                <a:latin typeface="Versos"/>
              </a:rPr>
              <a:t>O fundo busca promover o investimento em debêntures de infraestrutura (Lei 12.431/11) que oferece benefício fiscal para o cotista pessoa física. O fundo busca superar o retorno de ativos indexados à inflação.</a:t>
            </a:r>
          </a:p>
        </p:txBody>
      </p:sp>
      <p:sp>
        <p:nvSpPr>
          <p:cNvPr id="7" name="TextBox 6"/>
          <p:cNvSpPr txBox="1"/>
          <p:nvPr/>
        </p:nvSpPr>
        <p:spPr>
          <a:xfrm>
            <a:off x="1126440"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75550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75550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13161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1,26%</a:t>
            </a:r>
          </a:p>
        </p:txBody>
      </p:sp>
      <p:sp>
        <p:nvSpPr>
          <p:cNvPr id="15" name="TextBox 14"/>
          <p:cNvSpPr txBox="1"/>
          <p:nvPr/>
        </p:nvSpPr>
        <p:spPr>
          <a:xfrm>
            <a:off x="2136881"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5,98%</a:t>
            </a:r>
          </a:p>
        </p:txBody>
      </p:sp>
      <p:sp>
        <p:nvSpPr>
          <p:cNvPr id="16" name="TextBox 15"/>
          <p:cNvSpPr txBox="1"/>
          <p:nvPr/>
        </p:nvSpPr>
        <p:spPr>
          <a:xfrm>
            <a:off x="3147322"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9,91%</a:t>
            </a:r>
          </a:p>
        </p:txBody>
      </p:sp>
      <p:sp>
        <p:nvSpPr>
          <p:cNvPr id="17" name="TextBox 16"/>
          <p:cNvSpPr txBox="1"/>
          <p:nvPr/>
        </p:nvSpPr>
        <p:spPr>
          <a:xfrm>
            <a:off x="4157763"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19,03%</a:t>
            </a:r>
          </a:p>
        </p:txBody>
      </p:sp>
      <p:sp>
        <p:nvSpPr>
          <p:cNvPr id="18" name="TextBox 17"/>
          <p:cNvSpPr txBox="1"/>
          <p:nvPr/>
        </p:nvSpPr>
        <p:spPr>
          <a:xfrm>
            <a:off x="5168205" y="312783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29,49%</a:t>
            </a:r>
          </a:p>
        </p:txBody>
      </p:sp>
      <p:sp>
        <p:nvSpPr>
          <p:cNvPr id="19" name="TextBox 18"/>
          <p:cNvSpPr txBox="1"/>
          <p:nvPr/>
        </p:nvSpPr>
        <p:spPr>
          <a:xfrm>
            <a:off x="6178646" y="312783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77,41%</a:t>
            </a:r>
          </a:p>
        </p:txBody>
      </p:sp>
      <p:sp>
        <p:nvSpPr>
          <p:cNvPr id="20" name="TextBox 19"/>
          <p:cNvSpPr txBox="1"/>
          <p:nvPr/>
        </p:nvSpPr>
        <p:spPr>
          <a:xfrm>
            <a:off x="340200" y="35228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23,32%</a:t>
            </a:r>
          </a:p>
        </p:txBody>
      </p:sp>
      <p:sp>
        <p:nvSpPr>
          <p:cNvPr id="25" name="TextBox 24"/>
          <p:cNvSpPr txBox="1"/>
          <p:nvPr/>
        </p:nvSpPr>
        <p:spPr>
          <a:xfrm>
            <a:off x="5168205" y="35190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33,11%</a:t>
            </a:r>
          </a:p>
        </p:txBody>
      </p:sp>
      <p:sp>
        <p:nvSpPr>
          <p:cNvPr id="26" name="TextBox 25"/>
          <p:cNvSpPr txBox="1"/>
          <p:nvPr/>
        </p:nvSpPr>
        <p:spPr>
          <a:xfrm>
            <a:off x="6178646" y="35190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87,91%</a:t>
            </a:r>
          </a:p>
        </p:txBody>
      </p:sp>
      <p:sp>
        <p:nvSpPr>
          <p:cNvPr id="27" name="TextBox 26"/>
          <p:cNvSpPr txBox="1"/>
          <p:nvPr/>
        </p:nvSpPr>
        <p:spPr>
          <a:xfrm>
            <a:off x="340200" y="39159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−3,20%</a:t>
            </a:r>
          </a:p>
        </p:txBody>
      </p:sp>
      <p:sp>
        <p:nvSpPr>
          <p:cNvPr id="30" name="TextBox 29"/>
          <p:cNvSpPr txBox="1"/>
          <p:nvPr/>
        </p:nvSpPr>
        <p:spPr>
          <a:xfrm>
            <a:off x="3147322"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−3,44%</a:t>
            </a:r>
          </a:p>
        </p:txBody>
      </p:sp>
      <p:sp>
        <p:nvSpPr>
          <p:cNvPr id="31" name="TextBox 30"/>
          <p:cNvSpPr txBox="1"/>
          <p:nvPr/>
        </p:nvSpPr>
        <p:spPr>
          <a:xfrm>
            <a:off x="4157763"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−4,28%</a:t>
            </a:r>
          </a:p>
        </p:txBody>
      </p:sp>
      <p:sp>
        <p:nvSpPr>
          <p:cNvPr id="32" name="TextBox 31"/>
          <p:cNvSpPr txBox="1"/>
          <p:nvPr/>
        </p:nvSpPr>
        <p:spPr>
          <a:xfrm>
            <a:off x="5168205" y="39121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−3,62%</a:t>
            </a:r>
          </a:p>
        </p:txBody>
      </p:sp>
      <p:sp>
        <p:nvSpPr>
          <p:cNvPr id="33" name="TextBox 32"/>
          <p:cNvSpPr txBox="1"/>
          <p:nvPr/>
        </p:nvSpPr>
        <p:spPr>
          <a:xfrm>
            <a:off x="6178646" y="39121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−10,50%</a:t>
            </a:r>
          </a:p>
        </p:txBody>
      </p:sp>
      <p:sp>
        <p:nvSpPr>
          <p:cNvPr id="34" name="TextBox 33"/>
          <p:cNvSpPr txBox="1"/>
          <p:nvPr/>
        </p:nvSpPr>
        <p:spPr>
          <a:xfrm>
            <a:off x="355320" y="42486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9063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41992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37" name="TextBox 36"/>
          <p:cNvSpPr txBox="1"/>
          <p:nvPr/>
        </p:nvSpPr>
        <p:spPr>
          <a:xfrm>
            <a:off x="2831928" y="5418039"/>
            <a:ext cx="366584" cy="143640"/>
          </a:xfrm>
          <a:prstGeom prst="rect">
            <a:avLst/>
          </a:prstGeom>
          <a:noFill/>
        </p:spPr>
        <p:txBody>
          <a:bodyPr wrap="none" lIns="0" rIns="0" tIns="0" bIns="0" anchor="t"/>
          <a:lstStyle/>
          <a:p>
            <a:pPr algn="l">
              <a:lnSpc>
                <a:spcPts val="1107"/>
              </a:lnSpc>
            </a:pPr>
            <a:r>
              <a:rPr sz="922" b="0" i="0">
                <a:solidFill>
                  <a:srgbClr val="5A82A0"/>
                </a:solidFill>
                <a:latin typeface="Versos"/>
              </a:rPr>
              <a:t>7,68%</a:t>
            </a:r>
          </a:p>
        </p:txBody>
      </p:sp>
      <p:sp>
        <p:nvSpPr>
          <p:cNvPr id="38" name="TextBox 37"/>
          <p:cNvSpPr txBox="1"/>
          <p:nvPr/>
        </p:nvSpPr>
        <p:spPr>
          <a:xfrm>
            <a:off x="400680" y="590376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9" name="TextBox 38"/>
          <p:cNvSpPr txBox="1"/>
          <p:nvPr/>
        </p:nvSpPr>
        <p:spPr>
          <a:xfrm>
            <a:off x="2737074" y="5901879"/>
            <a:ext cx="354422" cy="143640"/>
          </a:xfrm>
          <a:prstGeom prst="rect">
            <a:avLst/>
          </a:prstGeom>
          <a:noFill/>
        </p:spPr>
        <p:txBody>
          <a:bodyPr wrap="none" lIns="0" rIns="0" tIns="0" bIns="0" anchor="t"/>
          <a:lstStyle/>
          <a:p>
            <a:pPr algn="l">
              <a:lnSpc>
                <a:spcPts val="1107"/>
              </a:lnSpc>
            </a:pPr>
            <a:r>
              <a:rPr sz="922" b="0" i="0">
                <a:solidFill>
                  <a:srgbClr val="5A82A0"/>
                </a:solidFill>
                <a:latin typeface="Versos"/>
              </a:rPr>
              <a:t>7,24%</a:t>
            </a:r>
          </a:p>
        </p:txBody>
      </p:sp>
      <p:sp>
        <p:nvSpPr>
          <p:cNvPr id="40" name="TextBox 39"/>
          <p:cNvSpPr txBox="1"/>
          <p:nvPr/>
        </p:nvSpPr>
        <p:spPr>
          <a:xfrm>
            <a:off x="400680" y="63876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EDF</a:t>
            </a:r>
          </a:p>
        </p:txBody>
      </p:sp>
      <p:sp>
        <p:nvSpPr>
          <p:cNvPr id="41" name="TextBox 40"/>
          <p:cNvSpPr txBox="1"/>
          <p:nvPr/>
        </p:nvSpPr>
        <p:spPr>
          <a:xfrm>
            <a:off x="2372540" y="638571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5,54%</a:t>
            </a:r>
          </a:p>
        </p:txBody>
      </p:sp>
      <p:sp>
        <p:nvSpPr>
          <p:cNvPr id="42" name="TextBox 41"/>
          <p:cNvSpPr txBox="1"/>
          <p:nvPr/>
        </p:nvSpPr>
        <p:spPr>
          <a:xfrm>
            <a:off x="400680" y="687144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SINOP</a:t>
            </a:r>
          </a:p>
        </p:txBody>
      </p:sp>
      <p:sp>
        <p:nvSpPr>
          <p:cNvPr id="43" name="TextBox 42"/>
          <p:cNvSpPr txBox="1"/>
          <p:nvPr/>
        </p:nvSpPr>
        <p:spPr>
          <a:xfrm>
            <a:off x="2041436" y="6869559"/>
            <a:ext cx="383414" cy="143640"/>
          </a:xfrm>
          <a:prstGeom prst="rect">
            <a:avLst/>
          </a:prstGeom>
          <a:noFill/>
        </p:spPr>
        <p:txBody>
          <a:bodyPr wrap="none" lIns="0" rIns="0" tIns="0" bIns="0" anchor="t"/>
          <a:lstStyle/>
          <a:p>
            <a:pPr algn="l">
              <a:lnSpc>
                <a:spcPts val="1107"/>
              </a:lnSpc>
            </a:pPr>
            <a:r>
              <a:rPr sz="922" b="0" i="0">
                <a:solidFill>
                  <a:srgbClr val="5A82A0"/>
                </a:solidFill>
                <a:latin typeface="Versos"/>
              </a:rPr>
              <a:t>3,99%</a:t>
            </a:r>
          </a:p>
        </p:txBody>
      </p:sp>
      <p:sp>
        <p:nvSpPr>
          <p:cNvPr id="44" name="TextBox 43"/>
          <p:cNvSpPr txBox="1"/>
          <p:nvPr/>
        </p:nvSpPr>
        <p:spPr>
          <a:xfrm>
            <a:off x="400680" y="7355289"/>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1968435" y="7353399"/>
            <a:ext cx="376780" cy="143640"/>
          </a:xfrm>
          <a:prstGeom prst="rect">
            <a:avLst/>
          </a:prstGeom>
          <a:noFill/>
        </p:spPr>
        <p:txBody>
          <a:bodyPr wrap="none" lIns="0" rIns="0" tIns="0" bIns="0" anchor="t"/>
          <a:lstStyle/>
          <a:p>
            <a:pPr algn="l">
              <a:lnSpc>
                <a:spcPts val="1107"/>
              </a:lnSpc>
            </a:pPr>
            <a:r>
              <a:rPr sz="922" b="0" i="0">
                <a:solidFill>
                  <a:srgbClr val="5A82A0"/>
                </a:solidFill>
                <a:latin typeface="Versos"/>
              </a:rPr>
              <a:t>3,65%</a:t>
            </a:r>
          </a:p>
        </p:txBody>
      </p:sp>
      <p:sp>
        <p:nvSpPr>
          <p:cNvPr id="46" name="TextBox 45"/>
          <p:cNvSpPr txBox="1"/>
          <p:nvPr/>
        </p:nvSpPr>
        <p:spPr>
          <a:xfrm>
            <a:off x="400680" y="7930440"/>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34942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347539"/>
            <a:ext cx="476289" cy="143640"/>
          </a:xfrm>
          <a:prstGeom prst="rect">
            <a:avLst/>
          </a:prstGeom>
          <a:noFill/>
        </p:spPr>
        <p:txBody>
          <a:bodyPr wrap="none" lIns="0" rIns="0" tIns="0" bIns="0" anchor="t"/>
          <a:lstStyle/>
          <a:p>
            <a:pPr algn="l">
              <a:lnSpc>
                <a:spcPts val="1142"/>
              </a:lnSpc>
            </a:pPr>
            <a:r>
              <a:rPr sz="952" b="0" i="0">
                <a:solidFill>
                  <a:srgbClr val="111111"/>
                </a:solidFill>
                <a:latin typeface="Versos"/>
              </a:rPr>
              <a:t>35,39%</a:t>
            </a:r>
          </a:p>
        </p:txBody>
      </p:sp>
      <p:sp>
        <p:nvSpPr>
          <p:cNvPr id="49" name="TextBox 48"/>
          <p:cNvSpPr txBox="1"/>
          <p:nvPr/>
        </p:nvSpPr>
        <p:spPr>
          <a:xfrm>
            <a:off x="400680" y="864403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453810" y="8642143"/>
            <a:ext cx="467321" cy="143640"/>
          </a:xfrm>
          <a:prstGeom prst="rect">
            <a:avLst/>
          </a:prstGeom>
          <a:noFill/>
        </p:spPr>
        <p:txBody>
          <a:bodyPr wrap="none" lIns="0" rIns="0" tIns="0" bIns="0" anchor="t"/>
          <a:lstStyle/>
          <a:p>
            <a:pPr algn="l">
              <a:lnSpc>
                <a:spcPts val="1142"/>
              </a:lnSpc>
            </a:pPr>
            <a:r>
              <a:rPr sz="952" b="0" i="0">
                <a:solidFill>
                  <a:srgbClr val="111111"/>
                </a:solidFill>
                <a:latin typeface="Versos"/>
              </a:rPr>
              <a:t>26,04%</a:t>
            </a:r>
          </a:p>
        </p:txBody>
      </p:sp>
      <p:sp>
        <p:nvSpPr>
          <p:cNvPr id="51" name="TextBox 50"/>
          <p:cNvSpPr txBox="1"/>
          <p:nvPr/>
        </p:nvSpPr>
        <p:spPr>
          <a:xfrm>
            <a:off x="400680" y="893863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643355" y="8936746"/>
            <a:ext cx="414004" cy="143640"/>
          </a:xfrm>
          <a:prstGeom prst="rect">
            <a:avLst/>
          </a:prstGeom>
          <a:noFill/>
        </p:spPr>
        <p:txBody>
          <a:bodyPr wrap="none" lIns="0" rIns="0" tIns="0" bIns="0" anchor="t"/>
          <a:lstStyle/>
          <a:p>
            <a:pPr algn="l">
              <a:lnSpc>
                <a:spcPts val="1142"/>
              </a:lnSpc>
            </a:pPr>
            <a:r>
              <a:rPr sz="952" b="0" i="0">
                <a:solidFill>
                  <a:srgbClr val="111111"/>
                </a:solidFill>
                <a:latin typeface="Versos"/>
              </a:rPr>
              <a:t>11,08%</a:t>
            </a:r>
          </a:p>
        </p:txBody>
      </p:sp>
      <p:sp>
        <p:nvSpPr>
          <p:cNvPr id="53" name="TextBox 52"/>
          <p:cNvSpPr txBox="1"/>
          <p:nvPr/>
        </p:nvSpPr>
        <p:spPr>
          <a:xfrm>
            <a:off x="400680" y="923324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518969" y="9231350"/>
            <a:ext cx="387714" cy="143640"/>
          </a:xfrm>
          <a:prstGeom prst="rect">
            <a:avLst/>
          </a:prstGeom>
          <a:noFill/>
        </p:spPr>
        <p:txBody>
          <a:bodyPr wrap="none" lIns="0" rIns="0" tIns="0" bIns="0" anchor="t"/>
          <a:lstStyle/>
          <a:p>
            <a:pPr algn="l">
              <a:lnSpc>
                <a:spcPts val="1142"/>
              </a:lnSpc>
            </a:pPr>
            <a:r>
              <a:rPr sz="952" b="0" i="0">
                <a:solidFill>
                  <a:srgbClr val="111111"/>
                </a:solidFill>
                <a:latin typeface="Versos"/>
              </a:rPr>
              <a:t>8,78%</a:t>
            </a:r>
          </a:p>
        </p:txBody>
      </p:sp>
      <p:sp>
        <p:nvSpPr>
          <p:cNvPr id="55" name="TextBox 54"/>
          <p:cNvSpPr txBox="1"/>
          <p:nvPr/>
        </p:nvSpPr>
        <p:spPr>
          <a:xfrm>
            <a:off x="400680" y="952784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320046" y="9525954"/>
            <a:ext cx="318304" cy="143640"/>
          </a:xfrm>
          <a:prstGeom prst="rect">
            <a:avLst/>
          </a:prstGeom>
          <a:noFill/>
        </p:spPr>
        <p:txBody>
          <a:bodyPr wrap="none" lIns="0" rIns="0" tIns="0" bIns="0" anchor="t"/>
          <a:lstStyle/>
          <a:p>
            <a:pPr algn="l">
              <a:lnSpc>
                <a:spcPts val="1142"/>
              </a:lnSpc>
            </a:pPr>
            <a:r>
              <a:rPr sz="952" b="0" i="0">
                <a:solidFill>
                  <a:srgbClr val="111111"/>
                </a:solidFill>
                <a:latin typeface="Versos"/>
              </a:rPr>
              <a:t>5,11%</a:t>
            </a:r>
          </a:p>
        </p:txBody>
      </p:sp>
      <p:sp>
        <p:nvSpPr>
          <p:cNvPr id="57" name="TextBox 56"/>
          <p:cNvSpPr txBox="1"/>
          <p:nvPr/>
        </p:nvSpPr>
        <p:spPr>
          <a:xfrm>
            <a:off x="400680" y="98224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75461" y="9820558"/>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2,44%</a:t>
            </a:r>
          </a:p>
        </p:txBody>
      </p:sp>
      <p:sp>
        <p:nvSpPr>
          <p:cNvPr id="59" name="TextBox 58"/>
          <p:cNvSpPr txBox="1"/>
          <p:nvPr/>
        </p:nvSpPr>
        <p:spPr>
          <a:xfrm>
            <a:off x="3802680" y="49063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4181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410479"/>
            <a:ext cx="471006" cy="143640"/>
          </a:xfrm>
          <a:prstGeom prst="rect">
            <a:avLst/>
          </a:prstGeom>
          <a:noFill/>
        </p:spPr>
        <p:txBody>
          <a:bodyPr wrap="none" lIns="0" rIns="0" tIns="0" bIns="0" anchor="t"/>
          <a:lstStyle/>
          <a:p>
            <a:pPr algn="l">
              <a:lnSpc>
                <a:spcPts val="1142"/>
              </a:lnSpc>
            </a:pPr>
            <a:r>
              <a:rPr sz="952" b="0" i="0">
                <a:solidFill>
                  <a:srgbClr val="111111"/>
                </a:solidFill>
                <a:latin typeface="Versos"/>
              </a:rPr>
              <a:t>55,85%</a:t>
            </a:r>
          </a:p>
        </p:txBody>
      </p:sp>
      <p:sp>
        <p:nvSpPr>
          <p:cNvPr id="62" name="TextBox 61"/>
          <p:cNvSpPr txBox="1"/>
          <p:nvPr/>
        </p:nvSpPr>
        <p:spPr>
          <a:xfrm>
            <a:off x="3802680" y="58868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3" name="TextBox 62"/>
          <p:cNvSpPr txBox="1"/>
          <p:nvPr/>
        </p:nvSpPr>
        <p:spPr>
          <a:xfrm>
            <a:off x="5834548" y="5879199"/>
            <a:ext cx="438083" cy="143640"/>
          </a:xfrm>
          <a:prstGeom prst="rect">
            <a:avLst/>
          </a:prstGeom>
          <a:noFill/>
        </p:spPr>
        <p:txBody>
          <a:bodyPr wrap="none" lIns="0" rIns="0" tIns="0" bIns="0" anchor="t"/>
          <a:lstStyle/>
          <a:p>
            <a:pPr algn="l">
              <a:lnSpc>
                <a:spcPts val="1142"/>
              </a:lnSpc>
            </a:pPr>
            <a:r>
              <a:rPr sz="952" b="0" i="0">
                <a:solidFill>
                  <a:srgbClr val="111111"/>
                </a:solidFill>
                <a:latin typeface="Versos"/>
              </a:rPr>
              <a:t>15,29%</a:t>
            </a:r>
          </a:p>
        </p:txBody>
      </p:sp>
      <p:sp>
        <p:nvSpPr>
          <p:cNvPr id="64" name="TextBox 63"/>
          <p:cNvSpPr txBox="1"/>
          <p:nvPr/>
        </p:nvSpPr>
        <p:spPr>
          <a:xfrm>
            <a:off x="3802680" y="63555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5" name="TextBox 64"/>
          <p:cNvSpPr txBox="1"/>
          <p:nvPr/>
        </p:nvSpPr>
        <p:spPr>
          <a:xfrm>
            <a:off x="5654289" y="6347919"/>
            <a:ext cx="372849" cy="143640"/>
          </a:xfrm>
          <a:prstGeom prst="rect">
            <a:avLst/>
          </a:prstGeom>
          <a:noFill/>
        </p:spPr>
        <p:txBody>
          <a:bodyPr wrap="none" lIns="0" rIns="0" tIns="0" bIns="0" anchor="t"/>
          <a:lstStyle/>
          <a:p>
            <a:pPr algn="l">
              <a:lnSpc>
                <a:spcPts val="1142"/>
              </a:lnSpc>
            </a:pPr>
            <a:r>
              <a:rPr sz="952" b="0" i="0">
                <a:solidFill>
                  <a:srgbClr val="111111"/>
                </a:solidFill>
                <a:latin typeface="Versos"/>
              </a:rPr>
              <a:t>7,32%</a:t>
            </a:r>
          </a:p>
        </p:txBody>
      </p:sp>
      <p:sp>
        <p:nvSpPr>
          <p:cNvPr id="66" name="TextBox 65"/>
          <p:cNvSpPr txBox="1"/>
          <p:nvPr/>
        </p:nvSpPr>
        <p:spPr>
          <a:xfrm>
            <a:off x="3802680" y="68243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7" name="TextBox 66"/>
          <p:cNvSpPr txBox="1"/>
          <p:nvPr/>
        </p:nvSpPr>
        <p:spPr>
          <a:xfrm>
            <a:off x="5610110" y="6816639"/>
            <a:ext cx="396314" cy="143640"/>
          </a:xfrm>
          <a:prstGeom prst="rect">
            <a:avLst/>
          </a:prstGeom>
          <a:noFill/>
        </p:spPr>
        <p:txBody>
          <a:bodyPr wrap="none" lIns="0" rIns="0" tIns="0" bIns="0" anchor="t"/>
          <a:lstStyle/>
          <a:p>
            <a:pPr algn="l">
              <a:lnSpc>
                <a:spcPts val="1142"/>
              </a:lnSpc>
            </a:pPr>
            <a:r>
              <a:rPr sz="952" b="0" i="0">
                <a:solidFill>
                  <a:srgbClr val="111111"/>
                </a:solidFill>
                <a:latin typeface="Versos"/>
              </a:rPr>
              <a:t>5,38%</a:t>
            </a:r>
          </a:p>
        </p:txBody>
      </p:sp>
      <p:sp>
        <p:nvSpPr>
          <p:cNvPr id="68" name="TextBox 67"/>
          <p:cNvSpPr txBox="1"/>
          <p:nvPr/>
        </p:nvSpPr>
        <p:spPr>
          <a:xfrm>
            <a:off x="3802680" y="729303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597943" y="7285359"/>
            <a:ext cx="396068" cy="143640"/>
          </a:xfrm>
          <a:prstGeom prst="rect">
            <a:avLst/>
          </a:prstGeom>
          <a:noFill/>
        </p:spPr>
        <p:txBody>
          <a:bodyPr wrap="none" lIns="0" rIns="0" tIns="0" bIns="0" anchor="t"/>
          <a:lstStyle/>
          <a:p>
            <a:pPr algn="l">
              <a:lnSpc>
                <a:spcPts val="1142"/>
              </a:lnSpc>
            </a:pPr>
            <a:r>
              <a:rPr sz="952" b="0" i="0">
                <a:solidFill>
                  <a:srgbClr val="111111"/>
                </a:solidFill>
                <a:latin typeface="Versos"/>
              </a:rPr>
              <a:t>4,84%</a:t>
            </a:r>
          </a:p>
        </p:txBody>
      </p:sp>
      <p:sp>
        <p:nvSpPr>
          <p:cNvPr id="70" name="TextBox 69"/>
          <p:cNvSpPr txBox="1"/>
          <p:nvPr/>
        </p:nvSpPr>
        <p:spPr>
          <a:xfrm>
            <a:off x="3802680" y="776175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1" name="TextBox 70"/>
          <p:cNvSpPr txBox="1"/>
          <p:nvPr/>
        </p:nvSpPr>
        <p:spPr>
          <a:xfrm>
            <a:off x="5596998" y="7754079"/>
            <a:ext cx="403930" cy="143640"/>
          </a:xfrm>
          <a:prstGeom prst="rect">
            <a:avLst/>
          </a:prstGeom>
          <a:noFill/>
        </p:spPr>
        <p:txBody>
          <a:bodyPr wrap="none" lIns="0" rIns="0" tIns="0" bIns="0" anchor="t"/>
          <a:lstStyle/>
          <a:p>
            <a:pPr algn="l">
              <a:lnSpc>
                <a:spcPts val="1142"/>
              </a:lnSpc>
            </a:pPr>
            <a:r>
              <a:rPr sz="952" b="0" i="0">
                <a:solidFill>
                  <a:srgbClr val="111111"/>
                </a:solidFill>
                <a:latin typeface="Versos"/>
              </a:rPr>
              <a:t>4,80%</a:t>
            </a:r>
          </a:p>
        </p:txBody>
      </p:sp>
      <p:sp>
        <p:nvSpPr>
          <p:cNvPr id="72" name="TextBox 71"/>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73" name="TextBox 72"/>
          <p:cNvSpPr txBox="1"/>
          <p:nvPr/>
        </p:nvSpPr>
        <p:spPr>
          <a:xfrm>
            <a:off x="5573137" y="8222799"/>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74" name="TextBox 73"/>
          <p:cNvSpPr txBox="1"/>
          <p:nvPr/>
        </p:nvSpPr>
        <p:spPr>
          <a:xfrm>
            <a:off x="3802680" y="86991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5" name="TextBox 74"/>
          <p:cNvSpPr txBox="1"/>
          <p:nvPr/>
        </p:nvSpPr>
        <p:spPr>
          <a:xfrm>
            <a:off x="5555773" y="8691519"/>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2,97%</a:t>
            </a:r>
          </a:p>
        </p:txBody>
      </p:sp>
      <p:sp>
        <p:nvSpPr>
          <p:cNvPr id="76" name="TextBox 75"/>
          <p:cNvSpPr txBox="1"/>
          <p:nvPr/>
        </p:nvSpPr>
        <p:spPr>
          <a:xfrm>
            <a:off x="3802680" y="916791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7" name="TextBox 76"/>
          <p:cNvSpPr txBox="1"/>
          <p:nvPr/>
        </p:nvSpPr>
        <p:spPr>
          <a:xfrm>
            <a:off x="5515492" y="9160239"/>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78" name="TextBox 77"/>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Infra Plus apresentou rentabilidade, isenta de imposto de renda de 1,26% no mês, acumulando 5,98% no ano. Na atribuição de performance, pode-se destacar as debêntures de NTS e São Simão, enquanto as de Jalles Machado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31/05/2021</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R$ 42.694.019,75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D+31</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R$ 49.421.174,50</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