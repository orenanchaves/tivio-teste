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0.016399999999999998</c:v>
                </c:pt>
                <c:pt idx="2">
                  <c:v>0.0166</c:v>
                </c:pt>
                <c:pt idx="3">
                  <c:v>0.031</c:v>
                </c:pt>
                <c:pt idx="4">
                  <c:v>0.0359</c:v>
                </c:pt>
                <c:pt idx="5">
                  <c:v>0.058899999999999994</c:v>
                </c:pt>
                <c:pt idx="6">
                  <c:v>0.0695</c:v>
                </c:pt>
                <c:pt idx="7">
                  <c:v>0.0667</c:v>
                </c:pt>
                <c:pt idx="8">
                  <c:v>0.0697</c:v>
                </c:pt>
                <c:pt idx="9">
                  <c:v>0.0726</c:v>
                </c:pt>
                <c:pt idx="10">
                  <c:v>0.0724</c:v>
                </c:pt>
                <c:pt idx="11">
                  <c:v>0.08410000000000001</c:v>
                </c:pt>
                <c:pt idx="12">
                  <c:v>0.0978</c:v>
                </c:pt>
              </c:numCache>
            </c:numRef>
          </c:val>
          <c:smooth val="0"/>
        </c:ser>
        <c:ser>
          <c:idx val="1"/>
          <c:order val="1"/>
          <c:tx>
            <c:strRef>
              <c:f>Sheet1!$C$1</c:f>
              <c:strCache>
                <c:ptCount val="1"/>
                <c:pt idx="0">
                  <c:v>IMA-B 5</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0.0066</c:v>
                </c:pt>
                <c:pt idx="2">
                  <c:v>0.0169</c:v>
                </c:pt>
                <c:pt idx="3">
                  <c:v>0.0278</c:v>
                </c:pt>
                <c:pt idx="4">
                  <c:v>0.037599999999999995</c:v>
                </c:pt>
                <c:pt idx="5">
                  <c:v>0.0501</c:v>
                </c:pt>
                <c:pt idx="6">
                  <c:v>0.0629</c:v>
                </c:pt>
                <c:pt idx="7">
                  <c:v>0.07769999999999999</c:v>
                </c:pt>
                <c:pt idx="8">
                  <c:v>0.0919</c:v>
                </c:pt>
                <c:pt idx="9">
                  <c:v>0.1024</c:v>
                </c:pt>
                <c:pt idx="10">
                  <c:v>0.1048</c:v>
                </c:pt>
                <c:pt idx="11">
                  <c:v>0.1185</c:v>
                </c:pt>
                <c:pt idx="12">
                  <c:v>0.1328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Infra Plus</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32.485.590/0001-86  ·  Benchmark: IMA-B 5</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1,26%</a:t>
                      </a:r>
                    </a:p>
                  </a:txBody>
                  <a:tcPr marL="43200" marR="43200" marT="0" marB="0">
                    <a:solidFill>
                      <a:srgbClr val="F4F7F9"/>
                    </a:solidFill>
                  </a:tcPr>
                </a:tc>
                <a:tc>
                  <a:txBody>
                    <a:bodyPr/>
                    <a:lstStyle/>
                    <a:p>
                      <a:pPr algn="r"/>
                      <a:r>
                        <a:rPr sz="850" b="0">
                          <a:solidFill>
                            <a:srgbClr val="1A1A1A"/>
                          </a:solidFill>
                          <a:latin typeface="Versos"/>
                        </a:rPr>
                        <a:t>5,98%</a:t>
                      </a:r>
                    </a:p>
                  </a:txBody>
                  <a:tcPr marL="43200" marR="43200" marT="0" marB="0">
                    <a:solidFill>
                      <a:srgbClr val="F4F7F9"/>
                    </a:solidFill>
                  </a:tcPr>
                </a:tc>
                <a:tc>
                  <a:txBody>
                    <a:bodyPr/>
                    <a:lstStyle/>
                    <a:p>
                      <a:pPr algn="r"/>
                      <a:r>
                        <a:rPr sz="850" b="0">
                          <a:solidFill>
                            <a:srgbClr val="1A1A1A"/>
                          </a:solidFill>
                          <a:latin typeface="Versos"/>
                        </a:rPr>
                        <a:t>9,91%</a:t>
                      </a:r>
                    </a:p>
                  </a:txBody>
                  <a:tcPr marL="43200" marR="43200" marT="0" marB="0">
                    <a:solidFill>
                      <a:srgbClr val="F4F7F9"/>
                    </a:solidFill>
                  </a:tcPr>
                </a:tc>
                <a:tc>
                  <a:txBody>
                    <a:bodyPr/>
                    <a:lstStyle/>
                    <a:p>
                      <a:pPr algn="r"/>
                      <a:r>
                        <a:rPr sz="850" b="0">
                          <a:solidFill>
                            <a:srgbClr val="1A1A1A"/>
                          </a:solidFill>
                          <a:latin typeface="Versos"/>
                        </a:rPr>
                        <a:t>19,03%</a:t>
                      </a:r>
                    </a:p>
                  </a:txBody>
                  <a:tcPr marL="43200" marR="43200" marT="0" marB="0">
                    <a:solidFill>
                      <a:srgbClr val="F4F7F9"/>
                    </a:solidFill>
                  </a:tcPr>
                </a:tc>
                <a:tc>
                  <a:txBody>
                    <a:bodyPr/>
                    <a:lstStyle/>
                    <a:p>
                      <a:pPr algn="r"/>
                      <a:r>
                        <a:rPr sz="850" b="0">
                          <a:solidFill>
                            <a:srgbClr val="1A1A1A"/>
                          </a:solidFill>
                          <a:latin typeface="Versos"/>
                        </a:rPr>
                        <a:t>29,49%</a:t>
                      </a:r>
                    </a:p>
                  </a:txBody>
                  <a:tcPr marL="43200" marR="43200" marT="0" marB="0">
                    <a:solidFill>
                      <a:srgbClr val="F4F7F9"/>
                    </a:solidFill>
                  </a:tcPr>
                </a:tc>
                <a:tc>
                  <a:txBody>
                    <a:bodyPr/>
                    <a:lstStyle/>
                    <a:p>
                      <a:pPr algn="r"/>
                      <a:r>
                        <a:rPr sz="850" b="0">
                          <a:solidFill>
                            <a:srgbClr val="1A1A1A"/>
                          </a:solidFill>
                          <a:latin typeface="Versos"/>
                        </a:rPr>
                        <a:t>77,41%</a:t>
                      </a:r>
                    </a:p>
                  </a:txBody>
                  <a:tcPr marL="43200" marR="43200" marT="0" marB="0">
                    <a:solidFill>
                      <a:srgbClr val="F4F7F9"/>
                    </a:solidFill>
                  </a:tcPr>
                </a:tc>
              </a:tr>
              <a:tr h="187200">
                <a:tc>
                  <a:txBody>
                    <a:bodyPr/>
                    <a:lstStyle/>
                    <a:p>
                      <a:pPr algn="l"/>
                      <a:r>
                        <a:rPr sz="850" b="1">
                          <a:solidFill>
                            <a:srgbClr val="1A1A1A"/>
                          </a:solidFill>
                          <a:latin typeface="Versos"/>
                        </a:rPr>
                        <a:t>IMA-B 5</a:t>
                      </a:r>
                    </a:p>
                  </a:txBody>
                  <a:tcPr marL="43200" marR="43200" marT="0" marB="0">
                    <a:solidFill>
                      <a:srgbClr val="FFFFFF"/>
                    </a:solidFill>
                  </a:tcPr>
                </a:tc>
                <a:tc>
                  <a:txBody>
                    <a:bodyPr/>
                    <a:lstStyle/>
                    <a:p>
                      <a:pPr algn="r"/>
                      <a:r>
                        <a:rPr sz="850" b="0">
                          <a:solidFill>
                            <a:srgbClr val="1A1A1A"/>
                          </a:solidFill>
                          <a:latin typeface="Versos"/>
                        </a:rPr>
                        <a:t>1,28%</a:t>
                      </a:r>
                    </a:p>
                  </a:txBody>
                  <a:tcPr marL="43200" marR="43200" marT="0" marB="0">
                    <a:solidFill>
                      <a:srgbClr val="FFFFFF"/>
                    </a:solidFill>
                  </a:tcPr>
                </a:tc>
                <a:tc>
                  <a:txBody>
                    <a:bodyPr/>
                    <a:lstStyle/>
                    <a:p>
                      <a:pPr algn="r"/>
                      <a:r>
                        <a:rPr sz="850" b="0">
                          <a:solidFill>
                            <a:srgbClr val="1A1A1A"/>
                          </a:solidFill>
                          <a:latin typeface="Versos"/>
                        </a:rPr>
                        <a:t>9,18%</a:t>
                      </a:r>
                    </a:p>
                  </a:txBody>
                  <a:tcPr marL="43200" marR="43200" marT="0" marB="0">
                    <a:solidFill>
                      <a:srgbClr val="FFFFFF"/>
                    </a:solidFill>
                  </a:tcPr>
                </a:tc>
                <a:tc>
                  <a:txBody>
                    <a:bodyPr/>
                    <a:lstStyle/>
                    <a:p>
                      <a:pPr algn="r"/>
                      <a:r>
                        <a:rPr sz="850" b="0">
                          <a:solidFill>
                            <a:srgbClr val="1A1A1A"/>
                          </a:solidFill>
                          <a:latin typeface="Versos"/>
                        </a:rPr>
                        <a:t>13,34%</a:t>
                      </a:r>
                    </a:p>
                  </a:txBody>
                  <a:tcPr marL="43200" marR="43200" marT="0" marB="0">
                    <a:solidFill>
                      <a:srgbClr val="FFFFFF"/>
                    </a:solidFill>
                  </a:tcPr>
                </a:tc>
                <a:tc>
                  <a:txBody>
                    <a:bodyPr/>
                    <a:lstStyle/>
                    <a:p>
                      <a:pPr algn="r"/>
                      <a:r>
                        <a:rPr sz="850" b="0">
                          <a:solidFill>
                            <a:srgbClr val="1A1A1A"/>
                          </a:solidFill>
                          <a:latin typeface="Versos"/>
                        </a:rPr>
                        <a:t>23,32%</a:t>
                      </a:r>
                    </a:p>
                  </a:txBody>
                  <a:tcPr marL="43200" marR="43200" marT="0" marB="0">
                    <a:solidFill>
                      <a:srgbClr val="FFFFFF"/>
                    </a:solidFill>
                  </a:tcPr>
                </a:tc>
                <a:tc>
                  <a:txBody>
                    <a:bodyPr/>
                    <a:lstStyle/>
                    <a:p>
                      <a:pPr algn="r"/>
                      <a:r>
                        <a:rPr sz="850" b="0">
                          <a:solidFill>
                            <a:srgbClr val="1A1A1A"/>
                          </a:solidFill>
                          <a:latin typeface="Versos"/>
                        </a:rPr>
                        <a:t>33,11%</a:t>
                      </a:r>
                    </a:p>
                  </a:txBody>
                  <a:tcPr marL="43200" marR="43200" marT="0" marB="0">
                    <a:solidFill>
                      <a:srgbClr val="FFFFFF"/>
                    </a:solidFill>
                  </a:tcPr>
                </a:tc>
                <a:tc>
                  <a:txBody>
                    <a:bodyPr/>
                    <a:lstStyle/>
                    <a:p>
                      <a:pPr algn="r"/>
                      <a:r>
                        <a:rPr sz="850" b="0">
                          <a:solidFill>
                            <a:srgbClr val="1A1A1A"/>
                          </a:solidFill>
                          <a:latin typeface="Versos"/>
                        </a:rPr>
                        <a:t>87,91%</a:t>
                      </a:r>
                    </a:p>
                  </a:txBody>
                  <a:tcPr marL="43200" marR="43200" marT="0" marB="0">
                    <a:solidFill>
                      <a:srgbClr val="FFFFFF"/>
                    </a:solidFill>
                  </a:tcPr>
                </a:tc>
              </a:tr>
              <a:tr h="187200">
                <a:tc>
                  <a:txBody>
                    <a:bodyPr/>
                    <a:lstStyle/>
                    <a:p>
                      <a:pPr algn="l"/>
                      <a:r>
                        <a:rPr sz="850" b="1">
                          <a:solidFill>
                            <a:srgbClr val="1A1A1A"/>
                          </a:solidFill>
                          <a:latin typeface="Versos"/>
                        </a:rPr>
                        <a:t>Alfa</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−3,20%</a:t>
                      </a:r>
                    </a:p>
                  </a:txBody>
                  <a:tcPr marL="43200" marR="43200" marT="0" marB="0">
                    <a:solidFill>
                      <a:srgbClr val="F4F7F9"/>
                    </a:solidFill>
                  </a:tcPr>
                </a:tc>
                <a:tc>
                  <a:txBody>
                    <a:bodyPr/>
                    <a:lstStyle/>
                    <a:p>
                      <a:pPr algn="r"/>
                      <a:r>
                        <a:rPr sz="850" b="0">
                          <a:solidFill>
                            <a:srgbClr val="1A1A1A"/>
                          </a:solidFill>
                          <a:latin typeface="Versos"/>
                        </a:rPr>
                        <a:t>−3,44%</a:t>
                      </a:r>
                    </a:p>
                  </a:txBody>
                  <a:tcPr marL="43200" marR="43200" marT="0" marB="0">
                    <a:solidFill>
                      <a:srgbClr val="F4F7F9"/>
                    </a:solidFill>
                  </a:tcPr>
                </a:tc>
                <a:tc>
                  <a:txBody>
                    <a:bodyPr/>
                    <a:lstStyle/>
                    <a:p>
                      <a:pPr algn="r"/>
                      <a:r>
                        <a:rPr sz="850" b="0">
                          <a:solidFill>
                            <a:srgbClr val="1A1A1A"/>
                          </a:solidFill>
                          <a:latin typeface="Versos"/>
                        </a:rPr>
                        <a:t>−4,28%</a:t>
                      </a:r>
                    </a:p>
                  </a:txBody>
                  <a:tcPr marL="43200" marR="43200" marT="0" marB="0">
                    <a:solidFill>
                      <a:srgbClr val="F4F7F9"/>
                    </a:solidFill>
                  </a:tcPr>
                </a:tc>
                <a:tc>
                  <a:txBody>
                    <a:bodyPr/>
                    <a:lstStyle/>
                    <a:p>
                      <a:pPr algn="r"/>
                      <a:r>
                        <a:rPr sz="850" b="0">
                          <a:solidFill>
                            <a:srgbClr val="1A1A1A"/>
                          </a:solidFill>
                          <a:latin typeface="Versos"/>
                        </a:rPr>
                        <a:t>−3,62%</a:t>
                      </a:r>
                    </a:p>
                  </a:txBody>
                  <a:tcPr marL="43200" marR="43200" marT="0" marB="0">
                    <a:solidFill>
                      <a:srgbClr val="F4F7F9"/>
                    </a:solidFill>
                  </a:tcPr>
                </a:tc>
                <a:tc>
                  <a:txBody>
                    <a:bodyPr/>
                    <a:lstStyle/>
                    <a:p>
                      <a:pPr algn="r"/>
                      <a:r>
                        <a:rPr sz="850" b="0">
                          <a:solidFill>
                            <a:srgbClr val="1A1A1A"/>
                          </a:solidFill>
                          <a:latin typeface="Versos"/>
                        </a:rPr>
                        <a:t>−10,50%</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AUREN</a:t>
                      </a:r>
                    </a:p>
                  </a:txBody>
                  <a:tcPr marL="43200" marR="43200" marT="0" marB="0">
                    <a:solidFill>
                      <a:srgbClr val="FFFFFF"/>
                    </a:solidFill>
                  </a:tcPr>
                </a:tc>
                <a:tc>
                  <a:txBody>
                    <a:bodyPr/>
                    <a:lstStyle/>
                    <a:p>
                      <a:pPr algn="r"/>
                      <a:r>
                        <a:rPr sz="850" b="0">
                          <a:solidFill>
                            <a:srgbClr val="1A1A1A"/>
                          </a:solidFill>
                          <a:latin typeface="Versos"/>
                        </a:rPr>
                        <a:t>7,68%</a:t>
                      </a:r>
                    </a:p>
                  </a:txBody>
                  <a:tcPr marL="43200" marR="43200" marT="0" marB="0">
                    <a:solidFill>
                      <a:srgbClr val="FFFFFF"/>
                    </a:solidFill>
                  </a:tcPr>
                </a:tc>
              </a:tr>
              <a:tr h="187200">
                <a:tc>
                  <a:txBody>
                    <a:bodyPr/>
                    <a:lstStyle/>
                    <a:p>
                      <a:pPr algn="l"/>
                      <a:r>
                        <a:rPr sz="850" b="1">
                          <a:solidFill>
                            <a:srgbClr val="1A1A1A"/>
                          </a:solidFill>
                          <a:latin typeface="Versos"/>
                        </a:rPr>
                        <a:t>EQUATORIAL</a:t>
                      </a:r>
                    </a:p>
                  </a:txBody>
                  <a:tcPr marL="43200" marR="43200" marT="0" marB="0">
                    <a:solidFill>
                      <a:srgbClr val="F4F7F9"/>
                    </a:solidFill>
                  </a:tcPr>
                </a:tc>
                <a:tc>
                  <a:txBody>
                    <a:bodyPr/>
                    <a:lstStyle/>
                    <a:p>
                      <a:pPr algn="r"/>
                      <a:r>
                        <a:rPr sz="850" b="0">
                          <a:solidFill>
                            <a:srgbClr val="1A1A1A"/>
                          </a:solidFill>
                          <a:latin typeface="Versos"/>
                        </a:rPr>
                        <a:t>7,24%</a:t>
                      </a:r>
                    </a:p>
                  </a:txBody>
                  <a:tcPr marL="43200" marR="43200" marT="0" marB="0">
                    <a:solidFill>
                      <a:srgbClr val="F4F7F9"/>
                    </a:solidFill>
                  </a:tcPr>
                </a:tc>
              </a:tr>
              <a:tr h="187200">
                <a:tc>
                  <a:txBody>
                    <a:bodyPr/>
                    <a:lstStyle/>
                    <a:p>
                      <a:pPr algn="l"/>
                      <a:r>
                        <a:rPr sz="850" b="1">
                          <a:solidFill>
                            <a:srgbClr val="1A1A1A"/>
                          </a:solidFill>
                          <a:latin typeface="Versos"/>
                        </a:rPr>
                        <a:t>EDF</a:t>
                      </a:r>
                    </a:p>
                  </a:txBody>
                  <a:tcPr marL="43200" marR="43200" marT="0" marB="0">
                    <a:solidFill>
                      <a:srgbClr val="FFFFFF"/>
                    </a:solidFill>
                  </a:tcPr>
                </a:tc>
                <a:tc>
                  <a:txBody>
                    <a:bodyPr/>
                    <a:lstStyle/>
                    <a:p>
                      <a:pPr algn="r"/>
                      <a:r>
                        <a:rPr sz="850" b="0">
                          <a:solidFill>
                            <a:srgbClr val="1A1A1A"/>
                          </a:solidFill>
                          <a:latin typeface="Versos"/>
                        </a:rPr>
                        <a:t>5,54%</a:t>
                      </a:r>
                    </a:p>
                  </a:txBody>
                  <a:tcPr marL="43200" marR="43200" marT="0" marB="0">
                    <a:solidFill>
                      <a:srgbClr val="FFFFFF"/>
                    </a:solidFill>
                  </a:tcPr>
                </a:tc>
              </a:tr>
              <a:tr h="187200">
                <a:tc>
                  <a:txBody>
                    <a:bodyPr/>
                    <a:lstStyle/>
                    <a:p>
                      <a:pPr algn="l"/>
                      <a:r>
                        <a:rPr sz="850" b="1">
                          <a:solidFill>
                            <a:srgbClr val="1A1A1A"/>
                          </a:solidFill>
                          <a:latin typeface="Versos"/>
                        </a:rPr>
                        <a:t>SINOP</a:t>
                      </a:r>
                    </a:p>
                  </a:txBody>
                  <a:tcPr marL="43200" marR="43200" marT="0" marB="0">
                    <a:solidFill>
                      <a:srgbClr val="F4F7F9"/>
                    </a:solidFill>
                  </a:tcPr>
                </a:tc>
                <a:tc>
                  <a:txBody>
                    <a:bodyPr/>
                    <a:lstStyle/>
                    <a:p>
                      <a:pPr algn="r"/>
                      <a:r>
                        <a:rPr sz="850" b="0">
                          <a:solidFill>
                            <a:srgbClr val="1A1A1A"/>
                          </a:solidFill>
                          <a:latin typeface="Versos"/>
                        </a:rPr>
                        <a:t>3,99%</a:t>
                      </a:r>
                    </a:p>
                  </a:txBody>
                  <a:tcPr marL="43200" marR="43200" marT="0" marB="0">
                    <a:solidFill>
                      <a:srgbClr val="F4F7F9"/>
                    </a:solidFill>
                  </a:tcPr>
                </a:tc>
              </a:tr>
              <a:tr h="187200">
                <a:tc>
                  <a:txBody>
                    <a:bodyPr/>
                    <a:lstStyle/>
                    <a:p>
                      <a:pPr algn="l"/>
                      <a:r>
                        <a:rPr sz="850" b="1">
                          <a:solidFill>
                            <a:srgbClr val="1A1A1A"/>
                          </a:solidFill>
                          <a:latin typeface="Versos"/>
                        </a:rPr>
                        <a:t>ELETROBRAS</a:t>
                      </a:r>
                    </a:p>
                  </a:txBody>
                  <a:tcPr marL="43200" marR="43200" marT="0" marB="0">
                    <a:solidFill>
                      <a:srgbClr val="FFFFFF"/>
                    </a:solidFill>
                  </a:tcPr>
                </a:tc>
                <a:tc>
                  <a:txBody>
                    <a:bodyPr/>
                    <a:lstStyle/>
                    <a:p>
                      <a:pPr algn="r"/>
                      <a:r>
                        <a:rPr sz="850" b="0">
                          <a:solidFill>
                            <a:srgbClr val="1A1A1A"/>
                          </a:solidFill>
                          <a:latin typeface="Versos"/>
                        </a:rPr>
                        <a:t>3,65%</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Energia Elétrica</a:t>
                      </a:r>
                    </a:p>
                  </a:txBody>
                  <a:tcPr marL="43200" marR="43200" marT="0" marB="0">
                    <a:solidFill>
                      <a:srgbClr val="FFFFFF"/>
                    </a:solidFill>
                  </a:tcPr>
                </a:tc>
                <a:tc>
                  <a:txBody>
                    <a:bodyPr/>
                    <a:lstStyle/>
                    <a:p>
                      <a:pPr algn="r"/>
                      <a:r>
                        <a:rPr sz="850" b="0">
                          <a:solidFill>
                            <a:srgbClr val="1A1A1A"/>
                          </a:solidFill>
                          <a:latin typeface="Versos"/>
                        </a:rPr>
                        <a:t>55,9%</a:t>
                      </a:r>
                    </a:p>
                  </a:txBody>
                  <a:tcPr marL="43200" marR="43200" marT="0" marB="0">
                    <a:solidFill>
                      <a:srgbClr val="FFFFFF"/>
                    </a:solidFill>
                  </a:tcPr>
                </a:tc>
              </a:tr>
              <a:tr h="187200">
                <a:tc>
                  <a:txBody>
                    <a:bodyPr/>
                    <a:lstStyle/>
                    <a:p>
                      <a:pPr algn="l"/>
                      <a:r>
                        <a:rPr sz="850" b="1">
                          <a:solidFill>
                            <a:srgbClr val="1A1A1A"/>
                          </a:solidFill>
                          <a:latin typeface="Versos"/>
                        </a:rPr>
                        <a:t>Transporte e Logística</a:t>
                      </a:r>
                    </a:p>
                  </a:txBody>
                  <a:tcPr marL="43200" marR="43200" marT="0" marB="0">
                    <a:solidFill>
                      <a:srgbClr val="F4F7F9"/>
                    </a:solidFill>
                  </a:tcPr>
                </a:tc>
                <a:tc>
                  <a:txBody>
                    <a:bodyPr/>
                    <a:lstStyle/>
                    <a:p>
                      <a:pPr algn="r"/>
                      <a:r>
                        <a:rPr sz="850" b="0">
                          <a:solidFill>
                            <a:srgbClr val="1A1A1A"/>
                          </a:solidFill>
                          <a:latin typeface="Versos"/>
                        </a:rPr>
                        <a:t>15,3%</a:t>
                      </a:r>
                    </a:p>
                  </a:txBody>
                  <a:tcPr marL="43200" marR="43200" marT="0" marB="0">
                    <a:solidFill>
                      <a:srgbClr val="F4F7F9"/>
                    </a:solidFill>
                  </a:tcPr>
                </a:tc>
              </a:tr>
              <a:tr h="187200">
                <a:tc>
                  <a:txBody>
                    <a:bodyPr/>
                    <a:lstStyle/>
                    <a:p>
                      <a:pPr algn="l"/>
                      <a:r>
                        <a:rPr sz="850" b="1">
                          <a:solidFill>
                            <a:srgbClr val="1A1A1A"/>
                          </a:solidFill>
                          <a:latin typeface="Versos"/>
                        </a:rPr>
                        <a:t>Saneamento</a:t>
                      </a:r>
                    </a:p>
                  </a:txBody>
                  <a:tcPr marL="43200" marR="43200" marT="0" marB="0">
                    <a:solidFill>
                      <a:srgbClr val="FFFFFF"/>
                    </a:solidFill>
                  </a:tcPr>
                </a:tc>
                <a:tc>
                  <a:txBody>
                    <a:bodyPr/>
                    <a:lstStyle/>
                    <a:p>
                      <a:pPr algn="r"/>
                      <a:r>
                        <a:rPr sz="850" b="0">
                          <a:solidFill>
                            <a:srgbClr val="1A1A1A"/>
                          </a:solidFill>
                          <a:latin typeface="Versos"/>
                        </a:rPr>
                        <a:t>7,3%</a:t>
                      </a:r>
                    </a:p>
                  </a:txBody>
                  <a:tcPr marL="43200" marR="43200" marT="0" marB="0">
                    <a:solidFill>
                      <a:srgbClr val="FFFFFF"/>
                    </a:solidFill>
                  </a:tcPr>
                </a:tc>
              </a:tr>
              <a:tr h="187200">
                <a:tc>
                  <a:txBody>
                    <a:bodyPr/>
                    <a:lstStyle/>
                    <a:p>
                      <a:pPr algn="l"/>
                      <a:r>
                        <a:rPr sz="850" b="1">
                          <a:solidFill>
                            <a:srgbClr val="1A1A1A"/>
                          </a:solidFill>
                          <a:latin typeface="Versos"/>
                        </a:rPr>
                        <a:t>TI e Telecomunicações</a:t>
                      </a:r>
                    </a:p>
                  </a:txBody>
                  <a:tcPr marL="43200" marR="43200" marT="0" marB="0">
                    <a:solidFill>
                      <a:srgbClr val="F4F7F9"/>
                    </a:solidFill>
                  </a:tcPr>
                </a:tc>
                <a:tc>
                  <a:txBody>
                    <a:bodyPr/>
                    <a:lstStyle/>
                    <a:p>
                      <a:pPr algn="r"/>
                      <a:r>
                        <a:rPr sz="850" b="0">
                          <a:solidFill>
                            <a:srgbClr val="1A1A1A"/>
                          </a:solidFill>
                          <a:latin typeface="Versos"/>
                        </a:rPr>
                        <a:t>5,4%</a:t>
                      </a:r>
                    </a:p>
                  </a:txBody>
                  <a:tcPr marL="43200" marR="43200" marT="0" marB="0">
                    <a:solidFill>
                      <a:srgbClr val="F4F7F9"/>
                    </a:solidFill>
                  </a:tcPr>
                </a:tc>
              </a:tr>
              <a:tr h="187200">
                <a:tc>
                  <a:txBody>
                    <a:bodyPr/>
                    <a:lstStyle/>
                    <a:p>
                      <a:pPr algn="l"/>
                      <a:r>
                        <a:rPr sz="850" b="1">
                          <a:solidFill>
                            <a:srgbClr val="1A1A1A"/>
                          </a:solidFill>
                          <a:latin typeface="Versos"/>
                        </a:rPr>
                        <a:t>Petróleo e Gás</a:t>
                      </a:r>
                    </a:p>
                  </a:txBody>
                  <a:tcPr marL="43200" marR="43200" marT="0" marB="0">
                    <a:solidFill>
                      <a:srgbClr val="FFFFFF"/>
                    </a:solidFill>
                  </a:tcPr>
                </a:tc>
                <a:tc>
                  <a:txBody>
                    <a:bodyPr/>
                    <a:lstStyle/>
                    <a:p>
                      <a:pPr algn="r"/>
                      <a:r>
                        <a:rPr sz="850" b="0">
                          <a:solidFill>
                            <a:srgbClr val="1A1A1A"/>
                          </a:solidFill>
                          <a:latin typeface="Versos"/>
                        </a:rPr>
                        <a:t>4,8%</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4,8%</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35,4%</a:t>
                      </a:r>
                    </a:p>
                  </a:txBody>
                  <a:tcPr marL="43200" marR="43200" marT="0" marB="0">
                    <a:solidFill>
                      <a:srgbClr val="F4F7F9"/>
                    </a:solidFill>
                  </a:tcPr>
                </a:tc>
                <a:tc>
                  <a:txBody>
                    <a:bodyPr/>
                    <a:lstStyle/>
                    <a:p>
                      <a:pPr algn="r"/>
                      <a:r>
                        <a:rPr sz="850" b="0">
                          <a:solidFill>
                            <a:srgbClr val="1A1A1A"/>
                          </a:solidFill>
                          <a:latin typeface="Versos"/>
                        </a:rPr>
                        <a:t>26,0%</a:t>
                      </a:r>
                    </a:p>
                  </a:txBody>
                  <a:tcPr marL="43200" marR="43200" marT="0" marB="0">
                    <a:solidFill>
                      <a:srgbClr val="F4F7F9"/>
                    </a:solidFill>
                  </a:tcPr>
                </a:tc>
                <a:tc>
                  <a:txBody>
                    <a:bodyPr/>
                    <a:lstStyle/>
                    <a:p>
                      <a:pPr algn="r"/>
                      <a:r>
                        <a:rPr sz="850" b="0">
                          <a:solidFill>
                            <a:srgbClr val="1A1A1A"/>
                          </a:solidFill>
                          <a:latin typeface="Versos"/>
                        </a:rPr>
                        <a:t>11,1%</a:t>
                      </a:r>
                    </a:p>
                  </a:txBody>
                  <a:tcPr marL="43200" marR="43200" marT="0" marB="0">
                    <a:solidFill>
                      <a:srgbClr val="F4F7F9"/>
                    </a:solidFill>
                  </a:tcPr>
                </a:tc>
                <a:tc>
                  <a:txBody>
                    <a:bodyPr/>
                    <a:lstStyle/>
                    <a:p>
                      <a:pPr algn="r"/>
                      <a:r>
                        <a:rPr sz="850" b="0">
                          <a:solidFill>
                            <a:srgbClr val="1A1A1A"/>
                          </a:solidFill>
                          <a:latin typeface="Versos"/>
                        </a:rPr>
                        <a:t>8,8%</a:t>
                      </a:r>
                    </a:p>
                  </a:txBody>
                  <a:tcPr marL="43200" marR="43200" marT="0" marB="0">
                    <a:solidFill>
                      <a:srgbClr val="F4F7F9"/>
                    </a:solidFill>
                  </a:tcPr>
                </a:tc>
                <a:tc>
                  <a:txBody>
                    <a:bodyPr/>
                    <a:lstStyle/>
                    <a:p>
                      <a:pPr algn="r"/>
                      <a:r>
                        <a:rPr sz="850" b="0">
                          <a:solidFill>
                            <a:srgbClr val="1A1A1A"/>
                          </a:solidFill>
                          <a:latin typeface="Versos"/>
                        </a:rPr>
                        <a:t>5,1%</a:t>
                      </a:r>
                    </a:p>
                  </a:txBody>
                  <a:tcPr marL="43200" marR="43200" marT="0" marB="0">
                    <a:solidFill>
                      <a:srgbClr val="F4F7F9"/>
                    </a:solidFill>
                  </a:tcPr>
                </a:tc>
                <a:tc>
                  <a:txBody>
                    <a:bodyPr/>
                    <a:lstStyle/>
                    <a:p>
                      <a:pPr algn="r"/>
                      <a:r>
                        <a:rPr sz="850" b="0">
                          <a:solidFill>
                            <a:srgbClr val="1A1A1A"/>
                          </a:solidFill>
                          <a:latin typeface="Versos"/>
                        </a:rPr>
                        <a:t>2,4%</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Infra Plus</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a:p>
            <a:pPr algn="l"/>
            <a:r>
              <a:rPr sz="900" b="0">
                <a:solidFill>
                  <a:srgbClr val="1A1A1A"/>
                </a:solidFill>
                <a:latin typeface="Versos"/>
              </a:rPr>
              <a:t/>
            </a:r>
          </a:p>
          <a:p>
            <a:pPr algn="l"/>
            <a:r>
              <a:rPr sz="900" b="0">
                <a:solidFill>
                  <a:srgbClr val="1A1A1A"/>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a:p>
            <a:pPr algn="l"/>
            <a:r>
              <a:rPr sz="900" b="0">
                <a:solidFill>
                  <a:srgbClr val="1A1A1A"/>
                </a:solidFill>
                <a:latin typeface="Versos"/>
              </a:rPr>
              <a:t/>
            </a:r>
          </a:p>
          <a:p>
            <a:pPr algn="l"/>
            <a:r>
              <a:rPr sz="900" b="0">
                <a:solidFill>
                  <a:srgbClr val="1A1A1A"/>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a:p>
            <a:pPr algn="l"/>
            <a:r>
              <a:rPr sz="900" b="0">
                <a:solidFill>
                  <a:srgbClr val="1A1A1A"/>
                </a:solidFill>
                <a:latin typeface="Versos"/>
              </a:rPr>
              <a:t/>
            </a:r>
          </a:p>
          <a:p>
            <a:pPr algn="l"/>
            <a:r>
              <a:rPr sz="900" b="0">
                <a:solidFill>
                  <a:srgbClr val="1A1A1A"/>
                </a:solidFill>
                <a:latin typeface="Versos"/>
              </a:rPr>
              <a:t>Nesse cenário, o Tivio Infra Plus apresentou rentabilidade, isenta de imposto de renda de 1,26% no mês, acumulando 5,98% no ano. Na atribuição de performance, pode-se destacar as debêntures de NTS e São Simão, enquanto as de Jalles Machado foram as maiores detratoras.</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Infra Plus</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MERCADO DE CRÉDITO</a:t>
            </a:r>
          </a:p>
        </p:txBody>
      </p:sp>
      <p:graphicFrame>
        <p:nvGraphicFramePr>
          <p:cNvPr id="7" name="Table 6"/>
          <p:cNvGraphicFramePr>
            <a:graphicFrameLocks noGrp="1"/>
          </p:cNvGraphicFramePr>
          <p:nvPr/>
        </p:nvGraphicFramePr>
        <p:xfrm>
          <a:off x="540000" y="1584000"/>
          <a:ext cx="8423996" cy="2152800"/>
        </p:xfrm>
        <a:graphic>
          <a:graphicData uri="http://schemas.openxmlformats.org/drawingml/2006/table">
            <a:tbl>
              <a:tblPr firstRow="1" bandRow="1">
                <a:tableStyleId>{5C22544A-7EE6-4342-B048-85BDC9FD1C3A}</a:tableStyleId>
              </a:tblPr>
              <a:tblGrid>
                <a:gridCol w="2098285"/>
                <a:gridCol w="802285"/>
                <a:gridCol w="617142"/>
                <a:gridCol w="740571"/>
                <a:gridCol w="925714"/>
                <a:gridCol w="678857"/>
                <a:gridCol w="617142"/>
                <a:gridCol w="648000"/>
                <a:gridCol w="648000"/>
                <a:gridCol w="648000"/>
              </a:tblGrid>
              <a:tr h="165600">
                <a:tc>
                  <a:txBody>
                    <a:bodyPr/>
                    <a:lstStyle/>
                    <a:p>
                      <a:pPr algn="l"/>
                      <a:r>
                        <a:rPr sz="850" b="1">
                          <a:solidFill>
                            <a:srgbClr val="FFFFFF"/>
                          </a:solidFill>
                          <a:latin typeface="Versos"/>
                        </a:rPr>
                        <a:t>Setor</a:t>
                      </a:r>
                    </a:p>
                  </a:txBody>
                  <a:tcPr marL="43200" marR="43200" marT="0" marB="0">
                    <a:solidFill>
                      <a:srgbClr val="3C4A60"/>
                    </a:solidFill>
                  </a:tcPr>
                </a:tc>
                <a:tc>
                  <a:txBody>
                    <a:bodyPr/>
                    <a:lstStyle/>
                    <a:p>
                      <a:pPr algn="r"/>
                      <a:r>
                        <a:rPr sz="850" b="1">
                          <a:solidFill>
                            <a:srgbClr val="FFFFFF"/>
                          </a:solidFill>
                          <a:latin typeface="Versos"/>
                        </a:rPr>
                        <a:t>Volume (R$ MM)</a:t>
                      </a:r>
                    </a:p>
                  </a:txBody>
                  <a:tcPr marL="43200" marR="43200" marT="0" marB="0">
                    <a:solidFill>
                      <a:srgbClr val="3C4A60"/>
                    </a:solidFill>
                  </a:tcPr>
                </a:tc>
                <a:tc>
                  <a:txBody>
                    <a:bodyPr/>
                    <a:lstStyle/>
                    <a:p>
                      <a:pPr algn="r"/>
                      <a:r>
                        <a:rPr sz="850" b="1">
                          <a:solidFill>
                            <a:srgbClr val="FFFFFF"/>
                          </a:solidFill>
                          <a:latin typeface="Versos"/>
                        </a:rPr>
                        <a:t>%</a:t>
                      </a:r>
                    </a:p>
                  </a:txBody>
                  <a:tcPr marL="43200" marR="43200" marT="0" marB="0">
                    <a:solidFill>
                      <a:srgbClr val="3C4A60"/>
                    </a:solidFill>
                  </a:tcPr>
                </a:tc>
                <a:tc>
                  <a:txBody>
                    <a:bodyPr/>
                    <a:lstStyle/>
                    <a:p>
                      <a:pPr algn="r"/>
                      <a:r>
                        <a:rPr sz="850" b="1">
                          <a:solidFill>
                            <a:srgbClr val="FFFFFF"/>
                          </a:solidFill>
                          <a:latin typeface="Versos"/>
                        </a:rPr>
                        <a:t>Taxa Atual</a:t>
                      </a:r>
                    </a:p>
                  </a:txBody>
                  <a:tcPr marL="43200" marR="43200" marT="0" marB="0">
                    <a:solidFill>
                      <a:srgbClr val="3C4A60"/>
                    </a:solidFill>
                  </a:tcPr>
                </a:tc>
                <a:tc>
                  <a:txBody>
                    <a:bodyPr/>
                    <a:lstStyle/>
                    <a:p>
                      <a:pPr algn="r"/>
                      <a:r>
                        <a:rPr sz="850" b="1">
                          <a:solidFill>
                            <a:srgbClr val="FFFFFF"/>
                          </a:solidFill>
                          <a:latin typeface="Versos"/>
                        </a:rPr>
                        <a:t>Taxa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Spread Atual</a:t>
                      </a:r>
                    </a:p>
                  </a:txBody>
                  <a:tcPr marL="43200" marR="43200" marT="0" marB="0">
                    <a:solidFill>
                      <a:srgbClr val="3C4A60"/>
                    </a:solidFill>
                  </a:tcPr>
                </a:tc>
                <a:tc>
                  <a:txBody>
                    <a:bodyPr/>
                    <a:lstStyle/>
                    <a:p>
                      <a:pPr algn="r"/>
                      <a:r>
                        <a:rPr sz="850" b="1">
                          <a:solidFill>
                            <a:srgbClr val="FFFFFF"/>
                          </a:solidFill>
                          <a:latin typeface="Versos"/>
                        </a:rPr>
                        <a:t>Spread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Duration</a:t>
                      </a:r>
                    </a:p>
                  </a:txBody>
                  <a:tcPr marL="43200" marR="43200" marT="0" marB="0">
                    <a:solidFill>
                      <a:srgbClr val="3C4A60"/>
                    </a:solidFill>
                  </a:tcPr>
                </a:tc>
              </a:tr>
              <a:tr h="1656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191.166</a:t>
                      </a:r>
                    </a:p>
                  </a:txBody>
                  <a:tcPr marL="43200" marR="43200" marT="0" marB="0">
                    <a:solidFill>
                      <a:srgbClr val="F4F7F9"/>
                    </a:solidFill>
                  </a:tcPr>
                </a:tc>
                <a:tc>
                  <a:txBody>
                    <a:bodyPr/>
                    <a:lstStyle/>
                    <a:p>
                      <a:pPr algn="r"/>
                      <a:r>
                        <a:rPr sz="850" b="0">
                          <a:solidFill>
                            <a:srgbClr val="1A1A1A"/>
                          </a:solidFill>
                          <a:latin typeface="Versos"/>
                        </a:rPr>
                        <a:t>48,71%</a:t>
                      </a:r>
                    </a:p>
                  </a:txBody>
                  <a:tcPr marL="43200" marR="43200" marT="0" marB="0">
                    <a:solidFill>
                      <a:srgbClr val="F4F7F9"/>
                    </a:solidFill>
                  </a:tcPr>
                </a:tc>
                <a:tc>
                  <a:txBody>
                    <a:bodyPr/>
                    <a:lstStyle/>
                    <a:p>
                      <a:pPr algn="r"/>
                      <a:r>
                        <a:rPr sz="850" b="0">
                          <a:solidFill>
                            <a:srgbClr val="1A1A1A"/>
                          </a:solidFill>
                          <a:latin typeface="Versos"/>
                        </a:rPr>
                        <a:t>7,93%</a:t>
                      </a:r>
                    </a:p>
                  </a:txBody>
                  <a:tcPr marL="43200" marR="43200" marT="0" marB="0">
                    <a:solidFill>
                      <a:srgbClr val="F4F7F9"/>
                    </a:solidFill>
                  </a:tcPr>
                </a:tc>
                <a:tc>
                  <a:txBody>
                    <a:bodyPr/>
                    <a:lstStyle/>
                    <a:p>
                      <a:pPr algn="r"/>
                      <a:r>
                        <a:rPr sz="850" b="0">
                          <a:solidFill>
                            <a:srgbClr val="1A1A1A"/>
                          </a:solidFill>
                          <a:latin typeface="Versos"/>
                        </a:rPr>
                        <a:t>8,13%</a:t>
                      </a:r>
                    </a:p>
                  </a:txBody>
                  <a:tcPr marL="43200" marR="43200" marT="0" marB="0">
                    <a:solidFill>
                      <a:srgbClr val="F4F7F9"/>
                    </a:solidFill>
                  </a:tcPr>
                </a:tc>
                <a:tc>
                  <a:txBody>
                    <a:bodyPr/>
                    <a:lstStyle/>
                    <a:p>
                      <a:pPr algn="r"/>
                      <a:r>
                        <a:rPr sz="850" b="0">
                          <a:solidFill>
                            <a:srgbClr val="1A1A1A"/>
                          </a:solidFill>
                          <a:latin typeface="Versos"/>
                        </a:rPr>
                        <a:t>-0,19%</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-0,04%</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5,35</a:t>
                      </a:r>
                    </a:p>
                  </a:txBody>
                  <a:tcPr marL="43200" marR="43200" marT="0" marB="0">
                    <a:solidFill>
                      <a:srgbClr val="F4F7F9"/>
                    </a:solidFill>
                  </a:tcPr>
                </a:tc>
              </a:tr>
              <a:tr h="1656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89.369</a:t>
                      </a:r>
                    </a:p>
                  </a:txBody>
                  <a:tcPr marL="43200" marR="43200" marT="0" marB="0">
                    <a:solidFill>
                      <a:srgbClr val="FFFFFF"/>
                    </a:solidFill>
                  </a:tcPr>
                </a:tc>
                <a:tc>
                  <a:txBody>
                    <a:bodyPr/>
                    <a:lstStyle/>
                    <a:p>
                      <a:pPr algn="r"/>
                      <a:r>
                        <a:rPr sz="850" b="0">
                          <a:solidFill>
                            <a:srgbClr val="1A1A1A"/>
                          </a:solidFill>
                          <a:latin typeface="Versos"/>
                        </a:rPr>
                        <a:t>22,77%</a:t>
                      </a:r>
                    </a:p>
                  </a:txBody>
                  <a:tcPr marL="43200" marR="43200" marT="0" marB="0">
                    <a:solidFill>
                      <a:srgbClr val="FFFFFF"/>
                    </a:solidFill>
                  </a:tcPr>
                </a:tc>
                <a:tc>
                  <a:txBody>
                    <a:bodyPr/>
                    <a:lstStyle/>
                    <a:p>
                      <a:pPr algn="r"/>
                      <a:r>
                        <a:rPr sz="850" b="0">
                          <a:solidFill>
                            <a:srgbClr val="1A1A1A"/>
                          </a:solidFill>
                          <a:latin typeface="Versos"/>
                        </a:rPr>
                        <a:t>8,32%</a:t>
                      </a:r>
                    </a:p>
                  </a:txBody>
                  <a:tcPr marL="43200" marR="43200" marT="0" marB="0">
                    <a:solidFill>
                      <a:srgbClr val="FFFFFF"/>
                    </a:solidFill>
                  </a:tcPr>
                </a:tc>
                <a:tc>
                  <a:txBody>
                    <a:bodyPr/>
                    <a:lstStyle/>
                    <a:p>
                      <a:pPr algn="r"/>
                      <a:r>
                        <a:rPr sz="850" b="0">
                          <a:solidFill>
                            <a:srgbClr val="1A1A1A"/>
                          </a:solidFill>
                          <a:latin typeface="Versos"/>
                        </a:rPr>
                        <a:t>8,48%</a:t>
                      </a:r>
                    </a:p>
                  </a:txBody>
                  <a:tcPr marL="43200" marR="43200" marT="0" marB="0">
                    <a:solidFill>
                      <a:srgbClr val="FFFFFF"/>
                    </a:solidFill>
                  </a:tcPr>
                </a:tc>
                <a:tc>
                  <a:txBody>
                    <a:bodyPr/>
                    <a:lstStyle/>
                    <a:p>
                      <a:pPr algn="r"/>
                      <a:r>
                        <a:rPr sz="850" b="0">
                          <a:solidFill>
                            <a:srgbClr val="1A1A1A"/>
                          </a:solidFill>
                          <a:latin typeface="Versos"/>
                        </a:rPr>
                        <a:t>-0,15%</a:t>
                      </a:r>
                    </a:p>
                  </a:txBody>
                  <a:tcPr marL="43200" marR="43200" marT="0" marB="0">
                    <a:solidFill>
                      <a:srgbClr val="FFFFFF"/>
                    </a:solidFill>
                  </a:tcPr>
                </a:tc>
                <a:tc>
                  <a:txBody>
                    <a:bodyPr/>
                    <a:lstStyle/>
                    <a:p>
                      <a:pPr algn="r"/>
                      <a:r>
                        <a:rPr sz="850" b="0">
                          <a:solidFill>
                            <a:srgbClr val="1A1A1A"/>
                          </a:solidFill>
                          <a:latin typeface="Versos"/>
                        </a:rPr>
                        <a:t>0,36%</a:t>
                      </a:r>
                    </a:p>
                  </a:txBody>
                  <a:tcPr marL="43200" marR="43200" marT="0" marB="0">
                    <a:solidFill>
                      <a:srgbClr val="FFFFFF"/>
                    </a:solidFill>
                  </a:tcPr>
                </a:tc>
                <a:tc>
                  <a:txBody>
                    <a:bodyPr/>
                    <a:lstStyle/>
                    <a:p>
                      <a:pPr algn="r"/>
                      <a:r>
                        <a:rPr sz="850" b="0">
                          <a:solidFill>
                            <a:srgbClr val="1A1A1A"/>
                          </a:solidFill>
                          <a:latin typeface="Versos"/>
                        </a:rPr>
                        <a:t>0,30%</a:t>
                      </a:r>
                    </a:p>
                  </a:txBody>
                  <a:tcPr marL="43200" marR="43200" marT="0" marB="0">
                    <a:solidFill>
                      <a:srgbClr val="FFFFFF"/>
                    </a:solidFill>
                  </a:tcPr>
                </a:tc>
                <a:tc>
                  <a:txBody>
                    <a:bodyPr/>
                    <a:lstStyle/>
                    <a:p>
                      <a:pPr algn="r"/>
                      <a:r>
                        <a:rPr sz="850" b="0">
                          <a:solidFill>
                            <a:srgbClr val="1A1A1A"/>
                          </a:solidFill>
                          <a:latin typeface="Versos"/>
                        </a:rPr>
                        <a:t>0,06%</a:t>
                      </a:r>
                    </a:p>
                  </a:txBody>
                  <a:tcPr marL="43200" marR="43200" marT="0" marB="0">
                    <a:solidFill>
                      <a:srgbClr val="FFFFFF"/>
                    </a:solidFill>
                  </a:tcPr>
                </a:tc>
                <a:tc>
                  <a:txBody>
                    <a:bodyPr/>
                    <a:lstStyle/>
                    <a:p>
                      <a:pPr algn="r"/>
                      <a:r>
                        <a:rPr sz="850" b="0">
                          <a:solidFill>
                            <a:srgbClr val="1A1A1A"/>
                          </a:solidFill>
                          <a:latin typeface="Versos"/>
                        </a:rPr>
                        <a:t>5,25</a:t>
                      </a:r>
                    </a:p>
                  </a:txBody>
                  <a:tcPr marL="43200" marR="43200" marT="0" marB="0">
                    <a:solidFill>
                      <a:srgbClr val="FFFFFF"/>
                    </a:solidFill>
                  </a:tcPr>
                </a:tc>
              </a:tr>
              <a:tr h="1656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35.248</a:t>
                      </a:r>
                    </a:p>
                  </a:txBody>
                  <a:tcPr marL="43200" marR="43200" marT="0" marB="0">
                    <a:solidFill>
                      <a:srgbClr val="F4F7F9"/>
                    </a:solidFill>
                  </a:tcPr>
                </a:tc>
                <a:tc>
                  <a:txBody>
                    <a:bodyPr/>
                    <a:lstStyle/>
                    <a:p>
                      <a:pPr algn="r"/>
                      <a:r>
                        <a:rPr sz="850" b="0">
                          <a:solidFill>
                            <a:srgbClr val="1A1A1A"/>
                          </a:solidFill>
                          <a:latin typeface="Versos"/>
                        </a:rPr>
                        <a:t>8,98%</a:t>
                      </a:r>
                    </a:p>
                  </a:txBody>
                  <a:tcPr marL="43200" marR="43200" marT="0" marB="0">
                    <a:solidFill>
                      <a:srgbClr val="F4F7F9"/>
                    </a:solidFill>
                  </a:tcPr>
                </a:tc>
                <a:tc>
                  <a:txBody>
                    <a:bodyPr/>
                    <a:lstStyle/>
                    <a:p>
                      <a:pPr algn="r"/>
                      <a:r>
                        <a:rPr sz="850" b="0">
                          <a:solidFill>
                            <a:srgbClr val="1A1A1A"/>
                          </a:solidFill>
                          <a:latin typeface="Versos"/>
                        </a:rPr>
                        <a:t>9,69%</a:t>
                      </a:r>
                    </a:p>
                  </a:txBody>
                  <a:tcPr marL="43200" marR="43200" marT="0" marB="0">
                    <a:solidFill>
                      <a:srgbClr val="F4F7F9"/>
                    </a:solidFill>
                  </a:tcPr>
                </a:tc>
                <a:tc>
                  <a:txBody>
                    <a:bodyPr/>
                    <a:lstStyle/>
                    <a:p>
                      <a:pPr algn="r"/>
                      <a:r>
                        <a:rPr sz="850" b="0">
                          <a:solidFill>
                            <a:srgbClr val="1A1A1A"/>
                          </a:solidFill>
                          <a:latin typeface="Versos"/>
                        </a:rPr>
                        <a:t>9,75%</a:t>
                      </a:r>
                    </a:p>
                  </a:txBody>
                  <a:tcPr marL="43200" marR="43200" marT="0" marB="0">
                    <a:solidFill>
                      <a:srgbClr val="F4F7F9"/>
                    </a:solidFill>
                  </a:tcPr>
                </a:tc>
                <a:tc>
                  <a:txBody>
                    <a:bodyPr/>
                    <a:lstStyle/>
                    <a:p>
                      <a:pPr algn="r"/>
                      <a:r>
                        <a:rPr sz="850" b="0">
                          <a:solidFill>
                            <a:srgbClr val="1A1A1A"/>
                          </a:solidFill>
                          <a:latin typeface="Versos"/>
                        </a:rPr>
                        <a:t>-0,05%</a:t>
                      </a:r>
                    </a:p>
                  </a:txBody>
                  <a:tcPr marL="43200" marR="43200" marT="0" marB="0">
                    <a:solidFill>
                      <a:srgbClr val="F4F7F9"/>
                    </a:solidFill>
                  </a:tcPr>
                </a:tc>
                <a:tc>
                  <a:txBody>
                    <a:bodyPr/>
                    <a:lstStyle/>
                    <a:p>
                      <a:pPr algn="r"/>
                      <a:r>
                        <a:rPr sz="850" b="0">
                          <a:solidFill>
                            <a:srgbClr val="1A1A1A"/>
                          </a:solidFill>
                          <a:latin typeface="Versos"/>
                        </a:rPr>
                        <a:t>1,68%</a:t>
                      </a:r>
                    </a:p>
                  </a:txBody>
                  <a:tcPr marL="43200" marR="43200" marT="0" marB="0">
                    <a:solidFill>
                      <a:srgbClr val="F4F7F9"/>
                    </a:solidFill>
                  </a:tcPr>
                </a:tc>
                <a:tc>
                  <a:txBody>
                    <a:bodyPr/>
                    <a:lstStyle/>
                    <a:p>
                      <a:pPr algn="r"/>
                      <a:r>
                        <a:rPr sz="850" b="0">
                          <a:solidFill>
                            <a:srgbClr val="1A1A1A"/>
                          </a:solidFill>
                          <a:latin typeface="Versos"/>
                        </a:rPr>
                        <a:t>1,51%</a:t>
                      </a:r>
                    </a:p>
                  </a:txBody>
                  <a:tcPr marL="43200" marR="43200" marT="0" marB="0">
                    <a:solidFill>
                      <a:srgbClr val="F4F7F9"/>
                    </a:solidFill>
                  </a:tcPr>
                </a:tc>
                <a:tc>
                  <a:txBody>
                    <a:bodyPr/>
                    <a:lstStyle/>
                    <a:p>
                      <a:pPr algn="r"/>
                      <a:r>
                        <a:rPr sz="850" b="0">
                          <a:solidFill>
                            <a:srgbClr val="1A1A1A"/>
                          </a:solidFill>
                          <a:latin typeface="Versos"/>
                        </a:rPr>
                        <a:t>0,17%</a:t>
                      </a:r>
                    </a:p>
                  </a:txBody>
                  <a:tcPr marL="43200" marR="43200" marT="0" marB="0">
                    <a:solidFill>
                      <a:srgbClr val="F4F7F9"/>
                    </a:solidFill>
                  </a:tcPr>
                </a:tc>
                <a:tc>
                  <a:txBody>
                    <a:bodyPr/>
                    <a:lstStyle/>
                    <a:p>
                      <a:pPr algn="r"/>
                      <a:r>
                        <a:rPr sz="850" b="0">
                          <a:solidFill>
                            <a:srgbClr val="1A1A1A"/>
                          </a:solidFill>
                          <a:latin typeface="Versos"/>
                        </a:rPr>
                        <a:t>6,23</a:t>
                      </a:r>
                    </a:p>
                  </a:txBody>
                  <a:tcPr marL="43200" marR="43200" marT="0" marB="0">
                    <a:solidFill>
                      <a:srgbClr val="F4F7F9"/>
                    </a:solidFill>
                  </a:tcPr>
                </a:tc>
              </a:tr>
              <a:tr h="165600">
                <a:tc>
                  <a:txBody>
                    <a:bodyPr/>
                    <a:lstStyle/>
                    <a:p>
                      <a:pPr algn="l"/>
                      <a:r>
                        <a:rPr sz="850" b="1">
                          <a:solidFill>
                            <a:srgbClr val="1A1A1A"/>
                          </a:solidFill>
                          <a:latin typeface="Versos"/>
                        </a:rPr>
                        <a:t>Petróleo e gás</a:t>
                      </a:r>
                    </a:p>
                  </a:txBody>
                  <a:tcPr marL="43200" marR="43200" marT="0" marB="0">
                    <a:solidFill>
                      <a:srgbClr val="FFFFFF"/>
                    </a:solidFill>
                  </a:tcPr>
                </a:tc>
                <a:tc>
                  <a:txBody>
                    <a:bodyPr/>
                    <a:lstStyle/>
                    <a:p>
                      <a:pPr algn="r"/>
                      <a:r>
                        <a:rPr sz="850" b="0">
                          <a:solidFill>
                            <a:srgbClr val="1A1A1A"/>
                          </a:solidFill>
                          <a:latin typeface="Versos"/>
                        </a:rPr>
                        <a:t>26.236</a:t>
                      </a:r>
                    </a:p>
                  </a:txBody>
                  <a:tcPr marL="43200" marR="43200" marT="0" marB="0">
                    <a:solidFill>
                      <a:srgbClr val="FFFFFF"/>
                    </a:solidFill>
                  </a:tcPr>
                </a:tc>
                <a:tc>
                  <a:txBody>
                    <a:bodyPr/>
                    <a:lstStyle/>
                    <a:p>
                      <a:pPr algn="r"/>
                      <a:r>
                        <a:rPr sz="850" b="0">
                          <a:solidFill>
                            <a:srgbClr val="1A1A1A"/>
                          </a:solidFill>
                          <a:latin typeface="Versos"/>
                        </a:rPr>
                        <a:t>6,68%</a:t>
                      </a:r>
                    </a:p>
                  </a:txBody>
                  <a:tcPr marL="43200" marR="43200" marT="0" marB="0">
                    <a:solidFill>
                      <a:srgbClr val="FFFFFF"/>
                    </a:solidFill>
                  </a:tcPr>
                </a:tc>
                <a:tc>
                  <a:txBody>
                    <a:bodyPr/>
                    <a:lstStyle/>
                    <a:p>
                      <a:pPr algn="r"/>
                      <a:r>
                        <a:rPr sz="850" b="0">
                          <a:solidFill>
                            <a:srgbClr val="1A1A1A"/>
                          </a:solidFill>
                          <a:latin typeface="Versos"/>
                        </a:rPr>
                        <a:t>7,91%</a:t>
                      </a:r>
                    </a:p>
                  </a:txBody>
                  <a:tcPr marL="43200" marR="43200" marT="0" marB="0">
                    <a:solidFill>
                      <a:srgbClr val="FFFFFF"/>
                    </a:solidFill>
                  </a:tcPr>
                </a:tc>
                <a:tc>
                  <a:txBody>
                    <a:bodyPr/>
                    <a:lstStyle/>
                    <a:p>
                      <a:pPr algn="r"/>
                      <a:r>
                        <a:rPr sz="850" b="0">
                          <a:solidFill>
                            <a:srgbClr val="1A1A1A"/>
                          </a:solidFill>
                          <a:latin typeface="Versos"/>
                        </a:rPr>
                        <a:t>8,08%</a:t>
                      </a:r>
                    </a:p>
                  </a:txBody>
                  <a:tcPr marL="43200" marR="43200" marT="0" marB="0">
                    <a:solidFill>
                      <a:srgbClr val="FFFFFF"/>
                    </a:solidFill>
                  </a:tcPr>
                </a:tc>
                <a:tc>
                  <a:txBody>
                    <a:bodyPr/>
                    <a:lstStyle/>
                    <a:p>
                      <a:pPr algn="r"/>
                      <a:r>
                        <a:rPr sz="850" b="0">
                          <a:solidFill>
                            <a:srgbClr val="1A1A1A"/>
                          </a:solidFill>
                          <a:latin typeface="Versos"/>
                        </a:rPr>
                        <a:t>-0,16%</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-0,07%</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5,20</a:t>
                      </a:r>
                    </a:p>
                  </a:txBody>
                  <a:tcPr marL="43200" marR="43200" marT="0" marB="0">
                    <a:solidFill>
                      <a:srgbClr val="FFFFFF"/>
                    </a:solidFill>
                  </a:tcPr>
                </a:tc>
              </a:tr>
              <a:tr h="165600">
                <a:tc>
                  <a:txBody>
                    <a:bodyPr/>
                    <a:lstStyle/>
                    <a:p>
                      <a:pPr algn="l"/>
                      <a:r>
                        <a:rPr sz="850" b="1">
                          <a:solidFill>
                            <a:srgbClr val="1A1A1A"/>
                          </a:solidFill>
                          <a:latin typeface="Versos"/>
                        </a:rPr>
                        <a:t>TI e Telecomunicações</a:t>
                      </a:r>
                    </a:p>
                  </a:txBody>
                  <a:tcPr marL="43200" marR="43200" marT="0" marB="0">
                    <a:solidFill>
                      <a:srgbClr val="F4F7F9"/>
                    </a:solidFill>
                  </a:tcPr>
                </a:tc>
                <a:tc>
                  <a:txBody>
                    <a:bodyPr/>
                    <a:lstStyle/>
                    <a:p>
                      <a:pPr algn="r"/>
                      <a:r>
                        <a:rPr sz="850" b="0">
                          <a:solidFill>
                            <a:srgbClr val="1A1A1A"/>
                          </a:solidFill>
                          <a:latin typeface="Versos"/>
                        </a:rPr>
                        <a:t>16.942</a:t>
                      </a:r>
                    </a:p>
                  </a:txBody>
                  <a:tcPr marL="43200" marR="43200" marT="0" marB="0">
                    <a:solidFill>
                      <a:srgbClr val="F4F7F9"/>
                    </a:solidFill>
                  </a:tcPr>
                </a:tc>
                <a:tc>
                  <a:txBody>
                    <a:bodyPr/>
                    <a:lstStyle/>
                    <a:p>
                      <a:pPr algn="r"/>
                      <a:r>
                        <a:rPr sz="850" b="0">
                          <a:solidFill>
                            <a:srgbClr val="1A1A1A"/>
                          </a:solidFill>
                          <a:latin typeface="Versos"/>
                        </a:rPr>
                        <a:t>4,32%</a:t>
                      </a:r>
                    </a:p>
                  </a:txBody>
                  <a:tcPr marL="43200" marR="43200" marT="0" marB="0">
                    <a:solidFill>
                      <a:srgbClr val="F4F7F9"/>
                    </a:solidFill>
                  </a:tcPr>
                </a:tc>
                <a:tc>
                  <a:txBody>
                    <a:bodyPr/>
                    <a:lstStyle/>
                    <a:p>
                      <a:pPr algn="r"/>
                      <a:r>
                        <a:rPr sz="850" b="0">
                          <a:solidFill>
                            <a:srgbClr val="1A1A1A"/>
                          </a:solidFill>
                          <a:latin typeface="Versos"/>
                        </a:rPr>
                        <a:t>9,41%</a:t>
                      </a:r>
                    </a:p>
                  </a:txBody>
                  <a:tcPr marL="43200" marR="43200" marT="0" marB="0">
                    <a:solidFill>
                      <a:srgbClr val="F4F7F9"/>
                    </a:solidFill>
                  </a:tcPr>
                </a:tc>
                <a:tc>
                  <a:txBody>
                    <a:bodyPr/>
                    <a:lstStyle/>
                    <a:p>
                      <a:pPr algn="r"/>
                      <a:r>
                        <a:rPr sz="850" b="0">
                          <a:solidFill>
                            <a:srgbClr val="1A1A1A"/>
                          </a:solidFill>
                          <a:latin typeface="Versos"/>
                        </a:rPr>
                        <a:t>9,53%</a:t>
                      </a:r>
                    </a:p>
                  </a:txBody>
                  <a:tcPr marL="43200" marR="43200" marT="0" marB="0">
                    <a:solidFill>
                      <a:srgbClr val="F4F7F9"/>
                    </a:solidFill>
                  </a:tcPr>
                </a:tc>
                <a:tc>
                  <a:txBody>
                    <a:bodyPr/>
                    <a:lstStyle/>
                    <a:p>
                      <a:pPr algn="r"/>
                      <a:r>
                        <a:rPr sz="850" b="0">
                          <a:solidFill>
                            <a:srgbClr val="1A1A1A"/>
                          </a:solidFill>
                          <a:latin typeface="Versos"/>
                        </a:rPr>
                        <a:t>-0,11%</a:t>
                      </a:r>
                    </a:p>
                  </a:txBody>
                  <a:tcPr marL="43200" marR="43200" marT="0" marB="0">
                    <a:solidFill>
                      <a:srgbClr val="F4F7F9"/>
                    </a:solidFill>
                  </a:tcPr>
                </a:tc>
                <a:tc>
                  <a:txBody>
                    <a:bodyPr/>
                    <a:lstStyle/>
                    <a:p>
                      <a:pPr algn="r"/>
                      <a:r>
                        <a:rPr sz="850" b="0">
                          <a:solidFill>
                            <a:srgbClr val="1A1A1A"/>
                          </a:solidFill>
                          <a:latin typeface="Versos"/>
                        </a:rPr>
                        <a:t>1,41%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0,19%</a:t>
                      </a:r>
                    </a:p>
                  </a:txBody>
                  <a:tcPr marL="43200" marR="43200" marT="0" marB="0">
                    <a:solidFill>
                      <a:srgbClr val="F4F7F9"/>
                    </a:solidFill>
                  </a:tcPr>
                </a:tc>
                <a:tc>
                  <a:txBody>
                    <a:bodyPr/>
                    <a:lstStyle/>
                    <a:p>
                      <a:pPr algn="r"/>
                      <a:r>
                        <a:rPr sz="850" b="0">
                          <a:solidFill>
                            <a:srgbClr val="1A1A1A"/>
                          </a:solidFill>
                          <a:latin typeface="Versos"/>
                        </a:rPr>
                        <a:t>3,93</a:t>
                      </a:r>
                    </a:p>
                  </a:txBody>
                  <a:tcPr marL="43200" marR="43200" marT="0" marB="0">
                    <a:solidFill>
                      <a:srgbClr val="F4F7F9"/>
                    </a:solidFill>
                  </a:tcPr>
                </a:tc>
              </a:tr>
              <a:tr h="165600">
                <a:tc>
                  <a:txBody>
                    <a:bodyPr/>
                    <a:lstStyle/>
                    <a:p>
                      <a:pPr algn="l"/>
                      <a:r>
                        <a:rPr sz="850" b="1">
                          <a:solidFill>
                            <a:srgbClr val="1A1A1A"/>
                          </a:solidFill>
                          <a:latin typeface="Versos"/>
                        </a:rPr>
                        <a:t>Mineração</a:t>
                      </a:r>
                    </a:p>
                  </a:txBody>
                  <a:tcPr marL="43200" marR="43200" marT="0" marB="0">
                    <a:solidFill>
                      <a:srgbClr val="FFFFFF"/>
                    </a:solidFill>
                  </a:tcPr>
                </a:tc>
                <a:tc>
                  <a:txBody>
                    <a:bodyPr/>
                    <a:lstStyle/>
                    <a:p>
                      <a:pPr algn="r"/>
                      <a:r>
                        <a:rPr sz="850" b="0">
                          <a:solidFill>
                            <a:srgbClr val="1A1A1A"/>
                          </a:solidFill>
                          <a:latin typeface="Versos"/>
                        </a:rPr>
                        <a:t>14.839</a:t>
                      </a:r>
                    </a:p>
                  </a:txBody>
                  <a:tcPr marL="43200" marR="43200" marT="0" marB="0">
                    <a:solidFill>
                      <a:srgbClr val="FFFFFF"/>
                    </a:solidFill>
                  </a:tcPr>
                </a:tc>
                <a:tc>
                  <a:txBody>
                    <a:bodyPr/>
                    <a:lstStyle/>
                    <a:p>
                      <a:pPr algn="r"/>
                      <a:r>
                        <a:rPr sz="850" b="0">
                          <a:solidFill>
                            <a:srgbClr val="1A1A1A"/>
                          </a:solidFill>
                          <a:latin typeface="Versos"/>
                        </a:rPr>
                        <a:t>3,78%</a:t>
                      </a:r>
                    </a:p>
                  </a:txBody>
                  <a:tcPr marL="43200" marR="43200" marT="0" marB="0">
                    <a:solidFill>
                      <a:srgbClr val="FFFFFF"/>
                    </a:solidFill>
                  </a:tcPr>
                </a:tc>
                <a:tc>
                  <a:txBody>
                    <a:bodyPr/>
                    <a:lstStyle/>
                    <a:p>
                      <a:pPr algn="r"/>
                      <a:r>
                        <a:rPr sz="850" b="0">
                          <a:solidFill>
                            <a:srgbClr val="1A1A1A"/>
                          </a:solidFill>
                          <a:latin typeface="Versos"/>
                        </a:rPr>
                        <a:t>8,09%</a:t>
                      </a:r>
                    </a:p>
                  </a:txBody>
                  <a:tcPr marL="43200" marR="43200" marT="0" marB="0">
                    <a:solidFill>
                      <a:srgbClr val="FFFFFF"/>
                    </a:solidFill>
                  </a:tcPr>
                </a:tc>
                <a:tc>
                  <a:txBody>
                    <a:bodyPr/>
                    <a:lstStyle/>
                    <a:p>
                      <a:pPr algn="r"/>
                      <a:r>
                        <a:rPr sz="850" b="0">
                          <a:solidFill>
                            <a:srgbClr val="1A1A1A"/>
                          </a:solidFill>
                          <a:latin typeface="Versos"/>
                        </a:rPr>
                        <a:t>8,30%</a:t>
                      </a:r>
                    </a:p>
                  </a:txBody>
                  <a:tcPr marL="43200" marR="43200" marT="0" marB="0">
                    <a:solidFill>
                      <a:srgbClr val="FFFFFF"/>
                    </a:solidFill>
                  </a:tcPr>
                </a:tc>
                <a:tc>
                  <a:txBody>
                    <a:bodyPr/>
                    <a:lstStyle/>
                    <a:p>
                      <a:pPr algn="r"/>
                      <a:r>
                        <a:rPr sz="850" b="0">
                          <a:solidFill>
                            <a:srgbClr val="1A1A1A"/>
                          </a:solidFill>
                          <a:latin typeface="Versos"/>
                        </a:rPr>
                        <a:t>-0,19%</a:t>
                      </a:r>
                    </a:p>
                  </a:txBody>
                  <a:tcPr marL="43200" marR="43200" marT="0" marB="0">
                    <a:solidFill>
                      <a:srgbClr val="FFFFFF"/>
                    </a:solidFill>
                  </a:tcPr>
                </a:tc>
                <a:tc>
                  <a:txBody>
                    <a:bodyPr/>
                    <a:lstStyle/>
                    <a:p>
                      <a:pPr algn="r"/>
                      <a:r>
                        <a:rPr sz="850" b="0">
                          <a:solidFill>
                            <a:srgbClr val="1A1A1A"/>
                          </a:solidFill>
                          <a:latin typeface="Versos"/>
                        </a:rPr>
                        <a:t>0,18%</a:t>
                      </a:r>
                    </a:p>
                  </a:txBody>
                  <a:tcPr marL="43200" marR="43200" marT="0" marB="0">
                    <a:solidFill>
                      <a:srgbClr val="FFFFFF"/>
                    </a:solidFill>
                  </a:tcPr>
                </a:tc>
                <a:tc>
                  <a:txBody>
                    <a:bodyPr/>
                    <a:lstStyle/>
                    <a:p>
                      <a:pPr algn="r"/>
                      <a:r>
                        <a:rPr sz="850" b="0">
                          <a:solidFill>
                            <a:srgbClr val="1A1A1A"/>
                          </a:solidFill>
                          <a:latin typeface="Versos"/>
                        </a:rPr>
                        <a:t>0,21%</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6,50</a:t>
                      </a:r>
                    </a:p>
                  </a:txBody>
                  <a:tcPr marL="43200" marR="43200" marT="0" marB="0">
                    <a:solidFill>
                      <a:srgbClr val="FFFFFF"/>
                    </a:solidFill>
                  </a:tcPr>
                </a:tc>
              </a:tr>
              <a:tr h="165600">
                <a:tc>
                  <a:txBody>
                    <a:bodyPr/>
                    <a:lstStyle/>
                    <a:p>
                      <a:pPr algn="l"/>
                      <a:r>
                        <a:rPr sz="850" b="1">
                          <a:solidFill>
                            <a:srgbClr val="1A1A1A"/>
                          </a:solidFill>
                          <a:latin typeface="Versos"/>
                        </a:rPr>
                        <a:t>Bioenergia</a:t>
                      </a:r>
                    </a:p>
                  </a:txBody>
                  <a:tcPr marL="43200" marR="43200" marT="0" marB="0">
                    <a:solidFill>
                      <a:srgbClr val="F4F7F9"/>
                    </a:solidFill>
                  </a:tcPr>
                </a:tc>
                <a:tc>
                  <a:txBody>
                    <a:bodyPr/>
                    <a:lstStyle/>
                    <a:p>
                      <a:pPr algn="r"/>
                      <a:r>
                        <a:rPr sz="850" b="0">
                          <a:solidFill>
                            <a:srgbClr val="1A1A1A"/>
                          </a:solidFill>
                          <a:latin typeface="Versos"/>
                        </a:rPr>
                        <a:t>6.924</a:t>
                      </a:r>
                    </a:p>
                  </a:txBody>
                  <a:tcPr marL="43200" marR="43200" marT="0" marB="0">
                    <a:solidFill>
                      <a:srgbClr val="F4F7F9"/>
                    </a:solidFill>
                  </a:tcPr>
                </a:tc>
                <a:tc>
                  <a:txBody>
                    <a:bodyPr/>
                    <a:lstStyle/>
                    <a:p>
                      <a:pPr algn="r"/>
                      <a:r>
                        <a:rPr sz="850" b="0">
                          <a:solidFill>
                            <a:srgbClr val="1A1A1A"/>
                          </a:solidFill>
                          <a:latin typeface="Versos"/>
                        </a:rPr>
                        <a:t>1,76%</a:t>
                      </a:r>
                    </a:p>
                  </a:txBody>
                  <a:tcPr marL="43200" marR="43200" marT="0" marB="0">
                    <a:solidFill>
                      <a:srgbClr val="F4F7F9"/>
                    </a:solidFill>
                  </a:tcPr>
                </a:tc>
                <a:tc>
                  <a:txBody>
                    <a:bodyPr/>
                    <a:lstStyle/>
                    <a:p>
                      <a:pPr algn="r"/>
                      <a:r>
                        <a:rPr sz="850" b="0">
                          <a:solidFill>
                            <a:srgbClr val="1A1A1A"/>
                          </a:solidFill>
                          <a:latin typeface="Versos"/>
                        </a:rPr>
                        <a:t>8,96%</a:t>
                      </a:r>
                    </a:p>
                  </a:txBody>
                  <a:tcPr marL="43200" marR="43200" marT="0" marB="0">
                    <a:solidFill>
                      <a:srgbClr val="F4F7F9"/>
                    </a:solidFill>
                  </a:tcPr>
                </a:tc>
                <a:tc>
                  <a:txBody>
                    <a:bodyPr/>
                    <a:lstStyle/>
                    <a:p>
                      <a:pPr algn="r"/>
                      <a:r>
                        <a:rPr sz="850" b="0">
                          <a:solidFill>
                            <a:srgbClr val="1A1A1A"/>
                          </a:solidFill>
                          <a:latin typeface="Versos"/>
                        </a:rPr>
                        <a:t>9,07%</a:t>
                      </a:r>
                    </a:p>
                  </a:txBody>
                  <a:tcPr marL="43200" marR="43200" marT="0" marB="0">
                    <a:solidFill>
                      <a:srgbClr val="F4F7F9"/>
                    </a:solidFill>
                  </a:tcPr>
                </a:tc>
                <a:tc>
                  <a:txBody>
                    <a:bodyPr/>
                    <a:lstStyle/>
                    <a:p>
                      <a:pPr algn="r"/>
                      <a:r>
                        <a:rPr sz="850" b="0">
                          <a:solidFill>
                            <a:srgbClr val="1A1A1A"/>
                          </a:solidFill>
                          <a:latin typeface="Versos"/>
                        </a:rPr>
                        <a:t>-0,11%</a:t>
                      </a:r>
                    </a:p>
                  </a:txBody>
                  <a:tcPr marL="43200" marR="43200" marT="0" marB="0">
                    <a:solidFill>
                      <a:srgbClr val="F4F7F9"/>
                    </a:solidFill>
                  </a:tcPr>
                </a:tc>
                <a:tc>
                  <a:txBody>
                    <a:bodyPr/>
                    <a:lstStyle/>
                    <a:p>
                      <a:pPr algn="r"/>
                      <a:r>
                        <a:rPr sz="850" b="0">
                          <a:solidFill>
                            <a:srgbClr val="1A1A1A"/>
                          </a:solidFill>
                          <a:latin typeface="Versos"/>
                        </a:rPr>
                        <a:t>0,86%</a:t>
                      </a:r>
                    </a:p>
                  </a:txBody>
                  <a:tcPr marL="43200" marR="43200" marT="0" marB="0">
                    <a:solidFill>
                      <a:srgbClr val="F4F7F9"/>
                    </a:solidFill>
                  </a:tcPr>
                </a:tc>
                <a:tc>
                  <a:txBody>
                    <a:bodyPr/>
                    <a:lstStyle/>
                    <a:p>
                      <a:pPr algn="r"/>
                      <a:r>
                        <a:rPr sz="850" b="0">
                          <a:solidFill>
                            <a:srgbClr val="1A1A1A"/>
                          </a:solidFill>
                          <a:latin typeface="Versos"/>
                        </a:rPr>
                        <a:t>0,76%</a:t>
                      </a:r>
                    </a:p>
                  </a:txBody>
                  <a:tcPr marL="43200" marR="43200" marT="0" marB="0">
                    <a:solidFill>
                      <a:srgbClr val="F4F7F9"/>
                    </a:solidFill>
                  </a:tcPr>
                </a:tc>
                <a:tc>
                  <a:txBody>
                    <a:bodyPr/>
                    <a:lstStyle/>
                    <a:p>
                      <a:pPr algn="r"/>
                      <a:r>
                        <a:rPr sz="850" b="0">
                          <a:solidFill>
                            <a:srgbClr val="1A1A1A"/>
                          </a:solidFill>
                          <a:latin typeface="Versos"/>
                        </a:rPr>
                        <a:t>0,10%</a:t>
                      </a:r>
                    </a:p>
                  </a:txBody>
                  <a:tcPr marL="43200" marR="43200" marT="0" marB="0">
                    <a:solidFill>
                      <a:srgbClr val="F4F7F9"/>
                    </a:solidFill>
                  </a:tcPr>
                </a:tc>
                <a:tc>
                  <a:txBody>
                    <a:bodyPr/>
                    <a:lstStyle/>
                    <a:p>
                      <a:pPr algn="r"/>
                      <a:r>
                        <a:rPr sz="850" b="0">
                          <a:solidFill>
                            <a:srgbClr val="1A1A1A"/>
                          </a:solidFill>
                          <a:latin typeface="Versos"/>
                        </a:rPr>
                        <a:t>4,39</a:t>
                      </a:r>
                    </a:p>
                  </a:txBody>
                  <a:tcPr marL="43200" marR="43200" marT="0" marB="0">
                    <a:solidFill>
                      <a:srgbClr val="F4F7F9"/>
                    </a:solidFill>
                  </a:tcPr>
                </a:tc>
              </a:tr>
              <a:tr h="165600">
                <a:tc>
                  <a:txBody>
                    <a:bodyPr/>
                    <a:lstStyle/>
                    <a:p>
                      <a:pPr algn="l"/>
                      <a:r>
                        <a:rPr sz="850" b="1">
                          <a:solidFill>
                            <a:srgbClr val="1A1A1A"/>
                          </a:solidFill>
                          <a:latin typeface="Versos"/>
                        </a:rPr>
                        <a:t>Papel e celulose</a:t>
                      </a:r>
                    </a:p>
                  </a:txBody>
                  <a:tcPr marL="43200" marR="43200" marT="0" marB="0">
                    <a:solidFill>
                      <a:srgbClr val="FFFFFF"/>
                    </a:solidFill>
                  </a:tcPr>
                </a:tc>
                <a:tc>
                  <a:txBody>
                    <a:bodyPr/>
                    <a:lstStyle/>
                    <a:p>
                      <a:pPr algn="r"/>
                      <a:r>
                        <a:rPr sz="850" b="0">
                          <a:solidFill>
                            <a:srgbClr val="1A1A1A"/>
                          </a:solidFill>
                          <a:latin typeface="Versos"/>
                        </a:rPr>
                        <a:t>7.223</a:t>
                      </a:r>
                    </a:p>
                  </a:txBody>
                  <a:tcPr marL="43200" marR="43200" marT="0" marB="0">
                    <a:solidFill>
                      <a:srgbClr val="FFFFFF"/>
                    </a:solidFill>
                  </a:tcPr>
                </a:tc>
                <a:tc>
                  <a:txBody>
                    <a:bodyPr/>
                    <a:lstStyle/>
                    <a:p>
                      <a:pPr algn="r"/>
                      <a:r>
                        <a:rPr sz="850" b="0">
                          <a:solidFill>
                            <a:srgbClr val="1A1A1A"/>
                          </a:solidFill>
                          <a:latin typeface="Versos"/>
                        </a:rPr>
                        <a:t>1,84%</a:t>
                      </a:r>
                    </a:p>
                  </a:txBody>
                  <a:tcPr marL="43200" marR="43200" marT="0" marB="0">
                    <a:solidFill>
                      <a:srgbClr val="FFFFFF"/>
                    </a:solidFill>
                  </a:tcPr>
                </a:tc>
                <a:tc>
                  <a:txBody>
                    <a:bodyPr/>
                    <a:lstStyle/>
                    <a:p>
                      <a:pPr algn="r"/>
                      <a:r>
                        <a:rPr sz="850" b="0">
                          <a:solidFill>
                            <a:srgbClr val="1A1A1A"/>
                          </a:solidFill>
                          <a:latin typeface="Versos"/>
                        </a:rPr>
                        <a:t>7,65%</a:t>
                      </a:r>
                    </a:p>
                  </a:txBody>
                  <a:tcPr marL="43200" marR="43200" marT="0" marB="0">
                    <a:solidFill>
                      <a:srgbClr val="FFFFFF"/>
                    </a:solidFill>
                  </a:tcPr>
                </a:tc>
                <a:tc>
                  <a:txBody>
                    <a:bodyPr/>
                    <a:lstStyle/>
                    <a:p>
                      <a:pPr algn="r"/>
                      <a:r>
                        <a:rPr sz="850" b="0">
                          <a:solidFill>
                            <a:srgbClr val="1A1A1A"/>
                          </a:solidFill>
                          <a:latin typeface="Versos"/>
                        </a:rPr>
                        <a:t>7,87%</a:t>
                      </a:r>
                    </a:p>
                  </a:txBody>
                  <a:tcPr marL="43200" marR="43200" marT="0" marB="0">
                    <a:solidFill>
                      <a:srgbClr val="FFFFFF"/>
                    </a:solidFill>
                  </a:tcPr>
                </a:tc>
                <a:tc>
                  <a:txBody>
                    <a:bodyPr/>
                    <a:lstStyle/>
                    <a:p>
                      <a:pPr algn="r"/>
                      <a:r>
                        <a:rPr sz="850" b="0">
                          <a:solidFill>
                            <a:srgbClr val="1A1A1A"/>
                          </a:solidFill>
                          <a:latin typeface="Versos"/>
                        </a:rPr>
                        <a:t>-0,20%</a:t>
                      </a:r>
                    </a:p>
                  </a:txBody>
                  <a:tcPr marL="43200" marR="43200" marT="0" marB="0">
                    <a:solidFill>
                      <a:srgbClr val="FFFFFF"/>
                    </a:solidFill>
                  </a:tcPr>
                </a:tc>
                <a:tc>
                  <a:txBody>
                    <a:bodyPr/>
                    <a:lstStyle/>
                    <a:p>
                      <a:pPr algn="r"/>
                      <a:r>
                        <a:rPr sz="850" b="0">
                          <a:solidFill>
                            <a:srgbClr val="1A1A1A"/>
                          </a:solidFill>
                          <a:latin typeface="Versos"/>
                        </a:rPr>
                        <a:t>-0,23%</a:t>
                      </a:r>
                    </a:p>
                  </a:txBody>
                  <a:tcPr marL="43200" marR="43200" marT="0" marB="0">
                    <a:solidFill>
                      <a:srgbClr val="FFFFFF"/>
                    </a:solidFill>
                  </a:tcPr>
                </a:tc>
                <a:tc>
                  <a:txBody>
                    <a:bodyPr/>
                    <a:lstStyle/>
                    <a:p>
                      <a:pPr algn="r"/>
                      <a:r>
                        <a:rPr sz="850" b="0">
                          <a:solidFill>
                            <a:srgbClr val="1A1A1A"/>
                          </a:solidFill>
                          <a:latin typeface="Versos"/>
                        </a:rPr>
                        <a:t>-0,20%</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6,91</a:t>
                      </a:r>
                    </a:p>
                  </a:txBody>
                  <a:tcPr marL="43200" marR="43200" marT="0" marB="0">
                    <a:solidFill>
                      <a:srgbClr val="FFFFFF"/>
                    </a:solidFill>
                  </a:tcPr>
                </a:tc>
              </a:tr>
              <a:tr h="165600">
                <a:tc>
                  <a:txBody>
                    <a:bodyPr/>
                    <a:lstStyle/>
                    <a:p>
                      <a:pPr algn="l"/>
                      <a:r>
                        <a:rPr sz="850" b="1">
                          <a:solidFill>
                            <a:srgbClr val="1A1A1A"/>
                          </a:solidFill>
                          <a:latin typeface="Versos"/>
                        </a:rPr>
                        <a:t>Outros serviços</a:t>
                      </a:r>
                    </a:p>
                  </a:txBody>
                  <a:tcPr marL="43200" marR="43200" marT="0" marB="0">
                    <a:solidFill>
                      <a:srgbClr val="F4F7F9"/>
                    </a:solidFill>
                  </a:tcPr>
                </a:tc>
                <a:tc>
                  <a:txBody>
                    <a:bodyPr/>
                    <a:lstStyle/>
                    <a:p>
                      <a:pPr algn="r"/>
                      <a:r>
                        <a:rPr sz="850" b="0">
                          <a:solidFill>
                            <a:srgbClr val="1A1A1A"/>
                          </a:solidFill>
                          <a:latin typeface="Versos"/>
                        </a:rPr>
                        <a:t>1.671</a:t>
                      </a:r>
                    </a:p>
                  </a:txBody>
                  <a:tcPr marL="43200" marR="43200" marT="0" marB="0">
                    <a:solidFill>
                      <a:srgbClr val="F4F7F9"/>
                    </a:solidFill>
                  </a:tcPr>
                </a:tc>
                <a:tc>
                  <a:txBody>
                    <a:bodyPr/>
                    <a:lstStyle/>
                    <a:p>
                      <a:pPr algn="r"/>
                      <a:r>
                        <a:rPr sz="850" b="0">
                          <a:solidFill>
                            <a:srgbClr val="1A1A1A"/>
                          </a:solidFill>
                          <a:latin typeface="Versos"/>
                        </a:rPr>
                        <a:t>0,43%</a:t>
                      </a:r>
                    </a:p>
                  </a:txBody>
                  <a:tcPr marL="43200" marR="43200" marT="0" marB="0">
                    <a:solidFill>
                      <a:srgbClr val="F4F7F9"/>
                    </a:solidFill>
                  </a:tcPr>
                </a:tc>
                <a:tc>
                  <a:txBody>
                    <a:bodyPr/>
                    <a:lstStyle/>
                    <a:p>
                      <a:pPr algn="r"/>
                      <a:r>
                        <a:rPr sz="850" b="0">
                          <a:solidFill>
                            <a:srgbClr val="1A1A1A"/>
                          </a:solidFill>
                          <a:latin typeface="Versos"/>
                        </a:rPr>
                        <a:t>7,71%</a:t>
                      </a:r>
                    </a:p>
                  </a:txBody>
                  <a:tcPr marL="43200" marR="43200" marT="0" marB="0">
                    <a:solidFill>
                      <a:srgbClr val="F4F7F9"/>
                    </a:solidFill>
                  </a:tcPr>
                </a:tc>
                <a:tc>
                  <a:txBody>
                    <a:bodyPr/>
                    <a:lstStyle/>
                    <a:p>
                      <a:pPr algn="r"/>
                      <a:r>
                        <a:rPr sz="850" b="0">
                          <a:solidFill>
                            <a:srgbClr val="1A1A1A"/>
                          </a:solidFill>
                          <a:latin typeface="Versos"/>
                        </a:rPr>
                        <a:t>7,95%</a:t>
                      </a:r>
                    </a:p>
                  </a:txBody>
                  <a:tcPr marL="43200" marR="43200" marT="0" marB="0">
                    <a:solidFill>
                      <a:srgbClr val="F4F7F9"/>
                    </a:solidFill>
                  </a:tcPr>
                </a:tc>
                <a:tc>
                  <a:txBody>
                    <a:bodyPr/>
                    <a:lstStyle/>
                    <a:p>
                      <a:pPr algn="r"/>
                      <a:r>
                        <a:rPr sz="850" b="0">
                          <a:solidFill>
                            <a:srgbClr val="1A1A1A"/>
                          </a:solidFill>
                          <a:latin typeface="Versos"/>
                        </a:rPr>
                        <a:t>-0,23%</a:t>
                      </a:r>
                    </a:p>
                  </a:txBody>
                  <a:tcPr marL="43200" marR="43200" marT="0" marB="0">
                    <a:solidFill>
                      <a:srgbClr val="F4F7F9"/>
                    </a:solidFill>
                  </a:tcPr>
                </a:tc>
                <a:tc>
                  <a:txBody>
                    <a:bodyPr/>
                    <a:lstStyle/>
                    <a:p>
                      <a:pPr algn="r"/>
                      <a:r>
                        <a:rPr sz="850" b="0">
                          <a:solidFill>
                            <a:srgbClr val="1A1A1A"/>
                          </a:solidFill>
                          <a:latin typeface="Versos"/>
                        </a:rPr>
                        <a:t>-0,30%</a:t>
                      </a:r>
                    </a:p>
                  </a:txBody>
                  <a:tcPr marL="43200" marR="43200" marT="0" marB="0">
                    <a:solidFill>
                      <a:srgbClr val="F4F7F9"/>
                    </a:solidFill>
                  </a:tcPr>
                </a:tc>
                <a:tc>
                  <a:txBody>
                    <a:bodyPr/>
                    <a:lstStyle/>
                    <a:p>
                      <a:pPr algn="r"/>
                      <a:r>
                        <a:rPr sz="850" b="0">
                          <a:solidFill>
                            <a:srgbClr val="1A1A1A"/>
                          </a:solidFill>
                          <a:latin typeface="Versos"/>
                        </a:rPr>
                        <a:t>-0,27%</a:t>
                      </a:r>
                    </a:p>
                  </a:txBody>
                  <a:tcPr marL="43200" marR="43200" marT="0" marB="0">
                    <a:solidFill>
                      <a:srgbClr val="F4F7F9"/>
                    </a:solidFill>
                  </a:tcPr>
                </a:tc>
                <a:tc>
                  <a:txBody>
                    <a:bodyPr/>
                    <a:lstStyle/>
                    <a:p>
                      <a:pPr algn="r"/>
                      <a:r>
                        <a:rPr sz="850" b="0">
                          <a:solidFill>
                            <a:srgbClr val="1A1A1A"/>
                          </a:solidFill>
                          <a:latin typeface="Versos"/>
                        </a:rPr>
                        <a:t>-0,03%</a:t>
                      </a:r>
                    </a:p>
                  </a:txBody>
                  <a:tcPr marL="43200" marR="43200" marT="0" marB="0">
                    <a:solidFill>
                      <a:srgbClr val="F4F7F9"/>
                    </a:solidFill>
                  </a:tcPr>
                </a:tc>
                <a:tc>
                  <a:txBody>
                    <a:bodyPr/>
                    <a:lstStyle/>
                    <a:p>
                      <a:pPr algn="r"/>
                      <a:r>
                        <a:rPr sz="850" b="0">
                          <a:solidFill>
                            <a:srgbClr val="1A1A1A"/>
                          </a:solidFill>
                          <a:latin typeface="Versos"/>
                        </a:rPr>
                        <a:t>3,29</a:t>
                      </a:r>
                    </a:p>
                  </a:txBody>
                  <a:tcPr marL="43200" marR="43200" marT="0" marB="0">
                    <a:solidFill>
                      <a:srgbClr val="F4F7F9"/>
                    </a:solidFill>
                  </a:tcPr>
                </a:tc>
              </a:tr>
              <a:tr h="165600">
                <a:tc>
                  <a:txBody>
                    <a:bodyPr/>
                    <a:lstStyle/>
                    <a:p>
                      <a:pPr algn="l"/>
                      <a:r>
                        <a:rPr sz="850" b="1">
                          <a:solidFill>
                            <a:srgbClr val="1A1A1A"/>
                          </a:solidFill>
                          <a:latin typeface="Versos"/>
                        </a:rPr>
                        <a:t>Comunicação</a:t>
                      </a:r>
                    </a:p>
                  </a:txBody>
                  <a:tcPr marL="43200" marR="43200" marT="0" marB="0">
                    <a:solidFill>
                      <a:srgbClr val="FFFFFF"/>
                    </a:solidFill>
                  </a:tcPr>
                </a:tc>
                <a:tc>
                  <a:txBody>
                    <a:bodyPr/>
                    <a:lstStyle/>
                    <a:p>
                      <a:pPr algn="r"/>
                      <a:r>
                        <a:rPr sz="850" b="0">
                          <a:solidFill>
                            <a:srgbClr val="1A1A1A"/>
                          </a:solidFill>
                          <a:latin typeface="Versos"/>
                        </a:rPr>
                        <a:t>1.747</a:t>
                      </a:r>
                    </a:p>
                  </a:txBody>
                  <a:tcPr marL="43200" marR="43200" marT="0" marB="0">
                    <a:solidFill>
                      <a:srgbClr val="FFFFFF"/>
                    </a:solidFill>
                  </a:tcPr>
                </a:tc>
                <a:tc>
                  <a:txBody>
                    <a:bodyPr/>
                    <a:lstStyle/>
                    <a:p>
                      <a:pPr algn="r"/>
                      <a:r>
                        <a:rPr sz="850" b="0">
                          <a:solidFill>
                            <a:srgbClr val="1A1A1A"/>
                          </a:solidFill>
                          <a:latin typeface="Versos"/>
                        </a:rPr>
                        <a:t>0,45%</a:t>
                      </a:r>
                    </a:p>
                  </a:txBody>
                  <a:tcPr marL="43200" marR="43200" marT="0" marB="0">
                    <a:solidFill>
                      <a:srgbClr val="FFFFFF"/>
                    </a:solidFill>
                  </a:tcPr>
                </a:tc>
                <a:tc>
                  <a:txBody>
                    <a:bodyPr/>
                    <a:lstStyle/>
                    <a:p>
                      <a:pPr algn="r"/>
                      <a:r>
                        <a:rPr sz="850" b="0">
                          <a:solidFill>
                            <a:srgbClr val="1A1A1A"/>
                          </a:solidFill>
                          <a:latin typeface="Versos"/>
                        </a:rPr>
                        <a:t>7,95%</a:t>
                      </a:r>
                    </a:p>
                  </a:txBody>
                  <a:tcPr marL="43200" marR="43200" marT="0" marB="0">
                    <a:solidFill>
                      <a:srgbClr val="FFFFFF"/>
                    </a:solidFill>
                  </a:tcPr>
                </a:tc>
                <a:tc>
                  <a:txBody>
                    <a:bodyPr/>
                    <a:lstStyle/>
                    <a:p>
                      <a:pPr algn="r"/>
                      <a:r>
                        <a:rPr sz="850" b="0">
                          <a:solidFill>
                            <a:srgbClr val="1A1A1A"/>
                          </a:solidFill>
                          <a:latin typeface="Versos"/>
                        </a:rPr>
                        <a:t>8,09%</a:t>
                      </a:r>
                    </a:p>
                  </a:txBody>
                  <a:tcPr marL="43200" marR="43200" marT="0" marB="0">
                    <a:solidFill>
                      <a:srgbClr val="FFFFFF"/>
                    </a:solidFill>
                  </a:tcPr>
                </a:tc>
                <a:tc>
                  <a:txBody>
                    <a:bodyPr/>
                    <a:lstStyle/>
                    <a:p>
                      <a:pPr algn="r"/>
                      <a:r>
                        <a:rPr sz="850" b="0">
                          <a:solidFill>
                            <a:srgbClr val="1A1A1A"/>
                          </a:solidFill>
                          <a:latin typeface="Versos"/>
                        </a:rPr>
                        <a:t>-0,13%</a:t>
                      </a:r>
                    </a:p>
                  </a:txBody>
                  <a:tcPr marL="43200" marR="43200" marT="0" marB="0">
                    <a:solidFill>
                      <a:srgbClr val="FFFFFF"/>
                    </a:solidFill>
                  </a:tcPr>
                </a:tc>
                <a:tc>
                  <a:txBody>
                    <a:bodyPr/>
                    <a:lstStyle/>
                    <a:p>
                      <a:pPr algn="r"/>
                      <a:r>
                        <a:rPr sz="850" b="0">
                          <a:solidFill>
                            <a:srgbClr val="1A1A1A"/>
                          </a:solidFill>
                          <a:latin typeface="Versos"/>
                        </a:rPr>
                        <a:t>-0,14%</a:t>
                      </a:r>
                    </a:p>
                  </a:txBody>
                  <a:tcPr marL="43200" marR="43200" marT="0" marB="0">
                    <a:solidFill>
                      <a:srgbClr val="FFFFFF"/>
                    </a:solidFill>
                  </a:tcPr>
                </a:tc>
                <a:tc>
                  <a:txBody>
                    <a:bodyPr/>
                    <a:lstStyle/>
                    <a:p>
                      <a:pPr algn="r"/>
                      <a:r>
                        <a:rPr sz="850" b="0">
                          <a:solidFill>
                            <a:srgbClr val="1A1A1A"/>
                          </a:solidFill>
                          <a:latin typeface="Versos"/>
                        </a:rPr>
                        <a:t>-0,16%</a:t>
                      </a:r>
                    </a:p>
                  </a:txBody>
                  <a:tcPr marL="43200" marR="43200" marT="0" marB="0">
                    <a:solidFill>
                      <a:srgbClr val="FFFFFF"/>
                    </a:solidFill>
                  </a:tcPr>
                </a:tc>
                <a:tc>
                  <a:txBody>
                    <a:bodyPr/>
                    <a:lstStyle/>
                    <a:p>
                      <a:pPr algn="r"/>
                      <a:r>
                        <a:rPr sz="850" b="0">
                          <a:solidFill>
                            <a:srgbClr val="1A1A1A"/>
                          </a:solidFill>
                          <a:latin typeface="Versos"/>
                        </a:rPr>
                        <a:t>0,02%</a:t>
                      </a:r>
                    </a:p>
                  </a:txBody>
                  <a:tcPr marL="43200" marR="43200" marT="0" marB="0">
                    <a:solidFill>
                      <a:srgbClr val="FFFFFF"/>
                    </a:solidFill>
                  </a:tcPr>
                </a:tc>
                <a:tc>
                  <a:txBody>
                    <a:bodyPr/>
                    <a:lstStyle/>
                    <a:p>
                      <a:pPr algn="r"/>
                      <a:r>
                        <a:rPr sz="850" b="0">
                          <a:solidFill>
                            <a:srgbClr val="1A1A1A"/>
                          </a:solidFill>
                          <a:latin typeface="Versos"/>
                        </a:rPr>
                        <a:t>4,19</a:t>
                      </a:r>
                    </a:p>
                  </a:txBody>
                  <a:tcPr marL="43200" marR="43200" marT="0" marB="0">
                    <a:solidFill>
                      <a:srgbClr val="FFFFFF"/>
                    </a:solidFill>
                  </a:tcPr>
                </a:tc>
              </a:tr>
              <a:tr h="165600">
                <a:tc>
                  <a:txBody>
                    <a:bodyPr/>
                    <a:lstStyle/>
                    <a:p>
                      <a:pPr algn="l"/>
                      <a:r>
                        <a:rPr sz="850" b="1">
                          <a:solidFill>
                            <a:srgbClr val="1A1A1A"/>
                          </a:solidFill>
                          <a:latin typeface="Versos"/>
                        </a:rPr>
                        <a:t>Metalurgia e siderurgia</a:t>
                      </a:r>
                    </a:p>
                  </a:txBody>
                  <a:tcPr marL="43200" marR="43200" marT="0" marB="0">
                    <a:solidFill>
                      <a:srgbClr val="F4F7F9"/>
                    </a:solidFill>
                  </a:tcPr>
                </a:tc>
                <a:tc>
                  <a:txBody>
                    <a:bodyPr/>
                    <a:lstStyle/>
                    <a:p>
                      <a:pPr algn="r"/>
                      <a:r>
                        <a:rPr sz="850" b="0">
                          <a:solidFill>
                            <a:srgbClr val="1A1A1A"/>
                          </a:solidFill>
                          <a:latin typeface="Versos"/>
                        </a:rPr>
                        <a:t>1.120</a:t>
                      </a:r>
                    </a:p>
                  </a:txBody>
                  <a:tcPr marL="43200" marR="43200" marT="0" marB="0">
                    <a:solidFill>
                      <a:srgbClr val="F4F7F9"/>
                    </a:solidFill>
                  </a:tcPr>
                </a:tc>
                <a:tc>
                  <a:txBody>
                    <a:bodyPr/>
                    <a:lstStyle/>
                    <a:p>
                      <a:pPr algn="r"/>
                      <a:r>
                        <a:rPr sz="850" b="0">
                          <a:solidFill>
                            <a:srgbClr val="1A1A1A"/>
                          </a:solidFill>
                          <a:latin typeface="Versos"/>
                        </a:rPr>
                        <a:t>0,29%</a:t>
                      </a:r>
                    </a:p>
                  </a:txBody>
                  <a:tcPr marL="43200" marR="43200" marT="0" marB="0">
                    <a:solidFill>
                      <a:srgbClr val="F4F7F9"/>
                    </a:solidFill>
                  </a:tcPr>
                </a:tc>
                <a:tc>
                  <a:txBody>
                    <a:bodyPr/>
                    <a:lstStyle/>
                    <a:p>
                      <a:pPr algn="r"/>
                      <a:r>
                        <a:rPr sz="850" b="0">
                          <a:solidFill>
                            <a:srgbClr val="1A1A1A"/>
                          </a:solidFill>
                          <a:latin typeface="Versos"/>
                        </a:rPr>
                        <a:t>23,57%</a:t>
                      </a:r>
                    </a:p>
                  </a:txBody>
                  <a:tcPr marL="43200" marR="43200" marT="0" marB="0">
                    <a:solidFill>
                      <a:srgbClr val="F4F7F9"/>
                    </a:solidFill>
                  </a:tcPr>
                </a:tc>
                <a:tc>
                  <a:txBody>
                    <a:bodyPr/>
                    <a:lstStyle/>
                    <a:p>
                      <a:pPr algn="r"/>
                      <a:r>
                        <a:rPr sz="850" b="0">
                          <a:solidFill>
                            <a:srgbClr val="1A1A1A"/>
                          </a:solidFill>
                          <a:latin typeface="Versos"/>
                        </a:rPr>
                        <a:t>21,71%</a:t>
                      </a:r>
                    </a:p>
                  </a:txBody>
                  <a:tcPr marL="43200" marR="43200" marT="0" marB="0">
                    <a:solidFill>
                      <a:srgbClr val="F4F7F9"/>
                    </a:solidFill>
                  </a:tcPr>
                </a:tc>
                <a:tc>
                  <a:txBody>
                    <a:bodyPr/>
                    <a:lstStyle/>
                    <a:p>
                      <a:pPr algn="r"/>
                      <a:r>
                        <a:rPr sz="850" b="0">
                          <a:solidFill>
                            <a:srgbClr val="1A1A1A"/>
                          </a:solidFill>
                          <a:latin typeface="Versos"/>
                        </a:rPr>
                        <a:t>1,53%</a:t>
                      </a:r>
                    </a:p>
                  </a:txBody>
                  <a:tcPr marL="43200" marR="43200" marT="0" marB="0">
                    <a:solidFill>
                      <a:srgbClr val="F4F7F9"/>
                    </a:solidFill>
                  </a:tcPr>
                </a:tc>
                <a:tc>
                  <a:txBody>
                    <a:bodyPr/>
                    <a:lstStyle/>
                    <a:p>
                      <a:pPr algn="r"/>
                      <a:r>
                        <a:rPr sz="850" b="0">
                          <a:solidFill>
                            <a:srgbClr val="1A1A1A"/>
                          </a:solidFill>
                          <a:latin typeface="Versos"/>
                        </a:rPr>
                        <a:t>14,35%</a:t>
                      </a:r>
                    </a:p>
                  </a:txBody>
                  <a:tcPr marL="43200" marR="43200" marT="0" marB="0">
                    <a:solidFill>
                      <a:srgbClr val="F4F7F9"/>
                    </a:solidFill>
                  </a:tcPr>
                </a:tc>
                <a:tc>
                  <a:txBody>
                    <a:bodyPr/>
                    <a:lstStyle/>
                    <a:p>
                      <a:pPr algn="r"/>
                      <a:r>
                        <a:rPr sz="850" b="0">
                          <a:solidFill>
                            <a:srgbClr val="1A1A1A"/>
                          </a:solidFill>
                          <a:latin typeface="Versos"/>
                        </a:rPr>
                        <a:t>12,46%</a:t>
                      </a:r>
                    </a:p>
                  </a:txBody>
                  <a:tcPr marL="43200" marR="43200" marT="0" marB="0">
                    <a:solidFill>
                      <a:srgbClr val="F4F7F9"/>
                    </a:solidFill>
                  </a:tcPr>
                </a:tc>
                <a:tc>
                  <a:txBody>
                    <a:bodyPr/>
                    <a:lstStyle/>
                    <a:p>
                      <a:pPr algn="r"/>
                      <a:r>
                        <a:rPr sz="850" b="0">
                          <a:solidFill>
                            <a:srgbClr val="1A1A1A"/>
                          </a:solidFill>
                          <a:latin typeface="Versos"/>
                        </a:rPr>
                        <a:t>1,68%</a:t>
                      </a:r>
                    </a:p>
                  </a:txBody>
                  <a:tcPr marL="43200" marR="43200" marT="0" marB="0">
                    <a:solidFill>
                      <a:srgbClr val="F4F7F9"/>
                    </a:solidFill>
                  </a:tcPr>
                </a:tc>
                <a:tc>
                  <a:txBody>
                    <a:bodyPr/>
                    <a:lstStyle/>
                    <a:p>
                      <a:pPr algn="r"/>
                      <a:r>
                        <a:rPr sz="850" b="0">
                          <a:solidFill>
                            <a:srgbClr val="1A1A1A"/>
                          </a:solidFill>
                          <a:latin typeface="Versos"/>
                        </a:rPr>
                        <a:t>4,91</a:t>
                      </a:r>
                    </a:p>
                  </a:txBody>
                  <a:tcPr marL="43200" marR="43200" marT="0" marB="0">
                    <a:solidFill>
                      <a:srgbClr val="F4F7F9"/>
                    </a:solidFill>
                  </a:tcPr>
                </a:tc>
              </a:tr>
              <a:tr h="165600">
                <a:tc>
                  <a:txBody>
                    <a:bodyPr/>
                    <a:lstStyle/>
                    <a:p>
                      <a:pPr algn="l"/>
                      <a:r>
                        <a:rPr sz="850" b="1">
                          <a:solidFill>
                            <a:srgbClr val="1A1A1A"/>
                          </a:solidFill>
                          <a:latin typeface="Versos"/>
                        </a:rPr>
                        <a:t>Total</a:t>
                      </a:r>
                    </a:p>
                  </a:txBody>
                  <a:tcPr marL="43200" marR="43200" marT="0" marB="0">
                    <a:solidFill>
                      <a:srgbClr val="FFFFFF"/>
                    </a:solidFill>
                  </a:tcPr>
                </a:tc>
                <a:tc>
                  <a:txBody>
                    <a:bodyPr/>
                    <a:lstStyle/>
                    <a:p>
                      <a:pPr algn="r"/>
                      <a:r>
                        <a:rPr sz="850" b="0">
                          <a:solidFill>
                            <a:srgbClr val="1A1A1A"/>
                          </a:solidFill>
                          <a:latin typeface="Versos"/>
                        </a:rPr>
                        <a:t>392.485</a:t>
                      </a:r>
                    </a:p>
                  </a:txBody>
                  <a:tcPr marL="43200" marR="43200" marT="0" marB="0">
                    <a:solidFill>
                      <a:srgbClr val="FFFFFF"/>
                    </a:solidFill>
                  </a:tcPr>
                </a:tc>
                <a:tc>
                  <a:txBody>
                    <a:bodyPr/>
                    <a:lstStyle/>
                    <a:p>
                      <a:pPr algn="r"/>
                      <a:r>
                        <a:rPr sz="850" b="0">
                          <a:solidFill>
                            <a:srgbClr val="1A1A1A"/>
                          </a:solidFill>
                          <a:latin typeface="Versos"/>
                        </a:rPr>
                        <a:t>100,00%</a:t>
                      </a:r>
                    </a:p>
                  </a:txBody>
                  <a:tcPr marL="43200" marR="43200" marT="0" marB="0">
                    <a:solidFill>
                      <a:srgbClr val="FFFFFF"/>
                    </a:solidFill>
                  </a:tcPr>
                </a:tc>
                <a:tc>
                  <a:txBody>
                    <a:bodyPr/>
                    <a:lstStyle/>
                    <a:p>
                      <a:pPr algn="r"/>
                      <a:r>
                        <a:rPr sz="850" b="0">
                          <a:solidFill>
                            <a:srgbClr val="1A1A1A"/>
                          </a:solidFill>
                          <a:latin typeface="Versos"/>
                        </a:rPr>
                        <a:t>8,30%</a:t>
                      </a:r>
                    </a:p>
                  </a:txBody>
                  <a:tcPr marL="43200" marR="43200" marT="0" marB="0">
                    <a:solidFill>
                      <a:srgbClr val="FFFFFF"/>
                    </a:solidFill>
                  </a:tcPr>
                </a:tc>
                <a:tc>
                  <a:txBody>
                    <a:bodyPr/>
                    <a:lstStyle/>
                    <a:p>
                      <a:pPr algn="r"/>
                      <a:r>
                        <a:rPr sz="850" b="0">
                          <a:solidFill>
                            <a:srgbClr val="1A1A1A"/>
                          </a:solidFill>
                          <a:latin typeface="Versos"/>
                        </a:rPr>
                        <a:t>8,47%</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0,34%</a:t>
                      </a:r>
                    </a:p>
                  </a:txBody>
                  <a:tcPr marL="43200" marR="43200" marT="0" marB="0">
                    <a:solidFill>
                      <a:srgbClr val="FFFFFF"/>
                    </a:solidFill>
                  </a:tcPr>
                </a:tc>
                <a:tc>
                  <a:txBody>
                    <a:bodyPr/>
                    <a:lstStyle/>
                    <a:p>
                      <a:pPr algn="r"/>
                      <a:r>
                        <a:rPr sz="850" b="0">
                          <a:solidFill>
                            <a:srgbClr val="1A1A1A"/>
                          </a:solidFill>
                          <a:latin typeface="Versos"/>
                        </a:rPr>
                        <a:t>0,29%</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5,38</a:t>
                      </a:r>
                    </a:p>
                  </a:txBody>
                  <a:tcPr marL="43200" marR="43200" marT="0" marB="0">
                    <a:solidFill>
                      <a:srgbClr val="FFFFFF"/>
                    </a:solidFill>
                  </a:tcPr>
                </a:tc>
              </a:tr>
            </a:tbl>
          </a:graphicData>
        </a:graphic>
      </p:graphicFrame>
      <p:sp>
        <p:nvSpPr>
          <p:cNvPr id="8" name="TextBox 7"/>
          <p:cNvSpPr txBox="1"/>
          <p:nvPr/>
        </p:nvSpPr>
        <p:spPr>
          <a:xfrm>
            <a:off x="540000" y="9756000"/>
            <a:ext cx="6480000" cy="503999"/>
          </a:xfrm>
          <a:prstGeom prst="rect">
            <a:avLst/>
          </a:prstGeom>
          <a:noFill/>
        </p:spPr>
        <p:txBody>
          <a:bodyPr wrap="square" lIns="0" rIns="0" tIns="0" bIns="0">
            <a:spAutoFit/>
          </a:bodyPr>
          <a:lstStyle/>
          <a:p>
            <a:pPr algn="l"/>
            <a:r>
              <a:rPr sz="650" b="0">
                <a:solidFill>
                  <a:srgbClr val="637881"/>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9" name="TextBox 8"/>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0" name="TextBox 9"/>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Infra Plus</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IMA-B 5</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31/05/2021</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R$ 42.694.019,75</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R$ 49.421.174,50</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0,75%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IMA-B 5 +8,23%</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3,98 anos</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7488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D+31</a:t>
                      </a:r>
                    </a:p>
                  </a:txBody>
                  <a:tcPr marL="43200" marR="43200" marT="0" marB="0">
                    <a:solidFill>
                      <a:srgbClr val="F4F7F9"/>
                    </a:solidFill>
                  </a:tcPr>
                </a:tc>
              </a:tr>
              <a:tr h="187200">
                <a:tc>
                  <a:txBody>
                    <a:bodyPr/>
                    <a:lstStyle/>
                    <a:p>
                      <a:pPr algn="l"/>
                      <a:r>
                        <a:rPr sz="850" b="1">
                          <a:solidFill>
                            <a:srgbClr val="1A1A1A"/>
                          </a:solidFill>
                          <a:latin typeface="Versos"/>
                        </a:rPr>
                        <a:t>Aplicação mínima inicial</a:t>
                      </a:r>
                    </a:p>
                  </a:txBody>
                  <a:tcPr marL="43200" marR="43200" marT="0" marB="0">
                    <a:solidFill>
                      <a:srgbClr val="FFFFFF"/>
                    </a:solidFill>
                  </a:tcPr>
                </a:tc>
                <a:tc>
                  <a:txBody>
                    <a:bodyPr/>
                    <a:lstStyle/>
                    <a:p>
                      <a:pPr algn="r"/>
                      <a:r>
                        <a:rPr sz="850" b="0">
                          <a:solidFill>
                            <a:srgbClr val="1A1A1A"/>
                          </a:solidFill>
                          <a:latin typeface="Versos"/>
                        </a:rPr>
                        <a:t>R$ 1.000,00</a:t>
                      </a:r>
                    </a:p>
                  </a:txBody>
                  <a:tcPr marL="43200" marR="43200" marT="0" marB="0">
                    <a:solidFill>
                      <a:srgbClr val="FFFFFF"/>
                    </a:solidFill>
                  </a:tcPr>
                </a:tc>
              </a:tr>
              <a:tr h="187200">
                <a:tc>
                  <a:txBody>
                    <a:bodyPr/>
                    <a:lstStyle/>
                    <a:p>
                      <a:pPr algn="l"/>
                      <a:r>
                        <a:rPr sz="850" b="1">
                          <a:solidFill>
                            <a:srgbClr val="1A1A1A"/>
                          </a:solidFill>
                          <a:latin typeface="Versos"/>
                        </a:rPr>
                        <a:t>Movimentação mínima</a:t>
                      </a:r>
                    </a:p>
                  </a:txBody>
                  <a:tcPr marL="43200" marR="43200" marT="0" marB="0">
                    <a:solidFill>
                      <a:srgbClr val="F4F7F9"/>
                    </a:solidFill>
                  </a:tcPr>
                </a:tc>
                <a:tc>
                  <a:txBody>
                    <a:bodyPr/>
                    <a:lstStyle/>
                    <a:p>
                      <a:pPr algn="r"/>
                      <a:r>
                        <a:rPr sz="850" b="0">
                          <a:solidFill>
                            <a:srgbClr val="1A1A1A"/>
                          </a:solidFill>
                          <a:latin typeface="Versos"/>
                        </a:rPr>
                        <a:t>R$ 1.000,00</a:t>
                      </a:r>
                    </a:p>
                  </a:txBody>
                  <a:tcPr marL="43200" marR="43200" marT="0" marB="0">
                    <a:solidFill>
                      <a:srgbClr val="F4F7F9"/>
                    </a:solidFill>
                  </a:tcPr>
                </a:tc>
              </a:tr>
            </a:tbl>
          </a:graphicData>
        </a:graphic>
      </p:graphicFrame>
      <p:sp>
        <p:nvSpPr>
          <p:cNvPr id="10" name="TextBox 9"/>
          <p:cNvSpPr txBox="1"/>
          <p:nvPr/>
        </p:nvSpPr>
        <p:spPr>
          <a:xfrm>
            <a:off x="540000" y="49788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176800"/>
            <a:ext cx="6480000" cy="49212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4</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