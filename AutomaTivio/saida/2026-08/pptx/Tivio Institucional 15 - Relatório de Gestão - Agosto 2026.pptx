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Fundo</c:v>
                </c:pt>
              </c:strCache>
            </c:strRef>
          </c:tx>
          <c:spPr>
            <a:ln w="25400">
              <a:solidFill>
                <a:srgbClr val="3C4A60"/>
              </a:solidFill>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Sheet1!$B$2:$B$14</c:f>
              <c:numCache>
                <c:formatCode>General</c:formatCode>
                <c:ptCount val="13"/>
                <c:pt idx="0">
                  <c:v>0.0</c:v>
                </c:pt>
                <c:pt idx="1">
                  <c:v>0.0129</c:v>
                </c:pt>
                <c:pt idx="2">
                  <c:v>0.025</c:v>
                </c:pt>
                <c:pt idx="3">
                  <c:v>0.0353</c:v>
                </c:pt>
                <c:pt idx="4">
                  <c:v>0.05</c:v>
                </c:pt>
                <c:pt idx="5">
                  <c:v>0.06309999999999999</c:v>
                </c:pt>
                <c:pt idx="6">
                  <c:v>0.0733</c:v>
                </c:pt>
                <c:pt idx="7">
                  <c:v>0.083</c:v>
                </c:pt>
                <c:pt idx="8">
                  <c:v>0.09480000000000001</c:v>
                </c:pt>
                <c:pt idx="9">
                  <c:v>0.10880000000000001</c:v>
                </c:pt>
                <c:pt idx="10">
                  <c:v>0.122</c:v>
                </c:pt>
                <c:pt idx="11">
                  <c:v>0.1374</c:v>
                </c:pt>
                <c:pt idx="12">
                  <c:v>0.15</c:v>
                </c:pt>
              </c:numCache>
            </c:numRef>
          </c:val>
          <c:smooth val="0"/>
        </c:ser>
        <c:ser>
          <c:idx val="1"/>
          <c:order val="1"/>
          <c:tx>
            <c:strRef>
              <c:f>Sheet1!$C$1</c:f>
              <c:strCache>
                <c:ptCount val="1"/>
                <c:pt idx="0">
                  <c:v>CDI</c:v>
                </c:pt>
              </c:strCache>
            </c:strRef>
          </c:tx>
          <c:spPr>
            <a:ln w="25400">
              <a:solidFill>
                <a:srgbClr val="ABC6CD"/>
              </a:solidFill>
              <a:prstDash val="dash"/>
            </a:ln>
          </c:spPr>
          <c:marker>
            <c:symbol val="none"/>
          </c:marker>
          <c:cat>
            <c:strRef>
              <c:f>Sheet1!$A$2:$A$14</c:f>
              <c:strCache>
                <c:ptCount val="13"/>
                <c:pt idx="0">
                  <c:v>ago/25</c:v>
                </c:pt>
                <c:pt idx="1">
                  <c:v>set/25</c:v>
                </c:pt>
                <c:pt idx="2">
                  <c:v>out/25</c:v>
                </c:pt>
                <c:pt idx="3">
                  <c:v>nov/25</c:v>
                </c:pt>
                <c:pt idx="4">
                  <c:v>dez/25</c:v>
                </c:pt>
                <c:pt idx="5">
                  <c:v>jan/26</c:v>
                </c:pt>
                <c:pt idx="6">
                  <c:v>fev/26</c:v>
                </c:pt>
                <c:pt idx="7">
                  <c:v>mar/26</c:v>
                </c:pt>
                <c:pt idx="8">
                  <c:v>abr/26</c:v>
                </c:pt>
                <c:pt idx="9">
                  <c:v>mai/26</c:v>
                </c:pt>
                <c:pt idx="10">
                  <c:v>jun/26</c:v>
                </c:pt>
                <c:pt idx="11">
                  <c:v>jul/26</c:v>
                </c:pt>
                <c:pt idx="12">
                  <c:v>ago/26</c:v>
                </c:pt>
              </c:strCache>
            </c:strRef>
          </c:cat>
          <c:val>
            <c:numRef>
              <c:f>Sheet1!$C$2:$C$14</c:f>
              <c:numCache>
                <c:formatCode>General</c:formatCode>
                <c:ptCount val="13"/>
                <c:pt idx="0">
                  <c:v>0.0</c:v>
                </c:pt>
                <c:pt idx="1">
                  <c:v>0.012199999999999999</c:v>
                </c:pt>
                <c:pt idx="2">
                  <c:v>0.025099999999999997</c:v>
                </c:pt>
                <c:pt idx="3">
                  <c:v>0.0359</c:v>
                </c:pt>
                <c:pt idx="4">
                  <c:v>0.048499999999999995</c:v>
                </c:pt>
                <c:pt idx="5">
                  <c:v>0.060700000000000004</c:v>
                </c:pt>
                <c:pt idx="6">
                  <c:v>0.0713</c:v>
                </c:pt>
                <c:pt idx="7">
                  <c:v>0.0843</c:v>
                </c:pt>
                <c:pt idx="8">
                  <c:v>0.09609999999999999</c:v>
                </c:pt>
                <c:pt idx="9">
                  <c:v>0.1079</c:v>
                </c:pt>
                <c:pt idx="10">
                  <c:v>0.12029999999999999</c:v>
                </c:pt>
                <c:pt idx="11">
                  <c:v>0.13390000000000002</c:v>
                </c:pt>
                <c:pt idx="12">
                  <c:v>0.1463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numFmt formatCode="0.0%" sourceLinked="0"/>
        <c:majorTickMark val="out"/>
        <c:minorTickMark val="none"/>
        <c:tickLblPos val="nextTo"/>
        <c:crossAx val="2118791784"/>
        <c:crosses val="autoZero"/>
      </c:valAx>
    </c:plotArea>
    <c:legend>
      <c:legendPos val="t"/>
      <c:layout/>
      <c:overlay val="0"/>
    </c:legend>
    <c:plotVisOnly val="1"/>
    <c:dispBlanksAs val="gap"/>
    <c:showDLblsOverMax val="0"/>
  </c:chart>
  <c:txPr>
    <a:bodyPr/>
    <a:lstStyle/>
    <a:p>
      <a:pPr>
        <a:defRPr sz="800">
          <a:latin typeface="Versos"/>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80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15</a:t>
            </a:r>
          </a:p>
        </p:txBody>
      </p:sp>
      <p:sp>
        <p:nvSpPr>
          <p:cNvPr id="5" name="TextBox 4"/>
          <p:cNvSpPr txBox="1"/>
          <p:nvPr/>
        </p:nvSpPr>
        <p:spPr>
          <a:xfrm>
            <a:off x="540000" y="954000"/>
            <a:ext cx="5040000" cy="180000"/>
          </a:xfrm>
          <a:prstGeom prst="rect">
            <a:avLst/>
          </a:prstGeom>
          <a:noFill/>
        </p:spPr>
        <p:txBody>
          <a:bodyPr wrap="square" lIns="0" rIns="0" tIns="0" bIns="0">
            <a:spAutoFit/>
          </a:bodyPr>
          <a:lstStyle/>
          <a:p>
            <a:pPr algn="l"/>
            <a:r>
              <a:rPr sz="800" b="0">
                <a:solidFill>
                  <a:srgbClr val="ABC6CD"/>
                </a:solidFill>
                <a:latin typeface="Versos"/>
              </a:rPr>
              <a:t>CNPJ: 04.240.128/0001-83  ·  Benchmark: CDI</a:t>
            </a:r>
          </a:p>
        </p:txBody>
      </p:sp>
      <p:sp>
        <p:nvSpPr>
          <p:cNvPr id="6" name="TextBox 5"/>
          <p:cNvSpPr txBox="1"/>
          <p:nvPr/>
        </p:nvSpPr>
        <p:spPr>
          <a:xfrm>
            <a:off x="540000" y="144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7" name="TextBox 6"/>
          <p:cNvSpPr txBox="1"/>
          <p:nvPr/>
        </p:nvSpPr>
        <p:spPr>
          <a:xfrm>
            <a:off x="540000" y="2088000"/>
            <a:ext cx="6480000" cy="180000"/>
          </a:xfrm>
          <a:prstGeom prst="rect">
            <a:avLst/>
          </a:prstGeom>
          <a:noFill/>
        </p:spPr>
        <p:txBody>
          <a:bodyPr wrap="square" lIns="0" rIns="0" tIns="0" bIns="0">
            <a:spAutoFit/>
          </a:bodyPr>
          <a:lstStyle/>
          <a:p>
            <a:pPr algn="l"/>
            <a:r>
              <a:rPr sz="900" b="1">
                <a:solidFill>
                  <a:srgbClr val="759DB4"/>
                </a:solidFill>
                <a:latin typeface="Versos"/>
              </a:rPr>
              <a:t>OBJETIVO DA CARTEIRA</a:t>
            </a:r>
          </a:p>
        </p:txBody>
      </p:sp>
      <p:sp>
        <p:nvSpPr>
          <p:cNvPr id="8" name="TextBox 7"/>
          <p:cNvSpPr txBox="1"/>
          <p:nvPr/>
        </p:nvSpPr>
        <p:spPr>
          <a:xfrm>
            <a:off x="540000" y="2286000"/>
            <a:ext cx="6480000" cy="576000"/>
          </a:xfrm>
          <a:prstGeom prst="rect">
            <a:avLst/>
          </a:prstGeom>
          <a:noFill/>
        </p:spPr>
        <p:txBody>
          <a:bodyPr wrap="square" lIns="0" rIns="0" tIns="0" bIns="0">
            <a:spAutoFit/>
          </a:bodyPr>
          <a:lstStyle/>
          <a:p>
            <a:pPr algn="l"/>
            <a:r>
              <a:rPr sz="900" b="0">
                <a:solidFill>
                  <a:srgbClr val="1A1A1A"/>
                </a:solidFill>
                <a:latin typeface="Versos"/>
              </a:rPr>
              <a:t>O fundo tem como objetivo identificar oportunidades em ativos de crédito high grade/mid grade (Bancário, Corporativo e FIDC). Ele busca superar a variação do CDI no longo prazo.</a:t>
            </a:r>
          </a:p>
        </p:txBody>
      </p:sp>
      <p:sp>
        <p:nvSpPr>
          <p:cNvPr id="9" name="TextBox 8"/>
          <p:cNvSpPr txBox="1"/>
          <p:nvPr/>
        </p:nvSpPr>
        <p:spPr>
          <a:xfrm>
            <a:off x="540000" y="2952000"/>
            <a:ext cx="3600000" cy="180000"/>
          </a:xfrm>
          <a:prstGeom prst="rect">
            <a:avLst/>
          </a:prstGeom>
          <a:noFill/>
        </p:spPr>
        <p:txBody>
          <a:bodyPr wrap="square" lIns="0" rIns="0" tIns="0" bIns="0">
            <a:spAutoFit/>
          </a:bodyPr>
          <a:lstStyle/>
          <a:p>
            <a:pPr algn="l"/>
            <a:r>
              <a:rPr sz="900" b="1">
                <a:solidFill>
                  <a:srgbClr val="759DB4"/>
                </a:solidFill>
                <a:latin typeface="Versos"/>
              </a:rPr>
              <a:t>RENTABILIDADE</a:t>
            </a:r>
          </a:p>
        </p:txBody>
      </p:sp>
      <p:graphicFrame>
        <p:nvGraphicFramePr>
          <p:cNvPr id="10" name="Table 9"/>
          <p:cNvGraphicFramePr>
            <a:graphicFrameLocks noGrp="1"/>
          </p:cNvGraphicFramePr>
          <p:nvPr/>
        </p:nvGraphicFramePr>
        <p:xfrm>
          <a:off x="540000" y="3150000"/>
          <a:ext cx="6479994" cy="748800"/>
        </p:xfrm>
        <a:graphic>
          <a:graphicData uri="http://schemas.openxmlformats.org/drawingml/2006/table">
            <a:tbl>
              <a:tblPr firstRow="1" bandRow="1">
                <a:tableStyleId>{5C22544A-7EE6-4342-B048-85BDC9FD1C3A}</a:tableStyleId>
              </a:tblPr>
              <a:tblGrid>
                <a:gridCol w="1747415"/>
                <a:gridCol w="728089"/>
                <a:gridCol w="728089"/>
                <a:gridCol w="728089"/>
                <a:gridCol w="728089"/>
                <a:gridCol w="728089"/>
                <a:gridCol w="1092134"/>
              </a:tblGrid>
              <a:tr h="187200">
                <a:tc>
                  <a:txBody>
                    <a:bodyPr/>
                    <a:lstStyle/>
                    <a:p>
                      <a:pPr algn="l"/>
                      <a:r>
                        <a:rPr sz="850" b="1">
                          <a:solidFill>
                            <a:srgbClr val="FFFFFF"/>
                          </a:solidFill>
                          <a:latin typeface="Versos"/>
                        </a:rPr>
                        <a:t/>
                      </a:r>
                    </a:p>
                  </a:txBody>
                  <a:tcPr marL="43200" marR="43200" marT="0" marB="0">
                    <a:solidFill>
                      <a:srgbClr val="3C4A60"/>
                    </a:solidFill>
                  </a:tcPr>
                </a:tc>
                <a:tc>
                  <a:txBody>
                    <a:bodyPr/>
                    <a:lstStyle/>
                    <a:p>
                      <a:pPr algn="r"/>
                      <a:r>
                        <a:rPr sz="850" b="1">
                          <a:solidFill>
                            <a:srgbClr val="FFFFFF"/>
                          </a:solidFill>
                          <a:latin typeface="Versos"/>
                        </a:rPr>
                        <a:t>Mês</a:t>
                      </a:r>
                    </a:p>
                  </a:txBody>
                  <a:tcPr marL="43200" marR="43200" marT="0" marB="0">
                    <a:solidFill>
                      <a:srgbClr val="3C4A60"/>
                    </a:solidFill>
                  </a:tcPr>
                </a:tc>
                <a:tc>
                  <a:txBody>
                    <a:bodyPr/>
                    <a:lstStyle/>
                    <a:p>
                      <a:pPr algn="r"/>
                      <a:r>
                        <a:rPr sz="850" b="1">
                          <a:solidFill>
                            <a:srgbClr val="FFFFFF"/>
                          </a:solidFill>
                          <a:latin typeface="Versos"/>
                        </a:rPr>
                        <a:t>Ano</a:t>
                      </a:r>
                    </a:p>
                  </a:txBody>
                  <a:tcPr marL="43200" marR="43200" marT="0" marB="0">
                    <a:solidFill>
                      <a:srgbClr val="3C4A60"/>
                    </a:solidFill>
                  </a:tcPr>
                </a:tc>
                <a:tc>
                  <a:txBody>
                    <a:bodyPr/>
                    <a:lstStyle/>
                    <a:p>
                      <a:pPr algn="r"/>
                      <a:r>
                        <a:rPr sz="850" b="1">
                          <a:solidFill>
                            <a:srgbClr val="FFFFFF"/>
                          </a:solidFill>
                          <a:latin typeface="Versos"/>
                        </a:rPr>
                        <a:t>12M</a:t>
                      </a:r>
                    </a:p>
                  </a:txBody>
                  <a:tcPr marL="43200" marR="43200" marT="0" marB="0">
                    <a:solidFill>
                      <a:srgbClr val="3C4A60"/>
                    </a:solidFill>
                  </a:tcPr>
                </a:tc>
                <a:tc>
                  <a:txBody>
                    <a:bodyPr/>
                    <a:lstStyle/>
                    <a:p>
                      <a:pPr algn="r"/>
                      <a:r>
                        <a:rPr sz="850" b="1">
                          <a:solidFill>
                            <a:srgbClr val="FFFFFF"/>
                          </a:solidFill>
                          <a:latin typeface="Versos"/>
                        </a:rPr>
                        <a:t>24M</a:t>
                      </a:r>
                    </a:p>
                  </a:txBody>
                  <a:tcPr marL="43200" marR="43200" marT="0" marB="0">
                    <a:solidFill>
                      <a:srgbClr val="3C4A60"/>
                    </a:solidFill>
                  </a:tcPr>
                </a:tc>
                <a:tc>
                  <a:txBody>
                    <a:bodyPr/>
                    <a:lstStyle/>
                    <a:p>
                      <a:pPr algn="r"/>
                      <a:r>
                        <a:rPr sz="850" b="1">
                          <a:solidFill>
                            <a:srgbClr val="FFFFFF"/>
                          </a:solidFill>
                          <a:latin typeface="Versos"/>
                        </a:rPr>
                        <a:t>36M</a:t>
                      </a:r>
                    </a:p>
                  </a:txBody>
                  <a:tcPr marL="43200" marR="43200" marT="0" marB="0">
                    <a:solidFill>
                      <a:srgbClr val="3C4A60"/>
                    </a:solidFill>
                  </a:tcPr>
                </a:tc>
                <a:tc>
                  <a:txBody>
                    <a:bodyPr/>
                    <a:lstStyle/>
                    <a:p>
                      <a:pPr algn="r"/>
                      <a:r>
                        <a:rPr sz="850" b="1">
                          <a:solidFill>
                            <a:srgbClr val="FFFFFF"/>
                          </a:solidFill>
                          <a:latin typeface="Versos"/>
                        </a:rPr>
                        <a:t>Desde o início</a:t>
                      </a:r>
                    </a:p>
                  </a:txBody>
                  <a:tcPr marL="43200" marR="43200" marT="0" marB="0">
                    <a:solidFill>
                      <a:srgbClr val="3C4A60"/>
                    </a:solidFill>
                  </a:tcPr>
                </a:tc>
              </a:tr>
              <a:tr h="187200">
                <a:tc>
                  <a:txBody>
                    <a:bodyPr/>
                    <a:lstStyle/>
                    <a:p>
                      <a:pPr algn="l"/>
                      <a:r>
                        <a:rPr sz="850" b="1">
                          <a:solidFill>
                            <a:srgbClr val="1A1A1A"/>
                          </a:solidFill>
                          <a:latin typeface="Versos"/>
                        </a:rPr>
                        <a:t>Fundo</a:t>
                      </a:r>
                    </a:p>
                  </a:txBody>
                  <a:tcPr marL="43200" marR="43200" marT="0" marB="0">
                    <a:solidFill>
                      <a:srgbClr val="F4F7F9"/>
                    </a:solidFill>
                  </a:tcPr>
                </a:tc>
                <a:tc>
                  <a:txBody>
                    <a:bodyPr/>
                    <a:lstStyle/>
                    <a:p>
                      <a:pPr algn="r"/>
                      <a:r>
                        <a:rPr sz="850" b="0">
                          <a:solidFill>
                            <a:srgbClr val="1A1A1A"/>
                          </a:solidFill>
                          <a:latin typeface="Versos"/>
                        </a:rPr>
                        <a:t>1,11%</a:t>
                      </a:r>
                    </a:p>
                  </a:txBody>
                  <a:tcPr marL="43200" marR="43200" marT="0" marB="0">
                    <a:solidFill>
                      <a:srgbClr val="F4F7F9"/>
                    </a:solidFill>
                  </a:tcPr>
                </a:tc>
                <a:tc>
                  <a:txBody>
                    <a:bodyPr/>
                    <a:lstStyle/>
                    <a:p>
                      <a:pPr algn="r"/>
                      <a:r>
                        <a:rPr sz="850" b="0">
                          <a:solidFill>
                            <a:srgbClr val="1A1A1A"/>
                          </a:solidFill>
                          <a:latin typeface="Versos"/>
                        </a:rPr>
                        <a:t>9,53%</a:t>
                      </a:r>
                    </a:p>
                  </a:txBody>
                  <a:tcPr marL="43200" marR="43200" marT="0" marB="0">
                    <a:solidFill>
                      <a:srgbClr val="F4F7F9"/>
                    </a:solidFill>
                  </a:tcPr>
                </a:tc>
                <a:tc>
                  <a:txBody>
                    <a:bodyPr/>
                    <a:lstStyle/>
                    <a:p>
                      <a:pPr algn="r"/>
                      <a:r>
                        <a:rPr sz="850" b="0">
                          <a:solidFill>
                            <a:srgbClr val="1A1A1A"/>
                          </a:solidFill>
                          <a:latin typeface="Versos"/>
                        </a:rPr>
                        <a:t>14,94%</a:t>
                      </a:r>
                    </a:p>
                  </a:txBody>
                  <a:tcPr marL="43200" marR="43200" marT="0" marB="0">
                    <a:solidFill>
                      <a:srgbClr val="F4F7F9"/>
                    </a:solidFill>
                  </a:tcPr>
                </a:tc>
                <a:tc>
                  <a:txBody>
                    <a:bodyPr/>
                    <a:lstStyle/>
                    <a:p>
                      <a:pPr algn="r"/>
                      <a:r>
                        <a:rPr sz="850" b="0">
                          <a:solidFill>
                            <a:srgbClr val="1A1A1A"/>
                          </a:solidFill>
                          <a:latin typeface="Versos"/>
                        </a:rPr>
                        <a:t>30,92%</a:t>
                      </a:r>
                    </a:p>
                  </a:txBody>
                  <a:tcPr marL="43200" marR="43200" marT="0" marB="0">
                    <a:solidFill>
                      <a:srgbClr val="F4F7F9"/>
                    </a:solidFill>
                  </a:tcPr>
                </a:tc>
                <a:tc>
                  <a:txBody>
                    <a:bodyPr/>
                    <a:lstStyle/>
                    <a:p>
                      <a:pPr algn="r"/>
                      <a:r>
                        <a:rPr sz="850" b="0">
                          <a:solidFill>
                            <a:srgbClr val="1A1A1A"/>
                          </a:solidFill>
                          <a:latin typeface="Versos"/>
                        </a:rPr>
                        <a:t>51,22%</a:t>
                      </a:r>
                    </a:p>
                  </a:txBody>
                  <a:tcPr marL="43200" marR="43200" marT="0" marB="0">
                    <a:solidFill>
                      <a:srgbClr val="F4F7F9"/>
                    </a:solidFill>
                  </a:tcPr>
                </a:tc>
                <a:tc>
                  <a:txBody>
                    <a:bodyPr/>
                    <a:lstStyle/>
                    <a:p>
                      <a:pPr algn="r"/>
                      <a:r>
                        <a:rPr sz="850" b="0">
                          <a:solidFill>
                            <a:srgbClr val="1A1A1A"/>
                          </a:solidFill>
                          <a:latin typeface="Versos"/>
                        </a:rPr>
                        <a:t>1.644,37%</a:t>
                      </a:r>
                    </a:p>
                  </a:txBody>
                  <a:tcPr marL="43200" marR="43200" marT="0" marB="0">
                    <a:solidFill>
                      <a:srgbClr val="F4F7F9"/>
                    </a:solidFill>
                  </a:tcPr>
                </a:tc>
              </a:tr>
              <a:tr h="187200">
                <a:tc>
                  <a:txBody>
                    <a:bodyPr/>
                    <a:lstStyle/>
                    <a:p>
                      <a:pPr algn="l"/>
                      <a:r>
                        <a:rPr sz="850" b="1">
                          <a:solidFill>
                            <a:srgbClr val="1A1A1A"/>
                          </a:solidFill>
                          <a:latin typeface="Versos"/>
                        </a:rPr>
                        <a:t>CDI</a:t>
                      </a:r>
                    </a:p>
                  </a:txBody>
                  <a:tcPr marL="43200" marR="43200" marT="0" marB="0">
                    <a:solidFill>
                      <a:srgbClr val="FFFFFF"/>
                    </a:solidFill>
                  </a:tcPr>
                </a:tc>
                <a:tc>
                  <a:txBody>
                    <a:bodyPr/>
                    <a:lstStyle/>
                    <a:p>
                      <a:pPr algn="r"/>
                      <a:r>
                        <a:rPr sz="850" b="0">
                          <a:solidFill>
                            <a:srgbClr val="1A1A1A"/>
                          </a:solidFill>
                          <a:latin typeface="Versos"/>
                        </a:rPr>
                        <a:t>1,09%</a:t>
                      </a:r>
                    </a:p>
                  </a:txBody>
                  <a:tcPr marL="43200" marR="43200" marT="0" marB="0">
                    <a:solidFill>
                      <a:srgbClr val="FFFFFF"/>
                    </a:solidFill>
                  </a:tcPr>
                </a:tc>
                <a:tc>
                  <a:txBody>
                    <a:bodyPr/>
                    <a:lstStyle/>
                    <a:p>
                      <a:pPr algn="r"/>
                      <a:r>
                        <a:rPr sz="850" b="0">
                          <a:solidFill>
                            <a:srgbClr val="1A1A1A"/>
                          </a:solidFill>
                          <a:latin typeface="Versos"/>
                        </a:rPr>
                        <a:t>9,33%</a:t>
                      </a:r>
                    </a:p>
                  </a:txBody>
                  <a:tcPr marL="43200" marR="43200" marT="0" marB="0">
                    <a:solidFill>
                      <a:srgbClr val="FFFFFF"/>
                    </a:solidFill>
                  </a:tcPr>
                </a:tc>
                <a:tc>
                  <a:txBody>
                    <a:bodyPr/>
                    <a:lstStyle/>
                    <a:p>
                      <a:pPr algn="r"/>
                      <a:r>
                        <a:rPr sz="850" b="0">
                          <a:solidFill>
                            <a:srgbClr val="1A1A1A"/>
                          </a:solidFill>
                          <a:latin typeface="Versos"/>
                        </a:rPr>
                        <a:t>14,57%</a:t>
                      </a:r>
                    </a:p>
                  </a:txBody>
                  <a:tcPr marL="43200" marR="43200" marT="0" marB="0">
                    <a:solidFill>
                      <a:srgbClr val="FFFFFF"/>
                    </a:solidFill>
                  </a:tcPr>
                </a:tc>
                <a:tc>
                  <a:txBody>
                    <a:bodyPr/>
                    <a:lstStyle/>
                    <a:p>
                      <a:pPr algn="r"/>
                      <a:r>
                        <a:rPr sz="850" b="0">
                          <a:solidFill>
                            <a:srgbClr val="1A1A1A"/>
                          </a:solidFill>
                          <a:latin typeface="Versos"/>
                        </a:rPr>
                        <a:t>29,49%</a:t>
                      </a:r>
                    </a:p>
                  </a:txBody>
                  <a:tcPr marL="43200" marR="43200" marT="0" marB="0">
                    <a:solidFill>
                      <a:srgbClr val="FFFFFF"/>
                    </a:solidFill>
                  </a:tcPr>
                </a:tc>
                <a:tc>
                  <a:txBody>
                    <a:bodyPr/>
                    <a:lstStyle/>
                    <a:p>
                      <a:pPr algn="r"/>
                      <a:r>
                        <a:rPr sz="850" b="0">
                          <a:solidFill>
                            <a:srgbClr val="1A1A1A"/>
                          </a:solidFill>
                          <a:latin typeface="Versos"/>
                        </a:rPr>
                        <a:t>44,17%</a:t>
                      </a:r>
                    </a:p>
                  </a:txBody>
                  <a:tcPr marL="43200" marR="43200" marT="0" marB="0">
                    <a:solidFill>
                      <a:srgbClr val="FFFFFF"/>
                    </a:solidFill>
                  </a:tcPr>
                </a:tc>
                <a:tc>
                  <a:txBody>
                    <a:bodyPr/>
                    <a:lstStyle/>
                    <a:p>
                      <a:pPr algn="r"/>
                      <a:r>
                        <a:rPr sz="850" b="0">
                          <a:solidFill>
                            <a:srgbClr val="1A1A1A"/>
                          </a:solidFill>
                          <a:latin typeface="Versos"/>
                        </a:rPr>
                        <a:t>1.408,13%</a:t>
                      </a:r>
                    </a:p>
                  </a:txBody>
                  <a:tcPr marL="43200" marR="43200" marT="0" marB="0">
                    <a:solidFill>
                      <a:srgbClr val="FFFFFF"/>
                    </a:solidFill>
                  </a:tcPr>
                </a:tc>
              </a:tr>
              <a:tr h="187200">
                <a:tc>
                  <a:txBody>
                    <a:bodyPr/>
                    <a:lstStyle/>
                    <a:p>
                      <a:pPr algn="l"/>
                      <a:r>
                        <a:rPr sz="850" b="1">
                          <a:solidFill>
                            <a:srgbClr val="1A1A1A"/>
                          </a:solidFill>
                          <a:latin typeface="Versos"/>
                        </a:rPr>
                        <a:t>% do CDI</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c>
                  <a:txBody>
                    <a:bodyPr/>
                    <a:lstStyle/>
                    <a:p>
                      <a:pPr algn="r"/>
                      <a:r>
                        <a:rPr sz="850" b="0">
                          <a:solidFill>
                            <a:srgbClr val="1A1A1A"/>
                          </a:solidFill>
                          <a:latin typeface="Versos"/>
                        </a:rPr>
                        <a:t>102%</a:t>
                      </a:r>
                    </a:p>
                  </a:txBody>
                  <a:tcPr marL="43200" marR="43200" marT="0" marB="0">
                    <a:solidFill>
                      <a:srgbClr val="F4F7F9"/>
                    </a:solidFill>
                  </a:tcPr>
                </a:tc>
                <a:tc>
                  <a:txBody>
                    <a:bodyPr/>
                    <a:lstStyle/>
                    <a:p>
                      <a:pPr algn="r"/>
                      <a:r>
                        <a:rPr sz="850" b="0">
                          <a:solidFill>
                            <a:srgbClr val="1A1A1A"/>
                          </a:solidFill>
                          <a:latin typeface="Versos"/>
                        </a:rPr>
                        <a:t>103%</a:t>
                      </a:r>
                    </a:p>
                  </a:txBody>
                  <a:tcPr marL="43200" marR="43200" marT="0" marB="0">
                    <a:solidFill>
                      <a:srgbClr val="F4F7F9"/>
                    </a:solidFill>
                  </a:tcPr>
                </a:tc>
                <a:tc>
                  <a:txBody>
                    <a:bodyPr/>
                    <a:lstStyle/>
                    <a:p>
                      <a:pPr algn="r"/>
                      <a:r>
                        <a:rPr sz="850" b="0">
                          <a:solidFill>
                            <a:srgbClr val="1A1A1A"/>
                          </a:solidFill>
                          <a:latin typeface="Versos"/>
                        </a:rPr>
                        <a:t>105%</a:t>
                      </a:r>
                    </a:p>
                  </a:txBody>
                  <a:tcPr marL="43200" marR="43200" marT="0" marB="0">
                    <a:solidFill>
                      <a:srgbClr val="F4F7F9"/>
                    </a:solidFill>
                  </a:tcPr>
                </a:tc>
                <a:tc>
                  <a:txBody>
                    <a:bodyPr/>
                    <a:lstStyle/>
                    <a:p>
                      <a:pPr algn="r"/>
                      <a:r>
                        <a:rPr sz="850" b="0">
                          <a:solidFill>
                            <a:srgbClr val="1A1A1A"/>
                          </a:solidFill>
                          <a:latin typeface="Versos"/>
                        </a:rPr>
                        <a:t>116%</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r>
            </a:tbl>
          </a:graphicData>
        </a:graphic>
      </p:graphicFrame>
      <p:sp>
        <p:nvSpPr>
          <p:cNvPr id="11" name="TextBox 10"/>
          <p:cNvSpPr txBox="1"/>
          <p:nvPr/>
        </p:nvSpPr>
        <p:spPr>
          <a:xfrm>
            <a:off x="540000" y="4140000"/>
            <a:ext cx="6480000" cy="144000"/>
          </a:xfrm>
          <a:prstGeom prst="rect">
            <a:avLst/>
          </a:prstGeom>
          <a:noFill/>
        </p:spPr>
        <p:txBody>
          <a:bodyPr wrap="square" lIns="0" rIns="0" tIns="0" bIns="0">
            <a:spAutoFit/>
          </a:bodyPr>
          <a:lstStyle/>
          <a:p>
            <a:pPr algn="r"/>
            <a:r>
              <a:rPr sz="800" b="0">
                <a:solidFill>
                  <a:srgbClr val="637881"/>
                </a:solidFill>
                <a:latin typeface="Versos"/>
              </a:rPr>
              <a:t>Data base: 31/08/2026</a:t>
            </a:r>
          </a:p>
        </p:txBody>
      </p:sp>
      <p:sp>
        <p:nvSpPr>
          <p:cNvPr id="12" name="TextBox 11"/>
          <p:cNvSpPr txBox="1"/>
          <p:nvPr/>
        </p:nvSpPr>
        <p:spPr>
          <a:xfrm>
            <a:off x="540000" y="4428000"/>
            <a:ext cx="3096000" cy="180000"/>
          </a:xfrm>
          <a:prstGeom prst="rect">
            <a:avLst/>
          </a:prstGeom>
          <a:noFill/>
        </p:spPr>
        <p:txBody>
          <a:bodyPr wrap="square" lIns="0" rIns="0" tIns="0" bIns="0">
            <a:spAutoFit/>
          </a:bodyPr>
          <a:lstStyle/>
          <a:p>
            <a:pPr algn="l"/>
            <a:r>
              <a:rPr sz="900" b="1">
                <a:solidFill>
                  <a:srgbClr val="759DB4"/>
                </a:solidFill>
                <a:latin typeface="Versos"/>
              </a:rPr>
              <a:t>PRINCIPAIS EMISSORES</a:t>
            </a:r>
          </a:p>
        </p:txBody>
      </p:sp>
      <p:graphicFrame>
        <p:nvGraphicFramePr>
          <p:cNvPr id="13" name="Table 12"/>
          <p:cNvGraphicFramePr>
            <a:graphicFrameLocks noGrp="1"/>
          </p:cNvGraphicFramePr>
          <p:nvPr/>
        </p:nvGraphicFramePr>
        <p:xfrm>
          <a:off x="540000.0" y="4626000"/>
          <a:ext cx="3096000" cy="9360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C6</a:t>
                      </a:r>
                    </a:p>
                  </a:txBody>
                  <a:tcPr marL="43200" marR="43200" marT="0" marB="0">
                    <a:solidFill>
                      <a:srgbClr val="FFFFFF"/>
                    </a:solidFill>
                  </a:tcPr>
                </a:tc>
                <a:tc>
                  <a:txBody>
                    <a:bodyPr/>
                    <a:lstStyle/>
                    <a:p>
                      <a:pPr algn="r"/>
                      <a:r>
                        <a:rPr sz="850" b="0">
                          <a:solidFill>
                            <a:srgbClr val="1A1A1A"/>
                          </a:solidFill>
                          <a:latin typeface="Versos"/>
                        </a:rPr>
                        <a:t>5,45%</a:t>
                      </a:r>
                    </a:p>
                  </a:txBody>
                  <a:tcPr marL="43200" marR="43200" marT="0" marB="0">
                    <a:solidFill>
                      <a:srgbClr val="FFFFFF"/>
                    </a:solidFill>
                  </a:tcPr>
                </a:tc>
              </a:tr>
              <a:tr h="187200">
                <a:tc>
                  <a:txBody>
                    <a:bodyPr/>
                    <a:lstStyle/>
                    <a:p>
                      <a:pPr algn="l"/>
                      <a:r>
                        <a:rPr sz="850" b="1">
                          <a:solidFill>
                            <a:srgbClr val="1A1A1A"/>
                          </a:solidFill>
                          <a:latin typeface="Versos"/>
                        </a:rPr>
                        <a:t>ABC</a:t>
                      </a:r>
                    </a:p>
                  </a:txBody>
                  <a:tcPr marL="43200" marR="43200" marT="0" marB="0">
                    <a:solidFill>
                      <a:srgbClr val="F4F7F9"/>
                    </a:solidFill>
                  </a:tcPr>
                </a:tc>
                <a:tc>
                  <a:txBody>
                    <a:bodyPr/>
                    <a:lstStyle/>
                    <a:p>
                      <a:pPr algn="r"/>
                      <a:r>
                        <a:rPr sz="850" b="0">
                          <a:solidFill>
                            <a:srgbClr val="1A1A1A"/>
                          </a:solidFill>
                          <a:latin typeface="Versos"/>
                        </a:rPr>
                        <a:t>3,43%</a:t>
                      </a:r>
                    </a:p>
                  </a:txBody>
                  <a:tcPr marL="43200" marR="43200" marT="0" marB="0">
                    <a:solidFill>
                      <a:srgbClr val="F4F7F9"/>
                    </a:solidFill>
                  </a:tcPr>
                </a:tc>
              </a:tr>
              <a:tr h="187200">
                <a:tc>
                  <a:txBody>
                    <a:bodyPr/>
                    <a:lstStyle/>
                    <a:p>
                      <a:pPr algn="l"/>
                      <a:r>
                        <a:rPr sz="850" b="1">
                          <a:solidFill>
                            <a:srgbClr val="1A1A1A"/>
                          </a:solidFill>
                          <a:latin typeface="Versos"/>
                        </a:rPr>
                        <a:t>XP</a:t>
                      </a:r>
                    </a:p>
                  </a:txBody>
                  <a:tcPr marL="43200" marR="43200" marT="0" marB="0">
                    <a:solidFill>
                      <a:srgbClr val="FFFFFF"/>
                    </a:solidFill>
                  </a:tcPr>
                </a:tc>
                <a:tc>
                  <a:txBody>
                    <a:bodyPr/>
                    <a:lstStyle/>
                    <a:p>
                      <a:pPr algn="r"/>
                      <a:r>
                        <a:rPr sz="850" b="0">
                          <a:solidFill>
                            <a:srgbClr val="1A1A1A"/>
                          </a:solidFill>
                          <a:latin typeface="Versos"/>
                        </a:rPr>
                        <a:t>3,28%</a:t>
                      </a:r>
                    </a:p>
                  </a:txBody>
                  <a:tcPr marL="43200" marR="43200" marT="0" marB="0">
                    <a:solidFill>
                      <a:srgbClr val="FFFFFF"/>
                    </a:solidFill>
                  </a:tcPr>
                </a:tc>
              </a:tr>
              <a:tr h="187200">
                <a:tc>
                  <a:txBody>
                    <a:bodyPr/>
                    <a:lstStyle/>
                    <a:p>
                      <a:pPr algn="l"/>
                      <a:r>
                        <a:rPr sz="850" b="1">
                          <a:solidFill>
                            <a:srgbClr val="1A1A1A"/>
                          </a:solidFill>
                          <a:latin typeface="Versos"/>
                        </a:rPr>
                        <a:t>BTG</a:t>
                      </a:r>
                    </a:p>
                  </a:txBody>
                  <a:tcPr marL="43200" marR="43200" marT="0" marB="0">
                    <a:solidFill>
                      <a:srgbClr val="F4F7F9"/>
                    </a:solidFill>
                  </a:tcPr>
                </a:tc>
                <a:tc>
                  <a:txBody>
                    <a:bodyPr/>
                    <a:lstStyle/>
                    <a:p>
                      <a:pPr algn="r"/>
                      <a:r>
                        <a:rPr sz="850" b="0">
                          <a:solidFill>
                            <a:srgbClr val="1A1A1A"/>
                          </a:solidFill>
                          <a:latin typeface="Versos"/>
                        </a:rPr>
                        <a:t>3,28%</a:t>
                      </a:r>
                    </a:p>
                  </a:txBody>
                  <a:tcPr marL="43200" marR="43200" marT="0" marB="0">
                    <a:solidFill>
                      <a:srgbClr val="F4F7F9"/>
                    </a:solidFill>
                  </a:tcPr>
                </a:tc>
              </a:tr>
              <a:tr h="187200">
                <a:tc>
                  <a:txBody>
                    <a:bodyPr/>
                    <a:lstStyle/>
                    <a:p>
                      <a:pPr algn="l"/>
                      <a:r>
                        <a:rPr sz="850" b="1">
                          <a:solidFill>
                            <a:srgbClr val="1A1A1A"/>
                          </a:solidFill>
                          <a:latin typeface="Versos"/>
                        </a:rPr>
                        <a:t>BRADESCO</a:t>
                      </a:r>
                    </a:p>
                  </a:txBody>
                  <a:tcPr marL="43200" marR="43200" marT="0" marB="0">
                    <a:solidFill>
                      <a:srgbClr val="FFFFFF"/>
                    </a:solidFill>
                  </a:tcPr>
                </a:tc>
                <a:tc>
                  <a:txBody>
                    <a:bodyPr/>
                    <a:lstStyle/>
                    <a:p>
                      <a:pPr algn="r"/>
                      <a:r>
                        <a:rPr sz="850" b="0">
                          <a:solidFill>
                            <a:srgbClr val="1A1A1A"/>
                          </a:solidFill>
                          <a:latin typeface="Versos"/>
                        </a:rPr>
                        <a:t>1,76%</a:t>
                      </a:r>
                    </a:p>
                  </a:txBody>
                  <a:tcPr marL="43200" marR="43200" marT="0" marB="0">
                    <a:solidFill>
                      <a:srgbClr val="FFFFFF"/>
                    </a:solidFill>
                  </a:tcPr>
                </a:tc>
              </a:tr>
            </a:tbl>
          </a:graphicData>
        </a:graphic>
      </p:graphicFrame>
      <p:sp>
        <p:nvSpPr>
          <p:cNvPr id="14" name="TextBox 13"/>
          <p:cNvSpPr txBox="1"/>
          <p:nvPr/>
        </p:nvSpPr>
        <p:spPr>
          <a:xfrm>
            <a:off x="3924000" y="4428000"/>
            <a:ext cx="3096000" cy="180000"/>
          </a:xfrm>
          <a:prstGeom prst="rect">
            <a:avLst/>
          </a:prstGeom>
          <a:noFill/>
        </p:spPr>
        <p:txBody>
          <a:bodyPr wrap="square" lIns="0" rIns="0" tIns="0" bIns="0">
            <a:spAutoFit/>
          </a:bodyPr>
          <a:lstStyle/>
          <a:p>
            <a:pPr algn="l"/>
            <a:r>
              <a:rPr sz="900" b="1">
                <a:solidFill>
                  <a:srgbClr val="759DB4"/>
                </a:solidFill>
                <a:latin typeface="Versos"/>
              </a:rPr>
              <a:t>ALOCAÇÃO POR SETOR</a:t>
            </a:r>
          </a:p>
        </p:txBody>
      </p:sp>
      <p:graphicFrame>
        <p:nvGraphicFramePr>
          <p:cNvPr id="15" name="Table 14"/>
          <p:cNvGraphicFramePr>
            <a:graphicFrameLocks noGrp="1"/>
          </p:cNvGraphicFramePr>
          <p:nvPr/>
        </p:nvGraphicFramePr>
        <p:xfrm>
          <a:off x="3924000.0" y="4626000"/>
          <a:ext cx="3096000" cy="1123200"/>
        </p:xfrm>
        <a:graphic>
          <a:graphicData uri="http://schemas.openxmlformats.org/drawingml/2006/table">
            <a:tbl>
              <a:tblPr firstRow="1" bandRow="1">
                <a:tableStyleId>{5C22544A-7EE6-4342-B048-85BDC9FD1C3A}</a:tableStyleId>
              </a:tblPr>
              <a:tblGrid>
                <a:gridCol w="2322000"/>
                <a:gridCol w="774000"/>
              </a:tblGrid>
              <a:tr h="1872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28,0%</a:t>
                      </a:r>
                    </a:p>
                  </a:txBody>
                  <a:tcPr marL="43200" marR="43200" marT="0" marB="0">
                    <a:solidFill>
                      <a:srgbClr val="FFFFFF"/>
                    </a:solidFill>
                  </a:tcPr>
                </a:tc>
              </a:tr>
              <a:tr h="187200">
                <a:tc>
                  <a:txBody>
                    <a:bodyPr/>
                    <a:lstStyle/>
                    <a:p>
                      <a:pPr algn="l"/>
                      <a:r>
                        <a:rPr sz="850" b="1">
                          <a:solidFill>
                            <a:srgbClr val="1A1A1A"/>
                          </a:solidFill>
                          <a:latin typeface="Versos"/>
                        </a:rPr>
                        <a:t>FIDC</a:t>
                      </a:r>
                    </a:p>
                  </a:txBody>
                  <a:tcPr marL="43200" marR="43200" marT="0" marB="0">
                    <a:solidFill>
                      <a:srgbClr val="F4F7F9"/>
                    </a:solidFill>
                  </a:tcPr>
                </a:tc>
                <a:tc>
                  <a:txBody>
                    <a:bodyPr/>
                    <a:lstStyle/>
                    <a:p>
                      <a:pPr algn="r"/>
                      <a:r>
                        <a:rPr sz="850" b="0">
                          <a:solidFill>
                            <a:srgbClr val="1A1A1A"/>
                          </a:solidFill>
                          <a:latin typeface="Versos"/>
                        </a:rPr>
                        <a:t>13,0%</a:t>
                      </a:r>
                    </a:p>
                  </a:txBody>
                  <a:tcPr marL="43200" marR="43200" marT="0" marB="0">
                    <a:solidFill>
                      <a:srgbClr val="F4F7F9"/>
                    </a:solidFill>
                  </a:tcPr>
                </a:tc>
              </a:tr>
              <a:tr h="187200">
                <a:tc>
                  <a:txBody>
                    <a:bodyPr/>
                    <a:lstStyle/>
                    <a:p>
                      <a:pPr algn="l"/>
                      <a:r>
                        <a:rPr sz="850" b="1">
                          <a:solidFill>
                            <a:srgbClr val="1A1A1A"/>
                          </a:solidFill>
                          <a:latin typeface="Versos"/>
                        </a:rPr>
                        <a:t>Energia Elétrica</a:t>
                      </a:r>
                    </a:p>
                  </a:txBody>
                  <a:tcPr marL="43200" marR="43200" marT="0" marB="0">
                    <a:solidFill>
                      <a:srgbClr val="FFFFFF"/>
                    </a:solidFill>
                  </a:tcPr>
                </a:tc>
                <a:tc>
                  <a:txBody>
                    <a:bodyPr/>
                    <a:lstStyle/>
                    <a:p>
                      <a:pPr algn="r"/>
                      <a:r>
                        <a:rPr sz="850" b="0">
                          <a:solidFill>
                            <a:srgbClr val="1A1A1A"/>
                          </a:solidFill>
                          <a:latin typeface="Versos"/>
                        </a:rPr>
                        <a:t>7,1%</a:t>
                      </a:r>
                    </a:p>
                  </a:txBody>
                  <a:tcPr marL="43200" marR="43200" marT="0" marB="0">
                    <a:solidFill>
                      <a:srgbClr val="FFFFFF"/>
                    </a:solidFill>
                  </a:tcPr>
                </a:tc>
              </a:tr>
              <a:tr h="187200">
                <a:tc>
                  <a:txBody>
                    <a:bodyPr/>
                    <a:lstStyle/>
                    <a:p>
                      <a:pPr algn="l"/>
                      <a:r>
                        <a:rPr sz="850" b="1">
                          <a:solidFill>
                            <a:srgbClr val="1A1A1A"/>
                          </a:solidFill>
                          <a:latin typeface="Versos"/>
                        </a:rPr>
                        <a:t>Locação de veículos</a:t>
                      </a:r>
                    </a:p>
                  </a:txBody>
                  <a:tcPr marL="43200" marR="43200" marT="0" marB="0">
                    <a:solidFill>
                      <a:srgbClr val="F4F7F9"/>
                    </a:solidFill>
                  </a:tcPr>
                </a:tc>
                <a:tc>
                  <a:txBody>
                    <a:bodyPr/>
                    <a:lstStyle/>
                    <a:p>
                      <a:pPr algn="r"/>
                      <a:r>
                        <a:rPr sz="850" b="0">
                          <a:solidFill>
                            <a:srgbClr val="1A1A1A"/>
                          </a:solidFill>
                          <a:latin typeface="Versos"/>
                        </a:rPr>
                        <a:t>3,8%</a:t>
                      </a:r>
                    </a:p>
                  </a:txBody>
                  <a:tcPr marL="43200" marR="43200" marT="0" marB="0">
                    <a:solidFill>
                      <a:srgbClr val="F4F7F9"/>
                    </a:solidFill>
                  </a:tcPr>
                </a:tc>
              </a:tr>
              <a:tr h="187200">
                <a:tc>
                  <a:txBody>
                    <a:bodyPr/>
                    <a:lstStyle/>
                    <a:p>
                      <a:pPr algn="l"/>
                      <a:r>
                        <a:rPr sz="850" b="1">
                          <a:solidFill>
                            <a:srgbClr val="1A1A1A"/>
                          </a:solidFill>
                          <a:latin typeface="Versos"/>
                        </a:rPr>
                        <a:t>Saneamento</a:t>
                      </a:r>
                    </a:p>
                  </a:txBody>
                  <a:tcPr marL="43200" marR="43200" marT="0" marB="0">
                    <a:solidFill>
                      <a:srgbClr val="FFFFFF"/>
                    </a:solidFill>
                  </a:tcPr>
                </a:tc>
                <a:tc>
                  <a:txBody>
                    <a:bodyPr/>
                    <a:lstStyle/>
                    <a:p>
                      <a:pPr algn="r"/>
                      <a:r>
                        <a:rPr sz="850" b="0">
                          <a:solidFill>
                            <a:srgbClr val="1A1A1A"/>
                          </a:solidFill>
                          <a:latin typeface="Versos"/>
                        </a:rPr>
                        <a:t>3,5%</a:t>
                      </a:r>
                    </a:p>
                  </a:txBody>
                  <a:tcPr marL="43200" marR="43200" marT="0" marB="0">
                    <a:solidFill>
                      <a:srgbClr val="FFFFFF"/>
                    </a:solidFill>
                  </a:tcPr>
                </a:tc>
              </a:tr>
              <a:tr h="187200">
                <a:tc>
                  <a:txBody>
                    <a:bodyPr/>
                    <a:lstStyle/>
                    <a:p>
                      <a:pPr algn="l"/>
                      <a:r>
                        <a:rPr sz="850" b="1">
                          <a:solidFill>
                            <a:srgbClr val="1A1A1A"/>
                          </a:solidFill>
                          <a:latin typeface="Versos"/>
                        </a:rPr>
                        <a:t>Caixa</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bl>
          </a:graphicData>
        </a:graphic>
      </p:graphicFrame>
      <p:sp>
        <p:nvSpPr>
          <p:cNvPr id="16" name="TextBox 15"/>
          <p:cNvSpPr txBox="1"/>
          <p:nvPr/>
        </p:nvSpPr>
        <p:spPr>
          <a:xfrm>
            <a:off x="540000" y="6073200"/>
            <a:ext cx="6480000" cy="180000"/>
          </a:xfrm>
          <a:prstGeom prst="rect">
            <a:avLst/>
          </a:prstGeom>
          <a:noFill/>
        </p:spPr>
        <p:txBody>
          <a:bodyPr wrap="square" lIns="0" rIns="0" tIns="0" bIns="0">
            <a:spAutoFit/>
          </a:bodyPr>
          <a:lstStyle/>
          <a:p>
            <a:pPr algn="l"/>
            <a:r>
              <a:rPr sz="900" b="1">
                <a:solidFill>
                  <a:srgbClr val="759DB4"/>
                </a:solidFill>
                <a:latin typeface="Versos"/>
              </a:rPr>
              <a:t>DISTRIBUIÇÃO DE RATING DA CARTEIRA DE CRÉDITO</a:t>
            </a:r>
          </a:p>
        </p:txBody>
      </p:sp>
      <p:graphicFrame>
        <p:nvGraphicFramePr>
          <p:cNvPr id="17" name="Table 16"/>
          <p:cNvGraphicFramePr>
            <a:graphicFrameLocks noGrp="1"/>
          </p:cNvGraphicFramePr>
          <p:nvPr/>
        </p:nvGraphicFramePr>
        <p:xfrm>
          <a:off x="540000" y="6271200"/>
          <a:ext cx="6480000" cy="374400"/>
        </p:xfrm>
        <a:graphic>
          <a:graphicData uri="http://schemas.openxmlformats.org/drawingml/2006/table">
            <a:tbl>
              <a:tblPr firstRow="1" bandRow="1">
                <a:tableStyleId>{5C22544A-7EE6-4342-B048-85BDC9FD1C3A}</a:tableStyleId>
              </a:tblPr>
              <a:tblGrid>
                <a:gridCol w="1080000"/>
                <a:gridCol w="1080000"/>
                <a:gridCol w="1080000"/>
                <a:gridCol w="1080000"/>
                <a:gridCol w="1080000"/>
                <a:gridCol w="1080000"/>
              </a:tblGrid>
              <a:tr h="187200">
                <a:tc>
                  <a:txBody>
                    <a:bodyPr/>
                    <a:lstStyle/>
                    <a:p>
                      <a:pPr algn="l"/>
                      <a:r>
                        <a:rPr sz="850" b="1">
                          <a:solidFill>
                            <a:srgbClr val="FFFFFF"/>
                          </a:solidFill>
                          <a:latin typeface="Versos"/>
                        </a:rPr>
                        <a:t>AAA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c>
                  <a:txBody>
                    <a:bodyPr/>
                    <a:lstStyle/>
                    <a:p>
                      <a:pPr algn="r"/>
                      <a:r>
                        <a:rPr sz="850" b="1">
                          <a:solidFill>
                            <a:srgbClr val="FFFFFF"/>
                          </a:solidFill>
                          <a:latin typeface="Versos"/>
                        </a:rPr>
                        <a:t>A</a:t>
                      </a:r>
                    </a:p>
                  </a:txBody>
                  <a:tcPr marL="43200" marR="43200" marT="0" marB="0">
                    <a:solidFill>
                      <a:srgbClr val="3C4A60"/>
                    </a:solidFill>
                  </a:tcPr>
                </a:tc>
              </a:tr>
              <a:tr h="187200">
                <a:tc>
                  <a:txBody>
                    <a:bodyPr/>
                    <a:lstStyle/>
                    <a:p>
                      <a:pPr algn="l"/>
                      <a:r>
                        <a:rPr sz="850" b="0">
                          <a:solidFill>
                            <a:srgbClr val="1A1A1A"/>
                          </a:solidFill>
                          <a:latin typeface="Versos"/>
                        </a:rPr>
                        <a:t>32,7%</a:t>
                      </a:r>
                    </a:p>
                  </a:txBody>
                  <a:tcPr marL="43200" marR="43200" marT="0" marB="0">
                    <a:solidFill>
                      <a:srgbClr val="F4F7F9"/>
                    </a:solidFill>
                  </a:tcPr>
                </a:tc>
                <a:tc>
                  <a:txBody>
                    <a:bodyPr/>
                    <a:lstStyle/>
                    <a:p>
                      <a:pPr algn="r"/>
                      <a:r>
                        <a:rPr sz="850" b="0">
                          <a:solidFill>
                            <a:srgbClr val="1A1A1A"/>
                          </a:solidFill>
                          <a:latin typeface="Versos"/>
                        </a:rPr>
                        <a:t>7,8%</a:t>
                      </a:r>
                    </a:p>
                  </a:txBody>
                  <a:tcPr marL="43200" marR="43200" marT="0" marB="0">
                    <a:solidFill>
                      <a:srgbClr val="F4F7F9"/>
                    </a:solidFill>
                  </a:tcPr>
                </a:tc>
                <a:tc>
                  <a:txBody>
                    <a:bodyPr/>
                    <a:lstStyle/>
                    <a:p>
                      <a:pPr algn="r"/>
                      <a:r>
                        <a:rPr sz="850" b="0">
                          <a:solidFill>
                            <a:srgbClr val="1A1A1A"/>
                          </a:solidFill>
                          <a:latin typeface="Versos"/>
                        </a:rPr>
                        <a:t>4,1%</a:t>
                      </a:r>
                    </a:p>
                  </a:txBody>
                  <a:tcPr marL="43200" marR="43200" marT="0" marB="0">
                    <a:solidFill>
                      <a:srgbClr val="F4F7F9"/>
                    </a:solidFill>
                  </a:tcPr>
                </a:tc>
                <a:tc>
                  <a:txBody>
                    <a:bodyPr/>
                    <a:lstStyle/>
                    <a:p>
                      <a:pPr algn="r"/>
                      <a:r>
                        <a:rPr sz="850" b="0">
                          <a:solidFill>
                            <a:srgbClr val="1A1A1A"/>
                          </a:solidFill>
                          <a:latin typeface="Versos"/>
                        </a:rPr>
                        <a:t>5,7%</a:t>
                      </a:r>
                    </a:p>
                  </a:txBody>
                  <a:tcPr marL="43200" marR="43200" marT="0" marB="0">
                    <a:solidFill>
                      <a:srgbClr val="F4F7F9"/>
                    </a:solidFill>
                  </a:tcPr>
                </a:tc>
                <a:tc>
                  <a:txBody>
                    <a:bodyPr/>
                    <a:lstStyle/>
                    <a:p>
                      <a:pPr algn="r"/>
                      <a:r>
                        <a:rPr sz="850" b="0">
                          <a:solidFill>
                            <a:srgbClr val="1A1A1A"/>
                          </a:solidFill>
                          <a:latin typeface="Versos"/>
                        </a:rPr>
                        <a:t>4,2%</a:t>
                      </a:r>
                    </a:p>
                  </a:txBody>
                  <a:tcPr marL="43200" marR="43200" marT="0" marB="0">
                    <a:solidFill>
                      <a:srgbClr val="F4F7F9"/>
                    </a:solidFill>
                  </a:tcPr>
                </a:tc>
                <a:tc>
                  <a:txBody>
                    <a:bodyPr/>
                    <a:lstStyle/>
                    <a:p>
                      <a:pPr algn="r"/>
                      <a:r>
                        <a:rPr sz="850" b="0">
                          <a:solidFill>
                            <a:srgbClr val="1A1A1A"/>
                          </a:solidFill>
                          <a:latin typeface="Versos"/>
                        </a:rPr>
                        <a:t>6,2%</a:t>
                      </a:r>
                    </a:p>
                  </a:txBody>
                  <a:tcPr marL="43200" marR="43200" marT="0" marB="0">
                    <a:solidFill>
                      <a:srgbClr val="F4F7F9"/>
                    </a:solidFill>
                  </a:tcPr>
                </a:tc>
              </a:tr>
            </a:tbl>
          </a:graphicData>
        </a:graphic>
      </p:graphicFrame>
      <p:sp>
        <p:nvSpPr>
          <p:cNvPr id="18" name="TextBox 17"/>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1</a:t>
            </a:r>
          </a:p>
        </p:txBody>
      </p:sp>
      <p:sp>
        <p:nvSpPr>
          <p:cNvPr id="19" name="TextBox 18"/>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15</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RENTABILIDADE HISTÓRICA</a:t>
            </a:r>
          </a:p>
        </p:txBody>
      </p:sp>
      <p:graphicFrame>
        <p:nvGraphicFramePr>
          <p:cNvPr id="7" name="Chart 6"/>
          <p:cNvGraphicFramePr>
            <a:graphicFrameLocks noGrp="1"/>
          </p:cNvGraphicFramePr>
          <p:nvPr/>
        </p:nvGraphicFramePr>
        <p:xfrm>
          <a:off x="540000" y="1584000"/>
          <a:ext cx="6480000" cy="3240000"/>
        </p:xfrm>
        <a:graphic>
          <a:graphicData uri="http://schemas.openxmlformats.org/drawingml/2006/chart">
            <c:chart xmlns:c="http://schemas.openxmlformats.org/drawingml/2006/chart" r:id="rId2"/>
          </a:graphicData>
        </a:graphic>
      </p:graphicFrame>
      <p:sp>
        <p:nvSpPr>
          <p:cNvPr id="8" name="TextBox 7"/>
          <p:cNvSpPr txBox="1"/>
          <p:nvPr/>
        </p:nvSpPr>
        <p:spPr>
          <a:xfrm>
            <a:off x="540000" y="5039999"/>
            <a:ext cx="6480000" cy="180000"/>
          </a:xfrm>
          <a:prstGeom prst="rect">
            <a:avLst/>
          </a:prstGeom>
          <a:noFill/>
        </p:spPr>
        <p:txBody>
          <a:bodyPr wrap="square" lIns="0" rIns="0" tIns="0" bIns="0">
            <a:spAutoFit/>
          </a:bodyPr>
          <a:lstStyle/>
          <a:p>
            <a:pPr algn="l"/>
            <a:r>
              <a:rPr sz="900" b="1">
                <a:solidFill>
                  <a:srgbClr val="759DB4"/>
                </a:solidFill>
                <a:latin typeface="Versos"/>
              </a:rPr>
              <a:t>COMENTÁRIO DO GESTOR E ANÁLISE DE MERCADO</a:t>
            </a:r>
          </a:p>
        </p:txBody>
      </p:sp>
      <p:sp>
        <p:nvSpPr>
          <p:cNvPr id="9" name="TextBox 8"/>
          <p:cNvSpPr txBox="1"/>
          <p:nvPr/>
        </p:nvSpPr>
        <p:spPr>
          <a:xfrm>
            <a:off x="540000" y="5255999"/>
            <a:ext cx="6480000" cy="4932001"/>
          </a:xfrm>
          <a:prstGeom prst="rect">
            <a:avLst/>
          </a:prstGeom>
          <a:noFill/>
        </p:spPr>
        <p:txBody>
          <a:bodyPr wrap="square" lIns="0" rIns="0" tIns="0" bIns="0">
            <a:spAutoFit/>
          </a:bodyPr>
          <a:lstStyle/>
          <a:p>
            <a:pPr algn="l"/>
            <a:r>
              <a:rPr sz="900" b="0">
                <a:solidFill>
                  <a:srgbClr val="1A1A1A"/>
                </a:solidFill>
                <a:latin typeface="Versos"/>
              </a:rPr>
              <a:t>Em agosto, o mercado de crédito foi marcado por um ambiente de menor liquidez nas negociações do mercado secundário e por uma leve reabertura dos spreads de crédito. Após meses consecutivos de compressão dos prêmios de risco, observou-se um movimento mais cauteloso por parte dos investidores, com os spreads médios dos títulos corporativos indexados ao CDI avançando aproximadamente 0,03%, passando de CDI + 1,19% para CDI + 1,22% ao ano. Apesar desse ajuste, os níveis de prêmio permaneceram próximos das mínimas históricas observadas ao longo do ciclo recente.</a:t>
            </a:r>
          </a:p>
          <a:p>
            <a:pPr algn="l"/>
            <a:r>
              <a:rPr sz="900" b="0">
                <a:solidFill>
                  <a:srgbClr val="1A1A1A"/>
                </a:solidFill>
                <a:latin typeface="Versos"/>
              </a:rPr>
              <a:t/>
            </a:r>
          </a:p>
          <a:p>
            <a:pPr algn="l"/>
            <a:r>
              <a:rPr sz="900" b="0">
                <a:solidFill>
                  <a:srgbClr val="1A1A1A"/>
                </a:solidFill>
                <a:latin typeface="Versos"/>
              </a:rPr>
              <a:t>No mercado secundário, a redução do volume negociado contribuiu para uma formação de preços mais seletiva, especialmente em ativos corporativos com menor liquidez. Ainda assim, o comportamento dos investidores permaneceu construtivo, sustentado por um ambiente técnico favorável e pela continuidade da elevada demanda por ativos de crédito.</a:t>
            </a:r>
          </a:p>
          <a:p>
            <a:pPr algn="l"/>
            <a:r>
              <a:rPr sz="900" b="0">
                <a:solidFill>
                  <a:srgbClr val="1A1A1A"/>
                </a:solidFill>
                <a:latin typeface="Versos"/>
              </a:rPr>
              <a:t/>
            </a:r>
          </a:p>
          <a:p>
            <a:pPr algn="l"/>
            <a:r>
              <a:rPr sz="900" b="0">
                <a:solidFill>
                  <a:srgbClr val="1A1A1A"/>
                </a:solidFill>
                <a:latin typeface="Versos"/>
              </a:rPr>
              <a:t>Já no mercado primário, as emissões bancárias seguiram registrando forte demanda por parte dos investidores. As ofertas de Letras Financeiras Seniores distribuídas ao longo do mês apresentaram níveis elevados de subscrição, com demanda que, em diversos casos, superou três vezes o volume ofertado. Esse forte apetite permitiu que as operações fossem precificadas com taxas inferiores aos limites inicialmente indicados pelos emissores, evidenciando a elevada disponibilidade de recursos para alocação na indústria de crédito. Por outro lado, o pipeline de emissões corporativas permaneceu limitado, restringindo a oferta de novos ativos em um momento de demanda ainda aquecida.</a:t>
            </a:r>
          </a:p>
          <a:p>
            <a:pPr algn="l"/>
            <a:r>
              <a:rPr sz="900" b="0">
                <a:solidFill>
                  <a:srgbClr val="1A1A1A"/>
                </a:solidFill>
                <a:latin typeface="Versos"/>
              </a:rPr>
              <a:t/>
            </a:r>
          </a:p>
          <a:p>
            <a:pPr algn="l"/>
            <a:r>
              <a:rPr sz="900" b="0">
                <a:solidFill>
                  <a:srgbClr val="1A1A1A"/>
                </a:solidFill>
                <a:latin typeface="Versos"/>
              </a:rPr>
              <a:t>Em relação aos fluxos, os fundos com alocação mínima de 15% em crédito e ao menos 1% em debêntures apresentaram captação líquida próxima de R$ 8 bilhões em agosto, resultado significativamente superior ao observado no mês anterior. O volume reforça a percepção de que os investidores seguem direcionando recursos para estratégias de crédito, impulsionados pelo elevado nível de carrego proporcionado pelos ativos indexados ao CDI e pela busca por alternativas de investimento com perfil de risco-retorno atrativo.</a:t>
            </a:r>
          </a:p>
          <a:p>
            <a:pPr algn="l"/>
            <a:r>
              <a:rPr sz="900" b="0">
                <a:solidFill>
                  <a:srgbClr val="1A1A1A"/>
                </a:solidFill>
                <a:latin typeface="Versos"/>
              </a:rPr>
              <a:t/>
            </a:r>
          </a:p>
          <a:p>
            <a:pPr algn="l"/>
            <a:r>
              <a:rPr sz="900" b="0">
                <a:solidFill>
                  <a:srgbClr val="1A1A1A"/>
                </a:solidFill>
                <a:latin typeface="Versos"/>
              </a:rPr>
              <a:t>Nesse contexto, a combinação entre fluxos positivos para a indústria, vencimentos e amortizações recorrentes das carteiras, além da limitada oferta de novos ativos corporativos, continuou sustentando a demanda por crédito privado. Ainda que agosto tenha apresentado uma leve reabertura dos spreads médios de mercado, a dinâmica técnica permanece favorável e os prêmios seguem negociando em patamares historicamente reduzidos.</a:t>
            </a:r>
          </a:p>
          <a:p>
            <a:pPr algn="l"/>
            <a:r>
              <a:rPr sz="900" b="0">
                <a:solidFill>
                  <a:srgbClr val="1A1A1A"/>
                </a:solidFill>
                <a:latin typeface="Versos"/>
              </a:rPr>
              <a:t/>
            </a:r>
          </a:p>
          <a:p>
            <a:pPr algn="l"/>
            <a:r>
              <a:rPr sz="900" b="0">
                <a:solidFill>
                  <a:srgbClr val="1A1A1A"/>
                </a:solidFill>
                <a:latin typeface="Versos"/>
              </a:rPr>
              <a:t>Por fim, sob a ótica da gestão, seguimos acompanhando de forma criteriosa a evolução dos fundamentos dos emissores presentes nas carteiras, com atenção especial aos indicadores operacionais, à geração de caixa e à manutenção de estruturas de capital adequadas. Em um ambiente em que os spreads permanecem comprimidos em termos históricos, mantemos disciplina na alocação dos recursos, priorizando operações que apresentem adequada relação entre risco e retorno e preservando flexibilidade para captura de oportunidades que possam surgir em eventuais períodos de maior volatilidade do mercado.</a:t>
            </a:r>
          </a:p>
          <a:p>
            <a:pPr algn="l"/>
            <a:r>
              <a:rPr sz="900" b="0">
                <a:solidFill>
                  <a:srgbClr val="1A1A1A"/>
                </a:solidFill>
                <a:latin typeface="Versos"/>
              </a:rPr>
              <a:t/>
            </a:r>
          </a:p>
          <a:p>
            <a:pPr algn="l"/>
            <a:r>
              <a:rPr sz="900" b="0">
                <a:solidFill>
                  <a:srgbClr val="1A1A1A"/>
                </a:solidFill>
                <a:latin typeface="Versos"/>
              </a:rPr>
              <a:t>Nesse cenário, o Tivio Institucional 15 apresentou rentabilidade de 1,11% no mês (102% do CDI), acumulando 9,53% (102% do CDI) no ano. Na parcela de corporativos, os maiores atribuidores de resultado foram para Tupy e Randon, enquanto Hapvida foi o maior detrator.</a:t>
            </a:r>
          </a:p>
        </p:txBody>
      </p:sp>
      <p:sp>
        <p:nvSpPr>
          <p:cNvPr id="10" name="TextBox 9"/>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2</a:t>
            </a:r>
          </a:p>
        </p:txBody>
      </p:sp>
      <p:sp>
        <p:nvSpPr>
          <p:cNvPr id="11" name="TextBox 10"/>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15</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MERCADO DE CRÉDITO</a:t>
            </a:r>
          </a:p>
        </p:txBody>
      </p:sp>
      <p:graphicFrame>
        <p:nvGraphicFramePr>
          <p:cNvPr id="7" name="Table 6"/>
          <p:cNvGraphicFramePr>
            <a:graphicFrameLocks noGrp="1"/>
          </p:cNvGraphicFramePr>
          <p:nvPr/>
        </p:nvGraphicFramePr>
        <p:xfrm>
          <a:off x="540000" y="1584000"/>
          <a:ext cx="6479996" cy="4140000"/>
        </p:xfrm>
        <a:graphic>
          <a:graphicData uri="http://schemas.openxmlformats.org/drawingml/2006/table">
            <a:tbl>
              <a:tblPr firstRow="1" bandRow="1">
                <a:tableStyleId>{5C22544A-7EE6-4342-B048-85BDC9FD1C3A}</a:tableStyleId>
              </a:tblPr>
              <a:tblGrid>
                <a:gridCol w="2098285"/>
                <a:gridCol w="802285"/>
                <a:gridCol w="617142"/>
                <a:gridCol w="740571"/>
                <a:gridCol w="925714"/>
                <a:gridCol w="678857"/>
                <a:gridCol w="617142"/>
              </a:tblGrid>
              <a:tr h="165600">
                <a:tc>
                  <a:txBody>
                    <a:bodyPr/>
                    <a:lstStyle/>
                    <a:p>
                      <a:pPr algn="l"/>
                      <a:r>
                        <a:rPr sz="850" b="1">
                          <a:solidFill>
                            <a:srgbClr val="FFFFFF"/>
                          </a:solidFill>
                          <a:latin typeface="Versos"/>
                        </a:rPr>
                        <a:t>Setor</a:t>
                      </a:r>
                    </a:p>
                  </a:txBody>
                  <a:tcPr marL="43200" marR="43200" marT="0" marB="0">
                    <a:solidFill>
                      <a:srgbClr val="3C4A60"/>
                    </a:solidFill>
                  </a:tcPr>
                </a:tc>
                <a:tc>
                  <a:txBody>
                    <a:bodyPr/>
                    <a:lstStyle/>
                    <a:p>
                      <a:pPr algn="r"/>
                      <a:r>
                        <a:rPr sz="850" b="1">
                          <a:solidFill>
                            <a:srgbClr val="FFFFFF"/>
                          </a:solidFill>
                          <a:latin typeface="Versos"/>
                        </a:rPr>
                        <a:t>Volume (R$ MM)</a:t>
                      </a:r>
                    </a:p>
                  </a:txBody>
                  <a:tcPr marL="43200" marR="43200" marT="0" marB="0">
                    <a:solidFill>
                      <a:srgbClr val="3C4A60"/>
                    </a:solidFill>
                  </a:tcPr>
                </a:tc>
                <a:tc>
                  <a:txBody>
                    <a:bodyPr/>
                    <a:lstStyle/>
                    <a:p>
                      <a:pPr algn="r"/>
                      <a:r>
                        <a:rPr sz="850" b="1">
                          <a:solidFill>
                            <a:srgbClr val="FFFFFF"/>
                          </a:solidFill>
                          <a:latin typeface="Versos"/>
                        </a:rPr>
                        <a:t>%</a:t>
                      </a:r>
                    </a:p>
                  </a:txBody>
                  <a:tcPr marL="43200" marR="43200" marT="0" marB="0">
                    <a:solidFill>
                      <a:srgbClr val="3C4A60"/>
                    </a:solidFill>
                  </a:tcPr>
                </a:tc>
                <a:tc>
                  <a:txBody>
                    <a:bodyPr/>
                    <a:lstStyle/>
                    <a:p>
                      <a:pPr algn="r"/>
                      <a:r>
                        <a:rPr sz="850" b="1">
                          <a:solidFill>
                            <a:srgbClr val="FFFFFF"/>
                          </a:solidFill>
                          <a:latin typeface="Versos"/>
                        </a:rPr>
                        <a:t>Spread Atual</a:t>
                      </a:r>
                    </a:p>
                  </a:txBody>
                  <a:tcPr marL="43200" marR="43200" marT="0" marB="0">
                    <a:solidFill>
                      <a:srgbClr val="3C4A60"/>
                    </a:solidFill>
                  </a:tcPr>
                </a:tc>
                <a:tc>
                  <a:txBody>
                    <a:bodyPr/>
                    <a:lstStyle/>
                    <a:p>
                      <a:pPr algn="r"/>
                      <a:r>
                        <a:rPr sz="850" b="1">
                          <a:solidFill>
                            <a:srgbClr val="FFFFFF"/>
                          </a:solidFill>
                          <a:latin typeface="Versos"/>
                        </a:rPr>
                        <a:t>Spread mês anterior</a:t>
                      </a:r>
                    </a:p>
                  </a:txBody>
                  <a:tcPr marL="43200" marR="43200" marT="0" marB="0">
                    <a:solidFill>
                      <a:srgbClr val="3C4A60"/>
                    </a:solidFill>
                  </a:tcPr>
                </a:tc>
                <a:tc>
                  <a:txBody>
                    <a:bodyPr/>
                    <a:lstStyle/>
                    <a:p>
                      <a:pPr algn="r"/>
                      <a:r>
                        <a:rPr sz="850" b="1">
                          <a:solidFill>
                            <a:srgbClr val="FFFFFF"/>
                          </a:solidFill>
                          <a:latin typeface="Versos"/>
                        </a:rPr>
                        <a:t>Variação</a:t>
                      </a:r>
                    </a:p>
                  </a:txBody>
                  <a:tcPr marL="43200" marR="43200" marT="0" marB="0">
                    <a:solidFill>
                      <a:srgbClr val="3C4A60"/>
                    </a:solidFill>
                  </a:tcPr>
                </a:tc>
                <a:tc>
                  <a:txBody>
                    <a:bodyPr/>
                    <a:lstStyle/>
                    <a:p>
                      <a:pPr algn="r"/>
                      <a:r>
                        <a:rPr sz="850" b="1">
                          <a:solidFill>
                            <a:srgbClr val="FFFFFF"/>
                          </a:solidFill>
                          <a:latin typeface="Versos"/>
                        </a:rPr>
                        <a:t>Duration</a:t>
                      </a:r>
                    </a:p>
                  </a:txBody>
                  <a:tcPr marL="43200" marR="43200" marT="0" marB="0">
                    <a:solidFill>
                      <a:srgbClr val="3C4A60"/>
                    </a:solidFill>
                  </a:tcPr>
                </a:tc>
              </a:tr>
              <a:tr h="165600">
                <a:tc>
                  <a:txBody>
                    <a:bodyPr/>
                    <a:lstStyle/>
                    <a:p>
                      <a:pPr algn="l"/>
                      <a:r>
                        <a:rPr sz="850" b="1">
                          <a:solidFill>
                            <a:srgbClr val="1A1A1A"/>
                          </a:solidFill>
                          <a:latin typeface="Versos"/>
                        </a:rPr>
                        <a:t>Energia elétrica</a:t>
                      </a:r>
                    </a:p>
                  </a:txBody>
                  <a:tcPr marL="43200" marR="43200" marT="0" marB="0">
                    <a:solidFill>
                      <a:srgbClr val="F4F7F9"/>
                    </a:solidFill>
                  </a:tcPr>
                </a:tc>
                <a:tc>
                  <a:txBody>
                    <a:bodyPr/>
                    <a:lstStyle/>
                    <a:p>
                      <a:pPr algn="r"/>
                      <a:r>
                        <a:rPr sz="850" b="0">
                          <a:solidFill>
                            <a:srgbClr val="1A1A1A"/>
                          </a:solidFill>
                          <a:latin typeface="Versos"/>
                        </a:rPr>
                        <a:t>108.945</a:t>
                      </a:r>
                    </a:p>
                  </a:txBody>
                  <a:tcPr marL="43200" marR="43200" marT="0" marB="0">
                    <a:solidFill>
                      <a:srgbClr val="F4F7F9"/>
                    </a:solidFill>
                  </a:tcPr>
                </a:tc>
                <a:tc>
                  <a:txBody>
                    <a:bodyPr/>
                    <a:lstStyle/>
                    <a:p>
                      <a:pPr algn="r"/>
                      <a:r>
                        <a:rPr sz="850" b="0">
                          <a:solidFill>
                            <a:srgbClr val="1A1A1A"/>
                          </a:solidFill>
                          <a:latin typeface="Versos"/>
                        </a:rPr>
                        <a:t>24,57%</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0,72%</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2,72</a:t>
                      </a:r>
                    </a:p>
                  </a:txBody>
                  <a:tcPr marL="43200" marR="43200" marT="0" marB="0">
                    <a:solidFill>
                      <a:srgbClr val="F4F7F9"/>
                    </a:solidFill>
                  </a:tcPr>
                </a:tc>
              </a:tr>
              <a:tr h="165600">
                <a:tc>
                  <a:txBody>
                    <a:bodyPr/>
                    <a:lstStyle/>
                    <a:p>
                      <a:pPr algn="l"/>
                      <a:r>
                        <a:rPr sz="850" b="1">
                          <a:solidFill>
                            <a:srgbClr val="1A1A1A"/>
                          </a:solidFill>
                          <a:latin typeface="Versos"/>
                        </a:rPr>
                        <a:t>Assistência médica</a:t>
                      </a:r>
                    </a:p>
                  </a:txBody>
                  <a:tcPr marL="43200" marR="43200" marT="0" marB="0">
                    <a:solidFill>
                      <a:srgbClr val="FFFFFF"/>
                    </a:solidFill>
                  </a:tcPr>
                </a:tc>
                <a:tc>
                  <a:txBody>
                    <a:bodyPr/>
                    <a:lstStyle/>
                    <a:p>
                      <a:pPr algn="r"/>
                      <a:r>
                        <a:rPr sz="850" b="0">
                          <a:solidFill>
                            <a:srgbClr val="1A1A1A"/>
                          </a:solidFill>
                          <a:latin typeface="Versos"/>
                        </a:rPr>
                        <a:t>43.410</a:t>
                      </a:r>
                    </a:p>
                  </a:txBody>
                  <a:tcPr marL="43200" marR="43200" marT="0" marB="0">
                    <a:solidFill>
                      <a:srgbClr val="FFFFFF"/>
                    </a:solidFill>
                  </a:tcPr>
                </a:tc>
                <a:tc>
                  <a:txBody>
                    <a:bodyPr/>
                    <a:lstStyle/>
                    <a:p>
                      <a:pPr algn="r"/>
                      <a:r>
                        <a:rPr sz="850" b="0">
                          <a:solidFill>
                            <a:srgbClr val="1A1A1A"/>
                          </a:solidFill>
                          <a:latin typeface="Versos"/>
                        </a:rPr>
                        <a:t>9,79%</a:t>
                      </a:r>
                    </a:p>
                  </a:txBody>
                  <a:tcPr marL="43200" marR="43200" marT="0" marB="0">
                    <a:solidFill>
                      <a:srgbClr val="FFFFFF"/>
                    </a:solidFill>
                  </a:tcPr>
                </a:tc>
                <a:tc>
                  <a:txBody>
                    <a:bodyPr/>
                    <a:lstStyle/>
                    <a:p>
                      <a:pPr algn="r"/>
                      <a:r>
                        <a:rPr sz="850" b="0">
                          <a:solidFill>
                            <a:srgbClr val="1A1A1A"/>
                          </a:solidFill>
                          <a:latin typeface="Versos"/>
                        </a:rPr>
                        <a:t>2,55%</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0,32%</a:t>
                      </a:r>
                    </a:p>
                  </a:txBody>
                  <a:tcPr marL="43200" marR="43200" marT="0" marB="0">
                    <a:solidFill>
                      <a:srgbClr val="FFFFFF"/>
                    </a:solidFill>
                  </a:tcPr>
                </a:tc>
                <a:tc>
                  <a:txBody>
                    <a:bodyPr/>
                    <a:lstStyle/>
                    <a:p>
                      <a:pPr algn="r"/>
                      <a:r>
                        <a:rPr sz="850" b="0">
                          <a:solidFill>
                            <a:srgbClr val="1A1A1A"/>
                          </a:solidFill>
                          <a:latin typeface="Versos"/>
                        </a:rPr>
                        <a:t>3,34</a:t>
                      </a:r>
                    </a:p>
                  </a:txBody>
                  <a:tcPr marL="43200" marR="43200" marT="0" marB="0">
                    <a:solidFill>
                      <a:srgbClr val="FFFFFF"/>
                    </a:solidFill>
                  </a:tcPr>
                </a:tc>
              </a:tr>
              <a:tr h="165600">
                <a:tc>
                  <a:txBody>
                    <a:bodyPr/>
                    <a:lstStyle/>
                    <a:p>
                      <a:pPr algn="l"/>
                      <a:r>
                        <a:rPr sz="850" b="1">
                          <a:solidFill>
                            <a:srgbClr val="1A1A1A"/>
                          </a:solidFill>
                          <a:latin typeface="Versos"/>
                        </a:rPr>
                        <a:t>Saneamento</a:t>
                      </a:r>
                    </a:p>
                  </a:txBody>
                  <a:tcPr marL="43200" marR="43200" marT="0" marB="0">
                    <a:solidFill>
                      <a:srgbClr val="F4F7F9"/>
                    </a:solidFill>
                  </a:tcPr>
                </a:tc>
                <a:tc>
                  <a:txBody>
                    <a:bodyPr/>
                    <a:lstStyle/>
                    <a:p>
                      <a:pPr algn="r"/>
                      <a:r>
                        <a:rPr sz="850" b="0">
                          <a:solidFill>
                            <a:srgbClr val="1A1A1A"/>
                          </a:solidFill>
                          <a:latin typeface="Versos"/>
                        </a:rPr>
                        <a:t>39.943</a:t>
                      </a:r>
                    </a:p>
                  </a:txBody>
                  <a:tcPr marL="43200" marR="43200" marT="0" marB="0">
                    <a:solidFill>
                      <a:srgbClr val="F4F7F9"/>
                    </a:solidFill>
                  </a:tcPr>
                </a:tc>
                <a:tc>
                  <a:txBody>
                    <a:bodyPr/>
                    <a:lstStyle/>
                    <a:p>
                      <a:pPr algn="r"/>
                      <a:r>
                        <a:rPr sz="850" b="0">
                          <a:solidFill>
                            <a:srgbClr val="1A1A1A"/>
                          </a:solidFill>
                          <a:latin typeface="Versos"/>
                        </a:rPr>
                        <a:t>9,01%</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1,67%</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2,71</a:t>
                      </a:r>
                    </a:p>
                  </a:txBody>
                  <a:tcPr marL="43200" marR="43200" marT="0" marB="0">
                    <a:solidFill>
                      <a:srgbClr val="F4F7F9"/>
                    </a:solidFill>
                  </a:tcPr>
                </a:tc>
              </a:tr>
              <a:tr h="165600">
                <a:tc>
                  <a:txBody>
                    <a:bodyPr/>
                    <a:lstStyle/>
                    <a:p>
                      <a:pPr algn="l"/>
                      <a:r>
                        <a:rPr sz="850" b="1">
                          <a:solidFill>
                            <a:srgbClr val="1A1A1A"/>
                          </a:solidFill>
                          <a:latin typeface="Versos"/>
                        </a:rPr>
                        <a:t>Locação de veículos</a:t>
                      </a:r>
                    </a:p>
                  </a:txBody>
                  <a:tcPr marL="43200" marR="43200" marT="0" marB="0">
                    <a:solidFill>
                      <a:srgbClr val="FFFFFF"/>
                    </a:solidFill>
                  </a:tcPr>
                </a:tc>
                <a:tc>
                  <a:txBody>
                    <a:bodyPr/>
                    <a:lstStyle/>
                    <a:p>
                      <a:pPr algn="r"/>
                      <a:r>
                        <a:rPr sz="850" b="0">
                          <a:solidFill>
                            <a:srgbClr val="1A1A1A"/>
                          </a:solidFill>
                          <a:latin typeface="Versos"/>
                        </a:rPr>
                        <a:t>33.800</a:t>
                      </a:r>
                    </a:p>
                  </a:txBody>
                  <a:tcPr marL="43200" marR="43200" marT="0" marB="0">
                    <a:solidFill>
                      <a:srgbClr val="FFFFFF"/>
                    </a:solidFill>
                  </a:tcPr>
                </a:tc>
                <a:tc>
                  <a:txBody>
                    <a:bodyPr/>
                    <a:lstStyle/>
                    <a:p>
                      <a:pPr algn="r"/>
                      <a:r>
                        <a:rPr sz="850" b="0">
                          <a:solidFill>
                            <a:srgbClr val="1A1A1A"/>
                          </a:solidFill>
                          <a:latin typeface="Versos"/>
                        </a:rPr>
                        <a:t>7,62%</a:t>
                      </a:r>
                    </a:p>
                  </a:txBody>
                  <a:tcPr marL="43200" marR="43200" marT="0" marB="0">
                    <a:solidFill>
                      <a:srgbClr val="FFFFFF"/>
                    </a:solidFill>
                  </a:tcPr>
                </a:tc>
                <a:tc>
                  <a:txBody>
                    <a:bodyPr/>
                    <a:lstStyle/>
                    <a:p>
                      <a:pPr algn="r"/>
                      <a:r>
                        <a:rPr sz="850" b="0">
                          <a:solidFill>
                            <a:srgbClr val="1A1A1A"/>
                          </a:solidFill>
                          <a:latin typeface="Versos"/>
                        </a:rPr>
                        <a:t>1,62%</a:t>
                      </a:r>
                    </a:p>
                  </a:txBody>
                  <a:tcPr marL="43200" marR="43200" marT="0" marB="0">
                    <a:solidFill>
                      <a:srgbClr val="FFFFFF"/>
                    </a:solidFill>
                  </a:tcPr>
                </a:tc>
                <a:tc>
                  <a:txBody>
                    <a:bodyPr/>
                    <a:lstStyle/>
                    <a:p>
                      <a:pPr algn="r"/>
                      <a:r>
                        <a:rPr sz="850" b="0">
                          <a:solidFill>
                            <a:srgbClr val="1A1A1A"/>
                          </a:solidFill>
                          <a:latin typeface="Versos"/>
                        </a:rPr>
                        <a:t>1,65%</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2,37</a:t>
                      </a:r>
                    </a:p>
                  </a:txBody>
                  <a:tcPr marL="43200" marR="43200" marT="0" marB="0">
                    <a:solidFill>
                      <a:srgbClr val="FFFFFF"/>
                    </a:solidFill>
                  </a:tcPr>
                </a:tc>
              </a:tr>
              <a:tr h="165600">
                <a:tc>
                  <a:txBody>
                    <a:bodyPr/>
                    <a:lstStyle/>
                    <a:p>
                      <a:pPr algn="l"/>
                      <a:r>
                        <a:rPr sz="850" b="1">
                          <a:solidFill>
                            <a:srgbClr val="1A1A1A"/>
                          </a:solidFill>
                          <a:latin typeface="Versos"/>
                        </a:rPr>
                        <a:t>Petróleo e gás</a:t>
                      </a:r>
                    </a:p>
                  </a:txBody>
                  <a:tcPr marL="43200" marR="43200" marT="0" marB="0">
                    <a:solidFill>
                      <a:srgbClr val="F4F7F9"/>
                    </a:solidFill>
                  </a:tcPr>
                </a:tc>
                <a:tc>
                  <a:txBody>
                    <a:bodyPr/>
                    <a:lstStyle/>
                    <a:p>
                      <a:pPr algn="r"/>
                      <a:r>
                        <a:rPr sz="850" b="0">
                          <a:solidFill>
                            <a:srgbClr val="1A1A1A"/>
                          </a:solidFill>
                          <a:latin typeface="Versos"/>
                        </a:rPr>
                        <a:t>33.070</a:t>
                      </a:r>
                    </a:p>
                  </a:txBody>
                  <a:tcPr marL="43200" marR="43200" marT="0" marB="0">
                    <a:solidFill>
                      <a:srgbClr val="F4F7F9"/>
                    </a:solidFill>
                  </a:tcPr>
                </a:tc>
                <a:tc>
                  <a:txBody>
                    <a:bodyPr/>
                    <a:lstStyle/>
                    <a:p>
                      <a:pPr algn="r"/>
                      <a:r>
                        <a:rPr sz="850" b="0">
                          <a:solidFill>
                            <a:srgbClr val="1A1A1A"/>
                          </a:solidFill>
                          <a:latin typeface="Versos"/>
                        </a:rPr>
                        <a:t>7,46%</a:t>
                      </a:r>
                    </a:p>
                  </a:txBody>
                  <a:tcPr marL="43200" marR="43200" marT="0" marB="0">
                    <a:solidFill>
                      <a:srgbClr val="F4F7F9"/>
                    </a:solidFill>
                  </a:tcPr>
                </a:tc>
                <a:tc>
                  <a:txBody>
                    <a:bodyPr/>
                    <a:lstStyle/>
                    <a:p>
                      <a:pPr algn="r"/>
                      <a:r>
                        <a:rPr sz="850" b="0">
                          <a:solidFill>
                            <a:srgbClr val="1A1A1A"/>
                          </a:solidFill>
                          <a:latin typeface="Versos"/>
                        </a:rPr>
                        <a:t>0,80%</a:t>
                      </a:r>
                    </a:p>
                  </a:txBody>
                  <a:tcPr marL="43200" marR="43200" marT="0" marB="0">
                    <a:solidFill>
                      <a:srgbClr val="F4F7F9"/>
                    </a:solidFill>
                  </a:tcPr>
                </a:tc>
                <a:tc>
                  <a:txBody>
                    <a:bodyPr/>
                    <a:lstStyle/>
                    <a:p>
                      <a:pPr algn="r"/>
                      <a:r>
                        <a:rPr sz="850" b="0">
                          <a:solidFill>
                            <a:srgbClr val="1A1A1A"/>
                          </a:solidFill>
                          <a:latin typeface="Versos"/>
                        </a:rPr>
                        <a:t>0,82%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2,83</a:t>
                      </a:r>
                    </a:p>
                  </a:txBody>
                  <a:tcPr marL="43200" marR="43200" marT="0" marB="0">
                    <a:solidFill>
                      <a:srgbClr val="F4F7F9"/>
                    </a:solidFill>
                  </a:tcPr>
                </a:tc>
              </a:tr>
              <a:tr h="165600">
                <a:tc>
                  <a:txBody>
                    <a:bodyPr/>
                    <a:lstStyle/>
                    <a:p>
                      <a:pPr algn="l"/>
                      <a:r>
                        <a:rPr sz="850" b="1">
                          <a:solidFill>
                            <a:srgbClr val="1A1A1A"/>
                          </a:solidFill>
                          <a:latin typeface="Versos"/>
                        </a:rPr>
                        <a:t>Transporte e logística</a:t>
                      </a:r>
                    </a:p>
                  </a:txBody>
                  <a:tcPr marL="43200" marR="43200" marT="0" marB="0">
                    <a:solidFill>
                      <a:srgbClr val="FFFFFF"/>
                    </a:solidFill>
                  </a:tcPr>
                </a:tc>
                <a:tc>
                  <a:txBody>
                    <a:bodyPr/>
                    <a:lstStyle/>
                    <a:p>
                      <a:pPr algn="r"/>
                      <a:r>
                        <a:rPr sz="850" b="0">
                          <a:solidFill>
                            <a:srgbClr val="1A1A1A"/>
                          </a:solidFill>
                          <a:latin typeface="Versos"/>
                        </a:rPr>
                        <a:t>29.782</a:t>
                      </a:r>
                    </a:p>
                  </a:txBody>
                  <a:tcPr marL="43200" marR="43200" marT="0" marB="0">
                    <a:solidFill>
                      <a:srgbClr val="FFFFFF"/>
                    </a:solidFill>
                  </a:tcPr>
                </a:tc>
                <a:tc>
                  <a:txBody>
                    <a:bodyPr/>
                    <a:lstStyle/>
                    <a:p>
                      <a:pPr algn="r"/>
                      <a:r>
                        <a:rPr sz="850" b="0">
                          <a:solidFill>
                            <a:srgbClr val="1A1A1A"/>
                          </a:solidFill>
                          <a:latin typeface="Versos"/>
                        </a:rPr>
                        <a:t>6,72%</a:t>
                      </a:r>
                    </a:p>
                  </a:txBody>
                  <a:tcPr marL="43200" marR="43200" marT="0" marB="0">
                    <a:solidFill>
                      <a:srgbClr val="FFFFFF"/>
                    </a:solidFill>
                  </a:tcPr>
                </a:tc>
                <a:tc>
                  <a:txBody>
                    <a:bodyPr/>
                    <a:lstStyle/>
                    <a:p>
                      <a:pPr algn="r"/>
                      <a:r>
                        <a:rPr sz="850" b="0">
                          <a:solidFill>
                            <a:srgbClr val="1A1A1A"/>
                          </a:solidFill>
                          <a:latin typeface="Versos"/>
                        </a:rPr>
                        <a:t>1,34%</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0,08%</a:t>
                      </a:r>
                    </a:p>
                  </a:txBody>
                  <a:tcPr marL="43200" marR="43200" marT="0" marB="0">
                    <a:solidFill>
                      <a:srgbClr val="FFFFFF"/>
                    </a:solidFill>
                  </a:tcPr>
                </a:tc>
                <a:tc>
                  <a:txBody>
                    <a:bodyPr/>
                    <a:lstStyle/>
                    <a:p>
                      <a:pPr algn="r"/>
                      <a:r>
                        <a:rPr sz="850" b="0">
                          <a:solidFill>
                            <a:srgbClr val="1A1A1A"/>
                          </a:solidFill>
                          <a:latin typeface="Versos"/>
                        </a:rPr>
                        <a:t>2,72</a:t>
                      </a:r>
                    </a:p>
                  </a:txBody>
                  <a:tcPr marL="43200" marR="43200" marT="0" marB="0">
                    <a:solidFill>
                      <a:srgbClr val="FFFFFF"/>
                    </a:solidFill>
                  </a:tcPr>
                </a:tc>
              </a:tr>
              <a:tr h="165600">
                <a:tc>
                  <a:txBody>
                    <a:bodyPr/>
                    <a:lstStyle/>
                    <a:p>
                      <a:pPr algn="l"/>
                      <a:r>
                        <a:rPr sz="850" b="1">
                          <a:solidFill>
                            <a:srgbClr val="1A1A1A"/>
                          </a:solidFill>
                          <a:latin typeface="Versos"/>
                        </a:rPr>
                        <a:t>Comércio atacadista e varejista</a:t>
                      </a:r>
                    </a:p>
                  </a:txBody>
                  <a:tcPr marL="43200" marR="43200" marT="0" marB="0">
                    <a:solidFill>
                      <a:srgbClr val="F4F7F9"/>
                    </a:solidFill>
                  </a:tcPr>
                </a:tc>
                <a:tc>
                  <a:txBody>
                    <a:bodyPr/>
                    <a:lstStyle/>
                    <a:p>
                      <a:pPr algn="r"/>
                      <a:r>
                        <a:rPr sz="850" b="0">
                          <a:solidFill>
                            <a:srgbClr val="1A1A1A"/>
                          </a:solidFill>
                          <a:latin typeface="Versos"/>
                        </a:rPr>
                        <a:t>26.963</a:t>
                      </a:r>
                    </a:p>
                  </a:txBody>
                  <a:tcPr marL="43200" marR="43200" marT="0" marB="0">
                    <a:solidFill>
                      <a:srgbClr val="F4F7F9"/>
                    </a:solidFill>
                  </a:tcPr>
                </a:tc>
                <a:tc>
                  <a:txBody>
                    <a:bodyPr/>
                    <a:lstStyle/>
                    <a:p>
                      <a:pPr algn="r"/>
                      <a:r>
                        <a:rPr sz="850" b="0">
                          <a:solidFill>
                            <a:srgbClr val="1A1A1A"/>
                          </a:solidFill>
                          <a:latin typeface="Versos"/>
                        </a:rPr>
                        <a:t>6,08%</a:t>
                      </a:r>
                    </a:p>
                  </a:txBody>
                  <a:tcPr marL="43200" marR="43200" marT="0" marB="0">
                    <a:solidFill>
                      <a:srgbClr val="F4F7F9"/>
                    </a:solidFill>
                  </a:tcPr>
                </a:tc>
                <a:tc>
                  <a:txBody>
                    <a:bodyPr/>
                    <a:lstStyle/>
                    <a:p>
                      <a:pPr algn="r"/>
                      <a:r>
                        <a:rPr sz="850" b="0">
                          <a:solidFill>
                            <a:srgbClr val="1A1A1A"/>
                          </a:solidFill>
                          <a:latin typeface="Versos"/>
                        </a:rPr>
                        <a:t>1,34%</a:t>
                      </a:r>
                    </a:p>
                  </a:txBody>
                  <a:tcPr marL="43200" marR="43200" marT="0" marB="0">
                    <a:solidFill>
                      <a:srgbClr val="F4F7F9"/>
                    </a:solidFill>
                  </a:tcPr>
                </a:tc>
                <a:tc>
                  <a:txBody>
                    <a:bodyPr/>
                    <a:lstStyle/>
                    <a:p>
                      <a:pPr algn="r"/>
                      <a:r>
                        <a:rPr sz="850" b="0">
                          <a:solidFill>
                            <a:srgbClr val="1A1A1A"/>
                          </a:solidFill>
                          <a:latin typeface="Versos"/>
                        </a:rPr>
                        <a:t>1,32%</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2,35</a:t>
                      </a:r>
                    </a:p>
                  </a:txBody>
                  <a:tcPr marL="43200" marR="43200" marT="0" marB="0">
                    <a:solidFill>
                      <a:srgbClr val="F4F7F9"/>
                    </a:solidFill>
                  </a:tcPr>
                </a:tc>
              </a:tr>
              <a:tr h="165600">
                <a:tc>
                  <a:txBody>
                    <a:bodyPr/>
                    <a:lstStyle/>
                    <a:p>
                      <a:pPr algn="l"/>
                      <a:r>
                        <a:rPr sz="850" b="1">
                          <a:solidFill>
                            <a:srgbClr val="1A1A1A"/>
                          </a:solidFill>
                          <a:latin typeface="Versos"/>
                        </a:rPr>
                        <a:t>Financeiro</a:t>
                      </a:r>
                    </a:p>
                  </a:txBody>
                  <a:tcPr marL="43200" marR="43200" marT="0" marB="0">
                    <a:solidFill>
                      <a:srgbClr val="FFFFFF"/>
                    </a:solidFill>
                  </a:tcPr>
                </a:tc>
                <a:tc>
                  <a:txBody>
                    <a:bodyPr/>
                    <a:lstStyle/>
                    <a:p>
                      <a:pPr algn="r"/>
                      <a:r>
                        <a:rPr sz="850" b="0">
                          <a:solidFill>
                            <a:srgbClr val="1A1A1A"/>
                          </a:solidFill>
                          <a:latin typeface="Versos"/>
                        </a:rPr>
                        <a:t>23.678</a:t>
                      </a:r>
                    </a:p>
                  </a:txBody>
                  <a:tcPr marL="43200" marR="43200" marT="0" marB="0">
                    <a:solidFill>
                      <a:srgbClr val="FFFFFF"/>
                    </a:solidFill>
                  </a:tcPr>
                </a:tc>
                <a:tc>
                  <a:txBody>
                    <a:bodyPr/>
                    <a:lstStyle/>
                    <a:p>
                      <a:pPr algn="r"/>
                      <a:r>
                        <a:rPr sz="850" b="0">
                          <a:solidFill>
                            <a:srgbClr val="1A1A1A"/>
                          </a:solidFill>
                          <a:latin typeface="Versos"/>
                        </a:rPr>
                        <a:t>5,34%</a:t>
                      </a:r>
                    </a:p>
                  </a:txBody>
                  <a:tcPr marL="43200" marR="43200" marT="0" marB="0">
                    <a:solidFill>
                      <a:srgbClr val="FFFFFF"/>
                    </a:solidFill>
                  </a:tcPr>
                </a:tc>
                <a:tc>
                  <a:txBody>
                    <a:bodyPr/>
                    <a:lstStyle/>
                    <a:p>
                      <a:pPr algn="r"/>
                      <a:r>
                        <a:rPr sz="850" b="0">
                          <a:solidFill>
                            <a:srgbClr val="1A1A1A"/>
                          </a:solidFill>
                          <a:latin typeface="Versos"/>
                        </a:rPr>
                        <a:t>0,45%</a:t>
                      </a:r>
                    </a:p>
                  </a:txBody>
                  <a:tcPr marL="43200" marR="43200" marT="0" marB="0">
                    <a:solidFill>
                      <a:srgbClr val="FFFFFF"/>
                    </a:solidFill>
                  </a:tcPr>
                </a:tc>
                <a:tc>
                  <a:txBody>
                    <a:bodyPr/>
                    <a:lstStyle/>
                    <a:p>
                      <a:pPr algn="r"/>
                      <a:r>
                        <a:rPr sz="850" b="0">
                          <a:solidFill>
                            <a:srgbClr val="1A1A1A"/>
                          </a:solidFill>
                          <a:latin typeface="Versos"/>
                        </a:rPr>
                        <a:t>0,46%</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1,97</a:t>
                      </a:r>
                    </a:p>
                  </a:txBody>
                  <a:tcPr marL="43200" marR="43200" marT="0" marB="0">
                    <a:solidFill>
                      <a:srgbClr val="FFFFFF"/>
                    </a:solidFill>
                  </a:tcPr>
                </a:tc>
              </a:tr>
              <a:tr h="165600">
                <a:tc>
                  <a:txBody>
                    <a:bodyPr/>
                    <a:lstStyle/>
                    <a:p>
                      <a:pPr algn="l"/>
                      <a:r>
                        <a:rPr sz="850" b="1">
                          <a:solidFill>
                            <a:srgbClr val="1A1A1A"/>
                          </a:solidFill>
                          <a:latin typeface="Versos"/>
                        </a:rPr>
                        <a:t>Indústria e comércio</a:t>
                      </a:r>
                    </a:p>
                  </a:txBody>
                  <a:tcPr marL="43200" marR="43200" marT="0" marB="0">
                    <a:solidFill>
                      <a:srgbClr val="F4F7F9"/>
                    </a:solidFill>
                  </a:tcPr>
                </a:tc>
                <a:tc>
                  <a:txBody>
                    <a:bodyPr/>
                    <a:lstStyle/>
                    <a:p>
                      <a:pPr algn="r"/>
                      <a:r>
                        <a:rPr sz="850" b="0">
                          <a:solidFill>
                            <a:srgbClr val="1A1A1A"/>
                          </a:solidFill>
                          <a:latin typeface="Versos"/>
                        </a:rPr>
                        <a:t>22.210</a:t>
                      </a:r>
                    </a:p>
                  </a:txBody>
                  <a:tcPr marL="43200" marR="43200" marT="0" marB="0">
                    <a:solidFill>
                      <a:srgbClr val="F4F7F9"/>
                    </a:solidFill>
                  </a:tcPr>
                </a:tc>
                <a:tc>
                  <a:txBody>
                    <a:bodyPr/>
                    <a:lstStyle/>
                    <a:p>
                      <a:pPr algn="r"/>
                      <a:r>
                        <a:rPr sz="850" b="0">
                          <a:solidFill>
                            <a:srgbClr val="1A1A1A"/>
                          </a:solidFill>
                          <a:latin typeface="Versos"/>
                        </a:rPr>
                        <a:t>5,01%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1,21%</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2,58</a:t>
                      </a:r>
                    </a:p>
                  </a:txBody>
                  <a:tcPr marL="43200" marR="43200" marT="0" marB="0">
                    <a:solidFill>
                      <a:srgbClr val="F4F7F9"/>
                    </a:solidFill>
                  </a:tcPr>
                </a:tc>
              </a:tr>
              <a:tr h="165600">
                <a:tc>
                  <a:txBody>
                    <a:bodyPr/>
                    <a:lstStyle/>
                    <a:p>
                      <a:pPr algn="l"/>
                      <a:r>
                        <a:rPr sz="850" b="1">
                          <a:solidFill>
                            <a:srgbClr val="1A1A1A"/>
                          </a:solidFill>
                          <a:latin typeface="Versos"/>
                        </a:rPr>
                        <a:t>Ti e telecomunicações</a:t>
                      </a:r>
                    </a:p>
                  </a:txBody>
                  <a:tcPr marL="43200" marR="43200" marT="0" marB="0">
                    <a:solidFill>
                      <a:srgbClr val="FFFFFF"/>
                    </a:solidFill>
                  </a:tcPr>
                </a:tc>
                <a:tc>
                  <a:txBody>
                    <a:bodyPr/>
                    <a:lstStyle/>
                    <a:p>
                      <a:pPr algn="r"/>
                      <a:r>
                        <a:rPr sz="850" b="0">
                          <a:solidFill>
                            <a:srgbClr val="1A1A1A"/>
                          </a:solidFill>
                          <a:latin typeface="Versos"/>
                        </a:rPr>
                        <a:t>18.606</a:t>
                      </a:r>
                    </a:p>
                  </a:txBody>
                  <a:tcPr marL="43200" marR="43200" marT="0" marB="0">
                    <a:solidFill>
                      <a:srgbClr val="FFFFFF"/>
                    </a:solidFill>
                  </a:tcPr>
                </a:tc>
                <a:tc>
                  <a:txBody>
                    <a:bodyPr/>
                    <a:lstStyle/>
                    <a:p>
                      <a:pPr algn="r"/>
                      <a:r>
                        <a:rPr sz="850" b="0">
                          <a:solidFill>
                            <a:srgbClr val="1A1A1A"/>
                          </a:solidFill>
                          <a:latin typeface="Versos"/>
                        </a:rPr>
                        <a:t>4,20%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1,00%</a:t>
                      </a:r>
                    </a:p>
                  </a:txBody>
                  <a:tcPr marL="43200" marR="43200" marT="0" marB="0">
                    <a:solidFill>
                      <a:srgbClr val="FFFFFF"/>
                    </a:solidFill>
                  </a:tcPr>
                </a:tc>
                <a:tc>
                  <a:txBody>
                    <a:bodyPr/>
                    <a:lstStyle/>
                    <a:p>
                      <a:pPr algn="r"/>
                      <a:r>
                        <a:rPr sz="850" b="0">
                          <a:solidFill>
                            <a:srgbClr val="1A1A1A"/>
                          </a:solidFill>
                          <a:latin typeface="Versos"/>
                        </a:rPr>
                        <a:t>0,00%</a:t>
                      </a:r>
                    </a:p>
                  </a:txBody>
                  <a:tcPr marL="43200" marR="43200" marT="0" marB="0">
                    <a:solidFill>
                      <a:srgbClr val="FFFFFF"/>
                    </a:solidFill>
                  </a:tcPr>
                </a:tc>
                <a:tc>
                  <a:txBody>
                    <a:bodyPr/>
                    <a:lstStyle/>
                    <a:p>
                      <a:pPr algn="r"/>
                      <a:r>
                        <a:rPr sz="850" b="0">
                          <a:solidFill>
                            <a:srgbClr val="1A1A1A"/>
                          </a:solidFill>
                          <a:latin typeface="Versos"/>
                        </a:rPr>
                        <a:t>2,22</a:t>
                      </a:r>
                    </a:p>
                  </a:txBody>
                  <a:tcPr marL="43200" marR="43200" marT="0" marB="0">
                    <a:solidFill>
                      <a:srgbClr val="FFFFFF"/>
                    </a:solidFill>
                  </a:tcPr>
                </a:tc>
              </a:tr>
              <a:tr h="165600">
                <a:tc>
                  <a:txBody>
                    <a:bodyPr/>
                    <a:lstStyle/>
                    <a:p>
                      <a:pPr algn="l"/>
                      <a:r>
                        <a:rPr sz="850" b="1">
                          <a:solidFill>
                            <a:srgbClr val="1A1A1A"/>
                          </a:solidFill>
                          <a:latin typeface="Versos"/>
                        </a:rPr>
                        <a:t>Bioenergia</a:t>
                      </a:r>
                    </a:p>
                  </a:txBody>
                  <a:tcPr marL="43200" marR="43200" marT="0" marB="0">
                    <a:solidFill>
                      <a:srgbClr val="F4F7F9"/>
                    </a:solidFill>
                  </a:tcPr>
                </a:tc>
                <a:tc>
                  <a:txBody>
                    <a:bodyPr/>
                    <a:lstStyle/>
                    <a:p>
                      <a:pPr algn="r"/>
                      <a:r>
                        <a:rPr sz="850" b="0">
                          <a:solidFill>
                            <a:srgbClr val="1A1A1A"/>
                          </a:solidFill>
                          <a:latin typeface="Versos"/>
                        </a:rPr>
                        <a:t>9.534</a:t>
                      </a:r>
                    </a:p>
                  </a:txBody>
                  <a:tcPr marL="43200" marR="43200" marT="0" marB="0">
                    <a:solidFill>
                      <a:srgbClr val="F4F7F9"/>
                    </a:solidFill>
                  </a:tcPr>
                </a:tc>
                <a:tc>
                  <a:txBody>
                    <a:bodyPr/>
                    <a:lstStyle/>
                    <a:p>
                      <a:pPr algn="r"/>
                      <a:r>
                        <a:rPr sz="850" b="0">
                          <a:solidFill>
                            <a:srgbClr val="1A1A1A"/>
                          </a:solidFill>
                          <a:latin typeface="Versos"/>
                        </a:rPr>
                        <a:t>2,15%</a:t>
                      </a:r>
                    </a:p>
                  </a:txBody>
                  <a:tcPr marL="43200" marR="43200" marT="0" marB="0">
                    <a:solidFill>
                      <a:srgbClr val="F4F7F9"/>
                    </a:solidFill>
                  </a:tcPr>
                </a:tc>
                <a:tc>
                  <a:txBody>
                    <a:bodyPr/>
                    <a:lstStyle/>
                    <a:p>
                      <a:pPr algn="r"/>
                      <a:r>
                        <a:rPr sz="850" b="0">
                          <a:solidFill>
                            <a:srgbClr val="1A1A1A"/>
                          </a:solidFill>
                          <a:latin typeface="Versos"/>
                        </a:rPr>
                        <a:t>1,69%</a:t>
                      </a:r>
                    </a:p>
                  </a:txBody>
                  <a:tcPr marL="43200" marR="43200" marT="0" marB="0">
                    <a:solidFill>
                      <a:srgbClr val="F4F7F9"/>
                    </a:solidFill>
                  </a:tcPr>
                </a:tc>
                <a:tc>
                  <a:txBody>
                    <a:bodyPr/>
                    <a:lstStyle/>
                    <a:p>
                      <a:pPr algn="r"/>
                      <a:r>
                        <a:rPr sz="850" b="0">
                          <a:solidFill>
                            <a:srgbClr val="1A1A1A"/>
                          </a:solidFill>
                          <a:latin typeface="Versos"/>
                        </a:rPr>
                        <a:t>1,66%</a:t>
                      </a:r>
                    </a:p>
                  </a:txBody>
                  <a:tcPr marL="43200" marR="43200" marT="0" marB="0">
                    <a:solidFill>
                      <a:srgbClr val="F4F7F9"/>
                    </a:solidFill>
                  </a:tcPr>
                </a:tc>
                <a:tc>
                  <a:txBody>
                    <a:bodyPr/>
                    <a:lstStyle/>
                    <a:p>
                      <a:pPr algn="r"/>
                      <a:r>
                        <a:rPr sz="850" b="0">
                          <a:solidFill>
                            <a:srgbClr val="1A1A1A"/>
                          </a:solidFill>
                          <a:latin typeface="Versos"/>
                        </a:rPr>
                        <a:t>0,03%</a:t>
                      </a:r>
                    </a:p>
                  </a:txBody>
                  <a:tcPr marL="43200" marR="43200" marT="0" marB="0">
                    <a:solidFill>
                      <a:srgbClr val="F4F7F9"/>
                    </a:solidFill>
                  </a:tcPr>
                </a:tc>
                <a:tc>
                  <a:txBody>
                    <a:bodyPr/>
                    <a:lstStyle/>
                    <a:p>
                      <a:pPr algn="r"/>
                      <a:r>
                        <a:rPr sz="850" b="0">
                          <a:solidFill>
                            <a:srgbClr val="1A1A1A"/>
                          </a:solidFill>
                          <a:latin typeface="Versos"/>
                        </a:rPr>
                        <a:t>2,98</a:t>
                      </a:r>
                    </a:p>
                  </a:txBody>
                  <a:tcPr marL="43200" marR="43200" marT="0" marB="0">
                    <a:solidFill>
                      <a:srgbClr val="F4F7F9"/>
                    </a:solidFill>
                  </a:tcPr>
                </a:tc>
              </a:tr>
              <a:tr h="165600">
                <a:tc>
                  <a:txBody>
                    <a:bodyPr/>
                    <a:lstStyle/>
                    <a:p>
                      <a:pPr algn="l"/>
                      <a:r>
                        <a:rPr sz="850" b="1">
                          <a:solidFill>
                            <a:srgbClr val="1A1A1A"/>
                          </a:solidFill>
                          <a:latin typeface="Versos"/>
                        </a:rPr>
                        <a:t>Metalurgia e siderurgia</a:t>
                      </a:r>
                    </a:p>
                  </a:txBody>
                  <a:tcPr marL="43200" marR="43200" marT="0" marB="0">
                    <a:solidFill>
                      <a:srgbClr val="FFFFFF"/>
                    </a:solidFill>
                  </a:tcPr>
                </a:tc>
                <a:tc>
                  <a:txBody>
                    <a:bodyPr/>
                    <a:lstStyle/>
                    <a:p>
                      <a:pPr algn="r"/>
                      <a:r>
                        <a:rPr sz="850" b="0">
                          <a:solidFill>
                            <a:srgbClr val="1A1A1A"/>
                          </a:solidFill>
                          <a:latin typeface="Versos"/>
                        </a:rPr>
                        <a:t>9.897</a:t>
                      </a:r>
                    </a:p>
                  </a:txBody>
                  <a:tcPr marL="43200" marR="43200" marT="0" marB="0">
                    <a:solidFill>
                      <a:srgbClr val="FFFFFF"/>
                    </a:solidFill>
                  </a:tcPr>
                </a:tc>
                <a:tc>
                  <a:txBody>
                    <a:bodyPr/>
                    <a:lstStyle/>
                    <a:p>
                      <a:pPr algn="r"/>
                      <a:r>
                        <a:rPr sz="850" b="0">
                          <a:solidFill>
                            <a:srgbClr val="1A1A1A"/>
                          </a:solidFill>
                          <a:latin typeface="Versos"/>
                        </a:rPr>
                        <a:t>2,23%</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1,26%</a:t>
                      </a:r>
                    </a:p>
                  </a:txBody>
                  <a:tcPr marL="43200" marR="43200" marT="0" marB="0">
                    <a:solidFill>
                      <a:srgbClr val="FFFFFF"/>
                    </a:solidFill>
                  </a:tcPr>
                </a:tc>
                <a:tc>
                  <a:txBody>
                    <a:bodyPr/>
                    <a:lstStyle/>
                    <a:p>
                      <a:pPr algn="r"/>
                      <a:r>
                        <a:rPr sz="850" b="0">
                          <a:solidFill>
                            <a:srgbClr val="1A1A1A"/>
                          </a:solidFill>
                          <a:latin typeface="Versos"/>
                        </a:rPr>
                        <a:t>-0,04%</a:t>
                      </a:r>
                    </a:p>
                  </a:txBody>
                  <a:tcPr marL="43200" marR="43200" marT="0" marB="0">
                    <a:solidFill>
                      <a:srgbClr val="FFFFFF"/>
                    </a:solidFill>
                  </a:tcPr>
                </a:tc>
                <a:tc>
                  <a:txBody>
                    <a:bodyPr/>
                    <a:lstStyle/>
                    <a:p>
                      <a:pPr algn="r"/>
                      <a:r>
                        <a:rPr sz="850" b="0">
                          <a:solidFill>
                            <a:srgbClr val="1A1A1A"/>
                          </a:solidFill>
                          <a:latin typeface="Versos"/>
                        </a:rPr>
                        <a:t>2,74</a:t>
                      </a:r>
                    </a:p>
                  </a:txBody>
                  <a:tcPr marL="43200" marR="43200" marT="0" marB="0">
                    <a:solidFill>
                      <a:srgbClr val="FFFFFF"/>
                    </a:solidFill>
                  </a:tcPr>
                </a:tc>
              </a:tr>
              <a:tr h="165600">
                <a:tc>
                  <a:txBody>
                    <a:bodyPr/>
                    <a:lstStyle/>
                    <a:p>
                      <a:pPr algn="l"/>
                      <a:r>
                        <a:rPr sz="850" b="1">
                          <a:solidFill>
                            <a:srgbClr val="1A1A1A"/>
                          </a:solidFill>
                          <a:latin typeface="Versos"/>
                        </a:rPr>
                        <a:t>Educação</a:t>
                      </a:r>
                    </a:p>
                  </a:txBody>
                  <a:tcPr marL="43200" marR="43200" marT="0" marB="0">
                    <a:solidFill>
                      <a:srgbClr val="F4F7F9"/>
                    </a:solidFill>
                  </a:tcPr>
                </a:tc>
                <a:tc>
                  <a:txBody>
                    <a:bodyPr/>
                    <a:lstStyle/>
                    <a:p>
                      <a:pPr algn="r"/>
                      <a:r>
                        <a:rPr sz="850" b="0">
                          <a:solidFill>
                            <a:srgbClr val="1A1A1A"/>
                          </a:solidFill>
                          <a:latin typeface="Versos"/>
                        </a:rPr>
                        <a:t>7.210</a:t>
                      </a:r>
                    </a:p>
                  </a:txBody>
                  <a:tcPr marL="43200" marR="43200" marT="0" marB="0">
                    <a:solidFill>
                      <a:srgbClr val="F4F7F9"/>
                    </a:solidFill>
                  </a:tcPr>
                </a:tc>
                <a:tc>
                  <a:txBody>
                    <a:bodyPr/>
                    <a:lstStyle/>
                    <a:p>
                      <a:pPr algn="r"/>
                      <a:r>
                        <a:rPr sz="850" b="0">
                          <a:solidFill>
                            <a:srgbClr val="1A1A1A"/>
                          </a:solidFill>
                          <a:latin typeface="Versos"/>
                        </a:rPr>
                        <a:t>1,63%</a:t>
                      </a:r>
                    </a:p>
                  </a:txBody>
                  <a:tcPr marL="43200" marR="43200" marT="0" marB="0">
                    <a:solidFill>
                      <a:srgbClr val="F4F7F9"/>
                    </a:solidFill>
                  </a:tcPr>
                </a:tc>
                <a:tc>
                  <a:txBody>
                    <a:bodyPr/>
                    <a:lstStyle/>
                    <a:p>
                      <a:pPr algn="r"/>
                      <a:r>
                        <a:rPr sz="850" b="0">
                          <a:solidFill>
                            <a:srgbClr val="1A1A1A"/>
                          </a:solidFill>
                          <a:latin typeface="Versos"/>
                        </a:rPr>
                        <a:t>1,13%</a:t>
                      </a:r>
                    </a:p>
                  </a:txBody>
                  <a:tcPr marL="43200" marR="43200" marT="0" marB="0">
                    <a:solidFill>
                      <a:srgbClr val="F4F7F9"/>
                    </a:solidFill>
                  </a:tcPr>
                </a:tc>
                <a:tc>
                  <a:txBody>
                    <a:bodyPr/>
                    <a:lstStyle/>
                    <a:p>
                      <a:pPr algn="r"/>
                      <a:r>
                        <a:rPr sz="850" b="0">
                          <a:solidFill>
                            <a:srgbClr val="1A1A1A"/>
                          </a:solidFill>
                          <a:latin typeface="Versos"/>
                        </a:rPr>
                        <a:t>1,17%</a:t>
                      </a:r>
                    </a:p>
                  </a:txBody>
                  <a:tcPr marL="43200" marR="43200" marT="0" marB="0">
                    <a:solidFill>
                      <a:srgbClr val="F4F7F9"/>
                    </a:solidFill>
                  </a:tcPr>
                </a:tc>
                <a:tc>
                  <a:txBody>
                    <a:bodyPr/>
                    <a:lstStyle/>
                    <a:p>
                      <a:pPr algn="r"/>
                      <a:r>
                        <a:rPr sz="850" b="0">
                          <a:solidFill>
                            <a:srgbClr val="1A1A1A"/>
                          </a:solidFill>
                          <a:latin typeface="Versos"/>
                        </a:rPr>
                        <a:t>-0,04%</a:t>
                      </a:r>
                    </a:p>
                  </a:txBody>
                  <a:tcPr marL="43200" marR="43200" marT="0" marB="0">
                    <a:solidFill>
                      <a:srgbClr val="F4F7F9"/>
                    </a:solidFill>
                  </a:tcPr>
                </a:tc>
                <a:tc>
                  <a:txBody>
                    <a:bodyPr/>
                    <a:lstStyle/>
                    <a:p>
                      <a:pPr algn="r"/>
                      <a:r>
                        <a:rPr sz="850" b="0">
                          <a:solidFill>
                            <a:srgbClr val="1A1A1A"/>
                          </a:solidFill>
                          <a:latin typeface="Versos"/>
                        </a:rPr>
                        <a:t>2,02</a:t>
                      </a:r>
                    </a:p>
                  </a:txBody>
                  <a:tcPr marL="43200" marR="43200" marT="0" marB="0">
                    <a:solidFill>
                      <a:srgbClr val="F4F7F9"/>
                    </a:solidFill>
                  </a:tcPr>
                </a:tc>
              </a:tr>
              <a:tr h="165600">
                <a:tc>
                  <a:txBody>
                    <a:bodyPr/>
                    <a:lstStyle/>
                    <a:p>
                      <a:pPr algn="l"/>
                      <a:r>
                        <a:rPr sz="850" b="1">
                          <a:solidFill>
                            <a:srgbClr val="1A1A1A"/>
                          </a:solidFill>
                          <a:latin typeface="Versos"/>
                        </a:rPr>
                        <a:t>Serviços imobiliários</a:t>
                      </a:r>
                    </a:p>
                  </a:txBody>
                  <a:tcPr marL="43200" marR="43200" marT="0" marB="0">
                    <a:solidFill>
                      <a:srgbClr val="FFFFFF"/>
                    </a:solidFill>
                  </a:tcPr>
                </a:tc>
                <a:tc>
                  <a:txBody>
                    <a:bodyPr/>
                    <a:lstStyle/>
                    <a:p>
                      <a:pPr algn="r"/>
                      <a:r>
                        <a:rPr sz="850" b="0">
                          <a:solidFill>
                            <a:srgbClr val="1A1A1A"/>
                          </a:solidFill>
                          <a:latin typeface="Versos"/>
                        </a:rPr>
                        <a:t>5.994</a:t>
                      </a:r>
                    </a:p>
                  </a:txBody>
                  <a:tcPr marL="43200" marR="43200" marT="0" marB="0">
                    <a:solidFill>
                      <a:srgbClr val="FFFFFF"/>
                    </a:solidFill>
                  </a:tcPr>
                </a:tc>
                <a:tc>
                  <a:txBody>
                    <a:bodyPr/>
                    <a:lstStyle/>
                    <a:p>
                      <a:pPr algn="r"/>
                      <a:r>
                        <a:rPr sz="850" b="0">
                          <a:solidFill>
                            <a:srgbClr val="1A1A1A"/>
                          </a:solidFill>
                          <a:latin typeface="Versos"/>
                        </a:rPr>
                        <a:t>1,35%</a:t>
                      </a:r>
                    </a:p>
                  </a:txBody>
                  <a:tcPr marL="43200" marR="43200" marT="0" marB="0">
                    <a:solidFill>
                      <a:srgbClr val="FFFFFF"/>
                    </a:solidFill>
                  </a:tcPr>
                </a:tc>
                <a:tc>
                  <a:txBody>
                    <a:bodyPr/>
                    <a:lstStyle/>
                    <a:p>
                      <a:pPr algn="r"/>
                      <a:r>
                        <a:rPr sz="850" b="0">
                          <a:solidFill>
                            <a:srgbClr val="1A1A1A"/>
                          </a:solidFill>
                          <a:latin typeface="Versos"/>
                        </a:rPr>
                        <a:t>0,53%</a:t>
                      </a:r>
                    </a:p>
                  </a:txBody>
                  <a:tcPr marL="43200" marR="43200" marT="0" marB="0">
                    <a:solidFill>
                      <a:srgbClr val="FFFFFF"/>
                    </a:solidFill>
                  </a:tcPr>
                </a:tc>
                <a:tc>
                  <a:txBody>
                    <a:bodyPr/>
                    <a:lstStyle/>
                    <a:p>
                      <a:pPr algn="r"/>
                      <a:r>
                        <a:rPr sz="850" b="0">
                          <a:solidFill>
                            <a:srgbClr val="1A1A1A"/>
                          </a:solidFill>
                          <a:latin typeface="Versos"/>
                        </a:rPr>
                        <a:t>0,54%</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3,32</a:t>
                      </a:r>
                    </a:p>
                  </a:txBody>
                  <a:tcPr marL="43200" marR="43200" marT="0" marB="0">
                    <a:solidFill>
                      <a:srgbClr val="FFFFFF"/>
                    </a:solidFill>
                  </a:tcPr>
                </a:tc>
              </a:tr>
              <a:tr h="165600">
                <a:tc>
                  <a:txBody>
                    <a:bodyPr/>
                    <a:lstStyle/>
                    <a:p>
                      <a:pPr algn="l"/>
                      <a:r>
                        <a:rPr sz="850" b="1">
                          <a:solidFill>
                            <a:srgbClr val="1A1A1A"/>
                          </a:solidFill>
                          <a:latin typeface="Versos"/>
                        </a:rPr>
                        <a:t>Outros serviços</a:t>
                      </a:r>
                    </a:p>
                  </a:txBody>
                  <a:tcPr marL="43200" marR="43200" marT="0" marB="0">
                    <a:solidFill>
                      <a:srgbClr val="F4F7F9"/>
                    </a:solidFill>
                  </a:tcPr>
                </a:tc>
                <a:tc>
                  <a:txBody>
                    <a:bodyPr/>
                    <a:lstStyle/>
                    <a:p>
                      <a:pPr algn="r"/>
                      <a:r>
                        <a:rPr sz="850" b="0">
                          <a:solidFill>
                            <a:srgbClr val="1A1A1A"/>
                          </a:solidFill>
                          <a:latin typeface="Versos"/>
                        </a:rPr>
                        <a:t>6.611</a:t>
                      </a:r>
                    </a:p>
                  </a:txBody>
                  <a:tcPr marL="43200" marR="43200" marT="0" marB="0">
                    <a:solidFill>
                      <a:srgbClr val="F4F7F9"/>
                    </a:solidFill>
                  </a:tcPr>
                </a:tc>
                <a:tc>
                  <a:txBody>
                    <a:bodyPr/>
                    <a:lstStyle/>
                    <a:p>
                      <a:pPr algn="r"/>
                      <a:r>
                        <a:rPr sz="850" b="0">
                          <a:solidFill>
                            <a:srgbClr val="1A1A1A"/>
                          </a:solidFill>
                          <a:latin typeface="Versos"/>
                        </a:rPr>
                        <a:t>1,49%</a:t>
                      </a:r>
                    </a:p>
                  </a:txBody>
                  <a:tcPr marL="43200" marR="43200" marT="0" marB="0">
                    <a:solidFill>
                      <a:srgbClr val="F4F7F9"/>
                    </a:solidFill>
                  </a:tcPr>
                </a:tc>
                <a:tc>
                  <a:txBody>
                    <a:bodyPr/>
                    <a:lstStyle/>
                    <a:p>
                      <a:pPr algn="r"/>
                      <a:r>
                        <a:rPr sz="850" b="0">
                          <a:solidFill>
                            <a:srgbClr val="1A1A1A"/>
                          </a:solidFill>
                          <a:latin typeface="Versos"/>
                        </a:rPr>
                        <a:t>1,25%</a:t>
                      </a:r>
                    </a:p>
                  </a:txBody>
                  <a:tcPr marL="43200" marR="43200" marT="0" marB="0">
                    <a:solidFill>
                      <a:srgbClr val="F4F7F9"/>
                    </a:solidFill>
                  </a:tcPr>
                </a:tc>
                <a:tc>
                  <a:txBody>
                    <a:bodyPr/>
                    <a:lstStyle/>
                    <a:p>
                      <a:pPr algn="r"/>
                      <a:r>
                        <a:rPr sz="850" b="0">
                          <a:solidFill>
                            <a:srgbClr val="1A1A1A"/>
                          </a:solidFill>
                          <a:latin typeface="Versos"/>
                        </a:rPr>
                        <a:t>1,09%</a:t>
                      </a:r>
                    </a:p>
                  </a:txBody>
                  <a:tcPr marL="43200" marR="43200" marT="0" marB="0">
                    <a:solidFill>
                      <a:srgbClr val="F4F7F9"/>
                    </a:solidFill>
                  </a:tcPr>
                </a:tc>
                <a:tc>
                  <a:txBody>
                    <a:bodyPr/>
                    <a:lstStyle/>
                    <a:p>
                      <a:pPr algn="r"/>
                      <a:r>
                        <a:rPr sz="850" b="0">
                          <a:solidFill>
                            <a:srgbClr val="1A1A1A"/>
                          </a:solidFill>
                          <a:latin typeface="Versos"/>
                        </a:rPr>
                        <a:t>0,16%</a:t>
                      </a:r>
                    </a:p>
                  </a:txBody>
                  <a:tcPr marL="43200" marR="43200" marT="0" marB="0">
                    <a:solidFill>
                      <a:srgbClr val="F4F7F9"/>
                    </a:solidFill>
                  </a:tcPr>
                </a:tc>
                <a:tc>
                  <a:txBody>
                    <a:bodyPr/>
                    <a:lstStyle/>
                    <a:p>
                      <a:pPr algn="r"/>
                      <a:r>
                        <a:rPr sz="850" b="0">
                          <a:solidFill>
                            <a:srgbClr val="1A1A1A"/>
                          </a:solidFill>
                          <a:latin typeface="Versos"/>
                        </a:rPr>
                        <a:t>2,70</a:t>
                      </a:r>
                    </a:p>
                  </a:txBody>
                  <a:tcPr marL="43200" marR="43200" marT="0" marB="0">
                    <a:solidFill>
                      <a:srgbClr val="F4F7F9"/>
                    </a:solidFill>
                  </a:tcPr>
                </a:tc>
              </a:tr>
              <a:tr h="165600">
                <a:tc>
                  <a:txBody>
                    <a:bodyPr/>
                    <a:lstStyle/>
                    <a:p>
                      <a:pPr algn="l"/>
                      <a:r>
                        <a:rPr sz="850" b="1">
                          <a:solidFill>
                            <a:srgbClr val="1A1A1A"/>
                          </a:solidFill>
                          <a:latin typeface="Versos"/>
                        </a:rPr>
                        <a:t>Empreendimentos e participações</a:t>
                      </a:r>
                    </a:p>
                  </a:txBody>
                  <a:tcPr marL="43200" marR="43200" marT="0" marB="0">
                    <a:solidFill>
                      <a:srgbClr val="FFFFFF"/>
                    </a:solidFill>
                  </a:tcPr>
                </a:tc>
                <a:tc>
                  <a:txBody>
                    <a:bodyPr/>
                    <a:lstStyle/>
                    <a:p>
                      <a:pPr algn="r"/>
                      <a:r>
                        <a:rPr sz="850" b="0">
                          <a:solidFill>
                            <a:srgbClr val="1A1A1A"/>
                          </a:solidFill>
                          <a:latin typeface="Versos"/>
                        </a:rPr>
                        <a:t>9.181</a:t>
                      </a:r>
                    </a:p>
                  </a:txBody>
                  <a:tcPr marL="43200" marR="43200" marT="0" marB="0">
                    <a:solidFill>
                      <a:srgbClr val="FFFFFF"/>
                    </a:solidFill>
                  </a:tcPr>
                </a:tc>
                <a:tc>
                  <a:txBody>
                    <a:bodyPr/>
                    <a:lstStyle/>
                    <a:p>
                      <a:pPr algn="r"/>
                      <a:r>
                        <a:rPr sz="850" b="0">
                          <a:solidFill>
                            <a:srgbClr val="1A1A1A"/>
                          </a:solidFill>
                          <a:latin typeface="Versos"/>
                        </a:rPr>
                        <a:t>2,07%</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1,43%</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3,19</a:t>
                      </a:r>
                    </a:p>
                  </a:txBody>
                  <a:tcPr marL="43200" marR="43200" marT="0" marB="0">
                    <a:solidFill>
                      <a:srgbClr val="FFFFFF"/>
                    </a:solidFill>
                  </a:tcPr>
                </a:tc>
              </a:tr>
              <a:tr h="165600">
                <a:tc>
                  <a:txBody>
                    <a:bodyPr/>
                    <a:lstStyle/>
                    <a:p>
                      <a:pPr algn="l"/>
                      <a:r>
                        <a:rPr sz="850" b="1">
                          <a:solidFill>
                            <a:srgbClr val="1A1A1A"/>
                          </a:solidFill>
                          <a:latin typeface="Versos"/>
                        </a:rPr>
                        <a:t>Papel e Celulose</a:t>
                      </a:r>
                    </a:p>
                  </a:txBody>
                  <a:tcPr marL="43200" marR="43200" marT="0" marB="0">
                    <a:solidFill>
                      <a:srgbClr val="F4F7F9"/>
                    </a:solidFill>
                  </a:tcPr>
                </a:tc>
                <a:tc>
                  <a:txBody>
                    <a:bodyPr/>
                    <a:lstStyle/>
                    <a:p>
                      <a:pPr algn="r"/>
                      <a:r>
                        <a:rPr sz="850" b="0">
                          <a:solidFill>
                            <a:srgbClr val="1A1A1A"/>
                          </a:solidFill>
                          <a:latin typeface="Versos"/>
                        </a:rPr>
                        <a:t>5.316</a:t>
                      </a:r>
                    </a:p>
                  </a:txBody>
                  <a:tcPr marL="43200" marR="43200" marT="0" marB="0">
                    <a:solidFill>
                      <a:srgbClr val="F4F7F9"/>
                    </a:solidFill>
                  </a:tcPr>
                </a:tc>
                <a:tc>
                  <a:txBody>
                    <a:bodyPr/>
                    <a:lstStyle/>
                    <a:p>
                      <a:pPr algn="r"/>
                      <a:r>
                        <a:rPr sz="850" b="0">
                          <a:solidFill>
                            <a:srgbClr val="1A1A1A"/>
                          </a:solidFill>
                          <a:latin typeface="Versos"/>
                        </a:rPr>
                        <a:t>1,20%</a:t>
                      </a:r>
                    </a:p>
                  </a:txBody>
                  <a:tcPr marL="43200" marR="43200" marT="0" marB="0">
                    <a:solidFill>
                      <a:srgbClr val="F4F7F9"/>
                    </a:solidFill>
                  </a:tcPr>
                </a:tc>
                <a:tc>
                  <a:txBody>
                    <a:bodyPr/>
                    <a:lstStyle/>
                    <a:p>
                      <a:pPr algn="r"/>
                      <a:r>
                        <a:rPr sz="850" b="0">
                          <a:solidFill>
                            <a:srgbClr val="1A1A1A"/>
                          </a:solidFill>
                          <a:latin typeface="Versos"/>
                        </a:rPr>
                        <a:t>0,52%</a:t>
                      </a:r>
                    </a:p>
                  </a:txBody>
                  <a:tcPr marL="43200" marR="43200" marT="0" marB="0">
                    <a:solidFill>
                      <a:srgbClr val="F4F7F9"/>
                    </a:solidFill>
                  </a:tcPr>
                </a:tc>
                <a:tc>
                  <a:txBody>
                    <a:bodyPr/>
                    <a:lstStyle/>
                    <a:p>
                      <a:pPr algn="r"/>
                      <a:r>
                        <a:rPr sz="850" b="0">
                          <a:solidFill>
                            <a:srgbClr val="1A1A1A"/>
                          </a:solidFill>
                          <a:latin typeface="Versos"/>
                        </a:rPr>
                        <a:t>0,49%</a:t>
                      </a:r>
                    </a:p>
                  </a:txBody>
                  <a:tcPr marL="43200" marR="43200" marT="0" marB="0">
                    <a:solidFill>
                      <a:srgbClr val="F4F7F9"/>
                    </a:solidFill>
                  </a:tcPr>
                </a:tc>
                <a:tc>
                  <a:txBody>
                    <a:bodyPr/>
                    <a:lstStyle/>
                    <a:p>
                      <a:pPr algn="r"/>
                      <a:r>
                        <a:rPr sz="850" b="0">
                          <a:solidFill>
                            <a:srgbClr val="1A1A1A"/>
                          </a:solidFill>
                          <a:latin typeface="Versos"/>
                        </a:rPr>
                        <a:t>0,02%</a:t>
                      </a:r>
                    </a:p>
                  </a:txBody>
                  <a:tcPr marL="43200" marR="43200" marT="0" marB="0">
                    <a:solidFill>
                      <a:srgbClr val="F4F7F9"/>
                    </a:solidFill>
                  </a:tcPr>
                </a:tc>
                <a:tc>
                  <a:txBody>
                    <a:bodyPr/>
                    <a:lstStyle/>
                    <a:p>
                      <a:pPr algn="r"/>
                      <a:r>
                        <a:rPr sz="850" b="0">
                          <a:solidFill>
                            <a:srgbClr val="1A1A1A"/>
                          </a:solidFill>
                          <a:latin typeface="Versos"/>
                        </a:rPr>
                        <a:t>4,39</a:t>
                      </a:r>
                    </a:p>
                  </a:txBody>
                  <a:tcPr marL="43200" marR="43200" marT="0" marB="0">
                    <a:solidFill>
                      <a:srgbClr val="F4F7F9"/>
                    </a:solidFill>
                  </a:tcPr>
                </a:tc>
              </a:tr>
              <a:tr h="165600">
                <a:tc>
                  <a:txBody>
                    <a:bodyPr/>
                    <a:lstStyle/>
                    <a:p>
                      <a:pPr algn="l"/>
                      <a:r>
                        <a:rPr sz="850" b="1">
                          <a:solidFill>
                            <a:srgbClr val="1A1A1A"/>
                          </a:solidFill>
                          <a:latin typeface="Versos"/>
                        </a:rPr>
                        <a:t>Materiais de construção e agregados</a:t>
                      </a:r>
                    </a:p>
                  </a:txBody>
                  <a:tcPr marL="43200" marR="43200" marT="0" marB="0">
                    <a:solidFill>
                      <a:srgbClr val="FFFFFF"/>
                    </a:solidFill>
                  </a:tcPr>
                </a:tc>
                <a:tc>
                  <a:txBody>
                    <a:bodyPr/>
                    <a:lstStyle/>
                    <a:p>
                      <a:pPr algn="r"/>
                      <a:r>
                        <a:rPr sz="850" b="0">
                          <a:solidFill>
                            <a:srgbClr val="1A1A1A"/>
                          </a:solidFill>
                          <a:latin typeface="Versos"/>
                        </a:rPr>
                        <a:t>3.551</a:t>
                      </a:r>
                    </a:p>
                  </a:txBody>
                  <a:tcPr marL="43200" marR="43200" marT="0" marB="0">
                    <a:solidFill>
                      <a:srgbClr val="FFFFFF"/>
                    </a:solidFill>
                  </a:tcPr>
                </a:tc>
                <a:tc>
                  <a:txBody>
                    <a:bodyPr/>
                    <a:lstStyle/>
                    <a:p>
                      <a:pPr algn="r"/>
                      <a:r>
                        <a:rPr sz="850" b="0">
                          <a:solidFill>
                            <a:srgbClr val="1A1A1A"/>
                          </a:solidFill>
                          <a:latin typeface="Versos"/>
                        </a:rPr>
                        <a:t>0,80%</a:t>
                      </a:r>
                    </a:p>
                  </a:txBody>
                  <a:tcPr marL="43200" marR="43200" marT="0" marB="0">
                    <a:solidFill>
                      <a:srgbClr val="FFFFFF"/>
                    </a:solidFill>
                  </a:tcPr>
                </a:tc>
                <a:tc>
                  <a:txBody>
                    <a:bodyPr/>
                    <a:lstStyle/>
                    <a:p>
                      <a:pPr algn="r"/>
                      <a:r>
                        <a:rPr sz="850" b="0">
                          <a:solidFill>
                            <a:srgbClr val="1A1A1A"/>
                          </a:solidFill>
                          <a:latin typeface="Versos"/>
                        </a:rPr>
                        <a:t>0,88%</a:t>
                      </a:r>
                    </a:p>
                  </a:txBody>
                  <a:tcPr marL="43200" marR="43200" marT="0" marB="0">
                    <a:solidFill>
                      <a:srgbClr val="FFFFFF"/>
                    </a:solidFill>
                  </a:tcPr>
                </a:tc>
                <a:tc>
                  <a:txBody>
                    <a:bodyPr/>
                    <a:lstStyle/>
                    <a:p>
                      <a:pPr algn="r"/>
                      <a:r>
                        <a:rPr sz="850" b="0">
                          <a:solidFill>
                            <a:srgbClr val="1A1A1A"/>
                          </a:solidFill>
                          <a:latin typeface="Versos"/>
                        </a:rPr>
                        <a:t>0,93%</a:t>
                      </a:r>
                    </a:p>
                  </a:txBody>
                  <a:tcPr marL="43200" marR="43200" marT="0" marB="0">
                    <a:solidFill>
                      <a:srgbClr val="FFFFFF"/>
                    </a:solidFill>
                  </a:tcPr>
                </a:tc>
                <a:tc>
                  <a:txBody>
                    <a:bodyPr/>
                    <a:lstStyle/>
                    <a:p>
                      <a:pPr algn="r"/>
                      <a:r>
                        <a:rPr sz="850" b="0">
                          <a:solidFill>
                            <a:srgbClr val="1A1A1A"/>
                          </a:solidFill>
                          <a:latin typeface="Versos"/>
                        </a:rPr>
                        <a:t>-0,06%</a:t>
                      </a:r>
                    </a:p>
                  </a:txBody>
                  <a:tcPr marL="43200" marR="43200" marT="0" marB="0">
                    <a:solidFill>
                      <a:srgbClr val="FFFFFF"/>
                    </a:solidFill>
                  </a:tcPr>
                </a:tc>
                <a:tc>
                  <a:txBody>
                    <a:bodyPr/>
                    <a:lstStyle/>
                    <a:p>
                      <a:pPr algn="r"/>
                      <a:r>
                        <a:rPr sz="850" b="0">
                          <a:solidFill>
                            <a:srgbClr val="1A1A1A"/>
                          </a:solidFill>
                          <a:latin typeface="Versos"/>
                        </a:rPr>
                        <a:t>3,46</a:t>
                      </a:r>
                    </a:p>
                  </a:txBody>
                  <a:tcPr marL="43200" marR="43200" marT="0" marB="0">
                    <a:solidFill>
                      <a:srgbClr val="FFFFFF"/>
                    </a:solidFill>
                  </a:tcPr>
                </a:tc>
              </a:tr>
              <a:tr h="165600">
                <a:tc>
                  <a:txBody>
                    <a:bodyPr/>
                    <a:lstStyle/>
                    <a:p>
                      <a:pPr algn="l"/>
                      <a:r>
                        <a:rPr sz="850" b="1">
                          <a:solidFill>
                            <a:srgbClr val="1A1A1A"/>
                          </a:solidFill>
                          <a:latin typeface="Versos"/>
                        </a:rPr>
                        <a:t>Química e petroquímica</a:t>
                      </a:r>
                    </a:p>
                  </a:txBody>
                  <a:tcPr marL="43200" marR="43200" marT="0" marB="0">
                    <a:solidFill>
                      <a:srgbClr val="F4F7F9"/>
                    </a:solidFill>
                  </a:tcPr>
                </a:tc>
                <a:tc>
                  <a:txBody>
                    <a:bodyPr/>
                    <a:lstStyle/>
                    <a:p>
                      <a:pPr algn="r"/>
                      <a:r>
                        <a:rPr sz="850" b="0">
                          <a:solidFill>
                            <a:srgbClr val="1A1A1A"/>
                          </a:solidFill>
                          <a:latin typeface="Versos"/>
                        </a:rPr>
                        <a:t>2.512</a:t>
                      </a:r>
                    </a:p>
                  </a:txBody>
                  <a:tcPr marL="43200" marR="43200" marT="0" marB="0">
                    <a:solidFill>
                      <a:srgbClr val="F4F7F9"/>
                    </a:solidFill>
                  </a:tcPr>
                </a:tc>
                <a:tc>
                  <a:txBody>
                    <a:bodyPr/>
                    <a:lstStyle/>
                    <a:p>
                      <a:pPr algn="r"/>
                      <a:r>
                        <a:rPr sz="850" b="0">
                          <a:solidFill>
                            <a:srgbClr val="1A1A1A"/>
                          </a:solidFill>
                          <a:latin typeface="Versos"/>
                        </a:rPr>
                        <a:t>0,57%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1,47%</a:t>
                      </a:r>
                    </a:p>
                  </a:txBody>
                  <a:tcPr marL="43200" marR="43200" marT="0" marB="0">
                    <a:solidFill>
                      <a:srgbClr val="F4F7F9"/>
                    </a:solidFill>
                  </a:tcPr>
                </a:tc>
                <a:tc>
                  <a:txBody>
                    <a:bodyPr/>
                    <a:lstStyle/>
                    <a:p>
                      <a:pPr algn="r"/>
                      <a:r>
                        <a:rPr sz="850" b="0">
                          <a:solidFill>
                            <a:srgbClr val="1A1A1A"/>
                          </a:solidFill>
                          <a:latin typeface="Versos"/>
                        </a:rPr>
                        <a:t>0,00%</a:t>
                      </a:r>
                    </a:p>
                  </a:txBody>
                  <a:tcPr marL="43200" marR="43200" marT="0" marB="0">
                    <a:solidFill>
                      <a:srgbClr val="F4F7F9"/>
                    </a:solidFill>
                  </a:tcPr>
                </a:tc>
                <a:tc>
                  <a:txBody>
                    <a:bodyPr/>
                    <a:lstStyle/>
                    <a:p>
                      <a:pPr algn="r"/>
                      <a:r>
                        <a:rPr sz="850" b="0">
                          <a:solidFill>
                            <a:srgbClr val="1A1A1A"/>
                          </a:solidFill>
                          <a:latin typeface="Versos"/>
                        </a:rPr>
                        <a:t>3,48</a:t>
                      </a:r>
                    </a:p>
                  </a:txBody>
                  <a:tcPr marL="43200" marR="43200" marT="0" marB="0">
                    <a:solidFill>
                      <a:srgbClr val="F4F7F9"/>
                    </a:solidFill>
                  </a:tcPr>
                </a:tc>
              </a:tr>
              <a:tr h="165600">
                <a:tc>
                  <a:txBody>
                    <a:bodyPr/>
                    <a:lstStyle/>
                    <a:p>
                      <a:pPr algn="l"/>
                      <a:r>
                        <a:rPr sz="850" b="1">
                          <a:solidFill>
                            <a:srgbClr val="1A1A1A"/>
                          </a:solidFill>
                          <a:latin typeface="Versos"/>
                        </a:rPr>
                        <a:t>Alimentos e bebidas</a:t>
                      </a:r>
                    </a:p>
                  </a:txBody>
                  <a:tcPr marL="43200" marR="43200" marT="0" marB="0">
                    <a:solidFill>
                      <a:srgbClr val="FFFFFF"/>
                    </a:solidFill>
                  </a:tcPr>
                </a:tc>
                <a:tc>
                  <a:txBody>
                    <a:bodyPr/>
                    <a:lstStyle/>
                    <a:p>
                      <a:pPr algn="r"/>
                      <a:r>
                        <a:rPr sz="850" b="0">
                          <a:solidFill>
                            <a:srgbClr val="1A1A1A"/>
                          </a:solidFill>
                          <a:latin typeface="Versos"/>
                        </a:rPr>
                        <a:t>1.739</a:t>
                      </a:r>
                    </a:p>
                  </a:txBody>
                  <a:tcPr marL="43200" marR="43200" marT="0" marB="0">
                    <a:solidFill>
                      <a:srgbClr val="FFFFFF"/>
                    </a:solidFill>
                  </a:tcPr>
                </a:tc>
                <a:tc>
                  <a:txBody>
                    <a:bodyPr/>
                    <a:lstStyle/>
                    <a:p>
                      <a:pPr algn="r"/>
                      <a:r>
                        <a:rPr sz="850" b="0">
                          <a:solidFill>
                            <a:srgbClr val="1A1A1A"/>
                          </a:solidFill>
                          <a:latin typeface="Versos"/>
                        </a:rPr>
                        <a:t>0,39%</a:t>
                      </a:r>
                    </a:p>
                  </a:txBody>
                  <a:tcPr marL="43200" marR="43200" marT="0" marB="0">
                    <a:solidFill>
                      <a:srgbClr val="FFFFFF"/>
                    </a:solidFill>
                  </a:tcPr>
                </a:tc>
                <a:tc>
                  <a:txBody>
                    <a:bodyPr/>
                    <a:lstStyle/>
                    <a:p>
                      <a:pPr algn="r"/>
                      <a:r>
                        <a:rPr sz="850" b="0">
                          <a:solidFill>
                            <a:srgbClr val="1A1A1A"/>
                          </a:solidFill>
                          <a:latin typeface="Versos"/>
                        </a:rPr>
                        <a:t>1,51%</a:t>
                      </a:r>
                    </a:p>
                  </a:txBody>
                  <a:tcPr marL="43200" marR="43200" marT="0" marB="0">
                    <a:solidFill>
                      <a:srgbClr val="FFFFFF"/>
                    </a:solidFill>
                  </a:tcPr>
                </a:tc>
                <a:tc>
                  <a:txBody>
                    <a:bodyPr/>
                    <a:lstStyle/>
                    <a:p>
                      <a:pPr algn="r"/>
                      <a:r>
                        <a:rPr sz="850" b="0">
                          <a:solidFill>
                            <a:srgbClr val="1A1A1A"/>
                          </a:solidFill>
                          <a:latin typeface="Versos"/>
                        </a:rPr>
                        <a:t>1,46%</a:t>
                      </a:r>
                    </a:p>
                  </a:txBody>
                  <a:tcPr marL="43200" marR="43200" marT="0" marB="0">
                    <a:solidFill>
                      <a:srgbClr val="FFFFFF"/>
                    </a:solidFill>
                  </a:tcPr>
                </a:tc>
                <a:tc>
                  <a:txBody>
                    <a:bodyPr/>
                    <a:lstStyle/>
                    <a:p>
                      <a:pPr algn="r"/>
                      <a:r>
                        <a:rPr sz="850" b="0">
                          <a:solidFill>
                            <a:srgbClr val="1A1A1A"/>
                          </a:solidFill>
                          <a:latin typeface="Versos"/>
                        </a:rPr>
                        <a:t>0,05%</a:t>
                      </a:r>
                    </a:p>
                  </a:txBody>
                  <a:tcPr marL="43200" marR="43200" marT="0" marB="0">
                    <a:solidFill>
                      <a:srgbClr val="FFFFFF"/>
                    </a:solidFill>
                  </a:tcPr>
                </a:tc>
                <a:tc>
                  <a:txBody>
                    <a:bodyPr/>
                    <a:lstStyle/>
                    <a:p>
                      <a:pPr algn="r"/>
                      <a:r>
                        <a:rPr sz="850" b="0">
                          <a:solidFill>
                            <a:srgbClr val="1A1A1A"/>
                          </a:solidFill>
                          <a:latin typeface="Versos"/>
                        </a:rPr>
                        <a:t>0,91</a:t>
                      </a:r>
                    </a:p>
                  </a:txBody>
                  <a:tcPr marL="43200" marR="43200" marT="0" marB="0">
                    <a:solidFill>
                      <a:srgbClr val="FFFFFF"/>
                    </a:solidFill>
                  </a:tcPr>
                </a:tc>
              </a:tr>
              <a:tr h="165600">
                <a:tc>
                  <a:txBody>
                    <a:bodyPr/>
                    <a:lstStyle/>
                    <a:p>
                      <a:pPr algn="l"/>
                      <a:r>
                        <a:rPr sz="850" b="1">
                          <a:solidFill>
                            <a:srgbClr val="1A1A1A"/>
                          </a:solidFill>
                          <a:latin typeface="Versos"/>
                        </a:rPr>
                        <a:t>Têxtil e calçados</a:t>
                      </a:r>
                    </a:p>
                  </a:txBody>
                  <a:tcPr marL="43200" marR="43200" marT="0" marB="0">
                    <a:solidFill>
                      <a:srgbClr val="F4F7F9"/>
                    </a:solidFill>
                  </a:tcPr>
                </a:tc>
                <a:tc>
                  <a:txBody>
                    <a:bodyPr/>
                    <a:lstStyle/>
                    <a:p>
                      <a:pPr algn="r"/>
                      <a:r>
                        <a:rPr sz="850" b="0">
                          <a:solidFill>
                            <a:srgbClr val="1A1A1A"/>
                          </a:solidFill>
                          <a:latin typeface="Versos"/>
                        </a:rPr>
                        <a:t>261</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0,98%</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0,06%</a:t>
                      </a:r>
                    </a:p>
                  </a:txBody>
                  <a:tcPr marL="43200" marR="43200" marT="0" marB="0">
                    <a:solidFill>
                      <a:srgbClr val="F4F7F9"/>
                    </a:solidFill>
                  </a:tcPr>
                </a:tc>
                <a:tc>
                  <a:txBody>
                    <a:bodyPr/>
                    <a:lstStyle/>
                    <a:p>
                      <a:pPr algn="r"/>
                      <a:r>
                        <a:rPr sz="850" b="0">
                          <a:solidFill>
                            <a:srgbClr val="1A1A1A"/>
                          </a:solidFill>
                          <a:latin typeface="Versos"/>
                        </a:rPr>
                        <a:t>2,36</a:t>
                      </a:r>
                    </a:p>
                  </a:txBody>
                  <a:tcPr marL="43200" marR="43200" marT="0" marB="0">
                    <a:solidFill>
                      <a:srgbClr val="F4F7F9"/>
                    </a:solidFill>
                  </a:tcPr>
                </a:tc>
              </a:tr>
              <a:tr h="165600">
                <a:tc>
                  <a:txBody>
                    <a:bodyPr/>
                    <a:lstStyle/>
                    <a:p>
                      <a:pPr algn="l"/>
                      <a:r>
                        <a:rPr sz="850" b="1">
                          <a:solidFill>
                            <a:srgbClr val="1A1A1A"/>
                          </a:solidFill>
                          <a:latin typeface="Versos"/>
                        </a:rPr>
                        <a:t>Mineração</a:t>
                      </a:r>
                    </a:p>
                  </a:txBody>
                  <a:tcPr marL="43200" marR="43200" marT="0" marB="0">
                    <a:solidFill>
                      <a:srgbClr val="FFFFFF"/>
                    </a:solidFill>
                  </a:tcPr>
                </a:tc>
                <a:tc>
                  <a:txBody>
                    <a:bodyPr/>
                    <a:lstStyle/>
                    <a:p>
                      <a:pPr algn="r"/>
                      <a:r>
                        <a:rPr sz="850" b="0">
                          <a:solidFill>
                            <a:srgbClr val="1A1A1A"/>
                          </a:solidFill>
                          <a:latin typeface="Versos"/>
                        </a:rPr>
                        <a:t>1.082</a:t>
                      </a:r>
                    </a:p>
                  </a:txBody>
                  <a:tcPr marL="43200" marR="43200" marT="0" marB="0">
                    <a:solidFill>
                      <a:srgbClr val="FFFFFF"/>
                    </a:solidFill>
                  </a:tcPr>
                </a:tc>
                <a:tc>
                  <a:txBody>
                    <a:bodyPr/>
                    <a:lstStyle/>
                    <a:p>
                      <a:pPr algn="r"/>
                      <a:r>
                        <a:rPr sz="850" b="0">
                          <a:solidFill>
                            <a:srgbClr val="1A1A1A"/>
                          </a:solidFill>
                          <a:latin typeface="Versos"/>
                        </a:rPr>
                        <a:t>0,24%</a:t>
                      </a:r>
                    </a:p>
                  </a:txBody>
                  <a:tcPr marL="43200" marR="43200" marT="0" marB="0">
                    <a:solidFill>
                      <a:srgbClr val="FFFFFF"/>
                    </a:solidFill>
                  </a:tcPr>
                </a:tc>
                <a:tc>
                  <a:txBody>
                    <a:bodyPr/>
                    <a:lstStyle/>
                    <a:p>
                      <a:pPr algn="r"/>
                      <a:r>
                        <a:rPr sz="850" b="0">
                          <a:solidFill>
                            <a:srgbClr val="1A1A1A"/>
                          </a:solidFill>
                          <a:latin typeface="Versos"/>
                        </a:rPr>
                        <a:t>0,71%</a:t>
                      </a:r>
                    </a:p>
                  </a:txBody>
                  <a:tcPr marL="43200" marR="43200" marT="0" marB="0">
                    <a:solidFill>
                      <a:srgbClr val="FFFFFF"/>
                    </a:solidFill>
                  </a:tcPr>
                </a:tc>
                <a:tc>
                  <a:txBody>
                    <a:bodyPr/>
                    <a:lstStyle/>
                    <a:p>
                      <a:pPr algn="r"/>
                      <a:r>
                        <a:rPr sz="850" b="0">
                          <a:solidFill>
                            <a:srgbClr val="1A1A1A"/>
                          </a:solidFill>
                          <a:latin typeface="Versos"/>
                        </a:rPr>
                        <a:t>0,72%</a:t>
                      </a:r>
                    </a:p>
                  </a:txBody>
                  <a:tcPr marL="43200" marR="43200" marT="0" marB="0">
                    <a:solidFill>
                      <a:srgbClr val="FFFFFF"/>
                    </a:solidFill>
                  </a:tcPr>
                </a:tc>
                <a:tc>
                  <a:txBody>
                    <a:bodyPr/>
                    <a:lstStyle/>
                    <a:p>
                      <a:pPr algn="r"/>
                      <a:r>
                        <a:rPr sz="850" b="0">
                          <a:solidFill>
                            <a:srgbClr val="1A1A1A"/>
                          </a:solidFill>
                          <a:latin typeface="Versos"/>
                        </a:rPr>
                        <a:t>-0,01%</a:t>
                      </a:r>
                    </a:p>
                  </a:txBody>
                  <a:tcPr marL="43200" marR="43200" marT="0" marB="0">
                    <a:solidFill>
                      <a:srgbClr val="FFFFFF"/>
                    </a:solidFill>
                  </a:tcPr>
                </a:tc>
                <a:tc>
                  <a:txBody>
                    <a:bodyPr/>
                    <a:lstStyle/>
                    <a:p>
                      <a:pPr algn="r"/>
                      <a:r>
                        <a:rPr sz="850" b="0">
                          <a:solidFill>
                            <a:srgbClr val="1A1A1A"/>
                          </a:solidFill>
                          <a:latin typeface="Versos"/>
                        </a:rPr>
                        <a:t>2,13</a:t>
                      </a:r>
                    </a:p>
                  </a:txBody>
                  <a:tcPr marL="43200" marR="43200" marT="0" marB="0">
                    <a:solidFill>
                      <a:srgbClr val="FFFFFF"/>
                    </a:solidFill>
                  </a:tcPr>
                </a:tc>
              </a:tr>
              <a:tr h="165600">
                <a:tc>
                  <a:txBody>
                    <a:bodyPr/>
                    <a:lstStyle/>
                    <a:p>
                      <a:pPr algn="l"/>
                      <a:r>
                        <a:rPr sz="850" b="1">
                          <a:solidFill>
                            <a:srgbClr val="1A1A1A"/>
                          </a:solidFill>
                          <a:latin typeface="Versos"/>
                        </a:rPr>
                        <a:t>Construção civil</a:t>
                      </a:r>
                    </a:p>
                  </a:txBody>
                  <a:tcPr marL="43200" marR="43200" marT="0" marB="0">
                    <a:solidFill>
                      <a:srgbClr val="F4F7F9"/>
                    </a:solidFill>
                  </a:tcPr>
                </a:tc>
                <a:tc>
                  <a:txBody>
                    <a:bodyPr/>
                    <a:lstStyle/>
                    <a:p>
                      <a:pPr algn="r"/>
                      <a:r>
                        <a:rPr sz="850" b="0">
                          <a:solidFill>
                            <a:srgbClr val="1A1A1A"/>
                          </a:solidFill>
                          <a:latin typeface="Versos"/>
                        </a:rPr>
                        <a:t>51</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0,93%</a:t>
                      </a:r>
                    </a:p>
                  </a:txBody>
                  <a:tcPr marL="43200" marR="43200" marT="0" marB="0">
                    <a:solidFill>
                      <a:srgbClr val="F4F7F9"/>
                    </a:solidFill>
                  </a:tcPr>
                </a:tc>
                <a:tc>
                  <a:txBody>
                    <a:bodyPr/>
                    <a:lstStyle/>
                    <a:p>
                      <a:pPr algn="r"/>
                      <a:r>
                        <a:rPr sz="850" b="0">
                          <a:solidFill>
                            <a:srgbClr val="1A1A1A"/>
                          </a:solidFill>
                          <a:latin typeface="Versos"/>
                        </a:rPr>
                        <a:t>0,92%</a:t>
                      </a:r>
                    </a:p>
                  </a:txBody>
                  <a:tcPr marL="43200" marR="43200" marT="0" marB="0">
                    <a:solidFill>
                      <a:srgbClr val="F4F7F9"/>
                    </a:solidFill>
                  </a:tcPr>
                </a:tc>
                <a:tc>
                  <a:txBody>
                    <a:bodyPr/>
                    <a:lstStyle/>
                    <a:p>
                      <a:pPr algn="r"/>
                      <a:r>
                        <a:rPr sz="850" b="0">
                          <a:solidFill>
                            <a:srgbClr val="1A1A1A"/>
                          </a:solidFill>
                          <a:latin typeface="Versos"/>
                        </a:rPr>
                        <a:t>0,01%</a:t>
                      </a:r>
                    </a:p>
                  </a:txBody>
                  <a:tcPr marL="43200" marR="43200" marT="0" marB="0">
                    <a:solidFill>
                      <a:srgbClr val="F4F7F9"/>
                    </a:solidFill>
                  </a:tcPr>
                </a:tc>
                <a:tc>
                  <a:txBody>
                    <a:bodyPr/>
                    <a:lstStyle/>
                    <a:p>
                      <a:pPr algn="r"/>
                      <a:r>
                        <a:rPr sz="850" b="0">
                          <a:solidFill>
                            <a:srgbClr val="1A1A1A"/>
                          </a:solidFill>
                          <a:latin typeface="Versos"/>
                        </a:rPr>
                        <a:t>0,90</a:t>
                      </a:r>
                    </a:p>
                  </a:txBody>
                  <a:tcPr marL="43200" marR="43200" marT="0" marB="0">
                    <a:solidFill>
                      <a:srgbClr val="F4F7F9"/>
                    </a:solidFill>
                  </a:tcPr>
                </a:tc>
              </a:tr>
              <a:tr h="165600">
                <a:tc>
                  <a:txBody>
                    <a:bodyPr/>
                    <a:lstStyle/>
                    <a:p>
                      <a:pPr algn="l"/>
                      <a:r>
                        <a:rPr sz="850" b="1">
                          <a:solidFill>
                            <a:srgbClr val="1A1A1A"/>
                          </a:solidFill>
                          <a:latin typeface="Versos"/>
                        </a:rPr>
                        <a:t>Total</a:t>
                      </a:r>
                    </a:p>
                  </a:txBody>
                  <a:tcPr marL="43200" marR="43200" marT="0" marB="0">
                    <a:solidFill>
                      <a:srgbClr val="FFFFFF"/>
                    </a:solidFill>
                  </a:tcPr>
                </a:tc>
                <a:tc>
                  <a:txBody>
                    <a:bodyPr/>
                    <a:lstStyle/>
                    <a:p>
                      <a:pPr algn="r"/>
                      <a:r>
                        <a:rPr sz="850" b="0">
                          <a:solidFill>
                            <a:srgbClr val="1A1A1A"/>
                          </a:solidFill>
                          <a:latin typeface="Versos"/>
                        </a:rPr>
                        <a:t>443.345</a:t>
                      </a:r>
                    </a:p>
                  </a:txBody>
                  <a:tcPr marL="43200" marR="43200" marT="0" marB="0">
                    <a:solidFill>
                      <a:srgbClr val="FFFFFF"/>
                    </a:solidFill>
                  </a:tcPr>
                </a:tc>
                <a:tc>
                  <a:txBody>
                    <a:bodyPr/>
                    <a:lstStyle/>
                    <a:p>
                      <a:pPr algn="r"/>
                      <a:r>
                        <a:rPr sz="850" b="0">
                          <a:solidFill>
                            <a:srgbClr val="1A1A1A"/>
                          </a:solidFill>
                          <a:latin typeface="Versos"/>
                        </a:rPr>
                        <a:t>100,00%</a:t>
                      </a:r>
                    </a:p>
                  </a:txBody>
                  <a:tcPr marL="43200" marR="43200" marT="0" marB="0">
                    <a:solidFill>
                      <a:srgbClr val="FFFFFF"/>
                    </a:solidFill>
                  </a:tcPr>
                </a:tc>
                <a:tc>
                  <a:txBody>
                    <a:bodyPr/>
                    <a:lstStyle/>
                    <a:p>
                      <a:pPr algn="r"/>
                      <a:r>
                        <a:rPr sz="850" b="0">
                          <a:solidFill>
                            <a:srgbClr val="1A1A1A"/>
                          </a:solidFill>
                          <a:latin typeface="Versos"/>
                        </a:rPr>
                        <a:t>1,22%</a:t>
                      </a:r>
                    </a:p>
                  </a:txBody>
                  <a:tcPr marL="43200" marR="43200" marT="0" marB="0">
                    <a:solidFill>
                      <a:srgbClr val="FFFFFF"/>
                    </a:solidFill>
                  </a:tcPr>
                </a:tc>
                <a:tc>
                  <a:txBody>
                    <a:bodyPr/>
                    <a:lstStyle/>
                    <a:p>
                      <a:pPr algn="r"/>
                      <a:r>
                        <a:rPr sz="850" b="0">
                          <a:solidFill>
                            <a:srgbClr val="1A1A1A"/>
                          </a:solidFill>
                          <a:latin typeface="Versos"/>
                        </a:rPr>
                        <a:t>1,19%</a:t>
                      </a:r>
                    </a:p>
                  </a:txBody>
                  <a:tcPr marL="43200" marR="43200" marT="0" marB="0">
                    <a:solidFill>
                      <a:srgbClr val="FFFFFF"/>
                    </a:solidFill>
                  </a:tcPr>
                </a:tc>
                <a:tc>
                  <a:txBody>
                    <a:bodyPr/>
                    <a:lstStyle/>
                    <a:p>
                      <a:pPr algn="r"/>
                      <a:r>
                        <a:rPr sz="850" b="0">
                          <a:solidFill>
                            <a:srgbClr val="1A1A1A"/>
                          </a:solidFill>
                          <a:latin typeface="Versos"/>
                        </a:rPr>
                        <a:t>0,03%</a:t>
                      </a:r>
                    </a:p>
                  </a:txBody>
                  <a:tcPr marL="43200" marR="43200" marT="0" marB="0">
                    <a:solidFill>
                      <a:srgbClr val="FFFFFF"/>
                    </a:solidFill>
                  </a:tcPr>
                </a:tc>
                <a:tc>
                  <a:txBody>
                    <a:bodyPr/>
                    <a:lstStyle/>
                    <a:p>
                      <a:pPr algn="r"/>
                      <a:r>
                        <a:rPr sz="850" b="0">
                          <a:solidFill>
                            <a:srgbClr val="1A1A1A"/>
                          </a:solidFill>
                          <a:latin typeface="Versos"/>
                        </a:rPr>
                        <a:t>2,71</a:t>
                      </a:r>
                    </a:p>
                  </a:txBody>
                  <a:tcPr marL="43200" marR="43200" marT="0" marB="0">
                    <a:solidFill>
                      <a:srgbClr val="FFFFFF"/>
                    </a:solidFill>
                  </a:tcPr>
                </a:tc>
              </a:tr>
            </a:tbl>
          </a:graphicData>
        </a:graphic>
      </p:graphicFrame>
      <p:sp>
        <p:nvSpPr>
          <p:cNvPr id="8" name="TextBox 7"/>
          <p:cNvSpPr txBox="1"/>
          <p:nvPr/>
        </p:nvSpPr>
        <p:spPr>
          <a:xfrm>
            <a:off x="540000" y="9756000"/>
            <a:ext cx="6480000" cy="503999"/>
          </a:xfrm>
          <a:prstGeom prst="rect">
            <a:avLst/>
          </a:prstGeom>
          <a:noFill/>
        </p:spPr>
        <p:txBody>
          <a:bodyPr wrap="square" lIns="0" rIns="0" tIns="0" bIns="0">
            <a:spAutoFit/>
          </a:bodyPr>
          <a:lstStyle/>
          <a:p>
            <a:pPr algn="l"/>
            <a:r>
              <a:rPr sz="650" b="0">
                <a:solidFill>
                  <a:srgbClr val="637881"/>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9" name="TextBox 8"/>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3</a:t>
            </a:r>
          </a:p>
        </p:txBody>
      </p:sp>
      <p:sp>
        <p:nvSpPr>
          <p:cNvPr id="10" name="TextBox 9"/>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80000"/>
          </a:xfrm>
          <a:prstGeom prst="rect">
            <a:avLst/>
          </a:prstGeom>
          <a:solidFill>
            <a:srgbClr val="3C4A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24000"/>
            <a:ext cx="5040000" cy="180000"/>
          </a:xfrm>
          <a:prstGeom prst="rect">
            <a:avLst/>
          </a:prstGeom>
          <a:noFill/>
        </p:spPr>
        <p:txBody>
          <a:bodyPr wrap="square" lIns="0" rIns="0" tIns="0" bIns="0">
            <a:spAutoFit/>
          </a:bodyPr>
          <a:lstStyle/>
          <a:p>
            <a:pPr algn="l"/>
            <a:r>
              <a:rPr sz="800" b="1">
                <a:solidFill>
                  <a:srgbClr val="ABC6CD"/>
                </a:solidFill>
                <a:latin typeface="Versos"/>
              </a:rPr>
              <a:t>RELATÓRIO DE GESTÃO</a:t>
            </a:r>
          </a:p>
        </p:txBody>
      </p:sp>
      <p:sp>
        <p:nvSpPr>
          <p:cNvPr id="4" name="TextBox 3"/>
          <p:cNvSpPr txBox="1"/>
          <p:nvPr/>
        </p:nvSpPr>
        <p:spPr>
          <a:xfrm>
            <a:off x="540000" y="540000"/>
            <a:ext cx="5040000" cy="396000"/>
          </a:xfrm>
          <a:prstGeom prst="rect">
            <a:avLst/>
          </a:prstGeom>
          <a:noFill/>
        </p:spPr>
        <p:txBody>
          <a:bodyPr wrap="square" lIns="0" rIns="0" tIns="0" bIns="0">
            <a:spAutoFit/>
          </a:bodyPr>
          <a:lstStyle/>
          <a:p>
            <a:pPr algn="l"/>
            <a:r>
              <a:rPr sz="2000" b="1">
                <a:solidFill>
                  <a:srgbClr val="FFFFFF"/>
                </a:solidFill>
                <a:latin typeface="Versos"/>
              </a:rPr>
              <a:t>Tivio Institucional 15</a:t>
            </a:r>
          </a:p>
        </p:txBody>
      </p:sp>
      <p:sp>
        <p:nvSpPr>
          <p:cNvPr id="5" name="TextBox 4"/>
          <p:cNvSpPr txBox="1"/>
          <p:nvPr/>
        </p:nvSpPr>
        <p:spPr>
          <a:xfrm>
            <a:off x="540000" y="720000"/>
            <a:ext cx="5040000" cy="180000"/>
          </a:xfrm>
          <a:prstGeom prst="rect">
            <a:avLst/>
          </a:prstGeom>
          <a:noFill/>
        </p:spPr>
        <p:txBody>
          <a:bodyPr wrap="square" lIns="0" rIns="0" tIns="0" bIns="0">
            <a:spAutoFit/>
          </a:bodyPr>
          <a:lstStyle/>
          <a:p>
            <a:pPr algn="l"/>
            <a:r>
              <a:rPr sz="900" b="1">
                <a:solidFill>
                  <a:srgbClr val="C1F4D4"/>
                </a:solidFill>
                <a:latin typeface="Versos"/>
              </a:rPr>
              <a:t>Agosto de 2026</a:t>
            </a:r>
          </a:p>
        </p:txBody>
      </p:sp>
      <p:sp>
        <p:nvSpPr>
          <p:cNvPr id="6" name="TextBox 5"/>
          <p:cNvSpPr txBox="1"/>
          <p:nvPr/>
        </p:nvSpPr>
        <p:spPr>
          <a:xfrm>
            <a:off x="540000" y="1368000"/>
            <a:ext cx="4320000" cy="180000"/>
          </a:xfrm>
          <a:prstGeom prst="rect">
            <a:avLst/>
          </a:prstGeom>
          <a:noFill/>
        </p:spPr>
        <p:txBody>
          <a:bodyPr wrap="square" lIns="0" rIns="0" tIns="0" bIns="0">
            <a:spAutoFit/>
          </a:bodyPr>
          <a:lstStyle/>
          <a:p>
            <a:pPr algn="l"/>
            <a:r>
              <a:rPr sz="900" b="1">
                <a:solidFill>
                  <a:srgbClr val="759DB4"/>
                </a:solidFill>
                <a:latin typeface="Versos"/>
              </a:rPr>
              <a:t>CARACTERÍSTICAS GERAIS DO FUNDO</a:t>
            </a:r>
          </a:p>
        </p:txBody>
      </p:sp>
      <p:graphicFrame>
        <p:nvGraphicFramePr>
          <p:cNvPr id="7" name="Table 6"/>
          <p:cNvGraphicFramePr>
            <a:graphicFrameLocks noGrp="1"/>
          </p:cNvGraphicFramePr>
          <p:nvPr/>
        </p:nvGraphicFramePr>
        <p:xfrm>
          <a:off x="540000" y="1584000"/>
          <a:ext cx="6479999" cy="1872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Gestor</a:t>
                      </a:r>
                    </a:p>
                  </a:txBody>
                  <a:tcPr marL="43200" marR="43200" marT="0" marB="0">
                    <a:solidFill>
                      <a:srgbClr val="FFFFFF"/>
                    </a:solidFill>
                  </a:tcPr>
                </a:tc>
                <a:tc>
                  <a:txBody>
                    <a:bodyPr/>
                    <a:lstStyle/>
                    <a:p>
                      <a:pPr algn="r"/>
                      <a:r>
                        <a:rPr sz="850" b="0">
                          <a:solidFill>
                            <a:srgbClr val="1A1A1A"/>
                          </a:solidFill>
                          <a:latin typeface="Versos"/>
                        </a:rPr>
                        <a:t>Tivio Capital</a:t>
                      </a:r>
                    </a:p>
                  </a:txBody>
                  <a:tcPr marL="43200" marR="43200" marT="0" marB="0">
                    <a:solidFill>
                      <a:srgbClr val="FFFFFF"/>
                    </a:solidFill>
                  </a:tcPr>
                </a:tc>
              </a:tr>
              <a:tr h="187200">
                <a:tc>
                  <a:txBody>
                    <a:bodyPr/>
                    <a:lstStyle/>
                    <a:p>
                      <a:pPr algn="l"/>
                      <a:r>
                        <a:rPr sz="850" b="1">
                          <a:solidFill>
                            <a:srgbClr val="1A1A1A"/>
                          </a:solidFill>
                          <a:latin typeface="Versos"/>
                        </a:rPr>
                        <a:t>Público alvo</a:t>
                      </a:r>
                    </a:p>
                  </a:txBody>
                  <a:tcPr marL="43200" marR="43200" marT="0" marB="0">
                    <a:solidFill>
                      <a:srgbClr val="F4F7F9"/>
                    </a:solidFill>
                  </a:tcPr>
                </a:tc>
                <a:tc>
                  <a:txBody>
                    <a:bodyPr/>
                    <a:lstStyle/>
                    <a:p>
                      <a:pPr algn="r"/>
                      <a:r>
                        <a:rPr sz="850" b="0">
                          <a:solidFill>
                            <a:srgbClr val="1A1A1A"/>
                          </a:solidFill>
                          <a:latin typeface="Versos"/>
                        </a:rPr>
                        <a:t>Investidores em geral</a:t>
                      </a:r>
                    </a:p>
                  </a:txBody>
                  <a:tcPr marL="43200" marR="43200" marT="0" marB="0">
                    <a:solidFill>
                      <a:srgbClr val="F4F7F9"/>
                    </a:solidFill>
                  </a:tcPr>
                </a:tc>
              </a:tr>
              <a:tr h="187200">
                <a:tc>
                  <a:txBody>
                    <a:bodyPr/>
                    <a:lstStyle/>
                    <a:p>
                      <a:pPr algn="l"/>
                      <a:r>
                        <a:rPr sz="850" b="1">
                          <a:solidFill>
                            <a:srgbClr val="1A1A1A"/>
                          </a:solidFill>
                          <a:latin typeface="Versos"/>
                        </a:rPr>
                        <a:t>Benchmark</a:t>
                      </a:r>
                    </a:p>
                  </a:txBody>
                  <a:tcPr marL="43200" marR="43200" marT="0" marB="0">
                    <a:solidFill>
                      <a:srgbClr val="FFFFFF"/>
                    </a:solidFill>
                  </a:tcPr>
                </a:tc>
                <a:tc>
                  <a:txBody>
                    <a:bodyPr/>
                    <a:lstStyle/>
                    <a:p>
                      <a:pPr algn="r"/>
                      <a:r>
                        <a:rPr sz="850" b="0">
                          <a:solidFill>
                            <a:srgbClr val="1A1A1A"/>
                          </a:solidFill>
                          <a:latin typeface="Versos"/>
                        </a:rPr>
                        <a:t>CDI</a:t>
                      </a:r>
                    </a:p>
                  </a:txBody>
                  <a:tcPr marL="43200" marR="43200" marT="0" marB="0">
                    <a:solidFill>
                      <a:srgbClr val="FFFFFF"/>
                    </a:solidFill>
                  </a:tcPr>
                </a:tc>
              </a:tr>
              <a:tr h="187200">
                <a:tc>
                  <a:txBody>
                    <a:bodyPr/>
                    <a:lstStyle/>
                    <a:p>
                      <a:pPr algn="l"/>
                      <a:r>
                        <a:rPr sz="850" b="1">
                          <a:solidFill>
                            <a:srgbClr val="1A1A1A"/>
                          </a:solidFill>
                          <a:latin typeface="Versos"/>
                        </a:rPr>
                        <a:t>Data de início</a:t>
                      </a:r>
                    </a:p>
                  </a:txBody>
                  <a:tcPr marL="43200" marR="43200" marT="0" marB="0">
                    <a:solidFill>
                      <a:srgbClr val="F4F7F9"/>
                    </a:solidFill>
                  </a:tcPr>
                </a:tc>
                <a:tc>
                  <a:txBody>
                    <a:bodyPr/>
                    <a:lstStyle/>
                    <a:p>
                      <a:pPr algn="r"/>
                      <a:r>
                        <a:rPr sz="850" b="0">
                          <a:solidFill>
                            <a:srgbClr val="1A1A1A"/>
                          </a:solidFill>
                          <a:latin typeface="Versos"/>
                        </a:rPr>
                        <a:t>27/02/2002</a:t>
                      </a:r>
                    </a:p>
                  </a:txBody>
                  <a:tcPr marL="43200" marR="43200" marT="0" marB="0">
                    <a:solidFill>
                      <a:srgbClr val="F4F7F9"/>
                    </a:solidFill>
                  </a:tcPr>
                </a:tc>
              </a:tr>
              <a:tr h="187200">
                <a:tc>
                  <a:txBody>
                    <a:bodyPr/>
                    <a:lstStyle/>
                    <a:p>
                      <a:pPr algn="l"/>
                      <a:r>
                        <a:rPr sz="850" b="1">
                          <a:solidFill>
                            <a:srgbClr val="1A1A1A"/>
                          </a:solidFill>
                          <a:latin typeface="Versos"/>
                        </a:rPr>
                        <a:t>Patrimônio líquido</a:t>
                      </a:r>
                    </a:p>
                  </a:txBody>
                  <a:tcPr marL="43200" marR="43200" marT="0" marB="0">
                    <a:solidFill>
                      <a:srgbClr val="FFFFFF"/>
                    </a:solidFill>
                  </a:tcPr>
                </a:tc>
                <a:tc>
                  <a:txBody>
                    <a:bodyPr/>
                    <a:lstStyle/>
                    <a:p>
                      <a:pPr algn="r"/>
                      <a:r>
                        <a:rPr sz="850" b="0">
                          <a:solidFill>
                            <a:srgbClr val="1A1A1A"/>
                          </a:solidFill>
                          <a:latin typeface="Versos"/>
                        </a:rPr>
                        <a:t>R$ 156.046.891,63</a:t>
                      </a:r>
                    </a:p>
                  </a:txBody>
                  <a:tcPr marL="43200" marR="43200" marT="0" marB="0">
                    <a:solidFill>
                      <a:srgbClr val="FFFFFF"/>
                    </a:solidFill>
                  </a:tcPr>
                </a:tc>
              </a:tr>
              <a:tr h="187200">
                <a:tc>
                  <a:txBody>
                    <a:bodyPr/>
                    <a:lstStyle/>
                    <a:p>
                      <a:pPr algn="l"/>
                      <a:r>
                        <a:rPr sz="850" b="1">
                          <a:solidFill>
                            <a:srgbClr val="1A1A1A"/>
                          </a:solidFill>
                          <a:latin typeface="Versos"/>
                        </a:rPr>
                        <a:t>Patrimônio líquido médio (12 meses)</a:t>
                      </a:r>
                    </a:p>
                  </a:txBody>
                  <a:tcPr marL="43200" marR="43200" marT="0" marB="0">
                    <a:solidFill>
                      <a:srgbClr val="F4F7F9"/>
                    </a:solidFill>
                  </a:tcPr>
                </a:tc>
                <a:tc>
                  <a:txBody>
                    <a:bodyPr/>
                    <a:lstStyle/>
                    <a:p>
                      <a:pPr algn="r"/>
                      <a:r>
                        <a:rPr sz="850" b="0">
                          <a:solidFill>
                            <a:srgbClr val="1A1A1A"/>
                          </a:solidFill>
                          <a:latin typeface="Versos"/>
                        </a:rPr>
                        <a:t>R$ 146.843.921,67</a:t>
                      </a:r>
                    </a:p>
                  </a:txBody>
                  <a:tcPr marL="43200" marR="43200" marT="0" marB="0">
                    <a:solidFill>
                      <a:srgbClr val="F4F7F9"/>
                    </a:solidFill>
                  </a:tcPr>
                </a:tc>
              </a:tr>
              <a:tr h="187200">
                <a:tc>
                  <a:txBody>
                    <a:bodyPr/>
                    <a:lstStyle/>
                    <a:p>
                      <a:pPr algn="l"/>
                      <a:r>
                        <a:rPr sz="850" b="1">
                          <a:solidFill>
                            <a:srgbClr val="1A1A1A"/>
                          </a:solidFill>
                          <a:latin typeface="Versos"/>
                        </a:rPr>
                        <a:t>Taxa global</a:t>
                      </a:r>
                    </a:p>
                  </a:txBody>
                  <a:tcPr marL="43200" marR="43200" marT="0" marB="0">
                    <a:solidFill>
                      <a:srgbClr val="FFFFFF"/>
                    </a:solidFill>
                  </a:tcPr>
                </a:tc>
                <a:tc>
                  <a:txBody>
                    <a:bodyPr/>
                    <a:lstStyle/>
                    <a:p>
                      <a:pPr algn="r"/>
                      <a:r>
                        <a:rPr sz="850" b="0">
                          <a:solidFill>
                            <a:srgbClr val="1A1A1A"/>
                          </a:solidFill>
                          <a:latin typeface="Versos"/>
                        </a:rPr>
                        <a:t>0,50% a.a.</a:t>
                      </a:r>
                    </a:p>
                  </a:txBody>
                  <a:tcPr marL="43200" marR="43200" marT="0" marB="0">
                    <a:solidFill>
                      <a:srgbClr val="FFFFFF"/>
                    </a:solidFill>
                  </a:tcPr>
                </a:tc>
              </a:tr>
              <a:tr h="187200">
                <a:tc>
                  <a:txBody>
                    <a:bodyPr/>
                    <a:lstStyle/>
                    <a:p>
                      <a:pPr algn="l"/>
                      <a:r>
                        <a:rPr sz="850" b="1">
                          <a:solidFill>
                            <a:srgbClr val="1A1A1A"/>
                          </a:solidFill>
                          <a:latin typeface="Versos"/>
                        </a:rPr>
                        <a:t>Taxa de performance</a:t>
                      </a:r>
                    </a:p>
                  </a:txBody>
                  <a:tcPr marL="43200" marR="43200" marT="0" marB="0">
                    <a:solidFill>
                      <a:srgbClr val="F4F7F9"/>
                    </a:solidFill>
                  </a:tcPr>
                </a:tc>
                <a:tc>
                  <a:txBody>
                    <a:bodyPr/>
                    <a:lstStyle/>
                    <a:p>
                      <a:pPr algn="r"/>
                      <a:r>
                        <a:rPr sz="850" b="0">
                          <a:solidFill>
                            <a:srgbClr val="1A1A1A"/>
                          </a:solidFill>
                          <a:latin typeface="Versos"/>
                        </a:rPr>
                        <a:t>20% do que exceder 102,5% do CDI</a:t>
                      </a:r>
                    </a:p>
                  </a:txBody>
                  <a:tcPr marL="43200" marR="43200" marT="0" marB="0">
                    <a:solidFill>
                      <a:srgbClr val="F4F7F9"/>
                    </a:solidFill>
                  </a:tcPr>
                </a:tc>
              </a:tr>
              <a:tr h="187200">
                <a:tc>
                  <a:txBody>
                    <a:bodyPr/>
                    <a:lstStyle/>
                    <a:p>
                      <a:pPr algn="l"/>
                      <a:r>
                        <a:rPr sz="850" b="1">
                          <a:solidFill>
                            <a:srgbClr val="1A1A1A"/>
                          </a:solidFill>
                          <a:latin typeface="Versos"/>
                        </a:rPr>
                        <a:t>Carrego da carteira</a:t>
                      </a:r>
                    </a:p>
                  </a:txBody>
                  <a:tcPr marL="43200" marR="43200" marT="0" marB="0">
                    <a:solidFill>
                      <a:srgbClr val="FFFFFF"/>
                    </a:solidFill>
                  </a:tcPr>
                </a:tc>
                <a:tc>
                  <a:txBody>
                    <a:bodyPr/>
                    <a:lstStyle/>
                    <a:p>
                      <a:pPr algn="r"/>
                      <a:r>
                        <a:rPr sz="850" b="0">
                          <a:solidFill>
                            <a:srgbClr val="1A1A1A"/>
                          </a:solidFill>
                          <a:latin typeface="Versos"/>
                        </a:rPr>
                        <a:t>CDI +0,95%</a:t>
                      </a:r>
                    </a:p>
                  </a:txBody>
                  <a:tcPr marL="43200" marR="43200" marT="0" marB="0">
                    <a:solidFill>
                      <a:srgbClr val="FFFFFF"/>
                    </a:solidFill>
                  </a:tcPr>
                </a:tc>
              </a:tr>
              <a:tr h="187200">
                <a:tc>
                  <a:txBody>
                    <a:bodyPr/>
                    <a:lstStyle/>
                    <a:p>
                      <a:pPr algn="l"/>
                      <a:r>
                        <a:rPr sz="850" b="1">
                          <a:solidFill>
                            <a:srgbClr val="1A1A1A"/>
                          </a:solidFill>
                          <a:latin typeface="Versos"/>
                        </a:rPr>
                        <a:t>Duration média</a:t>
                      </a:r>
                    </a:p>
                  </a:txBody>
                  <a:tcPr marL="43200" marR="43200" marT="0" marB="0">
                    <a:solidFill>
                      <a:srgbClr val="F4F7F9"/>
                    </a:solidFill>
                  </a:tcPr>
                </a:tc>
                <a:tc>
                  <a:txBody>
                    <a:bodyPr/>
                    <a:lstStyle/>
                    <a:p>
                      <a:pPr algn="r"/>
                      <a:r>
                        <a:rPr sz="850" b="0">
                          <a:solidFill>
                            <a:srgbClr val="1A1A1A"/>
                          </a:solidFill>
                          <a:latin typeface="Versos"/>
                        </a:rPr>
                        <a:t>1,80 ano</a:t>
                      </a:r>
                    </a:p>
                  </a:txBody>
                  <a:tcPr marL="43200" marR="43200" marT="0" marB="0">
                    <a:solidFill>
                      <a:srgbClr val="F4F7F9"/>
                    </a:solidFill>
                  </a:tcPr>
                </a:tc>
              </a:tr>
            </a:tbl>
          </a:graphicData>
        </a:graphic>
      </p:graphicFrame>
      <p:sp>
        <p:nvSpPr>
          <p:cNvPr id="8" name="TextBox 7"/>
          <p:cNvSpPr txBox="1"/>
          <p:nvPr/>
        </p:nvSpPr>
        <p:spPr>
          <a:xfrm>
            <a:off x="540000" y="3744000"/>
            <a:ext cx="4320000" cy="180000"/>
          </a:xfrm>
          <a:prstGeom prst="rect">
            <a:avLst/>
          </a:prstGeom>
          <a:noFill/>
        </p:spPr>
        <p:txBody>
          <a:bodyPr wrap="square" lIns="0" rIns="0" tIns="0" bIns="0">
            <a:spAutoFit/>
          </a:bodyPr>
          <a:lstStyle/>
          <a:p>
            <a:pPr algn="l"/>
            <a:r>
              <a:rPr sz="900" b="1">
                <a:solidFill>
                  <a:srgbClr val="759DB4"/>
                </a:solidFill>
                <a:latin typeface="Versos"/>
              </a:rPr>
              <a:t>INFORMAÇÕES OPERACIONAIS</a:t>
            </a:r>
          </a:p>
        </p:txBody>
      </p:sp>
      <p:graphicFrame>
        <p:nvGraphicFramePr>
          <p:cNvPr id="9" name="Table 8"/>
          <p:cNvGraphicFramePr>
            <a:graphicFrameLocks noGrp="1"/>
          </p:cNvGraphicFramePr>
          <p:nvPr/>
        </p:nvGraphicFramePr>
        <p:xfrm>
          <a:off x="540000" y="3942000"/>
          <a:ext cx="6479999" cy="936000"/>
        </p:xfrm>
        <a:graphic>
          <a:graphicData uri="http://schemas.openxmlformats.org/drawingml/2006/table">
            <a:tbl>
              <a:tblPr firstRow="1" bandRow="1">
                <a:tableStyleId>{5C22544A-7EE6-4342-B048-85BDC9FD1C3A}</a:tableStyleId>
              </a:tblPr>
              <a:tblGrid>
                <a:gridCol w="3751578"/>
                <a:gridCol w="2728421"/>
              </a:tblGrid>
              <a:tr h="187200">
                <a:tc>
                  <a:txBody>
                    <a:bodyPr/>
                    <a:lstStyle/>
                    <a:p>
                      <a:pPr algn="l"/>
                      <a:r>
                        <a:rPr sz="850" b="1">
                          <a:solidFill>
                            <a:srgbClr val="1A1A1A"/>
                          </a:solidFill>
                          <a:latin typeface="Versos"/>
                        </a:rPr>
                        <a:t>Aplicação</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Resgate</a:t>
                      </a:r>
                    </a:p>
                  </a:txBody>
                  <a:tcPr marL="43200" marR="43200" marT="0" marB="0">
                    <a:solidFill>
                      <a:srgbClr val="F4F7F9"/>
                    </a:solidFill>
                  </a:tcPr>
                </a:tc>
                <a:tc>
                  <a:txBody>
                    <a:bodyPr/>
                    <a:lstStyle/>
                    <a:p>
                      <a:pPr algn="r"/>
                      <a:r>
                        <a:rPr sz="850" b="0">
                          <a:solidFill>
                            <a:srgbClr val="1A1A1A"/>
                          </a:solidFill>
                          <a:latin typeface="Versos"/>
                        </a:rPr>
                        <a:t>D+0 Abertura</a:t>
                      </a:r>
                    </a:p>
                  </a:txBody>
                  <a:tcPr marL="43200" marR="43200" marT="0" marB="0">
                    <a:solidFill>
                      <a:srgbClr val="F4F7F9"/>
                    </a:solidFill>
                  </a:tcPr>
                </a:tc>
              </a:tr>
              <a:tr h="187200">
                <a:tc>
                  <a:txBody>
                    <a:bodyPr/>
                    <a:lstStyle/>
                    <a:p>
                      <a:pPr algn="l"/>
                      <a:r>
                        <a:rPr sz="850" b="1">
                          <a:solidFill>
                            <a:srgbClr val="1A1A1A"/>
                          </a:solidFill>
                          <a:latin typeface="Versos"/>
                        </a:rPr>
                        <a:t>Pagamento do Resgate</a:t>
                      </a:r>
                    </a:p>
                  </a:txBody>
                  <a:tcPr marL="43200" marR="43200" marT="0" marB="0">
                    <a:solidFill>
                      <a:srgbClr val="FFFFFF"/>
                    </a:solidFill>
                  </a:tcPr>
                </a:tc>
                <a:tc>
                  <a:txBody>
                    <a:bodyPr/>
                    <a:lstStyle/>
                    <a:p>
                      <a:pPr algn="r"/>
                      <a:r>
                        <a:rPr sz="850" b="0">
                          <a:solidFill>
                            <a:srgbClr val="1A1A1A"/>
                          </a:solidFill>
                          <a:latin typeface="Versos"/>
                        </a:rPr>
                        <a:t>D+0*</a:t>
                      </a:r>
                    </a:p>
                  </a:txBody>
                  <a:tcPr marL="43200" marR="43200" marT="0" marB="0">
                    <a:solidFill>
                      <a:srgbClr val="FFFFFF"/>
                    </a:solidFill>
                  </a:tcPr>
                </a:tc>
              </a:tr>
              <a:tr h="187200">
                <a:tc>
                  <a:txBody>
                    <a:bodyPr/>
                    <a:lstStyle/>
                    <a:p>
                      <a:pPr algn="l"/>
                      <a:r>
                        <a:rPr sz="850" b="1">
                          <a:solidFill>
                            <a:srgbClr val="1A1A1A"/>
                          </a:solidFill>
                          <a:latin typeface="Versos"/>
                        </a:rPr>
                        <a:t>Aplicação mínima inicial</a:t>
                      </a:r>
                    </a:p>
                  </a:txBody>
                  <a:tcPr marL="43200" marR="43200" marT="0" marB="0">
                    <a:solidFill>
                      <a:srgbClr val="F4F7F9"/>
                    </a:solidFill>
                  </a:tcPr>
                </a:tc>
                <a:tc>
                  <a:txBody>
                    <a:bodyPr/>
                    <a:lstStyle/>
                    <a:p>
                      <a:pPr algn="r"/>
                      <a:r>
                        <a:rPr sz="850" b="0">
                          <a:solidFill>
                            <a:srgbClr val="1A1A1A"/>
                          </a:solidFill>
                          <a:latin typeface="Versos"/>
                        </a:rPr>
                        <a:t>R$ 1.000,00</a:t>
                      </a:r>
                    </a:p>
                  </a:txBody>
                  <a:tcPr marL="43200" marR="43200" marT="0" marB="0">
                    <a:solidFill>
                      <a:srgbClr val="F4F7F9"/>
                    </a:solidFill>
                  </a:tcPr>
                </a:tc>
              </a:tr>
              <a:tr h="187200">
                <a:tc>
                  <a:txBody>
                    <a:bodyPr/>
                    <a:lstStyle/>
                    <a:p>
                      <a:pPr algn="l"/>
                      <a:r>
                        <a:rPr sz="850" b="1">
                          <a:solidFill>
                            <a:srgbClr val="1A1A1A"/>
                          </a:solidFill>
                          <a:latin typeface="Versos"/>
                        </a:rPr>
                        <a:t>Movimentação mínima</a:t>
                      </a:r>
                    </a:p>
                  </a:txBody>
                  <a:tcPr marL="43200" marR="43200" marT="0" marB="0">
                    <a:solidFill>
                      <a:srgbClr val="FFFFFF"/>
                    </a:solidFill>
                  </a:tcPr>
                </a:tc>
                <a:tc>
                  <a:txBody>
                    <a:bodyPr/>
                    <a:lstStyle/>
                    <a:p>
                      <a:pPr algn="r"/>
                      <a:r>
                        <a:rPr sz="850" b="0">
                          <a:solidFill>
                            <a:srgbClr val="1A1A1A"/>
                          </a:solidFill>
                          <a:latin typeface="Versos"/>
                        </a:rPr>
                        <a:t>R$ 1.000,00</a:t>
                      </a:r>
                    </a:p>
                  </a:txBody>
                  <a:tcPr marL="43200" marR="43200" marT="0" marB="0">
                    <a:solidFill>
                      <a:srgbClr val="FFFFFF"/>
                    </a:solidFill>
                  </a:tcPr>
                </a:tc>
              </a:tr>
            </a:tbl>
          </a:graphicData>
        </a:graphic>
      </p:graphicFrame>
      <p:sp>
        <p:nvSpPr>
          <p:cNvPr id="10" name="TextBox 9"/>
          <p:cNvSpPr txBox="1"/>
          <p:nvPr/>
        </p:nvSpPr>
        <p:spPr>
          <a:xfrm>
            <a:off x="540000" y="5166000"/>
            <a:ext cx="6480000" cy="180000"/>
          </a:xfrm>
          <a:prstGeom prst="rect">
            <a:avLst/>
          </a:prstGeom>
          <a:noFill/>
        </p:spPr>
        <p:txBody>
          <a:bodyPr wrap="square" lIns="0" rIns="0" tIns="0" bIns="0">
            <a:spAutoFit/>
          </a:bodyPr>
          <a:lstStyle/>
          <a:p>
            <a:pPr algn="l"/>
            <a:r>
              <a:rPr sz="900" b="1">
                <a:solidFill>
                  <a:srgbClr val="759DB4"/>
                </a:solidFill>
                <a:latin typeface="Versos"/>
              </a:rPr>
              <a:t>DISCLAIMER</a:t>
            </a:r>
          </a:p>
        </p:txBody>
      </p:sp>
      <p:sp>
        <p:nvSpPr>
          <p:cNvPr id="11" name="TextBox 10"/>
          <p:cNvSpPr txBox="1"/>
          <p:nvPr/>
        </p:nvSpPr>
        <p:spPr>
          <a:xfrm>
            <a:off x="540000" y="5364000"/>
            <a:ext cx="6480000" cy="4734000"/>
          </a:xfrm>
          <a:prstGeom prst="rect">
            <a:avLst/>
          </a:prstGeom>
          <a:noFill/>
        </p:spPr>
        <p:txBody>
          <a:bodyPr wrap="square" lIns="0" rIns="0" tIns="0" bIns="0">
            <a:spAutoFit/>
          </a:bodyPr>
          <a:lstStyle/>
          <a:p>
            <a:pPr algn="l"/>
            <a:r>
              <a:rPr sz="540" b="0">
                <a:solidFill>
                  <a:srgbClr val="637881"/>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a:p>
            <a:pPr algn="l"/>
            <a:r>
              <a:rPr sz="540" b="0">
                <a:solidFill>
                  <a:srgbClr val="637881"/>
                </a:solidFill>
                <a:latin typeface="Versos"/>
              </a:rPr>
              <a:t/>
            </a:r>
          </a:p>
          <a:p>
            <a:pPr algn="l"/>
            <a:r>
              <a:rPr sz="540" b="0">
                <a:solidFill>
                  <a:srgbClr val="637881"/>
                </a:solidFill>
                <a:latin typeface="Versos"/>
              </a:rPr>
              <a:t>Este material foi elaborado pela Tivio Capital Distribuidora de Títulos e Valores Mobiliários S.A. (“TIVIO CAPITAL”). Este material é destinado aos seus receptores, fornecido unicamente para fins comerciais, não constituindo compromisso, indicação ou recomendação para iniciar ou encerrar qualquer transação. Este conteúdo não deve ser reproduzido no todo ou em parte, redistribuído ou transmitido para qualquer outra pessoa sem o consentimento prévio da TIVIO CAPITAL. Este documento não é, e não deve ser interpretado como, uma oferta de venda ou solicitação de uma oferta de compra de qualquer título ou valor mobiliário. A TIVIO CAPITAL, seus acionistas e demais empresas coligadas se eximem de qualquer responsabilidade por quaisquer prejuízos, diretos ou indiretos, que venham a decorrer da utilização deste material, de seu conteúdo e da realização de operações com base neste material.</a:t>
            </a:r>
          </a:p>
          <a:p>
            <a:pPr algn="l"/>
            <a:r>
              <a:rPr sz="540" b="0">
                <a:solidFill>
                  <a:srgbClr val="637881"/>
                </a:solidFill>
                <a:latin typeface="Versos"/>
              </a:rPr>
              <a:t/>
            </a:r>
          </a:p>
          <a:p>
            <a:pPr algn="l"/>
            <a:r>
              <a:rPr sz="540" b="0">
                <a:solidFill>
                  <a:srgbClr val="637881"/>
                </a:solidFill>
                <a:latin typeface="Versos"/>
              </a:rPr>
              <a:t>Consulte o documento de tributação para Fundos de Investimento para mais informações sobre a tributação aplicável, inclusive a regra aplicável em eventual desenquadramento, este documento está disponível em https://tivio.com/documentos/. A descrição acima não pode ser considerada como objetivo do fundo. Todas as informações legais podem ser observadas no regulamento do fundo, disponíveis no site https://tivio.com/fundos/. Os indicadores aqui apresentados devem ser utilizados como referência econômica e não parâmetro objetivo do fundo. Principais Fatores de Risco: (i) Crédito: risco de os emissores dos ativos financeiros e/ou das contrapartes não cumprirem suas obrigações de pagamento e/ou de liquidação das operações contratadas; (ii) Liquidez: risco de redução ou inexistência de demanda pelos ativos financeiros nos respectivos mercados em que são negociados; (iii) Mercado: Risco de oscilações decorrentes das flutuações de preços e cotações de mercado; (iv) Derivativos: pode não resultar nos efeitos desejados, devido a fatores como: descolamento entre o preço do derivativo e seu ativo objeto; alterações nas condições de negociação ou liquidação devido à interferência de órgãos reguladores ou dos mercados organizados onde são negociados; (v) Tratamento Tributário de Longo Prazo: O tratamento aplicável ao investidor depende da manutenção da carteira de ativos com prazo médio superior a 365 dias. Não há garantia de que o fundo terá o tratamento tributário de longo prazo.</a:t>
            </a:r>
          </a:p>
          <a:p>
            <a:pPr algn="l"/>
            <a:r>
              <a:rPr sz="540" b="0">
                <a:solidFill>
                  <a:srgbClr val="637881"/>
                </a:solidFill>
                <a:latin typeface="Versos"/>
              </a:rPr>
              <a:t/>
            </a:r>
          </a:p>
          <a:p>
            <a:pPr algn="l"/>
            <a:r>
              <a:rPr sz="540" b="0">
                <a:solidFill>
                  <a:srgbClr val="637881"/>
                </a:solidFill>
                <a:latin typeface="Versos"/>
              </a:rPr>
              <a:t>Leia a lâmina de informações essenciais, se houver, e o regulamento antes de investir. Estes documentos podem ser encontrados no site https://tivio.com/fundos/. Leia previamente as condições de cada produto antes de investir. Os investimentos apresentados podem não ser adequados aos seus objetivos, situação financeira ou necessidades individuais. A rentabilidade obtida no passado não representa garantia de resultados futuros. A rentabilidade divulgada não é líquida de impostos. “Os ativos financeiros integrantes nesta carteira podem não possuir liquidez imediata, podendo seus prazos e/ou rentabilidade variar de acordo com o vencimento ou prazo de resgate de cada ativo, caso seja negociado antecipadamente.</a:t>
            </a:r>
          </a:p>
          <a:p>
            <a:pPr algn="l"/>
            <a:r>
              <a:rPr sz="540" b="0">
                <a:solidFill>
                  <a:srgbClr val="637881"/>
                </a:solidFill>
                <a:latin typeface="Versos"/>
              </a:rPr>
              <a:t/>
            </a:r>
          </a:p>
          <a:p>
            <a:pPr algn="l"/>
            <a:r>
              <a:rPr sz="540" b="0">
                <a:solidFill>
                  <a:srgbClr val="637881"/>
                </a:solidFill>
                <a:latin typeface="Versos"/>
              </a:rPr>
              <a:t>Para avaliação da performance de fundo(s) de investimento(s), é recomendável uma análise de, no mínimo, 12 (doze) meses. Fundos de investimento não contam com garantia do administrador, do gestor, de qualquer mecanismo de seguro ou do Fundo Garantidor de Crédito (FGC). O preenchimento do formulário API – Análise de Perfil do Investidor ou Suitability é essencial para garantir a adequação do perfil do cliente ao produto de investimento escolhido. Os indicadores aqui apresentados devem ser utilizados como referência econômica e não parâmetro objetivo do fundo. Material de Divulgação.</a:t>
            </a:r>
          </a:p>
        </p:txBody>
      </p:sp>
      <p:sp>
        <p:nvSpPr>
          <p:cNvPr id="12" name="TextBox 11"/>
          <p:cNvSpPr txBox="1"/>
          <p:nvPr/>
        </p:nvSpPr>
        <p:spPr>
          <a:xfrm>
            <a:off x="5940000" y="10260000"/>
            <a:ext cx="1080000" cy="144000"/>
          </a:xfrm>
          <a:prstGeom prst="rect">
            <a:avLst/>
          </a:prstGeom>
          <a:noFill/>
        </p:spPr>
        <p:txBody>
          <a:bodyPr wrap="square" lIns="0" rIns="0" tIns="0" bIns="0">
            <a:spAutoFit/>
          </a:bodyPr>
          <a:lstStyle/>
          <a:p>
            <a:pPr algn="r"/>
            <a:r>
              <a:rPr sz="800" b="1">
                <a:solidFill>
                  <a:srgbClr val="637881"/>
                </a:solidFill>
                <a:latin typeface="Versos"/>
              </a:rPr>
              <a:t>4</a:t>
            </a:r>
          </a:p>
        </p:txBody>
      </p:sp>
      <p:sp>
        <p:nvSpPr>
          <p:cNvPr id="13" name="TextBox 12"/>
          <p:cNvSpPr txBox="1"/>
          <p:nvPr/>
        </p:nvSpPr>
        <p:spPr>
          <a:xfrm>
            <a:off x="540000" y="10260000"/>
            <a:ext cx="2160000" cy="144000"/>
          </a:xfrm>
          <a:prstGeom prst="rect">
            <a:avLst/>
          </a:prstGeom>
          <a:noFill/>
        </p:spPr>
        <p:txBody>
          <a:bodyPr wrap="square" lIns="0" rIns="0" tIns="0" bIns="0">
            <a:spAutoFit/>
          </a:bodyPr>
          <a:lstStyle/>
          <a:p>
            <a:pPr algn="l"/>
            <a:r>
              <a:rPr sz="800" b="0">
                <a:solidFill>
                  <a:srgbClr val="637881"/>
                </a:solidFill>
                <a:latin typeface="Versos"/>
              </a:rPr>
              <a:t>tivio.com/fundos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