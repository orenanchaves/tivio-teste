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CLASSE INVESTIMENTO RF CP LP RL </a:t>
            </a:r>
            <a:r>
              <a:rPr sz="833"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1,11%</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9,53%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30,92%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51,22%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1.644,37%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1.408,13%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0,20%</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7,05%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236,24%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06803"/>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5,45%</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11971"/>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17258"/>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822427"/>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227714"/>
            <a:ext cx="341891" cy="143640"/>
          </a:xfrm>
          <a:prstGeom prst="rect">
            <a:avLst/>
          </a:prstGeom>
          <a:noFill/>
        </p:spPr>
        <p:txBody>
          <a:bodyPr wrap="none" lIns="0" rIns="0" tIns="0" bIns="0" anchor="t"/>
          <a:lstStyle/>
          <a:p>
            <a:pPr algn="l">
              <a:lnSpc>
                <a:spcPts val="1107"/>
              </a:lnSpc>
            </a:pPr>
            <a:r>
              <a:rPr sz="922" b="0" i="0">
                <a:solidFill>
                  <a:srgbClr val="5A82A0"/>
                </a:solidFill>
                <a:latin typeface="Versos"/>
              </a:rPr>
              <a:t>1,76%</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74201" cy="143640"/>
          </a:xfrm>
          <a:prstGeom prst="rect">
            <a:avLst/>
          </a:prstGeom>
          <a:noFill/>
        </p:spPr>
        <p:txBody>
          <a:bodyPr wrap="none" lIns="0" rIns="0" tIns="0" bIns="0" anchor="t"/>
          <a:lstStyle/>
          <a:p>
            <a:pPr algn="l">
              <a:lnSpc>
                <a:spcPts val="1142"/>
              </a:lnSpc>
            </a:pPr>
            <a:r>
              <a:rPr sz="952" b="0" i="0">
                <a:solidFill>
                  <a:srgbClr val="111111"/>
                </a:solidFill>
                <a:latin typeface="Versos"/>
              </a:rPr>
              <a:t>32,66%</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369156"/>
            <a:ext cx="360564" cy="143640"/>
          </a:xfrm>
          <a:prstGeom prst="rect">
            <a:avLst/>
          </a:prstGeom>
          <a:noFill/>
        </p:spPr>
        <p:txBody>
          <a:bodyPr wrap="none" lIns="0" rIns="0" tIns="0" bIns="0" anchor="t"/>
          <a:lstStyle/>
          <a:p>
            <a:pPr algn="l">
              <a:lnSpc>
                <a:spcPts val="1142"/>
              </a:lnSpc>
            </a:pPr>
            <a:r>
              <a:rPr sz="952" b="0" i="0">
                <a:solidFill>
                  <a:srgbClr val="111111"/>
                </a:solidFill>
                <a:latin typeface="Versos"/>
              </a:rPr>
              <a:t>7,77%</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62619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6,20%</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8883236"/>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5,66%</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140276"/>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64" name="TextBox 63"/>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397316"/>
            <a:ext cx="361301" cy="143640"/>
          </a:xfrm>
          <a:prstGeom prst="rect">
            <a:avLst/>
          </a:prstGeom>
          <a:noFill/>
        </p:spPr>
        <p:txBody>
          <a:bodyPr wrap="none" lIns="0" rIns="0" tIns="0" bIns="0" anchor="t"/>
          <a:lstStyle/>
          <a:p>
            <a:pPr algn="l">
              <a:lnSpc>
                <a:spcPts val="1142"/>
              </a:lnSpc>
            </a:pPr>
            <a:r>
              <a:rPr sz="952" b="0" i="0">
                <a:solidFill>
                  <a:srgbClr val="111111"/>
                </a:solidFill>
                <a:latin typeface="Versos"/>
              </a:rPr>
              <a:t>4,10%</a:t>
            </a:r>
          </a:p>
        </p:txBody>
      </p:sp>
      <p:sp>
        <p:nvSpPr>
          <p:cNvPr id="66" name="TextBox 65"/>
          <p:cNvSpPr txBox="1"/>
          <p:nvPr/>
        </p:nvSpPr>
        <p:spPr>
          <a:xfrm>
            <a:off x="400680" y="96562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654356"/>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0,68%</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7618"/>
            <a:ext cx="447542" cy="143640"/>
          </a:xfrm>
          <a:prstGeom prst="rect">
            <a:avLst/>
          </a:prstGeom>
          <a:noFill/>
        </p:spPr>
        <p:txBody>
          <a:bodyPr wrap="none" lIns="0" rIns="0" tIns="0" bIns="0" anchor="t"/>
          <a:lstStyle/>
          <a:p>
            <a:pPr algn="l">
              <a:lnSpc>
                <a:spcPts val="1142"/>
              </a:lnSpc>
            </a:pPr>
            <a:r>
              <a:rPr sz="952" b="0" i="0">
                <a:solidFill>
                  <a:srgbClr val="111111"/>
                </a:solidFill>
                <a:latin typeface="Versos"/>
              </a:rPr>
              <a:t>27,95%</a:t>
            </a:r>
          </a:p>
        </p:txBody>
      </p:sp>
      <p:sp>
        <p:nvSpPr>
          <p:cNvPr id="71" name="TextBox 70"/>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716233" y="5744418"/>
            <a:ext cx="406756" cy="143640"/>
          </a:xfrm>
          <a:prstGeom prst="rect">
            <a:avLst/>
          </a:prstGeom>
          <a:noFill/>
        </p:spPr>
        <p:txBody>
          <a:bodyPr wrap="none" lIns="0" rIns="0" tIns="0" bIns="0" anchor="t"/>
          <a:lstStyle/>
          <a:p>
            <a:pPr algn="l">
              <a:lnSpc>
                <a:spcPts val="1142"/>
              </a:lnSpc>
            </a:pPr>
            <a:r>
              <a:rPr sz="952" b="0" i="0">
                <a:solidFill>
                  <a:srgbClr val="111111"/>
                </a:solidFill>
                <a:latin typeface="Versos"/>
              </a:rPr>
              <a:t>27,15%</a:t>
            </a:r>
          </a:p>
        </p:txBody>
      </p:sp>
      <p:sp>
        <p:nvSpPr>
          <p:cNvPr id="73" name="TextBox 72"/>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1218"/>
            <a:ext cx="438697" cy="143640"/>
          </a:xfrm>
          <a:prstGeom prst="rect">
            <a:avLst/>
          </a:prstGeom>
          <a:noFill/>
        </p:spPr>
        <p:txBody>
          <a:bodyPr wrap="none" lIns="0" rIns="0" tIns="0" bIns="0" anchor="t"/>
          <a:lstStyle/>
          <a:p>
            <a:pPr algn="l">
              <a:lnSpc>
                <a:spcPts val="1142"/>
              </a:lnSpc>
            </a:pPr>
            <a:r>
              <a:rPr sz="952" b="0" i="0">
                <a:solidFill>
                  <a:srgbClr val="111111"/>
                </a:solidFill>
                <a:latin typeface="Versos"/>
              </a:rPr>
              <a:t>13,04%</a:t>
            </a:r>
          </a:p>
        </p:txBody>
      </p:sp>
      <p:sp>
        <p:nvSpPr>
          <p:cNvPr id="75" name="TextBox 74"/>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198018"/>
            <a:ext cx="340294" cy="143640"/>
          </a:xfrm>
          <a:prstGeom prst="rect">
            <a:avLst/>
          </a:prstGeom>
          <a:noFill/>
        </p:spPr>
        <p:txBody>
          <a:bodyPr wrap="none" lIns="0" rIns="0" tIns="0" bIns="0" anchor="t"/>
          <a:lstStyle/>
          <a:p>
            <a:pPr algn="l">
              <a:lnSpc>
                <a:spcPts val="1142"/>
              </a:lnSpc>
            </a:pPr>
            <a:r>
              <a:rPr sz="952" b="0" i="0">
                <a:solidFill>
                  <a:srgbClr val="111111"/>
                </a:solidFill>
                <a:latin typeface="Versos"/>
              </a:rPr>
              <a:t>7,10%</a:t>
            </a:r>
          </a:p>
        </p:txBody>
      </p:sp>
      <p:sp>
        <p:nvSpPr>
          <p:cNvPr id="77" name="TextBox 76"/>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24818"/>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79" name="TextBox 78"/>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1618"/>
            <a:ext cx="391768" cy="143640"/>
          </a:xfrm>
          <a:prstGeom prst="rect">
            <a:avLst/>
          </a:prstGeom>
          <a:noFill/>
        </p:spPr>
        <p:txBody>
          <a:bodyPr wrap="none" lIns="0" rIns="0" tIns="0" bIns="0" anchor="t"/>
          <a:lstStyle/>
          <a:p>
            <a:pPr algn="l">
              <a:lnSpc>
                <a:spcPts val="1142"/>
              </a:lnSpc>
            </a:pPr>
            <a:r>
              <a:rPr sz="952" b="0" i="0">
                <a:solidFill>
                  <a:srgbClr val="111111"/>
                </a:solidFill>
                <a:latin typeface="Versos"/>
              </a:rPr>
              <a:t>3,45%</a:t>
            </a:r>
          </a:p>
        </p:txBody>
      </p:sp>
      <p:sp>
        <p:nvSpPr>
          <p:cNvPr id="81" name="TextBox 80"/>
          <p:cNvSpPr txBox="1"/>
          <p:nvPr/>
        </p:nvSpPr>
        <p:spPr>
          <a:xfrm>
            <a:off x="3802680" y="68296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7841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83" name="TextBox 82"/>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05218"/>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2,67%</a:t>
            </a:r>
          </a:p>
        </p:txBody>
      </p:sp>
      <p:sp>
        <p:nvSpPr>
          <p:cNvPr id="85" name="TextBox 84"/>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32018"/>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2,26%</a:t>
            </a:r>
          </a:p>
        </p:txBody>
      </p:sp>
      <p:sp>
        <p:nvSpPr>
          <p:cNvPr id="87" name="TextBox 86"/>
          <p:cNvSpPr txBox="1"/>
          <p:nvPr/>
        </p:nvSpPr>
        <p:spPr>
          <a:xfrm>
            <a:off x="3802680" y="7566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58818"/>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1,99%</a:t>
            </a:r>
          </a:p>
        </p:txBody>
      </p:sp>
      <p:sp>
        <p:nvSpPr>
          <p:cNvPr id="89" name="TextBox 88"/>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85618"/>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91" name="TextBox 90"/>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12418"/>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93" name="TextBox 92"/>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39218"/>
            <a:ext cx="360687" cy="143640"/>
          </a:xfrm>
          <a:prstGeom prst="rect">
            <a:avLst/>
          </a:prstGeom>
          <a:noFill/>
        </p:spPr>
        <p:txBody>
          <a:bodyPr wrap="none" lIns="0" rIns="0" tIns="0" bIns="0" anchor="t"/>
          <a:lstStyle/>
          <a:p>
            <a:pPr algn="l">
              <a:lnSpc>
                <a:spcPts val="1142"/>
              </a:lnSpc>
            </a:pPr>
            <a:r>
              <a:rPr sz="952" b="0" i="0">
                <a:solidFill>
                  <a:srgbClr val="111111"/>
                </a:solidFill>
                <a:latin typeface="Versos"/>
              </a:rPr>
              <a:t>1,04%</a:t>
            </a:r>
          </a:p>
        </p:txBody>
      </p:sp>
      <p:sp>
        <p:nvSpPr>
          <p:cNvPr id="95" name="TextBox 94"/>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66018"/>
            <a:ext cx="386608" cy="143640"/>
          </a:xfrm>
          <a:prstGeom prst="rect">
            <a:avLst/>
          </a:prstGeom>
          <a:noFill/>
        </p:spPr>
        <p:txBody>
          <a:bodyPr wrap="none" lIns="0" rIns="0" tIns="0" bIns="0" anchor="t"/>
          <a:lstStyle/>
          <a:p>
            <a:pPr algn="l">
              <a:lnSpc>
                <a:spcPts val="1142"/>
              </a:lnSpc>
            </a:pPr>
            <a:r>
              <a:rPr sz="952" b="0" i="0">
                <a:solidFill>
                  <a:srgbClr val="111111"/>
                </a:solidFill>
                <a:latin typeface="Versos"/>
              </a:rPr>
              <a:t>0,87%</a:t>
            </a:r>
          </a:p>
        </p:txBody>
      </p:sp>
      <p:sp>
        <p:nvSpPr>
          <p:cNvPr id="97" name="TextBox 96"/>
          <p:cNvSpPr txBox="1"/>
          <p:nvPr/>
        </p:nvSpPr>
        <p:spPr>
          <a:xfrm>
            <a:off x="3802680" y="8700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69281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99" name="TextBox 9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19618"/>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101" name="TextBox 100"/>
          <p:cNvSpPr txBox="1"/>
          <p:nvPr/>
        </p:nvSpPr>
        <p:spPr>
          <a:xfrm>
            <a:off x="3802680" y="9154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4641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380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73218"/>
            <a:ext cx="385871" cy="143640"/>
          </a:xfrm>
          <a:prstGeom prst="rect">
            <a:avLst/>
          </a:prstGeom>
          <a:noFill/>
        </p:spPr>
        <p:txBody>
          <a:bodyPr wrap="none" lIns="0" rIns="0" tIns="0" bIns="0" anchor="t"/>
          <a:lstStyle/>
          <a:p>
            <a:pPr algn="l">
              <a:lnSpc>
                <a:spcPts val="1142"/>
              </a:lnSpc>
            </a:pPr>
            <a:r>
              <a:rPr sz="952" b="0" i="0">
                <a:solidFill>
                  <a:srgbClr val="111111"/>
                </a:solidFill>
                <a:latin typeface="Versos"/>
              </a:rPr>
              <a:t>0,24%</a:t>
            </a:r>
          </a:p>
        </p:txBody>
      </p:sp>
      <p:sp>
        <p:nvSpPr>
          <p:cNvPr id="105" name="TextBox 104"/>
          <p:cNvSpPr txBox="1"/>
          <p:nvPr/>
        </p:nvSpPr>
        <p:spPr>
          <a:xfrm>
            <a:off x="3802680" y="9607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00018"/>
            <a:ext cx="349139" cy="143640"/>
          </a:xfrm>
          <a:prstGeom prst="rect">
            <a:avLst/>
          </a:prstGeom>
          <a:noFill/>
        </p:spPr>
        <p:txBody>
          <a:bodyPr wrap="none" lIns="0" rIns="0" tIns="0" bIns="0" anchor="t"/>
          <a:lstStyle/>
          <a:p>
            <a:pPr algn="l">
              <a:lnSpc>
                <a:spcPts val="1142"/>
              </a:lnSpc>
            </a:pPr>
            <a:r>
              <a:rPr sz="952" b="0" i="0">
                <a:solidFill>
                  <a:srgbClr val="111111"/>
                </a:solidFill>
                <a:latin typeface="Versos"/>
              </a:rPr>
              <a:t>0,17%</a:t>
            </a:r>
          </a:p>
        </p:txBody>
      </p:sp>
      <p:sp>
        <p:nvSpPr>
          <p:cNvPr id="107" name="TextBox 106"/>
          <p:cNvSpPr txBox="1"/>
          <p:nvPr/>
        </p:nvSpPr>
        <p:spPr>
          <a:xfrm>
            <a:off x="3802680" y="97780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2681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R$ 156.046.891,63</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R$ 146.843.921,67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