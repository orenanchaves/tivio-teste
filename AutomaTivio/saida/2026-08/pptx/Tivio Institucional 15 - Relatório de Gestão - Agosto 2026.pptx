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15 FIF CLASSE INVESTIMENTO RF CP LP RL </a:t>
            </a:r>
            <a:r>
              <a:rPr sz="833" b="0" i="0">
                <a:solidFill>
                  <a:srgbClr val="FFFFFF"/>
                </a:solidFill>
                <a:latin typeface="Versos"/>
              </a:rPr>
              <a:t>/ CNPJ 04.240.128/0001-83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1,11%</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9,53%</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14,94%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30,92%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51,22%</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1.644,37%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1.408,13%</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0,20%</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7,05%</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236,24%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116%</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117%</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379237" cy="143640"/>
          </a:xfrm>
          <a:prstGeom prst="rect">
            <a:avLst/>
          </a:prstGeom>
          <a:noFill/>
        </p:spPr>
        <p:txBody>
          <a:bodyPr wrap="none" lIns="0" rIns="0" tIns="0" bIns="0" anchor="t"/>
          <a:lstStyle/>
          <a:p>
            <a:pPr algn="l">
              <a:lnSpc>
                <a:spcPts val="1107"/>
              </a:lnSpc>
            </a:pPr>
            <a:r>
              <a:rPr sz="922" b="0" i="0">
                <a:solidFill>
                  <a:srgbClr val="5A82A0"/>
                </a:solidFill>
                <a:latin typeface="Versos"/>
              </a:rPr>
              <a:t>5,45%</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83537" cy="143640"/>
          </a:xfrm>
          <a:prstGeom prst="rect">
            <a:avLst/>
          </a:prstGeom>
          <a:noFill/>
        </p:spPr>
        <p:txBody>
          <a:bodyPr wrap="none" lIns="0" rIns="0" tIns="0" bIns="0" anchor="t"/>
          <a:lstStyle/>
          <a:p>
            <a:pPr algn="l">
              <a:lnSpc>
                <a:spcPts val="1107"/>
              </a:lnSpc>
            </a:pPr>
            <a:r>
              <a:rPr sz="922" b="0" i="0">
                <a:solidFill>
                  <a:srgbClr val="5A82A0"/>
                </a:solidFill>
                <a:latin typeface="Versos"/>
              </a:rPr>
              <a:t>3,43%</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1891" cy="143640"/>
          </a:xfrm>
          <a:prstGeom prst="rect">
            <a:avLst/>
          </a:prstGeom>
          <a:noFill/>
        </p:spPr>
        <p:txBody>
          <a:bodyPr wrap="none" lIns="0" rIns="0" tIns="0" bIns="0" anchor="t"/>
          <a:lstStyle/>
          <a:p>
            <a:pPr algn="l">
              <a:lnSpc>
                <a:spcPts val="1107"/>
              </a:lnSpc>
            </a:pPr>
            <a:r>
              <a:rPr sz="922" b="0" i="0">
                <a:solidFill>
                  <a:srgbClr val="5A82A0"/>
                </a:solidFill>
                <a:latin typeface="Versos"/>
              </a:rPr>
              <a:t>1,76%</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4201" cy="143640"/>
          </a:xfrm>
          <a:prstGeom prst="rect">
            <a:avLst/>
          </a:prstGeom>
          <a:noFill/>
        </p:spPr>
        <p:txBody>
          <a:bodyPr wrap="none" lIns="0" rIns="0" tIns="0" bIns="0" anchor="t"/>
          <a:lstStyle/>
          <a:p>
            <a:pPr algn="l">
              <a:lnSpc>
                <a:spcPts val="1142"/>
              </a:lnSpc>
            </a:pPr>
            <a:r>
              <a:rPr sz="952" b="0" i="0">
                <a:solidFill>
                  <a:srgbClr val="111111"/>
                </a:solidFill>
                <a:latin typeface="Versos"/>
              </a:rPr>
              <a:t>32,66%</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60564" cy="143640"/>
          </a:xfrm>
          <a:prstGeom prst="rect">
            <a:avLst/>
          </a:prstGeom>
          <a:noFill/>
        </p:spPr>
        <p:txBody>
          <a:bodyPr wrap="none" lIns="0" rIns="0" tIns="0" bIns="0" anchor="t"/>
          <a:lstStyle/>
          <a:p>
            <a:pPr algn="l">
              <a:lnSpc>
                <a:spcPts val="1142"/>
              </a:lnSpc>
            </a:pPr>
            <a:r>
              <a:rPr sz="952" b="0" i="0">
                <a:solidFill>
                  <a:srgbClr val="111111"/>
                </a:solidFill>
                <a:latin typeface="Versos"/>
              </a:rPr>
              <a:t>7,77%</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6,20%</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95454" cy="143640"/>
          </a:xfrm>
          <a:prstGeom prst="rect">
            <a:avLst/>
          </a:prstGeom>
          <a:noFill/>
        </p:spPr>
        <p:txBody>
          <a:bodyPr wrap="none" lIns="0" rIns="0" tIns="0" bIns="0" anchor="t"/>
          <a:lstStyle/>
          <a:p>
            <a:pPr algn="l">
              <a:lnSpc>
                <a:spcPts val="1142"/>
              </a:lnSpc>
            </a:pPr>
            <a:r>
              <a:rPr sz="952" b="0" i="0">
                <a:solidFill>
                  <a:srgbClr val="111111"/>
                </a:solidFill>
                <a:latin typeface="Versos"/>
              </a:rPr>
              <a:t>5,66%</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61301" cy="143640"/>
          </a:xfrm>
          <a:prstGeom prst="rect">
            <a:avLst/>
          </a:prstGeom>
          <a:noFill/>
        </p:spPr>
        <p:txBody>
          <a:bodyPr wrap="none" lIns="0" rIns="0" tIns="0" bIns="0" anchor="t"/>
          <a:lstStyle/>
          <a:p>
            <a:pPr algn="l">
              <a:lnSpc>
                <a:spcPts val="1142"/>
              </a:lnSpc>
            </a:pPr>
            <a:r>
              <a:rPr sz="952" b="0" i="0">
                <a:solidFill>
                  <a:srgbClr val="111111"/>
                </a:solidFill>
                <a:latin typeface="Versos"/>
              </a:rPr>
              <a:t>4,10%</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98525" cy="143640"/>
          </a:xfrm>
          <a:prstGeom prst="rect">
            <a:avLst/>
          </a:prstGeom>
          <a:noFill/>
        </p:spPr>
        <p:txBody>
          <a:bodyPr wrap="none" lIns="0" rIns="0" tIns="0" bIns="0" anchor="t"/>
          <a:lstStyle/>
          <a:p>
            <a:pPr algn="l">
              <a:lnSpc>
                <a:spcPts val="1142"/>
              </a:lnSpc>
            </a:pPr>
            <a:r>
              <a:rPr sz="952" b="0" i="0">
                <a:solidFill>
                  <a:srgbClr val="111111"/>
                </a:solidFill>
                <a:latin typeface="Versos"/>
              </a:rPr>
              <a:t>0,68%</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47542" cy="143640"/>
          </a:xfrm>
          <a:prstGeom prst="rect">
            <a:avLst/>
          </a:prstGeom>
          <a:noFill/>
        </p:spPr>
        <p:txBody>
          <a:bodyPr wrap="none" lIns="0" rIns="0" tIns="0" bIns="0" anchor="t"/>
          <a:lstStyle/>
          <a:p>
            <a:pPr algn="l">
              <a:lnSpc>
                <a:spcPts val="1142"/>
              </a:lnSpc>
            </a:pPr>
            <a:r>
              <a:rPr sz="952" b="0" i="0">
                <a:solidFill>
                  <a:srgbClr val="111111"/>
                </a:solidFill>
                <a:latin typeface="Versos"/>
              </a:rPr>
              <a:t>27,95%</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716233" y="5746426"/>
            <a:ext cx="406756" cy="143640"/>
          </a:xfrm>
          <a:prstGeom prst="rect">
            <a:avLst/>
          </a:prstGeom>
          <a:noFill/>
        </p:spPr>
        <p:txBody>
          <a:bodyPr wrap="none" lIns="0" rIns="0" tIns="0" bIns="0" anchor="t"/>
          <a:lstStyle/>
          <a:p>
            <a:pPr algn="l">
              <a:lnSpc>
                <a:spcPts val="1142"/>
              </a:lnSpc>
            </a:pPr>
            <a:r>
              <a:rPr sz="952" b="0" i="0">
                <a:solidFill>
                  <a:srgbClr val="111111"/>
                </a:solidFill>
                <a:latin typeface="Versos"/>
              </a:rPr>
              <a:t>27,15%</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8697" cy="143640"/>
          </a:xfrm>
          <a:prstGeom prst="rect">
            <a:avLst/>
          </a:prstGeom>
          <a:noFill/>
        </p:spPr>
        <p:txBody>
          <a:bodyPr wrap="none" lIns="0" rIns="0" tIns="0" bIns="0" anchor="t"/>
          <a:lstStyle/>
          <a:p>
            <a:pPr algn="l">
              <a:lnSpc>
                <a:spcPts val="1142"/>
              </a:lnSpc>
            </a:pPr>
            <a:r>
              <a:rPr sz="952" b="0" i="0">
                <a:solidFill>
                  <a:srgbClr val="111111"/>
                </a:solidFill>
                <a:latin typeface="Versos"/>
              </a:rPr>
              <a:t>13,04%</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40294" cy="143640"/>
          </a:xfrm>
          <a:prstGeom prst="rect">
            <a:avLst/>
          </a:prstGeom>
          <a:noFill/>
        </p:spPr>
        <p:txBody>
          <a:bodyPr wrap="none" lIns="0" rIns="0" tIns="0" bIns="0" anchor="t"/>
          <a:lstStyle/>
          <a:p>
            <a:pPr algn="l">
              <a:lnSpc>
                <a:spcPts val="1142"/>
              </a:lnSpc>
            </a:pPr>
            <a:r>
              <a:rPr sz="952" b="0" i="0">
                <a:solidFill>
                  <a:srgbClr val="111111"/>
                </a:solidFill>
                <a:latin typeface="Versos"/>
              </a:rPr>
              <a:t>7,10%</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91768" cy="143640"/>
          </a:xfrm>
          <a:prstGeom prst="rect">
            <a:avLst/>
          </a:prstGeom>
          <a:noFill/>
        </p:spPr>
        <p:txBody>
          <a:bodyPr wrap="none" lIns="0" rIns="0" tIns="0" bIns="0" anchor="t"/>
          <a:lstStyle/>
          <a:p>
            <a:pPr algn="l">
              <a:lnSpc>
                <a:spcPts val="1142"/>
              </a:lnSpc>
            </a:pPr>
            <a:r>
              <a:rPr sz="952" b="0" i="0">
                <a:solidFill>
                  <a:srgbClr val="111111"/>
                </a:solidFill>
                <a:latin typeface="Versos"/>
              </a:rPr>
              <a:t>3,45%</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3,39%</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2,67%</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2,26%</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64741" cy="143640"/>
          </a:xfrm>
          <a:prstGeom prst="rect">
            <a:avLst/>
          </a:prstGeom>
          <a:noFill/>
        </p:spPr>
        <p:txBody>
          <a:bodyPr wrap="none" lIns="0" rIns="0" tIns="0" bIns="0" anchor="t"/>
          <a:lstStyle/>
          <a:p>
            <a:pPr algn="l">
              <a:lnSpc>
                <a:spcPts val="1142"/>
              </a:lnSpc>
            </a:pPr>
            <a:r>
              <a:rPr sz="952" b="0" i="0">
                <a:solidFill>
                  <a:srgbClr val="111111"/>
                </a:solidFill>
                <a:latin typeface="Versos"/>
              </a:rPr>
              <a:t>1,99%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60687" cy="143640"/>
          </a:xfrm>
          <a:prstGeom prst="rect">
            <a:avLst/>
          </a:prstGeom>
          <a:noFill/>
        </p:spPr>
        <p:txBody>
          <a:bodyPr wrap="none" lIns="0" rIns="0" tIns="0" bIns="0" anchor="t"/>
          <a:lstStyle/>
          <a:p>
            <a:pPr algn="l">
              <a:lnSpc>
                <a:spcPts val="1142"/>
              </a:lnSpc>
            </a:pPr>
            <a:r>
              <a:rPr sz="952" b="0" i="0">
                <a:solidFill>
                  <a:srgbClr val="111111"/>
                </a:solidFill>
                <a:latin typeface="Versos"/>
              </a:rPr>
              <a:t>1,04%</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86608" cy="143640"/>
          </a:xfrm>
          <a:prstGeom prst="rect">
            <a:avLst/>
          </a:prstGeom>
          <a:noFill/>
        </p:spPr>
        <p:txBody>
          <a:bodyPr wrap="none" lIns="0" rIns="0" tIns="0" bIns="0" anchor="t"/>
          <a:lstStyle/>
          <a:p>
            <a:pPr algn="l">
              <a:lnSpc>
                <a:spcPts val="1142"/>
              </a:lnSpc>
            </a:pPr>
            <a:r>
              <a:rPr sz="952" b="0" i="0">
                <a:solidFill>
                  <a:srgbClr val="111111"/>
                </a:solidFill>
                <a:latin typeface="Versos"/>
              </a:rPr>
              <a:t>0,87%</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0,61%</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5208" cy="143640"/>
          </a:xfrm>
          <a:prstGeom prst="rect">
            <a:avLst/>
          </a:prstGeom>
          <a:noFill/>
        </p:spPr>
        <p:txBody>
          <a:bodyPr wrap="none" lIns="0" rIns="0" tIns="0" bIns="0" anchor="t"/>
          <a:lstStyle/>
          <a:p>
            <a:pPr algn="l">
              <a:lnSpc>
                <a:spcPts val="1142"/>
              </a:lnSpc>
            </a:pPr>
            <a:r>
              <a:rPr sz="952" b="0" i="0">
                <a:solidFill>
                  <a:srgbClr val="111111"/>
                </a:solidFill>
                <a:latin typeface="Versos"/>
              </a:rPr>
              <a:t>0,53%</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56633" cy="143640"/>
          </a:xfrm>
          <a:prstGeom prst="rect">
            <a:avLst/>
          </a:prstGeom>
          <a:noFill/>
        </p:spPr>
        <p:txBody>
          <a:bodyPr wrap="none" lIns="0" rIns="0" tIns="0" bIns="0" anchor="t"/>
          <a:lstStyle/>
          <a:p>
            <a:pPr algn="l">
              <a:lnSpc>
                <a:spcPts val="1142"/>
              </a:lnSpc>
            </a:pPr>
            <a:r>
              <a:rPr sz="952" b="0" i="0">
                <a:solidFill>
                  <a:srgbClr val="111111"/>
                </a:solidFill>
                <a:latin typeface="Versos"/>
              </a:rPr>
              <a:t>0,51%</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85871" cy="143640"/>
          </a:xfrm>
          <a:prstGeom prst="rect">
            <a:avLst/>
          </a:prstGeom>
          <a:noFill/>
        </p:spPr>
        <p:txBody>
          <a:bodyPr wrap="none" lIns="0" rIns="0" tIns="0" bIns="0" anchor="t"/>
          <a:lstStyle/>
          <a:p>
            <a:pPr algn="l">
              <a:lnSpc>
                <a:spcPts val="1142"/>
              </a:lnSpc>
            </a:pPr>
            <a:r>
              <a:rPr sz="952" b="0" i="0">
                <a:solidFill>
                  <a:srgbClr val="111111"/>
                </a:solidFill>
                <a:latin typeface="Versos"/>
              </a:rPr>
              <a:t>0,24%</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49139" cy="143640"/>
          </a:xfrm>
          <a:prstGeom prst="rect">
            <a:avLst/>
          </a:prstGeom>
          <a:noFill/>
        </p:spPr>
        <p:txBody>
          <a:bodyPr wrap="none" lIns="0" rIns="0" tIns="0" bIns="0" anchor="t"/>
          <a:lstStyle/>
          <a:p>
            <a:pPr algn="l">
              <a:lnSpc>
                <a:spcPts val="1142"/>
              </a:lnSpc>
            </a:pPr>
            <a:r>
              <a:rPr sz="952" b="0" i="0">
                <a:solidFill>
                  <a:srgbClr val="111111"/>
                </a:solidFill>
                <a:latin typeface="Versos"/>
              </a:rPr>
              <a:t>0,17%</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0,16%</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15 apresentou rentabilidade de 1,11% no mês (102% do CDI), acumulando 9,53% (102%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27/02/2002</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R$ 156.046.891,63</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102,5%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R$ 146.843.921,67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