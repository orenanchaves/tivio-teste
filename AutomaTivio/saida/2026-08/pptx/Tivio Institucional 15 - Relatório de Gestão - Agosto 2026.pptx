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15 FIF – RF CP LP – RL </a:t>
            </a:r>
            <a:r>
              <a:rPr sz="829" b="0" i="0">
                <a:solidFill>
                  <a:srgbClr val="FFFFFF"/>
                </a:solidFill>
                <a:latin typeface="Versos"/>
              </a:rPr>
              <a:t>/ CNPJ 04.240.128/0001-83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1,11%</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9,53%</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14,94%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30,92%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51,22%</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1.644,37%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1.408,13%</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0,20%</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7,05%</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236,24%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116%</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117%</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379237" cy="143640"/>
          </a:xfrm>
          <a:prstGeom prst="rect">
            <a:avLst/>
          </a:prstGeom>
          <a:noFill/>
        </p:spPr>
        <p:txBody>
          <a:bodyPr wrap="none" lIns="0" rIns="0" tIns="0" bIns="0" anchor="t"/>
          <a:lstStyle/>
          <a:p>
            <a:pPr algn="l">
              <a:lnSpc>
                <a:spcPts val="1107"/>
              </a:lnSpc>
            </a:pPr>
            <a:r>
              <a:rPr sz="922" b="0" i="0">
                <a:solidFill>
                  <a:srgbClr val="5A82A0"/>
                </a:solidFill>
                <a:latin typeface="Versos"/>
              </a:rPr>
              <a:t>5,45%</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52606"/>
            <a:ext cx="383537" cy="143640"/>
          </a:xfrm>
          <a:prstGeom prst="rect">
            <a:avLst/>
          </a:prstGeom>
          <a:noFill/>
        </p:spPr>
        <p:txBody>
          <a:bodyPr wrap="none" lIns="0" rIns="0" tIns="0" bIns="0" anchor="t"/>
          <a:lstStyle/>
          <a:p>
            <a:pPr algn="l">
              <a:lnSpc>
                <a:spcPts val="1107"/>
              </a:lnSpc>
            </a:pPr>
            <a:r>
              <a:rPr sz="922" b="0" i="0">
                <a:solidFill>
                  <a:srgbClr val="5A82A0"/>
                </a:solidFill>
                <a:latin typeface="Versos"/>
              </a:rPr>
              <a:t>3,43%</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84944"/>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917281"/>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349619"/>
            <a:ext cx="341891" cy="143640"/>
          </a:xfrm>
          <a:prstGeom prst="rect">
            <a:avLst/>
          </a:prstGeom>
          <a:noFill/>
        </p:spPr>
        <p:txBody>
          <a:bodyPr wrap="none" lIns="0" rIns="0" tIns="0" bIns="0" anchor="t"/>
          <a:lstStyle/>
          <a:p>
            <a:pPr algn="l">
              <a:lnSpc>
                <a:spcPts val="1107"/>
              </a:lnSpc>
            </a:pPr>
            <a:r>
              <a:rPr sz="922" b="0" i="0">
                <a:solidFill>
                  <a:srgbClr val="5A82A0"/>
                </a:solidFill>
                <a:latin typeface="Versos"/>
              </a:rPr>
              <a:t>1,76%</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74201" cy="143640"/>
          </a:xfrm>
          <a:prstGeom prst="rect">
            <a:avLst/>
          </a:prstGeom>
          <a:noFill/>
        </p:spPr>
        <p:txBody>
          <a:bodyPr wrap="none" lIns="0" rIns="0" tIns="0" bIns="0" anchor="t"/>
          <a:lstStyle/>
          <a:p>
            <a:pPr algn="l">
              <a:lnSpc>
                <a:spcPts val="1142"/>
              </a:lnSpc>
            </a:pPr>
            <a:r>
              <a:rPr sz="952" b="0" i="0">
                <a:solidFill>
                  <a:srgbClr val="111111"/>
                </a:solidFill>
                <a:latin typeface="Versos"/>
              </a:rPr>
              <a:t>32,66%</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515158"/>
            <a:ext cx="360564" cy="143640"/>
          </a:xfrm>
          <a:prstGeom prst="rect">
            <a:avLst/>
          </a:prstGeom>
          <a:noFill/>
        </p:spPr>
        <p:txBody>
          <a:bodyPr wrap="none" lIns="0" rIns="0" tIns="0" bIns="0" anchor="t"/>
          <a:lstStyle/>
          <a:p>
            <a:pPr algn="l">
              <a:lnSpc>
                <a:spcPts val="1142"/>
              </a:lnSpc>
            </a:pPr>
            <a:r>
              <a:rPr sz="952" b="0" i="0">
                <a:solidFill>
                  <a:srgbClr val="111111"/>
                </a:solidFill>
                <a:latin typeface="Versos"/>
              </a:rPr>
              <a:t>7,77%</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77928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6,20%</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9043413"/>
            <a:ext cx="395454" cy="143640"/>
          </a:xfrm>
          <a:prstGeom prst="rect">
            <a:avLst/>
          </a:prstGeom>
          <a:noFill/>
        </p:spPr>
        <p:txBody>
          <a:bodyPr wrap="none" lIns="0" rIns="0" tIns="0" bIns="0" anchor="t"/>
          <a:lstStyle/>
          <a:p>
            <a:pPr algn="l">
              <a:lnSpc>
                <a:spcPts val="1142"/>
              </a:lnSpc>
            </a:pPr>
            <a:r>
              <a:rPr sz="952" b="0" i="0">
                <a:solidFill>
                  <a:srgbClr val="111111"/>
                </a:solidFill>
                <a:latin typeface="Versos"/>
              </a:rPr>
              <a:t>5,66%</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307541"/>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571668"/>
            <a:ext cx="361301" cy="143640"/>
          </a:xfrm>
          <a:prstGeom prst="rect">
            <a:avLst/>
          </a:prstGeom>
          <a:noFill/>
        </p:spPr>
        <p:txBody>
          <a:bodyPr wrap="none" lIns="0" rIns="0" tIns="0" bIns="0" anchor="t"/>
          <a:lstStyle/>
          <a:p>
            <a:pPr algn="l">
              <a:lnSpc>
                <a:spcPts val="1142"/>
              </a:lnSpc>
            </a:pPr>
            <a:r>
              <a:rPr sz="952" b="0" i="0">
                <a:solidFill>
                  <a:srgbClr val="111111"/>
                </a:solidFill>
                <a:latin typeface="Versos"/>
              </a:rPr>
              <a:t>4,10%</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835796"/>
            <a:ext cx="398525" cy="143640"/>
          </a:xfrm>
          <a:prstGeom prst="rect">
            <a:avLst/>
          </a:prstGeom>
          <a:noFill/>
        </p:spPr>
        <p:txBody>
          <a:bodyPr wrap="none" lIns="0" rIns="0" tIns="0" bIns="0" anchor="t"/>
          <a:lstStyle/>
          <a:p>
            <a:pPr algn="l">
              <a:lnSpc>
                <a:spcPts val="1142"/>
              </a:lnSpc>
            </a:pPr>
            <a:r>
              <a:rPr sz="952" b="0" i="0">
                <a:solidFill>
                  <a:srgbClr val="111111"/>
                </a:solidFill>
                <a:latin typeface="Versos"/>
              </a:rPr>
              <a:t>0,68%</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8209"/>
            <a:ext cx="447542" cy="143640"/>
          </a:xfrm>
          <a:prstGeom prst="rect">
            <a:avLst/>
          </a:prstGeom>
          <a:noFill/>
        </p:spPr>
        <p:txBody>
          <a:bodyPr wrap="none" lIns="0" rIns="0" tIns="0" bIns="0" anchor="t"/>
          <a:lstStyle/>
          <a:p>
            <a:pPr algn="l">
              <a:lnSpc>
                <a:spcPts val="1142"/>
              </a:lnSpc>
            </a:pPr>
            <a:r>
              <a:rPr sz="952" b="0" i="0">
                <a:solidFill>
                  <a:srgbClr val="111111"/>
                </a:solidFill>
                <a:latin typeface="Versos"/>
              </a:rPr>
              <a:t>27,95%</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716233" y="5746426"/>
            <a:ext cx="406756" cy="143640"/>
          </a:xfrm>
          <a:prstGeom prst="rect">
            <a:avLst/>
          </a:prstGeom>
          <a:noFill/>
        </p:spPr>
        <p:txBody>
          <a:bodyPr wrap="none" lIns="0" rIns="0" tIns="0" bIns="0" anchor="t"/>
          <a:lstStyle/>
          <a:p>
            <a:pPr algn="l">
              <a:lnSpc>
                <a:spcPts val="1142"/>
              </a:lnSpc>
            </a:pPr>
            <a:r>
              <a:rPr sz="952" b="0" i="0">
                <a:solidFill>
                  <a:srgbClr val="111111"/>
                </a:solidFill>
                <a:latin typeface="Versos"/>
              </a:rPr>
              <a:t>27,15%</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4526"/>
            <a:ext cx="438697" cy="143640"/>
          </a:xfrm>
          <a:prstGeom prst="rect">
            <a:avLst/>
          </a:prstGeom>
          <a:noFill/>
        </p:spPr>
        <p:txBody>
          <a:bodyPr wrap="none" lIns="0" rIns="0" tIns="0" bIns="0" anchor="t"/>
          <a:lstStyle/>
          <a:p>
            <a:pPr algn="l">
              <a:lnSpc>
                <a:spcPts val="1142"/>
              </a:lnSpc>
            </a:pPr>
            <a:r>
              <a:rPr sz="952" b="0" i="0">
                <a:solidFill>
                  <a:srgbClr val="111111"/>
                </a:solidFill>
                <a:latin typeface="Versos"/>
              </a:rPr>
              <a:t>13,04%</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202743"/>
            <a:ext cx="340294" cy="143640"/>
          </a:xfrm>
          <a:prstGeom prst="rect">
            <a:avLst/>
          </a:prstGeom>
          <a:noFill/>
        </p:spPr>
        <p:txBody>
          <a:bodyPr wrap="none" lIns="0" rIns="0" tIns="0" bIns="0" anchor="t"/>
          <a:lstStyle/>
          <a:p>
            <a:pPr algn="l">
              <a:lnSpc>
                <a:spcPts val="1142"/>
              </a:lnSpc>
            </a:pPr>
            <a:r>
              <a:rPr sz="952" b="0" i="0">
                <a:solidFill>
                  <a:srgbClr val="111111"/>
                </a:solidFill>
                <a:latin typeface="Versos"/>
              </a:rPr>
              <a:t>7,10%</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30843"/>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79" name="TextBox 78"/>
          <p:cNvSpPr txBox="1"/>
          <p:nvPr/>
        </p:nvSpPr>
        <p:spPr>
          <a:xfrm>
            <a:off x="3802680" y="66667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9060"/>
            <a:ext cx="391768" cy="143640"/>
          </a:xfrm>
          <a:prstGeom prst="rect">
            <a:avLst/>
          </a:prstGeom>
          <a:noFill/>
        </p:spPr>
        <p:txBody>
          <a:bodyPr wrap="none" lIns="0" rIns="0" tIns="0" bIns="0" anchor="t"/>
          <a:lstStyle/>
          <a:p>
            <a:pPr algn="l">
              <a:lnSpc>
                <a:spcPts val="1142"/>
              </a:lnSpc>
            </a:pPr>
            <a:r>
              <a:rPr sz="952" b="0" i="0">
                <a:solidFill>
                  <a:srgbClr val="111111"/>
                </a:solidFill>
                <a:latin typeface="Versos"/>
              </a:rPr>
              <a:t>3,45%</a:t>
            </a:r>
          </a:p>
        </p:txBody>
      </p:sp>
      <p:sp>
        <p:nvSpPr>
          <p:cNvPr id="81" name="TextBox 80"/>
          <p:cNvSpPr txBox="1"/>
          <p:nvPr/>
        </p:nvSpPr>
        <p:spPr>
          <a:xfrm>
            <a:off x="3802680" y="6838374"/>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87160"/>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3,39%</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15377"/>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2,67%</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43476"/>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2,26%</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71694"/>
            <a:ext cx="364741" cy="143640"/>
          </a:xfrm>
          <a:prstGeom prst="rect">
            <a:avLst/>
          </a:prstGeom>
          <a:noFill/>
        </p:spPr>
        <p:txBody>
          <a:bodyPr wrap="none" lIns="0" rIns="0" tIns="0" bIns="0" anchor="t"/>
          <a:lstStyle/>
          <a:p>
            <a:pPr algn="l">
              <a:lnSpc>
                <a:spcPts val="1142"/>
              </a:lnSpc>
            </a:pPr>
            <a:r>
              <a:rPr sz="952" b="0" i="0">
                <a:solidFill>
                  <a:srgbClr val="111111"/>
                </a:solidFill>
                <a:latin typeface="Versos"/>
              </a:rPr>
              <a:t>1,99%</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99793"/>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28011"/>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56228"/>
            <a:ext cx="360687" cy="143640"/>
          </a:xfrm>
          <a:prstGeom prst="rect">
            <a:avLst/>
          </a:prstGeom>
          <a:noFill/>
        </p:spPr>
        <p:txBody>
          <a:bodyPr wrap="none" lIns="0" rIns="0" tIns="0" bIns="0" anchor="t"/>
          <a:lstStyle/>
          <a:p>
            <a:pPr algn="l">
              <a:lnSpc>
                <a:spcPts val="1142"/>
              </a:lnSpc>
            </a:pPr>
            <a:r>
              <a:rPr sz="952" b="0" i="0">
                <a:solidFill>
                  <a:srgbClr val="111111"/>
                </a:solidFill>
                <a:latin typeface="Versos"/>
              </a:rPr>
              <a:t>1,04%</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84446"/>
            <a:ext cx="386608" cy="143640"/>
          </a:xfrm>
          <a:prstGeom prst="rect">
            <a:avLst/>
          </a:prstGeom>
          <a:noFill/>
        </p:spPr>
        <p:txBody>
          <a:bodyPr wrap="none" lIns="0" rIns="0" tIns="0" bIns="0" anchor="t"/>
          <a:lstStyle/>
          <a:p>
            <a:pPr algn="l">
              <a:lnSpc>
                <a:spcPts val="1142"/>
              </a:lnSpc>
            </a:pPr>
            <a:r>
              <a:rPr sz="952" b="0" i="0">
                <a:solidFill>
                  <a:srgbClr val="111111"/>
                </a:solidFill>
                <a:latin typeface="Versos"/>
              </a:rPr>
              <a:t>0,87%</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712663"/>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0,61%</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40881"/>
            <a:ext cx="395208" cy="143640"/>
          </a:xfrm>
          <a:prstGeom prst="rect">
            <a:avLst/>
          </a:prstGeom>
          <a:noFill/>
        </p:spPr>
        <p:txBody>
          <a:bodyPr wrap="none" lIns="0" rIns="0" tIns="0" bIns="0" anchor="t"/>
          <a:lstStyle/>
          <a:p>
            <a:pPr algn="l">
              <a:lnSpc>
                <a:spcPts val="1142"/>
              </a:lnSpc>
            </a:pPr>
            <a:r>
              <a:rPr sz="952" b="0" i="0">
                <a:solidFill>
                  <a:srgbClr val="111111"/>
                </a:solidFill>
                <a:latin typeface="Versos"/>
              </a:rPr>
              <a:t>0,53%</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69098"/>
            <a:ext cx="356633" cy="143640"/>
          </a:xfrm>
          <a:prstGeom prst="rect">
            <a:avLst/>
          </a:prstGeom>
          <a:noFill/>
        </p:spPr>
        <p:txBody>
          <a:bodyPr wrap="none" lIns="0" rIns="0" tIns="0" bIns="0" anchor="t"/>
          <a:lstStyle/>
          <a:p>
            <a:pPr algn="l">
              <a:lnSpc>
                <a:spcPts val="1142"/>
              </a:lnSpc>
            </a:pPr>
            <a:r>
              <a:rPr sz="952" b="0" i="0">
                <a:solidFill>
                  <a:srgbClr val="111111"/>
                </a:solidFill>
                <a:latin typeface="Versos"/>
              </a:rPr>
              <a:t>0,51%</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97316"/>
            <a:ext cx="385871" cy="143640"/>
          </a:xfrm>
          <a:prstGeom prst="rect">
            <a:avLst/>
          </a:prstGeom>
          <a:noFill/>
        </p:spPr>
        <p:txBody>
          <a:bodyPr wrap="none" lIns="0" rIns="0" tIns="0" bIns="0" anchor="t"/>
          <a:lstStyle/>
          <a:p>
            <a:pPr algn="l">
              <a:lnSpc>
                <a:spcPts val="1142"/>
              </a:lnSpc>
            </a:pPr>
            <a:r>
              <a:rPr sz="952" b="0" i="0">
                <a:solidFill>
                  <a:srgbClr val="111111"/>
                </a:solidFill>
                <a:latin typeface="Versos"/>
              </a:rPr>
              <a:t>0,24%</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25533"/>
            <a:ext cx="349139" cy="143640"/>
          </a:xfrm>
          <a:prstGeom prst="rect">
            <a:avLst/>
          </a:prstGeom>
          <a:noFill/>
        </p:spPr>
        <p:txBody>
          <a:bodyPr wrap="none" lIns="0" rIns="0" tIns="0" bIns="0" anchor="t"/>
          <a:lstStyle/>
          <a:p>
            <a:pPr algn="l">
              <a:lnSpc>
                <a:spcPts val="1142"/>
              </a:lnSpc>
            </a:pPr>
            <a:r>
              <a:rPr sz="952" b="0" i="0">
                <a:solidFill>
                  <a:srgbClr val="111111"/>
                </a:solidFill>
                <a:latin typeface="Versos"/>
              </a:rPr>
              <a:t>0,17%</a:t>
            </a:r>
          </a:p>
        </p:txBody>
      </p:sp>
      <p:sp>
        <p:nvSpPr>
          <p:cNvPr id="107" name="TextBox 106"/>
          <p:cNvSpPr txBox="1"/>
          <p:nvPr/>
        </p:nvSpPr>
        <p:spPr>
          <a:xfrm>
            <a:off x="3802680" y="980496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53751"/>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0,16%</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15 apresentou rentabilidade de 1,11% no mês (102% do CDI), acumulando 9,53% (102%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27/02/2002</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0,50%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R$ 156.046.891,63</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102,5%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R$ 146.843.921,67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