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c:v>
                </c:pt>
                <c:pt idx="2">
                  <c:v>0.024399999999999998</c:v>
                </c:pt>
                <c:pt idx="3">
                  <c:v>0.0348</c:v>
                </c:pt>
                <c:pt idx="4">
                  <c:v>0.048</c:v>
                </c:pt>
                <c:pt idx="5">
                  <c:v>0.0594</c:v>
                </c:pt>
                <c:pt idx="6">
                  <c:v>0.0692</c:v>
                </c:pt>
                <c:pt idx="7">
                  <c:v>0.0795</c:v>
                </c:pt>
                <c:pt idx="8">
                  <c:v>0.091</c:v>
                </c:pt>
                <c:pt idx="9">
                  <c:v>0.10310000000000001</c:v>
                </c:pt>
                <c:pt idx="10">
                  <c:v>0.1155</c:v>
                </c:pt>
                <c:pt idx="11">
                  <c:v>0.1293</c:v>
                </c:pt>
                <c:pt idx="12">
                  <c:v>0.1414</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09.083.848/0001-04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1,07%</a:t>
                      </a:r>
                    </a:p>
                  </a:txBody>
                  <a:tcPr marL="43200" marR="43200" marT="0" marB="0">
                    <a:solidFill>
                      <a:srgbClr val="F4F7F9"/>
                    </a:solidFill>
                  </a:tcPr>
                </a:tc>
                <a:tc>
                  <a:txBody>
                    <a:bodyPr/>
                    <a:lstStyle/>
                    <a:p>
                      <a:pPr algn="r"/>
                      <a:r>
                        <a:rPr sz="850" b="0">
                          <a:solidFill>
                            <a:srgbClr val="1A1A1A"/>
                          </a:solidFill>
                          <a:latin typeface="Versos"/>
                        </a:rPr>
                        <a:t>8,91%</a:t>
                      </a:r>
                    </a:p>
                  </a:txBody>
                  <a:tcPr marL="43200" marR="43200" marT="0" marB="0">
                    <a:solidFill>
                      <a:srgbClr val="F4F7F9"/>
                    </a:solidFill>
                  </a:tcPr>
                </a:tc>
                <a:tc>
                  <a:txBody>
                    <a:bodyPr/>
                    <a:lstStyle/>
                    <a:p>
                      <a:pPr algn="r"/>
                      <a:r>
                        <a:rPr sz="850" b="0">
                          <a:solidFill>
                            <a:srgbClr val="1A1A1A"/>
                          </a:solidFill>
                          <a:latin typeface="Versos"/>
                        </a:rPr>
                        <a:t>14,07%</a:t>
                      </a:r>
                    </a:p>
                  </a:txBody>
                  <a:tcPr marL="43200" marR="43200" marT="0" marB="0">
                    <a:solidFill>
                      <a:srgbClr val="F4F7F9"/>
                    </a:solidFill>
                  </a:tcPr>
                </a:tc>
                <a:tc>
                  <a:txBody>
                    <a:bodyPr/>
                    <a:lstStyle/>
                    <a:p>
                      <a:pPr algn="r"/>
                      <a:r>
                        <a:rPr sz="850" b="0">
                          <a:solidFill>
                            <a:srgbClr val="1A1A1A"/>
                          </a:solidFill>
                          <a:latin typeface="Versos"/>
                        </a:rPr>
                        <a:t>28,79%</a:t>
                      </a:r>
                    </a:p>
                  </a:txBody>
                  <a:tcPr marL="43200" marR="43200" marT="0" marB="0">
                    <a:solidFill>
                      <a:srgbClr val="F4F7F9"/>
                    </a:solidFill>
                  </a:tcPr>
                </a:tc>
                <a:tc>
                  <a:txBody>
                    <a:bodyPr/>
                    <a:lstStyle/>
                    <a:p>
                      <a:pPr algn="r"/>
                      <a:r>
                        <a:rPr sz="850" b="0">
                          <a:solidFill>
                            <a:srgbClr val="1A1A1A"/>
                          </a:solidFill>
                          <a:latin typeface="Versos"/>
                        </a:rPr>
                        <a:t>46,53%</a:t>
                      </a:r>
                    </a:p>
                  </a:txBody>
                  <a:tcPr marL="43200" marR="43200" marT="0" marB="0">
                    <a:solidFill>
                      <a:srgbClr val="F4F7F9"/>
                    </a:solidFill>
                  </a:tcPr>
                </a:tc>
                <a:tc>
                  <a:txBody>
                    <a:bodyPr/>
                    <a:lstStyle/>
                    <a:p>
                      <a:pPr algn="r"/>
                      <a:r>
                        <a:rPr sz="850" b="0">
                          <a:solidFill>
                            <a:srgbClr val="1A1A1A"/>
                          </a:solidFill>
                          <a:latin typeface="Versos"/>
                        </a:rPr>
                        <a:t>435,43%</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454,48%</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97,36%</a:t>
                      </a:r>
                    </a:p>
                  </a:txBody>
                  <a:tcPr marL="43200" marR="43200" marT="0" marB="0">
                    <a:solidFill>
                      <a:srgbClr val="F4F7F9"/>
                    </a:solidFill>
                  </a:tcPr>
                </a:tc>
                <a:tc>
                  <a:txBody>
                    <a:bodyPr/>
                    <a:lstStyle/>
                    <a:p>
                      <a:pPr algn="r"/>
                      <a:r>
                        <a:rPr sz="850" b="0">
                          <a:solidFill>
                            <a:srgbClr val="1A1A1A"/>
                          </a:solidFill>
                          <a:latin typeface="Versos"/>
                        </a:rPr>
                        <a:t>95,53%</a:t>
                      </a:r>
                    </a:p>
                  </a:txBody>
                  <a:tcPr marL="43200" marR="43200" marT="0" marB="0">
                    <a:solidFill>
                      <a:srgbClr val="F4F7F9"/>
                    </a:solidFill>
                  </a:tcPr>
                </a:tc>
                <a:tc>
                  <a:txBody>
                    <a:bodyPr/>
                    <a:lstStyle/>
                    <a:p>
                      <a:pPr algn="r"/>
                      <a:r>
                        <a:rPr sz="850" b="0">
                          <a:solidFill>
                            <a:srgbClr val="1A1A1A"/>
                          </a:solidFill>
                          <a:latin typeface="Versos"/>
                        </a:rPr>
                        <a:t>96,57%</a:t>
                      </a:r>
                    </a:p>
                  </a:txBody>
                  <a:tcPr marL="43200" marR="43200" marT="0" marB="0">
                    <a:solidFill>
                      <a:srgbClr val="F4F7F9"/>
                    </a:solidFill>
                  </a:tcPr>
                </a:tc>
                <a:tc>
                  <a:txBody>
                    <a:bodyPr/>
                    <a:lstStyle/>
                    <a:p>
                      <a:pPr algn="r"/>
                      <a:r>
                        <a:rPr sz="850" b="0">
                          <a:solidFill>
                            <a:srgbClr val="1A1A1A"/>
                          </a:solidFill>
                          <a:latin typeface="Versos"/>
                        </a:rPr>
                        <a:t>97,66%</a:t>
                      </a:r>
                    </a:p>
                  </a:txBody>
                  <a:tcPr marL="43200" marR="43200" marT="0" marB="0">
                    <a:solidFill>
                      <a:srgbClr val="F4F7F9"/>
                    </a:solidFill>
                  </a:tcPr>
                </a:tc>
                <a:tc>
                  <a:txBody>
                    <a:bodyPr/>
                    <a:lstStyle/>
                    <a:p>
                      <a:pPr algn="r"/>
                      <a:r>
                        <a:rPr sz="850" b="0">
                          <a:solidFill>
                            <a:srgbClr val="1A1A1A"/>
                          </a:solidFill>
                          <a:latin typeface="Versos"/>
                        </a:rPr>
                        <a:t>105,34%</a:t>
                      </a:r>
                    </a:p>
                  </a:txBody>
                  <a:tcPr marL="43200" marR="43200" marT="0" marB="0">
                    <a:solidFill>
                      <a:srgbClr val="F4F7F9"/>
                    </a:solidFill>
                  </a:tcPr>
                </a:tc>
                <a:tc>
                  <a:txBody>
                    <a:bodyPr/>
                    <a:lstStyle/>
                    <a:p>
                      <a:pPr algn="r"/>
                      <a:r>
                        <a:rPr sz="850" b="0">
                          <a:solidFill>
                            <a:srgbClr val="1A1A1A"/>
                          </a:solidFill>
                          <a:latin typeface="Versos"/>
                        </a:rPr>
                        <a:t>95,81%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BV</a:t>
                      </a:r>
                    </a:p>
                  </a:txBody>
                  <a:tcPr marL="43200" marR="43200" marT="0" marB="0">
                    <a:solidFill>
                      <a:srgbClr val="FFFFFF"/>
                    </a:solidFill>
                  </a:tcPr>
                </a:tc>
                <a:tc>
                  <a:txBody>
                    <a:bodyPr/>
                    <a:lstStyle/>
                    <a:p>
                      <a:pPr algn="r"/>
                      <a:r>
                        <a:rPr sz="850" b="0">
                          <a:solidFill>
                            <a:srgbClr val="1A1A1A"/>
                          </a:solidFill>
                          <a:latin typeface="Versos"/>
                        </a:rPr>
                        <a:t>18,20%</a:t>
                      </a:r>
                    </a:p>
                  </a:txBody>
                  <a:tcPr marL="43200" marR="43200" marT="0" marB="0">
                    <a:solidFill>
                      <a:srgbClr val="FFFFFF"/>
                    </a:solidFill>
                  </a:tcPr>
                </a:tc>
              </a:tr>
              <a:tr h="187200">
                <a:tc>
                  <a:txBody>
                    <a:bodyPr/>
                    <a:lstStyle/>
                    <a:p>
                      <a:pPr algn="l"/>
                      <a:r>
                        <a:rPr sz="850" b="1">
                          <a:solidFill>
                            <a:srgbClr val="1A1A1A"/>
                          </a:solidFill>
                          <a:latin typeface="Versos"/>
                        </a:rPr>
                        <a:t>BRADESCO</a:t>
                      </a:r>
                    </a:p>
                  </a:txBody>
                  <a:tcPr marL="43200" marR="43200" marT="0" marB="0">
                    <a:solidFill>
                      <a:srgbClr val="F4F7F9"/>
                    </a:solidFill>
                  </a:tcPr>
                </a:tc>
                <a:tc>
                  <a:txBody>
                    <a:bodyPr/>
                    <a:lstStyle/>
                    <a:p>
                      <a:pPr algn="r"/>
                      <a:r>
                        <a:rPr sz="850" b="0">
                          <a:solidFill>
                            <a:srgbClr val="1A1A1A"/>
                          </a:solidFill>
                          <a:latin typeface="Versos"/>
                        </a:rPr>
                        <a:t>15,58%</a:t>
                      </a:r>
                    </a:p>
                  </a:txBody>
                  <a:tcPr marL="43200" marR="43200" marT="0" marB="0">
                    <a:solidFill>
                      <a:srgbClr val="F4F7F9"/>
                    </a:solidFill>
                  </a:tcPr>
                </a:tc>
              </a:tr>
              <a:tr h="187200">
                <a:tc>
                  <a:txBody>
                    <a:bodyPr/>
                    <a:lstStyle/>
                    <a:p>
                      <a:pPr algn="l"/>
                      <a:r>
                        <a:rPr sz="850" b="1">
                          <a:solidFill>
                            <a:srgbClr val="1A1A1A"/>
                          </a:solidFill>
                          <a:latin typeface="Versos"/>
                        </a:rPr>
                        <a:t>ABC</a:t>
                      </a:r>
                    </a:p>
                  </a:txBody>
                  <a:tcPr marL="43200" marR="43200" marT="0" marB="0">
                    <a:solidFill>
                      <a:srgbClr val="FFFFFF"/>
                    </a:solidFill>
                  </a:tcPr>
                </a:tc>
                <a:tc>
                  <a:txBody>
                    <a:bodyPr/>
                    <a:lstStyle/>
                    <a:p>
                      <a:pPr algn="r"/>
                      <a:r>
                        <a:rPr sz="850" b="0">
                          <a:solidFill>
                            <a:srgbClr val="1A1A1A"/>
                          </a:solidFill>
                          <a:latin typeface="Versos"/>
                        </a:rPr>
                        <a:t>13,68%</a:t>
                      </a:r>
                    </a:p>
                  </a:txBody>
                  <a:tcPr marL="43200" marR="43200" marT="0" marB="0">
                    <a:solidFill>
                      <a:srgbClr val="FFFFFF"/>
                    </a:solidFill>
                  </a:tcPr>
                </a:tc>
              </a:tr>
              <a:tr h="187200">
                <a:tc>
                  <a:txBody>
                    <a:bodyPr/>
                    <a:lstStyle/>
                    <a:p>
                      <a:pPr algn="l"/>
                      <a:r>
                        <a:rPr sz="850" b="1">
                          <a:solidFill>
                            <a:srgbClr val="1A1A1A"/>
                          </a:solidFill>
                          <a:latin typeface="Versos"/>
                        </a:rPr>
                        <a:t>XP</a:t>
                      </a:r>
                    </a:p>
                  </a:txBody>
                  <a:tcPr marL="43200" marR="43200" marT="0" marB="0">
                    <a:solidFill>
                      <a:srgbClr val="F4F7F9"/>
                    </a:solidFill>
                  </a:tcPr>
                </a:tc>
                <a:tc>
                  <a:txBody>
                    <a:bodyPr/>
                    <a:lstStyle/>
                    <a:p>
                      <a:pPr algn="r"/>
                      <a:r>
                        <a:rPr sz="850" b="0">
                          <a:solidFill>
                            <a:srgbClr val="1A1A1A"/>
                          </a:solidFill>
                          <a:latin typeface="Versos"/>
                        </a:rPr>
                        <a:t>13,12%</a:t>
                      </a:r>
                    </a:p>
                  </a:txBody>
                  <a:tcPr marL="43200" marR="43200" marT="0" marB="0">
                    <a:solidFill>
                      <a:srgbClr val="F4F7F9"/>
                    </a:solidFill>
                  </a:tcPr>
                </a:tc>
              </a:tr>
              <a:tr h="187200">
                <a:tc>
                  <a:txBody>
                    <a:bodyPr/>
                    <a:lstStyle/>
                    <a:p>
                      <a:pPr algn="l"/>
                      <a:r>
                        <a:rPr sz="850" b="1">
                          <a:solidFill>
                            <a:srgbClr val="1A1A1A"/>
                          </a:solidFill>
                          <a:latin typeface="Versos"/>
                        </a:rPr>
                        <a:t>SANTANDER</a:t>
                      </a:r>
                    </a:p>
                  </a:txBody>
                  <a:tcPr marL="43200" marR="43200" marT="0" marB="0">
                    <a:solidFill>
                      <a:srgbClr val="FFFFFF"/>
                    </a:solidFill>
                  </a:tcPr>
                </a:tc>
                <a:tc>
                  <a:txBody>
                    <a:bodyPr/>
                    <a:lstStyle/>
                    <a:p>
                      <a:pPr algn="r"/>
                      <a:r>
                        <a:rPr sz="850" b="0">
                          <a:solidFill>
                            <a:srgbClr val="1A1A1A"/>
                          </a:solidFill>
                          <a:latin typeface="Versos"/>
                        </a:rPr>
                        <a:t>11,38%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93,7%</a:t>
                      </a:r>
                    </a:p>
                  </a:txBody>
                  <a:tcPr marL="43200" marR="43200" marT="0" marB="0">
                    <a:solidFill>
                      <a:srgbClr val="FFFFFF"/>
                    </a:solidFill>
                  </a:tcPr>
                </a:tc>
              </a:tr>
              <a:tr h="187200">
                <a:tc>
                  <a:txBody>
                    <a:bodyPr/>
                    <a:lstStyle/>
                    <a:p>
                      <a:pPr algn="l"/>
                      <a:r>
                        <a:rPr sz="850" b="1">
                          <a:solidFill>
                            <a:srgbClr val="1A1A1A"/>
                          </a:solidFill>
                          <a:latin typeface="Versos"/>
                        </a:rPr>
                        <a:t>FIDC</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r>
              <a:tr h="1872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8,8%</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399,0%</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296000"/>
                <a:gridCol w="1296000"/>
                <a:gridCol w="1296000"/>
                <a:gridCol w="1296000"/>
                <a:gridCol w="1296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92,9%</a:t>
                      </a:r>
                    </a:p>
                  </a:txBody>
                  <a:tcPr marL="43200" marR="43200" marT="0" marB="0">
                    <a:solidFill>
                      <a:srgbClr val="F4F7F9"/>
                    </a:solidFill>
                  </a:tcPr>
                </a:tc>
                <a:tc>
                  <a:txBody>
                    <a:bodyPr/>
                    <a:lstStyle/>
                    <a:p>
                      <a:pPr algn="r"/>
                      <a:r>
                        <a:rPr sz="850" b="0">
                          <a:solidFill>
                            <a:srgbClr val="1A1A1A"/>
                          </a:solidFill>
                          <a:latin typeface="Versos"/>
                        </a:rPr>
                        <a:t>32,5%</a:t>
                      </a:r>
                    </a:p>
                  </a:txBody>
                  <a:tcPr marL="43200" marR="43200" marT="0" marB="0">
                    <a:solidFill>
                      <a:srgbClr val="F4F7F9"/>
                    </a:solidFill>
                  </a:tcPr>
                </a:tc>
                <a:tc>
                  <a:txBody>
                    <a:bodyPr/>
                    <a:lstStyle/>
                    <a:p>
                      <a:pPr algn="r"/>
                      <a:r>
                        <a:rPr sz="850" b="0">
                          <a:solidFill>
                            <a:srgbClr val="1A1A1A"/>
                          </a:solidFill>
                          <a:latin typeface="Versos"/>
                        </a:rPr>
                        <a:t>8,5%</a:t>
                      </a:r>
                    </a:p>
                  </a:txBody>
                  <a:tcPr marL="43200" marR="43200" marT="0" marB="0">
                    <a:solidFill>
                      <a:srgbClr val="F4F7F9"/>
                    </a:solidFill>
                  </a:tcPr>
                </a:tc>
                <a:tc>
                  <a:txBody>
                    <a:bodyPr/>
                    <a:lstStyle/>
                    <a:p>
                      <a:pPr algn="r"/>
                      <a:r>
                        <a:rPr sz="850" b="0">
                          <a:solidFill>
                            <a:srgbClr val="1A1A1A"/>
                          </a:solidFill>
                          <a:latin typeface="Versos"/>
                        </a:rPr>
                        <a:t>8,9%</a:t>
                      </a:r>
                    </a:p>
                  </a:txBody>
                  <a:tcPr marL="43200" marR="43200" marT="0" marB="0">
                    <a:solidFill>
                      <a:srgbClr val="F4F7F9"/>
                    </a:solidFill>
                  </a:tcPr>
                </a:tc>
                <a:tc>
                  <a:txBody>
                    <a:bodyPr/>
                    <a:lstStyle/>
                    <a:p>
                      <a:pPr algn="r"/>
                      <a:r>
                        <a:rPr sz="850" b="0">
                          <a:solidFill>
                            <a:srgbClr val="1A1A1A"/>
                          </a:solidFill>
                          <a:latin typeface="Versos"/>
                        </a:rPr>
                        <a:t>6,3%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Legacy Prev</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14/08/2008</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R$ 15.553.614,72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R$ 19.596.377,99</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0,00%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+1,18%</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5,85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D+2</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