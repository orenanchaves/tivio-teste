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LEGACY PREV </a:t>
            </a:r>
            <a:r>
              <a:rPr sz="833" b="0" i="0">
                <a:solidFill>
                  <a:srgbClr val="FFFFFF"/>
                </a:solidFill>
                <a:latin typeface="Versos"/>
              </a:rPr>
              <a:t>/ CNPJ 09.083.848/0001-04</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1,07%</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8,91%</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14,07%</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28,79%</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46,53%</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435,43%</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14,57%</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29,49%</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44,17%</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454,48%</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−0,03%</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−0,42%</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−0,50%</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−0,69%</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2,36%</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−19,04%</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97,36%</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95,53%</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96,57%</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97,66%</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105,34%</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95,81%</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0" i="0">
                <a:solidFill>
                  <a:srgbClr val="444444"/>
                </a:solidFill>
                <a:latin typeface="Versos"/>
              </a:rPr>
              <a:t>31/08/2026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08693"/>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BV</a:t>
            </a:r>
          </a:p>
        </p:txBody>
      </p:sp>
      <p:sp>
        <p:nvSpPr>
          <p:cNvPr id="44" name="TextBox 43"/>
          <p:cNvSpPr txBox="1"/>
          <p:nvPr/>
        </p:nvSpPr>
        <p:spPr>
          <a:xfrm>
            <a:off x="2831928" y="5606803"/>
            <a:ext cx="430343" cy="143640"/>
          </a:xfrm>
          <a:prstGeom prst="rect">
            <a:avLst/>
          </a:prstGeom>
          <a:noFill/>
        </p:spPr>
        <p:txBody>
          <a:bodyPr wrap="none" lIns="0" rIns="0" tIns="0" bIns="0" anchor="t"/>
          <a:lstStyle/>
          <a:p>
            <a:pPr algn="l">
              <a:lnSpc>
                <a:spcPts val="1107"/>
              </a:lnSpc>
            </a:pPr>
            <a:r>
              <a:rPr sz="922" b="0" i="0">
                <a:solidFill>
                  <a:srgbClr val="5A82A0"/>
                </a:solidFill>
                <a:latin typeface="Versos"/>
              </a:rPr>
              <a:t>18,20%</a:t>
            </a:r>
          </a:p>
        </p:txBody>
      </p:sp>
      <p:sp>
        <p:nvSpPr>
          <p:cNvPr id="45" name="TextBox 44"/>
          <p:cNvSpPr txBox="1"/>
          <p:nvPr/>
        </p:nvSpPr>
        <p:spPr>
          <a:xfrm>
            <a:off x="400680" y="6013861"/>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46" name="TextBox 45"/>
          <p:cNvSpPr txBox="1"/>
          <p:nvPr/>
        </p:nvSpPr>
        <p:spPr>
          <a:xfrm>
            <a:off x="2595442" y="6011971"/>
            <a:ext cx="427763" cy="143640"/>
          </a:xfrm>
          <a:prstGeom prst="rect">
            <a:avLst/>
          </a:prstGeom>
          <a:noFill/>
        </p:spPr>
        <p:txBody>
          <a:bodyPr wrap="none" lIns="0" rIns="0" tIns="0" bIns="0" anchor="t"/>
          <a:lstStyle/>
          <a:p>
            <a:pPr algn="l">
              <a:lnSpc>
                <a:spcPts val="1107"/>
              </a:lnSpc>
            </a:pPr>
            <a:r>
              <a:rPr sz="922" b="0" i="0">
                <a:solidFill>
                  <a:srgbClr val="5A82A0"/>
                </a:solidFill>
                <a:latin typeface="Versos"/>
              </a:rPr>
              <a:t>15,58%</a:t>
            </a:r>
          </a:p>
        </p:txBody>
      </p:sp>
      <p:sp>
        <p:nvSpPr>
          <p:cNvPr id="47" name="TextBox 46"/>
          <p:cNvSpPr txBox="1"/>
          <p:nvPr/>
        </p:nvSpPr>
        <p:spPr>
          <a:xfrm>
            <a:off x="400680" y="641914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8" name="TextBox 47"/>
          <p:cNvSpPr txBox="1"/>
          <p:nvPr/>
        </p:nvSpPr>
        <p:spPr>
          <a:xfrm>
            <a:off x="2423925" y="6417258"/>
            <a:ext cx="428746" cy="143640"/>
          </a:xfrm>
          <a:prstGeom prst="rect">
            <a:avLst/>
          </a:prstGeom>
          <a:noFill/>
        </p:spPr>
        <p:txBody>
          <a:bodyPr wrap="none" lIns="0" rIns="0" tIns="0" bIns="0" anchor="t"/>
          <a:lstStyle/>
          <a:p>
            <a:pPr algn="l">
              <a:lnSpc>
                <a:spcPts val="1107"/>
              </a:lnSpc>
            </a:pPr>
            <a:r>
              <a:rPr sz="922" b="0" i="0">
                <a:solidFill>
                  <a:srgbClr val="5A82A0"/>
                </a:solidFill>
                <a:latin typeface="Versos"/>
              </a:rPr>
              <a:t>13,68%</a:t>
            </a:r>
          </a:p>
        </p:txBody>
      </p:sp>
      <p:sp>
        <p:nvSpPr>
          <p:cNvPr id="49" name="TextBox 48"/>
          <p:cNvSpPr txBox="1"/>
          <p:nvPr/>
        </p:nvSpPr>
        <p:spPr>
          <a:xfrm>
            <a:off x="400680" y="6824317"/>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50" name="TextBox 49"/>
          <p:cNvSpPr txBox="1"/>
          <p:nvPr/>
        </p:nvSpPr>
        <p:spPr>
          <a:xfrm>
            <a:off x="2372895" y="6822427"/>
            <a:ext cx="384643" cy="143640"/>
          </a:xfrm>
          <a:prstGeom prst="rect">
            <a:avLst/>
          </a:prstGeom>
          <a:noFill/>
        </p:spPr>
        <p:txBody>
          <a:bodyPr wrap="none" lIns="0" rIns="0" tIns="0" bIns="0" anchor="t"/>
          <a:lstStyle/>
          <a:p>
            <a:pPr algn="l">
              <a:lnSpc>
                <a:spcPts val="1107"/>
              </a:lnSpc>
            </a:pPr>
            <a:r>
              <a:rPr sz="922" b="0" i="0">
                <a:solidFill>
                  <a:srgbClr val="5A82A0"/>
                </a:solidFill>
                <a:latin typeface="Versos"/>
              </a:rPr>
              <a:t>13,12%</a:t>
            </a:r>
          </a:p>
        </p:txBody>
      </p:sp>
      <p:sp>
        <p:nvSpPr>
          <p:cNvPr id="51" name="TextBox 50"/>
          <p:cNvSpPr txBox="1"/>
          <p:nvPr/>
        </p:nvSpPr>
        <p:spPr>
          <a:xfrm>
            <a:off x="400680" y="7229604"/>
            <a:ext cx="712407" cy="136080"/>
          </a:xfrm>
          <a:prstGeom prst="rect">
            <a:avLst/>
          </a:prstGeom>
          <a:noFill/>
        </p:spPr>
        <p:txBody>
          <a:bodyPr wrap="none" lIns="0" rIns="0" tIns="0" bIns="0" anchor="t"/>
          <a:lstStyle/>
          <a:p>
            <a:pPr algn="r">
              <a:lnSpc>
                <a:spcPts val="982"/>
              </a:lnSpc>
            </a:pPr>
            <a:r>
              <a:rPr sz="892" b="0" i="0">
                <a:solidFill>
                  <a:srgbClr val="222222"/>
                </a:solidFill>
                <a:latin typeface="Versos"/>
              </a:rPr>
              <a:t>SANTANDER</a:t>
            </a:r>
          </a:p>
        </p:txBody>
      </p:sp>
      <p:sp>
        <p:nvSpPr>
          <p:cNvPr id="52" name="TextBox 51"/>
          <p:cNvSpPr txBox="1"/>
          <p:nvPr/>
        </p:nvSpPr>
        <p:spPr>
          <a:xfrm>
            <a:off x="2215198" y="7227714"/>
            <a:ext cx="399631" cy="143640"/>
          </a:xfrm>
          <a:prstGeom prst="rect">
            <a:avLst/>
          </a:prstGeom>
          <a:noFill/>
        </p:spPr>
        <p:txBody>
          <a:bodyPr wrap="none" lIns="0" rIns="0" tIns="0" bIns="0" anchor="t"/>
          <a:lstStyle/>
          <a:p>
            <a:pPr algn="l">
              <a:lnSpc>
                <a:spcPts val="1107"/>
              </a:lnSpc>
            </a:pPr>
            <a:r>
              <a:rPr sz="922" b="0" i="0">
                <a:solidFill>
                  <a:srgbClr val="5A82A0"/>
                </a:solidFill>
                <a:latin typeface="Versos"/>
              </a:rPr>
              <a:t>11,38%</a:t>
            </a:r>
          </a:p>
        </p:txBody>
      </p:sp>
      <p:sp>
        <p:nvSpPr>
          <p:cNvPr id="53" name="TextBox 52"/>
          <p:cNvSpPr txBox="1"/>
          <p:nvPr/>
        </p:nvSpPr>
        <p:spPr>
          <a:xfrm>
            <a:off x="400680" y="7713798"/>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11400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112116"/>
            <a:ext cx="468795" cy="143640"/>
          </a:xfrm>
          <a:prstGeom prst="rect">
            <a:avLst/>
          </a:prstGeom>
          <a:noFill/>
        </p:spPr>
        <p:txBody>
          <a:bodyPr wrap="none" lIns="0" rIns="0" tIns="0" bIns="0" anchor="t"/>
          <a:lstStyle/>
          <a:p>
            <a:pPr algn="l">
              <a:lnSpc>
                <a:spcPts val="1142"/>
              </a:lnSpc>
            </a:pPr>
            <a:r>
              <a:rPr sz="952" b="0" i="0">
                <a:solidFill>
                  <a:srgbClr val="111111"/>
                </a:solidFill>
                <a:latin typeface="Versos"/>
              </a:rPr>
              <a:t>92,95%</a:t>
            </a:r>
          </a:p>
        </p:txBody>
      </p:sp>
      <p:sp>
        <p:nvSpPr>
          <p:cNvPr id="56" name="TextBox 55"/>
          <p:cNvSpPr txBox="1"/>
          <p:nvPr/>
        </p:nvSpPr>
        <p:spPr>
          <a:xfrm>
            <a:off x="400680" y="837104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714230" y="8369156"/>
            <a:ext cx="470761" cy="143640"/>
          </a:xfrm>
          <a:prstGeom prst="rect">
            <a:avLst/>
          </a:prstGeom>
          <a:noFill/>
        </p:spPr>
        <p:txBody>
          <a:bodyPr wrap="none" lIns="0" rIns="0" tIns="0" bIns="0" anchor="t"/>
          <a:lstStyle/>
          <a:p>
            <a:pPr algn="l">
              <a:lnSpc>
                <a:spcPts val="1142"/>
              </a:lnSpc>
            </a:pPr>
            <a:r>
              <a:rPr sz="952" b="0" i="0">
                <a:solidFill>
                  <a:srgbClr val="111111"/>
                </a:solidFill>
                <a:latin typeface="Versos"/>
              </a:rPr>
              <a:t>32,53%</a:t>
            </a:r>
          </a:p>
        </p:txBody>
      </p:sp>
      <p:sp>
        <p:nvSpPr>
          <p:cNvPr id="58" name="TextBox 57"/>
          <p:cNvSpPr txBox="1"/>
          <p:nvPr/>
        </p:nvSpPr>
        <p:spPr>
          <a:xfrm>
            <a:off x="400680" y="862808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227318" y="8626196"/>
            <a:ext cx="391645" cy="143640"/>
          </a:xfrm>
          <a:prstGeom prst="rect">
            <a:avLst/>
          </a:prstGeom>
          <a:noFill/>
        </p:spPr>
        <p:txBody>
          <a:bodyPr wrap="none" lIns="0" rIns="0" tIns="0" bIns="0" anchor="t"/>
          <a:lstStyle/>
          <a:p>
            <a:pPr algn="l">
              <a:lnSpc>
                <a:spcPts val="1142"/>
              </a:lnSpc>
            </a:pPr>
            <a:r>
              <a:rPr sz="952" b="0" i="0">
                <a:solidFill>
                  <a:srgbClr val="111111"/>
                </a:solidFill>
                <a:latin typeface="Versos"/>
              </a:rPr>
              <a:t>8,92%</a:t>
            </a:r>
          </a:p>
        </p:txBody>
      </p:sp>
      <p:sp>
        <p:nvSpPr>
          <p:cNvPr id="60" name="TextBox 59"/>
          <p:cNvSpPr txBox="1"/>
          <p:nvPr/>
        </p:nvSpPr>
        <p:spPr>
          <a:xfrm>
            <a:off x="400680" y="888512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218459" y="8883236"/>
            <a:ext cx="400736" cy="143640"/>
          </a:xfrm>
          <a:prstGeom prst="rect">
            <a:avLst/>
          </a:prstGeom>
          <a:noFill/>
        </p:spPr>
        <p:txBody>
          <a:bodyPr wrap="none" lIns="0" rIns="0" tIns="0" bIns="0" anchor="t"/>
          <a:lstStyle/>
          <a:p>
            <a:pPr algn="l">
              <a:lnSpc>
                <a:spcPts val="1142"/>
              </a:lnSpc>
            </a:pPr>
            <a:r>
              <a:rPr sz="952" b="0" i="0">
                <a:solidFill>
                  <a:srgbClr val="111111"/>
                </a:solidFill>
                <a:latin typeface="Versos"/>
              </a:rPr>
              <a:t>8,49%</a:t>
            </a:r>
          </a:p>
        </p:txBody>
      </p:sp>
      <p:sp>
        <p:nvSpPr>
          <p:cNvPr id="62" name="TextBox 61"/>
          <p:cNvSpPr txBox="1"/>
          <p:nvPr/>
        </p:nvSpPr>
        <p:spPr>
          <a:xfrm>
            <a:off x="400680" y="914216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172626" y="9140276"/>
            <a:ext cx="392874" cy="143640"/>
          </a:xfrm>
          <a:prstGeom prst="rect">
            <a:avLst/>
          </a:prstGeom>
          <a:noFill/>
        </p:spPr>
        <p:txBody>
          <a:bodyPr wrap="none" lIns="0" rIns="0" tIns="0" bIns="0" anchor="t"/>
          <a:lstStyle/>
          <a:p>
            <a:pPr algn="l">
              <a:lnSpc>
                <a:spcPts val="1142"/>
              </a:lnSpc>
            </a:pPr>
            <a:r>
              <a:rPr sz="952" b="0" i="0">
                <a:solidFill>
                  <a:srgbClr val="111111"/>
                </a:solidFill>
                <a:latin typeface="Versos"/>
              </a:rPr>
              <a:t>6,28%</a:t>
            </a:r>
          </a:p>
        </p:txBody>
      </p:sp>
      <p:sp>
        <p:nvSpPr>
          <p:cNvPr id="64" name="TextBox 63"/>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5" name="TextBox 64"/>
          <p:cNvSpPr txBox="1"/>
          <p:nvPr/>
        </p:nvSpPr>
        <p:spPr>
          <a:xfrm>
            <a:off x="3802680" y="55252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66" name="TextBox 65"/>
          <p:cNvSpPr txBox="1"/>
          <p:nvPr/>
        </p:nvSpPr>
        <p:spPr>
          <a:xfrm>
            <a:off x="6752497" y="5517618"/>
            <a:ext cx="562161" cy="143640"/>
          </a:xfrm>
          <a:prstGeom prst="rect">
            <a:avLst/>
          </a:prstGeom>
          <a:noFill/>
        </p:spPr>
        <p:txBody>
          <a:bodyPr wrap="none" lIns="0" rIns="0" tIns="0" bIns="0" anchor="t"/>
          <a:lstStyle/>
          <a:p>
            <a:pPr algn="l">
              <a:lnSpc>
                <a:spcPts val="1142"/>
              </a:lnSpc>
            </a:pPr>
            <a:r>
              <a:rPr sz="952" b="0" i="0">
                <a:solidFill>
                  <a:srgbClr val="111111"/>
                </a:solidFill>
                <a:latin typeface="Versos"/>
              </a:rPr>
              <a:t>398,98%</a:t>
            </a:r>
          </a:p>
        </p:txBody>
      </p:sp>
      <p:sp>
        <p:nvSpPr>
          <p:cNvPr id="67" name="TextBox 66"/>
          <p:cNvSpPr txBox="1"/>
          <p:nvPr/>
        </p:nvSpPr>
        <p:spPr>
          <a:xfrm>
            <a:off x="3802680" y="57520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68" name="TextBox 67"/>
          <p:cNvSpPr txBox="1"/>
          <p:nvPr/>
        </p:nvSpPr>
        <p:spPr>
          <a:xfrm>
            <a:off x="5785408" y="5744418"/>
            <a:ext cx="465724" cy="143640"/>
          </a:xfrm>
          <a:prstGeom prst="rect">
            <a:avLst/>
          </a:prstGeom>
          <a:noFill/>
        </p:spPr>
        <p:txBody>
          <a:bodyPr wrap="none" lIns="0" rIns="0" tIns="0" bIns="0" anchor="t"/>
          <a:lstStyle/>
          <a:p>
            <a:pPr algn="l">
              <a:lnSpc>
                <a:spcPts val="1142"/>
              </a:lnSpc>
            </a:pPr>
            <a:r>
              <a:rPr sz="952" b="0" i="0">
                <a:solidFill>
                  <a:srgbClr val="111111"/>
                </a:solidFill>
                <a:latin typeface="Versos"/>
              </a:rPr>
              <a:t>93,73%</a:t>
            </a:r>
          </a:p>
        </p:txBody>
      </p:sp>
      <p:sp>
        <p:nvSpPr>
          <p:cNvPr id="69" name="TextBox 68"/>
          <p:cNvSpPr txBox="1"/>
          <p:nvPr/>
        </p:nvSpPr>
        <p:spPr>
          <a:xfrm>
            <a:off x="3802680" y="59788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0" name="TextBox 69"/>
          <p:cNvSpPr txBox="1"/>
          <p:nvPr/>
        </p:nvSpPr>
        <p:spPr>
          <a:xfrm>
            <a:off x="5535101" y="5971218"/>
            <a:ext cx="446559" cy="143640"/>
          </a:xfrm>
          <a:prstGeom prst="rect">
            <a:avLst/>
          </a:prstGeom>
          <a:noFill/>
        </p:spPr>
        <p:txBody>
          <a:bodyPr wrap="none" lIns="0" rIns="0" tIns="0" bIns="0" anchor="t"/>
          <a:lstStyle/>
          <a:p>
            <a:pPr algn="l">
              <a:lnSpc>
                <a:spcPts val="1142"/>
              </a:lnSpc>
            </a:pPr>
            <a:r>
              <a:rPr sz="952" b="0" i="0">
                <a:solidFill>
                  <a:srgbClr val="111111"/>
                </a:solidFill>
                <a:latin typeface="Versos"/>
              </a:rPr>
              <a:t>14,69%</a:t>
            </a:r>
          </a:p>
        </p:txBody>
      </p:sp>
      <p:sp>
        <p:nvSpPr>
          <p:cNvPr id="71" name="TextBox 70"/>
          <p:cNvSpPr txBox="1"/>
          <p:nvPr/>
        </p:nvSpPr>
        <p:spPr>
          <a:xfrm>
            <a:off x="3802680" y="62056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2" name="TextBox 71"/>
          <p:cNvSpPr txBox="1"/>
          <p:nvPr/>
        </p:nvSpPr>
        <p:spPr>
          <a:xfrm>
            <a:off x="5526241" y="6198018"/>
            <a:ext cx="408844" cy="143640"/>
          </a:xfrm>
          <a:prstGeom prst="rect">
            <a:avLst/>
          </a:prstGeom>
          <a:noFill/>
        </p:spPr>
        <p:txBody>
          <a:bodyPr wrap="none" lIns="0" rIns="0" tIns="0" bIns="0" anchor="t"/>
          <a:lstStyle/>
          <a:p>
            <a:pPr algn="l">
              <a:lnSpc>
                <a:spcPts val="1142"/>
              </a:lnSpc>
            </a:pPr>
            <a:r>
              <a:rPr sz="952" b="0" i="0">
                <a:solidFill>
                  <a:srgbClr val="111111"/>
                </a:solidFill>
                <a:latin typeface="Versos"/>
              </a:rPr>
              <a:t>11,93%</a:t>
            </a:r>
          </a:p>
        </p:txBody>
      </p:sp>
      <p:sp>
        <p:nvSpPr>
          <p:cNvPr id="73" name="TextBox 72"/>
          <p:cNvSpPr txBox="1"/>
          <p:nvPr/>
        </p:nvSpPr>
        <p:spPr>
          <a:xfrm>
            <a:off x="3802680" y="64324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4" name="TextBox 73"/>
          <p:cNvSpPr txBox="1"/>
          <p:nvPr/>
        </p:nvSpPr>
        <p:spPr>
          <a:xfrm>
            <a:off x="5516437" y="6424818"/>
            <a:ext cx="395577" cy="143640"/>
          </a:xfrm>
          <a:prstGeom prst="rect">
            <a:avLst/>
          </a:prstGeom>
          <a:noFill/>
        </p:spPr>
        <p:txBody>
          <a:bodyPr wrap="none" lIns="0" rIns="0" tIns="0" bIns="0" anchor="t"/>
          <a:lstStyle/>
          <a:p>
            <a:pPr algn="l">
              <a:lnSpc>
                <a:spcPts val="1142"/>
              </a:lnSpc>
            </a:pPr>
            <a:r>
              <a:rPr sz="952" b="0" i="0">
                <a:solidFill>
                  <a:srgbClr val="111111"/>
                </a:solidFill>
                <a:latin typeface="Versos"/>
              </a:rPr>
              <a:t>8,84%</a:t>
            </a:r>
          </a:p>
        </p:txBody>
      </p:sp>
      <p:sp>
        <p:nvSpPr>
          <p:cNvPr id="75" name="TextBox 74"/>
          <p:cNvSpPr txBox="1"/>
          <p:nvPr/>
        </p:nvSpPr>
        <p:spPr>
          <a:xfrm>
            <a:off x="3802680" y="6602833"/>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76" name="TextBox 75"/>
          <p:cNvSpPr txBox="1"/>
          <p:nvPr/>
        </p:nvSpPr>
        <p:spPr>
          <a:xfrm>
            <a:off x="5509468" y="6651618"/>
            <a:ext cx="389188" cy="143640"/>
          </a:xfrm>
          <a:prstGeom prst="rect">
            <a:avLst/>
          </a:prstGeom>
          <a:noFill/>
        </p:spPr>
        <p:txBody>
          <a:bodyPr wrap="none" lIns="0" rIns="0" tIns="0" bIns="0" anchor="t"/>
          <a:lstStyle/>
          <a:p>
            <a:pPr algn="l">
              <a:lnSpc>
                <a:spcPts val="1142"/>
              </a:lnSpc>
            </a:pPr>
            <a:r>
              <a:rPr sz="952" b="0" i="0">
                <a:solidFill>
                  <a:srgbClr val="111111"/>
                </a:solidFill>
                <a:latin typeface="Versos"/>
              </a:rPr>
              <a:t>6,65%</a:t>
            </a:r>
          </a:p>
        </p:txBody>
      </p:sp>
      <p:sp>
        <p:nvSpPr>
          <p:cNvPr id="77" name="TextBox 76"/>
          <p:cNvSpPr txBox="1"/>
          <p:nvPr/>
        </p:nvSpPr>
        <p:spPr>
          <a:xfrm>
            <a:off x="3802680" y="68860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78" name="TextBox 77"/>
          <p:cNvSpPr txBox="1"/>
          <p:nvPr/>
        </p:nvSpPr>
        <p:spPr>
          <a:xfrm>
            <a:off x="5508877" y="6878418"/>
            <a:ext cx="396191" cy="143640"/>
          </a:xfrm>
          <a:prstGeom prst="rect">
            <a:avLst/>
          </a:prstGeom>
          <a:noFill/>
        </p:spPr>
        <p:txBody>
          <a:bodyPr wrap="none" lIns="0" rIns="0" tIns="0" bIns="0" anchor="t"/>
          <a:lstStyle/>
          <a:p>
            <a:pPr algn="l">
              <a:lnSpc>
                <a:spcPts val="1142"/>
              </a:lnSpc>
            </a:pPr>
            <a:r>
              <a:rPr sz="952" b="0" i="0">
                <a:solidFill>
                  <a:srgbClr val="111111"/>
                </a:solidFill>
                <a:latin typeface="Versos"/>
              </a:rPr>
              <a:t>6,43%</a:t>
            </a:r>
          </a:p>
        </p:txBody>
      </p:sp>
      <p:sp>
        <p:nvSpPr>
          <p:cNvPr id="79" name="TextBox 78"/>
          <p:cNvSpPr txBox="1"/>
          <p:nvPr/>
        </p:nvSpPr>
        <p:spPr>
          <a:xfrm>
            <a:off x="3802680" y="71128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80" name="TextBox 79"/>
          <p:cNvSpPr txBox="1"/>
          <p:nvPr/>
        </p:nvSpPr>
        <p:spPr>
          <a:xfrm>
            <a:off x="5508050" y="7105218"/>
            <a:ext cx="346682" cy="143640"/>
          </a:xfrm>
          <a:prstGeom prst="rect">
            <a:avLst/>
          </a:prstGeom>
          <a:noFill/>
        </p:spPr>
        <p:txBody>
          <a:bodyPr wrap="none" lIns="0" rIns="0" tIns="0" bIns="0" anchor="t"/>
          <a:lstStyle/>
          <a:p>
            <a:pPr algn="l">
              <a:lnSpc>
                <a:spcPts val="1142"/>
              </a:lnSpc>
            </a:pPr>
            <a:r>
              <a:rPr sz="952" b="0" i="0">
                <a:solidFill>
                  <a:srgbClr val="111111"/>
                </a:solidFill>
                <a:latin typeface="Versos"/>
              </a:rPr>
              <a:t>6,17%</a:t>
            </a:r>
          </a:p>
        </p:txBody>
      </p:sp>
      <p:sp>
        <p:nvSpPr>
          <p:cNvPr id="81" name="TextBox 80"/>
          <p:cNvSpPr txBox="1"/>
          <p:nvPr/>
        </p:nvSpPr>
        <p:spPr>
          <a:xfrm>
            <a:off x="3802680" y="73396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2" name="TextBox 81"/>
          <p:cNvSpPr txBox="1"/>
          <p:nvPr/>
        </p:nvSpPr>
        <p:spPr>
          <a:xfrm>
            <a:off x="5498010" y="7332018"/>
            <a:ext cx="357862" cy="143640"/>
          </a:xfrm>
          <a:prstGeom prst="rect">
            <a:avLst/>
          </a:prstGeom>
          <a:noFill/>
        </p:spPr>
        <p:txBody>
          <a:bodyPr wrap="none" lIns="0" rIns="0" tIns="0" bIns="0" anchor="t"/>
          <a:lstStyle/>
          <a:p>
            <a:pPr algn="l">
              <a:lnSpc>
                <a:spcPts val="1142"/>
              </a:lnSpc>
            </a:pPr>
            <a:r>
              <a:rPr sz="952" b="0" i="0">
                <a:solidFill>
                  <a:srgbClr val="111111"/>
                </a:solidFill>
                <a:latin typeface="Versos"/>
              </a:rPr>
              <a:t>1,95%</a:t>
            </a:r>
          </a:p>
        </p:txBody>
      </p:sp>
      <p:sp>
        <p:nvSpPr>
          <p:cNvPr id="83" name="TextBox 82"/>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p:txBody>
      </p:sp>
      <p:sp>
        <p:nvSpPr>
          <p:cNvPr id="7" name="TextBox 6"/>
          <p:cNvSpPr txBox="1"/>
          <p:nvPr/>
        </p:nvSpPr>
        <p:spPr>
          <a:xfrm>
            <a:off x="529200" y="5948893"/>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p:txBody>
      </p:sp>
      <p:sp>
        <p:nvSpPr>
          <p:cNvPr id="8" name="TextBox 7"/>
          <p:cNvSpPr txBox="1"/>
          <p:nvPr/>
        </p:nvSpPr>
        <p:spPr>
          <a:xfrm>
            <a:off x="529200" y="6418794"/>
            <a:ext cx="6501600" cy="784704"/>
          </a:xfrm>
          <a:prstGeom prst="rect">
            <a:avLst/>
          </a:prstGeom>
          <a:noFill/>
        </p:spPr>
        <p:txBody>
          <a:bodyPr wrap="square" lIns="0" rIns="0" tIns="0" bIns="0" anchor="t"/>
          <a:lstStyle/>
          <a:p>
            <a:pPr algn="just">
              <a:lnSpc>
                <a:spcPts val="1033"/>
              </a:lnSpc>
            </a:pPr>
            <a:r>
              <a:rPr sz="833" b="0" i="0">
                <a:solidFill>
                  <a:srgbClr val="F1F1F1"/>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p:txBody>
      </p:sp>
      <p:sp>
        <p:nvSpPr>
          <p:cNvPr id="9" name="TextBox 8"/>
          <p:cNvSpPr txBox="1"/>
          <p:nvPr/>
        </p:nvSpPr>
        <p:spPr>
          <a:xfrm>
            <a:off x="529200" y="7282406"/>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p:txBody>
      </p:sp>
      <p:sp>
        <p:nvSpPr>
          <p:cNvPr id="10" name="TextBox 9"/>
          <p:cNvSpPr txBox="1"/>
          <p:nvPr/>
        </p:nvSpPr>
        <p:spPr>
          <a:xfrm>
            <a:off x="529200" y="8014781"/>
            <a:ext cx="6501600" cy="522230"/>
          </a:xfrm>
          <a:prstGeom prst="rect">
            <a:avLst/>
          </a:prstGeom>
          <a:noFill/>
        </p:spPr>
        <p:txBody>
          <a:bodyPr wrap="square" lIns="0" rIns="0" tIns="0" bIns="0" anchor="t"/>
          <a:lstStyle/>
          <a:p>
            <a:pPr algn="just">
              <a:lnSpc>
                <a:spcPts val="1033"/>
              </a:lnSpc>
            </a:pPr>
            <a:r>
              <a:rPr sz="833" b="0" i="0">
                <a:solidFill>
                  <a:srgbClr val="F1F1F1"/>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p:txBody>
      </p:sp>
      <p:sp>
        <p:nvSpPr>
          <p:cNvPr id="11" name="TextBox 10"/>
          <p:cNvSpPr txBox="1"/>
          <p:nvPr/>
        </p:nvSpPr>
        <p:spPr>
          <a:xfrm>
            <a:off x="529200" y="8615919"/>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2" name="TextBox 11"/>
          <p:cNvSpPr txBox="1"/>
          <p:nvPr/>
        </p:nvSpPr>
        <p:spPr>
          <a:xfrm>
            <a:off x="529200" y="9348294"/>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Nesse cenário, o Tivio Legacy Prev apresentou rentabilidade de 1,07% no mês (97% do CDI) , acumulando 8,91% (96% do CDI) no ano. Na parcela de corporativos, os maiores atribuidores de resultado foram para Tupy e Randon, enquanto Hapvida foi o maior detrator.</a:t>
            </a:r>
          </a:p>
        </p:txBody>
      </p:sp>
      <p:sp>
        <p:nvSpPr>
          <p:cNvPr id="13" name="TextBox 12"/>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580322" y="1807076"/>
            <a:ext cx="1133536" cy="113400"/>
          </a:xfrm>
          <a:prstGeom prst="rect">
            <a:avLst/>
          </a:prstGeom>
          <a:noFill/>
        </p:spPr>
        <p:txBody>
          <a:bodyPr wrap="none" lIns="0" rIns="0" tIns="0" bIns="0" anchor="t"/>
          <a:lstStyle/>
          <a:p>
            <a:pPr algn="ctr">
              <a:lnSpc>
                <a:spcPts val="851"/>
              </a:lnSpc>
            </a:pPr>
            <a:r>
              <a:rPr sz="773" b="1" i="0">
                <a:solidFill>
                  <a:srgbClr val="FFFFFF"/>
                </a:solidFill>
                <a:latin typeface="Versos"/>
              </a:rPr>
              <a:t>Volume (R$ MM)</a:t>
            </a:r>
          </a:p>
        </p:txBody>
      </p:sp>
      <p:sp>
        <p:nvSpPr>
          <p:cNvPr id="6" name="TextBox 5"/>
          <p:cNvSpPr txBox="1"/>
          <p:nvPr/>
        </p:nvSpPr>
        <p:spPr>
          <a:xfrm>
            <a:off x="3715621" y="1807076"/>
            <a:ext cx="425061" cy="113400"/>
          </a:xfrm>
          <a:prstGeom prst="rect">
            <a:avLst/>
          </a:prstGeom>
          <a:noFill/>
        </p:spPr>
        <p:txBody>
          <a:bodyPr wrap="none" lIns="0" rIns="0" tIns="0" bIns="0" anchor="t"/>
          <a:lstStyle/>
          <a:p>
            <a:pPr algn="ctr">
              <a:lnSpc>
                <a:spcPts val="851"/>
              </a:lnSpc>
            </a:pPr>
            <a:r>
              <a:rPr sz="773" b="1" i="0">
                <a:solidFill>
                  <a:srgbClr val="FFFFFF"/>
                </a:solidFill>
                <a:latin typeface="Versos"/>
              </a:rPr>
              <a:t>%</a:t>
            </a:r>
          </a:p>
        </p:txBody>
      </p:sp>
      <p:sp>
        <p:nvSpPr>
          <p:cNvPr id="7" name="TextBox 6"/>
          <p:cNvSpPr txBox="1"/>
          <p:nvPr/>
        </p:nvSpPr>
        <p:spPr>
          <a:xfrm>
            <a:off x="4169694" y="1807076"/>
            <a:ext cx="676903" cy="113400"/>
          </a:xfrm>
          <a:prstGeom prst="rect">
            <a:avLst/>
          </a:prstGeom>
          <a:noFill/>
        </p:spPr>
        <p:txBody>
          <a:bodyPr wrap="none" lIns="0" rIns="0" tIns="0" bIns="0" anchor="t"/>
          <a:lstStyle/>
          <a:p>
            <a:pPr algn="ctr">
              <a:lnSpc>
                <a:spcPts val="851"/>
              </a:lnSpc>
            </a:pPr>
            <a:r>
              <a:rPr sz="773" b="1" i="0">
                <a:solidFill>
                  <a:srgbClr val="FFFFFF"/>
                </a:solidFill>
                <a:latin typeface="Versos"/>
              </a:rPr>
              <a:t>Spread Atual</a:t>
            </a:r>
          </a:p>
        </p:txBody>
      </p:sp>
      <p:sp>
        <p:nvSpPr>
          <p:cNvPr id="8" name="TextBox 7"/>
          <p:cNvSpPr txBox="1"/>
          <p:nvPr/>
        </p:nvSpPr>
        <p:spPr>
          <a:xfrm>
            <a:off x="4865923" y="1807076"/>
            <a:ext cx="1172848" cy="113400"/>
          </a:xfrm>
          <a:prstGeom prst="rect">
            <a:avLst/>
          </a:prstGeom>
          <a:noFill/>
        </p:spPr>
        <p:txBody>
          <a:bodyPr wrap="none" lIns="0" rIns="0" tIns="0" bIns="0" anchor="t"/>
          <a:lstStyle/>
          <a:p>
            <a:pPr algn="ctr">
              <a:lnSpc>
                <a:spcPts val="851"/>
              </a:lnSpc>
            </a:pPr>
            <a:r>
              <a:rPr sz="773" b="1" i="0">
                <a:solidFill>
                  <a:srgbClr val="FFFFFF"/>
                </a:solidFill>
                <a:latin typeface="Versos"/>
              </a:rPr>
              <a:t>Spread mês anterior</a:t>
            </a:r>
          </a:p>
        </p:txBody>
      </p:sp>
      <p:sp>
        <p:nvSpPr>
          <p:cNvPr id="9" name="TextBox 8"/>
          <p:cNvSpPr txBox="1"/>
          <p:nvPr/>
        </p:nvSpPr>
        <p:spPr>
          <a:xfrm>
            <a:off x="6039022" y="1807076"/>
            <a:ext cx="488083" cy="113400"/>
          </a:xfrm>
          <a:prstGeom prst="rect">
            <a:avLst/>
          </a:prstGeom>
          <a:noFill/>
        </p:spPr>
        <p:txBody>
          <a:bodyPr wrap="none" lIns="0" rIns="0" tIns="0" bIns="0" anchor="t"/>
          <a:lstStyle/>
          <a:p>
            <a:pPr algn="ctr">
              <a:lnSpc>
                <a:spcPts val="851"/>
              </a:lnSpc>
            </a:pPr>
            <a:r>
              <a:rPr sz="773" b="1" i="0">
                <a:solidFill>
                  <a:srgbClr val="FFFFFF"/>
                </a:solidFill>
                <a:latin typeface="Versos"/>
              </a:rPr>
              <a:t>Variação</a:t>
            </a:r>
          </a:p>
        </p:txBody>
      </p:sp>
      <p:sp>
        <p:nvSpPr>
          <p:cNvPr id="10" name="TextBox 9"/>
          <p:cNvSpPr txBox="1"/>
          <p:nvPr/>
        </p:nvSpPr>
        <p:spPr>
          <a:xfrm>
            <a:off x="6553693" y="1807076"/>
            <a:ext cx="488328" cy="113400"/>
          </a:xfrm>
          <a:prstGeom prst="rect">
            <a:avLst/>
          </a:prstGeom>
          <a:noFill/>
        </p:spPr>
        <p:txBody>
          <a:bodyPr wrap="none" lIns="0" rIns="0" tIns="0" bIns="0" anchor="t"/>
          <a:lstStyle/>
          <a:p>
            <a:pPr algn="ctr">
              <a:lnSpc>
                <a:spcPts val="851"/>
              </a:lnSpc>
            </a:pPr>
            <a:r>
              <a:rPr sz="773" b="1" i="0">
                <a:solidFill>
                  <a:srgbClr val="FFFFFF"/>
                </a:solidFill>
                <a:latin typeface="Versos"/>
              </a:rPr>
              <a:t>Duration</a:t>
            </a:r>
          </a:p>
        </p:txBody>
      </p:sp>
      <p:sp>
        <p:nvSpPr>
          <p:cNvPr id="11" name="TextBox 10"/>
          <p:cNvSpPr txBox="1"/>
          <p:nvPr/>
        </p:nvSpPr>
        <p:spPr>
          <a:xfrm>
            <a:off x="2580322" y="2087977"/>
            <a:ext cx="1133536" cy="173880"/>
          </a:xfrm>
          <a:prstGeom prst="rect">
            <a:avLst/>
          </a:prstGeom>
          <a:noFill/>
        </p:spPr>
        <p:txBody>
          <a:bodyPr wrap="none" lIns="0" rIns="0" tIns="0" bIns="0" anchor="t"/>
          <a:lstStyle/>
          <a:p>
            <a:pPr algn="ctr">
              <a:lnSpc>
                <a:spcPts val="1357"/>
              </a:lnSpc>
            </a:pPr>
            <a:r>
              <a:rPr sz="1131" b="1" i="0">
                <a:solidFill>
                  <a:srgbClr val="FFFFFF"/>
                </a:solidFill>
                <a:latin typeface="Versos"/>
              </a:rPr>
              <a:t>443.345</a:t>
            </a:r>
          </a:p>
        </p:txBody>
      </p:sp>
      <p:sp>
        <p:nvSpPr>
          <p:cNvPr id="12" name="TextBox 11"/>
          <p:cNvSpPr txBox="1"/>
          <p:nvPr/>
        </p:nvSpPr>
        <p:spPr>
          <a:xfrm>
            <a:off x="3715621" y="2087977"/>
            <a:ext cx="425061" cy="173880"/>
          </a:xfrm>
          <a:prstGeom prst="rect">
            <a:avLst/>
          </a:prstGeom>
          <a:noFill/>
        </p:spPr>
        <p:txBody>
          <a:bodyPr wrap="none" lIns="0" rIns="0" tIns="0" bIns="0" anchor="t"/>
          <a:lstStyle/>
          <a:p>
            <a:pPr algn="ctr">
              <a:lnSpc>
                <a:spcPts val="1357"/>
              </a:lnSpc>
            </a:pPr>
            <a:r>
              <a:rPr sz="1131" b="1" i="0">
                <a:solidFill>
                  <a:srgbClr val="FFFFFF"/>
                </a:solidFill>
                <a:latin typeface="Versos"/>
              </a:rPr>
              <a:t>100%</a:t>
            </a:r>
          </a:p>
        </p:txBody>
      </p:sp>
      <p:sp>
        <p:nvSpPr>
          <p:cNvPr id="13" name="TextBox 12"/>
          <p:cNvSpPr txBox="1"/>
          <p:nvPr/>
        </p:nvSpPr>
        <p:spPr>
          <a:xfrm>
            <a:off x="4169694" y="2087977"/>
            <a:ext cx="676903" cy="173880"/>
          </a:xfrm>
          <a:prstGeom prst="rect">
            <a:avLst/>
          </a:prstGeom>
          <a:noFill/>
        </p:spPr>
        <p:txBody>
          <a:bodyPr wrap="none" lIns="0" rIns="0" tIns="0" bIns="0" anchor="t"/>
          <a:lstStyle/>
          <a:p>
            <a:pPr algn="ctr">
              <a:lnSpc>
                <a:spcPts val="1357"/>
              </a:lnSpc>
            </a:pPr>
            <a:r>
              <a:rPr sz="1131" b="1" i="0">
                <a:solidFill>
                  <a:srgbClr val="FFFFFF"/>
                </a:solidFill>
                <a:latin typeface="Versos"/>
              </a:rPr>
              <a:t>1,22%</a:t>
            </a:r>
          </a:p>
        </p:txBody>
      </p:sp>
      <p:sp>
        <p:nvSpPr>
          <p:cNvPr id="14" name="TextBox 13"/>
          <p:cNvSpPr txBox="1"/>
          <p:nvPr/>
        </p:nvSpPr>
        <p:spPr>
          <a:xfrm>
            <a:off x="4865923" y="2087977"/>
            <a:ext cx="1172848" cy="173880"/>
          </a:xfrm>
          <a:prstGeom prst="rect">
            <a:avLst/>
          </a:prstGeom>
          <a:noFill/>
        </p:spPr>
        <p:txBody>
          <a:bodyPr wrap="none" lIns="0" rIns="0" tIns="0" bIns="0" anchor="t"/>
          <a:lstStyle/>
          <a:p>
            <a:pPr algn="ctr">
              <a:lnSpc>
                <a:spcPts val="1357"/>
              </a:lnSpc>
            </a:pPr>
            <a:r>
              <a:rPr sz="1131" b="1" i="0">
                <a:solidFill>
                  <a:srgbClr val="FFFFFF"/>
                </a:solidFill>
                <a:latin typeface="Versos"/>
              </a:rPr>
              <a:t>1,19%</a:t>
            </a:r>
          </a:p>
        </p:txBody>
      </p:sp>
      <p:sp>
        <p:nvSpPr>
          <p:cNvPr id="15" name="TextBox 14"/>
          <p:cNvSpPr txBox="1"/>
          <p:nvPr/>
        </p:nvSpPr>
        <p:spPr>
          <a:xfrm>
            <a:off x="6039022" y="2087977"/>
            <a:ext cx="488083" cy="173880"/>
          </a:xfrm>
          <a:prstGeom prst="rect">
            <a:avLst/>
          </a:prstGeom>
          <a:noFill/>
        </p:spPr>
        <p:txBody>
          <a:bodyPr wrap="none" lIns="0" rIns="0" tIns="0" bIns="0" anchor="t"/>
          <a:lstStyle/>
          <a:p>
            <a:pPr algn="ctr">
              <a:lnSpc>
                <a:spcPts val="1357"/>
              </a:lnSpc>
            </a:pPr>
            <a:r>
              <a:rPr sz="1131" b="1" i="0">
                <a:solidFill>
                  <a:srgbClr val="FFFFFF"/>
                </a:solidFill>
                <a:latin typeface="Versos"/>
              </a:rPr>
              <a:t>0,03%</a:t>
            </a:r>
          </a:p>
        </p:txBody>
      </p:sp>
      <p:sp>
        <p:nvSpPr>
          <p:cNvPr id="16" name="TextBox 15"/>
          <p:cNvSpPr txBox="1"/>
          <p:nvPr/>
        </p:nvSpPr>
        <p:spPr>
          <a:xfrm>
            <a:off x="6553693" y="2087977"/>
            <a:ext cx="488328" cy="173880"/>
          </a:xfrm>
          <a:prstGeom prst="rect">
            <a:avLst/>
          </a:prstGeom>
          <a:noFill/>
        </p:spPr>
        <p:txBody>
          <a:bodyPr wrap="none" lIns="0" rIns="0" tIns="0" bIns="0" anchor="t"/>
          <a:lstStyle/>
          <a:p>
            <a:pPr algn="ctr">
              <a:lnSpc>
                <a:spcPts val="1357"/>
              </a:lnSpc>
            </a:pPr>
            <a:r>
              <a:rPr sz="1131" b="1" i="0">
                <a:solidFill>
                  <a:srgbClr val="FFFFFF"/>
                </a:solidFill>
                <a:latin typeface="Versos"/>
              </a:rPr>
              <a:t>2,71</a:t>
            </a:r>
          </a:p>
        </p:txBody>
      </p:sp>
      <p:sp>
        <p:nvSpPr>
          <p:cNvPr id="17" name="TextBox 16"/>
          <p:cNvSpPr txBox="1"/>
          <p:nvPr/>
        </p:nvSpPr>
        <p:spPr>
          <a:xfrm>
            <a:off x="536760" y="2585756"/>
            <a:ext cx="2078130" cy="113400"/>
          </a:xfrm>
          <a:prstGeom prst="rect">
            <a:avLst/>
          </a:prstGeom>
          <a:noFill/>
        </p:spPr>
        <p:txBody>
          <a:bodyPr wrap="none" lIns="0" rIns="0" tIns="0" bIns="0" anchor="t"/>
          <a:lstStyle/>
          <a:p>
            <a:pPr algn="ctr">
              <a:lnSpc>
                <a:spcPts val="851"/>
              </a:lnSpc>
            </a:pPr>
            <a:r>
              <a:rPr sz="773" b="1" i="0">
                <a:solidFill>
                  <a:srgbClr val="FFFFFF"/>
                </a:solidFill>
                <a:latin typeface="Versos"/>
              </a:rPr>
              <a:t>Setor</a:t>
            </a:r>
          </a:p>
        </p:txBody>
      </p:sp>
      <p:sp>
        <p:nvSpPr>
          <p:cNvPr id="18" name="TextBox 17"/>
          <p:cNvSpPr txBox="1"/>
          <p:nvPr/>
        </p:nvSpPr>
        <p:spPr>
          <a:xfrm>
            <a:off x="2580322" y="2585756"/>
            <a:ext cx="1133536" cy="113400"/>
          </a:xfrm>
          <a:prstGeom prst="rect">
            <a:avLst/>
          </a:prstGeom>
          <a:noFill/>
        </p:spPr>
        <p:txBody>
          <a:bodyPr wrap="none" lIns="0" rIns="0" tIns="0" bIns="0" anchor="t"/>
          <a:lstStyle/>
          <a:p>
            <a:pPr algn="ctr">
              <a:lnSpc>
                <a:spcPts val="851"/>
              </a:lnSpc>
            </a:pPr>
            <a:r>
              <a:rPr sz="773" b="1" i="0">
                <a:solidFill>
                  <a:srgbClr val="FFFFFF"/>
                </a:solidFill>
                <a:latin typeface="Versos"/>
              </a:rPr>
              <a:t>Volume (R$ MM)</a:t>
            </a:r>
          </a:p>
        </p:txBody>
      </p:sp>
      <p:sp>
        <p:nvSpPr>
          <p:cNvPr id="19" name="TextBox 18"/>
          <p:cNvSpPr txBox="1"/>
          <p:nvPr/>
        </p:nvSpPr>
        <p:spPr>
          <a:xfrm>
            <a:off x="3715621" y="2585756"/>
            <a:ext cx="425061" cy="113400"/>
          </a:xfrm>
          <a:prstGeom prst="rect">
            <a:avLst/>
          </a:prstGeom>
          <a:noFill/>
        </p:spPr>
        <p:txBody>
          <a:bodyPr wrap="none" lIns="0" rIns="0" tIns="0" bIns="0" anchor="t"/>
          <a:lstStyle/>
          <a:p>
            <a:pPr algn="ctr">
              <a:lnSpc>
                <a:spcPts val="851"/>
              </a:lnSpc>
            </a:pPr>
            <a:r>
              <a:rPr sz="773" b="1" i="0">
                <a:solidFill>
                  <a:srgbClr val="FFFFFF"/>
                </a:solidFill>
                <a:latin typeface="Versos"/>
              </a:rPr>
              <a:t>%</a:t>
            </a:r>
          </a:p>
        </p:txBody>
      </p:sp>
      <p:sp>
        <p:nvSpPr>
          <p:cNvPr id="20" name="TextBox 19"/>
          <p:cNvSpPr txBox="1"/>
          <p:nvPr/>
        </p:nvSpPr>
        <p:spPr>
          <a:xfrm>
            <a:off x="4169694" y="2585756"/>
            <a:ext cx="676903" cy="113400"/>
          </a:xfrm>
          <a:prstGeom prst="rect">
            <a:avLst/>
          </a:prstGeom>
          <a:noFill/>
        </p:spPr>
        <p:txBody>
          <a:bodyPr wrap="none" lIns="0" rIns="0" tIns="0" bIns="0" anchor="t"/>
          <a:lstStyle/>
          <a:p>
            <a:pPr algn="ctr">
              <a:lnSpc>
                <a:spcPts val="851"/>
              </a:lnSpc>
            </a:pPr>
            <a:r>
              <a:rPr sz="773" b="1" i="0">
                <a:solidFill>
                  <a:srgbClr val="FFFFFF"/>
                </a:solidFill>
                <a:latin typeface="Versos"/>
              </a:rPr>
              <a:t>Spread Atual</a:t>
            </a:r>
          </a:p>
        </p:txBody>
      </p:sp>
      <p:sp>
        <p:nvSpPr>
          <p:cNvPr id="21" name="TextBox 20"/>
          <p:cNvSpPr txBox="1"/>
          <p:nvPr/>
        </p:nvSpPr>
        <p:spPr>
          <a:xfrm>
            <a:off x="4865923" y="2585756"/>
            <a:ext cx="1172848" cy="113400"/>
          </a:xfrm>
          <a:prstGeom prst="rect">
            <a:avLst/>
          </a:prstGeom>
          <a:noFill/>
        </p:spPr>
        <p:txBody>
          <a:bodyPr wrap="none" lIns="0" rIns="0" tIns="0" bIns="0" anchor="t"/>
          <a:lstStyle/>
          <a:p>
            <a:pPr algn="ctr">
              <a:lnSpc>
                <a:spcPts val="851"/>
              </a:lnSpc>
            </a:pPr>
            <a:r>
              <a:rPr sz="773" b="1" i="0">
                <a:solidFill>
                  <a:srgbClr val="FFFFFF"/>
                </a:solidFill>
                <a:latin typeface="Versos"/>
              </a:rPr>
              <a:t>Spread mês anterior</a:t>
            </a:r>
          </a:p>
        </p:txBody>
      </p:sp>
      <p:sp>
        <p:nvSpPr>
          <p:cNvPr id="22" name="TextBox 21"/>
          <p:cNvSpPr txBox="1"/>
          <p:nvPr/>
        </p:nvSpPr>
        <p:spPr>
          <a:xfrm>
            <a:off x="6039022" y="2585756"/>
            <a:ext cx="488083" cy="113400"/>
          </a:xfrm>
          <a:prstGeom prst="rect">
            <a:avLst/>
          </a:prstGeom>
          <a:noFill/>
        </p:spPr>
        <p:txBody>
          <a:bodyPr wrap="none" lIns="0" rIns="0" tIns="0" bIns="0" anchor="t"/>
          <a:lstStyle/>
          <a:p>
            <a:pPr algn="ctr">
              <a:lnSpc>
                <a:spcPts val="851"/>
              </a:lnSpc>
            </a:pPr>
            <a:r>
              <a:rPr sz="773" b="1" i="0">
                <a:solidFill>
                  <a:srgbClr val="FFFFFF"/>
                </a:solidFill>
                <a:latin typeface="Versos"/>
              </a:rPr>
              <a:t>Variação</a:t>
            </a:r>
          </a:p>
        </p:txBody>
      </p:sp>
      <p:sp>
        <p:nvSpPr>
          <p:cNvPr id="23" name="TextBox 22"/>
          <p:cNvSpPr txBox="1"/>
          <p:nvPr/>
        </p:nvSpPr>
        <p:spPr>
          <a:xfrm>
            <a:off x="6553693" y="2585756"/>
            <a:ext cx="488328" cy="113400"/>
          </a:xfrm>
          <a:prstGeom prst="rect">
            <a:avLst/>
          </a:prstGeom>
          <a:noFill/>
        </p:spPr>
        <p:txBody>
          <a:bodyPr wrap="none" lIns="0" rIns="0" tIns="0" bIns="0" anchor="t"/>
          <a:lstStyle/>
          <a:p>
            <a:pPr algn="ctr">
              <a:lnSpc>
                <a:spcPts val="851"/>
              </a:lnSpc>
            </a:pPr>
            <a:r>
              <a:rPr sz="773" b="1" i="0">
                <a:solidFill>
                  <a:srgbClr val="FFFFFF"/>
                </a:solidFill>
                <a:latin typeface="Versos"/>
              </a:rPr>
              <a:t>Duration</a:t>
            </a:r>
          </a:p>
        </p:txBody>
      </p:sp>
      <p:sp>
        <p:nvSpPr>
          <p:cNvPr id="24" name="TextBox 23"/>
          <p:cNvSpPr txBox="1"/>
          <p:nvPr/>
        </p:nvSpPr>
        <p:spPr>
          <a:xfrm>
            <a:off x="604800" y="286346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Energia elétrica</a:t>
            </a:r>
          </a:p>
        </p:txBody>
      </p:sp>
      <p:sp>
        <p:nvSpPr>
          <p:cNvPr id="25" name="TextBox 24"/>
          <p:cNvSpPr txBox="1"/>
          <p:nvPr/>
        </p:nvSpPr>
        <p:spPr>
          <a:xfrm>
            <a:off x="2580322" y="287043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108.945</a:t>
            </a:r>
          </a:p>
        </p:txBody>
      </p:sp>
      <p:sp>
        <p:nvSpPr>
          <p:cNvPr id="26" name="TextBox 25"/>
          <p:cNvSpPr txBox="1"/>
          <p:nvPr/>
        </p:nvSpPr>
        <p:spPr>
          <a:xfrm>
            <a:off x="3715621" y="287043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24,6%</a:t>
            </a:r>
          </a:p>
        </p:txBody>
      </p:sp>
      <p:sp>
        <p:nvSpPr>
          <p:cNvPr id="27" name="TextBox 26"/>
          <p:cNvSpPr txBox="1"/>
          <p:nvPr/>
        </p:nvSpPr>
        <p:spPr>
          <a:xfrm>
            <a:off x="4169694" y="287043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0,72%</a:t>
            </a:r>
          </a:p>
        </p:txBody>
      </p:sp>
      <p:sp>
        <p:nvSpPr>
          <p:cNvPr id="28" name="TextBox 27"/>
          <p:cNvSpPr txBox="1"/>
          <p:nvPr/>
        </p:nvSpPr>
        <p:spPr>
          <a:xfrm>
            <a:off x="4865923" y="287043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0,72%</a:t>
            </a:r>
          </a:p>
        </p:txBody>
      </p:sp>
      <p:sp>
        <p:nvSpPr>
          <p:cNvPr id="29" name="TextBox 28"/>
          <p:cNvSpPr txBox="1"/>
          <p:nvPr/>
        </p:nvSpPr>
        <p:spPr>
          <a:xfrm>
            <a:off x="6039022" y="287043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0,00%</a:t>
            </a:r>
          </a:p>
        </p:txBody>
      </p:sp>
      <p:sp>
        <p:nvSpPr>
          <p:cNvPr id="30" name="TextBox 29"/>
          <p:cNvSpPr txBox="1"/>
          <p:nvPr/>
        </p:nvSpPr>
        <p:spPr>
          <a:xfrm>
            <a:off x="6553693" y="287043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2,7</a:t>
            </a:r>
          </a:p>
        </p:txBody>
      </p:sp>
      <p:sp>
        <p:nvSpPr>
          <p:cNvPr id="31" name="TextBox 30"/>
          <p:cNvSpPr txBox="1"/>
          <p:nvPr/>
        </p:nvSpPr>
        <p:spPr>
          <a:xfrm>
            <a:off x="604800" y="315830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Assistência médica</a:t>
            </a:r>
          </a:p>
        </p:txBody>
      </p:sp>
      <p:sp>
        <p:nvSpPr>
          <p:cNvPr id="32" name="TextBox 31"/>
          <p:cNvSpPr txBox="1"/>
          <p:nvPr/>
        </p:nvSpPr>
        <p:spPr>
          <a:xfrm>
            <a:off x="2580322" y="316527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43.410</a:t>
            </a:r>
          </a:p>
        </p:txBody>
      </p:sp>
      <p:sp>
        <p:nvSpPr>
          <p:cNvPr id="33" name="TextBox 32"/>
          <p:cNvSpPr txBox="1"/>
          <p:nvPr/>
        </p:nvSpPr>
        <p:spPr>
          <a:xfrm>
            <a:off x="3715621" y="316527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9,8%</a:t>
            </a:r>
          </a:p>
        </p:txBody>
      </p:sp>
      <p:sp>
        <p:nvSpPr>
          <p:cNvPr id="34" name="TextBox 33"/>
          <p:cNvSpPr txBox="1"/>
          <p:nvPr/>
        </p:nvSpPr>
        <p:spPr>
          <a:xfrm>
            <a:off x="4169694" y="316527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2,55%</a:t>
            </a:r>
          </a:p>
        </p:txBody>
      </p:sp>
      <p:sp>
        <p:nvSpPr>
          <p:cNvPr id="35" name="TextBox 34"/>
          <p:cNvSpPr txBox="1"/>
          <p:nvPr/>
        </p:nvSpPr>
        <p:spPr>
          <a:xfrm>
            <a:off x="4865923" y="316527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2,23%</a:t>
            </a:r>
          </a:p>
        </p:txBody>
      </p:sp>
      <p:sp>
        <p:nvSpPr>
          <p:cNvPr id="36" name="TextBox 35"/>
          <p:cNvSpPr txBox="1"/>
          <p:nvPr/>
        </p:nvSpPr>
        <p:spPr>
          <a:xfrm>
            <a:off x="6039022" y="316527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0,32%</a:t>
            </a:r>
          </a:p>
        </p:txBody>
      </p:sp>
      <p:sp>
        <p:nvSpPr>
          <p:cNvPr id="37" name="TextBox 36"/>
          <p:cNvSpPr txBox="1"/>
          <p:nvPr/>
        </p:nvSpPr>
        <p:spPr>
          <a:xfrm>
            <a:off x="6553693" y="316527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3,3</a:t>
            </a:r>
          </a:p>
        </p:txBody>
      </p:sp>
      <p:sp>
        <p:nvSpPr>
          <p:cNvPr id="38" name="TextBox 37"/>
          <p:cNvSpPr txBox="1"/>
          <p:nvPr/>
        </p:nvSpPr>
        <p:spPr>
          <a:xfrm>
            <a:off x="604800" y="345314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Saneamento</a:t>
            </a:r>
          </a:p>
        </p:txBody>
      </p:sp>
      <p:sp>
        <p:nvSpPr>
          <p:cNvPr id="39" name="TextBox 38"/>
          <p:cNvSpPr txBox="1"/>
          <p:nvPr/>
        </p:nvSpPr>
        <p:spPr>
          <a:xfrm>
            <a:off x="2580322" y="346011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39.943</a:t>
            </a:r>
          </a:p>
        </p:txBody>
      </p:sp>
      <p:sp>
        <p:nvSpPr>
          <p:cNvPr id="40" name="TextBox 39"/>
          <p:cNvSpPr txBox="1"/>
          <p:nvPr/>
        </p:nvSpPr>
        <p:spPr>
          <a:xfrm>
            <a:off x="3715621" y="346011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9,0%</a:t>
            </a:r>
          </a:p>
        </p:txBody>
      </p:sp>
      <p:sp>
        <p:nvSpPr>
          <p:cNvPr id="41" name="TextBox 40"/>
          <p:cNvSpPr txBox="1"/>
          <p:nvPr/>
        </p:nvSpPr>
        <p:spPr>
          <a:xfrm>
            <a:off x="4169694" y="346011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1,66%</a:t>
            </a:r>
          </a:p>
        </p:txBody>
      </p:sp>
      <p:sp>
        <p:nvSpPr>
          <p:cNvPr id="42" name="TextBox 41"/>
          <p:cNvSpPr txBox="1"/>
          <p:nvPr/>
        </p:nvSpPr>
        <p:spPr>
          <a:xfrm>
            <a:off x="4865923" y="346011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1,67%</a:t>
            </a:r>
          </a:p>
        </p:txBody>
      </p:sp>
      <p:sp>
        <p:nvSpPr>
          <p:cNvPr id="43" name="TextBox 42"/>
          <p:cNvSpPr txBox="1"/>
          <p:nvPr/>
        </p:nvSpPr>
        <p:spPr>
          <a:xfrm>
            <a:off x="6039022" y="346011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-0,01%</a:t>
            </a:r>
          </a:p>
        </p:txBody>
      </p:sp>
      <p:sp>
        <p:nvSpPr>
          <p:cNvPr id="44" name="TextBox 43"/>
          <p:cNvSpPr txBox="1"/>
          <p:nvPr/>
        </p:nvSpPr>
        <p:spPr>
          <a:xfrm>
            <a:off x="6553693" y="346011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2,7</a:t>
            </a:r>
          </a:p>
        </p:txBody>
      </p:sp>
      <p:sp>
        <p:nvSpPr>
          <p:cNvPr id="45" name="TextBox 44"/>
          <p:cNvSpPr txBox="1"/>
          <p:nvPr/>
        </p:nvSpPr>
        <p:spPr>
          <a:xfrm>
            <a:off x="604800" y="374798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Locação de veículos</a:t>
            </a:r>
          </a:p>
        </p:txBody>
      </p:sp>
      <p:sp>
        <p:nvSpPr>
          <p:cNvPr id="46" name="TextBox 45"/>
          <p:cNvSpPr txBox="1"/>
          <p:nvPr/>
        </p:nvSpPr>
        <p:spPr>
          <a:xfrm>
            <a:off x="2580322" y="375495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33.800</a:t>
            </a:r>
          </a:p>
        </p:txBody>
      </p:sp>
      <p:sp>
        <p:nvSpPr>
          <p:cNvPr id="47" name="TextBox 46"/>
          <p:cNvSpPr txBox="1"/>
          <p:nvPr/>
        </p:nvSpPr>
        <p:spPr>
          <a:xfrm>
            <a:off x="3715621" y="375495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7,6%</a:t>
            </a:r>
          </a:p>
        </p:txBody>
      </p:sp>
      <p:sp>
        <p:nvSpPr>
          <p:cNvPr id="48" name="TextBox 47"/>
          <p:cNvSpPr txBox="1"/>
          <p:nvPr/>
        </p:nvSpPr>
        <p:spPr>
          <a:xfrm>
            <a:off x="4169694" y="375495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1,62%</a:t>
            </a:r>
          </a:p>
        </p:txBody>
      </p:sp>
      <p:sp>
        <p:nvSpPr>
          <p:cNvPr id="49" name="TextBox 48"/>
          <p:cNvSpPr txBox="1"/>
          <p:nvPr/>
        </p:nvSpPr>
        <p:spPr>
          <a:xfrm>
            <a:off x="4865923" y="375495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1,65%</a:t>
            </a:r>
          </a:p>
        </p:txBody>
      </p:sp>
      <p:sp>
        <p:nvSpPr>
          <p:cNvPr id="50" name="TextBox 49"/>
          <p:cNvSpPr txBox="1"/>
          <p:nvPr/>
        </p:nvSpPr>
        <p:spPr>
          <a:xfrm>
            <a:off x="6039022" y="375495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-0,03%</a:t>
            </a:r>
          </a:p>
        </p:txBody>
      </p:sp>
      <p:sp>
        <p:nvSpPr>
          <p:cNvPr id="51" name="TextBox 50"/>
          <p:cNvSpPr txBox="1"/>
          <p:nvPr/>
        </p:nvSpPr>
        <p:spPr>
          <a:xfrm>
            <a:off x="6553693" y="375495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2,4</a:t>
            </a:r>
          </a:p>
        </p:txBody>
      </p:sp>
      <p:sp>
        <p:nvSpPr>
          <p:cNvPr id="52" name="TextBox 51"/>
          <p:cNvSpPr txBox="1"/>
          <p:nvPr/>
        </p:nvSpPr>
        <p:spPr>
          <a:xfrm>
            <a:off x="604800" y="404282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Petróleo e gás</a:t>
            </a:r>
          </a:p>
        </p:txBody>
      </p:sp>
      <p:sp>
        <p:nvSpPr>
          <p:cNvPr id="53" name="TextBox 52"/>
          <p:cNvSpPr txBox="1"/>
          <p:nvPr/>
        </p:nvSpPr>
        <p:spPr>
          <a:xfrm>
            <a:off x="2580322" y="404979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33.070</a:t>
            </a:r>
          </a:p>
        </p:txBody>
      </p:sp>
      <p:sp>
        <p:nvSpPr>
          <p:cNvPr id="54" name="TextBox 53"/>
          <p:cNvSpPr txBox="1"/>
          <p:nvPr/>
        </p:nvSpPr>
        <p:spPr>
          <a:xfrm>
            <a:off x="3715621" y="404979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7,5%</a:t>
            </a:r>
          </a:p>
        </p:txBody>
      </p:sp>
      <p:sp>
        <p:nvSpPr>
          <p:cNvPr id="55" name="TextBox 54"/>
          <p:cNvSpPr txBox="1"/>
          <p:nvPr/>
        </p:nvSpPr>
        <p:spPr>
          <a:xfrm>
            <a:off x="4169694" y="404979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0,80%</a:t>
            </a:r>
          </a:p>
        </p:txBody>
      </p:sp>
      <p:sp>
        <p:nvSpPr>
          <p:cNvPr id="56" name="TextBox 55"/>
          <p:cNvSpPr txBox="1"/>
          <p:nvPr/>
        </p:nvSpPr>
        <p:spPr>
          <a:xfrm>
            <a:off x="4865923" y="404979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0,82%</a:t>
            </a:r>
          </a:p>
        </p:txBody>
      </p:sp>
      <p:sp>
        <p:nvSpPr>
          <p:cNvPr id="57" name="TextBox 56"/>
          <p:cNvSpPr txBox="1"/>
          <p:nvPr/>
        </p:nvSpPr>
        <p:spPr>
          <a:xfrm>
            <a:off x="6039022" y="404979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-0,02%</a:t>
            </a:r>
          </a:p>
        </p:txBody>
      </p:sp>
      <p:sp>
        <p:nvSpPr>
          <p:cNvPr id="58" name="TextBox 57"/>
          <p:cNvSpPr txBox="1"/>
          <p:nvPr/>
        </p:nvSpPr>
        <p:spPr>
          <a:xfrm>
            <a:off x="6553693" y="404979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2,8</a:t>
            </a:r>
          </a:p>
        </p:txBody>
      </p:sp>
      <p:sp>
        <p:nvSpPr>
          <p:cNvPr id="59" name="TextBox 58"/>
          <p:cNvSpPr txBox="1"/>
          <p:nvPr/>
        </p:nvSpPr>
        <p:spPr>
          <a:xfrm>
            <a:off x="604800" y="433766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Transporte e logística</a:t>
            </a:r>
          </a:p>
        </p:txBody>
      </p:sp>
      <p:sp>
        <p:nvSpPr>
          <p:cNvPr id="60" name="TextBox 59"/>
          <p:cNvSpPr txBox="1"/>
          <p:nvPr/>
        </p:nvSpPr>
        <p:spPr>
          <a:xfrm>
            <a:off x="2580322" y="434463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29.782</a:t>
            </a:r>
          </a:p>
        </p:txBody>
      </p:sp>
      <p:sp>
        <p:nvSpPr>
          <p:cNvPr id="61" name="TextBox 60"/>
          <p:cNvSpPr txBox="1"/>
          <p:nvPr/>
        </p:nvSpPr>
        <p:spPr>
          <a:xfrm>
            <a:off x="3715621" y="434463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6,7%</a:t>
            </a:r>
          </a:p>
        </p:txBody>
      </p:sp>
      <p:sp>
        <p:nvSpPr>
          <p:cNvPr id="62" name="TextBox 61"/>
          <p:cNvSpPr txBox="1"/>
          <p:nvPr/>
        </p:nvSpPr>
        <p:spPr>
          <a:xfrm>
            <a:off x="4169694" y="434463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1,34%</a:t>
            </a:r>
          </a:p>
        </p:txBody>
      </p:sp>
      <p:sp>
        <p:nvSpPr>
          <p:cNvPr id="63" name="TextBox 62"/>
          <p:cNvSpPr txBox="1"/>
          <p:nvPr/>
        </p:nvSpPr>
        <p:spPr>
          <a:xfrm>
            <a:off x="4865923" y="434463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1,26%</a:t>
            </a:r>
          </a:p>
        </p:txBody>
      </p:sp>
      <p:sp>
        <p:nvSpPr>
          <p:cNvPr id="64" name="TextBox 63"/>
          <p:cNvSpPr txBox="1"/>
          <p:nvPr/>
        </p:nvSpPr>
        <p:spPr>
          <a:xfrm>
            <a:off x="6039022" y="434463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0,08%</a:t>
            </a:r>
          </a:p>
        </p:txBody>
      </p:sp>
      <p:sp>
        <p:nvSpPr>
          <p:cNvPr id="65" name="TextBox 64"/>
          <p:cNvSpPr txBox="1"/>
          <p:nvPr/>
        </p:nvSpPr>
        <p:spPr>
          <a:xfrm>
            <a:off x="6553693" y="434463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2,7</a:t>
            </a:r>
          </a:p>
        </p:txBody>
      </p:sp>
      <p:sp>
        <p:nvSpPr>
          <p:cNvPr id="66" name="TextBox 65"/>
          <p:cNvSpPr txBox="1"/>
          <p:nvPr/>
        </p:nvSpPr>
        <p:spPr>
          <a:xfrm>
            <a:off x="604800" y="463250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Comércio atacadista e varejista</a:t>
            </a:r>
          </a:p>
        </p:txBody>
      </p:sp>
      <p:sp>
        <p:nvSpPr>
          <p:cNvPr id="67" name="TextBox 66"/>
          <p:cNvSpPr txBox="1"/>
          <p:nvPr/>
        </p:nvSpPr>
        <p:spPr>
          <a:xfrm>
            <a:off x="2580322" y="463947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26.963</a:t>
            </a:r>
          </a:p>
        </p:txBody>
      </p:sp>
      <p:sp>
        <p:nvSpPr>
          <p:cNvPr id="68" name="TextBox 67"/>
          <p:cNvSpPr txBox="1"/>
          <p:nvPr/>
        </p:nvSpPr>
        <p:spPr>
          <a:xfrm>
            <a:off x="3715621" y="463947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6,1%</a:t>
            </a:r>
          </a:p>
        </p:txBody>
      </p:sp>
      <p:sp>
        <p:nvSpPr>
          <p:cNvPr id="69" name="TextBox 68"/>
          <p:cNvSpPr txBox="1"/>
          <p:nvPr/>
        </p:nvSpPr>
        <p:spPr>
          <a:xfrm>
            <a:off x="4169694" y="463947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1,34%</a:t>
            </a:r>
          </a:p>
        </p:txBody>
      </p:sp>
      <p:sp>
        <p:nvSpPr>
          <p:cNvPr id="70" name="TextBox 69"/>
          <p:cNvSpPr txBox="1"/>
          <p:nvPr/>
        </p:nvSpPr>
        <p:spPr>
          <a:xfrm>
            <a:off x="4865923" y="463947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1,32%</a:t>
            </a:r>
          </a:p>
        </p:txBody>
      </p:sp>
      <p:sp>
        <p:nvSpPr>
          <p:cNvPr id="71" name="TextBox 70"/>
          <p:cNvSpPr txBox="1"/>
          <p:nvPr/>
        </p:nvSpPr>
        <p:spPr>
          <a:xfrm>
            <a:off x="6039022" y="463947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0,02%</a:t>
            </a:r>
          </a:p>
        </p:txBody>
      </p:sp>
      <p:sp>
        <p:nvSpPr>
          <p:cNvPr id="72" name="TextBox 71"/>
          <p:cNvSpPr txBox="1"/>
          <p:nvPr/>
        </p:nvSpPr>
        <p:spPr>
          <a:xfrm>
            <a:off x="6553693" y="463947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2,4</a:t>
            </a:r>
          </a:p>
        </p:txBody>
      </p:sp>
      <p:sp>
        <p:nvSpPr>
          <p:cNvPr id="73" name="TextBox 72"/>
          <p:cNvSpPr txBox="1"/>
          <p:nvPr/>
        </p:nvSpPr>
        <p:spPr>
          <a:xfrm>
            <a:off x="604800" y="492734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Financeiro</a:t>
            </a:r>
          </a:p>
        </p:txBody>
      </p:sp>
      <p:sp>
        <p:nvSpPr>
          <p:cNvPr id="74" name="TextBox 73"/>
          <p:cNvSpPr txBox="1"/>
          <p:nvPr/>
        </p:nvSpPr>
        <p:spPr>
          <a:xfrm>
            <a:off x="2580322" y="493431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23.678</a:t>
            </a:r>
          </a:p>
        </p:txBody>
      </p:sp>
      <p:sp>
        <p:nvSpPr>
          <p:cNvPr id="75" name="TextBox 74"/>
          <p:cNvSpPr txBox="1"/>
          <p:nvPr/>
        </p:nvSpPr>
        <p:spPr>
          <a:xfrm>
            <a:off x="3715621" y="493431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5,3%</a:t>
            </a:r>
          </a:p>
        </p:txBody>
      </p:sp>
      <p:sp>
        <p:nvSpPr>
          <p:cNvPr id="76" name="TextBox 75"/>
          <p:cNvSpPr txBox="1"/>
          <p:nvPr/>
        </p:nvSpPr>
        <p:spPr>
          <a:xfrm>
            <a:off x="4169694" y="493431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0,45%</a:t>
            </a:r>
          </a:p>
        </p:txBody>
      </p:sp>
      <p:sp>
        <p:nvSpPr>
          <p:cNvPr id="77" name="TextBox 76"/>
          <p:cNvSpPr txBox="1"/>
          <p:nvPr/>
        </p:nvSpPr>
        <p:spPr>
          <a:xfrm>
            <a:off x="4865923" y="493431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0,46%</a:t>
            </a:r>
          </a:p>
        </p:txBody>
      </p:sp>
      <p:sp>
        <p:nvSpPr>
          <p:cNvPr id="78" name="TextBox 77"/>
          <p:cNvSpPr txBox="1"/>
          <p:nvPr/>
        </p:nvSpPr>
        <p:spPr>
          <a:xfrm>
            <a:off x="6039022" y="493431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-0,01%</a:t>
            </a:r>
          </a:p>
        </p:txBody>
      </p:sp>
      <p:sp>
        <p:nvSpPr>
          <p:cNvPr id="79" name="TextBox 78"/>
          <p:cNvSpPr txBox="1"/>
          <p:nvPr/>
        </p:nvSpPr>
        <p:spPr>
          <a:xfrm>
            <a:off x="6553693" y="493431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2,0</a:t>
            </a:r>
          </a:p>
        </p:txBody>
      </p:sp>
      <p:sp>
        <p:nvSpPr>
          <p:cNvPr id="80" name="TextBox 79"/>
          <p:cNvSpPr txBox="1"/>
          <p:nvPr/>
        </p:nvSpPr>
        <p:spPr>
          <a:xfrm>
            <a:off x="604800" y="522218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Indústria e comércio</a:t>
            </a:r>
          </a:p>
        </p:txBody>
      </p:sp>
      <p:sp>
        <p:nvSpPr>
          <p:cNvPr id="81" name="TextBox 80"/>
          <p:cNvSpPr txBox="1"/>
          <p:nvPr/>
        </p:nvSpPr>
        <p:spPr>
          <a:xfrm>
            <a:off x="2580322" y="522915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22.210</a:t>
            </a:r>
          </a:p>
        </p:txBody>
      </p:sp>
      <p:sp>
        <p:nvSpPr>
          <p:cNvPr id="82" name="TextBox 81"/>
          <p:cNvSpPr txBox="1"/>
          <p:nvPr/>
        </p:nvSpPr>
        <p:spPr>
          <a:xfrm>
            <a:off x="3715621" y="522915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5,0%</a:t>
            </a:r>
          </a:p>
        </p:txBody>
      </p:sp>
      <p:sp>
        <p:nvSpPr>
          <p:cNvPr id="83" name="TextBox 82"/>
          <p:cNvSpPr txBox="1"/>
          <p:nvPr/>
        </p:nvSpPr>
        <p:spPr>
          <a:xfrm>
            <a:off x="4169694" y="522915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1,21%</a:t>
            </a:r>
          </a:p>
        </p:txBody>
      </p:sp>
      <p:sp>
        <p:nvSpPr>
          <p:cNvPr id="84" name="TextBox 83"/>
          <p:cNvSpPr txBox="1"/>
          <p:nvPr/>
        </p:nvSpPr>
        <p:spPr>
          <a:xfrm>
            <a:off x="4865923" y="522915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1,21%</a:t>
            </a:r>
          </a:p>
        </p:txBody>
      </p:sp>
      <p:sp>
        <p:nvSpPr>
          <p:cNvPr id="85" name="TextBox 84"/>
          <p:cNvSpPr txBox="1"/>
          <p:nvPr/>
        </p:nvSpPr>
        <p:spPr>
          <a:xfrm>
            <a:off x="6039022" y="522915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0,00%</a:t>
            </a:r>
          </a:p>
        </p:txBody>
      </p:sp>
      <p:sp>
        <p:nvSpPr>
          <p:cNvPr id="86" name="TextBox 85"/>
          <p:cNvSpPr txBox="1"/>
          <p:nvPr/>
        </p:nvSpPr>
        <p:spPr>
          <a:xfrm>
            <a:off x="6553693" y="522915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2,6</a:t>
            </a:r>
          </a:p>
        </p:txBody>
      </p:sp>
      <p:sp>
        <p:nvSpPr>
          <p:cNvPr id="87" name="TextBox 86"/>
          <p:cNvSpPr txBox="1"/>
          <p:nvPr/>
        </p:nvSpPr>
        <p:spPr>
          <a:xfrm>
            <a:off x="604800" y="551702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Ti e telecomunicações</a:t>
            </a:r>
          </a:p>
        </p:txBody>
      </p:sp>
      <p:sp>
        <p:nvSpPr>
          <p:cNvPr id="88" name="TextBox 87"/>
          <p:cNvSpPr txBox="1"/>
          <p:nvPr/>
        </p:nvSpPr>
        <p:spPr>
          <a:xfrm>
            <a:off x="2580322" y="552399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18.606</a:t>
            </a:r>
          </a:p>
        </p:txBody>
      </p:sp>
      <p:sp>
        <p:nvSpPr>
          <p:cNvPr id="89" name="TextBox 88"/>
          <p:cNvSpPr txBox="1"/>
          <p:nvPr/>
        </p:nvSpPr>
        <p:spPr>
          <a:xfrm>
            <a:off x="3715621" y="552399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4,2%</a:t>
            </a:r>
          </a:p>
        </p:txBody>
      </p:sp>
      <p:sp>
        <p:nvSpPr>
          <p:cNvPr id="90" name="TextBox 89"/>
          <p:cNvSpPr txBox="1"/>
          <p:nvPr/>
        </p:nvSpPr>
        <p:spPr>
          <a:xfrm>
            <a:off x="4169694" y="552399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1,00%</a:t>
            </a:r>
          </a:p>
        </p:txBody>
      </p:sp>
      <p:sp>
        <p:nvSpPr>
          <p:cNvPr id="91" name="TextBox 90"/>
          <p:cNvSpPr txBox="1"/>
          <p:nvPr/>
        </p:nvSpPr>
        <p:spPr>
          <a:xfrm>
            <a:off x="4865923" y="552399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1,00%</a:t>
            </a:r>
          </a:p>
        </p:txBody>
      </p:sp>
      <p:sp>
        <p:nvSpPr>
          <p:cNvPr id="92" name="TextBox 91"/>
          <p:cNvSpPr txBox="1"/>
          <p:nvPr/>
        </p:nvSpPr>
        <p:spPr>
          <a:xfrm>
            <a:off x="6039022" y="552399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0,00%</a:t>
            </a:r>
          </a:p>
        </p:txBody>
      </p:sp>
      <p:sp>
        <p:nvSpPr>
          <p:cNvPr id="93" name="TextBox 92"/>
          <p:cNvSpPr txBox="1"/>
          <p:nvPr/>
        </p:nvSpPr>
        <p:spPr>
          <a:xfrm>
            <a:off x="6553693" y="552399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2,2</a:t>
            </a:r>
          </a:p>
        </p:txBody>
      </p:sp>
      <p:sp>
        <p:nvSpPr>
          <p:cNvPr id="94" name="TextBox 93"/>
          <p:cNvSpPr txBox="1"/>
          <p:nvPr/>
        </p:nvSpPr>
        <p:spPr>
          <a:xfrm>
            <a:off x="604800" y="581186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Bioenergia</a:t>
            </a:r>
          </a:p>
        </p:txBody>
      </p:sp>
      <p:sp>
        <p:nvSpPr>
          <p:cNvPr id="95" name="TextBox 94"/>
          <p:cNvSpPr txBox="1"/>
          <p:nvPr/>
        </p:nvSpPr>
        <p:spPr>
          <a:xfrm>
            <a:off x="2580322" y="581883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9.534</a:t>
            </a:r>
          </a:p>
        </p:txBody>
      </p:sp>
      <p:sp>
        <p:nvSpPr>
          <p:cNvPr id="96" name="TextBox 95"/>
          <p:cNvSpPr txBox="1"/>
          <p:nvPr/>
        </p:nvSpPr>
        <p:spPr>
          <a:xfrm>
            <a:off x="3715621" y="581883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2,1%</a:t>
            </a:r>
          </a:p>
        </p:txBody>
      </p:sp>
      <p:sp>
        <p:nvSpPr>
          <p:cNvPr id="97" name="TextBox 96"/>
          <p:cNvSpPr txBox="1"/>
          <p:nvPr/>
        </p:nvSpPr>
        <p:spPr>
          <a:xfrm>
            <a:off x="4169694" y="581883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1,69%</a:t>
            </a:r>
          </a:p>
        </p:txBody>
      </p:sp>
      <p:sp>
        <p:nvSpPr>
          <p:cNvPr id="98" name="TextBox 97"/>
          <p:cNvSpPr txBox="1"/>
          <p:nvPr/>
        </p:nvSpPr>
        <p:spPr>
          <a:xfrm>
            <a:off x="4865923" y="581883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1,66%</a:t>
            </a:r>
          </a:p>
        </p:txBody>
      </p:sp>
      <p:sp>
        <p:nvSpPr>
          <p:cNvPr id="99" name="TextBox 98"/>
          <p:cNvSpPr txBox="1"/>
          <p:nvPr/>
        </p:nvSpPr>
        <p:spPr>
          <a:xfrm>
            <a:off x="6039022" y="581883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0,03%</a:t>
            </a:r>
          </a:p>
        </p:txBody>
      </p:sp>
      <p:sp>
        <p:nvSpPr>
          <p:cNvPr id="100" name="TextBox 99"/>
          <p:cNvSpPr txBox="1"/>
          <p:nvPr/>
        </p:nvSpPr>
        <p:spPr>
          <a:xfrm>
            <a:off x="6553693" y="581883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3,0</a:t>
            </a:r>
          </a:p>
        </p:txBody>
      </p:sp>
      <p:sp>
        <p:nvSpPr>
          <p:cNvPr id="101" name="TextBox 100"/>
          <p:cNvSpPr txBox="1"/>
          <p:nvPr/>
        </p:nvSpPr>
        <p:spPr>
          <a:xfrm>
            <a:off x="604800" y="610670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Metalurgia e siderurgia</a:t>
            </a:r>
          </a:p>
        </p:txBody>
      </p:sp>
      <p:sp>
        <p:nvSpPr>
          <p:cNvPr id="102" name="TextBox 101"/>
          <p:cNvSpPr txBox="1"/>
          <p:nvPr/>
        </p:nvSpPr>
        <p:spPr>
          <a:xfrm>
            <a:off x="2580322" y="611367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9.897</a:t>
            </a:r>
          </a:p>
        </p:txBody>
      </p:sp>
      <p:sp>
        <p:nvSpPr>
          <p:cNvPr id="103" name="TextBox 102"/>
          <p:cNvSpPr txBox="1"/>
          <p:nvPr/>
        </p:nvSpPr>
        <p:spPr>
          <a:xfrm>
            <a:off x="3715621" y="611367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2,2%</a:t>
            </a:r>
          </a:p>
        </p:txBody>
      </p:sp>
      <p:sp>
        <p:nvSpPr>
          <p:cNvPr id="104" name="TextBox 103"/>
          <p:cNvSpPr txBox="1"/>
          <p:nvPr/>
        </p:nvSpPr>
        <p:spPr>
          <a:xfrm>
            <a:off x="4169694" y="611367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1,22%</a:t>
            </a:r>
          </a:p>
        </p:txBody>
      </p:sp>
      <p:sp>
        <p:nvSpPr>
          <p:cNvPr id="105" name="TextBox 104"/>
          <p:cNvSpPr txBox="1"/>
          <p:nvPr/>
        </p:nvSpPr>
        <p:spPr>
          <a:xfrm>
            <a:off x="4865923" y="611367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1,26%</a:t>
            </a:r>
          </a:p>
        </p:txBody>
      </p:sp>
      <p:sp>
        <p:nvSpPr>
          <p:cNvPr id="106" name="TextBox 105"/>
          <p:cNvSpPr txBox="1"/>
          <p:nvPr/>
        </p:nvSpPr>
        <p:spPr>
          <a:xfrm>
            <a:off x="6039022" y="611367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-0,04%</a:t>
            </a:r>
          </a:p>
        </p:txBody>
      </p:sp>
      <p:sp>
        <p:nvSpPr>
          <p:cNvPr id="107" name="TextBox 106"/>
          <p:cNvSpPr txBox="1"/>
          <p:nvPr/>
        </p:nvSpPr>
        <p:spPr>
          <a:xfrm>
            <a:off x="6553693" y="611367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2,7</a:t>
            </a:r>
          </a:p>
        </p:txBody>
      </p:sp>
      <p:sp>
        <p:nvSpPr>
          <p:cNvPr id="108" name="TextBox 107"/>
          <p:cNvSpPr txBox="1"/>
          <p:nvPr/>
        </p:nvSpPr>
        <p:spPr>
          <a:xfrm>
            <a:off x="604800" y="640154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Educação</a:t>
            </a:r>
          </a:p>
        </p:txBody>
      </p:sp>
      <p:sp>
        <p:nvSpPr>
          <p:cNvPr id="109" name="TextBox 108"/>
          <p:cNvSpPr txBox="1"/>
          <p:nvPr/>
        </p:nvSpPr>
        <p:spPr>
          <a:xfrm>
            <a:off x="2580322" y="640851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7.210</a:t>
            </a:r>
          </a:p>
        </p:txBody>
      </p:sp>
      <p:sp>
        <p:nvSpPr>
          <p:cNvPr id="110" name="TextBox 109"/>
          <p:cNvSpPr txBox="1"/>
          <p:nvPr/>
        </p:nvSpPr>
        <p:spPr>
          <a:xfrm>
            <a:off x="3715621" y="640851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1,6%</a:t>
            </a:r>
          </a:p>
        </p:txBody>
      </p:sp>
      <p:sp>
        <p:nvSpPr>
          <p:cNvPr id="111" name="TextBox 110"/>
          <p:cNvSpPr txBox="1"/>
          <p:nvPr/>
        </p:nvSpPr>
        <p:spPr>
          <a:xfrm>
            <a:off x="4169694" y="640851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1,13%</a:t>
            </a:r>
          </a:p>
        </p:txBody>
      </p:sp>
      <p:sp>
        <p:nvSpPr>
          <p:cNvPr id="112" name="TextBox 111"/>
          <p:cNvSpPr txBox="1"/>
          <p:nvPr/>
        </p:nvSpPr>
        <p:spPr>
          <a:xfrm>
            <a:off x="4865923" y="640851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1,17%</a:t>
            </a:r>
          </a:p>
        </p:txBody>
      </p:sp>
      <p:sp>
        <p:nvSpPr>
          <p:cNvPr id="113" name="TextBox 112"/>
          <p:cNvSpPr txBox="1"/>
          <p:nvPr/>
        </p:nvSpPr>
        <p:spPr>
          <a:xfrm>
            <a:off x="6039022" y="640851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-0,04%</a:t>
            </a:r>
          </a:p>
        </p:txBody>
      </p:sp>
      <p:sp>
        <p:nvSpPr>
          <p:cNvPr id="114" name="TextBox 113"/>
          <p:cNvSpPr txBox="1"/>
          <p:nvPr/>
        </p:nvSpPr>
        <p:spPr>
          <a:xfrm>
            <a:off x="6553693" y="640851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2,0</a:t>
            </a:r>
          </a:p>
        </p:txBody>
      </p:sp>
      <p:sp>
        <p:nvSpPr>
          <p:cNvPr id="115" name="TextBox 114"/>
          <p:cNvSpPr txBox="1"/>
          <p:nvPr/>
        </p:nvSpPr>
        <p:spPr>
          <a:xfrm>
            <a:off x="604800" y="669638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Serviços imobiliários</a:t>
            </a:r>
          </a:p>
        </p:txBody>
      </p:sp>
      <p:sp>
        <p:nvSpPr>
          <p:cNvPr id="116" name="TextBox 115"/>
          <p:cNvSpPr txBox="1"/>
          <p:nvPr/>
        </p:nvSpPr>
        <p:spPr>
          <a:xfrm>
            <a:off x="2580322" y="670335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5.994</a:t>
            </a:r>
          </a:p>
        </p:txBody>
      </p:sp>
      <p:sp>
        <p:nvSpPr>
          <p:cNvPr id="117" name="TextBox 116"/>
          <p:cNvSpPr txBox="1"/>
          <p:nvPr/>
        </p:nvSpPr>
        <p:spPr>
          <a:xfrm>
            <a:off x="3715621" y="670335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1,4%</a:t>
            </a:r>
          </a:p>
        </p:txBody>
      </p:sp>
      <p:sp>
        <p:nvSpPr>
          <p:cNvPr id="118" name="TextBox 117"/>
          <p:cNvSpPr txBox="1"/>
          <p:nvPr/>
        </p:nvSpPr>
        <p:spPr>
          <a:xfrm>
            <a:off x="4169694" y="670335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0,53%</a:t>
            </a:r>
          </a:p>
        </p:txBody>
      </p:sp>
      <p:sp>
        <p:nvSpPr>
          <p:cNvPr id="119" name="TextBox 118"/>
          <p:cNvSpPr txBox="1"/>
          <p:nvPr/>
        </p:nvSpPr>
        <p:spPr>
          <a:xfrm>
            <a:off x="4865923" y="670335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0,54%</a:t>
            </a:r>
          </a:p>
        </p:txBody>
      </p:sp>
      <p:sp>
        <p:nvSpPr>
          <p:cNvPr id="120" name="TextBox 119"/>
          <p:cNvSpPr txBox="1"/>
          <p:nvPr/>
        </p:nvSpPr>
        <p:spPr>
          <a:xfrm>
            <a:off x="6039022" y="670335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-0,01%</a:t>
            </a:r>
          </a:p>
        </p:txBody>
      </p:sp>
      <p:sp>
        <p:nvSpPr>
          <p:cNvPr id="121" name="TextBox 120"/>
          <p:cNvSpPr txBox="1"/>
          <p:nvPr/>
        </p:nvSpPr>
        <p:spPr>
          <a:xfrm>
            <a:off x="6553693" y="670335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3,3</a:t>
            </a:r>
          </a:p>
        </p:txBody>
      </p:sp>
      <p:sp>
        <p:nvSpPr>
          <p:cNvPr id="122" name="TextBox 121"/>
          <p:cNvSpPr txBox="1"/>
          <p:nvPr/>
        </p:nvSpPr>
        <p:spPr>
          <a:xfrm>
            <a:off x="604800" y="6991228"/>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Outros serviços</a:t>
            </a:r>
          </a:p>
        </p:txBody>
      </p:sp>
      <p:sp>
        <p:nvSpPr>
          <p:cNvPr id="123" name="TextBox 122"/>
          <p:cNvSpPr txBox="1"/>
          <p:nvPr/>
        </p:nvSpPr>
        <p:spPr>
          <a:xfrm>
            <a:off x="2580322" y="6998197"/>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6.611</a:t>
            </a:r>
          </a:p>
        </p:txBody>
      </p:sp>
      <p:sp>
        <p:nvSpPr>
          <p:cNvPr id="124" name="TextBox 123"/>
          <p:cNvSpPr txBox="1"/>
          <p:nvPr/>
        </p:nvSpPr>
        <p:spPr>
          <a:xfrm>
            <a:off x="3715621" y="6998197"/>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1,5%</a:t>
            </a:r>
          </a:p>
        </p:txBody>
      </p:sp>
      <p:sp>
        <p:nvSpPr>
          <p:cNvPr id="125" name="TextBox 124"/>
          <p:cNvSpPr txBox="1"/>
          <p:nvPr/>
        </p:nvSpPr>
        <p:spPr>
          <a:xfrm>
            <a:off x="4169694" y="6998197"/>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1,25%</a:t>
            </a:r>
          </a:p>
        </p:txBody>
      </p:sp>
      <p:sp>
        <p:nvSpPr>
          <p:cNvPr id="126" name="TextBox 125"/>
          <p:cNvSpPr txBox="1"/>
          <p:nvPr/>
        </p:nvSpPr>
        <p:spPr>
          <a:xfrm>
            <a:off x="4865923" y="6998197"/>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1,09%</a:t>
            </a:r>
          </a:p>
        </p:txBody>
      </p:sp>
      <p:sp>
        <p:nvSpPr>
          <p:cNvPr id="127" name="TextBox 126"/>
          <p:cNvSpPr txBox="1"/>
          <p:nvPr/>
        </p:nvSpPr>
        <p:spPr>
          <a:xfrm>
            <a:off x="6039022" y="6998197"/>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0,16%</a:t>
            </a:r>
          </a:p>
        </p:txBody>
      </p:sp>
      <p:sp>
        <p:nvSpPr>
          <p:cNvPr id="128" name="TextBox 127"/>
          <p:cNvSpPr txBox="1"/>
          <p:nvPr/>
        </p:nvSpPr>
        <p:spPr>
          <a:xfrm>
            <a:off x="6553693" y="6998197"/>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2,7</a:t>
            </a:r>
          </a:p>
        </p:txBody>
      </p:sp>
      <p:sp>
        <p:nvSpPr>
          <p:cNvPr id="129" name="TextBox 128"/>
          <p:cNvSpPr txBox="1"/>
          <p:nvPr/>
        </p:nvSpPr>
        <p:spPr>
          <a:xfrm>
            <a:off x="604800" y="7221217"/>
            <a:ext cx="1930162" cy="286098"/>
          </a:xfrm>
          <a:prstGeom prst="rect">
            <a:avLst/>
          </a:prstGeom>
          <a:noFill/>
        </p:spPr>
        <p:txBody>
          <a:bodyPr wrap="square" lIns="0" rIns="0" tIns="0" bIns="0" anchor="t"/>
          <a:lstStyle/>
          <a:p>
            <a:pPr algn="l">
              <a:lnSpc>
                <a:spcPts val="1062"/>
              </a:lnSpc>
            </a:pPr>
            <a:r>
              <a:rPr sz="1012" b="0" i="0">
                <a:solidFill>
                  <a:srgbClr val="FFFFFF"/>
                </a:solidFill>
                <a:latin typeface="Versos"/>
              </a:rPr>
              <a:t>Empreendimentos e participações</a:t>
            </a:r>
          </a:p>
        </p:txBody>
      </p:sp>
      <p:sp>
        <p:nvSpPr>
          <p:cNvPr id="130" name="TextBox 129"/>
          <p:cNvSpPr txBox="1"/>
          <p:nvPr/>
        </p:nvSpPr>
        <p:spPr>
          <a:xfrm>
            <a:off x="2580322" y="7295636"/>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9.181</a:t>
            </a:r>
          </a:p>
        </p:txBody>
      </p:sp>
      <p:sp>
        <p:nvSpPr>
          <p:cNvPr id="131" name="TextBox 130"/>
          <p:cNvSpPr txBox="1"/>
          <p:nvPr/>
        </p:nvSpPr>
        <p:spPr>
          <a:xfrm>
            <a:off x="3715621" y="7295636"/>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2,1%</a:t>
            </a:r>
          </a:p>
        </p:txBody>
      </p:sp>
      <p:sp>
        <p:nvSpPr>
          <p:cNvPr id="132" name="TextBox 131"/>
          <p:cNvSpPr txBox="1"/>
          <p:nvPr/>
        </p:nvSpPr>
        <p:spPr>
          <a:xfrm>
            <a:off x="4169694" y="7295636"/>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1,43%</a:t>
            </a:r>
          </a:p>
        </p:txBody>
      </p:sp>
      <p:sp>
        <p:nvSpPr>
          <p:cNvPr id="133" name="TextBox 132"/>
          <p:cNvSpPr txBox="1"/>
          <p:nvPr/>
        </p:nvSpPr>
        <p:spPr>
          <a:xfrm>
            <a:off x="4865923" y="7295636"/>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1,43%</a:t>
            </a:r>
          </a:p>
        </p:txBody>
      </p:sp>
      <p:sp>
        <p:nvSpPr>
          <p:cNvPr id="134" name="TextBox 133"/>
          <p:cNvSpPr txBox="1"/>
          <p:nvPr/>
        </p:nvSpPr>
        <p:spPr>
          <a:xfrm>
            <a:off x="6039022" y="7295636"/>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-0,01%</a:t>
            </a:r>
          </a:p>
        </p:txBody>
      </p:sp>
      <p:sp>
        <p:nvSpPr>
          <p:cNvPr id="135" name="TextBox 134"/>
          <p:cNvSpPr txBox="1"/>
          <p:nvPr/>
        </p:nvSpPr>
        <p:spPr>
          <a:xfrm>
            <a:off x="6553693" y="7295636"/>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3,2</a:t>
            </a:r>
          </a:p>
        </p:txBody>
      </p:sp>
      <p:sp>
        <p:nvSpPr>
          <p:cNvPr id="136" name="TextBox 135"/>
          <p:cNvSpPr txBox="1"/>
          <p:nvPr/>
        </p:nvSpPr>
        <p:spPr>
          <a:xfrm>
            <a:off x="604800" y="7586105"/>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Papel e Celulose</a:t>
            </a:r>
          </a:p>
        </p:txBody>
      </p:sp>
      <p:sp>
        <p:nvSpPr>
          <p:cNvPr id="137" name="TextBox 136"/>
          <p:cNvSpPr txBox="1"/>
          <p:nvPr/>
        </p:nvSpPr>
        <p:spPr>
          <a:xfrm>
            <a:off x="2580322" y="7593075"/>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5.316</a:t>
            </a:r>
          </a:p>
        </p:txBody>
      </p:sp>
      <p:sp>
        <p:nvSpPr>
          <p:cNvPr id="138" name="TextBox 137"/>
          <p:cNvSpPr txBox="1"/>
          <p:nvPr/>
        </p:nvSpPr>
        <p:spPr>
          <a:xfrm>
            <a:off x="3715621" y="7593075"/>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1,2%</a:t>
            </a:r>
          </a:p>
        </p:txBody>
      </p:sp>
      <p:sp>
        <p:nvSpPr>
          <p:cNvPr id="139" name="TextBox 138"/>
          <p:cNvSpPr txBox="1"/>
          <p:nvPr/>
        </p:nvSpPr>
        <p:spPr>
          <a:xfrm>
            <a:off x="4169694" y="7593075"/>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0,52%</a:t>
            </a:r>
          </a:p>
        </p:txBody>
      </p:sp>
      <p:sp>
        <p:nvSpPr>
          <p:cNvPr id="140" name="TextBox 139"/>
          <p:cNvSpPr txBox="1"/>
          <p:nvPr/>
        </p:nvSpPr>
        <p:spPr>
          <a:xfrm>
            <a:off x="4865923" y="7593075"/>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0,49%</a:t>
            </a:r>
          </a:p>
        </p:txBody>
      </p:sp>
      <p:sp>
        <p:nvSpPr>
          <p:cNvPr id="141" name="TextBox 140"/>
          <p:cNvSpPr txBox="1"/>
          <p:nvPr/>
        </p:nvSpPr>
        <p:spPr>
          <a:xfrm>
            <a:off x="6039022" y="7593075"/>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0,02%</a:t>
            </a:r>
          </a:p>
        </p:txBody>
      </p:sp>
      <p:sp>
        <p:nvSpPr>
          <p:cNvPr id="142" name="TextBox 141"/>
          <p:cNvSpPr txBox="1"/>
          <p:nvPr/>
        </p:nvSpPr>
        <p:spPr>
          <a:xfrm>
            <a:off x="6553693" y="7593075"/>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4,4</a:t>
            </a:r>
          </a:p>
        </p:txBody>
      </p:sp>
      <p:sp>
        <p:nvSpPr>
          <p:cNvPr id="143" name="TextBox 142"/>
          <p:cNvSpPr txBox="1"/>
          <p:nvPr/>
        </p:nvSpPr>
        <p:spPr>
          <a:xfrm>
            <a:off x="604800" y="7816095"/>
            <a:ext cx="1930162" cy="286098"/>
          </a:xfrm>
          <a:prstGeom prst="rect">
            <a:avLst/>
          </a:prstGeom>
          <a:noFill/>
        </p:spPr>
        <p:txBody>
          <a:bodyPr wrap="square" lIns="0" rIns="0" tIns="0" bIns="0" anchor="t"/>
          <a:lstStyle/>
          <a:p>
            <a:pPr algn="l">
              <a:lnSpc>
                <a:spcPts val="1062"/>
              </a:lnSpc>
            </a:pPr>
            <a:r>
              <a:rPr sz="1012" b="0" i="0">
                <a:solidFill>
                  <a:srgbClr val="FFFFFF"/>
                </a:solidFill>
                <a:latin typeface="Versos"/>
              </a:rPr>
              <a:t>Materiais de construção e agregados</a:t>
            </a:r>
          </a:p>
        </p:txBody>
      </p:sp>
      <p:sp>
        <p:nvSpPr>
          <p:cNvPr id="144" name="TextBox 143"/>
          <p:cNvSpPr txBox="1"/>
          <p:nvPr/>
        </p:nvSpPr>
        <p:spPr>
          <a:xfrm>
            <a:off x="2580322" y="7890513"/>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3.551</a:t>
            </a:r>
          </a:p>
        </p:txBody>
      </p:sp>
      <p:sp>
        <p:nvSpPr>
          <p:cNvPr id="145" name="TextBox 144"/>
          <p:cNvSpPr txBox="1"/>
          <p:nvPr/>
        </p:nvSpPr>
        <p:spPr>
          <a:xfrm>
            <a:off x="3715621" y="7890513"/>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0,8%</a:t>
            </a:r>
          </a:p>
        </p:txBody>
      </p:sp>
      <p:sp>
        <p:nvSpPr>
          <p:cNvPr id="146" name="TextBox 145"/>
          <p:cNvSpPr txBox="1"/>
          <p:nvPr/>
        </p:nvSpPr>
        <p:spPr>
          <a:xfrm>
            <a:off x="4169694" y="7890513"/>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0,88%</a:t>
            </a:r>
          </a:p>
        </p:txBody>
      </p:sp>
      <p:sp>
        <p:nvSpPr>
          <p:cNvPr id="147" name="TextBox 146"/>
          <p:cNvSpPr txBox="1"/>
          <p:nvPr/>
        </p:nvSpPr>
        <p:spPr>
          <a:xfrm>
            <a:off x="4865923" y="7890513"/>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0,93%</a:t>
            </a:r>
          </a:p>
        </p:txBody>
      </p:sp>
      <p:sp>
        <p:nvSpPr>
          <p:cNvPr id="148" name="TextBox 147"/>
          <p:cNvSpPr txBox="1"/>
          <p:nvPr/>
        </p:nvSpPr>
        <p:spPr>
          <a:xfrm>
            <a:off x="6039022" y="7890513"/>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-0,06%</a:t>
            </a:r>
          </a:p>
        </p:txBody>
      </p:sp>
      <p:sp>
        <p:nvSpPr>
          <p:cNvPr id="149" name="TextBox 148"/>
          <p:cNvSpPr txBox="1"/>
          <p:nvPr/>
        </p:nvSpPr>
        <p:spPr>
          <a:xfrm>
            <a:off x="6553693" y="7890513"/>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3,5</a:t>
            </a:r>
          </a:p>
        </p:txBody>
      </p:sp>
      <p:sp>
        <p:nvSpPr>
          <p:cNvPr id="150" name="TextBox 149"/>
          <p:cNvSpPr txBox="1"/>
          <p:nvPr/>
        </p:nvSpPr>
        <p:spPr>
          <a:xfrm>
            <a:off x="604800" y="8180983"/>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Química e petroquímica</a:t>
            </a:r>
          </a:p>
        </p:txBody>
      </p:sp>
      <p:sp>
        <p:nvSpPr>
          <p:cNvPr id="151" name="TextBox 150"/>
          <p:cNvSpPr txBox="1"/>
          <p:nvPr/>
        </p:nvSpPr>
        <p:spPr>
          <a:xfrm>
            <a:off x="2580322" y="8187952"/>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2.512</a:t>
            </a:r>
          </a:p>
        </p:txBody>
      </p:sp>
      <p:sp>
        <p:nvSpPr>
          <p:cNvPr id="152" name="TextBox 151"/>
          <p:cNvSpPr txBox="1"/>
          <p:nvPr/>
        </p:nvSpPr>
        <p:spPr>
          <a:xfrm>
            <a:off x="3715621" y="8187952"/>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0,6%</a:t>
            </a:r>
          </a:p>
        </p:txBody>
      </p:sp>
      <p:sp>
        <p:nvSpPr>
          <p:cNvPr id="153" name="TextBox 152"/>
          <p:cNvSpPr txBox="1"/>
          <p:nvPr/>
        </p:nvSpPr>
        <p:spPr>
          <a:xfrm>
            <a:off x="4169694" y="8187952"/>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1,47%</a:t>
            </a:r>
          </a:p>
        </p:txBody>
      </p:sp>
      <p:sp>
        <p:nvSpPr>
          <p:cNvPr id="154" name="TextBox 153"/>
          <p:cNvSpPr txBox="1"/>
          <p:nvPr/>
        </p:nvSpPr>
        <p:spPr>
          <a:xfrm>
            <a:off x="4865923" y="8187952"/>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1,47%</a:t>
            </a:r>
          </a:p>
        </p:txBody>
      </p:sp>
      <p:sp>
        <p:nvSpPr>
          <p:cNvPr id="155" name="TextBox 154"/>
          <p:cNvSpPr txBox="1"/>
          <p:nvPr/>
        </p:nvSpPr>
        <p:spPr>
          <a:xfrm>
            <a:off x="6039022" y="8187952"/>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0,00%</a:t>
            </a:r>
          </a:p>
        </p:txBody>
      </p:sp>
      <p:sp>
        <p:nvSpPr>
          <p:cNvPr id="156" name="TextBox 155"/>
          <p:cNvSpPr txBox="1"/>
          <p:nvPr/>
        </p:nvSpPr>
        <p:spPr>
          <a:xfrm>
            <a:off x="6553693" y="8187952"/>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3,5</a:t>
            </a:r>
          </a:p>
        </p:txBody>
      </p:sp>
      <p:sp>
        <p:nvSpPr>
          <p:cNvPr id="157" name="TextBox 156"/>
          <p:cNvSpPr txBox="1"/>
          <p:nvPr/>
        </p:nvSpPr>
        <p:spPr>
          <a:xfrm>
            <a:off x="604800" y="8475823"/>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Alimentos e bebidas</a:t>
            </a:r>
          </a:p>
        </p:txBody>
      </p:sp>
      <p:sp>
        <p:nvSpPr>
          <p:cNvPr id="158" name="TextBox 157"/>
          <p:cNvSpPr txBox="1"/>
          <p:nvPr/>
        </p:nvSpPr>
        <p:spPr>
          <a:xfrm>
            <a:off x="2580322" y="8482792"/>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1.739</a:t>
            </a:r>
          </a:p>
        </p:txBody>
      </p:sp>
      <p:sp>
        <p:nvSpPr>
          <p:cNvPr id="159" name="TextBox 158"/>
          <p:cNvSpPr txBox="1"/>
          <p:nvPr/>
        </p:nvSpPr>
        <p:spPr>
          <a:xfrm>
            <a:off x="3715621" y="8482792"/>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0,4%</a:t>
            </a:r>
          </a:p>
        </p:txBody>
      </p:sp>
      <p:sp>
        <p:nvSpPr>
          <p:cNvPr id="160" name="TextBox 159"/>
          <p:cNvSpPr txBox="1"/>
          <p:nvPr/>
        </p:nvSpPr>
        <p:spPr>
          <a:xfrm>
            <a:off x="4169694" y="8482792"/>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1,51%</a:t>
            </a:r>
          </a:p>
        </p:txBody>
      </p:sp>
      <p:sp>
        <p:nvSpPr>
          <p:cNvPr id="161" name="TextBox 160"/>
          <p:cNvSpPr txBox="1"/>
          <p:nvPr/>
        </p:nvSpPr>
        <p:spPr>
          <a:xfrm>
            <a:off x="4865923" y="8482792"/>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1,46%</a:t>
            </a:r>
          </a:p>
        </p:txBody>
      </p:sp>
      <p:sp>
        <p:nvSpPr>
          <p:cNvPr id="162" name="TextBox 161"/>
          <p:cNvSpPr txBox="1"/>
          <p:nvPr/>
        </p:nvSpPr>
        <p:spPr>
          <a:xfrm>
            <a:off x="6039022" y="8482792"/>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0,05%</a:t>
            </a:r>
          </a:p>
        </p:txBody>
      </p:sp>
      <p:sp>
        <p:nvSpPr>
          <p:cNvPr id="163" name="TextBox 162"/>
          <p:cNvSpPr txBox="1"/>
          <p:nvPr/>
        </p:nvSpPr>
        <p:spPr>
          <a:xfrm>
            <a:off x="6553693" y="8482792"/>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0,9</a:t>
            </a:r>
          </a:p>
        </p:txBody>
      </p:sp>
      <p:sp>
        <p:nvSpPr>
          <p:cNvPr id="164" name="TextBox 163"/>
          <p:cNvSpPr txBox="1"/>
          <p:nvPr/>
        </p:nvSpPr>
        <p:spPr>
          <a:xfrm>
            <a:off x="604800" y="8770663"/>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Têxtil e calçados</a:t>
            </a:r>
          </a:p>
        </p:txBody>
      </p:sp>
      <p:sp>
        <p:nvSpPr>
          <p:cNvPr id="165" name="TextBox 164"/>
          <p:cNvSpPr txBox="1"/>
          <p:nvPr/>
        </p:nvSpPr>
        <p:spPr>
          <a:xfrm>
            <a:off x="2580322" y="8777632"/>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261</a:t>
            </a:r>
          </a:p>
        </p:txBody>
      </p:sp>
      <p:sp>
        <p:nvSpPr>
          <p:cNvPr id="166" name="TextBox 165"/>
          <p:cNvSpPr txBox="1"/>
          <p:nvPr/>
        </p:nvSpPr>
        <p:spPr>
          <a:xfrm>
            <a:off x="3715621" y="8777632"/>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0,1%</a:t>
            </a:r>
          </a:p>
        </p:txBody>
      </p:sp>
      <p:sp>
        <p:nvSpPr>
          <p:cNvPr id="167" name="TextBox 166"/>
          <p:cNvSpPr txBox="1"/>
          <p:nvPr/>
        </p:nvSpPr>
        <p:spPr>
          <a:xfrm>
            <a:off x="4169694" y="8777632"/>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0,98%</a:t>
            </a:r>
          </a:p>
        </p:txBody>
      </p:sp>
      <p:sp>
        <p:nvSpPr>
          <p:cNvPr id="168" name="TextBox 167"/>
          <p:cNvSpPr txBox="1"/>
          <p:nvPr/>
        </p:nvSpPr>
        <p:spPr>
          <a:xfrm>
            <a:off x="4865923" y="8777632"/>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0,92%</a:t>
            </a:r>
          </a:p>
        </p:txBody>
      </p:sp>
      <p:sp>
        <p:nvSpPr>
          <p:cNvPr id="169" name="TextBox 168"/>
          <p:cNvSpPr txBox="1"/>
          <p:nvPr/>
        </p:nvSpPr>
        <p:spPr>
          <a:xfrm>
            <a:off x="6039022" y="8777632"/>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0,06%</a:t>
            </a:r>
          </a:p>
        </p:txBody>
      </p:sp>
      <p:sp>
        <p:nvSpPr>
          <p:cNvPr id="170" name="TextBox 169"/>
          <p:cNvSpPr txBox="1"/>
          <p:nvPr/>
        </p:nvSpPr>
        <p:spPr>
          <a:xfrm>
            <a:off x="6553693" y="8777632"/>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2,4</a:t>
            </a:r>
          </a:p>
        </p:txBody>
      </p:sp>
      <p:sp>
        <p:nvSpPr>
          <p:cNvPr id="171" name="TextBox 170"/>
          <p:cNvSpPr txBox="1"/>
          <p:nvPr/>
        </p:nvSpPr>
        <p:spPr>
          <a:xfrm>
            <a:off x="604800" y="9065503"/>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Mineração</a:t>
            </a:r>
          </a:p>
        </p:txBody>
      </p:sp>
      <p:sp>
        <p:nvSpPr>
          <p:cNvPr id="172" name="TextBox 171"/>
          <p:cNvSpPr txBox="1"/>
          <p:nvPr/>
        </p:nvSpPr>
        <p:spPr>
          <a:xfrm>
            <a:off x="2580322" y="9072472"/>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1.082</a:t>
            </a:r>
          </a:p>
        </p:txBody>
      </p:sp>
      <p:sp>
        <p:nvSpPr>
          <p:cNvPr id="173" name="TextBox 172"/>
          <p:cNvSpPr txBox="1"/>
          <p:nvPr/>
        </p:nvSpPr>
        <p:spPr>
          <a:xfrm>
            <a:off x="3715621" y="9072472"/>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0,2%</a:t>
            </a:r>
          </a:p>
        </p:txBody>
      </p:sp>
      <p:sp>
        <p:nvSpPr>
          <p:cNvPr id="174" name="TextBox 173"/>
          <p:cNvSpPr txBox="1"/>
          <p:nvPr/>
        </p:nvSpPr>
        <p:spPr>
          <a:xfrm>
            <a:off x="4169694" y="9072472"/>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0,71%</a:t>
            </a:r>
          </a:p>
        </p:txBody>
      </p:sp>
      <p:sp>
        <p:nvSpPr>
          <p:cNvPr id="175" name="TextBox 174"/>
          <p:cNvSpPr txBox="1"/>
          <p:nvPr/>
        </p:nvSpPr>
        <p:spPr>
          <a:xfrm>
            <a:off x="4865923" y="9072472"/>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0,72%</a:t>
            </a:r>
          </a:p>
        </p:txBody>
      </p:sp>
      <p:sp>
        <p:nvSpPr>
          <p:cNvPr id="176" name="TextBox 175"/>
          <p:cNvSpPr txBox="1"/>
          <p:nvPr/>
        </p:nvSpPr>
        <p:spPr>
          <a:xfrm>
            <a:off x="6039022" y="9072472"/>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-0,01%</a:t>
            </a:r>
          </a:p>
        </p:txBody>
      </p:sp>
      <p:sp>
        <p:nvSpPr>
          <p:cNvPr id="177" name="TextBox 176"/>
          <p:cNvSpPr txBox="1"/>
          <p:nvPr/>
        </p:nvSpPr>
        <p:spPr>
          <a:xfrm>
            <a:off x="6553693" y="9072472"/>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2,1</a:t>
            </a:r>
          </a:p>
        </p:txBody>
      </p:sp>
      <p:sp>
        <p:nvSpPr>
          <p:cNvPr id="178" name="TextBox 177"/>
          <p:cNvSpPr txBox="1"/>
          <p:nvPr/>
        </p:nvSpPr>
        <p:spPr>
          <a:xfrm>
            <a:off x="604800" y="9360343"/>
            <a:ext cx="2007369" cy="151200"/>
          </a:xfrm>
          <a:prstGeom prst="rect">
            <a:avLst/>
          </a:prstGeom>
          <a:noFill/>
        </p:spPr>
        <p:txBody>
          <a:bodyPr wrap="none" lIns="0" rIns="0" tIns="0" bIns="0" anchor="t"/>
          <a:lstStyle/>
          <a:p>
            <a:pPr algn="l">
              <a:lnSpc>
                <a:spcPts val="1062"/>
              </a:lnSpc>
            </a:pPr>
            <a:r>
              <a:rPr sz="1012" b="0" i="0">
                <a:solidFill>
                  <a:srgbClr val="FFFFFF"/>
                </a:solidFill>
                <a:latin typeface="Versos"/>
              </a:rPr>
              <a:t>Construção civil</a:t>
            </a:r>
          </a:p>
        </p:txBody>
      </p:sp>
      <p:sp>
        <p:nvSpPr>
          <p:cNvPr id="179" name="TextBox 178"/>
          <p:cNvSpPr txBox="1"/>
          <p:nvPr/>
        </p:nvSpPr>
        <p:spPr>
          <a:xfrm>
            <a:off x="2580322" y="9367312"/>
            <a:ext cx="1133536" cy="151200"/>
          </a:xfrm>
          <a:prstGeom prst="rect">
            <a:avLst/>
          </a:prstGeom>
          <a:noFill/>
        </p:spPr>
        <p:txBody>
          <a:bodyPr wrap="none" lIns="0" rIns="0" tIns="0" bIns="0" anchor="t"/>
          <a:lstStyle/>
          <a:p>
            <a:pPr algn="ctr">
              <a:lnSpc>
                <a:spcPts val="1214"/>
              </a:lnSpc>
            </a:pPr>
            <a:r>
              <a:rPr sz="1012" b="0" i="0">
                <a:solidFill>
                  <a:srgbClr val="BFDAEA"/>
                </a:solidFill>
                <a:latin typeface="Versos"/>
              </a:rPr>
              <a:t>51</a:t>
            </a:r>
          </a:p>
        </p:txBody>
      </p:sp>
      <p:sp>
        <p:nvSpPr>
          <p:cNvPr id="180" name="TextBox 179"/>
          <p:cNvSpPr txBox="1"/>
          <p:nvPr/>
        </p:nvSpPr>
        <p:spPr>
          <a:xfrm>
            <a:off x="3715621" y="9367312"/>
            <a:ext cx="425061" cy="151200"/>
          </a:xfrm>
          <a:prstGeom prst="rect">
            <a:avLst/>
          </a:prstGeom>
          <a:noFill/>
        </p:spPr>
        <p:txBody>
          <a:bodyPr wrap="none" lIns="0" rIns="0" tIns="0" bIns="0" anchor="t"/>
          <a:lstStyle/>
          <a:p>
            <a:pPr algn="ctr">
              <a:lnSpc>
                <a:spcPts val="1214"/>
              </a:lnSpc>
            </a:pPr>
            <a:r>
              <a:rPr sz="1012" b="0" i="0">
                <a:solidFill>
                  <a:srgbClr val="FFFFFF"/>
                </a:solidFill>
                <a:latin typeface="Versos"/>
              </a:rPr>
              <a:t>0,0%</a:t>
            </a:r>
          </a:p>
        </p:txBody>
      </p:sp>
      <p:sp>
        <p:nvSpPr>
          <p:cNvPr id="181" name="TextBox 180"/>
          <p:cNvSpPr txBox="1"/>
          <p:nvPr/>
        </p:nvSpPr>
        <p:spPr>
          <a:xfrm>
            <a:off x="4169694" y="9367312"/>
            <a:ext cx="676903" cy="151200"/>
          </a:xfrm>
          <a:prstGeom prst="rect">
            <a:avLst/>
          </a:prstGeom>
          <a:noFill/>
        </p:spPr>
        <p:txBody>
          <a:bodyPr wrap="none" lIns="0" rIns="0" tIns="0" bIns="0" anchor="t"/>
          <a:lstStyle/>
          <a:p>
            <a:pPr algn="ctr">
              <a:lnSpc>
                <a:spcPts val="1214"/>
              </a:lnSpc>
            </a:pPr>
            <a:r>
              <a:rPr sz="1012" b="0" i="0">
                <a:solidFill>
                  <a:srgbClr val="FFFFFF"/>
                </a:solidFill>
                <a:latin typeface="Versos"/>
              </a:rPr>
              <a:t>0,93%</a:t>
            </a:r>
          </a:p>
        </p:txBody>
      </p:sp>
      <p:sp>
        <p:nvSpPr>
          <p:cNvPr id="182" name="TextBox 181"/>
          <p:cNvSpPr txBox="1"/>
          <p:nvPr/>
        </p:nvSpPr>
        <p:spPr>
          <a:xfrm>
            <a:off x="4865923" y="9367312"/>
            <a:ext cx="1172848" cy="151200"/>
          </a:xfrm>
          <a:prstGeom prst="rect">
            <a:avLst/>
          </a:prstGeom>
          <a:noFill/>
        </p:spPr>
        <p:txBody>
          <a:bodyPr wrap="none" lIns="0" rIns="0" tIns="0" bIns="0" anchor="t"/>
          <a:lstStyle/>
          <a:p>
            <a:pPr algn="ctr">
              <a:lnSpc>
                <a:spcPts val="1214"/>
              </a:lnSpc>
            </a:pPr>
            <a:r>
              <a:rPr sz="1012" b="0" i="0">
                <a:solidFill>
                  <a:srgbClr val="FFFFFF"/>
                </a:solidFill>
                <a:latin typeface="Versos"/>
              </a:rPr>
              <a:t>0,92%</a:t>
            </a:r>
          </a:p>
        </p:txBody>
      </p:sp>
      <p:sp>
        <p:nvSpPr>
          <p:cNvPr id="183" name="TextBox 182"/>
          <p:cNvSpPr txBox="1"/>
          <p:nvPr/>
        </p:nvSpPr>
        <p:spPr>
          <a:xfrm>
            <a:off x="6039022" y="9367312"/>
            <a:ext cx="488083" cy="151200"/>
          </a:xfrm>
          <a:prstGeom prst="rect">
            <a:avLst/>
          </a:prstGeom>
          <a:noFill/>
        </p:spPr>
        <p:txBody>
          <a:bodyPr wrap="none" lIns="0" rIns="0" tIns="0" bIns="0" anchor="t"/>
          <a:lstStyle/>
          <a:p>
            <a:pPr algn="ctr">
              <a:lnSpc>
                <a:spcPts val="1214"/>
              </a:lnSpc>
            </a:pPr>
            <a:r>
              <a:rPr sz="1012" b="0" i="0">
                <a:solidFill>
                  <a:srgbClr val="FFFFFF"/>
                </a:solidFill>
                <a:latin typeface="Versos"/>
              </a:rPr>
              <a:t>0,01%</a:t>
            </a:r>
          </a:p>
        </p:txBody>
      </p:sp>
      <p:sp>
        <p:nvSpPr>
          <p:cNvPr id="184" name="TextBox 183"/>
          <p:cNvSpPr txBox="1"/>
          <p:nvPr/>
        </p:nvSpPr>
        <p:spPr>
          <a:xfrm>
            <a:off x="6553693" y="9367312"/>
            <a:ext cx="488328" cy="151200"/>
          </a:xfrm>
          <a:prstGeom prst="rect">
            <a:avLst/>
          </a:prstGeom>
          <a:noFill/>
        </p:spPr>
        <p:txBody>
          <a:bodyPr wrap="none" lIns="0" rIns="0" tIns="0" bIns="0" anchor="t"/>
          <a:lstStyle/>
          <a:p>
            <a:pPr algn="ctr">
              <a:lnSpc>
                <a:spcPts val="1214"/>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14/08/2008</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0,00%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R$ 15.553.614,72</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6" name="TextBox 15"/>
          <p:cNvSpPr txBox="1"/>
          <p:nvPr/>
        </p:nvSpPr>
        <p:spPr>
          <a:xfrm>
            <a:off x="3878280" y="1883857"/>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7" name="TextBox 16"/>
          <p:cNvSpPr txBox="1"/>
          <p:nvPr/>
        </p:nvSpPr>
        <p:spPr>
          <a:xfrm>
            <a:off x="3878280" y="238577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8" name="TextBox 17"/>
          <p:cNvSpPr txBox="1"/>
          <p:nvPr/>
        </p:nvSpPr>
        <p:spPr>
          <a:xfrm>
            <a:off x="3878280" y="2574770"/>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D+2</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R$ 0,00</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R$ 19.596.377,99</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Disclaimer</a:t>
            </a:r>
          </a:p>
        </p:txBody>
      </p:sp>
      <p:sp>
        <p:nvSpPr>
          <p:cNvPr id="22" name="TextBox 21"/>
          <p:cNvSpPr txBox="1"/>
          <p:nvPr/>
        </p:nvSpPr>
        <p:spPr>
          <a:xfrm>
            <a:off x="400680" y="6471360"/>
            <a:ext cx="6758640" cy="593814"/>
          </a:xfrm>
          <a:prstGeom prst="rect">
            <a:avLst/>
          </a:prstGeom>
          <a:noFill/>
        </p:spPr>
        <p:txBody>
          <a:bodyPr wrap="square" lIns="0" rIns="0" tIns="0" bIns="0" anchor="t"/>
          <a:lstStyle/>
          <a:p>
            <a:pPr algn="just">
              <a:lnSpc>
                <a:spcPts val="780"/>
              </a:lnSpc>
            </a:pPr>
            <a:r>
              <a:rPr sz="639" b="0" i="0">
                <a:solidFill>
                  <a:srgbClr val="E9E9E9"/>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p:txBody>
      </p:sp>
      <p:sp>
        <p:nvSpPr>
          <p:cNvPr id="23" name="TextBox 22"/>
          <p:cNvSpPr txBox="1"/>
          <p:nvPr/>
        </p:nvSpPr>
        <p:spPr>
          <a:xfrm>
            <a:off x="400680" y="7094351"/>
            <a:ext cx="6758640" cy="891135"/>
          </a:xfrm>
          <a:prstGeom prst="rect">
            <a:avLst/>
          </a:prstGeom>
          <a:noFill/>
        </p:spPr>
        <p:txBody>
          <a:bodyPr wrap="square" lIns="0" rIns="0" tIns="0" bIns="0" anchor="t"/>
          <a:lstStyle/>
          <a:p>
            <a:pPr algn="just">
              <a:lnSpc>
                <a:spcPts val="780"/>
              </a:lnSpc>
            </a:pPr>
            <a:r>
              <a:rPr sz="639" b="0" i="0">
                <a:solidFill>
                  <a:srgbClr val="E9E9E9"/>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p:txBody>
      </p:sp>
      <p:sp>
        <p:nvSpPr>
          <p:cNvPr id="24" name="TextBox 23"/>
          <p:cNvSpPr txBox="1"/>
          <p:nvPr/>
        </p:nvSpPr>
        <p:spPr>
          <a:xfrm>
            <a:off x="400680" y="8014663"/>
            <a:ext cx="6758640" cy="494707"/>
          </a:xfrm>
          <a:prstGeom prst="rect">
            <a:avLst/>
          </a:prstGeom>
          <a:noFill/>
        </p:spPr>
        <p:txBody>
          <a:bodyPr wrap="square" lIns="0" rIns="0" tIns="0" bIns="0" anchor="t"/>
          <a:lstStyle/>
          <a:p>
            <a:pPr algn="just">
              <a:lnSpc>
                <a:spcPts val="780"/>
              </a:lnSpc>
            </a:pPr>
            <a:r>
              <a:rPr sz="639" b="0" i="0">
                <a:solidFill>
                  <a:srgbClr val="E9E9E9"/>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p:txBody>
      </p:sp>
      <p:sp>
        <p:nvSpPr>
          <p:cNvPr id="25" name="TextBox 24"/>
          <p:cNvSpPr txBox="1"/>
          <p:nvPr/>
        </p:nvSpPr>
        <p:spPr>
          <a:xfrm>
            <a:off x="400680" y="8538547"/>
            <a:ext cx="6758640" cy="395600"/>
          </a:xfrm>
          <a:prstGeom prst="rect">
            <a:avLst/>
          </a:prstGeom>
          <a:noFill/>
        </p:spPr>
        <p:txBody>
          <a:bodyPr wrap="square" lIns="0" rIns="0" tIns="0" bIns="0" anchor="t"/>
          <a:lstStyle/>
          <a:p>
            <a:pPr algn="just">
              <a:lnSpc>
                <a:spcPts val="780"/>
              </a:lnSpc>
            </a:pPr>
            <a:r>
              <a:rPr sz="639" b="0" i="0">
                <a:solidFill>
                  <a:srgbClr val="E9E9E9"/>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26" name="TextBox 25"/>
          <p:cNvSpPr txBox="1"/>
          <p:nvPr/>
        </p:nvSpPr>
        <p:spPr>
          <a:xfrm>
            <a:off x="400680" y="9086056"/>
            <a:ext cx="859477" cy="200221"/>
          </a:xfrm>
          <a:prstGeom prst="rect">
            <a:avLst/>
          </a:prstGeom>
          <a:noFill/>
        </p:spPr>
        <p:txBody>
          <a:bodyPr wrap="square" lIns="0" rIns="0" tIns="0" bIns="0" anchor="t"/>
          <a:lstStyle/>
          <a:p>
            <a:pPr algn="l">
              <a:lnSpc>
                <a:spcPts val="803"/>
              </a:lnSpc>
            </a:pPr>
            <a:r>
              <a:rPr sz="642" b="0" i="0">
                <a:solidFill>
                  <a:srgbClr val="E9E9E9"/>
                </a:solidFill>
                <a:latin typeface="Versos"/>
              </a:rPr>
              <a:t>SAC: 0800 704 8383</a:t>
            </a:r>
          </a:p>
          <a:p>
            <a:pPr algn="l">
              <a:lnSpc>
                <a:spcPts val="803"/>
              </a:lnSpc>
            </a:pPr>
            <a:r>
              <a:rPr sz="642" b="0" i="0">
                <a:solidFill>
                  <a:srgbClr val="E9E9E9"/>
                </a:solidFill>
                <a:latin typeface="Versos"/>
              </a:rPr>
              <a:t>Atendimento 24 horas</a:t>
            </a:r>
          </a:p>
        </p:txBody>
      </p:sp>
      <p:sp>
        <p:nvSpPr>
          <p:cNvPr id="27" name="TextBox 26"/>
          <p:cNvSpPr txBox="1"/>
          <p:nvPr/>
        </p:nvSpPr>
        <p:spPr>
          <a:xfrm>
            <a:off x="1381117" y="9086056"/>
            <a:ext cx="3049987" cy="200221"/>
          </a:xfrm>
          <a:prstGeom prst="rect">
            <a:avLst/>
          </a:prstGeom>
          <a:noFill/>
        </p:spPr>
        <p:txBody>
          <a:bodyPr wrap="square" lIns="0" rIns="0" tIns="0" bIns="0" anchor="t"/>
          <a:lstStyle/>
          <a:p>
            <a:pPr algn="l">
              <a:lnSpc>
                <a:spcPts val="803"/>
              </a:lnSpc>
            </a:pPr>
            <a:r>
              <a:rPr sz="642" b="0" i="0">
                <a:solidFill>
                  <a:srgbClr val="E9E9E9"/>
                </a:solidFill>
                <a:latin typeface="Versos"/>
              </a:rPr>
              <a:t>Ouvidoria: 0800 727 9933</a:t>
            </a:r>
          </a:p>
          <a:p>
            <a:pPr algn="l">
              <a:lnSpc>
                <a:spcPts val="803"/>
              </a:lnSpc>
            </a:pPr>
            <a:r>
              <a:rPr sz="642" b="0" i="0">
                <a:solidFill>
                  <a:srgbClr val="E9E9E9"/>
                </a:solidFill>
                <a:latin typeface="Versos"/>
              </a:rPr>
              <a:t>Atendimento das 9h às 18h, de segunda a sexta-feira, exceto feriados nacionais</a:t>
            </a:r>
          </a:p>
        </p:txBody>
      </p:sp>
      <p:sp>
        <p:nvSpPr>
          <p:cNvPr id="28" name="TextBox 27"/>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29" name="TextBox 28"/>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0" name="TextBox 29"/>
          <p:cNvSpPr txBox="1"/>
          <p:nvPr/>
        </p:nvSpPr>
        <p:spPr>
          <a:xfrm>
            <a:off x="4528440" y="10020071"/>
            <a:ext cx="500613"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1" name="TextBox 30"/>
          <p:cNvSpPr txBox="1"/>
          <p:nvPr/>
        </p:nvSpPr>
        <p:spPr>
          <a:xfrm>
            <a:off x="4528440" y="10110791"/>
            <a:ext cx="500613" cy="166320"/>
          </a:xfrm>
          <a:prstGeom prst="rect">
            <a:avLst/>
          </a:prstGeom>
          <a:noFill/>
        </p:spPr>
        <p:txBody>
          <a:bodyPr wrap="none" lIns="0" rIns="0" tIns="0" bIns="0" anchor="t"/>
          <a:lstStyle/>
          <a:p>
            <a:pPr algn="l">
              <a:lnSpc>
                <a:spcPts val="1285"/>
              </a:lnSpc>
            </a:pPr>
            <a:r>
              <a:rPr sz="1071" b="1" i="0">
                <a:solidFill>
                  <a:srgbClr val="FFFFFF"/>
                </a:solidFill>
                <a:latin typeface="Versos"/>
              </a:rPr>
              <a:t>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