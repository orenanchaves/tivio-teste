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INSTITUCIONAL RF CP FIF – RL </a:t>
            </a:r>
            <a:r>
              <a:rPr sz="829" b="0" i="0">
                <a:solidFill>
                  <a:srgbClr val="FFFFFF"/>
                </a:solidFill>
                <a:latin typeface="Versos"/>
              </a:rPr>
              <a:t>/ CNPJ 06.866.051/0001-87</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1,09%</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9,31%</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14,58%</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29,93%</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47,60%</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825,45%</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753,88%</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−0,02%</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0,44%</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3,43%</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71,57%</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01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4" name="TextBox 43"/>
          <p:cNvSpPr txBox="1"/>
          <p:nvPr/>
        </p:nvSpPr>
        <p:spPr>
          <a:xfrm>
            <a:off x="2831928" y="5638224"/>
            <a:ext cx="379606" cy="143640"/>
          </a:xfrm>
          <a:prstGeom prst="rect">
            <a:avLst/>
          </a:prstGeom>
          <a:noFill/>
        </p:spPr>
        <p:txBody>
          <a:bodyPr wrap="none" lIns="0" rIns="0" tIns="0" bIns="0" anchor="t"/>
          <a:lstStyle/>
          <a:p>
            <a:pPr algn="l">
              <a:lnSpc>
                <a:spcPts val="1107"/>
              </a:lnSpc>
            </a:pPr>
            <a:r>
              <a:rPr sz="922" b="0" i="0">
                <a:solidFill>
                  <a:srgbClr val="5A82A0"/>
                </a:solidFill>
                <a:latin typeface="Versos"/>
              </a:rPr>
              <a:t>3,45%</a:t>
            </a:r>
          </a:p>
        </p:txBody>
      </p:sp>
      <p:sp>
        <p:nvSpPr>
          <p:cNvPr id="45" name="TextBox 44"/>
          <p:cNvSpPr txBox="1"/>
          <p:nvPr/>
        </p:nvSpPr>
        <p:spPr>
          <a:xfrm>
            <a:off x="400680" y="610812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46" name="TextBox 45"/>
          <p:cNvSpPr txBox="1"/>
          <p:nvPr/>
        </p:nvSpPr>
        <p:spPr>
          <a:xfrm>
            <a:off x="2827558" y="6106235"/>
            <a:ext cx="379360" cy="143640"/>
          </a:xfrm>
          <a:prstGeom prst="rect">
            <a:avLst/>
          </a:prstGeom>
          <a:noFill/>
        </p:spPr>
        <p:txBody>
          <a:bodyPr wrap="none" lIns="0" rIns="0" tIns="0" bIns="0" anchor="t"/>
          <a:lstStyle/>
          <a:p>
            <a:pPr algn="l">
              <a:lnSpc>
                <a:spcPts val="1107"/>
              </a:lnSpc>
            </a:pPr>
            <a:r>
              <a:rPr sz="922" b="0" i="0">
                <a:solidFill>
                  <a:srgbClr val="5A82A0"/>
                </a:solidFill>
                <a:latin typeface="Versos"/>
              </a:rPr>
              <a:t>3,44%</a:t>
            </a:r>
          </a:p>
        </p:txBody>
      </p:sp>
      <p:sp>
        <p:nvSpPr>
          <p:cNvPr id="47" name="TextBox 46"/>
          <p:cNvSpPr txBox="1"/>
          <p:nvPr/>
        </p:nvSpPr>
        <p:spPr>
          <a:xfrm>
            <a:off x="400680" y="6576255"/>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48" name="TextBox 47"/>
          <p:cNvSpPr txBox="1"/>
          <p:nvPr/>
        </p:nvSpPr>
        <p:spPr>
          <a:xfrm>
            <a:off x="2646826" y="6574365"/>
            <a:ext cx="385871" cy="143640"/>
          </a:xfrm>
          <a:prstGeom prst="rect">
            <a:avLst/>
          </a:prstGeom>
          <a:noFill/>
        </p:spPr>
        <p:txBody>
          <a:bodyPr wrap="none" lIns="0" rIns="0" tIns="0" bIns="0" anchor="t"/>
          <a:lstStyle/>
          <a:p>
            <a:pPr algn="l">
              <a:lnSpc>
                <a:spcPts val="1107"/>
              </a:lnSpc>
            </a:pPr>
            <a:r>
              <a:rPr sz="922" b="0" i="0">
                <a:solidFill>
                  <a:srgbClr val="5A82A0"/>
                </a:solidFill>
                <a:latin typeface="Versos"/>
              </a:rPr>
              <a:t>3,06%</a:t>
            </a:r>
          </a:p>
        </p:txBody>
      </p:sp>
      <p:sp>
        <p:nvSpPr>
          <p:cNvPr id="49" name="TextBox 48"/>
          <p:cNvSpPr txBox="1"/>
          <p:nvPr/>
        </p:nvSpPr>
        <p:spPr>
          <a:xfrm>
            <a:off x="400680" y="704426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SAFRA</a:t>
            </a:r>
          </a:p>
        </p:txBody>
      </p:sp>
      <p:sp>
        <p:nvSpPr>
          <p:cNvPr id="50" name="TextBox 49"/>
          <p:cNvSpPr txBox="1"/>
          <p:nvPr/>
        </p:nvSpPr>
        <p:spPr>
          <a:xfrm>
            <a:off x="2630761" y="7042376"/>
            <a:ext cx="378746" cy="143640"/>
          </a:xfrm>
          <a:prstGeom prst="rect">
            <a:avLst/>
          </a:prstGeom>
          <a:noFill/>
        </p:spPr>
        <p:txBody>
          <a:bodyPr wrap="none" lIns="0" rIns="0" tIns="0" bIns="0" anchor="t"/>
          <a:lstStyle/>
          <a:p>
            <a:pPr algn="l">
              <a:lnSpc>
                <a:spcPts val="1107"/>
              </a:lnSpc>
            </a:pPr>
            <a:r>
              <a:rPr sz="922" b="0" i="0">
                <a:solidFill>
                  <a:srgbClr val="5A82A0"/>
                </a:solidFill>
                <a:latin typeface="Versos"/>
              </a:rPr>
              <a:t>3,02%</a:t>
            </a:r>
          </a:p>
        </p:txBody>
      </p:sp>
      <p:sp>
        <p:nvSpPr>
          <p:cNvPr id="51" name="TextBox 50"/>
          <p:cNvSpPr txBox="1"/>
          <p:nvPr/>
        </p:nvSpPr>
        <p:spPr>
          <a:xfrm>
            <a:off x="400680" y="751239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2564848" y="7510505"/>
            <a:ext cx="384274" cy="143640"/>
          </a:xfrm>
          <a:prstGeom prst="rect">
            <a:avLst/>
          </a:prstGeom>
          <a:noFill/>
        </p:spPr>
        <p:txBody>
          <a:bodyPr wrap="none" lIns="0" rIns="0" tIns="0" bIns="0" anchor="t"/>
          <a:lstStyle/>
          <a:p>
            <a:pPr algn="l">
              <a:lnSpc>
                <a:spcPts val="1107"/>
              </a:lnSpc>
            </a:pPr>
            <a:r>
              <a:rPr sz="922" b="0" i="0">
                <a:solidFill>
                  <a:srgbClr val="5A82A0"/>
                </a:solidFill>
                <a:latin typeface="Versos"/>
              </a:rPr>
              <a:t>2,89%</a:t>
            </a:r>
          </a:p>
        </p:txBody>
      </p:sp>
      <p:sp>
        <p:nvSpPr>
          <p:cNvPr id="53" name="TextBox 52"/>
          <p:cNvSpPr txBox="1"/>
          <p:nvPr/>
        </p:nvSpPr>
        <p:spPr>
          <a:xfrm>
            <a:off x="400680" y="8028129"/>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43896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437078"/>
            <a:ext cx="460318" cy="143640"/>
          </a:xfrm>
          <a:prstGeom prst="rect">
            <a:avLst/>
          </a:prstGeom>
          <a:noFill/>
        </p:spPr>
        <p:txBody>
          <a:bodyPr wrap="none" lIns="0" rIns="0" tIns="0" bIns="0" anchor="t"/>
          <a:lstStyle/>
          <a:p>
            <a:pPr algn="l">
              <a:lnSpc>
                <a:spcPts val="1142"/>
              </a:lnSpc>
            </a:pPr>
            <a:r>
              <a:rPr sz="952" b="0" i="0">
                <a:solidFill>
                  <a:srgbClr val="111111"/>
                </a:solidFill>
                <a:latin typeface="Versos"/>
              </a:rPr>
              <a:t>39,57%</a:t>
            </a:r>
          </a:p>
        </p:txBody>
      </p:sp>
      <p:sp>
        <p:nvSpPr>
          <p:cNvPr id="56" name="TextBox 55"/>
          <p:cNvSpPr txBox="1"/>
          <p:nvPr/>
        </p:nvSpPr>
        <p:spPr>
          <a:xfrm>
            <a:off x="400680" y="871727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553225" y="8715380"/>
            <a:ext cx="442137" cy="143640"/>
          </a:xfrm>
          <a:prstGeom prst="rect">
            <a:avLst/>
          </a:prstGeom>
          <a:noFill/>
        </p:spPr>
        <p:txBody>
          <a:bodyPr wrap="none" lIns="0" rIns="0" tIns="0" bIns="0" anchor="t"/>
          <a:lstStyle/>
          <a:p>
            <a:pPr algn="l">
              <a:lnSpc>
                <a:spcPts val="1142"/>
              </a:lnSpc>
            </a:pPr>
            <a:r>
              <a:rPr sz="952" b="0" i="0">
                <a:solidFill>
                  <a:srgbClr val="111111"/>
                </a:solidFill>
                <a:latin typeface="Versos"/>
              </a:rPr>
              <a:t>10,53%</a:t>
            </a:r>
          </a:p>
        </p:txBody>
      </p:sp>
      <p:sp>
        <p:nvSpPr>
          <p:cNvPr id="58" name="TextBox 57"/>
          <p:cNvSpPr txBox="1"/>
          <p:nvPr/>
        </p:nvSpPr>
        <p:spPr>
          <a:xfrm>
            <a:off x="400680" y="899569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200858" y="8993801"/>
            <a:ext cx="386486" cy="143640"/>
          </a:xfrm>
          <a:prstGeom prst="rect">
            <a:avLst/>
          </a:prstGeom>
          <a:noFill/>
        </p:spPr>
        <p:txBody>
          <a:bodyPr wrap="none" lIns="0" rIns="0" tIns="0" bIns="0" anchor="t"/>
          <a:lstStyle/>
          <a:p>
            <a:pPr algn="l">
              <a:lnSpc>
                <a:spcPts val="1142"/>
              </a:lnSpc>
            </a:pPr>
            <a:r>
              <a:rPr sz="952" b="0" i="0">
                <a:solidFill>
                  <a:srgbClr val="111111"/>
                </a:solidFill>
                <a:latin typeface="Versos"/>
              </a:rPr>
              <a:t>3,25%</a:t>
            </a:r>
          </a:p>
        </p:txBody>
      </p:sp>
      <p:sp>
        <p:nvSpPr>
          <p:cNvPr id="60" name="TextBox 59"/>
          <p:cNvSpPr txBox="1"/>
          <p:nvPr/>
        </p:nvSpPr>
        <p:spPr>
          <a:xfrm>
            <a:off x="400680" y="92739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171918" y="9272103"/>
            <a:ext cx="388083" cy="143640"/>
          </a:xfrm>
          <a:prstGeom prst="rect">
            <a:avLst/>
          </a:prstGeom>
          <a:noFill/>
        </p:spPr>
        <p:txBody>
          <a:bodyPr wrap="none" lIns="0" rIns="0" tIns="0" bIns="0" anchor="t"/>
          <a:lstStyle/>
          <a:p>
            <a:pPr algn="l">
              <a:lnSpc>
                <a:spcPts val="1142"/>
              </a:lnSpc>
            </a:pPr>
            <a:r>
              <a:rPr sz="952" b="0" i="0">
                <a:solidFill>
                  <a:srgbClr val="111111"/>
                </a:solidFill>
                <a:latin typeface="Versos"/>
              </a:rPr>
              <a:t>2,65%</a:t>
            </a:r>
          </a:p>
        </p:txBody>
      </p:sp>
      <p:sp>
        <p:nvSpPr>
          <p:cNvPr id="62" name="TextBox 61"/>
          <p:cNvSpPr txBox="1"/>
          <p:nvPr/>
        </p:nvSpPr>
        <p:spPr>
          <a:xfrm>
            <a:off x="400680" y="955229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3" name="TextBox 62"/>
          <p:cNvSpPr txBox="1"/>
          <p:nvPr/>
        </p:nvSpPr>
        <p:spPr>
          <a:xfrm>
            <a:off x="1160932" y="9550406"/>
            <a:ext cx="395085" cy="143640"/>
          </a:xfrm>
          <a:prstGeom prst="rect">
            <a:avLst/>
          </a:prstGeom>
          <a:noFill/>
        </p:spPr>
        <p:txBody>
          <a:bodyPr wrap="none" lIns="0" rIns="0" tIns="0" bIns="0" anchor="t"/>
          <a:lstStyle/>
          <a:p>
            <a:pPr algn="l">
              <a:lnSpc>
                <a:spcPts val="1142"/>
              </a:lnSpc>
            </a:pPr>
            <a:r>
              <a:rPr sz="952" b="0" i="0">
                <a:solidFill>
                  <a:srgbClr val="111111"/>
                </a:solidFill>
                <a:latin typeface="Versos"/>
              </a:rPr>
              <a:t>2,43%</a:t>
            </a:r>
          </a:p>
        </p:txBody>
      </p:sp>
      <p:sp>
        <p:nvSpPr>
          <p:cNvPr id="64" name="TextBox 63"/>
          <p:cNvSpPr txBox="1"/>
          <p:nvPr/>
        </p:nvSpPr>
        <p:spPr>
          <a:xfrm>
            <a:off x="400680" y="983059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5" name="TextBox 64"/>
          <p:cNvSpPr txBox="1"/>
          <p:nvPr/>
        </p:nvSpPr>
        <p:spPr>
          <a:xfrm>
            <a:off x="1101988" y="9828708"/>
            <a:ext cx="325429" cy="143640"/>
          </a:xfrm>
          <a:prstGeom prst="rect">
            <a:avLst/>
          </a:prstGeom>
          <a:noFill/>
        </p:spPr>
        <p:txBody>
          <a:bodyPr wrap="none" lIns="0" rIns="0" tIns="0" bIns="0" anchor="t"/>
          <a:lstStyle/>
          <a:p>
            <a:pPr algn="l">
              <a:lnSpc>
                <a:spcPts val="1142"/>
              </a:lnSpc>
            </a:pPr>
            <a:r>
              <a:rPr sz="952" b="0" i="0">
                <a:solidFill>
                  <a:srgbClr val="111111"/>
                </a:solidFill>
                <a:latin typeface="Versos"/>
              </a:rPr>
              <a:t>1,21%</a:t>
            </a:r>
          </a:p>
        </p:txBody>
      </p:sp>
      <p:sp>
        <p:nvSpPr>
          <p:cNvPr id="66" name="TextBox 65"/>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7" name="TextBox 66"/>
          <p:cNvSpPr txBox="1"/>
          <p:nvPr/>
        </p:nvSpPr>
        <p:spPr>
          <a:xfrm>
            <a:off x="3802680" y="554608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68" name="TextBox 67"/>
          <p:cNvSpPr txBox="1"/>
          <p:nvPr/>
        </p:nvSpPr>
        <p:spPr>
          <a:xfrm>
            <a:off x="6752497" y="5538408"/>
            <a:ext cx="484520" cy="143640"/>
          </a:xfrm>
          <a:prstGeom prst="rect">
            <a:avLst/>
          </a:prstGeom>
          <a:noFill/>
        </p:spPr>
        <p:txBody>
          <a:bodyPr wrap="none" lIns="0" rIns="0" tIns="0" bIns="0" anchor="t"/>
          <a:lstStyle/>
          <a:p>
            <a:pPr algn="l">
              <a:lnSpc>
                <a:spcPts val="1142"/>
              </a:lnSpc>
            </a:pPr>
            <a:r>
              <a:rPr sz="952" b="0" i="0">
                <a:solidFill>
                  <a:srgbClr val="111111"/>
                </a:solidFill>
                <a:latin typeface="Versos"/>
              </a:rPr>
              <a:t>44,60%</a:t>
            </a:r>
          </a:p>
        </p:txBody>
      </p:sp>
      <p:sp>
        <p:nvSpPr>
          <p:cNvPr id="69" name="TextBox 68"/>
          <p:cNvSpPr txBox="1"/>
          <p:nvPr/>
        </p:nvSpPr>
        <p:spPr>
          <a:xfrm>
            <a:off x="3802680" y="581458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0" name="TextBox 69"/>
          <p:cNvSpPr txBox="1"/>
          <p:nvPr/>
        </p:nvSpPr>
        <p:spPr>
          <a:xfrm>
            <a:off x="6584051" y="5806788"/>
            <a:ext cx="479606" cy="143640"/>
          </a:xfrm>
          <a:prstGeom prst="rect">
            <a:avLst/>
          </a:prstGeom>
          <a:noFill/>
        </p:spPr>
        <p:txBody>
          <a:bodyPr wrap="none" lIns="0" rIns="0" tIns="0" bIns="0" anchor="t"/>
          <a:lstStyle/>
          <a:p>
            <a:pPr algn="l">
              <a:lnSpc>
                <a:spcPts val="1142"/>
              </a:lnSpc>
            </a:pPr>
            <a:r>
              <a:rPr sz="952" b="0" i="0">
                <a:solidFill>
                  <a:srgbClr val="111111"/>
                </a:solidFill>
                <a:latin typeface="Versos"/>
              </a:rPr>
              <a:t>38,66%</a:t>
            </a:r>
          </a:p>
        </p:txBody>
      </p:sp>
      <p:sp>
        <p:nvSpPr>
          <p:cNvPr id="71" name="TextBox 70"/>
          <p:cNvSpPr txBox="1"/>
          <p:nvPr/>
        </p:nvSpPr>
        <p:spPr>
          <a:xfrm>
            <a:off x="3802680" y="608296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617316" y="6075286"/>
            <a:ext cx="392014" cy="143640"/>
          </a:xfrm>
          <a:prstGeom prst="rect">
            <a:avLst/>
          </a:prstGeom>
          <a:noFill/>
        </p:spPr>
        <p:txBody>
          <a:bodyPr wrap="none" lIns="0" rIns="0" tIns="0" bIns="0" anchor="t"/>
          <a:lstStyle/>
          <a:p>
            <a:pPr algn="l">
              <a:lnSpc>
                <a:spcPts val="1142"/>
              </a:lnSpc>
            </a:pPr>
            <a:r>
              <a:rPr sz="952" b="0" i="0">
                <a:solidFill>
                  <a:srgbClr val="111111"/>
                </a:solidFill>
                <a:latin typeface="Versos"/>
              </a:rPr>
              <a:t>4,55%</a:t>
            </a:r>
          </a:p>
        </p:txBody>
      </p:sp>
      <p:sp>
        <p:nvSpPr>
          <p:cNvPr id="73" name="TextBox 72"/>
          <p:cNvSpPr txBox="1"/>
          <p:nvPr/>
        </p:nvSpPr>
        <p:spPr>
          <a:xfrm>
            <a:off x="3802680" y="635146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5549040" y="6343666"/>
            <a:ext cx="351473" cy="143640"/>
          </a:xfrm>
          <a:prstGeom prst="rect">
            <a:avLst/>
          </a:prstGeom>
          <a:noFill/>
        </p:spPr>
        <p:txBody>
          <a:bodyPr wrap="none" lIns="0" rIns="0" tIns="0" bIns="0" anchor="t"/>
          <a:lstStyle/>
          <a:p>
            <a:pPr algn="l">
              <a:lnSpc>
                <a:spcPts val="1142"/>
              </a:lnSpc>
            </a:pPr>
            <a:r>
              <a:rPr sz="952" b="0" i="0">
                <a:solidFill>
                  <a:srgbClr val="111111"/>
                </a:solidFill>
                <a:latin typeface="Versos"/>
              </a:rPr>
              <a:t>2,13%</a:t>
            </a:r>
          </a:p>
        </p:txBody>
      </p:sp>
      <p:sp>
        <p:nvSpPr>
          <p:cNvPr id="75" name="TextBox 74"/>
          <p:cNvSpPr txBox="1"/>
          <p:nvPr/>
        </p:nvSpPr>
        <p:spPr>
          <a:xfrm>
            <a:off x="3802680" y="661984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76" name="TextBox 75"/>
          <p:cNvSpPr txBox="1"/>
          <p:nvPr/>
        </p:nvSpPr>
        <p:spPr>
          <a:xfrm>
            <a:off x="5546795" y="6612165"/>
            <a:ext cx="397419" cy="143640"/>
          </a:xfrm>
          <a:prstGeom prst="rect">
            <a:avLst/>
          </a:prstGeom>
          <a:noFill/>
        </p:spPr>
        <p:txBody>
          <a:bodyPr wrap="none" lIns="0" rIns="0" tIns="0" bIns="0" anchor="t"/>
          <a:lstStyle/>
          <a:p>
            <a:pPr algn="l">
              <a:lnSpc>
                <a:spcPts val="1142"/>
              </a:lnSpc>
            </a:pPr>
            <a:r>
              <a:rPr sz="952" b="0" i="0">
                <a:solidFill>
                  <a:srgbClr val="111111"/>
                </a:solidFill>
                <a:latin typeface="Versos"/>
              </a:rPr>
              <a:t>2,06%</a:t>
            </a:r>
          </a:p>
        </p:txBody>
      </p:sp>
      <p:sp>
        <p:nvSpPr>
          <p:cNvPr id="77" name="TextBox 76"/>
          <p:cNvSpPr txBox="1"/>
          <p:nvPr/>
        </p:nvSpPr>
        <p:spPr>
          <a:xfrm>
            <a:off x="3802680" y="6888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8" name="TextBox 77"/>
          <p:cNvSpPr txBox="1"/>
          <p:nvPr/>
        </p:nvSpPr>
        <p:spPr>
          <a:xfrm>
            <a:off x="5544433" y="6880545"/>
            <a:ext cx="349753" cy="143640"/>
          </a:xfrm>
          <a:prstGeom prst="rect">
            <a:avLst/>
          </a:prstGeom>
          <a:noFill/>
        </p:spPr>
        <p:txBody>
          <a:bodyPr wrap="none" lIns="0" rIns="0" tIns="0" bIns="0" anchor="t"/>
          <a:lstStyle/>
          <a:p>
            <a:pPr algn="l">
              <a:lnSpc>
                <a:spcPts val="1142"/>
              </a:lnSpc>
            </a:pPr>
            <a:r>
              <a:rPr sz="952" b="0" i="0">
                <a:solidFill>
                  <a:srgbClr val="111111"/>
                </a:solidFill>
                <a:latin typeface="Versos"/>
              </a:rPr>
              <a:t>1,97%</a:t>
            </a:r>
          </a:p>
        </p:txBody>
      </p:sp>
      <p:sp>
        <p:nvSpPr>
          <p:cNvPr id="79" name="TextBox 78"/>
          <p:cNvSpPr txBox="1"/>
          <p:nvPr/>
        </p:nvSpPr>
        <p:spPr>
          <a:xfrm>
            <a:off x="3802680" y="7100257"/>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0" name="TextBox 79"/>
          <p:cNvSpPr txBox="1"/>
          <p:nvPr/>
        </p:nvSpPr>
        <p:spPr>
          <a:xfrm>
            <a:off x="5532148" y="7149043"/>
            <a:ext cx="358230" cy="143640"/>
          </a:xfrm>
          <a:prstGeom prst="rect">
            <a:avLst/>
          </a:prstGeom>
          <a:noFill/>
        </p:spPr>
        <p:txBody>
          <a:bodyPr wrap="none" lIns="0" rIns="0" tIns="0" bIns="0" anchor="t"/>
          <a:lstStyle/>
          <a:p>
            <a:pPr algn="l">
              <a:lnSpc>
                <a:spcPts val="1142"/>
              </a:lnSpc>
            </a:pPr>
            <a:r>
              <a:rPr sz="952" b="0" i="0">
                <a:solidFill>
                  <a:srgbClr val="111111"/>
                </a:solidFill>
                <a:latin typeface="Versos"/>
              </a:rPr>
              <a:t>1,54%</a:t>
            </a:r>
          </a:p>
        </p:txBody>
      </p:sp>
      <p:sp>
        <p:nvSpPr>
          <p:cNvPr id="81" name="TextBox 80"/>
          <p:cNvSpPr txBox="1"/>
          <p:nvPr/>
        </p:nvSpPr>
        <p:spPr>
          <a:xfrm>
            <a:off x="3802680" y="742521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2" name="TextBox 81"/>
          <p:cNvSpPr txBox="1"/>
          <p:nvPr/>
        </p:nvSpPr>
        <p:spPr>
          <a:xfrm>
            <a:off x="5521989" y="7417423"/>
            <a:ext cx="324446" cy="143640"/>
          </a:xfrm>
          <a:prstGeom prst="rect">
            <a:avLst/>
          </a:prstGeom>
          <a:noFill/>
        </p:spPr>
        <p:txBody>
          <a:bodyPr wrap="none" lIns="0" rIns="0" tIns="0" bIns="0" anchor="t"/>
          <a:lstStyle/>
          <a:p>
            <a:pPr algn="l">
              <a:lnSpc>
                <a:spcPts val="1142"/>
              </a:lnSpc>
            </a:pPr>
            <a:r>
              <a:rPr sz="952" b="0" i="0">
                <a:solidFill>
                  <a:srgbClr val="111111"/>
                </a:solidFill>
                <a:latin typeface="Versos"/>
              </a:rPr>
              <a:t>1,18%</a:t>
            </a:r>
          </a:p>
        </p:txBody>
      </p:sp>
      <p:sp>
        <p:nvSpPr>
          <p:cNvPr id="83" name="TextBox 82"/>
          <p:cNvSpPr txBox="1"/>
          <p:nvPr/>
        </p:nvSpPr>
        <p:spPr>
          <a:xfrm>
            <a:off x="3802680" y="769359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4" name="TextBox 83"/>
          <p:cNvSpPr txBox="1"/>
          <p:nvPr/>
        </p:nvSpPr>
        <p:spPr>
          <a:xfrm>
            <a:off x="5520453" y="7685921"/>
            <a:ext cx="321252" cy="143640"/>
          </a:xfrm>
          <a:prstGeom prst="rect">
            <a:avLst/>
          </a:prstGeom>
          <a:noFill/>
        </p:spPr>
        <p:txBody>
          <a:bodyPr wrap="none" lIns="0" rIns="0" tIns="0" bIns="0" anchor="t"/>
          <a:lstStyle/>
          <a:p>
            <a:pPr algn="l">
              <a:lnSpc>
                <a:spcPts val="1142"/>
              </a:lnSpc>
            </a:pPr>
            <a:r>
              <a:rPr sz="952" b="0" i="0">
                <a:solidFill>
                  <a:srgbClr val="111111"/>
                </a:solidFill>
                <a:latin typeface="Versos"/>
              </a:rPr>
              <a:t>1,13%</a:t>
            </a:r>
          </a:p>
        </p:txBody>
      </p:sp>
      <p:sp>
        <p:nvSpPr>
          <p:cNvPr id="85" name="TextBox 84"/>
          <p:cNvSpPr txBox="1"/>
          <p:nvPr/>
        </p:nvSpPr>
        <p:spPr>
          <a:xfrm>
            <a:off x="3802680" y="79620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6" name="TextBox 85"/>
          <p:cNvSpPr txBox="1"/>
          <p:nvPr/>
        </p:nvSpPr>
        <p:spPr>
          <a:xfrm>
            <a:off x="5512657" y="7954301"/>
            <a:ext cx="394102" cy="143640"/>
          </a:xfrm>
          <a:prstGeom prst="rect">
            <a:avLst/>
          </a:prstGeom>
          <a:noFill/>
        </p:spPr>
        <p:txBody>
          <a:bodyPr wrap="none" lIns="0" rIns="0" tIns="0" bIns="0" anchor="t"/>
          <a:lstStyle/>
          <a:p>
            <a:pPr algn="l">
              <a:lnSpc>
                <a:spcPts val="1142"/>
              </a:lnSpc>
            </a:pPr>
            <a:r>
              <a:rPr sz="952" b="0" i="0">
                <a:solidFill>
                  <a:srgbClr val="111111"/>
                </a:solidFill>
                <a:latin typeface="Versos"/>
              </a:rPr>
              <a:t>0,85%</a:t>
            </a:r>
          </a:p>
        </p:txBody>
      </p:sp>
      <p:sp>
        <p:nvSpPr>
          <p:cNvPr id="87" name="TextBox 86"/>
          <p:cNvSpPr txBox="1"/>
          <p:nvPr/>
        </p:nvSpPr>
        <p:spPr>
          <a:xfrm>
            <a:off x="3802680" y="82304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8" name="TextBox 87"/>
          <p:cNvSpPr txBox="1"/>
          <p:nvPr/>
        </p:nvSpPr>
        <p:spPr>
          <a:xfrm>
            <a:off x="5502735" y="8222799"/>
            <a:ext cx="399262" cy="143640"/>
          </a:xfrm>
          <a:prstGeom prst="rect">
            <a:avLst/>
          </a:prstGeom>
          <a:noFill/>
        </p:spPr>
        <p:txBody>
          <a:bodyPr wrap="none" lIns="0" rIns="0" tIns="0" bIns="0" anchor="t"/>
          <a:lstStyle/>
          <a:p>
            <a:pPr algn="l">
              <a:lnSpc>
                <a:spcPts val="1142"/>
              </a:lnSpc>
            </a:pPr>
            <a:r>
              <a:rPr sz="952" b="0" i="0">
                <a:solidFill>
                  <a:srgbClr val="111111"/>
                </a:solidFill>
                <a:latin typeface="Versos"/>
              </a:rPr>
              <a:t>0,50%</a:t>
            </a:r>
          </a:p>
        </p:txBody>
      </p:sp>
      <p:sp>
        <p:nvSpPr>
          <p:cNvPr id="89" name="TextBox 88"/>
          <p:cNvSpPr txBox="1"/>
          <p:nvPr/>
        </p:nvSpPr>
        <p:spPr>
          <a:xfrm>
            <a:off x="3802680" y="84989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498010" y="8491179"/>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0,26%</a:t>
            </a:r>
          </a:p>
        </p:txBody>
      </p:sp>
      <p:sp>
        <p:nvSpPr>
          <p:cNvPr id="91" name="TextBox 90"/>
          <p:cNvSpPr txBox="1"/>
          <p:nvPr/>
        </p:nvSpPr>
        <p:spPr>
          <a:xfrm>
            <a:off x="3802680" y="87673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2" name="TextBox 91"/>
          <p:cNvSpPr txBox="1"/>
          <p:nvPr/>
        </p:nvSpPr>
        <p:spPr>
          <a:xfrm>
            <a:off x="5498010" y="8759677"/>
            <a:ext cx="389311" cy="143640"/>
          </a:xfrm>
          <a:prstGeom prst="rect">
            <a:avLst/>
          </a:prstGeom>
          <a:noFill/>
        </p:spPr>
        <p:txBody>
          <a:bodyPr wrap="none" lIns="0" rIns="0" tIns="0" bIns="0" anchor="t"/>
          <a:lstStyle/>
          <a:p>
            <a:pPr algn="l">
              <a:lnSpc>
                <a:spcPts val="1142"/>
              </a:lnSpc>
            </a:pPr>
            <a:r>
              <a:rPr sz="952" b="0" i="0">
                <a:solidFill>
                  <a:srgbClr val="111111"/>
                </a:solidFill>
                <a:latin typeface="Versos"/>
              </a:rPr>
              <a:t>0,25%</a:t>
            </a:r>
          </a:p>
        </p:txBody>
      </p:sp>
      <p:sp>
        <p:nvSpPr>
          <p:cNvPr id="93" name="TextBox 92"/>
          <p:cNvSpPr txBox="1"/>
          <p:nvPr/>
        </p:nvSpPr>
        <p:spPr>
          <a:xfrm>
            <a:off x="3802680" y="903585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498010" y="9028057"/>
            <a:ext cx="389311" cy="143640"/>
          </a:xfrm>
          <a:prstGeom prst="rect">
            <a:avLst/>
          </a:prstGeom>
          <a:noFill/>
        </p:spPr>
        <p:txBody>
          <a:bodyPr wrap="none" lIns="0" rIns="0" tIns="0" bIns="0" anchor="t"/>
          <a:lstStyle/>
          <a:p>
            <a:pPr algn="l">
              <a:lnSpc>
                <a:spcPts val="1142"/>
              </a:lnSpc>
            </a:pPr>
            <a:r>
              <a:rPr sz="952" b="0" i="0">
                <a:solidFill>
                  <a:srgbClr val="111111"/>
                </a:solidFill>
                <a:latin typeface="Versos"/>
              </a:rPr>
              <a:t>0,25%</a:t>
            </a:r>
          </a:p>
        </p:txBody>
      </p:sp>
      <p:sp>
        <p:nvSpPr>
          <p:cNvPr id="95" name="TextBox 94"/>
          <p:cNvSpPr txBox="1"/>
          <p:nvPr/>
        </p:nvSpPr>
        <p:spPr>
          <a:xfrm>
            <a:off x="3802680" y="930435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96" name="TextBox 95"/>
          <p:cNvSpPr txBox="1"/>
          <p:nvPr/>
        </p:nvSpPr>
        <p:spPr>
          <a:xfrm>
            <a:off x="5498010" y="9296555"/>
            <a:ext cx="321498" cy="143640"/>
          </a:xfrm>
          <a:prstGeom prst="rect">
            <a:avLst/>
          </a:prstGeom>
          <a:noFill/>
        </p:spPr>
        <p:txBody>
          <a:bodyPr wrap="none" lIns="0" rIns="0" tIns="0" bIns="0" anchor="t"/>
          <a:lstStyle/>
          <a:p>
            <a:pPr algn="l">
              <a:lnSpc>
                <a:spcPts val="1142"/>
              </a:lnSpc>
            </a:pPr>
            <a:r>
              <a:rPr sz="952" b="0" i="0">
                <a:solidFill>
                  <a:srgbClr val="111111"/>
                </a:solidFill>
                <a:latin typeface="Versos"/>
              </a:rPr>
              <a:t>0,11%</a:t>
            </a:r>
          </a:p>
        </p:txBody>
      </p:sp>
      <p:sp>
        <p:nvSpPr>
          <p:cNvPr id="97" name="TextBox 96"/>
          <p:cNvSpPr txBox="1"/>
          <p:nvPr/>
        </p:nvSpPr>
        <p:spPr>
          <a:xfrm>
            <a:off x="3802680" y="95728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Serviços Imobiliários</a:t>
            </a:r>
          </a:p>
        </p:txBody>
      </p:sp>
      <p:sp>
        <p:nvSpPr>
          <p:cNvPr id="98" name="TextBox 97"/>
          <p:cNvSpPr txBox="1"/>
          <p:nvPr/>
        </p:nvSpPr>
        <p:spPr>
          <a:xfrm>
            <a:off x="5498010" y="9565053"/>
            <a:ext cx="401105" cy="143640"/>
          </a:xfrm>
          <a:prstGeom prst="rect">
            <a:avLst/>
          </a:prstGeom>
          <a:noFill/>
        </p:spPr>
        <p:txBody>
          <a:bodyPr wrap="none" lIns="0" rIns="0" tIns="0" bIns="0" anchor="t"/>
          <a:lstStyle/>
          <a:p>
            <a:pPr algn="l">
              <a:lnSpc>
                <a:spcPts val="1142"/>
              </a:lnSpc>
            </a:pPr>
            <a:r>
              <a:rPr sz="952" b="0" i="0">
                <a:solidFill>
                  <a:srgbClr val="111111"/>
                </a:solidFill>
                <a:latin typeface="Versos"/>
              </a:rPr>
              <a:t>0,09%</a:t>
            </a:r>
          </a:p>
        </p:txBody>
      </p:sp>
      <p:sp>
        <p:nvSpPr>
          <p:cNvPr id="99" name="TextBox 98"/>
          <p:cNvSpPr txBox="1"/>
          <p:nvPr/>
        </p:nvSpPr>
        <p:spPr>
          <a:xfrm>
            <a:off x="3802680" y="984134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100" name="TextBox 99"/>
          <p:cNvSpPr txBox="1"/>
          <p:nvPr/>
        </p:nvSpPr>
        <p:spPr>
          <a:xfrm>
            <a:off x="5498010" y="9833551"/>
            <a:ext cx="360319" cy="143640"/>
          </a:xfrm>
          <a:prstGeom prst="rect">
            <a:avLst/>
          </a:prstGeom>
          <a:noFill/>
        </p:spPr>
        <p:txBody>
          <a:bodyPr wrap="none" lIns="0" rIns="0" tIns="0" bIns="0" anchor="t"/>
          <a:lstStyle/>
          <a:p>
            <a:pPr algn="l">
              <a:lnSpc>
                <a:spcPts val="1142"/>
              </a:lnSpc>
            </a:pPr>
            <a:r>
              <a:rPr sz="952" b="0" i="0">
                <a:solidFill>
                  <a:srgbClr val="111111"/>
                </a:solidFill>
                <a:latin typeface="Versos"/>
              </a:rPr>
              <a:t>0,01%</a:t>
            </a:r>
          </a:p>
        </p:txBody>
      </p:sp>
      <p:sp>
        <p:nvSpPr>
          <p:cNvPr id="101" name="TextBox 100"/>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7" name="TextBox 6"/>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8" name="TextBox 7"/>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9" name="TextBox 8"/>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0" name="TextBox 9"/>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1" name="TextBox 10"/>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2" name="TextBox 11"/>
          <p:cNvSpPr txBox="1"/>
          <p:nvPr/>
        </p:nvSpPr>
        <p:spPr>
          <a:xfrm>
            <a:off x="529200" y="9348294"/>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Fundo Tivio Institucional apresentou rentabilidade de 1,09% no mês (100% do CDI), acumulando 9,31% (100% do CDI) no ano. Na parcela de corporativos, os maiores atribuidores de resultado foram para Argo e Aegea, enquanto Aegea foi o maior detrator.</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13/05/2005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0,20% a.a.</a:t>
            </a:r>
          </a:p>
        </p:txBody>
      </p:sp>
      <p:sp>
        <p:nvSpPr>
          <p:cNvPr id="13" name="TextBox 12"/>
          <p:cNvSpPr txBox="1"/>
          <p:nvPr/>
        </p:nvSpPr>
        <p:spPr>
          <a:xfrm>
            <a:off x="400680" y="4600141"/>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4" name="TextBox 13"/>
          <p:cNvSpPr txBox="1"/>
          <p:nvPr/>
        </p:nvSpPr>
        <p:spPr>
          <a:xfrm>
            <a:off x="400680" y="4789141"/>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R$ 1.815.644.128,24</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6" name="TextBox 15"/>
          <p:cNvSpPr txBox="1"/>
          <p:nvPr/>
        </p:nvSpPr>
        <p:spPr>
          <a:xfrm>
            <a:off x="3878280" y="1883857"/>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7" name="TextBox 16"/>
          <p:cNvSpPr txBox="1"/>
          <p:nvPr/>
        </p:nvSpPr>
        <p:spPr>
          <a:xfrm>
            <a:off x="3878280" y="23857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8" name="TextBox 17"/>
          <p:cNvSpPr txBox="1"/>
          <p:nvPr/>
        </p:nvSpPr>
        <p:spPr>
          <a:xfrm>
            <a:off x="3878280" y="2574770"/>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 Abertura</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R$ 2.491.331.200,61</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Disclaimer</a:t>
            </a:r>
          </a:p>
        </p:txBody>
      </p:sp>
      <p:sp>
        <p:nvSpPr>
          <p:cNvPr id="22" name="TextBox 21"/>
          <p:cNvSpPr txBox="1"/>
          <p:nvPr/>
        </p:nvSpPr>
        <p:spPr>
          <a:xfrm>
            <a:off x="400680" y="6463800"/>
            <a:ext cx="6758640" cy="282555"/>
          </a:xfrm>
          <a:prstGeom prst="rect">
            <a:avLst/>
          </a:prstGeom>
          <a:noFill/>
        </p:spPr>
        <p:txBody>
          <a:bodyPr wrap="square" lIns="0" rIns="0" tIns="0" bIns="0" anchor="t"/>
          <a:lstStyle/>
          <a:p>
            <a:pPr algn="just">
              <a:lnSpc>
                <a:spcPts val="726"/>
              </a:lnSpc>
            </a:pPr>
            <a:r>
              <a:rPr sz="595"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766672"/>
            <a:ext cx="6758640" cy="466830"/>
          </a:xfrm>
          <a:prstGeom prst="rect">
            <a:avLst/>
          </a:prstGeom>
          <a:noFill/>
        </p:spPr>
        <p:txBody>
          <a:bodyPr wrap="square" lIns="0" rIns="0" tIns="0" bIns="0" anchor="t"/>
          <a:lstStyle/>
          <a:p>
            <a:pPr algn="just">
              <a:lnSpc>
                <a:spcPts val="726"/>
              </a:lnSpc>
            </a:pPr>
            <a:r>
              <a:rPr sz="595" b="0" i="0">
                <a:solidFill>
                  <a:srgbClr val="E9E9E9"/>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p:txBody>
      </p:sp>
      <p:sp>
        <p:nvSpPr>
          <p:cNvPr id="24" name="TextBox 23"/>
          <p:cNvSpPr txBox="1"/>
          <p:nvPr/>
        </p:nvSpPr>
        <p:spPr>
          <a:xfrm>
            <a:off x="400680" y="7253820"/>
            <a:ext cx="6758640" cy="835380"/>
          </a:xfrm>
          <a:prstGeom prst="rect">
            <a:avLst/>
          </a:prstGeom>
          <a:noFill/>
        </p:spPr>
        <p:txBody>
          <a:bodyPr wrap="square" lIns="0" rIns="0" tIns="0" bIns="0" anchor="t"/>
          <a:lstStyle/>
          <a:p>
            <a:pPr algn="just">
              <a:lnSpc>
                <a:spcPts val="726"/>
              </a:lnSpc>
            </a:pPr>
            <a:r>
              <a:rPr sz="595" b="0" i="0">
                <a:solidFill>
                  <a:srgbClr val="E9E9E9"/>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p:txBody>
      </p:sp>
      <p:sp>
        <p:nvSpPr>
          <p:cNvPr id="25" name="TextBox 24"/>
          <p:cNvSpPr txBox="1"/>
          <p:nvPr/>
        </p:nvSpPr>
        <p:spPr>
          <a:xfrm>
            <a:off x="400680" y="8109517"/>
            <a:ext cx="6758640" cy="374692"/>
          </a:xfrm>
          <a:prstGeom prst="rect">
            <a:avLst/>
          </a:prstGeom>
          <a:noFill/>
        </p:spPr>
        <p:txBody>
          <a:bodyPr wrap="square" lIns="0" rIns="0" tIns="0" bIns="0" anchor="t"/>
          <a:lstStyle/>
          <a:p>
            <a:pPr algn="just">
              <a:lnSpc>
                <a:spcPts val="726"/>
              </a:lnSpc>
            </a:pPr>
            <a:r>
              <a:rPr sz="595" b="0" i="0">
                <a:solidFill>
                  <a:srgbClr val="E9E9E9"/>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p:txBody>
      </p:sp>
      <p:sp>
        <p:nvSpPr>
          <p:cNvPr id="26" name="TextBox 25"/>
          <p:cNvSpPr txBox="1"/>
          <p:nvPr/>
        </p:nvSpPr>
        <p:spPr>
          <a:xfrm>
            <a:off x="400680" y="8504527"/>
            <a:ext cx="6758640" cy="374692"/>
          </a:xfrm>
          <a:prstGeom prst="rect">
            <a:avLst/>
          </a:prstGeom>
          <a:noFill/>
        </p:spPr>
        <p:txBody>
          <a:bodyPr wrap="square" lIns="0" rIns="0" tIns="0" bIns="0" anchor="t"/>
          <a:lstStyle/>
          <a:p>
            <a:pPr algn="just">
              <a:lnSpc>
                <a:spcPts val="726"/>
              </a:lnSpc>
            </a:pPr>
            <a:r>
              <a:rPr sz="595" b="0" i="0">
                <a:solidFill>
                  <a:srgbClr val="E9E9E9"/>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27" name="TextBox 26"/>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8" name="TextBox 27"/>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29" name="TextBox 28"/>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0" name="TextBox 29"/>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1" name="TextBox 30"/>
          <p:cNvSpPr txBox="1"/>
          <p:nvPr/>
        </p:nvSpPr>
        <p:spPr>
          <a:xfrm>
            <a:off x="4528440" y="10020071"/>
            <a:ext cx="500613"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2" name="TextBox 31"/>
          <p:cNvSpPr txBox="1"/>
          <p:nvPr/>
        </p:nvSpPr>
        <p:spPr>
          <a:xfrm>
            <a:off x="4528440" y="10110791"/>
            <a:ext cx="500613" cy="166320"/>
          </a:xfrm>
          <a:prstGeom prst="rect">
            <a:avLst/>
          </a:prstGeom>
          <a:noFill/>
        </p:spPr>
        <p:txBody>
          <a:bodyPr wrap="none" lIns="0" rIns="0" tIns="0" bIns="0" anchor="t"/>
          <a:lstStyle/>
          <a:p>
            <a:pPr algn="l">
              <a:lnSpc>
                <a:spcPts val="1285"/>
              </a:lnSpc>
            </a:pPr>
            <a:r>
              <a:rPr sz="1071" b="1" i="0">
                <a:solidFill>
                  <a:srgbClr val="FFFFFF"/>
                </a:solidFill>
                <a:latin typeface="Versos"/>
              </a:rPr>
              <a:t>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