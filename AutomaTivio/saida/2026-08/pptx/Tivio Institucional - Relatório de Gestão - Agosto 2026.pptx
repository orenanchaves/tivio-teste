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RF CRPR FIF RL </a:t>
            </a:r>
            <a:r>
              <a:rPr sz="833" b="0" i="0">
                <a:solidFill>
                  <a:srgbClr val="FFFFFF"/>
                </a:solidFill>
                <a:latin typeface="Versos"/>
              </a:rPr>
              <a:t>/ CNPJ 06.866.051/0001-87</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1,09%</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14,58%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29,93%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47,60%</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825,45%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753,88%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0,44%</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3,43%</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71,57%</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4" name="TextBox 43"/>
          <p:cNvSpPr txBox="1"/>
          <p:nvPr/>
        </p:nvSpPr>
        <p:spPr>
          <a:xfrm>
            <a:off x="2831928" y="5606803"/>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3,45%</a:t>
            </a:r>
          </a:p>
        </p:txBody>
      </p:sp>
      <p:sp>
        <p:nvSpPr>
          <p:cNvPr id="45" name="TextBox 44"/>
          <p:cNvSpPr txBox="1"/>
          <p:nvPr/>
        </p:nvSpPr>
        <p:spPr>
          <a:xfrm>
            <a:off x="400680" y="601386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46" name="TextBox 45"/>
          <p:cNvSpPr txBox="1"/>
          <p:nvPr/>
        </p:nvSpPr>
        <p:spPr>
          <a:xfrm>
            <a:off x="2827558" y="6011971"/>
            <a:ext cx="379360" cy="143640"/>
          </a:xfrm>
          <a:prstGeom prst="rect">
            <a:avLst/>
          </a:prstGeom>
          <a:noFill/>
        </p:spPr>
        <p:txBody>
          <a:bodyPr wrap="none" lIns="0" rIns="0" tIns="0" bIns="0" anchor="t"/>
          <a:lstStyle/>
          <a:p>
            <a:pPr algn="l">
              <a:lnSpc>
                <a:spcPts val="1107"/>
              </a:lnSpc>
            </a:pPr>
            <a:r>
              <a:rPr sz="922" b="0" i="0">
                <a:solidFill>
                  <a:srgbClr val="5A82A0"/>
                </a:solidFill>
                <a:latin typeface="Versos"/>
              </a:rPr>
              <a:t>3,44%</a:t>
            </a:r>
          </a:p>
        </p:txBody>
      </p:sp>
      <p:sp>
        <p:nvSpPr>
          <p:cNvPr id="47" name="TextBox 46"/>
          <p:cNvSpPr txBox="1"/>
          <p:nvPr/>
        </p:nvSpPr>
        <p:spPr>
          <a:xfrm>
            <a:off x="400680" y="6419148"/>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8" name="TextBox 47"/>
          <p:cNvSpPr txBox="1"/>
          <p:nvPr/>
        </p:nvSpPr>
        <p:spPr>
          <a:xfrm>
            <a:off x="2646826" y="6417258"/>
            <a:ext cx="385871" cy="143640"/>
          </a:xfrm>
          <a:prstGeom prst="rect">
            <a:avLst/>
          </a:prstGeom>
          <a:noFill/>
        </p:spPr>
        <p:txBody>
          <a:bodyPr wrap="none" lIns="0" rIns="0" tIns="0" bIns="0" anchor="t"/>
          <a:lstStyle/>
          <a:p>
            <a:pPr algn="l">
              <a:lnSpc>
                <a:spcPts val="1107"/>
              </a:lnSpc>
            </a:pPr>
            <a:r>
              <a:rPr sz="922" b="0" i="0">
                <a:solidFill>
                  <a:srgbClr val="5A82A0"/>
                </a:solidFill>
                <a:latin typeface="Versos"/>
              </a:rPr>
              <a:t>3,06%</a:t>
            </a:r>
          </a:p>
        </p:txBody>
      </p:sp>
      <p:sp>
        <p:nvSpPr>
          <p:cNvPr id="49" name="TextBox 48"/>
          <p:cNvSpPr txBox="1"/>
          <p:nvPr/>
        </p:nvSpPr>
        <p:spPr>
          <a:xfrm>
            <a:off x="400680" y="6824317"/>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SAFRA</a:t>
            </a:r>
          </a:p>
        </p:txBody>
      </p:sp>
      <p:sp>
        <p:nvSpPr>
          <p:cNvPr id="50" name="TextBox 49"/>
          <p:cNvSpPr txBox="1"/>
          <p:nvPr/>
        </p:nvSpPr>
        <p:spPr>
          <a:xfrm>
            <a:off x="2630761" y="6822427"/>
            <a:ext cx="378746" cy="143640"/>
          </a:xfrm>
          <a:prstGeom prst="rect">
            <a:avLst/>
          </a:prstGeom>
          <a:noFill/>
        </p:spPr>
        <p:txBody>
          <a:bodyPr wrap="none" lIns="0" rIns="0" tIns="0" bIns="0" anchor="t"/>
          <a:lstStyle/>
          <a:p>
            <a:pPr algn="l">
              <a:lnSpc>
                <a:spcPts val="1107"/>
              </a:lnSpc>
            </a:pPr>
            <a:r>
              <a:rPr sz="922" b="0" i="0">
                <a:solidFill>
                  <a:srgbClr val="5A82A0"/>
                </a:solidFill>
                <a:latin typeface="Versos"/>
              </a:rPr>
              <a:t>3,02%</a:t>
            </a:r>
          </a:p>
        </p:txBody>
      </p:sp>
      <p:sp>
        <p:nvSpPr>
          <p:cNvPr id="51" name="TextBox 50"/>
          <p:cNvSpPr txBox="1"/>
          <p:nvPr/>
        </p:nvSpPr>
        <p:spPr>
          <a:xfrm>
            <a:off x="400680" y="722960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2564848" y="7227714"/>
            <a:ext cx="384274" cy="143640"/>
          </a:xfrm>
          <a:prstGeom prst="rect">
            <a:avLst/>
          </a:prstGeom>
          <a:noFill/>
        </p:spPr>
        <p:txBody>
          <a:bodyPr wrap="none" lIns="0" rIns="0" tIns="0" bIns="0" anchor="t"/>
          <a:lstStyle/>
          <a:p>
            <a:pPr algn="l">
              <a:lnSpc>
                <a:spcPts val="1107"/>
              </a:lnSpc>
            </a:pPr>
            <a:r>
              <a:rPr sz="922" b="0" i="0">
                <a:solidFill>
                  <a:srgbClr val="5A82A0"/>
                </a:solidFill>
                <a:latin typeface="Versos"/>
              </a:rPr>
              <a:t>2,89%</a:t>
            </a:r>
          </a:p>
        </p:txBody>
      </p:sp>
      <p:sp>
        <p:nvSpPr>
          <p:cNvPr id="53" name="TextBox 52"/>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112116"/>
            <a:ext cx="460318" cy="143640"/>
          </a:xfrm>
          <a:prstGeom prst="rect">
            <a:avLst/>
          </a:prstGeom>
          <a:noFill/>
        </p:spPr>
        <p:txBody>
          <a:bodyPr wrap="none" lIns="0" rIns="0" tIns="0" bIns="0" anchor="t"/>
          <a:lstStyle/>
          <a:p>
            <a:pPr algn="l">
              <a:lnSpc>
                <a:spcPts val="1142"/>
              </a:lnSpc>
            </a:pPr>
            <a:r>
              <a:rPr sz="952" b="0" i="0">
                <a:solidFill>
                  <a:srgbClr val="111111"/>
                </a:solidFill>
                <a:latin typeface="Versos"/>
              </a:rPr>
              <a:t>39,57%</a:t>
            </a:r>
          </a:p>
        </p:txBody>
      </p:sp>
      <p:sp>
        <p:nvSpPr>
          <p:cNvPr id="56" name="TextBox 55"/>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553225" y="8369156"/>
            <a:ext cx="442137" cy="143640"/>
          </a:xfrm>
          <a:prstGeom prst="rect">
            <a:avLst/>
          </a:prstGeom>
          <a:noFill/>
        </p:spPr>
        <p:txBody>
          <a:bodyPr wrap="none" lIns="0" rIns="0" tIns="0" bIns="0" anchor="t"/>
          <a:lstStyle/>
          <a:p>
            <a:pPr algn="l">
              <a:lnSpc>
                <a:spcPts val="1142"/>
              </a:lnSpc>
            </a:pPr>
            <a:r>
              <a:rPr sz="952" b="0" i="0">
                <a:solidFill>
                  <a:srgbClr val="111111"/>
                </a:solidFill>
                <a:latin typeface="Versos"/>
              </a:rPr>
              <a:t>10,53%</a:t>
            </a:r>
          </a:p>
        </p:txBody>
      </p:sp>
      <p:sp>
        <p:nvSpPr>
          <p:cNvPr id="58" name="TextBox 57"/>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00858" y="8626196"/>
            <a:ext cx="386486" cy="143640"/>
          </a:xfrm>
          <a:prstGeom prst="rect">
            <a:avLst/>
          </a:prstGeom>
          <a:noFill/>
        </p:spPr>
        <p:txBody>
          <a:bodyPr wrap="none" lIns="0" rIns="0" tIns="0" bIns="0" anchor="t"/>
          <a:lstStyle/>
          <a:p>
            <a:pPr algn="l">
              <a:lnSpc>
                <a:spcPts val="1142"/>
              </a:lnSpc>
            </a:pPr>
            <a:r>
              <a:rPr sz="952" b="0" i="0">
                <a:solidFill>
                  <a:srgbClr val="111111"/>
                </a:solidFill>
                <a:latin typeface="Versos"/>
              </a:rPr>
              <a:t>3,25%</a:t>
            </a:r>
          </a:p>
        </p:txBody>
      </p:sp>
      <p:sp>
        <p:nvSpPr>
          <p:cNvPr id="60" name="TextBox 59"/>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71918" y="8883236"/>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2" name="TextBox 61"/>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3" name="TextBox 62"/>
          <p:cNvSpPr txBox="1"/>
          <p:nvPr/>
        </p:nvSpPr>
        <p:spPr>
          <a:xfrm>
            <a:off x="1160932" y="9140276"/>
            <a:ext cx="395085" cy="143640"/>
          </a:xfrm>
          <a:prstGeom prst="rect">
            <a:avLst/>
          </a:prstGeom>
          <a:noFill/>
        </p:spPr>
        <p:txBody>
          <a:bodyPr wrap="none" lIns="0" rIns="0" tIns="0" bIns="0" anchor="t"/>
          <a:lstStyle/>
          <a:p>
            <a:pPr algn="l">
              <a:lnSpc>
                <a:spcPts val="1142"/>
              </a:lnSpc>
            </a:pPr>
            <a:r>
              <a:rPr sz="952" b="0" i="0">
                <a:solidFill>
                  <a:srgbClr val="111111"/>
                </a:solidFill>
                <a:latin typeface="Versos"/>
              </a:rPr>
              <a:t>2,43%</a:t>
            </a:r>
          </a:p>
        </p:txBody>
      </p:sp>
      <p:sp>
        <p:nvSpPr>
          <p:cNvPr id="64" name="TextBox 63"/>
          <p:cNvSpPr txBox="1"/>
          <p:nvPr/>
        </p:nvSpPr>
        <p:spPr>
          <a:xfrm>
            <a:off x="400680" y="93992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01988" y="9397316"/>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6752497" y="5517618"/>
            <a:ext cx="484520" cy="143640"/>
          </a:xfrm>
          <a:prstGeom prst="rect">
            <a:avLst/>
          </a:prstGeom>
          <a:noFill/>
        </p:spPr>
        <p:txBody>
          <a:bodyPr wrap="none" lIns="0" rIns="0" tIns="0" bIns="0" anchor="t"/>
          <a:lstStyle/>
          <a:p>
            <a:pPr algn="l">
              <a:lnSpc>
                <a:spcPts val="1142"/>
              </a:lnSpc>
            </a:pPr>
            <a:r>
              <a:rPr sz="952" b="0" i="0">
                <a:solidFill>
                  <a:srgbClr val="111111"/>
                </a:solidFill>
                <a:latin typeface="Versos"/>
              </a:rPr>
              <a:t>44,60%</a:t>
            </a:r>
          </a:p>
        </p:txBody>
      </p:sp>
      <p:sp>
        <p:nvSpPr>
          <p:cNvPr id="69" name="TextBox 68"/>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0" name="TextBox 69"/>
          <p:cNvSpPr txBox="1"/>
          <p:nvPr/>
        </p:nvSpPr>
        <p:spPr>
          <a:xfrm>
            <a:off x="6584051" y="5744418"/>
            <a:ext cx="479606" cy="143640"/>
          </a:xfrm>
          <a:prstGeom prst="rect">
            <a:avLst/>
          </a:prstGeom>
          <a:noFill/>
        </p:spPr>
        <p:txBody>
          <a:bodyPr wrap="none" lIns="0" rIns="0" tIns="0" bIns="0" anchor="t"/>
          <a:lstStyle/>
          <a:p>
            <a:pPr algn="l">
              <a:lnSpc>
                <a:spcPts val="1142"/>
              </a:lnSpc>
            </a:pPr>
            <a:r>
              <a:rPr sz="952" b="0" i="0">
                <a:solidFill>
                  <a:srgbClr val="111111"/>
                </a:solidFill>
                <a:latin typeface="Versos"/>
              </a:rPr>
              <a:t>38,66%</a:t>
            </a:r>
          </a:p>
        </p:txBody>
      </p:sp>
      <p:sp>
        <p:nvSpPr>
          <p:cNvPr id="71" name="TextBox 70"/>
          <p:cNvSpPr txBox="1"/>
          <p:nvPr/>
        </p:nvSpPr>
        <p:spPr>
          <a:xfrm>
            <a:off x="3802680" y="5978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17316" y="5971218"/>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73" name="TextBox 72"/>
          <p:cNvSpPr txBox="1"/>
          <p:nvPr/>
        </p:nvSpPr>
        <p:spPr>
          <a:xfrm>
            <a:off x="3802680" y="6205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5549040" y="6198018"/>
            <a:ext cx="351473" cy="143640"/>
          </a:xfrm>
          <a:prstGeom prst="rect">
            <a:avLst/>
          </a:prstGeom>
          <a:noFill/>
        </p:spPr>
        <p:txBody>
          <a:bodyPr wrap="none" lIns="0" rIns="0" tIns="0" bIns="0" anchor="t"/>
          <a:lstStyle/>
          <a:p>
            <a:pPr algn="l">
              <a:lnSpc>
                <a:spcPts val="1142"/>
              </a:lnSpc>
            </a:pPr>
            <a:r>
              <a:rPr sz="952" b="0" i="0">
                <a:solidFill>
                  <a:srgbClr val="111111"/>
                </a:solidFill>
                <a:latin typeface="Versos"/>
              </a:rPr>
              <a:t>2,13%</a:t>
            </a:r>
          </a:p>
        </p:txBody>
      </p:sp>
      <p:sp>
        <p:nvSpPr>
          <p:cNvPr id="75" name="TextBox 74"/>
          <p:cNvSpPr txBox="1"/>
          <p:nvPr/>
        </p:nvSpPr>
        <p:spPr>
          <a:xfrm>
            <a:off x="3802680" y="6432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6795" y="6424818"/>
            <a:ext cx="397419" cy="143640"/>
          </a:xfrm>
          <a:prstGeom prst="rect">
            <a:avLst/>
          </a:prstGeom>
          <a:noFill/>
        </p:spPr>
        <p:txBody>
          <a:bodyPr wrap="none" lIns="0" rIns="0" tIns="0" bIns="0" anchor="t"/>
          <a:lstStyle/>
          <a:p>
            <a:pPr algn="l">
              <a:lnSpc>
                <a:spcPts val="1142"/>
              </a:lnSpc>
            </a:pPr>
            <a:r>
              <a:rPr sz="952" b="0" i="0">
                <a:solidFill>
                  <a:srgbClr val="111111"/>
                </a:solidFill>
                <a:latin typeface="Versos"/>
              </a:rPr>
              <a:t>2,06%</a:t>
            </a:r>
          </a:p>
        </p:txBody>
      </p:sp>
      <p:sp>
        <p:nvSpPr>
          <p:cNvPr id="77" name="TextBox 76"/>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544433" y="6651618"/>
            <a:ext cx="349753" cy="143640"/>
          </a:xfrm>
          <a:prstGeom prst="rect">
            <a:avLst/>
          </a:prstGeom>
          <a:noFill/>
        </p:spPr>
        <p:txBody>
          <a:bodyPr wrap="none" lIns="0" rIns="0" tIns="0" bIns="0" anchor="t"/>
          <a:lstStyle/>
          <a:p>
            <a:pPr algn="l">
              <a:lnSpc>
                <a:spcPts val="1142"/>
              </a:lnSpc>
            </a:pPr>
            <a:r>
              <a:rPr sz="952" b="0" i="0">
                <a:solidFill>
                  <a:srgbClr val="111111"/>
                </a:solidFill>
                <a:latin typeface="Versos"/>
              </a:rPr>
              <a:t>1,97%</a:t>
            </a:r>
          </a:p>
        </p:txBody>
      </p:sp>
      <p:sp>
        <p:nvSpPr>
          <p:cNvPr id="79" name="TextBox 78"/>
          <p:cNvSpPr txBox="1"/>
          <p:nvPr/>
        </p:nvSpPr>
        <p:spPr>
          <a:xfrm>
            <a:off x="3802680" y="68296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532148" y="6878418"/>
            <a:ext cx="358230" cy="143640"/>
          </a:xfrm>
          <a:prstGeom prst="rect">
            <a:avLst/>
          </a:prstGeom>
          <a:noFill/>
        </p:spPr>
        <p:txBody>
          <a:bodyPr wrap="none" lIns="0" rIns="0" tIns="0" bIns="0" anchor="t"/>
          <a:lstStyle/>
          <a:p>
            <a:pPr algn="l">
              <a:lnSpc>
                <a:spcPts val="1142"/>
              </a:lnSpc>
            </a:pPr>
            <a:r>
              <a:rPr sz="952" b="0" i="0">
                <a:solidFill>
                  <a:srgbClr val="111111"/>
                </a:solidFill>
                <a:latin typeface="Versos"/>
              </a:rPr>
              <a:t>1,54%</a:t>
            </a:r>
          </a:p>
        </p:txBody>
      </p:sp>
      <p:sp>
        <p:nvSpPr>
          <p:cNvPr id="81" name="TextBox 80"/>
          <p:cNvSpPr txBox="1"/>
          <p:nvPr/>
        </p:nvSpPr>
        <p:spPr>
          <a:xfrm>
            <a:off x="3802680" y="7112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2" name="TextBox 81"/>
          <p:cNvSpPr txBox="1"/>
          <p:nvPr/>
        </p:nvSpPr>
        <p:spPr>
          <a:xfrm>
            <a:off x="5521989" y="7105218"/>
            <a:ext cx="324446" cy="143640"/>
          </a:xfrm>
          <a:prstGeom prst="rect">
            <a:avLst/>
          </a:prstGeom>
          <a:noFill/>
        </p:spPr>
        <p:txBody>
          <a:bodyPr wrap="none" lIns="0" rIns="0" tIns="0" bIns="0" anchor="t"/>
          <a:lstStyle/>
          <a:p>
            <a:pPr algn="l">
              <a:lnSpc>
                <a:spcPts val="1142"/>
              </a:lnSpc>
            </a:pPr>
            <a:r>
              <a:rPr sz="952" b="0" i="0">
                <a:solidFill>
                  <a:srgbClr val="111111"/>
                </a:solidFill>
                <a:latin typeface="Versos"/>
              </a:rPr>
              <a:t>1,18%</a:t>
            </a:r>
          </a:p>
        </p:txBody>
      </p:sp>
      <p:sp>
        <p:nvSpPr>
          <p:cNvPr id="83" name="TextBox 82"/>
          <p:cNvSpPr txBox="1"/>
          <p:nvPr/>
        </p:nvSpPr>
        <p:spPr>
          <a:xfrm>
            <a:off x="3802680" y="7339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4" name="TextBox 83"/>
          <p:cNvSpPr txBox="1"/>
          <p:nvPr/>
        </p:nvSpPr>
        <p:spPr>
          <a:xfrm>
            <a:off x="5520453" y="7332018"/>
            <a:ext cx="321252" cy="143640"/>
          </a:xfrm>
          <a:prstGeom prst="rect">
            <a:avLst/>
          </a:prstGeom>
          <a:noFill/>
        </p:spPr>
        <p:txBody>
          <a:bodyPr wrap="none" lIns="0" rIns="0" tIns="0" bIns="0" anchor="t"/>
          <a:lstStyle/>
          <a:p>
            <a:pPr algn="l">
              <a:lnSpc>
                <a:spcPts val="1142"/>
              </a:lnSpc>
            </a:pPr>
            <a:r>
              <a:rPr sz="952" b="0" i="0">
                <a:solidFill>
                  <a:srgbClr val="111111"/>
                </a:solidFill>
                <a:latin typeface="Versos"/>
              </a:rPr>
              <a:t>1,13%</a:t>
            </a:r>
          </a:p>
        </p:txBody>
      </p:sp>
      <p:sp>
        <p:nvSpPr>
          <p:cNvPr id="85" name="TextBox 84"/>
          <p:cNvSpPr txBox="1"/>
          <p:nvPr/>
        </p:nvSpPr>
        <p:spPr>
          <a:xfrm>
            <a:off x="3802680" y="7566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6" name="TextBox 85"/>
          <p:cNvSpPr txBox="1"/>
          <p:nvPr/>
        </p:nvSpPr>
        <p:spPr>
          <a:xfrm>
            <a:off x="5512657" y="7558818"/>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0,85%</a:t>
            </a:r>
          </a:p>
        </p:txBody>
      </p:sp>
      <p:sp>
        <p:nvSpPr>
          <p:cNvPr id="87" name="TextBox 86"/>
          <p:cNvSpPr txBox="1"/>
          <p:nvPr/>
        </p:nvSpPr>
        <p:spPr>
          <a:xfrm>
            <a:off x="3802680" y="7793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8" name="TextBox 87"/>
          <p:cNvSpPr txBox="1"/>
          <p:nvPr/>
        </p:nvSpPr>
        <p:spPr>
          <a:xfrm>
            <a:off x="5502735" y="7785618"/>
            <a:ext cx="399262" cy="143640"/>
          </a:xfrm>
          <a:prstGeom prst="rect">
            <a:avLst/>
          </a:prstGeom>
          <a:noFill/>
        </p:spPr>
        <p:txBody>
          <a:bodyPr wrap="none" lIns="0" rIns="0" tIns="0" bIns="0" anchor="t"/>
          <a:lstStyle/>
          <a:p>
            <a:pPr algn="l">
              <a:lnSpc>
                <a:spcPts val="1142"/>
              </a:lnSpc>
            </a:pPr>
            <a:r>
              <a:rPr sz="952" b="0" i="0">
                <a:solidFill>
                  <a:srgbClr val="111111"/>
                </a:solidFill>
                <a:latin typeface="Versos"/>
              </a:rPr>
              <a:t>0,50%</a:t>
            </a:r>
          </a:p>
        </p:txBody>
      </p:sp>
      <p:sp>
        <p:nvSpPr>
          <p:cNvPr id="89" name="TextBox 88"/>
          <p:cNvSpPr txBox="1"/>
          <p:nvPr/>
        </p:nvSpPr>
        <p:spPr>
          <a:xfrm>
            <a:off x="3802680" y="8020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498010" y="8012418"/>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1" name="TextBox 90"/>
          <p:cNvSpPr txBox="1"/>
          <p:nvPr/>
        </p:nvSpPr>
        <p:spPr>
          <a:xfrm>
            <a:off x="3802680" y="8246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498010" y="8239218"/>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3" name="TextBox 92"/>
          <p:cNvSpPr txBox="1"/>
          <p:nvPr/>
        </p:nvSpPr>
        <p:spPr>
          <a:xfrm>
            <a:off x="3802680" y="847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498010" y="8466018"/>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5" name="TextBox 94"/>
          <p:cNvSpPr txBox="1"/>
          <p:nvPr/>
        </p:nvSpPr>
        <p:spPr>
          <a:xfrm>
            <a:off x="3802680" y="8700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6" name="TextBox 95"/>
          <p:cNvSpPr txBox="1"/>
          <p:nvPr/>
        </p:nvSpPr>
        <p:spPr>
          <a:xfrm>
            <a:off x="5498010" y="8692818"/>
            <a:ext cx="321498" cy="143640"/>
          </a:xfrm>
          <a:prstGeom prst="rect">
            <a:avLst/>
          </a:prstGeom>
          <a:noFill/>
        </p:spPr>
        <p:txBody>
          <a:bodyPr wrap="none" lIns="0" rIns="0" tIns="0" bIns="0" anchor="t"/>
          <a:lstStyle/>
          <a:p>
            <a:pPr algn="l">
              <a:lnSpc>
                <a:spcPts val="1142"/>
              </a:lnSpc>
            </a:pPr>
            <a:r>
              <a:rPr sz="952" b="0" i="0">
                <a:solidFill>
                  <a:srgbClr val="111111"/>
                </a:solidFill>
                <a:latin typeface="Versos"/>
              </a:rPr>
              <a:t>0,11%</a:t>
            </a:r>
          </a:p>
        </p:txBody>
      </p:sp>
      <p:sp>
        <p:nvSpPr>
          <p:cNvPr id="97" name="TextBox 96"/>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98" name="TextBox 97"/>
          <p:cNvSpPr txBox="1"/>
          <p:nvPr/>
        </p:nvSpPr>
        <p:spPr>
          <a:xfrm>
            <a:off x="5498010" y="8919618"/>
            <a:ext cx="401105" cy="143640"/>
          </a:xfrm>
          <a:prstGeom prst="rect">
            <a:avLst/>
          </a:prstGeom>
          <a:noFill/>
        </p:spPr>
        <p:txBody>
          <a:bodyPr wrap="none" lIns="0" rIns="0" tIns="0" bIns="0" anchor="t"/>
          <a:lstStyle/>
          <a:p>
            <a:pPr algn="l">
              <a:lnSpc>
                <a:spcPts val="1142"/>
              </a:lnSpc>
            </a:pPr>
            <a:r>
              <a:rPr sz="952" b="0" i="0">
                <a:solidFill>
                  <a:srgbClr val="111111"/>
                </a:solidFill>
                <a:latin typeface="Versos"/>
              </a:rPr>
              <a:t>0,09%</a:t>
            </a:r>
          </a:p>
        </p:txBody>
      </p:sp>
      <p:sp>
        <p:nvSpPr>
          <p:cNvPr id="99" name="TextBox 98"/>
          <p:cNvSpPr txBox="1"/>
          <p:nvPr/>
        </p:nvSpPr>
        <p:spPr>
          <a:xfrm>
            <a:off x="3802680" y="9154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0" name="TextBox 99"/>
          <p:cNvSpPr txBox="1"/>
          <p:nvPr/>
        </p:nvSpPr>
        <p:spPr>
          <a:xfrm>
            <a:off x="5498010" y="9146418"/>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0,01%</a:t>
            </a:r>
          </a:p>
        </p:txBody>
      </p:sp>
      <p:sp>
        <p:nvSpPr>
          <p:cNvPr id="101" name="TextBox 100"/>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Fundo Tivio Institucional apresentou rentabilidade de 1,09% no mês (100% do CDI), acumulando 9,31% (100% do CDI) no ano. Na parcela de corporativos, os maiores atribuidores de resultado foram para Argo e Aegea, enquanto Aegea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13/05/2005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0,20%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R$ 1.815.644.128,24</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R$ 2.491.331.200,61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5626"/>
          </a:xfrm>
          <a:prstGeom prst="rect">
            <a:avLst/>
          </a:prstGeom>
          <a:noFill/>
        </p:spPr>
        <p:txBody>
          <a:bodyPr wrap="square" lIns="0" rIns="0" tIns="0" bIns="0" anchor="t"/>
          <a:lstStyle/>
          <a:p>
            <a:pPr algn="just">
              <a:lnSpc>
                <a:spcPts val="737"/>
              </a:lnSpc>
            </a:pPr>
            <a:r>
              <a:rPr sz="604"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71633"/>
            <a:ext cx="6758640" cy="472972"/>
          </a:xfrm>
          <a:prstGeom prst="rect">
            <a:avLst/>
          </a:prstGeom>
          <a:noFill/>
        </p:spPr>
        <p:txBody>
          <a:bodyPr wrap="square" lIns="0" rIns="0" tIns="0" bIns="0" anchor="t"/>
          <a:lstStyle/>
          <a:p>
            <a:pPr algn="just">
              <a:lnSpc>
                <a:spcPts val="737"/>
              </a:lnSpc>
            </a:pPr>
            <a:r>
              <a:rPr sz="604"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66813"/>
            <a:ext cx="6758640" cy="847665"/>
          </a:xfrm>
          <a:prstGeom prst="rect">
            <a:avLst/>
          </a:prstGeom>
          <a:noFill/>
        </p:spPr>
        <p:txBody>
          <a:bodyPr wrap="square" lIns="0" rIns="0" tIns="0" bIns="0" anchor="t"/>
          <a:lstStyle/>
          <a:p>
            <a:pPr algn="just">
              <a:lnSpc>
                <a:spcPts val="737"/>
              </a:lnSpc>
            </a:pPr>
            <a:r>
              <a:rPr sz="604"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36686"/>
            <a:ext cx="6758640" cy="379299"/>
          </a:xfrm>
          <a:prstGeom prst="rect">
            <a:avLst/>
          </a:prstGeom>
          <a:noFill/>
        </p:spPr>
        <p:txBody>
          <a:bodyPr wrap="square" lIns="0" rIns="0" tIns="0" bIns="0" anchor="t"/>
          <a:lstStyle/>
          <a:p>
            <a:pPr algn="just">
              <a:lnSpc>
                <a:spcPts val="737"/>
              </a:lnSpc>
            </a:pPr>
            <a:r>
              <a:rPr sz="604"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38193"/>
            <a:ext cx="6758640" cy="379299"/>
          </a:xfrm>
          <a:prstGeom prst="rect">
            <a:avLst/>
          </a:prstGeom>
          <a:noFill/>
        </p:spPr>
        <p:txBody>
          <a:bodyPr wrap="square" lIns="0" rIns="0" tIns="0" bIns="0" anchor="t"/>
          <a:lstStyle/>
          <a:p>
            <a:pPr algn="just">
              <a:lnSpc>
                <a:spcPts val="737"/>
              </a:lnSpc>
            </a:pPr>
            <a:r>
              <a:rPr sz="604"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