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867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573538"/>
            <a:ext cx="3106262" cy="189000"/>
          </a:xfrm>
          <a:prstGeom prst="rect">
            <a:avLst/>
          </a:prstGeom>
          <a:noFill/>
        </p:spPr>
        <p:txBody>
          <a:bodyPr wrap="none" lIns="0" rIns="0" tIns="0" bIns="0" anchor="t"/>
          <a:lstStyle/>
          <a:p>
            <a:pPr algn="l">
              <a:lnSpc>
                <a:spcPts val="1375"/>
              </a:lnSpc>
            </a:pPr>
            <a:r>
              <a:rPr sz="1250" b="1" i="0">
                <a:solidFill>
                  <a:srgbClr val="FFFFFF"/>
                </a:solidFill>
                <a:latin typeface="Versos"/>
              </a:rPr>
              <a:t>46,9%</a:t>
            </a:r>
          </a:p>
        </p:txBody>
      </p:sp>
      <p:sp>
        <p:nvSpPr>
          <p:cNvPr id="45" name="TextBox 44"/>
          <p:cNvSpPr txBox="1"/>
          <p:nvPr/>
        </p:nvSpPr>
        <p:spPr>
          <a:xfrm>
            <a:off x="3682310" y="6275863"/>
            <a:ext cx="1639929"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Mezanino</a:t>
            </a:r>
          </a:p>
        </p:txBody>
      </p:sp>
      <p:sp>
        <p:nvSpPr>
          <p:cNvPr id="46" name="TextBox 45"/>
          <p:cNvSpPr txBox="1"/>
          <p:nvPr/>
        </p:nvSpPr>
        <p:spPr>
          <a:xfrm>
            <a:off x="3682310" y="6573538"/>
            <a:ext cx="1705526"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83244" y="5852503"/>
            <a:ext cx="685380" cy="136080"/>
          </a:xfrm>
          <a:prstGeom prst="rect">
            <a:avLst/>
          </a:prstGeom>
          <a:noFill/>
        </p:spPr>
        <p:txBody>
          <a:bodyPr wrap="none" lIns="0" rIns="0" tIns="0" bIns="0" anchor="t"/>
          <a:lstStyle/>
          <a:p>
            <a:pPr algn="l">
              <a:lnSpc>
                <a:spcPts val="949"/>
              </a:lnSpc>
            </a:pPr>
            <a:r>
              <a:rPr sz="863" b="0" i="0">
                <a:solidFill>
                  <a:srgbClr val="FFFFFF"/>
                </a:solidFill>
                <a:latin typeface="Versos"/>
              </a:rPr>
              <a:t>Bancário</a:t>
            </a:r>
          </a:p>
        </p:txBody>
      </p:sp>
      <p:sp>
        <p:nvSpPr>
          <p:cNvPr id="48" name="TextBox 47"/>
          <p:cNvSpPr txBox="1"/>
          <p:nvPr/>
        </p:nvSpPr>
        <p:spPr>
          <a:xfrm>
            <a:off x="5483244" y="5995670"/>
            <a:ext cx="685380" cy="189000"/>
          </a:xfrm>
          <a:prstGeom prst="rect">
            <a:avLst/>
          </a:prstGeom>
          <a:noFill/>
        </p:spPr>
        <p:txBody>
          <a:bodyPr wrap="none" lIns="0" rIns="0" tIns="0" bIns="0" anchor="t"/>
          <a:lstStyle/>
          <a:p>
            <a:pPr algn="l">
              <a:lnSpc>
                <a:spcPts val="1375"/>
              </a:lnSpc>
            </a:pPr>
            <a:r>
              <a:rPr sz="1250" b="1" i="0">
                <a:solidFill>
                  <a:srgbClr val="FFFFFF"/>
                </a:solidFill>
                <a:latin typeface="Versos"/>
              </a:rPr>
              <a:t>6,1%</a:t>
            </a:r>
          </a:p>
        </p:txBody>
      </p:sp>
      <p:sp>
        <p:nvSpPr>
          <p:cNvPr id="49" name="TextBox 48"/>
          <p:cNvSpPr txBox="1"/>
          <p:nvPr/>
        </p:nvSpPr>
        <p:spPr>
          <a:xfrm>
            <a:off x="5483244" y="6465808"/>
            <a:ext cx="685380" cy="136080"/>
          </a:xfrm>
          <a:prstGeom prst="rect">
            <a:avLst/>
          </a:prstGeom>
          <a:noFill/>
        </p:spPr>
        <p:txBody>
          <a:bodyPr wrap="none" lIns="0" rIns="0" tIns="0" bIns="0" anchor="t"/>
          <a:lstStyle/>
          <a:p>
            <a:pPr algn="l">
              <a:lnSpc>
                <a:spcPts val="949"/>
              </a:lnSpc>
            </a:pPr>
            <a:r>
              <a:rPr sz="863" b="0" i="0">
                <a:solidFill>
                  <a:srgbClr val="2B3744"/>
                </a:solidFill>
                <a:latin typeface="Versos"/>
              </a:rPr>
              <a:t>Fiagro</a:t>
            </a:r>
          </a:p>
        </p:txBody>
      </p:sp>
      <p:sp>
        <p:nvSpPr>
          <p:cNvPr id="50" name="TextBox 49"/>
          <p:cNvSpPr txBox="1"/>
          <p:nvPr/>
        </p:nvSpPr>
        <p:spPr>
          <a:xfrm>
            <a:off x="5483244" y="6608975"/>
            <a:ext cx="685380"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281296" y="5784581"/>
            <a:ext cx="833660" cy="189000"/>
          </a:xfrm>
          <a:prstGeom prst="rect">
            <a:avLst/>
          </a:prstGeom>
          <a:noFill/>
        </p:spPr>
        <p:txBody>
          <a:bodyPr wrap="none" lIns="0" rIns="0" tIns="0" bIns="0" anchor="t"/>
          <a:lstStyle/>
          <a:p>
            <a:pPr algn="l">
              <a:lnSpc>
                <a:spcPts val="1375"/>
              </a:lnSpc>
            </a:pPr>
            <a:r>
              <a:rPr sz="1250" b="1" i="0">
                <a:solidFill>
                  <a:srgbClr val="2B3744"/>
                </a:solidFill>
                <a:latin typeface="Versos"/>
              </a:rPr>
              <a:t>5,3%</a:t>
            </a:r>
          </a:p>
        </p:txBody>
      </p:sp>
      <p:sp>
        <p:nvSpPr>
          <p:cNvPr id="52" name="TextBox 51"/>
          <p:cNvSpPr txBox="1"/>
          <p:nvPr/>
        </p:nvSpPr>
        <p:spPr>
          <a:xfrm>
            <a:off x="6258616" y="6267830"/>
            <a:ext cx="584643" cy="173880"/>
          </a:xfrm>
          <a:prstGeom prst="rect">
            <a:avLst/>
          </a:prstGeom>
          <a:noFill/>
        </p:spPr>
        <p:txBody>
          <a:bodyPr wrap="none" lIns="0" rIns="0" tIns="0" bIns="0" anchor="t"/>
          <a:lstStyle/>
          <a:p>
            <a:pPr algn="l">
              <a:lnSpc>
                <a:spcPts val="1244"/>
              </a:lnSpc>
            </a:pPr>
            <a:r>
              <a:rPr sz="1131" b="1" i="0">
                <a:solidFill>
                  <a:srgbClr val="2B3744"/>
                </a:solidFill>
                <a:latin typeface="Versos"/>
              </a:rPr>
              <a:t>3,4%</a:t>
            </a:r>
          </a:p>
        </p:txBody>
      </p:sp>
      <p:sp>
        <p:nvSpPr>
          <p:cNvPr id="53" name="TextBox 52"/>
          <p:cNvSpPr txBox="1"/>
          <p:nvPr/>
        </p:nvSpPr>
        <p:spPr>
          <a:xfrm>
            <a:off x="6258616" y="6654690"/>
            <a:ext cx="584643" cy="151200"/>
          </a:xfrm>
          <a:prstGeom prst="rect">
            <a:avLst/>
          </a:prstGeom>
          <a:noFill/>
        </p:spPr>
        <p:txBody>
          <a:bodyPr wrap="none" lIns="0" rIns="0" tIns="0" bIns="0" anchor="t"/>
          <a:lstStyle/>
          <a:p>
            <a:pPr algn="l">
              <a:lnSpc>
                <a:spcPts val="1087"/>
              </a:lnSpc>
            </a:pPr>
            <a:r>
              <a:rPr sz="988" b="1" i="0">
                <a:solidFill>
                  <a:srgbClr val="FFFFFF"/>
                </a:solidFill>
                <a:latin typeface="Versos"/>
              </a:rPr>
              <a:t>2,7%</a:t>
            </a:r>
          </a:p>
        </p:txBody>
      </p:sp>
      <p:sp>
        <p:nvSpPr>
          <p:cNvPr id="54" name="TextBox 53"/>
          <p:cNvSpPr txBox="1"/>
          <p:nvPr/>
        </p:nvSpPr>
        <p:spPr>
          <a:xfrm>
            <a:off x="6912320" y="6729581"/>
            <a:ext cx="217444" cy="83160"/>
          </a:xfrm>
          <a:prstGeom prst="rect">
            <a:avLst/>
          </a:prstGeom>
          <a:noFill/>
        </p:spPr>
        <p:txBody>
          <a:bodyPr wrap="none" lIns="0" rIns="0" tIns="0" bIns="0" anchor="t"/>
          <a:lstStyle/>
          <a:p>
            <a:pPr algn="l">
              <a:lnSpc>
                <a:spcPts val="622"/>
              </a:lnSpc>
            </a:pPr>
            <a:r>
              <a:rPr sz="565" b="1" i="0">
                <a:solidFill>
                  <a:srgbClr val="2B3744"/>
                </a:solidFill>
                <a:latin typeface="Versos"/>
              </a:rPr>
              <a:t>2,6%</a:t>
            </a:r>
          </a:p>
        </p:txBody>
      </p:sp>
      <p:sp>
        <p:nvSpPr>
          <p:cNvPr id="55" name="TextBox 54"/>
          <p:cNvSpPr txBox="1"/>
          <p:nvPr/>
        </p:nvSpPr>
        <p:spPr>
          <a:xfrm>
            <a:off x="529200" y="6929566"/>
            <a:ext cx="1286730"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46,9%</a:t>
            </a:r>
          </a:p>
        </p:txBody>
      </p:sp>
      <p:sp>
        <p:nvSpPr>
          <p:cNvPr id="56" name="TextBox 55"/>
          <p:cNvSpPr txBox="1"/>
          <p:nvPr/>
        </p:nvSpPr>
        <p:spPr>
          <a:xfrm>
            <a:off x="2031041" y="6929566"/>
            <a:ext cx="141940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27,0%</a:t>
            </a:r>
          </a:p>
        </p:txBody>
      </p:sp>
      <p:sp>
        <p:nvSpPr>
          <p:cNvPr id="57" name="TextBox 56"/>
          <p:cNvSpPr txBox="1"/>
          <p:nvPr/>
        </p:nvSpPr>
        <p:spPr>
          <a:xfrm>
            <a:off x="3660457" y="6929566"/>
            <a:ext cx="68181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6,1%</a:t>
            </a:r>
          </a:p>
        </p:txBody>
      </p:sp>
      <p:sp>
        <p:nvSpPr>
          <p:cNvPr id="58" name="TextBox 57"/>
          <p:cNvSpPr txBox="1"/>
          <p:nvPr/>
        </p:nvSpPr>
        <p:spPr>
          <a:xfrm>
            <a:off x="4580651" y="6929566"/>
            <a:ext cx="582800"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5,5%</a:t>
            </a:r>
          </a:p>
        </p:txBody>
      </p:sp>
      <p:sp>
        <p:nvSpPr>
          <p:cNvPr id="59" name="TextBox 58"/>
          <p:cNvSpPr txBox="1"/>
          <p:nvPr/>
        </p:nvSpPr>
        <p:spPr>
          <a:xfrm>
            <a:off x="5405636" y="6929566"/>
            <a:ext cx="68894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5,3%</a:t>
            </a:r>
          </a:p>
        </p:txBody>
      </p:sp>
      <p:sp>
        <p:nvSpPr>
          <p:cNvPr id="60" name="TextBox 59"/>
          <p:cNvSpPr txBox="1"/>
          <p:nvPr/>
        </p:nvSpPr>
        <p:spPr>
          <a:xfrm>
            <a:off x="529200" y="708832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1" name="TextBox 60"/>
          <p:cNvSpPr txBox="1"/>
          <p:nvPr/>
        </p:nvSpPr>
        <p:spPr>
          <a:xfrm>
            <a:off x="1774119"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2" name="TextBox 61"/>
          <p:cNvSpPr txBox="1"/>
          <p:nvPr/>
        </p:nvSpPr>
        <p:spPr>
          <a:xfrm>
            <a:off x="2785505" y="7088326"/>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2,6%</a:t>
            </a:r>
          </a:p>
        </p:txBody>
      </p:sp>
      <p:sp>
        <p:nvSpPr>
          <p:cNvPr id="63" name="TextBox 62"/>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4" name="TextBox 63"/>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5" name="TextBox 64"/>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6" name="TextBox 65"/>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7" name="TextBox 6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