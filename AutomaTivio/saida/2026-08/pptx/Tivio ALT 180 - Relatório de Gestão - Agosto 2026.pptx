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49699" cy="292477"/>
          </a:xfrm>
          <a:prstGeom prst="rect">
            <a:avLst/>
          </a:prstGeom>
          <a:noFill/>
        </p:spPr>
        <p:txBody>
          <a:bodyPr wrap="square" lIns="0" rIns="0" tIns="0" bIns="0" anchor="t"/>
          <a:lstStyle/>
          <a:p>
            <a:pPr algn="l">
              <a:lnSpc>
                <a:spcPts val="1113"/>
              </a:lnSpc>
            </a:pPr>
            <a:r>
              <a:rPr sz="1012" b="0" i="0">
                <a:solidFill>
                  <a:srgbClr val="FFFFFF"/>
                </a:solidFill>
                <a:latin typeface="Versos"/>
              </a:rPr>
              <a:t>FIDC</a:t>
            </a:r>
          </a:p>
          <a:p>
            <a:pPr algn="l">
              <a:lnSpc>
                <a:spcPts val="1113"/>
              </a:lnSpc>
            </a:pPr>
            <a:r>
              <a:rPr sz="1012" b="1" i="0">
                <a:solidFill>
                  <a:srgbClr val="FFFFFF"/>
                </a:solidFill>
                <a:latin typeface="Versos"/>
              </a:rPr>
              <a:t>Sênior</a:t>
            </a:r>
          </a:p>
        </p:txBody>
      </p:sp>
      <p:sp>
        <p:nvSpPr>
          <p:cNvPr id="44" name="TextBox 43"/>
          <p:cNvSpPr txBox="1"/>
          <p:nvPr/>
        </p:nvSpPr>
        <p:spPr>
          <a:xfrm>
            <a:off x="498960" y="6573538"/>
            <a:ext cx="3067687" cy="189000"/>
          </a:xfrm>
          <a:prstGeom prst="rect">
            <a:avLst/>
          </a:prstGeom>
          <a:noFill/>
        </p:spPr>
        <p:txBody>
          <a:bodyPr wrap="none" lIns="0" rIns="0" tIns="0" bIns="0" anchor="t"/>
          <a:lstStyle/>
          <a:p>
            <a:pPr algn="l">
              <a:lnSpc>
                <a:spcPts val="1375"/>
              </a:lnSpc>
            </a:pPr>
            <a:r>
              <a:rPr sz="1250" b="1" i="0">
                <a:solidFill>
                  <a:srgbClr val="FFFFFF"/>
                </a:solidFill>
                <a:latin typeface="Versos"/>
              </a:rPr>
              <a:t>46,3%</a:t>
            </a:r>
          </a:p>
        </p:txBody>
      </p:sp>
      <p:sp>
        <p:nvSpPr>
          <p:cNvPr id="45" name="TextBox 44"/>
          <p:cNvSpPr txBox="1"/>
          <p:nvPr/>
        </p:nvSpPr>
        <p:spPr>
          <a:xfrm>
            <a:off x="3645219" y="6275863"/>
            <a:ext cx="1640047" cy="292477"/>
          </a:xfrm>
          <a:prstGeom prst="rect">
            <a:avLst/>
          </a:prstGeom>
          <a:noFill/>
        </p:spPr>
        <p:txBody>
          <a:bodyPr wrap="square" lIns="0" rIns="0" tIns="0" bIns="0" anchor="t"/>
          <a:lstStyle/>
          <a:p>
            <a:pPr algn="l">
              <a:lnSpc>
                <a:spcPts val="1113"/>
              </a:lnSpc>
            </a:pPr>
            <a:r>
              <a:rPr sz="1012" b="0" i="0">
                <a:solidFill>
                  <a:srgbClr val="2B3744"/>
                </a:solidFill>
                <a:latin typeface="Versos"/>
              </a:rPr>
              <a:t>FIDC</a:t>
            </a:r>
          </a:p>
          <a:p>
            <a:pPr algn="l">
              <a:lnSpc>
                <a:spcPts val="1113"/>
              </a:lnSpc>
            </a:pPr>
            <a:r>
              <a:rPr sz="1012" b="1" i="0">
                <a:solidFill>
                  <a:srgbClr val="2B3744"/>
                </a:solidFill>
                <a:latin typeface="Versos"/>
              </a:rPr>
              <a:t>Mezanino</a:t>
            </a:r>
          </a:p>
        </p:txBody>
      </p:sp>
      <p:sp>
        <p:nvSpPr>
          <p:cNvPr id="46" name="TextBox 45"/>
          <p:cNvSpPr txBox="1"/>
          <p:nvPr/>
        </p:nvSpPr>
        <p:spPr>
          <a:xfrm>
            <a:off x="3645219" y="6573538"/>
            <a:ext cx="1705649"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45562" y="6468406"/>
            <a:ext cx="673709" cy="136080"/>
          </a:xfrm>
          <a:prstGeom prst="rect">
            <a:avLst/>
          </a:prstGeom>
          <a:noFill/>
        </p:spPr>
        <p:txBody>
          <a:bodyPr wrap="none" lIns="0" rIns="0" tIns="0" bIns="0" anchor="t"/>
          <a:lstStyle/>
          <a:p>
            <a:pPr algn="l">
              <a:lnSpc>
                <a:spcPts val="936"/>
              </a:lnSpc>
            </a:pPr>
            <a:r>
              <a:rPr sz="851" b="0" i="0">
                <a:solidFill>
                  <a:srgbClr val="FFFFFF"/>
                </a:solidFill>
                <a:latin typeface="Versos"/>
              </a:rPr>
              <a:t>Liquidez</a:t>
            </a:r>
          </a:p>
        </p:txBody>
      </p:sp>
      <p:sp>
        <p:nvSpPr>
          <p:cNvPr id="48" name="TextBox 47"/>
          <p:cNvSpPr txBox="1"/>
          <p:nvPr/>
        </p:nvSpPr>
        <p:spPr>
          <a:xfrm>
            <a:off x="5445562" y="6609920"/>
            <a:ext cx="673709" cy="189000"/>
          </a:xfrm>
          <a:prstGeom prst="rect">
            <a:avLst/>
          </a:prstGeom>
          <a:noFill/>
        </p:spPr>
        <p:txBody>
          <a:bodyPr wrap="none" lIns="0" rIns="0" tIns="0" bIns="0" anchor="t"/>
          <a:lstStyle/>
          <a:p>
            <a:pPr algn="l">
              <a:lnSpc>
                <a:spcPts val="1375"/>
              </a:lnSpc>
            </a:pPr>
            <a:r>
              <a:rPr sz="1250" b="1" i="0">
                <a:solidFill>
                  <a:srgbClr val="FFFFFF"/>
                </a:solidFill>
                <a:latin typeface="Versos"/>
              </a:rPr>
              <a:t>11,4%</a:t>
            </a:r>
          </a:p>
        </p:txBody>
      </p:sp>
      <p:sp>
        <p:nvSpPr>
          <p:cNvPr id="49" name="TextBox 48"/>
          <p:cNvSpPr txBox="1"/>
          <p:nvPr/>
        </p:nvSpPr>
        <p:spPr>
          <a:xfrm>
            <a:off x="6204397" y="5929756"/>
            <a:ext cx="518214" cy="200694"/>
          </a:xfrm>
          <a:prstGeom prst="rect">
            <a:avLst/>
          </a:prstGeom>
          <a:noFill/>
        </p:spPr>
        <p:txBody>
          <a:bodyPr wrap="square" lIns="0" rIns="0" tIns="0" bIns="0" anchor="t"/>
          <a:lstStyle/>
          <a:p>
            <a:pPr algn="l">
              <a:lnSpc>
                <a:spcPts val="746"/>
              </a:lnSpc>
            </a:pPr>
            <a:r>
              <a:rPr sz="678" b="0" i="0">
                <a:solidFill>
                  <a:srgbClr val="2B3744"/>
                </a:solidFill>
                <a:latin typeface="Versos"/>
              </a:rPr>
              <a:t>Crédito</a:t>
            </a:r>
          </a:p>
          <a:p>
            <a:pPr algn="l">
              <a:lnSpc>
                <a:spcPts val="746"/>
              </a:lnSpc>
            </a:pPr>
            <a:r>
              <a:rPr sz="678" b="1" i="0">
                <a:solidFill>
                  <a:srgbClr val="2B3744"/>
                </a:solidFill>
                <a:latin typeface="Versos"/>
              </a:rPr>
              <a:t>Estruturado</a:t>
            </a:r>
          </a:p>
        </p:txBody>
      </p:sp>
      <p:sp>
        <p:nvSpPr>
          <p:cNvPr id="50" name="TextBox 49"/>
          <p:cNvSpPr txBox="1"/>
          <p:nvPr/>
        </p:nvSpPr>
        <p:spPr>
          <a:xfrm>
            <a:off x="6204397" y="6134585"/>
            <a:ext cx="538942" cy="158760"/>
          </a:xfrm>
          <a:prstGeom prst="rect">
            <a:avLst/>
          </a:prstGeom>
          <a:noFill/>
        </p:spPr>
        <p:txBody>
          <a:bodyPr wrap="none" lIns="0" rIns="0" tIns="0" bIns="0" anchor="t"/>
          <a:lstStyle/>
          <a:p>
            <a:pPr algn="l">
              <a:lnSpc>
                <a:spcPts val="1145"/>
              </a:lnSpc>
            </a:pPr>
            <a:r>
              <a:rPr sz="1041" b="1" i="0">
                <a:solidFill>
                  <a:srgbClr val="2B3744"/>
                </a:solidFill>
                <a:latin typeface="Versos"/>
              </a:rPr>
              <a:t>5,5%</a:t>
            </a:r>
          </a:p>
        </p:txBody>
      </p:sp>
      <p:sp>
        <p:nvSpPr>
          <p:cNvPr id="51" name="TextBox 50"/>
          <p:cNvSpPr txBox="1"/>
          <p:nvPr/>
        </p:nvSpPr>
        <p:spPr>
          <a:xfrm>
            <a:off x="6809670" y="6051898"/>
            <a:ext cx="311731" cy="142104"/>
          </a:xfrm>
          <a:prstGeom prst="rect">
            <a:avLst/>
          </a:prstGeom>
          <a:noFill/>
        </p:spPr>
        <p:txBody>
          <a:bodyPr wrap="square" lIns="0" rIns="0" tIns="0" bIns="0" anchor="t"/>
          <a:lstStyle/>
          <a:p>
            <a:pPr algn="l">
              <a:lnSpc>
                <a:spcPts val="523"/>
              </a:lnSpc>
            </a:pPr>
            <a:r>
              <a:rPr sz="476" b="0" i="0">
                <a:solidFill>
                  <a:srgbClr val="2B3744"/>
                </a:solidFill>
                <a:latin typeface="Versos"/>
              </a:rPr>
              <a:t>Crédito</a:t>
            </a:r>
          </a:p>
          <a:p>
            <a:pPr algn="l">
              <a:lnSpc>
                <a:spcPts val="523"/>
              </a:lnSpc>
            </a:pPr>
            <a:r>
              <a:rPr sz="476" b="1" i="0">
                <a:solidFill>
                  <a:srgbClr val="2B3744"/>
                </a:solidFill>
                <a:latin typeface="Versos"/>
              </a:rPr>
              <a:t>Privado</a:t>
            </a:r>
          </a:p>
        </p:txBody>
      </p:sp>
      <p:sp>
        <p:nvSpPr>
          <p:cNvPr id="52" name="TextBox 51"/>
          <p:cNvSpPr txBox="1"/>
          <p:nvPr/>
        </p:nvSpPr>
        <p:spPr>
          <a:xfrm>
            <a:off x="6809670" y="6200026"/>
            <a:ext cx="324201" cy="98280"/>
          </a:xfrm>
          <a:prstGeom prst="rect">
            <a:avLst/>
          </a:prstGeom>
          <a:noFill/>
        </p:spPr>
        <p:txBody>
          <a:bodyPr wrap="none" lIns="0" rIns="0" tIns="0" bIns="0" anchor="t"/>
          <a:lstStyle/>
          <a:p>
            <a:pPr algn="l">
              <a:lnSpc>
                <a:spcPts val="720"/>
              </a:lnSpc>
            </a:pPr>
            <a:r>
              <a:rPr sz="654" b="1" i="0">
                <a:solidFill>
                  <a:srgbClr val="2B3744"/>
                </a:solidFill>
                <a:latin typeface="Versos"/>
              </a:rPr>
              <a:t>3,4%</a:t>
            </a:r>
          </a:p>
        </p:txBody>
      </p:sp>
      <p:sp>
        <p:nvSpPr>
          <p:cNvPr id="53" name="TextBox 52"/>
          <p:cNvSpPr txBox="1"/>
          <p:nvPr/>
        </p:nvSpPr>
        <p:spPr>
          <a:xfrm>
            <a:off x="6198255" y="6577908"/>
            <a:ext cx="470638" cy="98280"/>
          </a:xfrm>
          <a:prstGeom prst="rect">
            <a:avLst/>
          </a:prstGeom>
          <a:noFill/>
        </p:spPr>
        <p:txBody>
          <a:bodyPr wrap="none" lIns="0" rIns="0" tIns="0" bIns="0" anchor="t"/>
          <a:lstStyle/>
          <a:p>
            <a:pPr algn="l">
              <a:lnSpc>
                <a:spcPts val="654"/>
              </a:lnSpc>
            </a:pPr>
            <a:r>
              <a:rPr sz="595" b="0" i="0">
                <a:solidFill>
                  <a:srgbClr val="2B3744"/>
                </a:solidFill>
                <a:latin typeface="Versos"/>
              </a:rPr>
              <a:t>Fiagro</a:t>
            </a:r>
          </a:p>
        </p:txBody>
      </p:sp>
      <p:sp>
        <p:nvSpPr>
          <p:cNvPr id="54" name="TextBox 53"/>
          <p:cNvSpPr txBox="1"/>
          <p:nvPr/>
        </p:nvSpPr>
        <p:spPr>
          <a:xfrm>
            <a:off x="6198255" y="6668628"/>
            <a:ext cx="470638" cy="143640"/>
          </a:xfrm>
          <a:prstGeom prst="rect">
            <a:avLst/>
          </a:prstGeom>
          <a:noFill/>
        </p:spPr>
        <p:txBody>
          <a:bodyPr wrap="none" lIns="0" rIns="0" tIns="0" bIns="0" anchor="t"/>
          <a:lstStyle/>
          <a:p>
            <a:pPr algn="l">
              <a:lnSpc>
                <a:spcPts val="1001"/>
              </a:lnSpc>
            </a:pPr>
            <a:r>
              <a:rPr sz="910" b="1" i="0">
                <a:solidFill>
                  <a:srgbClr val="2B3744"/>
                </a:solidFill>
                <a:latin typeface="Versos"/>
              </a:rPr>
              <a:t>3,2%</a:t>
            </a:r>
          </a:p>
        </p:txBody>
      </p:sp>
      <p:sp>
        <p:nvSpPr>
          <p:cNvPr id="55" name="TextBox 54"/>
          <p:cNvSpPr txBox="1"/>
          <p:nvPr/>
        </p:nvSpPr>
        <p:spPr>
          <a:xfrm>
            <a:off x="6731707" y="6612165"/>
            <a:ext cx="405282" cy="75600"/>
          </a:xfrm>
          <a:prstGeom prst="rect">
            <a:avLst/>
          </a:prstGeom>
          <a:noFill/>
        </p:spPr>
        <p:txBody>
          <a:bodyPr wrap="none" lIns="0" rIns="0" tIns="0" bIns="0" anchor="t"/>
          <a:lstStyle/>
          <a:p>
            <a:pPr algn="l">
              <a:lnSpc>
                <a:spcPts val="563"/>
              </a:lnSpc>
            </a:pPr>
            <a:r>
              <a:rPr sz="511" b="0" i="0">
                <a:solidFill>
                  <a:srgbClr val="FFFFFF"/>
                </a:solidFill>
                <a:latin typeface="Versos"/>
              </a:rPr>
              <a:t>Precatórios</a:t>
            </a:r>
          </a:p>
        </p:txBody>
      </p:sp>
      <p:sp>
        <p:nvSpPr>
          <p:cNvPr id="56" name="TextBox 55"/>
          <p:cNvSpPr txBox="1"/>
          <p:nvPr/>
        </p:nvSpPr>
        <p:spPr>
          <a:xfrm>
            <a:off x="6731707" y="6698750"/>
            <a:ext cx="405282" cy="120960"/>
          </a:xfrm>
          <a:prstGeom prst="rect">
            <a:avLst/>
          </a:prstGeom>
          <a:noFill/>
        </p:spPr>
        <p:txBody>
          <a:bodyPr wrap="none" lIns="0" rIns="0" tIns="0" bIns="0" anchor="t"/>
          <a:lstStyle/>
          <a:p>
            <a:pPr algn="l">
              <a:lnSpc>
                <a:spcPts val="864"/>
              </a:lnSpc>
            </a:pPr>
            <a:r>
              <a:rPr sz="785" b="1" i="0">
                <a:solidFill>
                  <a:srgbClr val="FFFFFF"/>
                </a:solidFill>
                <a:latin typeface="Versos"/>
              </a:rPr>
              <a:t>2,7%</a:t>
            </a:r>
          </a:p>
        </p:txBody>
      </p:sp>
      <p:sp>
        <p:nvSpPr>
          <p:cNvPr id="57" name="TextBox 56"/>
          <p:cNvSpPr txBox="1"/>
          <p:nvPr/>
        </p:nvSpPr>
        <p:spPr>
          <a:xfrm>
            <a:off x="529200" y="6929566"/>
            <a:ext cx="938082" cy="113400"/>
          </a:xfrm>
          <a:prstGeom prst="rect">
            <a:avLst/>
          </a:prstGeom>
          <a:noFill/>
        </p:spPr>
        <p:txBody>
          <a:bodyPr wrap="none" lIns="0" rIns="0" tIns="0" bIns="0" anchor="t"/>
          <a:lstStyle/>
          <a:p>
            <a:pPr algn="l">
              <a:lnSpc>
                <a:spcPts val="892"/>
              </a:lnSpc>
            </a:pPr>
            <a:r>
              <a:rPr sz="744" b="0" i="0">
                <a:solidFill>
                  <a:srgbClr val="333333"/>
                </a:solidFill>
                <a:latin typeface="Versos"/>
              </a:rPr>
              <a:t>FIDC Sênior </a:t>
            </a:r>
            <a:r>
              <a:rPr sz="744" b="1" i="0">
                <a:solidFill>
                  <a:srgbClr val="111111"/>
                </a:solidFill>
                <a:latin typeface="Versos"/>
              </a:rPr>
              <a:t>46,3%</a:t>
            </a:r>
          </a:p>
        </p:txBody>
      </p:sp>
      <p:sp>
        <p:nvSpPr>
          <p:cNvPr id="58" name="TextBox 57"/>
          <p:cNvSpPr txBox="1"/>
          <p:nvPr/>
        </p:nvSpPr>
        <p:spPr>
          <a:xfrm>
            <a:off x="1695802" y="6929566"/>
            <a:ext cx="1070392" cy="113400"/>
          </a:xfrm>
          <a:prstGeom prst="rect">
            <a:avLst/>
          </a:prstGeom>
          <a:noFill/>
        </p:spPr>
        <p:txBody>
          <a:bodyPr wrap="none" lIns="0" rIns="0" tIns="0" bIns="0" anchor="t"/>
          <a:lstStyle/>
          <a:p>
            <a:pPr algn="l">
              <a:lnSpc>
                <a:spcPts val="892"/>
              </a:lnSpc>
            </a:pPr>
            <a:r>
              <a:rPr sz="744" b="0" i="0">
                <a:solidFill>
                  <a:srgbClr val="333333"/>
                </a:solidFill>
                <a:latin typeface="Versos"/>
              </a:rPr>
              <a:t>FIDC Mezanino </a:t>
            </a:r>
            <a:r>
              <a:rPr sz="744" b="1" i="0">
                <a:solidFill>
                  <a:srgbClr val="111111"/>
                </a:solidFill>
                <a:latin typeface="Versos"/>
              </a:rPr>
              <a:t>27,0%</a:t>
            </a:r>
          </a:p>
        </p:txBody>
      </p:sp>
      <p:sp>
        <p:nvSpPr>
          <p:cNvPr id="59" name="TextBox 58"/>
          <p:cNvSpPr txBox="1"/>
          <p:nvPr/>
        </p:nvSpPr>
        <p:spPr>
          <a:xfrm>
            <a:off x="2989625" y="6929566"/>
            <a:ext cx="701350"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11,4%</a:t>
            </a:r>
          </a:p>
        </p:txBody>
      </p:sp>
      <p:sp>
        <p:nvSpPr>
          <p:cNvPr id="60" name="TextBox 59"/>
          <p:cNvSpPr txBox="1"/>
          <p:nvPr/>
        </p:nvSpPr>
        <p:spPr>
          <a:xfrm>
            <a:off x="3928601" y="6929566"/>
            <a:ext cx="121768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5,5%</a:t>
            </a:r>
          </a:p>
        </p:txBody>
      </p:sp>
      <p:sp>
        <p:nvSpPr>
          <p:cNvPr id="61" name="TextBox 60"/>
          <p:cNvSpPr txBox="1"/>
          <p:nvPr/>
        </p:nvSpPr>
        <p:spPr>
          <a:xfrm>
            <a:off x="5364056" y="692956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2" name="TextBox 61"/>
          <p:cNvSpPr txBox="1"/>
          <p:nvPr/>
        </p:nvSpPr>
        <p:spPr>
          <a:xfrm>
            <a:off x="529200" y="7088326"/>
            <a:ext cx="585503"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3,2%</a:t>
            </a:r>
          </a:p>
        </p:txBody>
      </p:sp>
      <p:sp>
        <p:nvSpPr>
          <p:cNvPr id="63" name="TextBox 62"/>
          <p:cNvSpPr txBox="1"/>
          <p:nvPr/>
        </p:nvSpPr>
        <p:spPr>
          <a:xfrm>
            <a:off x="1356783" y="7088326"/>
            <a:ext cx="827640"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Precatórios </a:t>
            </a:r>
            <a:r>
              <a:rPr sz="744" b="1" i="0">
                <a:solidFill>
                  <a:srgbClr val="111111"/>
                </a:solidFill>
                <a:latin typeface="Versos"/>
              </a:rPr>
              <a:t>2,7%</a:t>
            </a:r>
          </a:p>
        </p:txBody>
      </p:sp>
      <p:sp>
        <p:nvSpPr>
          <p:cNvPr id="64" name="TextBox 63"/>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5" name="TextBox 64"/>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6" name="TextBox 65"/>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7" name="TextBox 66"/>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8" name="TextBox 6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