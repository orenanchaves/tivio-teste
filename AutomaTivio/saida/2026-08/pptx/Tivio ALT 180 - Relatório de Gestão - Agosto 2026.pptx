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0.0159</c:v>
                </c:pt>
                <c:pt idx="2">
                  <c:v>0.030600000000000002</c:v>
                </c:pt>
                <c:pt idx="3">
                  <c:v>0.0446</c:v>
                </c:pt>
                <c:pt idx="4">
                  <c:v>0.063</c:v>
                </c:pt>
                <c:pt idx="5">
                  <c:v>0.0789</c:v>
                </c:pt>
                <c:pt idx="6">
                  <c:v>0.0916</c:v>
                </c:pt>
                <c:pt idx="7">
                  <c:v>0.1069</c:v>
                </c:pt>
                <c:pt idx="8">
                  <c:v>0.1208</c:v>
                </c:pt>
                <c:pt idx="9">
                  <c:v>0.1349</c:v>
                </c:pt>
                <c:pt idx="10">
                  <c:v>0.1501</c:v>
                </c:pt>
                <c:pt idx="11">
                  <c:v>0.16670000000000001</c:v>
                </c:pt>
                <c:pt idx="12">
                  <c:v>0.1819</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58.038.938/0001-80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180 se destaca por buscar créditos high yield com ênfase em garantias reais, avais e recebíveis. O fundo oferece uma alternativa de investimento de alto valor agregado, descorrelacionado das classes de ativos tradicionais.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1,30%</a:t>
                      </a:r>
                    </a:p>
                  </a:txBody>
                  <a:tcPr marL="43200" marR="43200" marT="0" marB="0">
                    <a:solidFill>
                      <a:srgbClr val="F4F7F9"/>
                    </a:solidFill>
                  </a:tcPr>
                </a:tc>
                <a:tc>
                  <a:txBody>
                    <a:bodyPr/>
                    <a:lstStyle/>
                    <a:p>
                      <a:pPr algn="r"/>
                      <a:r>
                        <a:rPr sz="850" b="0">
                          <a:solidFill>
                            <a:srgbClr val="1A1A1A"/>
                          </a:solidFill>
                          <a:latin typeface="Versos"/>
                        </a:rPr>
                        <a:t>11,19%</a:t>
                      </a:r>
                    </a:p>
                  </a:txBody>
                  <a:tcPr marL="43200" marR="43200" marT="0" marB="0">
                    <a:solidFill>
                      <a:srgbClr val="F4F7F9"/>
                    </a:solidFill>
                  </a:tcPr>
                </a:tc>
                <a:tc>
                  <a:txBody>
                    <a:bodyPr/>
                    <a:lstStyle/>
                    <a:p>
                      <a:pPr algn="r"/>
                      <a:r>
                        <a:rPr sz="850" b="0">
                          <a:solidFill>
                            <a:srgbClr val="1A1A1A"/>
                          </a:solidFill>
                          <a:latin typeface="Versos"/>
                        </a:rPr>
                        <a:t>18,11%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33,14%</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25,43%</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118,88%</a:t>
                      </a:r>
                    </a:p>
                  </a:txBody>
                  <a:tcPr marL="43200" marR="43200" marT="0" marB="0">
                    <a:solidFill>
                      <a:srgbClr val="F4F7F9"/>
                    </a:solidFill>
                  </a:tcPr>
                </a:tc>
                <a:tc>
                  <a:txBody>
                    <a:bodyPr/>
                    <a:lstStyle/>
                    <a:p>
                      <a:pPr algn="r"/>
                      <a:r>
                        <a:rPr sz="850" b="0">
                          <a:solidFill>
                            <a:srgbClr val="1A1A1A"/>
                          </a:solidFill>
                          <a:latin typeface="Versos"/>
                        </a:rPr>
                        <a:t>119,92%</a:t>
                      </a:r>
                    </a:p>
                  </a:txBody>
                  <a:tcPr marL="43200" marR="43200" marT="0" marB="0">
                    <a:solidFill>
                      <a:srgbClr val="F4F7F9"/>
                    </a:solidFill>
                  </a:tcPr>
                </a:tc>
                <a:tc>
                  <a:txBody>
                    <a:bodyPr/>
                    <a:lstStyle/>
                    <a:p>
                      <a:pPr algn="r"/>
                      <a:r>
                        <a:rPr sz="850" b="0">
                          <a:solidFill>
                            <a:srgbClr val="1A1A1A"/>
                          </a:solidFill>
                          <a:latin typeface="Versos"/>
                        </a:rPr>
                        <a:t>124,27%</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130,33%</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AFINITTY FIDC SR</a:t>
                      </a:r>
                    </a:p>
                  </a:txBody>
                  <a:tcPr marL="43200" marR="43200" marT="0" marB="0">
                    <a:solidFill>
                      <a:srgbClr val="FFFFFF"/>
                    </a:solidFill>
                  </a:tcPr>
                </a:tc>
                <a:tc>
                  <a:txBody>
                    <a:bodyPr/>
                    <a:lstStyle/>
                    <a:p>
                      <a:pPr algn="r"/>
                      <a:r>
                        <a:rPr sz="850" b="0">
                          <a:solidFill>
                            <a:srgbClr val="1A1A1A"/>
                          </a:solidFill>
                          <a:latin typeface="Versos"/>
                        </a:rPr>
                        <a:t>5,84%</a:t>
                      </a:r>
                    </a:p>
                  </a:txBody>
                  <a:tcPr marL="43200" marR="43200" marT="0" marB="0">
                    <a:solidFill>
                      <a:srgbClr val="FFFFFF"/>
                    </a:solidFill>
                  </a:tcPr>
                </a:tc>
              </a:tr>
              <a:tr h="187200">
                <a:tc>
                  <a:txBody>
                    <a:bodyPr/>
                    <a:lstStyle/>
                    <a:p>
                      <a:pPr algn="l"/>
                      <a:r>
                        <a:rPr sz="850" b="1">
                          <a:solidFill>
                            <a:srgbClr val="1A1A1A"/>
                          </a:solidFill>
                          <a:latin typeface="Versos"/>
                        </a:rPr>
                        <a:t>LRS GCB FIDC RL SEN</a:t>
                      </a:r>
                    </a:p>
                  </a:txBody>
                  <a:tcPr marL="43200" marR="43200" marT="0" marB="0">
                    <a:solidFill>
                      <a:srgbClr val="F4F7F9"/>
                    </a:solidFill>
                  </a:tcPr>
                </a:tc>
                <a:tc>
                  <a:txBody>
                    <a:bodyPr/>
                    <a:lstStyle/>
                    <a:p>
                      <a:pPr algn="r"/>
                      <a:r>
                        <a:rPr sz="850" b="0">
                          <a:solidFill>
                            <a:srgbClr val="1A1A1A"/>
                          </a:solidFill>
                          <a:latin typeface="Versos"/>
                        </a:rPr>
                        <a:t>5,69%</a:t>
                      </a:r>
                    </a:p>
                  </a:txBody>
                  <a:tcPr marL="43200" marR="43200" marT="0" marB="0">
                    <a:solidFill>
                      <a:srgbClr val="F4F7F9"/>
                    </a:solidFill>
                  </a:tcPr>
                </a:tc>
              </a:tr>
              <a:tr h="187200">
                <a:tc>
                  <a:txBody>
                    <a:bodyPr/>
                    <a:lstStyle/>
                    <a:p>
                      <a:pPr algn="l"/>
                      <a:r>
                        <a:rPr sz="850" b="1">
                          <a:solidFill>
                            <a:srgbClr val="1A1A1A"/>
                          </a:solidFill>
                          <a:latin typeface="Versos"/>
                        </a:rPr>
                        <a:t>BTO FIDC MZ</a:t>
                      </a:r>
                    </a:p>
                  </a:txBody>
                  <a:tcPr marL="43200" marR="43200" marT="0" marB="0">
                    <a:solidFill>
                      <a:srgbClr val="FFFFFF"/>
                    </a:solidFill>
                  </a:tcPr>
                </a:tc>
                <a:tc>
                  <a:txBody>
                    <a:bodyPr/>
                    <a:lstStyle/>
                    <a:p>
                      <a:pPr algn="r"/>
                      <a:r>
                        <a:rPr sz="850" b="0">
                          <a:solidFill>
                            <a:srgbClr val="1A1A1A"/>
                          </a:solidFill>
                          <a:latin typeface="Versos"/>
                        </a:rPr>
                        <a:t>5,56%</a:t>
                      </a:r>
                    </a:p>
                  </a:txBody>
                  <a:tcPr marL="43200" marR="43200" marT="0" marB="0">
                    <a:solidFill>
                      <a:srgbClr val="FFFFFF"/>
                    </a:solidFill>
                  </a:tcPr>
                </a:tc>
              </a:tr>
              <a:tr h="187200">
                <a:tc>
                  <a:txBody>
                    <a:bodyPr/>
                    <a:lstStyle/>
                    <a:p>
                      <a:pPr algn="l"/>
                      <a:r>
                        <a:rPr sz="850" b="1">
                          <a:solidFill>
                            <a:srgbClr val="1A1A1A"/>
                          </a:solidFill>
                          <a:latin typeface="Versos"/>
                        </a:rPr>
                        <a:t>STO ANTONIO</a:t>
                      </a:r>
                    </a:p>
                  </a:txBody>
                  <a:tcPr marL="43200" marR="43200" marT="0" marB="0">
                    <a:solidFill>
                      <a:srgbClr val="F4F7F9"/>
                    </a:solidFill>
                  </a:tcPr>
                </a:tc>
                <a:tc>
                  <a:txBody>
                    <a:bodyPr/>
                    <a:lstStyle/>
                    <a:p>
                      <a:pPr algn="r"/>
                      <a:r>
                        <a:rPr sz="850" b="0">
                          <a:solidFill>
                            <a:srgbClr val="1A1A1A"/>
                          </a:solidFill>
                          <a:latin typeface="Versos"/>
                        </a:rPr>
                        <a:t>5,46%</a:t>
                      </a:r>
                    </a:p>
                  </a:txBody>
                  <a:tcPr marL="43200" marR="43200" marT="0" marB="0">
                    <a:solidFill>
                      <a:srgbClr val="F4F7F9"/>
                    </a:solidFill>
                  </a:tcPr>
                </a:tc>
              </a:tr>
              <a:tr h="187200">
                <a:tc>
                  <a:txBody>
                    <a:bodyPr/>
                    <a:lstStyle/>
                    <a:p>
                      <a:pPr algn="l"/>
                      <a:r>
                        <a:rPr sz="850" b="1">
                          <a:solidFill>
                            <a:srgbClr val="1A1A1A"/>
                          </a:solidFill>
                          <a:latin typeface="Versos"/>
                        </a:rPr>
                        <a:t>BRZ CONSIG IX SR</a:t>
                      </a:r>
                    </a:p>
                  </a:txBody>
                  <a:tcPr marL="43200" marR="43200" marT="0" marB="0">
                    <a:solidFill>
                      <a:srgbClr val="FFFFFF"/>
                    </a:solidFill>
                  </a:tcPr>
                </a:tc>
                <a:tc>
                  <a:txBody>
                    <a:bodyPr/>
                    <a:lstStyle/>
                    <a:p>
                      <a:pPr algn="r"/>
                      <a:r>
                        <a:rPr sz="850" b="0">
                          <a:solidFill>
                            <a:srgbClr val="1A1A1A"/>
                          </a:solidFill>
                          <a:latin typeface="Versos"/>
                        </a:rPr>
                        <a:t>5,07%</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24336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28,1%</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15,7%</a:t>
                      </a:r>
                    </a:p>
                  </a:txBody>
                  <a:tcPr marL="43200" marR="43200" marT="0" marB="0">
                    <a:solidFill>
                      <a:srgbClr val="F4F7F9"/>
                    </a:solidFill>
                  </a:tcPr>
                </a:tc>
              </a:tr>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10,5%</a:t>
                      </a:r>
                    </a:p>
                  </a:txBody>
                  <a:tcPr marL="43200" marR="43200" marT="0" marB="0">
                    <a:solidFill>
                      <a:srgbClr val="FFFFFF"/>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4F7F9"/>
                    </a:solidFill>
                  </a:tcPr>
                </a:tc>
                <a:tc>
                  <a:txBody>
                    <a:bodyPr/>
                    <a:lstStyle/>
                    <a:p>
                      <a:pPr algn="r"/>
                      <a:r>
                        <a:rPr sz="850" b="0">
                          <a:solidFill>
                            <a:srgbClr val="1A1A1A"/>
                          </a:solidFill>
                          <a:latin typeface="Versos"/>
                        </a:rPr>
                        <a:t>10,4%</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6,4%</a:t>
                      </a:r>
                    </a:p>
                  </a:txBody>
                  <a:tcPr marL="43200" marR="43200" marT="0" marB="0">
                    <a:solidFill>
                      <a:srgbClr val="FFFFFF"/>
                    </a:solidFill>
                  </a:tcPr>
                </a:tc>
              </a:tr>
              <a:tr h="187200">
                <a:tc>
                  <a:txBody>
                    <a:bodyPr/>
                    <a:lstStyle/>
                    <a:p>
                      <a:pPr algn="l"/>
                      <a:r>
                        <a:rPr sz="850" b="1">
                          <a:solidFill>
                            <a:srgbClr val="1A1A1A"/>
                          </a:solidFill>
                          <a:latin typeface="Versos"/>
                        </a:rPr>
                        <a:t>Açúcar, Álcool e Cana</a:t>
                      </a:r>
                    </a:p>
                  </a:txBody>
                  <a:tcPr marL="43200" marR="43200" marT="0" marB="0">
                    <a:solidFill>
                      <a:srgbClr val="F4F7F9"/>
                    </a:solidFill>
                  </a:tcPr>
                </a:tc>
                <a:tc>
                  <a:txBody>
                    <a:bodyPr/>
                    <a:lstStyle/>
                    <a:p>
                      <a:pPr algn="r"/>
                      <a:r>
                        <a:rPr sz="850" b="0">
                          <a:solidFill>
                            <a:srgbClr val="1A1A1A"/>
                          </a:solidFill>
                          <a:latin typeface="Versos"/>
                        </a:rPr>
                        <a:t>5,5%</a:t>
                      </a:r>
                    </a:p>
                  </a:txBody>
                  <a:tcPr marL="43200" marR="43200" marT="0" marB="0">
                    <a:solidFill>
                      <a:srgbClr val="F4F7F9"/>
                    </a:solidFill>
                  </a:tcPr>
                </a:tc>
              </a:tr>
              <a:tr h="187200">
                <a:tc>
                  <a:txBody>
                    <a:bodyPr/>
                    <a:lstStyle/>
                    <a:p>
                      <a:pPr algn="l"/>
                      <a:r>
                        <a:rPr sz="850" b="1">
                          <a:solidFill>
                            <a:srgbClr val="1A1A1A"/>
                          </a:solidFill>
                          <a:latin typeface="Versos"/>
                        </a:rPr>
                        <a:t>Agropecuária</a:t>
                      </a:r>
                    </a:p>
                  </a:txBody>
                  <a:tcPr marL="43200" marR="43200" marT="0" marB="0">
                    <a:solidFill>
                      <a:srgbClr val="FFFFFF"/>
                    </a:solidFill>
                  </a:tcPr>
                </a:tc>
                <a:tc>
                  <a:txBody>
                    <a:bodyPr/>
                    <a:lstStyle/>
                    <a:p>
                      <a:pPr algn="r"/>
                      <a:r>
                        <a:rPr sz="850" b="0">
                          <a:solidFill>
                            <a:srgbClr val="1A1A1A"/>
                          </a:solidFill>
                          <a:latin typeface="Versos"/>
                        </a:rPr>
                        <a:t>3,4%</a:t>
                      </a:r>
                    </a:p>
                  </a:txBody>
                  <a:tcPr marL="43200" marR="43200" marT="0" marB="0">
                    <a:solidFill>
                      <a:srgbClr val="FFFFFF"/>
                    </a:solidFill>
                  </a:tcPr>
                </a:tc>
              </a:tr>
              <a:tr h="187200">
                <a:tc>
                  <a:txBody>
                    <a:bodyPr/>
                    <a:lstStyle/>
                    <a:p>
                      <a:pPr algn="l"/>
                      <a:r>
                        <a:rPr sz="850" b="1">
                          <a:solidFill>
                            <a:srgbClr val="1A1A1A"/>
                          </a:solidFill>
                          <a:latin typeface="Versos"/>
                        </a:rPr>
                        <a:t>TI e Telecomunicações</a:t>
                      </a:r>
                    </a:p>
                  </a:txBody>
                  <a:tcPr marL="43200" marR="43200" marT="0" marB="0">
                    <a:solidFill>
                      <a:srgbClr val="F4F7F9"/>
                    </a:solidFill>
                  </a:tcPr>
                </a:tc>
                <a:tc>
                  <a:txBody>
                    <a:bodyPr/>
                    <a:lstStyle/>
                    <a:p>
                      <a:pPr algn="r"/>
                      <a:r>
                        <a:rPr sz="850" b="0">
                          <a:solidFill>
                            <a:srgbClr val="1A1A1A"/>
                          </a:solidFill>
                          <a:latin typeface="Versos"/>
                        </a:rPr>
                        <a:t>3,4%</a:t>
                      </a:r>
                    </a:p>
                  </a:txBody>
                  <a:tcPr marL="43200" marR="43200" marT="0" marB="0">
                    <a:solidFill>
                      <a:srgbClr val="F4F7F9"/>
                    </a:solidFill>
                  </a:tcPr>
                </a:tc>
              </a:tr>
              <a:tr h="187200">
                <a:tc>
                  <a:txBody>
                    <a:bodyPr/>
                    <a:lstStyle/>
                    <a:p>
                      <a:pPr algn="l"/>
                      <a:r>
                        <a:rPr sz="850" b="1">
                          <a:solidFill>
                            <a:srgbClr val="1A1A1A"/>
                          </a:solidFill>
                          <a:latin typeface="Versos"/>
                        </a:rPr>
                        <a:t>Serviços Imobiliários</a:t>
                      </a:r>
                    </a:p>
                  </a:txBody>
                  <a:tcPr marL="43200" marR="43200" marT="0" marB="0">
                    <a:solidFill>
                      <a:srgbClr val="FFFFFF"/>
                    </a:solidFill>
                  </a:tcPr>
                </a:tc>
                <a:tc>
                  <a:txBody>
                    <a:bodyPr/>
                    <a:lstStyle/>
                    <a:p>
                      <a:pPr algn="r"/>
                      <a:r>
                        <a:rPr sz="850" b="0">
                          <a:solidFill>
                            <a:srgbClr val="1A1A1A"/>
                          </a:solidFill>
                          <a:latin typeface="Versos"/>
                        </a:rPr>
                        <a:t>3,3%</a:t>
                      </a:r>
                    </a:p>
                  </a:txBody>
                  <a:tcPr marL="43200" marR="43200" marT="0" marB="0">
                    <a:solidFill>
                      <a:srgbClr val="FFFFFF"/>
                    </a:solidFill>
                  </a:tcPr>
                </a:tc>
              </a:tr>
              <a:tr h="187200">
                <a:tc>
                  <a:txBody>
                    <a:bodyPr/>
                    <a:lstStyle/>
                    <a:p>
                      <a:pPr algn="l"/>
                      <a:r>
                        <a:rPr sz="850" b="1">
                          <a:solidFill>
                            <a:srgbClr val="1A1A1A"/>
                          </a:solidFill>
                          <a:latin typeface="Versos"/>
                        </a:rPr>
                        <a:t>Educação</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r h="187200">
                <a:tc>
                  <a:txBody>
                    <a:bodyPr/>
                    <a:lstStyle/>
                    <a:p>
                      <a:pPr algn="l"/>
                      <a:r>
                        <a:rPr sz="850" b="1">
                          <a:solidFill>
                            <a:srgbClr val="1A1A1A"/>
                          </a:solidFill>
                          <a:latin typeface="Versos"/>
                        </a:rPr>
                        <a:t>Transporte e Logística</a:t>
                      </a:r>
                    </a:p>
                  </a:txBody>
                  <a:tcPr marL="43200" marR="43200" marT="0" marB="0">
                    <a:solidFill>
                      <a:srgbClr val="FFFFFF"/>
                    </a:solidFill>
                  </a:tcPr>
                </a:tc>
                <a:tc>
                  <a:txBody>
                    <a:bodyPr/>
                    <a:lstStyle/>
                    <a:p>
                      <a:pPr algn="r"/>
                      <a:r>
                        <a:rPr sz="850" b="0">
                          <a:solidFill>
                            <a:srgbClr val="1A1A1A"/>
                          </a:solidFill>
                          <a:latin typeface="Versos"/>
                        </a:rPr>
                        <a:t>2,4%</a:t>
                      </a:r>
                    </a:p>
                  </a:txBody>
                  <a:tcPr marL="43200" marR="43200" marT="0" marB="0">
                    <a:solidFill>
                      <a:srgbClr val="FFFFFF"/>
                    </a:solidFill>
                  </a:tcPr>
                </a:tc>
              </a:tr>
              <a:tr h="187200">
                <a:tc>
                  <a:txBody>
                    <a:bodyPr/>
                    <a:lstStyle/>
                    <a:p>
                      <a:pPr algn="l"/>
                      <a:r>
                        <a:rPr sz="850" b="1">
                          <a:solidFill>
                            <a:srgbClr val="1A1A1A"/>
                          </a:solidFill>
                          <a:latin typeface="Versos"/>
                        </a:rPr>
                        <a:t>Precatórios</a:t>
                      </a:r>
                    </a:p>
                  </a:txBody>
                  <a:tcPr marL="43200" marR="43200" marT="0" marB="0">
                    <a:solidFill>
                      <a:srgbClr val="F4F7F9"/>
                    </a:solidFill>
                  </a:tcPr>
                </a:tc>
                <a:tc>
                  <a:txBody>
                    <a:bodyPr/>
                    <a:lstStyle/>
                    <a:p>
                      <a:pPr algn="r"/>
                      <a:r>
                        <a:rPr sz="850" b="0">
                          <a:solidFill>
                            <a:srgbClr val="1A1A1A"/>
                          </a:solidFill>
                          <a:latin typeface="Versos"/>
                        </a:rPr>
                        <a:t>2,0%</a:t>
                      </a:r>
                    </a:p>
                  </a:txBody>
                  <a:tcPr marL="43200" marR="43200" marT="0" marB="0">
                    <a:solidFill>
                      <a:srgbClr val="F4F7F9"/>
                    </a:solidFill>
                  </a:tcPr>
                </a:tc>
              </a:tr>
              <a:tr h="187200">
                <a:tc>
                  <a:txBody>
                    <a:bodyPr/>
                    <a:lstStyle/>
                    <a:p>
                      <a:pPr algn="l"/>
                      <a:r>
                        <a:rPr sz="850" b="1">
                          <a:solidFill>
                            <a:srgbClr val="1A1A1A"/>
                          </a:solidFill>
                          <a:latin typeface="Versos"/>
                        </a:rPr>
                        <a:t>Caixa</a:t>
                      </a:r>
                    </a:p>
                  </a:txBody>
                  <a:tcPr marL="43200" marR="43200" marT="0" marB="0">
                    <a:solidFill>
                      <a:srgbClr val="FFFFFF"/>
                    </a:solidFill>
                  </a:tcPr>
                </a:tc>
                <a:tc>
                  <a:txBody>
                    <a:bodyPr/>
                    <a:lstStyle/>
                    <a:p>
                      <a:pPr algn="r"/>
                      <a:r>
                        <a:rPr sz="850" b="0">
                          <a:solidFill>
                            <a:srgbClr val="1A1A1A"/>
                          </a:solidFill>
                          <a:latin typeface="Versos"/>
                        </a:rPr>
                        <a:t>5,3%</a:t>
                      </a:r>
                    </a:p>
                  </a:txBody>
                  <a:tcPr marL="43200" marR="43200" marT="0" marB="0">
                    <a:solidFill>
                      <a:srgbClr val="FFFFFF"/>
                    </a:solidFill>
                  </a:tcPr>
                </a:tc>
              </a:tr>
            </a:tbl>
          </a:graphicData>
        </a:graphic>
      </p:graphicFrame>
      <p:sp>
        <p:nvSpPr>
          <p:cNvPr id="16" name="TextBox 15"/>
          <p:cNvSpPr txBox="1"/>
          <p:nvPr/>
        </p:nvSpPr>
        <p:spPr>
          <a:xfrm>
            <a:off x="540000" y="73836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75816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c>
                  <a:txBody>
                    <a:bodyPr/>
                    <a:lstStyle/>
                    <a:p>
                      <a:pPr algn="r"/>
                      <a:r>
                        <a:rPr sz="850" b="1">
                          <a:solidFill>
                            <a:srgbClr val="FFFFFF"/>
                          </a:solidFill>
                          <a:latin typeface="Versos"/>
                        </a:rPr>
                        <a:t>BBB</a:t>
                      </a:r>
                    </a:p>
                  </a:txBody>
                  <a:tcPr marL="43200" marR="43200" marT="0" marB="0">
                    <a:solidFill>
                      <a:srgbClr val="3C4A60"/>
                    </a:solidFill>
                  </a:tcPr>
                </a:tc>
              </a:tr>
              <a:tr h="187200">
                <a:tc>
                  <a:txBody>
                    <a:bodyPr/>
                    <a:lstStyle/>
                    <a:p>
                      <a:pPr algn="l"/>
                      <a:r>
                        <a:rPr sz="850" b="0">
                          <a:solidFill>
                            <a:srgbClr val="1A1A1A"/>
                          </a:solidFill>
                          <a:latin typeface="Versos"/>
                        </a:rPr>
                        <a:t>1,4%</a:t>
                      </a:r>
                    </a:p>
                  </a:txBody>
                  <a:tcPr marL="43200" marR="43200" marT="0" marB="0">
                    <a:solidFill>
                      <a:srgbClr val="F4F7F9"/>
                    </a:solidFill>
                  </a:tcPr>
                </a:tc>
                <a:tc>
                  <a:txBody>
                    <a:bodyPr/>
                    <a:lstStyle/>
                    <a:p>
                      <a:pPr algn="r"/>
                      <a:r>
                        <a:rPr sz="850" b="0">
                          <a:solidFill>
                            <a:srgbClr val="1A1A1A"/>
                          </a:solidFill>
                          <a:latin typeface="Versos"/>
                        </a:rPr>
                        <a:t>9,3%</a:t>
                      </a:r>
                    </a:p>
                  </a:txBody>
                  <a:tcPr marL="43200" marR="43200" marT="0" marB="0">
                    <a:solidFill>
                      <a:srgbClr val="F4F7F9"/>
                    </a:solidFill>
                  </a:tcPr>
                </a:tc>
                <a:tc>
                  <a:txBody>
                    <a:bodyPr/>
                    <a:lstStyle/>
                    <a:p>
                      <a:pPr algn="r"/>
                      <a:r>
                        <a:rPr sz="850" b="0">
                          <a:solidFill>
                            <a:srgbClr val="1A1A1A"/>
                          </a:solidFill>
                          <a:latin typeface="Versos"/>
                        </a:rPr>
                        <a:t>16,6%</a:t>
                      </a:r>
                    </a:p>
                  </a:txBody>
                  <a:tcPr marL="43200" marR="43200" marT="0" marB="0">
                    <a:solidFill>
                      <a:srgbClr val="F4F7F9"/>
                    </a:solidFill>
                  </a:tcPr>
                </a:tc>
                <a:tc>
                  <a:txBody>
                    <a:bodyPr/>
                    <a:lstStyle/>
                    <a:p>
                      <a:pPr algn="r"/>
                      <a:r>
                        <a:rPr sz="850" b="0">
                          <a:solidFill>
                            <a:srgbClr val="1A1A1A"/>
                          </a:solidFill>
                          <a:latin typeface="Versos"/>
                        </a:rPr>
                        <a:t>2,9%</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c>
                  <a:txBody>
                    <a:bodyPr/>
                    <a:lstStyle/>
                    <a:p>
                      <a:pPr algn="r"/>
                      <a:r>
                        <a:rPr sz="850" b="0">
                          <a:solidFill>
                            <a:srgbClr val="1A1A1A"/>
                          </a:solidFill>
                          <a:latin typeface="Versos"/>
                        </a:rPr>
                        <a:t>2,3%</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180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180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qualificados, Family Offices e Multi Family</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18/12/2024</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R$ 151.939.343,55</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R$ 94.506.904,26</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1,15%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20% do que exceder do CDI</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+4,94%</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2,09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D+1</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D+180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