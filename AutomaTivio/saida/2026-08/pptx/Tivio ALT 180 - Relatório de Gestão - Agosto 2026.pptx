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CRÉDITO HIGH YIELD 180 FIDC – RL </a:t>
            </a:r>
            <a:r>
              <a:rPr sz="833" b="0" i="0">
                <a:solidFill>
                  <a:srgbClr val="FFFFFF"/>
                </a:solidFill>
                <a:latin typeface="Versos"/>
              </a:rPr>
              <a:t>/ CNPJ 58.038.938/0001-80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553297"/>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180</a:t>
            </a:r>
            <a:r>
              <a:rPr sz="1220" b="0" i="0">
                <a:solidFill>
                  <a:srgbClr val="FFFFFF"/>
                </a:solidFill>
                <a:latin typeface="Versos"/>
              </a:rPr>
              <a:t> se destaca por buscar créditos </a:t>
            </a:r>
            <a:r>
              <a:rPr sz="1220" b="0" i="1">
                <a:solidFill>
                  <a:srgbClr val="FFFFFF"/>
                </a:solidFill>
                <a:latin typeface="Versos"/>
              </a:rPr>
              <a:t>high yield</a:t>
            </a:r>
            <a:r>
              <a:rPr sz="1220" b="0" i="0">
                <a:solidFill>
                  <a:srgbClr val="FFFFFF"/>
                </a:solidFill>
                <a:latin typeface="Versos"/>
              </a:rPr>
              <a:t> com ênfase em garantias reais, avais e recebíveis. O fundo oferece uma alternativa de investimento de alto valor agregado, descorrelacionado das classes de ativos tradicionais.</a:t>
            </a:r>
          </a:p>
        </p:txBody>
      </p:sp>
      <p:sp>
        <p:nvSpPr>
          <p:cNvPr id="7" name="TextBox 6"/>
          <p:cNvSpPr txBox="1"/>
          <p:nvPr/>
        </p:nvSpPr>
        <p:spPr>
          <a:xfrm>
            <a:off x="11566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20756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1,30%</a:t>
            </a:r>
          </a:p>
        </p:txBody>
      </p:sp>
      <p:sp>
        <p:nvSpPr>
          <p:cNvPr id="15" name="TextBox 14"/>
          <p:cNvSpPr txBox="1"/>
          <p:nvPr/>
        </p:nvSpPr>
        <p:spPr>
          <a:xfrm>
            <a:off x="216216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11,19%</a:t>
            </a:r>
          </a:p>
        </p:txBody>
      </p:sp>
      <p:sp>
        <p:nvSpPr>
          <p:cNvPr id="16" name="TextBox 15"/>
          <p:cNvSpPr txBox="1"/>
          <p:nvPr/>
        </p:nvSpPr>
        <p:spPr>
          <a:xfrm>
            <a:off x="316764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18,11%</a:t>
            </a:r>
          </a:p>
        </p:txBody>
      </p:sp>
      <p:sp>
        <p:nvSpPr>
          <p:cNvPr id="17" name="TextBox 16"/>
          <p:cNvSpPr txBox="1"/>
          <p:nvPr/>
        </p:nvSpPr>
        <p:spPr>
          <a:xfrm>
            <a:off x="417312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33,14%</a:t>
            </a:r>
          </a:p>
        </p:txBody>
      </p:sp>
      <p:sp>
        <p:nvSpPr>
          <p:cNvPr id="20" name="TextBox 19"/>
          <p:cNvSpPr txBox="1"/>
          <p:nvPr/>
        </p:nvSpPr>
        <p:spPr>
          <a:xfrm>
            <a:off x="370440" y="359312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14,57%</a:t>
            </a:r>
          </a:p>
        </p:txBody>
      </p:sp>
      <p:sp>
        <p:nvSpPr>
          <p:cNvPr id="24" name="TextBox 23"/>
          <p:cNvSpPr txBox="1"/>
          <p:nvPr/>
        </p:nvSpPr>
        <p:spPr>
          <a:xfrm>
            <a:off x="417312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25,43%</a:t>
            </a:r>
          </a:p>
        </p:txBody>
      </p:sp>
      <p:sp>
        <p:nvSpPr>
          <p:cNvPr id="27" name="TextBox 26"/>
          <p:cNvSpPr txBox="1"/>
          <p:nvPr/>
        </p:nvSpPr>
        <p:spPr>
          <a:xfrm>
            <a:off x="370440" y="397868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118,88%</a:t>
            </a:r>
          </a:p>
        </p:txBody>
      </p:sp>
      <p:sp>
        <p:nvSpPr>
          <p:cNvPr id="29" name="TextBox 28"/>
          <p:cNvSpPr txBox="1"/>
          <p:nvPr/>
        </p:nvSpPr>
        <p:spPr>
          <a:xfrm>
            <a:off x="216216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119,92%</a:t>
            </a:r>
          </a:p>
        </p:txBody>
      </p:sp>
      <p:sp>
        <p:nvSpPr>
          <p:cNvPr id="30" name="TextBox 29"/>
          <p:cNvSpPr txBox="1"/>
          <p:nvPr/>
        </p:nvSpPr>
        <p:spPr>
          <a:xfrm>
            <a:off x="316764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124,27%</a:t>
            </a:r>
          </a:p>
        </p:txBody>
      </p:sp>
      <p:sp>
        <p:nvSpPr>
          <p:cNvPr id="31" name="TextBox 30"/>
          <p:cNvSpPr txBox="1"/>
          <p:nvPr/>
        </p:nvSpPr>
        <p:spPr>
          <a:xfrm>
            <a:off x="417312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130,33%</a:t>
            </a:r>
          </a:p>
        </p:txBody>
      </p:sp>
      <p:sp>
        <p:nvSpPr>
          <p:cNvPr id="34" name="TextBox 33"/>
          <p:cNvSpPr txBox="1"/>
          <p:nvPr/>
        </p:nvSpPr>
        <p:spPr>
          <a:xfrm>
            <a:off x="370440" y="436424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2,48%</a:t>
            </a:r>
          </a:p>
        </p:txBody>
      </p:sp>
      <p:sp>
        <p:nvSpPr>
          <p:cNvPr id="36" name="TextBox 35"/>
          <p:cNvSpPr txBox="1"/>
          <p:nvPr/>
        </p:nvSpPr>
        <p:spPr>
          <a:xfrm>
            <a:off x="216216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2,59%</a:t>
            </a:r>
          </a:p>
        </p:txBody>
      </p:sp>
      <p:sp>
        <p:nvSpPr>
          <p:cNvPr id="37" name="TextBox 36"/>
          <p:cNvSpPr txBox="1"/>
          <p:nvPr/>
        </p:nvSpPr>
        <p:spPr>
          <a:xfrm>
            <a:off x="316764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3,10%</a:t>
            </a:r>
          </a:p>
        </p:txBody>
      </p:sp>
      <p:sp>
        <p:nvSpPr>
          <p:cNvPr id="38" name="TextBox 37"/>
          <p:cNvSpPr txBox="1"/>
          <p:nvPr/>
        </p:nvSpPr>
        <p:spPr>
          <a:xfrm>
            <a:off x="417312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3,60%</a:t>
            </a:r>
          </a:p>
        </p:txBody>
      </p:sp>
      <p:sp>
        <p:nvSpPr>
          <p:cNvPr id="41" name="TextBox 40"/>
          <p:cNvSpPr txBox="1"/>
          <p:nvPr/>
        </p:nvSpPr>
        <p:spPr>
          <a:xfrm>
            <a:off x="385560" y="4708226"/>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214746"/>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275863"/>
            <a:ext cx="2986790"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Cotas Sênior</a:t>
            </a:r>
          </a:p>
        </p:txBody>
      </p:sp>
      <p:sp>
        <p:nvSpPr>
          <p:cNvPr id="44" name="TextBox 43"/>
          <p:cNvSpPr txBox="1"/>
          <p:nvPr/>
        </p:nvSpPr>
        <p:spPr>
          <a:xfrm>
            <a:off x="498960" y="6573538"/>
            <a:ext cx="3106262" cy="189000"/>
          </a:xfrm>
          <a:prstGeom prst="rect">
            <a:avLst/>
          </a:prstGeom>
          <a:noFill/>
        </p:spPr>
        <p:txBody>
          <a:bodyPr wrap="none" lIns="0" rIns="0" tIns="0" bIns="0" anchor="t"/>
          <a:lstStyle/>
          <a:p>
            <a:pPr algn="l">
              <a:lnSpc>
                <a:spcPts val="1375"/>
              </a:lnSpc>
            </a:pPr>
            <a:r>
              <a:rPr sz="1250" b="1" i="0">
                <a:solidFill>
                  <a:srgbClr val="FFFFFF"/>
                </a:solidFill>
                <a:latin typeface="Versos"/>
              </a:rPr>
              <a:t>46,9%</a:t>
            </a:r>
          </a:p>
        </p:txBody>
      </p:sp>
      <p:sp>
        <p:nvSpPr>
          <p:cNvPr id="45" name="TextBox 44"/>
          <p:cNvSpPr txBox="1"/>
          <p:nvPr/>
        </p:nvSpPr>
        <p:spPr>
          <a:xfrm>
            <a:off x="3682310" y="6275863"/>
            <a:ext cx="1639929" cy="292477"/>
          </a:xfrm>
          <a:prstGeom prst="rect">
            <a:avLst/>
          </a:prstGeom>
          <a:noFill/>
        </p:spPr>
        <p:txBody>
          <a:bodyPr wrap="square" lIns="0" rIns="0" tIns="0" bIns="0" anchor="t"/>
          <a:lstStyle/>
          <a:p>
            <a:pPr algn="l">
              <a:lnSpc>
                <a:spcPts val="1113"/>
              </a:lnSpc>
            </a:pPr>
            <a:r>
              <a:rPr sz="1012" b="0" i="0">
                <a:solidFill>
                  <a:srgbClr val="2B3744"/>
                </a:solidFill>
                <a:latin typeface="Versos"/>
              </a:rPr>
              <a:t>FIDCs</a:t>
            </a:r>
          </a:p>
          <a:p>
            <a:pPr algn="l">
              <a:lnSpc>
                <a:spcPts val="1113"/>
              </a:lnSpc>
            </a:pPr>
            <a:r>
              <a:rPr sz="1012" b="1" i="0">
                <a:solidFill>
                  <a:srgbClr val="2B3744"/>
                </a:solidFill>
                <a:latin typeface="Versos"/>
              </a:rPr>
              <a:t>Cotas Mezanino</a:t>
            </a:r>
          </a:p>
        </p:txBody>
      </p:sp>
      <p:sp>
        <p:nvSpPr>
          <p:cNvPr id="46" name="TextBox 45"/>
          <p:cNvSpPr txBox="1"/>
          <p:nvPr/>
        </p:nvSpPr>
        <p:spPr>
          <a:xfrm>
            <a:off x="3682310" y="6573538"/>
            <a:ext cx="1705526" cy="189000"/>
          </a:xfrm>
          <a:prstGeom prst="rect">
            <a:avLst/>
          </a:prstGeom>
          <a:noFill/>
        </p:spPr>
        <p:txBody>
          <a:bodyPr wrap="none" lIns="0" rIns="0" tIns="0" bIns="0" anchor="t"/>
          <a:lstStyle/>
          <a:p>
            <a:pPr algn="l">
              <a:lnSpc>
                <a:spcPts val="1375"/>
              </a:lnSpc>
            </a:pPr>
            <a:r>
              <a:rPr sz="1250" b="1" i="0">
                <a:solidFill>
                  <a:srgbClr val="2B3744"/>
                </a:solidFill>
                <a:latin typeface="Versos"/>
              </a:rPr>
              <a:t>27,0%</a:t>
            </a:r>
          </a:p>
        </p:txBody>
      </p:sp>
      <p:sp>
        <p:nvSpPr>
          <p:cNvPr id="47" name="TextBox 46"/>
          <p:cNvSpPr txBox="1"/>
          <p:nvPr/>
        </p:nvSpPr>
        <p:spPr>
          <a:xfrm>
            <a:off x="5483244" y="5852503"/>
            <a:ext cx="685380" cy="136080"/>
          </a:xfrm>
          <a:prstGeom prst="rect">
            <a:avLst/>
          </a:prstGeom>
          <a:noFill/>
        </p:spPr>
        <p:txBody>
          <a:bodyPr wrap="none" lIns="0" rIns="0" tIns="0" bIns="0" anchor="t"/>
          <a:lstStyle/>
          <a:p>
            <a:pPr algn="l">
              <a:lnSpc>
                <a:spcPts val="949"/>
              </a:lnSpc>
            </a:pPr>
            <a:r>
              <a:rPr sz="863" b="0" i="0">
                <a:solidFill>
                  <a:srgbClr val="FFFFFF"/>
                </a:solidFill>
                <a:latin typeface="Versos"/>
              </a:rPr>
              <a:t>Bancário</a:t>
            </a:r>
          </a:p>
        </p:txBody>
      </p:sp>
      <p:sp>
        <p:nvSpPr>
          <p:cNvPr id="48" name="TextBox 47"/>
          <p:cNvSpPr txBox="1"/>
          <p:nvPr/>
        </p:nvSpPr>
        <p:spPr>
          <a:xfrm>
            <a:off x="5483244" y="5995670"/>
            <a:ext cx="685380" cy="189000"/>
          </a:xfrm>
          <a:prstGeom prst="rect">
            <a:avLst/>
          </a:prstGeom>
          <a:noFill/>
        </p:spPr>
        <p:txBody>
          <a:bodyPr wrap="none" lIns="0" rIns="0" tIns="0" bIns="0" anchor="t"/>
          <a:lstStyle/>
          <a:p>
            <a:pPr algn="l">
              <a:lnSpc>
                <a:spcPts val="1375"/>
              </a:lnSpc>
            </a:pPr>
            <a:r>
              <a:rPr sz="1250" b="1" i="0">
                <a:solidFill>
                  <a:srgbClr val="FFFFFF"/>
                </a:solidFill>
                <a:latin typeface="Versos"/>
              </a:rPr>
              <a:t>6,1%</a:t>
            </a:r>
          </a:p>
        </p:txBody>
      </p:sp>
      <p:sp>
        <p:nvSpPr>
          <p:cNvPr id="49" name="TextBox 48"/>
          <p:cNvSpPr txBox="1"/>
          <p:nvPr/>
        </p:nvSpPr>
        <p:spPr>
          <a:xfrm>
            <a:off x="5483244" y="6465808"/>
            <a:ext cx="685380" cy="136080"/>
          </a:xfrm>
          <a:prstGeom prst="rect">
            <a:avLst/>
          </a:prstGeom>
          <a:noFill/>
        </p:spPr>
        <p:txBody>
          <a:bodyPr wrap="none" lIns="0" rIns="0" tIns="0" bIns="0" anchor="t"/>
          <a:lstStyle/>
          <a:p>
            <a:pPr algn="l">
              <a:lnSpc>
                <a:spcPts val="949"/>
              </a:lnSpc>
            </a:pPr>
            <a:r>
              <a:rPr sz="863" b="0" i="0">
                <a:solidFill>
                  <a:srgbClr val="2B3744"/>
                </a:solidFill>
                <a:latin typeface="Versos"/>
              </a:rPr>
              <a:t>Fiagro</a:t>
            </a:r>
          </a:p>
        </p:txBody>
      </p:sp>
      <p:sp>
        <p:nvSpPr>
          <p:cNvPr id="50" name="TextBox 49"/>
          <p:cNvSpPr txBox="1"/>
          <p:nvPr/>
        </p:nvSpPr>
        <p:spPr>
          <a:xfrm>
            <a:off x="5483244" y="6608975"/>
            <a:ext cx="685380" cy="189000"/>
          </a:xfrm>
          <a:prstGeom prst="rect">
            <a:avLst/>
          </a:prstGeom>
          <a:noFill/>
        </p:spPr>
        <p:txBody>
          <a:bodyPr wrap="none" lIns="0" rIns="0" tIns="0" bIns="0" anchor="t"/>
          <a:lstStyle/>
          <a:p>
            <a:pPr algn="l">
              <a:lnSpc>
                <a:spcPts val="1375"/>
              </a:lnSpc>
            </a:pPr>
            <a:r>
              <a:rPr sz="1250" b="1" i="0">
                <a:solidFill>
                  <a:srgbClr val="2B3744"/>
                </a:solidFill>
                <a:latin typeface="Versos"/>
              </a:rPr>
              <a:t>5,5%</a:t>
            </a:r>
          </a:p>
        </p:txBody>
      </p:sp>
      <p:sp>
        <p:nvSpPr>
          <p:cNvPr id="51" name="TextBox 50"/>
          <p:cNvSpPr txBox="1"/>
          <p:nvPr/>
        </p:nvSpPr>
        <p:spPr>
          <a:xfrm>
            <a:off x="6281296" y="5784581"/>
            <a:ext cx="833660" cy="189000"/>
          </a:xfrm>
          <a:prstGeom prst="rect">
            <a:avLst/>
          </a:prstGeom>
          <a:noFill/>
        </p:spPr>
        <p:txBody>
          <a:bodyPr wrap="none" lIns="0" rIns="0" tIns="0" bIns="0" anchor="t"/>
          <a:lstStyle/>
          <a:p>
            <a:pPr algn="l">
              <a:lnSpc>
                <a:spcPts val="1375"/>
              </a:lnSpc>
            </a:pPr>
            <a:r>
              <a:rPr sz="1250" b="1" i="0">
                <a:solidFill>
                  <a:srgbClr val="2B3744"/>
                </a:solidFill>
                <a:latin typeface="Versos"/>
              </a:rPr>
              <a:t>5,3%</a:t>
            </a:r>
          </a:p>
        </p:txBody>
      </p:sp>
      <p:sp>
        <p:nvSpPr>
          <p:cNvPr id="52" name="TextBox 51"/>
          <p:cNvSpPr txBox="1"/>
          <p:nvPr/>
        </p:nvSpPr>
        <p:spPr>
          <a:xfrm>
            <a:off x="6258616" y="6267830"/>
            <a:ext cx="584643" cy="173880"/>
          </a:xfrm>
          <a:prstGeom prst="rect">
            <a:avLst/>
          </a:prstGeom>
          <a:noFill/>
        </p:spPr>
        <p:txBody>
          <a:bodyPr wrap="none" lIns="0" rIns="0" tIns="0" bIns="0" anchor="t"/>
          <a:lstStyle/>
          <a:p>
            <a:pPr algn="l">
              <a:lnSpc>
                <a:spcPts val="1244"/>
              </a:lnSpc>
            </a:pPr>
            <a:r>
              <a:rPr sz="1131" b="1" i="0">
                <a:solidFill>
                  <a:srgbClr val="2B3744"/>
                </a:solidFill>
                <a:latin typeface="Versos"/>
              </a:rPr>
              <a:t>3,4%</a:t>
            </a:r>
          </a:p>
        </p:txBody>
      </p:sp>
      <p:sp>
        <p:nvSpPr>
          <p:cNvPr id="53" name="TextBox 52"/>
          <p:cNvSpPr txBox="1"/>
          <p:nvPr/>
        </p:nvSpPr>
        <p:spPr>
          <a:xfrm>
            <a:off x="6258616" y="6654690"/>
            <a:ext cx="584643" cy="151200"/>
          </a:xfrm>
          <a:prstGeom prst="rect">
            <a:avLst/>
          </a:prstGeom>
          <a:noFill/>
        </p:spPr>
        <p:txBody>
          <a:bodyPr wrap="none" lIns="0" rIns="0" tIns="0" bIns="0" anchor="t"/>
          <a:lstStyle/>
          <a:p>
            <a:pPr algn="l">
              <a:lnSpc>
                <a:spcPts val="1087"/>
              </a:lnSpc>
            </a:pPr>
            <a:r>
              <a:rPr sz="988" b="1" i="0">
                <a:solidFill>
                  <a:srgbClr val="FFFFFF"/>
                </a:solidFill>
                <a:latin typeface="Versos"/>
              </a:rPr>
              <a:t>2,7%</a:t>
            </a:r>
          </a:p>
        </p:txBody>
      </p:sp>
      <p:sp>
        <p:nvSpPr>
          <p:cNvPr id="54" name="TextBox 53"/>
          <p:cNvSpPr txBox="1"/>
          <p:nvPr/>
        </p:nvSpPr>
        <p:spPr>
          <a:xfrm>
            <a:off x="6912320" y="6729581"/>
            <a:ext cx="217444" cy="83160"/>
          </a:xfrm>
          <a:prstGeom prst="rect">
            <a:avLst/>
          </a:prstGeom>
          <a:noFill/>
        </p:spPr>
        <p:txBody>
          <a:bodyPr wrap="none" lIns="0" rIns="0" tIns="0" bIns="0" anchor="t"/>
          <a:lstStyle/>
          <a:p>
            <a:pPr algn="l">
              <a:lnSpc>
                <a:spcPts val="622"/>
              </a:lnSpc>
            </a:pPr>
            <a:r>
              <a:rPr sz="565" b="1" i="0">
                <a:solidFill>
                  <a:srgbClr val="2B3744"/>
                </a:solidFill>
                <a:latin typeface="Versos"/>
              </a:rPr>
              <a:t>2,6%</a:t>
            </a:r>
          </a:p>
        </p:txBody>
      </p:sp>
      <p:sp>
        <p:nvSpPr>
          <p:cNvPr id="55" name="TextBox 54"/>
          <p:cNvSpPr txBox="1"/>
          <p:nvPr/>
        </p:nvSpPr>
        <p:spPr>
          <a:xfrm>
            <a:off x="529200" y="6929566"/>
            <a:ext cx="1286730"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Sênior </a:t>
            </a:r>
            <a:r>
              <a:rPr sz="744" b="1" i="0">
                <a:solidFill>
                  <a:srgbClr val="111111"/>
                </a:solidFill>
                <a:latin typeface="Versos"/>
              </a:rPr>
              <a:t>46,9%</a:t>
            </a:r>
          </a:p>
        </p:txBody>
      </p:sp>
      <p:sp>
        <p:nvSpPr>
          <p:cNvPr id="56" name="TextBox 55"/>
          <p:cNvSpPr txBox="1"/>
          <p:nvPr/>
        </p:nvSpPr>
        <p:spPr>
          <a:xfrm>
            <a:off x="2031041" y="6929566"/>
            <a:ext cx="1419408"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Mezanino </a:t>
            </a:r>
            <a:r>
              <a:rPr sz="744" b="1" i="0">
                <a:solidFill>
                  <a:srgbClr val="111111"/>
                </a:solidFill>
                <a:latin typeface="Versos"/>
              </a:rPr>
              <a:t>27,0%</a:t>
            </a:r>
          </a:p>
        </p:txBody>
      </p:sp>
      <p:sp>
        <p:nvSpPr>
          <p:cNvPr id="57" name="TextBox 56"/>
          <p:cNvSpPr txBox="1"/>
          <p:nvPr/>
        </p:nvSpPr>
        <p:spPr>
          <a:xfrm>
            <a:off x="3660457" y="6929566"/>
            <a:ext cx="681817"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6,1%</a:t>
            </a:r>
          </a:p>
        </p:txBody>
      </p:sp>
      <p:sp>
        <p:nvSpPr>
          <p:cNvPr id="58" name="TextBox 57"/>
          <p:cNvSpPr txBox="1"/>
          <p:nvPr/>
        </p:nvSpPr>
        <p:spPr>
          <a:xfrm>
            <a:off x="4580651" y="6929566"/>
            <a:ext cx="582800"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5,5%</a:t>
            </a:r>
          </a:p>
        </p:txBody>
      </p:sp>
      <p:sp>
        <p:nvSpPr>
          <p:cNvPr id="59" name="TextBox 58"/>
          <p:cNvSpPr txBox="1"/>
          <p:nvPr/>
        </p:nvSpPr>
        <p:spPr>
          <a:xfrm>
            <a:off x="5405636" y="6929566"/>
            <a:ext cx="688942"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5,3%</a:t>
            </a:r>
          </a:p>
        </p:txBody>
      </p:sp>
      <p:sp>
        <p:nvSpPr>
          <p:cNvPr id="60" name="TextBox 59"/>
          <p:cNvSpPr txBox="1"/>
          <p:nvPr/>
        </p:nvSpPr>
        <p:spPr>
          <a:xfrm>
            <a:off x="529200" y="7088326"/>
            <a:ext cx="1019532"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3,4%</a:t>
            </a:r>
          </a:p>
        </p:txBody>
      </p:sp>
      <p:sp>
        <p:nvSpPr>
          <p:cNvPr id="61" name="TextBox 60"/>
          <p:cNvSpPr txBox="1"/>
          <p:nvPr/>
        </p:nvSpPr>
        <p:spPr>
          <a:xfrm>
            <a:off x="1774119" y="7088326"/>
            <a:ext cx="776657" cy="113400"/>
          </a:xfrm>
          <a:prstGeom prst="rect">
            <a:avLst/>
          </a:prstGeom>
          <a:noFill/>
        </p:spPr>
        <p:txBody>
          <a:bodyPr wrap="none" lIns="0" rIns="0" tIns="0" bIns="0" anchor="t"/>
          <a:lstStyle/>
          <a:p>
            <a:pPr algn="l">
              <a:lnSpc>
                <a:spcPts val="892"/>
              </a:lnSpc>
            </a:pPr>
            <a:r>
              <a:rPr sz="744" b="0" i="0">
                <a:solidFill>
                  <a:srgbClr val="333333"/>
                </a:solidFill>
                <a:latin typeface="Versos"/>
              </a:rPr>
              <a:t>Precatório </a:t>
            </a:r>
            <a:r>
              <a:rPr sz="744" b="1" i="0">
                <a:solidFill>
                  <a:srgbClr val="111111"/>
                </a:solidFill>
                <a:latin typeface="Versos"/>
              </a:rPr>
              <a:t>2,7%</a:t>
            </a:r>
          </a:p>
        </p:txBody>
      </p:sp>
      <p:sp>
        <p:nvSpPr>
          <p:cNvPr id="62" name="TextBox 61"/>
          <p:cNvSpPr txBox="1"/>
          <p:nvPr/>
        </p:nvSpPr>
        <p:spPr>
          <a:xfrm>
            <a:off x="2785505" y="7088326"/>
            <a:ext cx="1220637"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Estruturado </a:t>
            </a:r>
            <a:r>
              <a:rPr sz="744" b="1" i="0">
                <a:solidFill>
                  <a:srgbClr val="111111"/>
                </a:solidFill>
                <a:latin typeface="Versos"/>
              </a:rPr>
              <a:t>2,6%</a:t>
            </a:r>
          </a:p>
        </p:txBody>
      </p:sp>
      <p:sp>
        <p:nvSpPr>
          <p:cNvPr id="63" name="TextBox 62"/>
          <p:cNvSpPr txBox="1"/>
          <p:nvPr/>
        </p:nvSpPr>
        <p:spPr>
          <a:xfrm>
            <a:off x="415800" y="7685566"/>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64" name="TextBox 63"/>
          <p:cNvSpPr txBox="1"/>
          <p:nvPr/>
        </p:nvSpPr>
        <p:spPr>
          <a:xfrm>
            <a:off x="415800" y="8184526"/>
            <a:ext cx="6728400" cy="254205"/>
          </a:xfrm>
          <a:prstGeom prst="rect">
            <a:avLst/>
          </a:prstGeom>
          <a:noFill/>
        </p:spPr>
        <p:txBody>
          <a:bodyPr wrap="square" lIns="0" rIns="0" tIns="0" bIns="0" anchor="t"/>
          <a:lstStyle/>
          <a:p>
            <a:pPr algn="just">
              <a:lnSpc>
                <a:spcPts val="990"/>
              </a:lnSpc>
            </a:pPr>
            <a:r>
              <a:rPr sz="839" b="0" i="0">
                <a:solidFill>
                  <a:srgbClr val="222222"/>
                </a:solidFill>
                <a:latin typeface="Versos"/>
              </a:rPr>
              <a:t>O Tivio ALT 180 registrou rentabilidade de 1,30% no mês, equivalente a 118,88% do CDI no período. Desde o início da estratégia, o fundo acumula retorno de 33,14%, frente a 25,43% do CDI, o que corresponde a um desempenho anualizado de 129% do CDI.</a:t>
            </a:r>
          </a:p>
        </p:txBody>
      </p:sp>
      <p:sp>
        <p:nvSpPr>
          <p:cNvPr id="65" name="TextBox 64"/>
          <p:cNvSpPr txBox="1"/>
          <p:nvPr/>
        </p:nvSpPr>
        <p:spPr>
          <a:xfrm>
            <a:off x="415800" y="8499802"/>
            <a:ext cx="6728400" cy="631260"/>
          </a:xfrm>
          <a:prstGeom prst="rect">
            <a:avLst/>
          </a:prstGeom>
          <a:noFill/>
        </p:spPr>
        <p:txBody>
          <a:bodyPr wrap="square" lIns="0" rIns="0" tIns="0" bIns="0" anchor="t"/>
          <a:lstStyle/>
          <a:p>
            <a:pPr algn="just">
              <a:lnSpc>
                <a:spcPts val="990"/>
              </a:lnSpc>
            </a:pPr>
            <a:r>
              <a:rPr sz="839"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6" name="TextBox 65"/>
          <p:cNvSpPr txBox="1"/>
          <p:nvPr/>
        </p:nvSpPr>
        <p:spPr>
          <a:xfrm>
            <a:off x="415800" y="9192133"/>
            <a:ext cx="6728400" cy="631260"/>
          </a:xfrm>
          <a:prstGeom prst="rect">
            <a:avLst/>
          </a:prstGeom>
          <a:noFill/>
        </p:spPr>
        <p:txBody>
          <a:bodyPr wrap="square" lIns="0" rIns="0" tIns="0" bIns="0" anchor="t"/>
          <a:lstStyle/>
          <a:p>
            <a:pPr algn="just">
              <a:lnSpc>
                <a:spcPts val="990"/>
              </a:lnSpc>
            </a:pPr>
            <a:r>
              <a:rPr sz="839"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7" name="TextBox 66"/>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21129" cy="143640"/>
          </a:xfrm>
          <a:prstGeom prst="rect">
            <a:avLst/>
          </a:prstGeom>
          <a:noFill/>
        </p:spPr>
        <p:txBody>
          <a:bodyPr wrap="none" lIns="0" rIns="0" tIns="0" bIns="0" anchor="t"/>
          <a:lstStyle/>
          <a:p>
            <a:pPr algn="l">
              <a:lnSpc>
                <a:spcPts val="1107"/>
              </a:lnSpc>
            </a:pPr>
            <a:r>
              <a:rPr sz="922" b="1" i="0">
                <a:solidFill>
                  <a:srgbClr val="111111"/>
                </a:solidFill>
                <a:latin typeface="Versos"/>
              </a:rPr>
              <a:t>28,14%</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692777" y="1880077"/>
            <a:ext cx="416461" cy="143640"/>
          </a:xfrm>
          <a:prstGeom prst="rect">
            <a:avLst/>
          </a:prstGeom>
          <a:noFill/>
        </p:spPr>
        <p:txBody>
          <a:bodyPr wrap="none" lIns="0" rIns="0" tIns="0" bIns="0" anchor="t"/>
          <a:lstStyle/>
          <a:p>
            <a:pPr algn="l">
              <a:lnSpc>
                <a:spcPts val="1107"/>
              </a:lnSpc>
            </a:pPr>
            <a:r>
              <a:rPr sz="922" b="1" i="0">
                <a:solidFill>
                  <a:srgbClr val="111111"/>
                </a:solidFill>
                <a:latin typeface="Versos"/>
              </a:rPr>
              <a:t>15,75%</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0" name="TextBox 9"/>
          <p:cNvSpPr txBox="1"/>
          <p:nvPr/>
        </p:nvSpPr>
        <p:spPr>
          <a:xfrm>
            <a:off x="2470584" y="2137117"/>
            <a:ext cx="439065" cy="143640"/>
          </a:xfrm>
          <a:prstGeom prst="rect">
            <a:avLst/>
          </a:prstGeom>
          <a:noFill/>
        </p:spPr>
        <p:txBody>
          <a:bodyPr wrap="none" lIns="0" rIns="0" tIns="0" bIns="0" anchor="t"/>
          <a:lstStyle/>
          <a:p>
            <a:pPr algn="l">
              <a:lnSpc>
                <a:spcPts val="1107"/>
              </a:lnSpc>
            </a:pPr>
            <a:r>
              <a:rPr sz="922" b="1" i="0">
                <a:solidFill>
                  <a:srgbClr val="111111"/>
                </a:solidFill>
                <a:latin typeface="Versos"/>
              </a:rPr>
              <a:t>10,50%</a:t>
            </a:r>
          </a:p>
        </p:txBody>
      </p:sp>
      <p:sp>
        <p:nvSpPr>
          <p:cNvPr id="11" name="TextBox 10"/>
          <p:cNvSpPr txBox="1"/>
          <p:nvPr/>
        </p:nvSpPr>
        <p:spPr>
          <a:xfrm>
            <a:off x="400680" y="234537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2" name="TextBox 11"/>
          <p:cNvSpPr txBox="1"/>
          <p:nvPr/>
        </p:nvSpPr>
        <p:spPr>
          <a:xfrm>
            <a:off x="2465386" y="2394157"/>
            <a:ext cx="438451" cy="143640"/>
          </a:xfrm>
          <a:prstGeom prst="rect">
            <a:avLst/>
          </a:prstGeom>
          <a:noFill/>
        </p:spPr>
        <p:txBody>
          <a:bodyPr wrap="none" lIns="0" rIns="0" tIns="0" bIns="0" anchor="t"/>
          <a:lstStyle/>
          <a:p>
            <a:pPr algn="l">
              <a:lnSpc>
                <a:spcPts val="1107"/>
              </a:lnSpc>
            </a:pPr>
            <a:r>
              <a:rPr sz="922" b="1" i="0">
                <a:solidFill>
                  <a:srgbClr val="111111"/>
                </a:solidFill>
                <a:latin typeface="Versos"/>
              </a:rPr>
              <a:t>10,38%</a:t>
            </a:r>
          </a:p>
        </p:txBody>
      </p:sp>
      <p:sp>
        <p:nvSpPr>
          <p:cNvPr id="13" name="TextBox 12"/>
          <p:cNvSpPr txBox="1"/>
          <p:nvPr/>
        </p:nvSpPr>
        <p:spPr>
          <a:xfrm>
            <a:off x="400680" y="26588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4" name="TextBox 13"/>
          <p:cNvSpPr txBox="1"/>
          <p:nvPr/>
        </p:nvSpPr>
        <p:spPr>
          <a:xfrm>
            <a:off x="2295995" y="2651197"/>
            <a:ext cx="388820" cy="143640"/>
          </a:xfrm>
          <a:prstGeom prst="rect">
            <a:avLst/>
          </a:prstGeom>
          <a:noFill/>
        </p:spPr>
        <p:txBody>
          <a:bodyPr wrap="none" lIns="0" rIns="0" tIns="0" bIns="0" anchor="t"/>
          <a:lstStyle/>
          <a:p>
            <a:pPr algn="l">
              <a:lnSpc>
                <a:spcPts val="1107"/>
              </a:lnSpc>
            </a:pPr>
            <a:r>
              <a:rPr sz="922" b="1" i="0">
                <a:solidFill>
                  <a:srgbClr val="111111"/>
                </a:solidFill>
                <a:latin typeface="Versos"/>
              </a:rPr>
              <a:t>6,38%</a:t>
            </a:r>
          </a:p>
        </p:txBody>
      </p:sp>
      <p:sp>
        <p:nvSpPr>
          <p:cNvPr id="15" name="TextBox 14"/>
          <p:cNvSpPr txBox="1"/>
          <p:nvPr/>
        </p:nvSpPr>
        <p:spPr>
          <a:xfrm>
            <a:off x="400680" y="29159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16" name="TextBox 15"/>
          <p:cNvSpPr txBox="1"/>
          <p:nvPr/>
        </p:nvSpPr>
        <p:spPr>
          <a:xfrm>
            <a:off x="2257368" y="2908237"/>
            <a:ext cx="389925" cy="143640"/>
          </a:xfrm>
          <a:prstGeom prst="rect">
            <a:avLst/>
          </a:prstGeom>
          <a:noFill/>
        </p:spPr>
        <p:txBody>
          <a:bodyPr wrap="none" lIns="0" rIns="0" tIns="0" bIns="0" anchor="t"/>
          <a:lstStyle/>
          <a:p>
            <a:pPr algn="l">
              <a:lnSpc>
                <a:spcPts val="1107"/>
              </a:lnSpc>
            </a:pPr>
            <a:r>
              <a:rPr sz="922" b="1" i="0">
                <a:solidFill>
                  <a:srgbClr val="111111"/>
                </a:solidFill>
                <a:latin typeface="Versos"/>
              </a:rPr>
              <a:t>5,46%</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18" name="TextBox 17"/>
          <p:cNvSpPr txBox="1"/>
          <p:nvPr/>
        </p:nvSpPr>
        <p:spPr>
          <a:xfrm>
            <a:off x="2249218" y="3165277"/>
            <a:ext cx="376535" cy="143640"/>
          </a:xfrm>
          <a:prstGeom prst="rect">
            <a:avLst/>
          </a:prstGeom>
          <a:noFill/>
        </p:spPr>
        <p:txBody>
          <a:bodyPr wrap="none" lIns="0" rIns="0" tIns="0" bIns="0" anchor="t"/>
          <a:lstStyle/>
          <a:p>
            <a:pPr algn="l">
              <a:lnSpc>
                <a:spcPts val="1107"/>
              </a:lnSpc>
            </a:pPr>
            <a:r>
              <a:rPr sz="922" b="1" i="0">
                <a:solidFill>
                  <a:srgbClr val="111111"/>
                </a:solidFill>
                <a:latin typeface="Versos"/>
              </a:rPr>
              <a:t>5,27%</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20" name="TextBox 19"/>
          <p:cNvSpPr txBox="1"/>
          <p:nvPr/>
        </p:nvSpPr>
        <p:spPr>
          <a:xfrm>
            <a:off x="2171964" y="3422317"/>
            <a:ext cx="385134" cy="143640"/>
          </a:xfrm>
          <a:prstGeom prst="rect">
            <a:avLst/>
          </a:prstGeom>
          <a:noFill/>
        </p:spPr>
        <p:txBody>
          <a:bodyPr wrap="none" lIns="0" rIns="0" tIns="0" bIns="0" anchor="t"/>
          <a:lstStyle/>
          <a:p>
            <a:pPr algn="l">
              <a:lnSpc>
                <a:spcPts val="1107"/>
              </a:lnSpc>
            </a:pPr>
            <a:r>
              <a:rPr sz="922" b="1" i="0">
                <a:solidFill>
                  <a:srgbClr val="111111"/>
                </a:solidFill>
                <a:latin typeface="Versos"/>
              </a:rPr>
              <a:t>3,45%</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2" name="TextBox 21"/>
          <p:cNvSpPr txBox="1"/>
          <p:nvPr/>
        </p:nvSpPr>
        <p:spPr>
          <a:xfrm>
            <a:off x="2171255" y="3679357"/>
            <a:ext cx="389065" cy="143640"/>
          </a:xfrm>
          <a:prstGeom prst="rect">
            <a:avLst/>
          </a:prstGeom>
          <a:noFill/>
        </p:spPr>
        <p:txBody>
          <a:bodyPr wrap="none" lIns="0" rIns="0" tIns="0" bIns="0" anchor="t"/>
          <a:lstStyle/>
          <a:p>
            <a:pPr algn="l">
              <a:lnSpc>
                <a:spcPts val="1107"/>
              </a:lnSpc>
            </a:pPr>
            <a:r>
              <a:rPr sz="922" b="1" i="0">
                <a:solidFill>
                  <a:srgbClr val="111111"/>
                </a:solidFill>
                <a:latin typeface="Versos"/>
              </a:rPr>
              <a:t>3,43%</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Serviços Imobiliários</a:t>
            </a:r>
          </a:p>
        </p:txBody>
      </p:sp>
      <p:sp>
        <p:nvSpPr>
          <p:cNvPr id="24" name="TextBox 23"/>
          <p:cNvSpPr txBox="1"/>
          <p:nvPr/>
        </p:nvSpPr>
        <p:spPr>
          <a:xfrm>
            <a:off x="2164286" y="3936397"/>
            <a:ext cx="377026" cy="143640"/>
          </a:xfrm>
          <a:prstGeom prst="rect">
            <a:avLst/>
          </a:prstGeom>
          <a:noFill/>
        </p:spPr>
        <p:txBody>
          <a:bodyPr wrap="none" lIns="0" rIns="0" tIns="0" bIns="0" anchor="t"/>
          <a:lstStyle/>
          <a:p>
            <a:pPr algn="l">
              <a:lnSpc>
                <a:spcPts val="1107"/>
              </a:lnSpc>
            </a:pPr>
            <a:r>
              <a:rPr sz="922" b="1" i="0">
                <a:solidFill>
                  <a:srgbClr val="111111"/>
                </a:solidFill>
                <a:latin typeface="Versos"/>
              </a:rPr>
              <a:t>3,27%</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26" name="TextBox 25"/>
          <p:cNvSpPr txBox="1"/>
          <p:nvPr/>
        </p:nvSpPr>
        <p:spPr>
          <a:xfrm>
            <a:off x="2141488" y="4193437"/>
            <a:ext cx="374938" cy="143640"/>
          </a:xfrm>
          <a:prstGeom prst="rect">
            <a:avLst/>
          </a:prstGeom>
          <a:noFill/>
        </p:spPr>
        <p:txBody>
          <a:bodyPr wrap="none" lIns="0" rIns="0" tIns="0" bIns="0" anchor="t"/>
          <a:lstStyle/>
          <a:p>
            <a:pPr algn="l">
              <a:lnSpc>
                <a:spcPts val="1107"/>
              </a:lnSpc>
            </a:pPr>
            <a:r>
              <a:rPr sz="922" b="1" i="0">
                <a:solidFill>
                  <a:srgbClr val="111111"/>
                </a:solidFill>
                <a:latin typeface="Versos"/>
              </a:rPr>
              <a:t>2,73%</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28" name="TextBox 27"/>
          <p:cNvSpPr txBox="1"/>
          <p:nvPr/>
        </p:nvSpPr>
        <p:spPr>
          <a:xfrm>
            <a:off x="2129557" y="4450477"/>
            <a:ext cx="384889" cy="143640"/>
          </a:xfrm>
          <a:prstGeom prst="rect">
            <a:avLst/>
          </a:prstGeom>
          <a:noFill/>
        </p:spPr>
        <p:txBody>
          <a:bodyPr wrap="none" lIns="0" rIns="0" tIns="0" bIns="0" anchor="t"/>
          <a:lstStyle/>
          <a:p>
            <a:pPr algn="l">
              <a:lnSpc>
                <a:spcPts val="1107"/>
              </a:lnSpc>
            </a:pPr>
            <a:r>
              <a:rPr sz="922" b="1" i="0">
                <a:solidFill>
                  <a:srgbClr val="111111"/>
                </a:solidFill>
                <a:latin typeface="Versos"/>
              </a:rPr>
              <a:t>2,44%</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76275"/>
            <a:ext cx="3066336"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3,60%</a:t>
            </a:r>
          </a:p>
        </p:txBody>
      </p:sp>
      <p:sp>
        <p:nvSpPr>
          <p:cNvPr id="40" name="TextBox 39"/>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3,10%</a:t>
            </a:r>
          </a:p>
        </p:txBody>
      </p:sp>
      <p:sp>
        <p:nvSpPr>
          <p:cNvPr id="43" name="TextBox 42"/>
          <p:cNvSpPr txBox="1"/>
          <p:nvPr/>
        </p:nvSpPr>
        <p:spPr>
          <a:xfrm>
            <a:off x="26460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6460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6460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2,48%</a:t>
            </a:r>
          </a:p>
        </p:txBody>
      </p:sp>
      <p:sp>
        <p:nvSpPr>
          <p:cNvPr id="46" name="TextBox 45"/>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880360" cy="350713"/>
          </a:xfrm>
          <a:prstGeom prst="rect">
            <a:avLst/>
          </a:prstGeom>
          <a:noFill/>
        </p:spPr>
        <p:txBody>
          <a:bodyPr wrap="square" lIns="0" rIns="0" tIns="0" bIns="0" anchor="t"/>
          <a:lstStyle/>
          <a:p>
            <a:pPr algn="l">
              <a:lnSpc>
                <a:spcPts val="1333"/>
              </a:lnSpc>
            </a:pPr>
            <a:r>
              <a:rPr sz="1190" b="0" i="0">
                <a:solidFill>
                  <a:srgbClr val="222222"/>
                </a:solidFill>
                <a:latin typeface="Versos"/>
              </a:rPr>
              <a:t>Investidores qualificados, Family Offices e Multi Family</a:t>
            </a:r>
          </a:p>
        </p:txBody>
      </p:sp>
      <p:sp>
        <p:nvSpPr>
          <p:cNvPr id="9" name="TextBox 8"/>
          <p:cNvSpPr txBox="1"/>
          <p:nvPr/>
        </p:nvSpPr>
        <p:spPr>
          <a:xfrm>
            <a:off x="400680" y="324595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43495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18/12/2024</a:t>
            </a:r>
          </a:p>
        </p:txBody>
      </p:sp>
      <p:sp>
        <p:nvSpPr>
          <p:cNvPr id="11" name="TextBox 10"/>
          <p:cNvSpPr txBox="1"/>
          <p:nvPr/>
        </p:nvSpPr>
        <p:spPr>
          <a:xfrm>
            <a:off x="400680" y="39368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administração e gestão</a:t>
            </a:r>
          </a:p>
        </p:txBody>
      </p:sp>
      <p:sp>
        <p:nvSpPr>
          <p:cNvPr id="12" name="TextBox 11"/>
          <p:cNvSpPr txBox="1"/>
          <p:nvPr/>
        </p:nvSpPr>
        <p:spPr>
          <a:xfrm>
            <a:off x="400680" y="41258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1,15% a.a.</a:t>
            </a:r>
          </a:p>
        </p:txBody>
      </p:sp>
      <p:sp>
        <p:nvSpPr>
          <p:cNvPr id="13" name="TextBox 12"/>
          <p:cNvSpPr txBox="1"/>
          <p:nvPr/>
        </p:nvSpPr>
        <p:spPr>
          <a:xfrm>
            <a:off x="400680" y="46277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8167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R$ 151.939.343,55</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do CDI</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D+180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627783"/>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816783"/>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R$ 94.506.904,26</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600901"/>
          </a:xfrm>
          <a:prstGeom prst="rect">
            <a:avLst/>
          </a:prstGeom>
          <a:noFill/>
        </p:spPr>
        <p:txBody>
          <a:bodyPr wrap="square" lIns="0" rIns="0" tIns="0" bIns="0" anchor="t"/>
          <a:lstStyle/>
          <a:p>
            <a:pPr algn="just">
              <a:lnSpc>
                <a:spcPts val="791"/>
              </a:lnSpc>
            </a:pPr>
            <a:r>
              <a:rPr sz="648"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103328"/>
            <a:ext cx="6758640" cy="902475"/>
          </a:xfrm>
          <a:prstGeom prst="rect">
            <a:avLst/>
          </a:prstGeom>
          <a:noFill/>
        </p:spPr>
        <p:txBody>
          <a:bodyPr wrap="square" lIns="0" rIns="0" tIns="0" bIns="0" anchor="t"/>
          <a:lstStyle/>
          <a:p>
            <a:pPr algn="just">
              <a:lnSpc>
                <a:spcPts val="791"/>
              </a:lnSpc>
            </a:pPr>
            <a:r>
              <a:rPr sz="648"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36870"/>
            <a:ext cx="6758640" cy="500377"/>
          </a:xfrm>
          <a:prstGeom prst="rect">
            <a:avLst/>
          </a:prstGeom>
          <a:noFill/>
        </p:spPr>
        <p:txBody>
          <a:bodyPr wrap="square" lIns="0" rIns="0" tIns="0" bIns="0" anchor="t"/>
          <a:lstStyle/>
          <a:p>
            <a:pPr algn="just">
              <a:lnSpc>
                <a:spcPts val="791"/>
              </a:lnSpc>
            </a:pPr>
            <a:r>
              <a:rPr sz="648"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68315"/>
            <a:ext cx="6758640" cy="399853"/>
          </a:xfrm>
          <a:prstGeom prst="rect">
            <a:avLst/>
          </a:prstGeom>
          <a:noFill/>
        </p:spPr>
        <p:txBody>
          <a:bodyPr wrap="square" lIns="0" rIns="0" tIns="0" bIns="0" anchor="t"/>
          <a:lstStyle/>
          <a:p>
            <a:pPr algn="just">
              <a:lnSpc>
                <a:spcPts val="791"/>
              </a:lnSpc>
            </a:pPr>
            <a:r>
              <a:rPr sz="648"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