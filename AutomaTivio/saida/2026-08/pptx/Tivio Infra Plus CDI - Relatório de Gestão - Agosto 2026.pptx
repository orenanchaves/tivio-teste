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30 FIF CIC RF RL </a:t>
            </a:r>
            <a:r>
              <a:rPr sz="829"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0,97%</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8,80%</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12,11%</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12,38%</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89%</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8057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7" name="TextBox 36"/>
          <p:cNvSpPr txBox="1"/>
          <p:nvPr/>
        </p:nvSpPr>
        <p:spPr>
          <a:xfrm>
            <a:off x="2831928" y="5578689"/>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3,82%</a:t>
            </a:r>
          </a:p>
        </p:txBody>
      </p:sp>
      <p:sp>
        <p:nvSpPr>
          <p:cNvPr id="38" name="TextBox 37"/>
          <p:cNvSpPr txBox="1"/>
          <p:nvPr/>
        </p:nvSpPr>
        <p:spPr>
          <a:xfrm>
            <a:off x="400680" y="60559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9" name="TextBox 38"/>
          <p:cNvSpPr txBox="1"/>
          <p:nvPr/>
        </p:nvSpPr>
        <p:spPr>
          <a:xfrm>
            <a:off x="2657103" y="605402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0" name="TextBox 39"/>
          <p:cNvSpPr txBox="1"/>
          <p:nvPr/>
        </p:nvSpPr>
        <p:spPr>
          <a:xfrm>
            <a:off x="400680" y="653113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97753" y="6529241"/>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3,04%</a:t>
            </a:r>
          </a:p>
        </p:txBody>
      </p:sp>
      <p:sp>
        <p:nvSpPr>
          <p:cNvPr id="42" name="TextBox 41"/>
          <p:cNvSpPr txBox="1"/>
          <p:nvPr/>
        </p:nvSpPr>
        <p:spPr>
          <a:xfrm>
            <a:off x="400680" y="70064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79443" y="7004576"/>
            <a:ext cx="198894" cy="143640"/>
          </a:xfrm>
          <a:prstGeom prst="rect">
            <a:avLst/>
          </a:prstGeom>
          <a:noFill/>
        </p:spPr>
        <p:txBody>
          <a:bodyPr wrap="none" lIns="0" rIns="0" tIns="0" bIns="0" anchor="t"/>
          <a:lstStyle/>
          <a:p>
            <a:pPr algn="l">
              <a:lnSpc>
                <a:spcPts val="1107"/>
              </a:lnSpc>
            </a:pPr>
            <a:r>
              <a:rPr sz="922" b="0" i="0">
                <a:solidFill>
                  <a:srgbClr val="5A82A0"/>
                </a:solidFill>
                <a:latin typeface="Versos"/>
              </a:rPr>
              <a:t>3%</a:t>
            </a:r>
          </a:p>
        </p:txBody>
      </p:sp>
      <p:sp>
        <p:nvSpPr>
          <p:cNvPr id="44" name="TextBox 43"/>
          <p:cNvSpPr txBox="1"/>
          <p:nvPr/>
        </p:nvSpPr>
        <p:spPr>
          <a:xfrm>
            <a:off x="400680" y="748180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44478" y="7479911"/>
            <a:ext cx="375429" cy="143640"/>
          </a:xfrm>
          <a:prstGeom prst="rect">
            <a:avLst/>
          </a:prstGeom>
          <a:noFill/>
        </p:spPr>
        <p:txBody>
          <a:bodyPr wrap="none" lIns="0" rIns="0" tIns="0" bIns="0" anchor="t"/>
          <a:lstStyle/>
          <a:p>
            <a:pPr algn="l">
              <a:lnSpc>
                <a:spcPts val="1107"/>
              </a:lnSpc>
            </a:pPr>
            <a:r>
              <a:rPr sz="922" b="0" i="0">
                <a:solidFill>
                  <a:srgbClr val="5A82A0"/>
                </a:solidFill>
                <a:latin typeface="Versos"/>
              </a:rPr>
              <a:t>2,92%</a:t>
            </a:r>
          </a:p>
        </p:txBody>
      </p:sp>
      <p:sp>
        <p:nvSpPr>
          <p:cNvPr id="46" name="TextBox 45"/>
          <p:cNvSpPr txBox="1"/>
          <p:nvPr/>
        </p:nvSpPr>
        <p:spPr>
          <a:xfrm>
            <a:off x="400680" y="80010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41416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412271"/>
            <a:ext cx="435626" cy="143640"/>
          </a:xfrm>
          <a:prstGeom prst="rect">
            <a:avLst/>
          </a:prstGeom>
          <a:noFill/>
        </p:spPr>
        <p:txBody>
          <a:bodyPr wrap="none" lIns="0" rIns="0" tIns="0" bIns="0" anchor="t"/>
          <a:lstStyle/>
          <a:p>
            <a:pPr algn="l">
              <a:lnSpc>
                <a:spcPts val="1142"/>
              </a:lnSpc>
            </a:pPr>
            <a:r>
              <a:rPr sz="952" b="0" i="0">
                <a:solidFill>
                  <a:srgbClr val="111111"/>
                </a:solidFill>
                <a:latin typeface="Versos"/>
              </a:rPr>
              <a:t>30,13%</a:t>
            </a:r>
          </a:p>
        </p:txBody>
      </p:sp>
      <p:sp>
        <p:nvSpPr>
          <p:cNvPr id="49" name="TextBox 48"/>
          <p:cNvSpPr txBox="1"/>
          <p:nvPr/>
        </p:nvSpPr>
        <p:spPr>
          <a:xfrm>
            <a:off x="400680" y="86969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169365" y="8695063"/>
            <a:ext cx="416215" cy="143640"/>
          </a:xfrm>
          <a:prstGeom prst="rect">
            <a:avLst/>
          </a:prstGeom>
          <a:noFill/>
        </p:spPr>
        <p:txBody>
          <a:bodyPr wrap="none" lIns="0" rIns="0" tIns="0" bIns="0" anchor="t"/>
          <a:lstStyle/>
          <a:p>
            <a:pPr algn="l">
              <a:lnSpc>
                <a:spcPts val="1142"/>
              </a:lnSpc>
            </a:pPr>
            <a:r>
              <a:rPr sz="952" b="0" i="0">
                <a:solidFill>
                  <a:srgbClr val="111111"/>
                </a:solidFill>
                <a:latin typeface="Versos"/>
              </a:rPr>
              <a:t>17,70%</a:t>
            </a:r>
          </a:p>
        </p:txBody>
      </p:sp>
      <p:sp>
        <p:nvSpPr>
          <p:cNvPr id="51" name="TextBox 50"/>
          <p:cNvSpPr txBox="1"/>
          <p:nvPr/>
        </p:nvSpPr>
        <p:spPr>
          <a:xfrm>
            <a:off x="400680" y="8979862"/>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2064116" y="8977972"/>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16,04%</a:t>
            </a:r>
          </a:p>
        </p:txBody>
      </p:sp>
      <p:sp>
        <p:nvSpPr>
          <p:cNvPr id="53" name="TextBox 52"/>
          <p:cNvSpPr txBox="1"/>
          <p:nvPr/>
        </p:nvSpPr>
        <p:spPr>
          <a:xfrm>
            <a:off x="400680" y="92626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90184" y="9260763"/>
            <a:ext cx="385134" cy="143640"/>
          </a:xfrm>
          <a:prstGeom prst="rect">
            <a:avLst/>
          </a:prstGeom>
          <a:noFill/>
        </p:spPr>
        <p:txBody>
          <a:bodyPr wrap="none" lIns="0" rIns="0" tIns="0" bIns="0" anchor="t"/>
          <a:lstStyle/>
          <a:p>
            <a:pPr algn="l">
              <a:lnSpc>
                <a:spcPts val="1142"/>
              </a:lnSpc>
            </a:pPr>
            <a:r>
              <a:rPr sz="952" b="0" i="0">
                <a:solidFill>
                  <a:srgbClr val="111111"/>
                </a:solidFill>
                <a:latin typeface="Versos"/>
              </a:rPr>
              <a:t>11,74%</a:t>
            </a:r>
          </a:p>
        </p:txBody>
      </p:sp>
      <p:sp>
        <p:nvSpPr>
          <p:cNvPr id="55" name="TextBox 54"/>
          <p:cNvSpPr txBox="1"/>
          <p:nvPr/>
        </p:nvSpPr>
        <p:spPr>
          <a:xfrm>
            <a:off x="400680" y="954556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538578" y="954367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7,78%</a:t>
            </a:r>
          </a:p>
        </p:txBody>
      </p:sp>
      <p:sp>
        <p:nvSpPr>
          <p:cNvPr id="57" name="TextBox 56"/>
          <p:cNvSpPr txBox="1"/>
          <p:nvPr/>
        </p:nvSpPr>
        <p:spPr>
          <a:xfrm>
            <a:off x="400680" y="982835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61168" y="9826464"/>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583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575500"/>
            <a:ext cx="436117" cy="143640"/>
          </a:xfrm>
          <a:prstGeom prst="rect">
            <a:avLst/>
          </a:prstGeom>
          <a:noFill/>
        </p:spPr>
        <p:txBody>
          <a:bodyPr wrap="none" lIns="0" rIns="0" tIns="0" bIns="0" anchor="t"/>
          <a:lstStyle/>
          <a:p>
            <a:pPr algn="l">
              <a:lnSpc>
                <a:spcPts val="1142"/>
              </a:lnSpc>
            </a:pPr>
            <a:r>
              <a:rPr sz="952" b="0" i="0">
                <a:solidFill>
                  <a:srgbClr val="111111"/>
                </a:solidFill>
                <a:latin typeface="Versos"/>
              </a:rPr>
              <a:t>38,13%</a:t>
            </a:r>
          </a:p>
        </p:txBody>
      </p:sp>
      <p:sp>
        <p:nvSpPr>
          <p:cNvPr id="62" name="TextBox 61"/>
          <p:cNvSpPr txBox="1"/>
          <p:nvPr/>
        </p:nvSpPr>
        <p:spPr>
          <a:xfrm>
            <a:off x="3802680" y="60518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209358" y="6044220"/>
            <a:ext cx="421866" cy="143640"/>
          </a:xfrm>
          <a:prstGeom prst="rect">
            <a:avLst/>
          </a:prstGeom>
          <a:noFill/>
        </p:spPr>
        <p:txBody>
          <a:bodyPr wrap="none" lIns="0" rIns="0" tIns="0" bIns="0" anchor="t"/>
          <a:lstStyle/>
          <a:p>
            <a:pPr algn="l">
              <a:lnSpc>
                <a:spcPts val="1142"/>
              </a:lnSpc>
            </a:pPr>
            <a:r>
              <a:rPr sz="952" b="0" i="0">
                <a:solidFill>
                  <a:srgbClr val="111111"/>
                </a:solidFill>
                <a:latin typeface="Versos"/>
              </a:rPr>
              <a:t>21,75%</a:t>
            </a:r>
          </a:p>
        </p:txBody>
      </p:sp>
      <p:sp>
        <p:nvSpPr>
          <p:cNvPr id="64" name="TextBox 63"/>
          <p:cNvSpPr txBox="1"/>
          <p:nvPr/>
        </p:nvSpPr>
        <p:spPr>
          <a:xfrm>
            <a:off x="3802680" y="65206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87468" y="6512940"/>
            <a:ext cx="437837" cy="143640"/>
          </a:xfrm>
          <a:prstGeom prst="rect">
            <a:avLst/>
          </a:prstGeom>
          <a:noFill/>
        </p:spPr>
        <p:txBody>
          <a:bodyPr wrap="none" lIns="0" rIns="0" tIns="0" bIns="0" anchor="t"/>
          <a:lstStyle/>
          <a:p>
            <a:pPr algn="l">
              <a:lnSpc>
                <a:spcPts val="1142"/>
              </a:lnSpc>
            </a:pPr>
            <a:r>
              <a:rPr sz="952" b="0" i="0">
                <a:solidFill>
                  <a:srgbClr val="111111"/>
                </a:solidFill>
                <a:latin typeface="Versos"/>
              </a:rPr>
              <a:t>12,04%</a:t>
            </a:r>
          </a:p>
        </p:txBody>
      </p:sp>
      <p:sp>
        <p:nvSpPr>
          <p:cNvPr id="66" name="TextBox 65"/>
          <p:cNvSpPr txBox="1"/>
          <p:nvPr/>
        </p:nvSpPr>
        <p:spPr>
          <a:xfrm>
            <a:off x="3802680" y="69893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7" name="TextBox 66"/>
          <p:cNvSpPr txBox="1"/>
          <p:nvPr/>
        </p:nvSpPr>
        <p:spPr>
          <a:xfrm>
            <a:off x="5791196" y="6981660"/>
            <a:ext cx="352579" cy="143640"/>
          </a:xfrm>
          <a:prstGeom prst="rect">
            <a:avLst/>
          </a:prstGeom>
          <a:noFill/>
        </p:spPr>
        <p:txBody>
          <a:bodyPr wrap="none" lIns="0" rIns="0" tIns="0" bIns="0" anchor="t"/>
          <a:lstStyle/>
          <a:p>
            <a:pPr algn="l">
              <a:lnSpc>
                <a:spcPts val="1142"/>
              </a:lnSpc>
            </a:pPr>
            <a:r>
              <a:rPr sz="952" b="0" i="0">
                <a:solidFill>
                  <a:srgbClr val="111111"/>
                </a:solidFill>
                <a:latin typeface="Versos"/>
              </a:rPr>
              <a:t>9,13%</a:t>
            </a:r>
          </a:p>
        </p:txBody>
      </p:sp>
      <p:sp>
        <p:nvSpPr>
          <p:cNvPr id="68" name="TextBox 67"/>
          <p:cNvSpPr txBox="1"/>
          <p:nvPr/>
        </p:nvSpPr>
        <p:spPr>
          <a:xfrm>
            <a:off x="3802680" y="74580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31306" y="7450380"/>
            <a:ext cx="376166" cy="143640"/>
          </a:xfrm>
          <a:prstGeom prst="rect">
            <a:avLst/>
          </a:prstGeom>
          <a:noFill/>
        </p:spPr>
        <p:txBody>
          <a:bodyPr wrap="none" lIns="0" rIns="0" tIns="0" bIns="0" anchor="t"/>
          <a:lstStyle/>
          <a:p>
            <a:pPr algn="l">
              <a:lnSpc>
                <a:spcPts val="1142"/>
              </a:lnSpc>
            </a:pPr>
            <a:r>
              <a:rPr sz="952" b="0" i="0">
                <a:solidFill>
                  <a:srgbClr val="111111"/>
                </a:solidFill>
                <a:latin typeface="Versos"/>
              </a:rPr>
              <a:t>7,33%</a:t>
            </a:r>
          </a:p>
        </p:txBody>
      </p:sp>
      <p:sp>
        <p:nvSpPr>
          <p:cNvPr id="70" name="TextBox 69"/>
          <p:cNvSpPr txBox="1"/>
          <p:nvPr/>
        </p:nvSpPr>
        <p:spPr>
          <a:xfrm>
            <a:off x="3802680" y="79267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1" name="TextBox 70"/>
          <p:cNvSpPr txBox="1"/>
          <p:nvPr/>
        </p:nvSpPr>
        <p:spPr>
          <a:xfrm>
            <a:off x="5726818" y="7919100"/>
            <a:ext cx="337837" cy="143640"/>
          </a:xfrm>
          <a:prstGeom prst="rect">
            <a:avLst/>
          </a:prstGeom>
          <a:noFill/>
        </p:spPr>
        <p:txBody>
          <a:bodyPr wrap="none" lIns="0" rIns="0" tIns="0" bIns="0" anchor="t"/>
          <a:lstStyle/>
          <a:p>
            <a:pPr algn="l">
              <a:lnSpc>
                <a:spcPts val="1142"/>
              </a:lnSpc>
            </a:pPr>
            <a:r>
              <a:rPr sz="952" b="0" i="0">
                <a:solidFill>
                  <a:srgbClr val="111111"/>
                </a:solidFill>
                <a:latin typeface="Versos"/>
              </a:rPr>
              <a:t>7,19%</a:t>
            </a:r>
          </a:p>
        </p:txBody>
      </p:sp>
      <p:sp>
        <p:nvSpPr>
          <p:cNvPr id="72" name="TextBox 71"/>
          <p:cNvSpPr txBox="1"/>
          <p:nvPr/>
        </p:nvSpPr>
        <p:spPr>
          <a:xfrm>
            <a:off x="3802680" y="83954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583178" y="8387820"/>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2,86%</a:t>
            </a:r>
          </a:p>
        </p:txBody>
      </p:sp>
      <p:sp>
        <p:nvSpPr>
          <p:cNvPr id="74" name="TextBox 73"/>
          <p:cNvSpPr txBox="1"/>
          <p:nvPr/>
        </p:nvSpPr>
        <p:spPr>
          <a:xfrm>
            <a:off x="3802680" y="8864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8290" y="8856540"/>
            <a:ext cx="365355" cy="143640"/>
          </a:xfrm>
          <a:prstGeom prst="rect">
            <a:avLst/>
          </a:prstGeom>
          <a:noFill/>
        </p:spPr>
        <p:txBody>
          <a:bodyPr wrap="none" lIns="0" rIns="0" tIns="0" bIns="0" anchor="t"/>
          <a:lstStyle/>
          <a:p>
            <a:pPr algn="l">
              <a:lnSpc>
                <a:spcPts val="1142"/>
              </a:lnSpc>
            </a:pPr>
            <a:r>
              <a:rPr sz="952" b="0" i="0">
                <a:solidFill>
                  <a:srgbClr val="111111"/>
                </a:solidFill>
                <a:latin typeface="Versos"/>
              </a:rPr>
              <a:t>1,50%</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1214325"/>
          </a:xfrm>
          <a:prstGeom prst="rect">
            <a:avLst/>
          </a:prstGeom>
          <a:noFill/>
        </p:spPr>
        <p:txBody>
          <a:bodyPr wrap="square" lIns="0" rIns="0" tIns="0" bIns="0" anchor="t"/>
          <a:lstStyle/>
          <a:p>
            <a:pPr algn="just">
              <a:lnSpc>
                <a:spcPts val="1365"/>
              </a:lnSpc>
            </a:pPr>
            <a:r>
              <a:rPr sz="1101"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23453"/>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317725"/>
            <a:ext cx="6501600" cy="1561140"/>
          </a:xfrm>
          <a:prstGeom prst="rect">
            <a:avLst/>
          </a:prstGeom>
          <a:noFill/>
        </p:spPr>
        <p:txBody>
          <a:bodyPr wrap="square" lIns="0" rIns="0" tIns="0" bIns="0" anchor="t"/>
          <a:lstStyle/>
          <a:p>
            <a:pPr algn="just">
              <a:lnSpc>
                <a:spcPts val="1365"/>
              </a:lnSpc>
            </a:pPr>
            <a:r>
              <a:rPr sz="1101"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8979035"/>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R$ 43.888.829,70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R$ 37.372.496,61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