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INFRA PLUS CDI 30 FIF CIC RF RL </a:t>
            </a:r>
            <a:r>
              <a:rPr sz="829" b="0" i="0">
                <a:solidFill>
                  <a:srgbClr val="FFFFFF"/>
                </a:solidFill>
                <a:latin typeface="Versos"/>
              </a:rPr>
              <a:t>/ CNPJ 62.791.756/0001-53</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668941"/>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entregar retornos acima do CDI, buscando oportunidades em debêntures incentivadas de diversos setores de infraestrutura por meio de uma gestão ativa e diversificada. A estratégia combina o benefício da isenção de Imposto de Renda para pessoas físicas com a busca por retorno superior ao CDI.</a:t>
            </a:r>
          </a:p>
        </p:txBody>
      </p:sp>
      <p:sp>
        <p:nvSpPr>
          <p:cNvPr id="7" name="TextBox 6"/>
          <p:cNvSpPr txBox="1"/>
          <p:nvPr/>
        </p:nvSpPr>
        <p:spPr>
          <a:xfrm>
            <a:off x="1126440"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920522"/>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920522"/>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329663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0,97%</a:t>
            </a:r>
          </a:p>
        </p:txBody>
      </p:sp>
      <p:sp>
        <p:nvSpPr>
          <p:cNvPr id="15" name="TextBox 14"/>
          <p:cNvSpPr txBox="1"/>
          <p:nvPr/>
        </p:nvSpPr>
        <p:spPr>
          <a:xfrm>
            <a:off x="2136881"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8,80%</a:t>
            </a:r>
          </a:p>
        </p:txBody>
      </p:sp>
      <p:sp>
        <p:nvSpPr>
          <p:cNvPr id="16" name="TextBox 15"/>
          <p:cNvSpPr txBox="1"/>
          <p:nvPr/>
        </p:nvSpPr>
        <p:spPr>
          <a:xfrm>
            <a:off x="3147322"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7" name="TextBox 16"/>
          <p:cNvSpPr txBox="1"/>
          <p:nvPr/>
        </p:nvSpPr>
        <p:spPr>
          <a:xfrm>
            <a:off x="4157763"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3292852"/>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3292852"/>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12,11%</a:t>
            </a:r>
          </a:p>
        </p:txBody>
      </p:sp>
      <p:sp>
        <p:nvSpPr>
          <p:cNvPr id="20" name="TextBox 19"/>
          <p:cNvSpPr txBox="1"/>
          <p:nvPr/>
        </p:nvSpPr>
        <p:spPr>
          <a:xfrm>
            <a:off x="340200" y="368786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4" name="TextBox 23"/>
          <p:cNvSpPr txBox="1"/>
          <p:nvPr/>
        </p:nvSpPr>
        <p:spPr>
          <a:xfrm>
            <a:off x="4157763"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68408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68408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12,38%</a:t>
            </a:r>
          </a:p>
        </p:txBody>
      </p:sp>
      <p:sp>
        <p:nvSpPr>
          <p:cNvPr id="27" name="TextBox 26"/>
          <p:cNvSpPr txBox="1"/>
          <p:nvPr/>
        </p:nvSpPr>
        <p:spPr>
          <a:xfrm>
            <a:off x="340200" y="4080982"/>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28" name="TextBox 27"/>
          <p:cNvSpPr txBox="1"/>
          <p:nvPr/>
        </p:nvSpPr>
        <p:spPr>
          <a:xfrm>
            <a:off x="1126440"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89%</a:t>
            </a:r>
          </a:p>
        </p:txBody>
      </p:sp>
      <p:sp>
        <p:nvSpPr>
          <p:cNvPr id="29" name="TextBox 28"/>
          <p:cNvSpPr txBox="1"/>
          <p:nvPr/>
        </p:nvSpPr>
        <p:spPr>
          <a:xfrm>
            <a:off x="2136881"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94%</a:t>
            </a:r>
          </a:p>
        </p:txBody>
      </p:sp>
      <p:sp>
        <p:nvSpPr>
          <p:cNvPr id="30" name="TextBox 29"/>
          <p:cNvSpPr txBox="1"/>
          <p:nvPr/>
        </p:nvSpPr>
        <p:spPr>
          <a:xfrm>
            <a:off x="3147322"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1" name="TextBox 30"/>
          <p:cNvSpPr txBox="1"/>
          <p:nvPr/>
        </p:nvSpPr>
        <p:spPr>
          <a:xfrm>
            <a:off x="4157763"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4077202"/>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4077202"/>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98%</a:t>
            </a:r>
          </a:p>
        </p:txBody>
      </p:sp>
      <p:sp>
        <p:nvSpPr>
          <p:cNvPr id="34" name="TextBox 33"/>
          <p:cNvSpPr txBox="1"/>
          <p:nvPr/>
        </p:nvSpPr>
        <p:spPr>
          <a:xfrm>
            <a:off x="355320" y="4413622"/>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5071342"/>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580579"/>
            <a:ext cx="762898" cy="136080"/>
          </a:xfrm>
          <a:prstGeom prst="rect">
            <a:avLst/>
          </a:prstGeom>
          <a:noFill/>
        </p:spPr>
        <p:txBody>
          <a:bodyPr wrap="none" lIns="0" rIns="0" tIns="0" bIns="0" anchor="t"/>
          <a:lstStyle/>
          <a:p>
            <a:pPr algn="r">
              <a:lnSpc>
                <a:spcPts val="982"/>
              </a:lnSpc>
            </a:pPr>
            <a:r>
              <a:rPr sz="892" b="0" i="0">
                <a:solidFill>
                  <a:srgbClr val="222222"/>
                </a:solidFill>
                <a:latin typeface="Versos"/>
              </a:rPr>
              <a:t>EQUATORIAL</a:t>
            </a:r>
          </a:p>
        </p:txBody>
      </p:sp>
      <p:sp>
        <p:nvSpPr>
          <p:cNvPr id="37" name="TextBox 36"/>
          <p:cNvSpPr txBox="1"/>
          <p:nvPr/>
        </p:nvSpPr>
        <p:spPr>
          <a:xfrm>
            <a:off x="2831928" y="5578689"/>
            <a:ext cx="379852" cy="143640"/>
          </a:xfrm>
          <a:prstGeom prst="rect">
            <a:avLst/>
          </a:prstGeom>
          <a:noFill/>
        </p:spPr>
        <p:txBody>
          <a:bodyPr wrap="none" lIns="0" rIns="0" tIns="0" bIns="0" anchor="t"/>
          <a:lstStyle/>
          <a:p>
            <a:pPr algn="l">
              <a:lnSpc>
                <a:spcPts val="1107"/>
              </a:lnSpc>
            </a:pPr>
            <a:r>
              <a:rPr sz="922" b="0" i="0">
                <a:solidFill>
                  <a:srgbClr val="5A82A0"/>
                </a:solidFill>
                <a:latin typeface="Versos"/>
              </a:rPr>
              <a:t>3,82%</a:t>
            </a:r>
          </a:p>
        </p:txBody>
      </p:sp>
      <p:sp>
        <p:nvSpPr>
          <p:cNvPr id="38" name="TextBox 37"/>
          <p:cNvSpPr txBox="1"/>
          <p:nvPr/>
        </p:nvSpPr>
        <p:spPr>
          <a:xfrm>
            <a:off x="400680" y="60559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CEMIG</a:t>
            </a:r>
          </a:p>
        </p:txBody>
      </p:sp>
      <p:sp>
        <p:nvSpPr>
          <p:cNvPr id="39" name="TextBox 38"/>
          <p:cNvSpPr txBox="1"/>
          <p:nvPr/>
        </p:nvSpPr>
        <p:spPr>
          <a:xfrm>
            <a:off x="2657103" y="6054024"/>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0" name="TextBox 39"/>
          <p:cNvSpPr txBox="1"/>
          <p:nvPr/>
        </p:nvSpPr>
        <p:spPr>
          <a:xfrm>
            <a:off x="400680" y="6531131"/>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COPEL</a:t>
            </a:r>
          </a:p>
        </p:txBody>
      </p:sp>
      <p:sp>
        <p:nvSpPr>
          <p:cNvPr id="41" name="TextBox 40"/>
          <p:cNvSpPr txBox="1"/>
          <p:nvPr/>
        </p:nvSpPr>
        <p:spPr>
          <a:xfrm>
            <a:off x="2497753" y="6529241"/>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3,04%</a:t>
            </a:r>
          </a:p>
        </p:txBody>
      </p:sp>
      <p:sp>
        <p:nvSpPr>
          <p:cNvPr id="42" name="TextBox 41"/>
          <p:cNvSpPr txBox="1"/>
          <p:nvPr/>
        </p:nvSpPr>
        <p:spPr>
          <a:xfrm>
            <a:off x="400680" y="70064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43" name="TextBox 42"/>
          <p:cNvSpPr txBox="1"/>
          <p:nvPr/>
        </p:nvSpPr>
        <p:spPr>
          <a:xfrm>
            <a:off x="2479443" y="7004576"/>
            <a:ext cx="198894" cy="143640"/>
          </a:xfrm>
          <a:prstGeom prst="rect">
            <a:avLst/>
          </a:prstGeom>
          <a:noFill/>
        </p:spPr>
        <p:txBody>
          <a:bodyPr wrap="none" lIns="0" rIns="0" tIns="0" bIns="0" anchor="t"/>
          <a:lstStyle/>
          <a:p>
            <a:pPr algn="l">
              <a:lnSpc>
                <a:spcPts val="1107"/>
              </a:lnSpc>
            </a:pPr>
            <a:r>
              <a:rPr sz="922" b="0" i="0">
                <a:solidFill>
                  <a:srgbClr val="5A82A0"/>
                </a:solidFill>
                <a:latin typeface="Versos"/>
              </a:rPr>
              <a:t>3%</a:t>
            </a:r>
          </a:p>
        </p:txBody>
      </p:sp>
      <p:sp>
        <p:nvSpPr>
          <p:cNvPr id="44" name="TextBox 43"/>
          <p:cNvSpPr txBox="1"/>
          <p:nvPr/>
        </p:nvSpPr>
        <p:spPr>
          <a:xfrm>
            <a:off x="400680" y="7481801"/>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45" name="TextBox 44"/>
          <p:cNvSpPr txBox="1"/>
          <p:nvPr/>
        </p:nvSpPr>
        <p:spPr>
          <a:xfrm>
            <a:off x="2444478" y="7479911"/>
            <a:ext cx="375429" cy="143640"/>
          </a:xfrm>
          <a:prstGeom prst="rect">
            <a:avLst/>
          </a:prstGeom>
          <a:noFill/>
        </p:spPr>
        <p:txBody>
          <a:bodyPr wrap="none" lIns="0" rIns="0" tIns="0" bIns="0" anchor="t"/>
          <a:lstStyle/>
          <a:p>
            <a:pPr algn="l">
              <a:lnSpc>
                <a:spcPts val="1107"/>
              </a:lnSpc>
            </a:pPr>
            <a:r>
              <a:rPr sz="922" b="0" i="0">
                <a:solidFill>
                  <a:srgbClr val="5A82A0"/>
                </a:solidFill>
                <a:latin typeface="Versos"/>
              </a:rPr>
              <a:t>2,92%</a:t>
            </a:r>
          </a:p>
        </p:txBody>
      </p:sp>
      <p:sp>
        <p:nvSpPr>
          <p:cNvPr id="46" name="TextBox 45"/>
          <p:cNvSpPr txBox="1"/>
          <p:nvPr/>
        </p:nvSpPr>
        <p:spPr>
          <a:xfrm>
            <a:off x="400680" y="8001078"/>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41416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412271"/>
            <a:ext cx="435626" cy="143640"/>
          </a:xfrm>
          <a:prstGeom prst="rect">
            <a:avLst/>
          </a:prstGeom>
          <a:noFill/>
        </p:spPr>
        <p:txBody>
          <a:bodyPr wrap="none" lIns="0" rIns="0" tIns="0" bIns="0" anchor="t"/>
          <a:lstStyle/>
          <a:p>
            <a:pPr algn="l">
              <a:lnSpc>
                <a:spcPts val="1142"/>
              </a:lnSpc>
            </a:pPr>
            <a:r>
              <a:rPr sz="952" b="0" i="0">
                <a:solidFill>
                  <a:srgbClr val="111111"/>
                </a:solidFill>
                <a:latin typeface="Versos"/>
              </a:rPr>
              <a:t>30,13%</a:t>
            </a:r>
          </a:p>
        </p:txBody>
      </p:sp>
      <p:sp>
        <p:nvSpPr>
          <p:cNvPr id="49" name="TextBox 48"/>
          <p:cNvSpPr txBox="1"/>
          <p:nvPr/>
        </p:nvSpPr>
        <p:spPr>
          <a:xfrm>
            <a:off x="400680" y="86969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2169365" y="8695063"/>
            <a:ext cx="416215" cy="143640"/>
          </a:xfrm>
          <a:prstGeom prst="rect">
            <a:avLst/>
          </a:prstGeom>
          <a:noFill/>
        </p:spPr>
        <p:txBody>
          <a:bodyPr wrap="none" lIns="0" rIns="0" tIns="0" bIns="0" anchor="t"/>
          <a:lstStyle/>
          <a:p>
            <a:pPr algn="l">
              <a:lnSpc>
                <a:spcPts val="1142"/>
              </a:lnSpc>
            </a:pPr>
            <a:r>
              <a:rPr sz="952" b="0" i="0">
                <a:solidFill>
                  <a:srgbClr val="111111"/>
                </a:solidFill>
                <a:latin typeface="Versos"/>
              </a:rPr>
              <a:t>17,70%</a:t>
            </a:r>
          </a:p>
        </p:txBody>
      </p:sp>
      <p:sp>
        <p:nvSpPr>
          <p:cNvPr id="51" name="TextBox 50"/>
          <p:cNvSpPr txBox="1"/>
          <p:nvPr/>
        </p:nvSpPr>
        <p:spPr>
          <a:xfrm>
            <a:off x="400680" y="8979862"/>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2064116" y="8977972"/>
            <a:ext cx="438943" cy="143640"/>
          </a:xfrm>
          <a:prstGeom prst="rect">
            <a:avLst/>
          </a:prstGeom>
          <a:noFill/>
        </p:spPr>
        <p:txBody>
          <a:bodyPr wrap="none" lIns="0" rIns="0" tIns="0" bIns="0" anchor="t"/>
          <a:lstStyle/>
          <a:p>
            <a:pPr algn="l">
              <a:lnSpc>
                <a:spcPts val="1142"/>
              </a:lnSpc>
            </a:pPr>
            <a:r>
              <a:rPr sz="952" b="0" i="0">
                <a:solidFill>
                  <a:srgbClr val="111111"/>
                </a:solidFill>
                <a:latin typeface="Versos"/>
              </a:rPr>
              <a:t>16,04%</a:t>
            </a:r>
          </a:p>
        </p:txBody>
      </p:sp>
      <p:sp>
        <p:nvSpPr>
          <p:cNvPr id="53" name="TextBox 52"/>
          <p:cNvSpPr txBox="1"/>
          <p:nvPr/>
        </p:nvSpPr>
        <p:spPr>
          <a:xfrm>
            <a:off x="400680" y="926265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790184" y="9260763"/>
            <a:ext cx="385134" cy="143640"/>
          </a:xfrm>
          <a:prstGeom prst="rect">
            <a:avLst/>
          </a:prstGeom>
          <a:noFill/>
        </p:spPr>
        <p:txBody>
          <a:bodyPr wrap="none" lIns="0" rIns="0" tIns="0" bIns="0" anchor="t"/>
          <a:lstStyle/>
          <a:p>
            <a:pPr algn="l">
              <a:lnSpc>
                <a:spcPts val="1142"/>
              </a:lnSpc>
            </a:pPr>
            <a:r>
              <a:rPr sz="952" b="0" i="0">
                <a:solidFill>
                  <a:srgbClr val="111111"/>
                </a:solidFill>
                <a:latin typeface="Versos"/>
              </a:rPr>
              <a:t>11,74%</a:t>
            </a:r>
          </a:p>
        </p:txBody>
      </p:sp>
      <p:sp>
        <p:nvSpPr>
          <p:cNvPr id="55" name="TextBox 54"/>
          <p:cNvSpPr txBox="1"/>
          <p:nvPr/>
        </p:nvSpPr>
        <p:spPr>
          <a:xfrm>
            <a:off x="400680" y="954556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538578" y="9543673"/>
            <a:ext cx="367321" cy="143640"/>
          </a:xfrm>
          <a:prstGeom prst="rect">
            <a:avLst/>
          </a:prstGeom>
          <a:noFill/>
        </p:spPr>
        <p:txBody>
          <a:bodyPr wrap="none" lIns="0" rIns="0" tIns="0" bIns="0" anchor="t"/>
          <a:lstStyle/>
          <a:p>
            <a:pPr algn="l">
              <a:lnSpc>
                <a:spcPts val="1142"/>
              </a:lnSpc>
            </a:pPr>
            <a:r>
              <a:rPr sz="952" b="0" i="0">
                <a:solidFill>
                  <a:srgbClr val="111111"/>
                </a:solidFill>
                <a:latin typeface="Versos"/>
              </a:rPr>
              <a:t>7,78%</a:t>
            </a:r>
          </a:p>
        </p:txBody>
      </p:sp>
      <p:sp>
        <p:nvSpPr>
          <p:cNvPr id="57" name="TextBox 56"/>
          <p:cNvSpPr txBox="1"/>
          <p:nvPr/>
        </p:nvSpPr>
        <p:spPr>
          <a:xfrm>
            <a:off x="400680" y="9828354"/>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61168" y="9826464"/>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5071342"/>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5831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575500"/>
            <a:ext cx="436117" cy="143640"/>
          </a:xfrm>
          <a:prstGeom prst="rect">
            <a:avLst/>
          </a:prstGeom>
          <a:noFill/>
        </p:spPr>
        <p:txBody>
          <a:bodyPr wrap="none" lIns="0" rIns="0" tIns="0" bIns="0" anchor="t"/>
          <a:lstStyle/>
          <a:p>
            <a:pPr algn="l">
              <a:lnSpc>
                <a:spcPts val="1142"/>
              </a:lnSpc>
            </a:pPr>
            <a:r>
              <a:rPr sz="952" b="0" i="0">
                <a:solidFill>
                  <a:srgbClr val="111111"/>
                </a:solidFill>
                <a:latin typeface="Versos"/>
              </a:rPr>
              <a:t>38,13%</a:t>
            </a:r>
          </a:p>
        </p:txBody>
      </p:sp>
      <p:sp>
        <p:nvSpPr>
          <p:cNvPr id="62" name="TextBox 61"/>
          <p:cNvSpPr txBox="1"/>
          <p:nvPr/>
        </p:nvSpPr>
        <p:spPr>
          <a:xfrm>
            <a:off x="3802680" y="60518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63" name="TextBox 62"/>
          <p:cNvSpPr txBox="1"/>
          <p:nvPr/>
        </p:nvSpPr>
        <p:spPr>
          <a:xfrm>
            <a:off x="6209358" y="6044220"/>
            <a:ext cx="421866" cy="143640"/>
          </a:xfrm>
          <a:prstGeom prst="rect">
            <a:avLst/>
          </a:prstGeom>
          <a:noFill/>
        </p:spPr>
        <p:txBody>
          <a:bodyPr wrap="none" lIns="0" rIns="0" tIns="0" bIns="0" anchor="t"/>
          <a:lstStyle/>
          <a:p>
            <a:pPr algn="l">
              <a:lnSpc>
                <a:spcPts val="1142"/>
              </a:lnSpc>
            </a:pPr>
            <a:r>
              <a:rPr sz="952" b="0" i="0">
                <a:solidFill>
                  <a:srgbClr val="111111"/>
                </a:solidFill>
                <a:latin typeface="Versos"/>
              </a:rPr>
              <a:t>21,75%</a:t>
            </a:r>
          </a:p>
        </p:txBody>
      </p:sp>
      <p:sp>
        <p:nvSpPr>
          <p:cNvPr id="64" name="TextBox 63"/>
          <p:cNvSpPr txBox="1"/>
          <p:nvPr/>
        </p:nvSpPr>
        <p:spPr>
          <a:xfrm>
            <a:off x="3802680" y="65206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5887468" y="6512940"/>
            <a:ext cx="437837" cy="143640"/>
          </a:xfrm>
          <a:prstGeom prst="rect">
            <a:avLst/>
          </a:prstGeom>
          <a:noFill/>
        </p:spPr>
        <p:txBody>
          <a:bodyPr wrap="none" lIns="0" rIns="0" tIns="0" bIns="0" anchor="t"/>
          <a:lstStyle/>
          <a:p>
            <a:pPr algn="l">
              <a:lnSpc>
                <a:spcPts val="1142"/>
              </a:lnSpc>
            </a:pPr>
            <a:r>
              <a:rPr sz="952" b="0" i="0">
                <a:solidFill>
                  <a:srgbClr val="111111"/>
                </a:solidFill>
                <a:latin typeface="Versos"/>
              </a:rPr>
              <a:t>12,04%</a:t>
            </a:r>
          </a:p>
        </p:txBody>
      </p:sp>
      <p:sp>
        <p:nvSpPr>
          <p:cNvPr id="66" name="TextBox 65"/>
          <p:cNvSpPr txBox="1"/>
          <p:nvPr/>
        </p:nvSpPr>
        <p:spPr>
          <a:xfrm>
            <a:off x="3802680" y="698933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7" name="TextBox 66"/>
          <p:cNvSpPr txBox="1"/>
          <p:nvPr/>
        </p:nvSpPr>
        <p:spPr>
          <a:xfrm>
            <a:off x="5791196" y="6981660"/>
            <a:ext cx="352579" cy="143640"/>
          </a:xfrm>
          <a:prstGeom prst="rect">
            <a:avLst/>
          </a:prstGeom>
          <a:noFill/>
        </p:spPr>
        <p:txBody>
          <a:bodyPr wrap="none" lIns="0" rIns="0" tIns="0" bIns="0" anchor="t"/>
          <a:lstStyle/>
          <a:p>
            <a:pPr algn="l">
              <a:lnSpc>
                <a:spcPts val="1142"/>
              </a:lnSpc>
            </a:pPr>
            <a:r>
              <a:rPr sz="952" b="0" i="0">
                <a:solidFill>
                  <a:srgbClr val="111111"/>
                </a:solidFill>
                <a:latin typeface="Versos"/>
              </a:rPr>
              <a:t>9,13%</a:t>
            </a:r>
          </a:p>
        </p:txBody>
      </p:sp>
      <p:sp>
        <p:nvSpPr>
          <p:cNvPr id="68" name="TextBox 67"/>
          <p:cNvSpPr txBox="1"/>
          <p:nvPr/>
        </p:nvSpPr>
        <p:spPr>
          <a:xfrm>
            <a:off x="3802680" y="745805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69" name="TextBox 68"/>
          <p:cNvSpPr txBox="1"/>
          <p:nvPr/>
        </p:nvSpPr>
        <p:spPr>
          <a:xfrm>
            <a:off x="5731306" y="7450380"/>
            <a:ext cx="376166" cy="143640"/>
          </a:xfrm>
          <a:prstGeom prst="rect">
            <a:avLst/>
          </a:prstGeom>
          <a:noFill/>
        </p:spPr>
        <p:txBody>
          <a:bodyPr wrap="none" lIns="0" rIns="0" tIns="0" bIns="0" anchor="t"/>
          <a:lstStyle/>
          <a:p>
            <a:pPr algn="l">
              <a:lnSpc>
                <a:spcPts val="1142"/>
              </a:lnSpc>
            </a:pPr>
            <a:r>
              <a:rPr sz="952" b="0" i="0">
                <a:solidFill>
                  <a:srgbClr val="111111"/>
                </a:solidFill>
                <a:latin typeface="Versos"/>
              </a:rPr>
              <a:t>7,33%</a:t>
            </a:r>
          </a:p>
        </p:txBody>
      </p:sp>
      <p:sp>
        <p:nvSpPr>
          <p:cNvPr id="70" name="TextBox 69"/>
          <p:cNvSpPr txBox="1"/>
          <p:nvPr/>
        </p:nvSpPr>
        <p:spPr>
          <a:xfrm>
            <a:off x="3802680" y="792677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1" name="TextBox 70"/>
          <p:cNvSpPr txBox="1"/>
          <p:nvPr/>
        </p:nvSpPr>
        <p:spPr>
          <a:xfrm>
            <a:off x="5726818" y="7919100"/>
            <a:ext cx="337837" cy="143640"/>
          </a:xfrm>
          <a:prstGeom prst="rect">
            <a:avLst/>
          </a:prstGeom>
          <a:noFill/>
        </p:spPr>
        <p:txBody>
          <a:bodyPr wrap="none" lIns="0" rIns="0" tIns="0" bIns="0" anchor="t"/>
          <a:lstStyle/>
          <a:p>
            <a:pPr algn="l">
              <a:lnSpc>
                <a:spcPts val="1142"/>
              </a:lnSpc>
            </a:pPr>
            <a:r>
              <a:rPr sz="952" b="0" i="0">
                <a:solidFill>
                  <a:srgbClr val="111111"/>
                </a:solidFill>
                <a:latin typeface="Versos"/>
              </a:rPr>
              <a:t>7,19%</a:t>
            </a:r>
          </a:p>
        </p:txBody>
      </p:sp>
      <p:sp>
        <p:nvSpPr>
          <p:cNvPr id="72" name="TextBox 71"/>
          <p:cNvSpPr txBox="1"/>
          <p:nvPr/>
        </p:nvSpPr>
        <p:spPr>
          <a:xfrm>
            <a:off x="3802680" y="839549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73" name="TextBox 72"/>
          <p:cNvSpPr txBox="1"/>
          <p:nvPr/>
        </p:nvSpPr>
        <p:spPr>
          <a:xfrm>
            <a:off x="5583178" y="8387820"/>
            <a:ext cx="396682" cy="143640"/>
          </a:xfrm>
          <a:prstGeom prst="rect">
            <a:avLst/>
          </a:prstGeom>
          <a:noFill/>
        </p:spPr>
        <p:txBody>
          <a:bodyPr wrap="none" lIns="0" rIns="0" tIns="0" bIns="0" anchor="t"/>
          <a:lstStyle/>
          <a:p>
            <a:pPr algn="l">
              <a:lnSpc>
                <a:spcPts val="1142"/>
              </a:lnSpc>
            </a:pPr>
            <a:r>
              <a:rPr sz="952" b="0" i="0">
                <a:solidFill>
                  <a:srgbClr val="111111"/>
                </a:solidFill>
                <a:latin typeface="Versos"/>
              </a:rPr>
              <a:t>2,86%</a:t>
            </a:r>
          </a:p>
        </p:txBody>
      </p:sp>
      <p:sp>
        <p:nvSpPr>
          <p:cNvPr id="74" name="TextBox 73"/>
          <p:cNvSpPr txBox="1"/>
          <p:nvPr/>
        </p:nvSpPr>
        <p:spPr>
          <a:xfrm>
            <a:off x="3802680" y="886421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8290" y="8856540"/>
            <a:ext cx="365355" cy="143640"/>
          </a:xfrm>
          <a:prstGeom prst="rect">
            <a:avLst/>
          </a:prstGeom>
          <a:noFill/>
        </p:spPr>
        <p:txBody>
          <a:bodyPr wrap="none" lIns="0" rIns="0" tIns="0" bIns="0" anchor="t"/>
          <a:lstStyle/>
          <a:p>
            <a:pPr algn="l">
              <a:lnSpc>
                <a:spcPts val="1142"/>
              </a:lnSpc>
            </a:pPr>
            <a:r>
              <a:rPr sz="952" b="0" i="0">
                <a:solidFill>
                  <a:srgbClr val="111111"/>
                </a:solidFill>
                <a:latin typeface="Versos"/>
              </a:rPr>
              <a:t>1,50%</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08958"/>
            <a:ext cx="6501600" cy="1214325"/>
          </a:xfrm>
          <a:prstGeom prst="rect">
            <a:avLst/>
          </a:prstGeom>
          <a:noFill/>
        </p:spPr>
        <p:txBody>
          <a:bodyPr wrap="square" lIns="0" rIns="0" tIns="0" bIns="0" anchor="t"/>
          <a:lstStyle/>
          <a:p>
            <a:pPr algn="just">
              <a:lnSpc>
                <a:spcPts val="1365"/>
              </a:lnSpc>
            </a:pPr>
            <a:r>
              <a:rPr sz="1101"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23453"/>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317725"/>
            <a:ext cx="6501600" cy="1561140"/>
          </a:xfrm>
          <a:prstGeom prst="rect">
            <a:avLst/>
          </a:prstGeom>
          <a:noFill/>
        </p:spPr>
        <p:txBody>
          <a:bodyPr wrap="square" lIns="0" rIns="0" tIns="0" bIns="0" anchor="t"/>
          <a:lstStyle/>
          <a:p>
            <a:pPr algn="just">
              <a:lnSpc>
                <a:spcPts val="1365"/>
              </a:lnSpc>
            </a:pPr>
            <a:r>
              <a:rPr sz="1101"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8979035"/>
            <a:ext cx="6501600" cy="694102"/>
          </a:xfrm>
          <a:prstGeom prst="rect">
            <a:avLst/>
          </a:prstGeom>
          <a:noFill/>
        </p:spPr>
        <p:txBody>
          <a:bodyPr wrap="square" lIns="0" rIns="0" tIns="0" bIns="0" anchor="t"/>
          <a:lstStyle/>
          <a:p>
            <a:pPr algn="just">
              <a:lnSpc>
                <a:spcPts val="1365"/>
              </a:lnSpc>
            </a:pPr>
            <a:r>
              <a:rPr sz="1101" b="0" i="0">
                <a:solidFill>
                  <a:srgbClr val="F1F1F1"/>
                </a:solidFill>
                <a:latin typeface="Versos"/>
              </a:rPr>
              <a:t>Nesse cenário, o Institucional Incentivado CDI apresentou rentabilidade, isenta de imposto de renda, de 0,97% no mês (89% do CDI), acumulando 8,80% (94% do CDI) no ano. Na atribuição de performance, pode-se destacar as debêntures de Copel e CPFL,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20/10/2025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366351"/>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D+30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Não há</a:t>
            </a:r>
          </a:p>
        </p:txBody>
      </p:sp>
      <p:sp>
        <p:nvSpPr>
          <p:cNvPr id="17" name="TextBox 16"/>
          <p:cNvSpPr txBox="1"/>
          <p:nvPr/>
        </p:nvSpPr>
        <p:spPr>
          <a:xfrm>
            <a:off x="3878280" y="3767596"/>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3956596"/>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R$ 43.888.829,70</a:t>
            </a:r>
          </a:p>
        </p:txBody>
      </p:sp>
      <p:sp>
        <p:nvSpPr>
          <p:cNvPr id="19" name="TextBox 18"/>
          <p:cNvSpPr txBox="1"/>
          <p:nvPr/>
        </p:nvSpPr>
        <p:spPr>
          <a:xfrm>
            <a:off x="3878280" y="445851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647510"/>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R$ 37.372.496,61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