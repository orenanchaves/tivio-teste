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Sheet1!$A$2:$A$12</c:f>
              <c:strCache>
                <c:ptCount val="11"/>
                <c:pt idx="0">
                  <c:v>out/25</c:v>
                </c:pt>
                <c:pt idx="1">
                  <c:v>nov/25</c:v>
                </c:pt>
                <c:pt idx="2">
                  <c:v>dez/25</c:v>
                </c:pt>
                <c:pt idx="3">
                  <c:v>jan/26</c:v>
                </c:pt>
                <c:pt idx="4">
                  <c:v>fev/26</c:v>
                </c:pt>
                <c:pt idx="5">
                  <c:v>mar/26</c:v>
                </c:pt>
                <c:pt idx="6">
                  <c:v>abr/26</c:v>
                </c:pt>
                <c:pt idx="7">
                  <c:v>mai/26</c:v>
                </c:pt>
                <c:pt idx="8">
                  <c:v>jun/26</c:v>
                </c:pt>
                <c:pt idx="9">
                  <c:v>jul/26</c:v>
                </c:pt>
                <c:pt idx="10">
                  <c:v>ago/26</c:v>
                </c:pt>
              </c:strCache>
            </c:strRef>
          </c:cat>
          <c:val>
            <c:numRef>
              <c:f>Sheet1!$B$2:$B$12</c:f>
              <c:numCache>
                <c:formatCode>General</c:formatCode>
                <c:ptCount val="11"/>
                <c:pt idx="0">
                  <c:v>0.0</c:v>
                </c:pt>
                <c:pt idx="1">
                  <c:v>0.011699999999999999</c:v>
                </c:pt>
                <c:pt idx="2">
                  <c:v>0.024700000000000003</c:v>
                </c:pt>
                <c:pt idx="3">
                  <c:v>0.0371</c:v>
                </c:pt>
                <c:pt idx="4">
                  <c:v>0.047599999999999996</c:v>
                </c:pt>
                <c:pt idx="5">
                  <c:v>0.059000000000000004</c:v>
                </c:pt>
                <c:pt idx="6">
                  <c:v>0.0626</c:v>
                </c:pt>
                <c:pt idx="7">
                  <c:v>0.0721</c:v>
                </c:pt>
                <c:pt idx="8">
                  <c:v>0.0907</c:v>
                </c:pt>
                <c:pt idx="9">
                  <c:v>0.1041</c:v>
                </c:pt>
                <c:pt idx="10">
                  <c:v>0.1148</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Sheet1!$A$2:$A$12</c:f>
              <c:strCache>
                <c:ptCount val="11"/>
                <c:pt idx="0">
                  <c:v>out/25</c:v>
                </c:pt>
                <c:pt idx="1">
                  <c:v>nov/25</c:v>
                </c:pt>
                <c:pt idx="2">
                  <c:v>dez/25</c:v>
                </c:pt>
                <c:pt idx="3">
                  <c:v>jan/26</c:v>
                </c:pt>
                <c:pt idx="4">
                  <c:v>fev/26</c:v>
                </c:pt>
                <c:pt idx="5">
                  <c:v>mar/26</c:v>
                </c:pt>
                <c:pt idx="6">
                  <c:v>abr/26</c:v>
                </c:pt>
                <c:pt idx="7">
                  <c:v>mai/26</c:v>
                </c:pt>
                <c:pt idx="8">
                  <c:v>jun/26</c:v>
                </c:pt>
                <c:pt idx="9">
                  <c:v>jul/26</c:v>
                </c:pt>
                <c:pt idx="10">
                  <c:v>ago/26</c:v>
                </c:pt>
              </c:strCache>
            </c:strRef>
          </c:cat>
          <c:val>
            <c:numRef>
              <c:f>Sheet1!$C$2:$C$12</c:f>
              <c:numCache>
                <c:formatCode>General</c:formatCode>
                <c:ptCount val="11"/>
                <c:pt idx="0">
                  <c:v>0.0</c:v>
                </c:pt>
                <c:pt idx="1">
                  <c:v>0.0105</c:v>
                </c:pt>
                <c:pt idx="2">
                  <c:v>0.0229</c:v>
                </c:pt>
                <c:pt idx="3">
                  <c:v>0.0348</c:v>
                </c:pt>
                <c:pt idx="4">
                  <c:v>0.0451</c:v>
                </c:pt>
                <c:pt idx="5">
                  <c:v>0.057800000000000004</c:v>
                </c:pt>
                <c:pt idx="6">
                  <c:v>0.0693</c:v>
                </c:pt>
                <c:pt idx="7">
                  <c:v>0.0808</c:v>
                </c:pt>
                <c:pt idx="8">
                  <c:v>0.0929</c:v>
                </c:pt>
                <c:pt idx="9">
                  <c:v>0.10619999999999999</c:v>
                </c:pt>
                <c:pt idx="10">
                  <c:v>0.1183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 CDI</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62.791.756/0001-53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entregar retornos acima do CDI, buscando oportunidades em debêntures incentivadas de diversos setores de infraestrutura por meio de uma gestão ativa e diversificada. A estratégia combina o benefício da isenção de Imposto de Renda para pessoas físicas com a busca por retorno superior ao CDI.</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0,97%</a:t>
                      </a:r>
                    </a:p>
                  </a:txBody>
                  <a:tcPr marL="43200" marR="43200" marT="0" marB="0">
                    <a:solidFill>
                      <a:srgbClr val="F4F7F9"/>
                    </a:solidFill>
                  </a:tcPr>
                </a:tc>
                <a:tc>
                  <a:txBody>
                    <a:bodyPr/>
                    <a:lstStyle/>
                    <a:p>
                      <a:pPr algn="r"/>
                      <a:r>
                        <a:rPr sz="850" b="0">
                          <a:solidFill>
                            <a:srgbClr val="1A1A1A"/>
                          </a:solidFill>
                          <a:latin typeface="Versos"/>
                        </a:rPr>
                        <a:t>8,80%</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12,11%</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12,38%</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89%</a:t>
                      </a:r>
                    </a:p>
                  </a:txBody>
                  <a:tcPr marL="43200" marR="43200" marT="0" marB="0">
                    <a:solidFill>
                      <a:srgbClr val="F4F7F9"/>
                    </a:solidFill>
                  </a:tcPr>
                </a:tc>
                <a:tc>
                  <a:txBody>
                    <a:bodyPr/>
                    <a:lstStyle/>
                    <a:p>
                      <a:pPr algn="r"/>
                      <a:r>
                        <a:rPr sz="850" b="0">
                          <a:solidFill>
                            <a:srgbClr val="1A1A1A"/>
                          </a:solidFill>
                          <a:latin typeface="Versos"/>
                        </a:rPr>
                        <a:t>94%</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98%</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EQUATORIAL</a:t>
                      </a:r>
                    </a:p>
                  </a:txBody>
                  <a:tcPr marL="43200" marR="43200" marT="0" marB="0">
                    <a:solidFill>
                      <a:srgbClr val="FFFFFF"/>
                    </a:solidFill>
                  </a:tcPr>
                </a:tc>
                <a:tc>
                  <a:txBody>
                    <a:bodyPr/>
                    <a:lstStyle/>
                    <a:p>
                      <a:pPr algn="r"/>
                      <a:r>
                        <a:rPr sz="850" b="0">
                          <a:solidFill>
                            <a:srgbClr val="1A1A1A"/>
                          </a:solidFill>
                          <a:latin typeface="Versos"/>
                        </a:rPr>
                        <a:t>3,82%</a:t>
                      </a:r>
                    </a:p>
                  </a:txBody>
                  <a:tcPr marL="43200" marR="43200" marT="0" marB="0">
                    <a:solidFill>
                      <a:srgbClr val="FFFFFF"/>
                    </a:solidFill>
                  </a:tcPr>
                </a:tc>
              </a:tr>
              <a:tr h="187200">
                <a:tc>
                  <a:txBody>
                    <a:bodyPr/>
                    <a:lstStyle/>
                    <a:p>
                      <a:pPr algn="l"/>
                      <a:r>
                        <a:rPr sz="850" b="1">
                          <a:solidFill>
                            <a:srgbClr val="1A1A1A"/>
                          </a:solidFill>
                          <a:latin typeface="Versos"/>
                        </a:rPr>
                        <a:t>CEMIG</a:t>
                      </a:r>
                    </a:p>
                  </a:txBody>
                  <a:tcPr marL="43200" marR="43200" marT="0" marB="0">
                    <a:solidFill>
                      <a:srgbClr val="F4F7F9"/>
                    </a:solidFill>
                  </a:tcPr>
                </a:tc>
                <a:tc>
                  <a:txBody>
                    <a:bodyPr/>
                    <a:lstStyle/>
                    <a:p>
                      <a:pPr algn="r"/>
                      <a:r>
                        <a:rPr sz="850" b="0">
                          <a:solidFill>
                            <a:srgbClr val="1A1A1A"/>
                          </a:solidFill>
                          <a:latin typeface="Versos"/>
                        </a:rPr>
                        <a:t>3,41%</a:t>
                      </a:r>
                    </a:p>
                  </a:txBody>
                  <a:tcPr marL="43200" marR="43200" marT="0" marB="0">
                    <a:solidFill>
                      <a:srgbClr val="F4F7F9"/>
                    </a:solidFill>
                  </a:tcPr>
                </a:tc>
              </a:tr>
              <a:tr h="187200">
                <a:tc>
                  <a:txBody>
                    <a:bodyPr/>
                    <a:lstStyle/>
                    <a:p>
                      <a:pPr algn="l"/>
                      <a:r>
                        <a:rPr sz="850" b="1">
                          <a:solidFill>
                            <a:srgbClr val="1A1A1A"/>
                          </a:solidFill>
                          <a:latin typeface="Versos"/>
                        </a:rPr>
                        <a:t>COPEL</a:t>
                      </a:r>
                    </a:p>
                  </a:txBody>
                  <a:tcPr marL="43200" marR="43200" marT="0" marB="0">
                    <a:solidFill>
                      <a:srgbClr val="FFFFFF"/>
                    </a:solidFill>
                  </a:tcPr>
                </a:tc>
                <a:tc>
                  <a:txBody>
                    <a:bodyPr/>
                    <a:lstStyle/>
                    <a:p>
                      <a:pPr algn="r"/>
                      <a:r>
                        <a:rPr sz="850" b="0">
                          <a:solidFill>
                            <a:srgbClr val="1A1A1A"/>
                          </a:solidFill>
                          <a:latin typeface="Versos"/>
                        </a:rPr>
                        <a:t>3,04%</a:t>
                      </a:r>
                    </a:p>
                  </a:txBody>
                  <a:tcPr marL="43200" marR="43200" marT="0" marB="0">
                    <a:solidFill>
                      <a:srgbClr val="FFFFFF"/>
                    </a:solidFill>
                  </a:tcPr>
                </a:tc>
              </a:tr>
              <a:tr h="187200">
                <a:tc>
                  <a:txBody>
                    <a:bodyPr/>
                    <a:lstStyle/>
                    <a:p>
                      <a:pPr algn="l"/>
                      <a:r>
                        <a:rPr sz="850" b="1">
                          <a:solidFill>
                            <a:srgbClr val="1A1A1A"/>
                          </a:solidFill>
                          <a:latin typeface="Versos"/>
                        </a:rPr>
                        <a:t>SABESP</a:t>
                      </a:r>
                    </a:p>
                  </a:txBody>
                  <a:tcPr marL="43200" marR="43200" marT="0" marB="0">
                    <a:solidFill>
                      <a:srgbClr val="F4F7F9"/>
                    </a:solidFill>
                  </a:tcPr>
                </a:tc>
                <a:tc>
                  <a:txBody>
                    <a:bodyPr/>
                    <a:lstStyle/>
                    <a:p>
                      <a:pPr algn="r"/>
                      <a:r>
                        <a:rPr sz="850" b="0">
                          <a:solidFill>
                            <a:srgbClr val="1A1A1A"/>
                          </a:solidFill>
                          <a:latin typeface="Versos"/>
                        </a:rPr>
                        <a:t>3,00%</a:t>
                      </a:r>
                    </a:p>
                  </a:txBody>
                  <a:tcPr marL="43200" marR="43200" marT="0" marB="0">
                    <a:solidFill>
                      <a:srgbClr val="F4F7F9"/>
                    </a:solidFill>
                  </a:tcPr>
                </a:tc>
              </a:tr>
              <a:tr h="187200">
                <a:tc>
                  <a:txBody>
                    <a:bodyPr/>
                    <a:lstStyle/>
                    <a:p>
                      <a:pPr algn="l"/>
                      <a:r>
                        <a:rPr sz="850" b="1">
                          <a:solidFill>
                            <a:srgbClr val="1A1A1A"/>
                          </a:solidFill>
                          <a:latin typeface="Versos"/>
                        </a:rPr>
                        <a:t>ELETROBRAS</a:t>
                      </a:r>
                    </a:p>
                  </a:txBody>
                  <a:tcPr marL="43200" marR="43200" marT="0" marB="0">
                    <a:solidFill>
                      <a:srgbClr val="FFFFFF"/>
                    </a:solidFill>
                  </a:tcPr>
                </a:tc>
                <a:tc>
                  <a:txBody>
                    <a:bodyPr/>
                    <a:lstStyle/>
                    <a:p>
                      <a:pPr algn="r"/>
                      <a:r>
                        <a:rPr sz="850" b="0">
                          <a:solidFill>
                            <a:srgbClr val="1A1A1A"/>
                          </a:solidFill>
                          <a:latin typeface="Versos"/>
                        </a:rPr>
                        <a:t>2,92%</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Energia Elétrica</a:t>
                      </a:r>
                    </a:p>
                  </a:txBody>
                  <a:tcPr marL="43200" marR="43200" marT="0" marB="0">
                    <a:solidFill>
                      <a:srgbClr val="FFFFFF"/>
                    </a:solidFill>
                  </a:tcPr>
                </a:tc>
                <a:tc>
                  <a:txBody>
                    <a:bodyPr/>
                    <a:lstStyle/>
                    <a:p>
                      <a:pPr algn="r"/>
                      <a:r>
                        <a:rPr sz="850" b="0">
                          <a:solidFill>
                            <a:srgbClr val="1A1A1A"/>
                          </a:solidFill>
                          <a:latin typeface="Versos"/>
                        </a:rPr>
                        <a:t>38,1%</a:t>
                      </a:r>
                    </a:p>
                  </a:txBody>
                  <a:tcPr marL="43200" marR="43200" marT="0" marB="0">
                    <a:solidFill>
                      <a:srgbClr val="FFFFFF"/>
                    </a:solidFill>
                  </a:tcPr>
                </a:tc>
              </a:tr>
              <a:tr h="187200">
                <a:tc>
                  <a:txBody>
                    <a:bodyPr/>
                    <a:lstStyle/>
                    <a:p>
                      <a:pPr algn="l"/>
                      <a:r>
                        <a:rPr sz="850" b="1">
                          <a:solidFill>
                            <a:srgbClr val="1A1A1A"/>
                          </a:solidFill>
                          <a:latin typeface="Versos"/>
                        </a:rPr>
                        <a:t>FIDC</a:t>
                      </a:r>
                    </a:p>
                  </a:txBody>
                  <a:tcPr marL="43200" marR="43200" marT="0" marB="0">
                    <a:solidFill>
                      <a:srgbClr val="F4F7F9"/>
                    </a:solidFill>
                  </a:tcPr>
                </a:tc>
                <a:tc>
                  <a:txBody>
                    <a:bodyPr/>
                    <a:lstStyle/>
                    <a:p>
                      <a:pPr algn="r"/>
                      <a:r>
                        <a:rPr sz="850" b="0">
                          <a:solidFill>
                            <a:srgbClr val="1A1A1A"/>
                          </a:solidFill>
                          <a:latin typeface="Versos"/>
                        </a:rPr>
                        <a:t>21,7%</a:t>
                      </a:r>
                    </a:p>
                  </a:txBody>
                  <a:tcPr marL="43200" marR="43200" marT="0" marB="0">
                    <a:solidFill>
                      <a:srgbClr val="F4F7F9"/>
                    </a:solidFill>
                  </a:tcPr>
                </a:tc>
              </a:tr>
              <a:tr h="1872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12,0%</a:t>
                      </a:r>
                    </a:p>
                  </a:txBody>
                  <a:tcPr marL="43200" marR="43200" marT="0" marB="0">
                    <a:solidFill>
                      <a:srgbClr val="FFFFFF"/>
                    </a:solidFill>
                  </a:tcPr>
                </a:tc>
              </a:tr>
              <a:tr h="187200">
                <a:tc>
                  <a:txBody>
                    <a:bodyPr/>
                    <a:lstStyle/>
                    <a:p>
                      <a:pPr algn="l"/>
                      <a:r>
                        <a:rPr sz="850" b="1">
                          <a:solidFill>
                            <a:srgbClr val="1A1A1A"/>
                          </a:solidFill>
                          <a:latin typeface="Versos"/>
                        </a:rPr>
                        <a:t>TI e Telecomunicações</a:t>
                      </a:r>
                    </a:p>
                  </a:txBody>
                  <a:tcPr marL="43200" marR="43200" marT="0" marB="0">
                    <a:solidFill>
                      <a:srgbClr val="F4F7F9"/>
                    </a:solidFill>
                  </a:tcPr>
                </a:tc>
                <a:tc>
                  <a:txBody>
                    <a:bodyPr/>
                    <a:lstStyle/>
                    <a:p>
                      <a:pPr algn="r"/>
                      <a:r>
                        <a:rPr sz="850" b="0">
                          <a:solidFill>
                            <a:srgbClr val="1A1A1A"/>
                          </a:solidFill>
                          <a:latin typeface="Versos"/>
                        </a:rPr>
                        <a:t>7,3%</a:t>
                      </a:r>
                    </a:p>
                  </a:txBody>
                  <a:tcPr marL="43200" marR="43200" marT="0" marB="0">
                    <a:solidFill>
                      <a:srgbClr val="F4F7F9"/>
                    </a:solidFill>
                  </a:tcPr>
                </a:tc>
              </a:tr>
              <a:tr h="187200">
                <a:tc>
                  <a:txBody>
                    <a:bodyPr/>
                    <a:lstStyle/>
                    <a:p>
                      <a:pPr algn="l"/>
                      <a:r>
                        <a:rPr sz="850" b="1">
                          <a:solidFill>
                            <a:srgbClr val="1A1A1A"/>
                          </a:solidFill>
                          <a:latin typeface="Versos"/>
                        </a:rPr>
                        <a:t>Saneamento</a:t>
                      </a:r>
                    </a:p>
                  </a:txBody>
                  <a:tcPr marL="43200" marR="43200" marT="0" marB="0">
                    <a:solidFill>
                      <a:srgbClr val="FFFFFF"/>
                    </a:solidFill>
                  </a:tcPr>
                </a:tc>
                <a:tc>
                  <a:txBody>
                    <a:bodyPr/>
                    <a:lstStyle/>
                    <a:p>
                      <a:pPr algn="r"/>
                      <a:r>
                        <a:rPr sz="850" b="0">
                          <a:solidFill>
                            <a:srgbClr val="1A1A1A"/>
                          </a:solidFill>
                          <a:latin typeface="Versos"/>
                        </a:rPr>
                        <a:t>7,2%</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9,1%</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30,1%</a:t>
                      </a:r>
                    </a:p>
                  </a:txBody>
                  <a:tcPr marL="43200" marR="43200" marT="0" marB="0">
                    <a:solidFill>
                      <a:srgbClr val="F4F7F9"/>
                    </a:solidFill>
                  </a:tcPr>
                </a:tc>
                <a:tc>
                  <a:txBody>
                    <a:bodyPr/>
                    <a:lstStyle/>
                    <a:p>
                      <a:pPr algn="r"/>
                      <a:r>
                        <a:rPr sz="850" b="0">
                          <a:solidFill>
                            <a:srgbClr val="1A1A1A"/>
                          </a:solidFill>
                          <a:latin typeface="Versos"/>
                        </a:rPr>
                        <a:t>17,7%</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16,0%</a:t>
                      </a:r>
                    </a:p>
                  </a:txBody>
                  <a:tcPr marL="43200" marR="43200" marT="0" marB="0">
                    <a:solidFill>
                      <a:srgbClr val="F4F7F9"/>
                    </a:solidFill>
                  </a:tcPr>
                </a:tc>
                <a:tc>
                  <a:txBody>
                    <a:bodyPr/>
                    <a:lstStyle/>
                    <a:p>
                      <a:pPr algn="r"/>
                      <a:r>
                        <a:rPr sz="850" b="0">
                          <a:solidFill>
                            <a:srgbClr val="1A1A1A"/>
                          </a:solidFill>
                          <a:latin typeface="Versos"/>
                        </a:rPr>
                        <a:t>7,8%</a:t>
                      </a:r>
                    </a:p>
                  </a:txBody>
                  <a:tcPr marL="43200" marR="43200" marT="0" marB="0">
                    <a:solidFill>
                      <a:srgbClr val="F4F7F9"/>
                    </a:solidFill>
                  </a:tcPr>
                </a:tc>
                <a:tc>
                  <a:txBody>
                    <a:bodyPr/>
                    <a:lstStyle/>
                    <a:p>
                      <a:pPr algn="r"/>
                      <a:r>
                        <a:rPr sz="850" b="0">
                          <a:solidFill>
                            <a:srgbClr val="1A1A1A"/>
                          </a:solidFill>
                          <a:latin typeface="Versos"/>
                        </a:rPr>
                        <a:t>1,9%</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 CDI</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a:p>
            <a:pPr algn="l"/>
            <a:r>
              <a:rPr sz="900" b="0">
                <a:solidFill>
                  <a:srgbClr val="1A1A1A"/>
                </a:solidFill>
                <a:latin typeface="Versos"/>
              </a:rPr>
              <a:t/>
            </a:r>
          </a:p>
          <a:p>
            <a:pPr algn="l"/>
            <a:r>
              <a:rPr sz="900" b="0">
                <a:solidFill>
                  <a:srgbClr val="1A1A1A"/>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a:p>
            <a:pPr algn="l"/>
            <a:r>
              <a:rPr sz="900" b="0">
                <a:solidFill>
                  <a:srgbClr val="1A1A1A"/>
                </a:solidFill>
                <a:latin typeface="Versos"/>
              </a:rPr>
              <a:t/>
            </a:r>
          </a:p>
          <a:p>
            <a:pPr algn="l"/>
            <a:r>
              <a:rPr sz="900" b="0">
                <a:solidFill>
                  <a:srgbClr val="1A1A1A"/>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a:p>
            <a:pPr algn="l"/>
            <a:r>
              <a:rPr sz="900" b="0">
                <a:solidFill>
                  <a:srgbClr val="1A1A1A"/>
                </a:solidFill>
                <a:latin typeface="Versos"/>
              </a:rPr>
              <a:t/>
            </a:r>
          </a:p>
          <a:p>
            <a:pPr algn="l"/>
            <a:r>
              <a:rPr sz="900" b="0">
                <a:solidFill>
                  <a:srgbClr val="1A1A1A"/>
                </a:solidFill>
                <a:latin typeface="Versos"/>
              </a:rPr>
              <a:t>Nesse cenário, o Institucional Incentivado CDI apresentou rentabilidade, isenta de imposto de renda, de 0,97% no mês (89% do CDI), acumulando 8,80% (94% do CDI) no ano. Na atribuição de performance, pode-se destacar as debêntures de Copel e CPFL, enquanto as de Energisa foram as maiores detratoras.</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 CDI</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Infra Plus CDI</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20/10/2025</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R$ 43.888.829,70</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R$ 37.372.496,61</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0,75%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+0,66%</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3,64 anos</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D+30</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R$ 100,00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