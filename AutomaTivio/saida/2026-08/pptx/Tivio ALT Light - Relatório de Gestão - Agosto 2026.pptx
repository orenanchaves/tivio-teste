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Fundo</c:v>
                </c:pt>
              </c:strCache>
            </c:strRef>
          </c:tx>
          <c:spPr>
            <a:ln w="25400">
              <a:solidFill>
                <a:srgbClr val="3C4A60"/>
              </a:solidFill>
            </a:ln>
          </c:spPr>
          <c:marker>
            <c:symbol val="none"/>
          </c:marker>
          <c:cat>
            <c:strRef>
              <c:f>Sheet1!$A$2:$A$11</c:f>
              <c:strCache>
                <c:ptCount val="10"/>
                <c:pt idx="0">
                  <c:v>nov/25</c:v>
                </c:pt>
                <c:pt idx="1">
                  <c:v>dez/25</c:v>
                </c:pt>
                <c:pt idx="2">
                  <c:v>jan/26</c:v>
                </c:pt>
                <c:pt idx="3">
                  <c:v>fev/26</c:v>
                </c:pt>
                <c:pt idx="4">
                  <c:v>mar/26</c:v>
                </c:pt>
                <c:pt idx="5">
                  <c:v>abr/26</c:v>
                </c:pt>
                <c:pt idx="6">
                  <c:v>mai/26</c:v>
                </c:pt>
                <c:pt idx="7">
                  <c:v>jun/26</c:v>
                </c:pt>
                <c:pt idx="8">
                  <c:v>jul/26</c:v>
                </c:pt>
                <c:pt idx="9">
                  <c:v>ago/26</c:v>
                </c:pt>
              </c:strCache>
            </c:strRef>
          </c:cat>
          <c:val>
            <c:numRef>
              <c:f>Sheet1!$B$2:$B$11</c:f>
              <c:numCache>
                <c:formatCode>General</c:formatCode>
                <c:ptCount val="10"/>
                <c:pt idx="0">
                  <c:v>0.0</c:v>
                </c:pt>
                <c:pt idx="1">
                  <c:v>0.018500000000000003</c:v>
                </c:pt>
                <c:pt idx="2">
                  <c:v>0.0341</c:v>
                </c:pt>
                <c:pt idx="3">
                  <c:v>0.043</c:v>
                </c:pt>
                <c:pt idx="4">
                  <c:v>0.055999999999999994</c:v>
                </c:pt>
                <c:pt idx="5">
                  <c:v>0.0676</c:v>
                </c:pt>
                <c:pt idx="6">
                  <c:v>0.08</c:v>
                </c:pt>
                <c:pt idx="7">
                  <c:v>0.09390000000000001</c:v>
                </c:pt>
                <c:pt idx="8">
                  <c:v>0.1074</c:v>
                </c:pt>
                <c:pt idx="9">
                  <c:v>0.1153</c:v>
                </c:pt>
              </c:numCache>
            </c:numRef>
          </c:val>
          <c:smooth val="0"/>
        </c:ser>
        <c:ser>
          <c:idx val="1"/>
          <c:order val="1"/>
          <c:tx>
            <c:strRef>
              <c:f>Sheet1!$C$1</c:f>
              <c:strCache>
                <c:ptCount val="1"/>
                <c:pt idx="0">
                  <c:v>CDI</c:v>
                </c:pt>
              </c:strCache>
            </c:strRef>
          </c:tx>
          <c:spPr>
            <a:ln w="25400">
              <a:solidFill>
                <a:srgbClr val="ABC6CD"/>
              </a:solidFill>
              <a:prstDash val="dash"/>
            </a:ln>
          </c:spPr>
          <c:marker>
            <c:symbol val="none"/>
          </c:marker>
          <c:cat>
            <c:strRef>
              <c:f>Sheet1!$A$2:$A$11</c:f>
              <c:strCache>
                <c:ptCount val="10"/>
                <c:pt idx="0">
                  <c:v>nov/25</c:v>
                </c:pt>
                <c:pt idx="1">
                  <c:v>dez/25</c:v>
                </c:pt>
                <c:pt idx="2">
                  <c:v>jan/26</c:v>
                </c:pt>
                <c:pt idx="3">
                  <c:v>fev/26</c:v>
                </c:pt>
                <c:pt idx="4">
                  <c:v>mar/26</c:v>
                </c:pt>
                <c:pt idx="5">
                  <c:v>abr/26</c:v>
                </c:pt>
                <c:pt idx="6">
                  <c:v>mai/26</c:v>
                </c:pt>
                <c:pt idx="7">
                  <c:v>jun/26</c:v>
                </c:pt>
                <c:pt idx="8">
                  <c:v>jul/26</c:v>
                </c:pt>
                <c:pt idx="9">
                  <c:v>ago/26</c:v>
                </c:pt>
              </c:strCache>
            </c:strRef>
          </c:cat>
          <c:val>
            <c:numRef>
              <c:f>Sheet1!$C$2:$C$11</c:f>
              <c:numCache>
                <c:formatCode>General</c:formatCode>
                <c:ptCount val="10"/>
                <c:pt idx="0">
                  <c:v>0.0</c:v>
                </c:pt>
                <c:pt idx="1">
                  <c:v>0.012199999999999999</c:v>
                </c:pt>
                <c:pt idx="2">
                  <c:v>0.024</c:v>
                </c:pt>
                <c:pt idx="3">
                  <c:v>0.0342</c:v>
                </c:pt>
                <c:pt idx="4">
                  <c:v>0.0467</c:v>
                </c:pt>
                <c:pt idx="5">
                  <c:v>0.0582</c:v>
                </c:pt>
                <c:pt idx="6">
                  <c:v>0.0695</c:v>
                </c:pt>
                <c:pt idx="7">
                  <c:v>0.0815</c:v>
                </c:pt>
                <c:pt idx="8">
                  <c:v>0.0946</c:v>
                </c:pt>
                <c:pt idx="9">
                  <c:v>0.1066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numFmt formatCode="0.0%" sourceLinked="0"/>
        <c:majorTickMark val="out"/>
        <c:minorTickMark val="none"/>
        <c:tickLblPos val="nextTo"/>
        <c:crossAx val="2118791784"/>
        <c:crosses val="autoZero"/>
      </c:valAx>
    </c:plotArea>
    <c:legend>
      <c:legendPos val="t"/>
      <c:layout/>
      <c:overlay val="0"/>
    </c:legend>
    <c:plotVisOnly val="1"/>
    <c:dispBlanksAs val="gap"/>
    <c:showDLblsOverMax val="0"/>
  </c:chart>
  <c:txPr>
    <a:bodyPr/>
    <a:lstStyle/>
    <a:p>
      <a:pPr>
        <a:defRPr sz="800">
          <a:latin typeface="Verso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80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954000"/>
            <a:ext cx="5040000" cy="180000"/>
          </a:xfrm>
          <a:prstGeom prst="rect">
            <a:avLst/>
          </a:prstGeom>
          <a:noFill/>
        </p:spPr>
        <p:txBody>
          <a:bodyPr wrap="square" lIns="0" rIns="0" tIns="0" bIns="0">
            <a:spAutoFit/>
          </a:bodyPr>
          <a:lstStyle/>
          <a:p>
            <a:pPr algn="l"/>
            <a:r>
              <a:rPr sz="800" b="0">
                <a:solidFill>
                  <a:srgbClr val="ABC6CD"/>
                </a:solidFill>
                <a:latin typeface="Versos"/>
              </a:rPr>
              <a:t>CNPJ: 53.991.177/0001-63  ·  Benchmark: CDI</a:t>
            </a:r>
          </a:p>
        </p:txBody>
      </p:sp>
      <p:sp>
        <p:nvSpPr>
          <p:cNvPr id="6" name="TextBox 5"/>
          <p:cNvSpPr txBox="1"/>
          <p:nvPr/>
        </p:nvSpPr>
        <p:spPr>
          <a:xfrm>
            <a:off x="540000" y="144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7" name="TextBox 6"/>
          <p:cNvSpPr txBox="1"/>
          <p:nvPr/>
        </p:nvSpPr>
        <p:spPr>
          <a:xfrm>
            <a:off x="540000" y="2088000"/>
            <a:ext cx="6480000" cy="180000"/>
          </a:xfrm>
          <a:prstGeom prst="rect">
            <a:avLst/>
          </a:prstGeom>
          <a:noFill/>
        </p:spPr>
        <p:txBody>
          <a:bodyPr wrap="square" lIns="0" rIns="0" tIns="0" bIns="0">
            <a:spAutoFit/>
          </a:bodyPr>
          <a:lstStyle/>
          <a:p>
            <a:pPr algn="l"/>
            <a:r>
              <a:rPr sz="900" b="1">
                <a:solidFill>
                  <a:srgbClr val="759DB4"/>
                </a:solidFill>
                <a:latin typeface="Versos"/>
              </a:rPr>
              <a:t>OBJETIVO DA CARTEIRA</a:t>
            </a:r>
          </a:p>
        </p:txBody>
      </p:sp>
      <p:sp>
        <p:nvSpPr>
          <p:cNvPr id="8" name="TextBox 7"/>
          <p:cNvSpPr txBox="1"/>
          <p:nvPr/>
        </p:nvSpPr>
        <p:spPr>
          <a:xfrm>
            <a:off x="540000" y="2286000"/>
            <a:ext cx="6480000" cy="576000"/>
          </a:xfrm>
          <a:prstGeom prst="rect">
            <a:avLst/>
          </a:prstGeom>
          <a:noFill/>
        </p:spPr>
        <p:txBody>
          <a:bodyPr wrap="square" lIns="0" rIns="0" tIns="0" bIns="0">
            <a:spAutoFit/>
          </a:bodyPr>
          <a:lstStyle/>
          <a:p>
            <a:pPr algn="l"/>
            <a:r>
              <a:rPr sz="900" b="0">
                <a:solidFill>
                  <a:srgbClr val="1A1A1A"/>
                </a:solidFill>
                <a:latin typeface="Versos"/>
              </a:rPr>
              <a:t>Fundo de previdência de crédito com parcela máxima permitida em crédito estruturado. Além disso aloca em crédito privado e bancários.</a:t>
            </a:r>
          </a:p>
        </p:txBody>
      </p:sp>
      <p:sp>
        <p:nvSpPr>
          <p:cNvPr id="9" name="TextBox 8"/>
          <p:cNvSpPr txBox="1"/>
          <p:nvPr/>
        </p:nvSpPr>
        <p:spPr>
          <a:xfrm>
            <a:off x="540000" y="2952000"/>
            <a:ext cx="3600000" cy="180000"/>
          </a:xfrm>
          <a:prstGeom prst="rect">
            <a:avLst/>
          </a:prstGeom>
          <a:noFill/>
        </p:spPr>
        <p:txBody>
          <a:bodyPr wrap="square" lIns="0" rIns="0" tIns="0" bIns="0">
            <a:spAutoFit/>
          </a:bodyPr>
          <a:lstStyle/>
          <a:p>
            <a:pPr algn="l"/>
            <a:r>
              <a:rPr sz="900" b="1">
                <a:solidFill>
                  <a:srgbClr val="759DB4"/>
                </a:solidFill>
                <a:latin typeface="Versos"/>
              </a:rPr>
              <a:t>RENTABILIDADE</a:t>
            </a:r>
          </a:p>
        </p:txBody>
      </p:sp>
      <p:graphicFrame>
        <p:nvGraphicFramePr>
          <p:cNvPr id="10" name="Table 9"/>
          <p:cNvGraphicFramePr>
            <a:graphicFrameLocks noGrp="1"/>
          </p:cNvGraphicFramePr>
          <p:nvPr/>
        </p:nvGraphicFramePr>
        <p:xfrm>
          <a:off x="540000" y="3150000"/>
          <a:ext cx="6479994" cy="748800"/>
        </p:xfrm>
        <a:graphic>
          <a:graphicData uri="http://schemas.openxmlformats.org/drawingml/2006/table">
            <a:tbl>
              <a:tblPr firstRow="1" bandRow="1">
                <a:tableStyleId>{5C22544A-7EE6-4342-B048-85BDC9FD1C3A}</a:tableStyleId>
              </a:tblPr>
              <a:tblGrid>
                <a:gridCol w="1747415"/>
                <a:gridCol w="728089"/>
                <a:gridCol w="728089"/>
                <a:gridCol w="728089"/>
                <a:gridCol w="728089"/>
                <a:gridCol w="728089"/>
                <a:gridCol w="1092134"/>
              </a:tblGrid>
              <a:tr h="187200">
                <a:tc>
                  <a:txBody>
                    <a:bodyPr/>
                    <a:lstStyle/>
                    <a:p>
                      <a:pPr algn="l"/>
                      <a:r>
                        <a:rPr sz="850" b="1">
                          <a:solidFill>
                            <a:srgbClr val="FFFFFF"/>
                          </a:solidFill>
                          <a:latin typeface="Versos"/>
                        </a:rPr>
                        <a:t/>
                      </a:r>
                    </a:p>
                  </a:txBody>
                  <a:tcPr marL="43200" marR="43200" marT="0" marB="0">
                    <a:solidFill>
                      <a:srgbClr val="3C4A60"/>
                    </a:solidFill>
                  </a:tcPr>
                </a:tc>
                <a:tc>
                  <a:txBody>
                    <a:bodyPr/>
                    <a:lstStyle/>
                    <a:p>
                      <a:pPr algn="r"/>
                      <a:r>
                        <a:rPr sz="850" b="1">
                          <a:solidFill>
                            <a:srgbClr val="FFFFFF"/>
                          </a:solidFill>
                          <a:latin typeface="Versos"/>
                        </a:rPr>
                        <a:t>Mês</a:t>
                      </a:r>
                    </a:p>
                  </a:txBody>
                  <a:tcPr marL="43200" marR="43200" marT="0" marB="0">
                    <a:solidFill>
                      <a:srgbClr val="3C4A60"/>
                    </a:solidFill>
                  </a:tcPr>
                </a:tc>
                <a:tc>
                  <a:txBody>
                    <a:bodyPr/>
                    <a:lstStyle/>
                    <a:p>
                      <a:pPr algn="r"/>
                      <a:r>
                        <a:rPr sz="850" b="1">
                          <a:solidFill>
                            <a:srgbClr val="FFFFFF"/>
                          </a:solidFill>
                          <a:latin typeface="Versos"/>
                        </a:rPr>
                        <a:t>Ano</a:t>
                      </a:r>
                    </a:p>
                  </a:txBody>
                  <a:tcPr marL="43200" marR="43200" marT="0" marB="0">
                    <a:solidFill>
                      <a:srgbClr val="3C4A60"/>
                    </a:solidFill>
                  </a:tcPr>
                </a:tc>
                <a:tc>
                  <a:txBody>
                    <a:bodyPr/>
                    <a:lstStyle/>
                    <a:p>
                      <a:pPr algn="r"/>
                      <a:r>
                        <a:rPr sz="850" b="1">
                          <a:solidFill>
                            <a:srgbClr val="FFFFFF"/>
                          </a:solidFill>
                          <a:latin typeface="Versos"/>
                        </a:rPr>
                        <a:t>12M</a:t>
                      </a:r>
                    </a:p>
                  </a:txBody>
                  <a:tcPr marL="43200" marR="43200" marT="0" marB="0">
                    <a:solidFill>
                      <a:srgbClr val="3C4A60"/>
                    </a:solidFill>
                  </a:tcPr>
                </a:tc>
                <a:tc>
                  <a:txBody>
                    <a:bodyPr/>
                    <a:lstStyle/>
                    <a:p>
                      <a:pPr algn="r"/>
                      <a:r>
                        <a:rPr sz="850" b="1">
                          <a:solidFill>
                            <a:srgbClr val="FFFFFF"/>
                          </a:solidFill>
                          <a:latin typeface="Versos"/>
                        </a:rPr>
                        <a:t>24M</a:t>
                      </a:r>
                    </a:p>
                  </a:txBody>
                  <a:tcPr marL="43200" marR="43200" marT="0" marB="0">
                    <a:solidFill>
                      <a:srgbClr val="3C4A60"/>
                    </a:solidFill>
                  </a:tcPr>
                </a:tc>
                <a:tc>
                  <a:txBody>
                    <a:bodyPr/>
                    <a:lstStyle/>
                    <a:p>
                      <a:pPr algn="r"/>
                      <a:r>
                        <a:rPr sz="850" b="1">
                          <a:solidFill>
                            <a:srgbClr val="FFFFFF"/>
                          </a:solidFill>
                          <a:latin typeface="Versos"/>
                        </a:rPr>
                        <a:t>36M</a:t>
                      </a:r>
                    </a:p>
                  </a:txBody>
                  <a:tcPr marL="43200" marR="43200" marT="0" marB="0">
                    <a:solidFill>
                      <a:srgbClr val="3C4A60"/>
                    </a:solidFill>
                  </a:tcPr>
                </a:tc>
                <a:tc>
                  <a:txBody>
                    <a:bodyPr/>
                    <a:lstStyle/>
                    <a:p>
                      <a:pPr algn="r"/>
                      <a:r>
                        <a:rPr sz="850" b="1">
                          <a:solidFill>
                            <a:srgbClr val="FFFFFF"/>
                          </a:solidFill>
                          <a:latin typeface="Versos"/>
                        </a:rPr>
                        <a:t>Desde o início</a:t>
                      </a:r>
                    </a:p>
                  </a:txBody>
                  <a:tcPr marL="43200" marR="43200" marT="0" marB="0">
                    <a:solidFill>
                      <a:srgbClr val="3C4A60"/>
                    </a:solidFill>
                  </a:tcPr>
                </a:tc>
              </a:tr>
              <a:tr h="187200">
                <a:tc>
                  <a:txBody>
                    <a:bodyPr/>
                    <a:lstStyle/>
                    <a:p>
                      <a:pPr algn="l"/>
                      <a:r>
                        <a:rPr sz="850" b="1">
                          <a:solidFill>
                            <a:srgbClr val="1A1A1A"/>
                          </a:solidFill>
                          <a:latin typeface="Versos"/>
                        </a:rPr>
                        <a:t>Fundo</a:t>
                      </a:r>
                    </a:p>
                  </a:txBody>
                  <a:tcPr marL="43200" marR="43200" marT="0" marB="0">
                    <a:solidFill>
                      <a:srgbClr val="F4F7F9"/>
                    </a:solidFill>
                  </a:tcPr>
                </a:tc>
                <a:tc>
                  <a:txBody>
                    <a:bodyPr/>
                    <a:lstStyle/>
                    <a:p>
                      <a:pPr algn="r"/>
                      <a:r>
                        <a:rPr sz="850" b="0">
                          <a:solidFill>
                            <a:srgbClr val="1A1A1A"/>
                          </a:solidFill>
                          <a:latin typeface="Versos"/>
                        </a:rPr>
                        <a:t>0,72%</a:t>
                      </a:r>
                    </a:p>
                  </a:txBody>
                  <a:tcPr marL="43200" marR="43200" marT="0" marB="0">
                    <a:solidFill>
                      <a:srgbClr val="F4F7F9"/>
                    </a:solidFill>
                  </a:tcPr>
                </a:tc>
                <a:tc>
                  <a:txBody>
                    <a:bodyPr/>
                    <a:lstStyle/>
                    <a:p>
                      <a:pPr algn="r"/>
                      <a:r>
                        <a:rPr sz="850" b="0">
                          <a:solidFill>
                            <a:srgbClr val="1A1A1A"/>
                          </a:solidFill>
                          <a:latin typeface="Versos"/>
                        </a:rPr>
                        <a:t>9,51%</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12,60%</a:t>
                      </a:r>
                    </a:p>
                  </a:txBody>
                  <a:tcPr marL="43200" marR="43200" marT="0" marB="0">
                    <a:solidFill>
                      <a:srgbClr val="F4F7F9"/>
                    </a:solidFill>
                  </a:tcPr>
                </a:tc>
              </a:tr>
              <a:tr h="187200">
                <a:tc>
                  <a:txBody>
                    <a:bodyPr/>
                    <a:lstStyle/>
                    <a:p>
                      <a:pPr algn="l"/>
                      <a:r>
                        <a:rPr sz="850" b="1">
                          <a:solidFill>
                            <a:srgbClr val="1A1A1A"/>
                          </a:solidFill>
                          <a:latin typeface="Versos"/>
                        </a:rPr>
                        <a:t>CDI</a:t>
                      </a:r>
                    </a:p>
                  </a:txBody>
                  <a:tcPr marL="43200" marR="43200" marT="0" marB="0">
                    <a:solidFill>
                      <a:srgbClr val="FFFFFF"/>
                    </a:solidFill>
                  </a:tcPr>
                </a:tc>
                <a:tc>
                  <a:txBody>
                    <a:bodyPr/>
                    <a:lstStyle/>
                    <a:p>
                      <a:pPr algn="r"/>
                      <a:r>
                        <a:rPr sz="850" b="0">
                          <a:solidFill>
                            <a:srgbClr val="1A1A1A"/>
                          </a:solidFill>
                          <a:latin typeface="Versos"/>
                        </a:rPr>
                        <a:t>1,09%</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a:t>
                      </a:r>
                    </a:p>
                  </a:txBody>
                  <a:tcPr marL="43200" marR="43200" marT="0" marB="0">
                    <a:solidFill>
                      <a:srgbClr val="FFFFFF"/>
                    </a:solidFill>
                  </a:tcPr>
                </a:tc>
                <a:tc>
                  <a:txBody>
                    <a:bodyPr/>
                    <a:lstStyle/>
                    <a:p>
                      <a:pPr algn="r"/>
                      <a:r>
                        <a:rPr sz="850" b="0">
                          <a:solidFill>
                            <a:srgbClr val="1A1A1A"/>
                          </a:solidFill>
                          <a:latin typeface="Versos"/>
                        </a:rPr>
                        <a:t>11,40%</a:t>
                      </a:r>
                    </a:p>
                  </a:txBody>
                  <a:tcPr marL="43200" marR="43200" marT="0" marB="0">
                    <a:solidFill>
                      <a:srgbClr val="FFFFFF"/>
                    </a:solidFill>
                  </a:tcPr>
                </a:tc>
              </a:tr>
              <a:tr h="187200">
                <a:tc>
                  <a:txBody>
                    <a:bodyPr/>
                    <a:lstStyle/>
                    <a:p>
                      <a:pPr algn="l"/>
                      <a:r>
                        <a:rPr sz="850" b="1">
                          <a:solidFill>
                            <a:srgbClr val="1A1A1A"/>
                          </a:solidFill>
                          <a:latin typeface="Versos"/>
                        </a:rPr>
                        <a:t>% do CDI</a:t>
                      </a:r>
                    </a:p>
                  </a:txBody>
                  <a:tcPr marL="43200" marR="43200" marT="0" marB="0">
                    <a:solidFill>
                      <a:srgbClr val="F4F7F9"/>
                    </a:solidFill>
                  </a:tcPr>
                </a:tc>
                <a:tc>
                  <a:txBody>
                    <a:bodyPr/>
                    <a:lstStyle/>
                    <a:p>
                      <a:pPr algn="r"/>
                      <a:r>
                        <a:rPr sz="850" b="0">
                          <a:solidFill>
                            <a:srgbClr val="1A1A1A"/>
                          </a:solidFill>
                          <a:latin typeface="Versos"/>
                        </a:rPr>
                        <a:t>65,59%</a:t>
                      </a:r>
                    </a:p>
                  </a:txBody>
                  <a:tcPr marL="43200" marR="43200" marT="0" marB="0">
                    <a:solidFill>
                      <a:srgbClr val="F4F7F9"/>
                    </a:solidFill>
                  </a:tcPr>
                </a:tc>
                <a:tc>
                  <a:txBody>
                    <a:bodyPr/>
                    <a:lstStyle/>
                    <a:p>
                      <a:pPr algn="r"/>
                      <a:r>
                        <a:rPr sz="850" b="0">
                          <a:solidFill>
                            <a:srgbClr val="1A1A1A"/>
                          </a:solidFill>
                          <a:latin typeface="Versos"/>
                        </a:rPr>
                        <a:t>101,93%</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a:t>
                      </a:r>
                    </a:p>
                  </a:txBody>
                  <a:tcPr marL="43200" marR="43200" marT="0" marB="0">
                    <a:solidFill>
                      <a:srgbClr val="F4F7F9"/>
                    </a:solidFill>
                  </a:tcPr>
                </a:tc>
                <a:tc>
                  <a:txBody>
                    <a:bodyPr/>
                    <a:lstStyle/>
                    <a:p>
                      <a:pPr algn="r"/>
                      <a:r>
                        <a:rPr sz="850" b="0">
                          <a:solidFill>
                            <a:srgbClr val="1A1A1A"/>
                          </a:solidFill>
                          <a:latin typeface="Versos"/>
                        </a:rPr>
                        <a:t>110,53%</a:t>
                      </a:r>
                    </a:p>
                  </a:txBody>
                  <a:tcPr marL="43200" marR="43200" marT="0" marB="0">
                    <a:solidFill>
                      <a:srgbClr val="F4F7F9"/>
                    </a:solidFill>
                  </a:tcPr>
                </a:tc>
              </a:tr>
            </a:tbl>
          </a:graphicData>
        </a:graphic>
      </p:graphicFrame>
      <p:sp>
        <p:nvSpPr>
          <p:cNvPr id="11" name="TextBox 10"/>
          <p:cNvSpPr txBox="1"/>
          <p:nvPr/>
        </p:nvSpPr>
        <p:spPr>
          <a:xfrm>
            <a:off x="540000" y="4140000"/>
            <a:ext cx="6480000" cy="144000"/>
          </a:xfrm>
          <a:prstGeom prst="rect">
            <a:avLst/>
          </a:prstGeom>
          <a:noFill/>
        </p:spPr>
        <p:txBody>
          <a:bodyPr wrap="square" lIns="0" rIns="0" tIns="0" bIns="0">
            <a:spAutoFit/>
          </a:bodyPr>
          <a:lstStyle/>
          <a:p>
            <a:pPr algn="r"/>
            <a:r>
              <a:rPr sz="800" b="0">
                <a:solidFill>
                  <a:srgbClr val="637881"/>
                </a:solidFill>
                <a:latin typeface="Versos"/>
              </a:rPr>
              <a:t>Data base: 31/08/2026</a:t>
            </a:r>
          </a:p>
        </p:txBody>
      </p:sp>
      <p:sp>
        <p:nvSpPr>
          <p:cNvPr id="12" name="TextBox 11"/>
          <p:cNvSpPr txBox="1"/>
          <p:nvPr/>
        </p:nvSpPr>
        <p:spPr>
          <a:xfrm>
            <a:off x="540000" y="4428000"/>
            <a:ext cx="3096000" cy="180000"/>
          </a:xfrm>
          <a:prstGeom prst="rect">
            <a:avLst/>
          </a:prstGeom>
          <a:noFill/>
        </p:spPr>
        <p:txBody>
          <a:bodyPr wrap="square" lIns="0" rIns="0" tIns="0" bIns="0">
            <a:spAutoFit/>
          </a:bodyPr>
          <a:lstStyle/>
          <a:p>
            <a:pPr algn="l"/>
            <a:r>
              <a:rPr sz="900" b="1">
                <a:solidFill>
                  <a:srgbClr val="759DB4"/>
                </a:solidFill>
                <a:latin typeface="Versos"/>
              </a:rPr>
              <a:t>PRINCIPAIS EMISSORES</a:t>
            </a:r>
          </a:p>
        </p:txBody>
      </p:sp>
      <p:graphicFrame>
        <p:nvGraphicFramePr>
          <p:cNvPr id="13" name="Table 12"/>
          <p:cNvGraphicFramePr>
            <a:graphicFrameLocks noGrp="1"/>
          </p:cNvGraphicFramePr>
          <p:nvPr/>
        </p:nvGraphicFramePr>
        <p:xfrm>
          <a:off x="540000.0" y="4626000"/>
          <a:ext cx="3096000" cy="9360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INTER</a:t>
                      </a:r>
                    </a:p>
                  </a:txBody>
                  <a:tcPr marL="43200" marR="43200" marT="0" marB="0">
                    <a:solidFill>
                      <a:srgbClr val="FFFFFF"/>
                    </a:solidFill>
                  </a:tcPr>
                </a:tc>
                <a:tc>
                  <a:txBody>
                    <a:bodyPr/>
                    <a:lstStyle/>
                    <a:p>
                      <a:pPr algn="r"/>
                      <a:r>
                        <a:rPr sz="850" b="0">
                          <a:solidFill>
                            <a:srgbClr val="1A1A1A"/>
                          </a:solidFill>
                          <a:latin typeface="Versos"/>
                        </a:rPr>
                        <a:t>9,33%</a:t>
                      </a:r>
                    </a:p>
                  </a:txBody>
                  <a:tcPr marL="43200" marR="43200" marT="0" marB="0">
                    <a:solidFill>
                      <a:srgbClr val="FFFFFF"/>
                    </a:solidFill>
                  </a:tcPr>
                </a:tc>
              </a:tr>
              <a:tr h="187200">
                <a:tc>
                  <a:txBody>
                    <a:bodyPr/>
                    <a:lstStyle/>
                    <a:p>
                      <a:pPr algn="l"/>
                      <a:r>
                        <a:rPr sz="850" b="1">
                          <a:solidFill>
                            <a:srgbClr val="1A1A1A"/>
                          </a:solidFill>
                          <a:latin typeface="Versos"/>
                        </a:rPr>
                        <a:t>AGIBANK</a:t>
                      </a:r>
                    </a:p>
                  </a:txBody>
                  <a:tcPr marL="43200" marR="43200" marT="0" marB="0">
                    <a:solidFill>
                      <a:srgbClr val="F4F7F9"/>
                    </a:solidFill>
                  </a:tcPr>
                </a:tc>
                <a:tc>
                  <a:txBody>
                    <a:bodyPr/>
                    <a:lstStyle/>
                    <a:p>
                      <a:pPr algn="r"/>
                      <a:r>
                        <a:rPr sz="850" b="0">
                          <a:solidFill>
                            <a:srgbClr val="1A1A1A"/>
                          </a:solidFill>
                          <a:latin typeface="Versos"/>
                        </a:rPr>
                        <a:t>6,71%</a:t>
                      </a:r>
                    </a:p>
                  </a:txBody>
                  <a:tcPr marL="43200" marR="43200" marT="0" marB="0">
                    <a:solidFill>
                      <a:srgbClr val="F4F7F9"/>
                    </a:solidFill>
                  </a:tcPr>
                </a:tc>
              </a:tr>
              <a:tr h="187200">
                <a:tc>
                  <a:txBody>
                    <a:bodyPr/>
                    <a:lstStyle/>
                    <a:p>
                      <a:pPr algn="l"/>
                      <a:r>
                        <a:rPr sz="850" b="1">
                          <a:solidFill>
                            <a:srgbClr val="1A1A1A"/>
                          </a:solidFill>
                          <a:latin typeface="Versos"/>
                        </a:rPr>
                        <a:t>SOFISA</a:t>
                      </a:r>
                    </a:p>
                  </a:txBody>
                  <a:tcPr marL="43200" marR="43200" marT="0" marB="0">
                    <a:solidFill>
                      <a:srgbClr val="FFFFFF"/>
                    </a:solidFill>
                  </a:tcPr>
                </a:tc>
                <a:tc>
                  <a:txBody>
                    <a:bodyPr/>
                    <a:lstStyle/>
                    <a:p>
                      <a:pPr algn="r"/>
                      <a:r>
                        <a:rPr sz="850" b="0">
                          <a:solidFill>
                            <a:srgbClr val="1A1A1A"/>
                          </a:solidFill>
                          <a:latin typeface="Versos"/>
                        </a:rPr>
                        <a:t>6,21%</a:t>
                      </a:r>
                    </a:p>
                  </a:txBody>
                  <a:tcPr marL="43200" marR="43200" marT="0" marB="0">
                    <a:solidFill>
                      <a:srgbClr val="FFFFFF"/>
                    </a:solidFill>
                  </a:tcPr>
                </a:tc>
              </a:tr>
              <a:tr h="187200">
                <a:tc>
                  <a:txBody>
                    <a:bodyPr/>
                    <a:lstStyle/>
                    <a:p>
                      <a:pPr algn="l"/>
                      <a:r>
                        <a:rPr sz="850" b="1">
                          <a:solidFill>
                            <a:srgbClr val="1A1A1A"/>
                          </a:solidFill>
                          <a:latin typeface="Versos"/>
                        </a:rPr>
                        <a:t>C6</a:t>
                      </a:r>
                    </a:p>
                  </a:txBody>
                  <a:tcPr marL="43200" marR="43200" marT="0" marB="0">
                    <a:solidFill>
                      <a:srgbClr val="F4F7F9"/>
                    </a:solidFill>
                  </a:tcPr>
                </a:tc>
                <a:tc>
                  <a:txBody>
                    <a:bodyPr/>
                    <a:lstStyle/>
                    <a:p>
                      <a:pPr algn="r"/>
                      <a:r>
                        <a:rPr sz="850" b="0">
                          <a:solidFill>
                            <a:srgbClr val="1A1A1A"/>
                          </a:solidFill>
                          <a:latin typeface="Versos"/>
                        </a:rPr>
                        <a:t>6,07%</a:t>
                      </a:r>
                    </a:p>
                  </a:txBody>
                  <a:tcPr marL="43200" marR="43200" marT="0" marB="0">
                    <a:solidFill>
                      <a:srgbClr val="F4F7F9"/>
                    </a:solidFill>
                  </a:tcPr>
                </a:tc>
              </a:tr>
              <a:tr h="187200">
                <a:tc>
                  <a:txBody>
                    <a:bodyPr/>
                    <a:lstStyle/>
                    <a:p>
                      <a:pPr algn="l"/>
                      <a:r>
                        <a:rPr sz="850" b="1">
                          <a:solidFill>
                            <a:srgbClr val="1A1A1A"/>
                          </a:solidFill>
                          <a:latin typeface="Versos"/>
                        </a:rPr>
                        <a:t>BB</a:t>
                      </a:r>
                    </a:p>
                  </a:txBody>
                  <a:tcPr marL="43200" marR="43200" marT="0" marB="0">
                    <a:solidFill>
                      <a:srgbClr val="FFFFFF"/>
                    </a:solidFill>
                  </a:tcPr>
                </a:tc>
                <a:tc>
                  <a:txBody>
                    <a:bodyPr/>
                    <a:lstStyle/>
                    <a:p>
                      <a:pPr algn="r"/>
                      <a:r>
                        <a:rPr sz="850" b="0">
                          <a:solidFill>
                            <a:srgbClr val="1A1A1A"/>
                          </a:solidFill>
                          <a:latin typeface="Versos"/>
                        </a:rPr>
                        <a:t>5,30%</a:t>
                      </a:r>
                    </a:p>
                  </a:txBody>
                  <a:tcPr marL="43200" marR="43200" marT="0" marB="0">
                    <a:solidFill>
                      <a:srgbClr val="FFFFFF"/>
                    </a:solidFill>
                  </a:tcPr>
                </a:tc>
              </a:tr>
            </a:tbl>
          </a:graphicData>
        </a:graphic>
      </p:graphicFrame>
      <p:sp>
        <p:nvSpPr>
          <p:cNvPr id="14" name="TextBox 13"/>
          <p:cNvSpPr txBox="1"/>
          <p:nvPr/>
        </p:nvSpPr>
        <p:spPr>
          <a:xfrm>
            <a:off x="3924000" y="4428000"/>
            <a:ext cx="3096000" cy="180000"/>
          </a:xfrm>
          <a:prstGeom prst="rect">
            <a:avLst/>
          </a:prstGeom>
          <a:noFill/>
        </p:spPr>
        <p:txBody>
          <a:bodyPr wrap="square" lIns="0" rIns="0" tIns="0" bIns="0">
            <a:spAutoFit/>
          </a:bodyPr>
          <a:lstStyle/>
          <a:p>
            <a:pPr algn="l"/>
            <a:r>
              <a:rPr sz="900" b="1">
                <a:solidFill>
                  <a:srgbClr val="759DB4"/>
                </a:solidFill>
                <a:latin typeface="Versos"/>
              </a:rPr>
              <a:t>ALOCAÇÃO POR SETOR</a:t>
            </a:r>
          </a:p>
        </p:txBody>
      </p:sp>
      <p:graphicFrame>
        <p:nvGraphicFramePr>
          <p:cNvPr id="15" name="Table 14"/>
          <p:cNvGraphicFramePr>
            <a:graphicFrameLocks noGrp="1"/>
          </p:cNvGraphicFramePr>
          <p:nvPr/>
        </p:nvGraphicFramePr>
        <p:xfrm>
          <a:off x="3924000.0" y="4626000"/>
          <a:ext cx="3096000" cy="2433600"/>
        </p:xfrm>
        <a:graphic>
          <a:graphicData uri="http://schemas.openxmlformats.org/drawingml/2006/table">
            <a:tbl>
              <a:tblPr firstRow="1" bandRow="1">
                <a:tableStyleId>{5C22544A-7EE6-4342-B048-85BDC9FD1C3A}</a:tableStyleId>
              </a:tblPr>
              <a:tblGrid>
                <a:gridCol w="2322000"/>
                <a:gridCol w="774000"/>
              </a:tblGrid>
              <a:tr h="187200">
                <a:tc>
                  <a:txBody>
                    <a:bodyPr/>
                    <a:lstStyle/>
                    <a:p>
                      <a:pPr algn="l"/>
                      <a:r>
                        <a:rPr sz="850" b="1">
                          <a:solidFill>
                            <a:srgbClr val="1A1A1A"/>
                          </a:solidFill>
                          <a:latin typeface="Versos"/>
                        </a:rPr>
                        <a:t>Financeiro</a:t>
                      </a:r>
                    </a:p>
                  </a:txBody>
                  <a:tcPr marL="43200" marR="43200" marT="0" marB="0">
                    <a:solidFill>
                      <a:srgbClr val="FFFFFF"/>
                    </a:solidFill>
                  </a:tcPr>
                </a:tc>
                <a:tc>
                  <a:txBody>
                    <a:bodyPr/>
                    <a:lstStyle/>
                    <a:p>
                      <a:pPr algn="r"/>
                      <a:r>
                        <a:rPr sz="850" b="0">
                          <a:solidFill>
                            <a:srgbClr val="1A1A1A"/>
                          </a:solidFill>
                          <a:latin typeface="Versos"/>
                        </a:rPr>
                        <a:t>40,7%</a:t>
                      </a:r>
                    </a:p>
                  </a:txBody>
                  <a:tcPr marL="43200" marR="43200" marT="0" marB="0">
                    <a:solidFill>
                      <a:srgbClr val="FFFFFF"/>
                    </a:solidFill>
                  </a:tcPr>
                </a:tc>
              </a:tr>
              <a:tr h="187200">
                <a:tc>
                  <a:txBody>
                    <a:bodyPr/>
                    <a:lstStyle/>
                    <a:p>
                      <a:pPr algn="l"/>
                      <a:r>
                        <a:rPr sz="850" b="1">
                          <a:solidFill>
                            <a:srgbClr val="1A1A1A"/>
                          </a:solidFill>
                          <a:latin typeface="Versos"/>
                        </a:rPr>
                        <a:t>Indústria e Comércio</a:t>
                      </a:r>
                    </a:p>
                  </a:txBody>
                  <a:tcPr marL="43200" marR="43200" marT="0" marB="0">
                    <a:solidFill>
                      <a:srgbClr val="F4F7F9"/>
                    </a:solidFill>
                  </a:tcPr>
                </a:tc>
                <a:tc>
                  <a:txBody>
                    <a:bodyPr/>
                    <a:lstStyle/>
                    <a:p>
                      <a:pPr algn="r"/>
                      <a:r>
                        <a:rPr sz="850" b="0">
                          <a:solidFill>
                            <a:srgbClr val="1A1A1A"/>
                          </a:solidFill>
                          <a:latin typeface="Versos"/>
                        </a:rPr>
                        <a:t>14,3%</a:t>
                      </a:r>
                    </a:p>
                  </a:txBody>
                  <a:tcPr marL="43200" marR="43200" marT="0" marB="0">
                    <a:solidFill>
                      <a:srgbClr val="F4F7F9"/>
                    </a:solidFill>
                  </a:tcPr>
                </a:tc>
              </a:tr>
              <a:tr h="187200">
                <a:tc>
                  <a:txBody>
                    <a:bodyPr/>
                    <a:lstStyle/>
                    <a:p>
                      <a:pPr algn="l"/>
                      <a:r>
                        <a:rPr sz="850" b="1">
                          <a:solidFill>
                            <a:srgbClr val="1A1A1A"/>
                          </a:solidFill>
                          <a:latin typeface="Versos"/>
                        </a:rPr>
                        <a:t>Locação de veículos</a:t>
                      </a:r>
                    </a:p>
                  </a:txBody>
                  <a:tcPr marL="43200" marR="43200" marT="0" marB="0">
                    <a:solidFill>
                      <a:srgbClr val="FFFFFF"/>
                    </a:solidFill>
                  </a:tcPr>
                </a:tc>
                <a:tc>
                  <a:txBody>
                    <a:bodyPr/>
                    <a:lstStyle/>
                    <a:p>
                      <a:pPr algn="r"/>
                      <a:r>
                        <a:rPr sz="850" b="0">
                          <a:solidFill>
                            <a:srgbClr val="1A1A1A"/>
                          </a:solidFill>
                          <a:latin typeface="Versos"/>
                        </a:rPr>
                        <a:t>5,4%</a:t>
                      </a:r>
                    </a:p>
                  </a:txBody>
                  <a:tcPr marL="43200" marR="43200" marT="0" marB="0">
                    <a:solidFill>
                      <a:srgbClr val="FFFFFF"/>
                    </a:solidFill>
                  </a:tcPr>
                </a:tc>
              </a:tr>
              <a:tr h="187200">
                <a:tc>
                  <a:txBody>
                    <a:bodyPr/>
                    <a:lstStyle/>
                    <a:p>
                      <a:pPr algn="l"/>
                      <a:r>
                        <a:rPr sz="850" b="1">
                          <a:solidFill>
                            <a:srgbClr val="1A1A1A"/>
                          </a:solidFill>
                          <a:latin typeface="Versos"/>
                        </a:rPr>
                        <a:t>Transporte e Logística</a:t>
                      </a:r>
                    </a:p>
                  </a:txBody>
                  <a:tcPr marL="43200" marR="43200" marT="0" marB="0">
                    <a:solidFill>
                      <a:srgbClr val="F4F7F9"/>
                    </a:solidFill>
                  </a:tcPr>
                </a:tc>
                <a:tc>
                  <a:txBody>
                    <a:bodyPr/>
                    <a:lstStyle/>
                    <a:p>
                      <a:pPr algn="r"/>
                      <a:r>
                        <a:rPr sz="850" b="0">
                          <a:solidFill>
                            <a:srgbClr val="1A1A1A"/>
                          </a:solidFill>
                          <a:latin typeface="Versos"/>
                        </a:rPr>
                        <a:t>4,9%</a:t>
                      </a:r>
                    </a:p>
                  </a:txBody>
                  <a:tcPr marL="43200" marR="43200" marT="0" marB="0">
                    <a:solidFill>
                      <a:srgbClr val="F4F7F9"/>
                    </a:solidFill>
                  </a:tcPr>
                </a:tc>
              </a:tr>
              <a:tr h="187200">
                <a:tc>
                  <a:txBody>
                    <a:bodyPr/>
                    <a:lstStyle/>
                    <a:p>
                      <a:pPr algn="l"/>
                      <a:r>
                        <a:rPr sz="850" b="1">
                          <a:solidFill>
                            <a:srgbClr val="1A1A1A"/>
                          </a:solidFill>
                          <a:latin typeface="Versos"/>
                        </a:rPr>
                        <a:t>Comércio atacadista e varejista</a:t>
                      </a:r>
                    </a:p>
                  </a:txBody>
                  <a:tcPr marL="43200" marR="43200" marT="0" marB="0">
                    <a:solidFill>
                      <a:srgbClr val="FFFFFF"/>
                    </a:solidFill>
                  </a:tcPr>
                </a:tc>
                <a:tc>
                  <a:txBody>
                    <a:bodyPr/>
                    <a:lstStyle/>
                    <a:p>
                      <a:pPr algn="r"/>
                      <a:r>
                        <a:rPr sz="850" b="0">
                          <a:solidFill>
                            <a:srgbClr val="1A1A1A"/>
                          </a:solidFill>
                          <a:latin typeface="Versos"/>
                        </a:rPr>
                        <a:t>4,5%</a:t>
                      </a:r>
                    </a:p>
                  </a:txBody>
                  <a:tcPr marL="43200" marR="43200" marT="0" marB="0">
                    <a:solidFill>
                      <a:srgbClr val="FFFFFF"/>
                    </a:solidFill>
                  </a:tcPr>
                </a:tc>
              </a:tr>
              <a:tr h="187200">
                <a:tc>
                  <a:txBody>
                    <a:bodyPr/>
                    <a:lstStyle/>
                    <a:p>
                      <a:pPr algn="l"/>
                      <a:r>
                        <a:rPr sz="850" b="1">
                          <a:solidFill>
                            <a:srgbClr val="1A1A1A"/>
                          </a:solidFill>
                          <a:latin typeface="Versos"/>
                        </a:rPr>
                        <a:t>Crédito PF</a:t>
                      </a:r>
                    </a:p>
                  </a:txBody>
                  <a:tcPr marL="43200" marR="43200" marT="0" marB="0">
                    <a:solidFill>
                      <a:srgbClr val="F4F7F9"/>
                    </a:solidFill>
                  </a:tcPr>
                </a:tc>
                <a:tc>
                  <a:txBody>
                    <a:bodyPr/>
                    <a:lstStyle/>
                    <a:p>
                      <a:pPr algn="r"/>
                      <a:r>
                        <a:rPr sz="850" b="0">
                          <a:solidFill>
                            <a:srgbClr val="1A1A1A"/>
                          </a:solidFill>
                          <a:latin typeface="Versos"/>
                        </a:rPr>
                        <a:t>4,4%</a:t>
                      </a:r>
                    </a:p>
                  </a:txBody>
                  <a:tcPr marL="43200" marR="43200" marT="0" marB="0">
                    <a:solidFill>
                      <a:srgbClr val="F4F7F9"/>
                    </a:solidFill>
                  </a:tcPr>
                </a:tc>
              </a:tr>
              <a:tr h="187200">
                <a:tc>
                  <a:txBody>
                    <a:bodyPr/>
                    <a:lstStyle/>
                    <a:p>
                      <a:pPr algn="l"/>
                      <a:r>
                        <a:rPr sz="850" b="1">
                          <a:solidFill>
                            <a:srgbClr val="1A1A1A"/>
                          </a:solidFill>
                          <a:latin typeface="Versos"/>
                        </a:rPr>
                        <a:t>TI e Telecomunicações</a:t>
                      </a:r>
                    </a:p>
                  </a:txBody>
                  <a:tcPr marL="43200" marR="43200" marT="0" marB="0">
                    <a:solidFill>
                      <a:srgbClr val="FFFFFF"/>
                    </a:solidFill>
                  </a:tcPr>
                </a:tc>
                <a:tc>
                  <a:txBody>
                    <a:bodyPr/>
                    <a:lstStyle/>
                    <a:p>
                      <a:pPr algn="r"/>
                      <a:r>
                        <a:rPr sz="850" b="0">
                          <a:solidFill>
                            <a:srgbClr val="1A1A1A"/>
                          </a:solidFill>
                          <a:latin typeface="Versos"/>
                        </a:rPr>
                        <a:t>4,3%</a:t>
                      </a:r>
                    </a:p>
                  </a:txBody>
                  <a:tcPr marL="43200" marR="43200" marT="0" marB="0">
                    <a:solidFill>
                      <a:srgbClr val="FFFFFF"/>
                    </a:solidFill>
                  </a:tcPr>
                </a:tc>
              </a:tr>
              <a:tr h="187200">
                <a:tc>
                  <a:txBody>
                    <a:bodyPr/>
                    <a:lstStyle/>
                    <a:p>
                      <a:pPr algn="l"/>
                      <a:r>
                        <a:rPr sz="850" b="1">
                          <a:solidFill>
                            <a:srgbClr val="1A1A1A"/>
                          </a:solidFill>
                          <a:latin typeface="Versos"/>
                        </a:rPr>
                        <a:t>Consignados</a:t>
                      </a:r>
                    </a:p>
                  </a:txBody>
                  <a:tcPr marL="43200" marR="43200" marT="0" marB="0">
                    <a:solidFill>
                      <a:srgbClr val="F4F7F9"/>
                    </a:solidFill>
                  </a:tcPr>
                </a:tc>
                <a:tc>
                  <a:txBody>
                    <a:bodyPr/>
                    <a:lstStyle/>
                    <a:p>
                      <a:pPr algn="r"/>
                      <a:r>
                        <a:rPr sz="850" b="0">
                          <a:solidFill>
                            <a:srgbClr val="1A1A1A"/>
                          </a:solidFill>
                          <a:latin typeface="Versos"/>
                        </a:rPr>
                        <a:t>3,9%</a:t>
                      </a:r>
                    </a:p>
                  </a:txBody>
                  <a:tcPr marL="43200" marR="43200" marT="0" marB="0">
                    <a:solidFill>
                      <a:srgbClr val="F4F7F9"/>
                    </a:solidFill>
                  </a:tcPr>
                </a:tc>
              </a:tr>
              <a:tr h="187200">
                <a:tc>
                  <a:txBody>
                    <a:bodyPr/>
                    <a:lstStyle/>
                    <a:p>
                      <a:pPr algn="l"/>
                      <a:r>
                        <a:rPr sz="850" b="1">
                          <a:solidFill>
                            <a:srgbClr val="1A1A1A"/>
                          </a:solidFill>
                          <a:latin typeface="Versos"/>
                        </a:rPr>
                        <a:t>Energia Elétrica</a:t>
                      </a:r>
                    </a:p>
                  </a:txBody>
                  <a:tcPr marL="43200" marR="43200" marT="0" marB="0">
                    <a:solidFill>
                      <a:srgbClr val="FFFFFF"/>
                    </a:solidFill>
                  </a:tcPr>
                </a:tc>
                <a:tc>
                  <a:txBody>
                    <a:bodyPr/>
                    <a:lstStyle/>
                    <a:p>
                      <a:pPr algn="r"/>
                      <a:r>
                        <a:rPr sz="850" b="0">
                          <a:solidFill>
                            <a:srgbClr val="1A1A1A"/>
                          </a:solidFill>
                          <a:latin typeface="Versos"/>
                        </a:rPr>
                        <a:t>2,3%</a:t>
                      </a:r>
                    </a:p>
                  </a:txBody>
                  <a:tcPr marL="43200" marR="43200" marT="0" marB="0">
                    <a:solidFill>
                      <a:srgbClr val="FFFFFF"/>
                    </a:solidFill>
                  </a:tcPr>
                </a:tc>
              </a:tr>
              <a:tr h="187200">
                <a:tc>
                  <a:txBody>
                    <a:bodyPr/>
                    <a:lstStyle/>
                    <a:p>
                      <a:pPr algn="l"/>
                      <a:r>
                        <a:rPr sz="850" b="1">
                          <a:solidFill>
                            <a:srgbClr val="1A1A1A"/>
                          </a:solidFill>
                          <a:latin typeface="Versos"/>
                        </a:rPr>
                        <a:t>Saneamento</a:t>
                      </a:r>
                    </a:p>
                  </a:txBody>
                  <a:tcPr marL="43200" marR="43200" marT="0" marB="0">
                    <a:solidFill>
                      <a:srgbClr val="F4F7F9"/>
                    </a:solidFill>
                  </a:tcPr>
                </a:tc>
                <a:tc>
                  <a:txBody>
                    <a:bodyPr/>
                    <a:lstStyle/>
                    <a:p>
                      <a:pPr algn="r"/>
                      <a:r>
                        <a:rPr sz="850" b="0">
                          <a:solidFill>
                            <a:srgbClr val="1A1A1A"/>
                          </a:solidFill>
                          <a:latin typeface="Versos"/>
                        </a:rPr>
                        <a:t>2,2%</a:t>
                      </a:r>
                    </a:p>
                  </a:txBody>
                  <a:tcPr marL="43200" marR="43200" marT="0" marB="0">
                    <a:solidFill>
                      <a:srgbClr val="F4F7F9"/>
                    </a:solidFill>
                  </a:tcPr>
                </a:tc>
              </a:tr>
              <a:tr h="187200">
                <a:tc>
                  <a:txBody>
                    <a:bodyPr/>
                    <a:lstStyle/>
                    <a:p>
                      <a:pPr algn="l"/>
                      <a:r>
                        <a:rPr sz="850" b="1">
                          <a:solidFill>
                            <a:srgbClr val="1A1A1A"/>
                          </a:solidFill>
                          <a:latin typeface="Versos"/>
                        </a:rPr>
                        <a:t>Alimentos e bebidas</a:t>
                      </a:r>
                    </a:p>
                  </a:txBody>
                  <a:tcPr marL="43200" marR="43200" marT="0" marB="0">
                    <a:solidFill>
                      <a:srgbClr val="FFFFFF"/>
                    </a:solidFill>
                  </a:tcPr>
                </a:tc>
                <a:tc>
                  <a:txBody>
                    <a:bodyPr/>
                    <a:lstStyle/>
                    <a:p>
                      <a:pPr algn="r"/>
                      <a:r>
                        <a:rPr sz="850" b="0">
                          <a:solidFill>
                            <a:srgbClr val="1A1A1A"/>
                          </a:solidFill>
                          <a:latin typeface="Versos"/>
                        </a:rPr>
                        <a:t>1,4%</a:t>
                      </a:r>
                    </a:p>
                  </a:txBody>
                  <a:tcPr marL="43200" marR="43200" marT="0" marB="0">
                    <a:solidFill>
                      <a:srgbClr val="FFFFFF"/>
                    </a:solidFill>
                  </a:tcPr>
                </a:tc>
              </a:tr>
              <a:tr h="187200">
                <a:tc>
                  <a:txBody>
                    <a:bodyPr/>
                    <a:lstStyle/>
                    <a:p>
                      <a:pPr algn="l"/>
                      <a:r>
                        <a:rPr sz="850" b="1">
                          <a:solidFill>
                            <a:srgbClr val="1A1A1A"/>
                          </a:solidFill>
                          <a:latin typeface="Versos"/>
                        </a:rPr>
                        <a:t>Assistência médica</a:t>
                      </a:r>
                    </a:p>
                  </a:txBody>
                  <a:tcPr marL="43200" marR="43200" marT="0" marB="0">
                    <a:solidFill>
                      <a:srgbClr val="F4F7F9"/>
                    </a:solidFill>
                  </a:tcPr>
                </a:tc>
                <a:tc>
                  <a:txBody>
                    <a:bodyPr/>
                    <a:lstStyle/>
                    <a:p>
                      <a:pPr algn="r"/>
                      <a:r>
                        <a:rPr sz="850" b="0">
                          <a:solidFill>
                            <a:srgbClr val="1A1A1A"/>
                          </a:solidFill>
                          <a:latin typeface="Versos"/>
                        </a:rPr>
                        <a:t>1,4%</a:t>
                      </a:r>
                    </a:p>
                  </a:txBody>
                  <a:tcPr marL="43200" marR="43200" marT="0" marB="0">
                    <a:solidFill>
                      <a:srgbClr val="F4F7F9"/>
                    </a:solidFill>
                  </a:tcPr>
                </a:tc>
              </a:tr>
              <a:tr h="187200">
                <a:tc>
                  <a:txBody>
                    <a:bodyPr/>
                    <a:lstStyle/>
                    <a:p>
                      <a:pPr algn="l"/>
                      <a:r>
                        <a:rPr sz="850" b="1">
                          <a:solidFill>
                            <a:srgbClr val="1A1A1A"/>
                          </a:solidFill>
                          <a:latin typeface="Versos"/>
                        </a:rPr>
                        <a:t>Caixa</a:t>
                      </a:r>
                    </a:p>
                  </a:txBody>
                  <a:tcPr marL="43200" marR="43200" marT="0" marB="0">
                    <a:solidFill>
                      <a:srgbClr val="FFFFFF"/>
                    </a:solidFill>
                  </a:tcPr>
                </a:tc>
                <a:tc>
                  <a:txBody>
                    <a:bodyPr/>
                    <a:lstStyle/>
                    <a:p>
                      <a:pPr algn="r"/>
                      <a:r>
                        <a:rPr sz="850" b="0">
                          <a:solidFill>
                            <a:srgbClr val="1A1A1A"/>
                          </a:solidFill>
                          <a:latin typeface="Versos"/>
                        </a:rPr>
                        <a:t>7,8%</a:t>
                      </a:r>
                    </a:p>
                  </a:txBody>
                  <a:tcPr marL="43200" marR="43200" marT="0" marB="0">
                    <a:solidFill>
                      <a:srgbClr val="FFFFFF"/>
                    </a:solidFill>
                  </a:tcPr>
                </a:tc>
              </a:tr>
            </a:tbl>
          </a:graphicData>
        </a:graphic>
      </p:graphicFrame>
      <p:sp>
        <p:nvSpPr>
          <p:cNvPr id="16" name="TextBox 15"/>
          <p:cNvSpPr txBox="1"/>
          <p:nvPr/>
        </p:nvSpPr>
        <p:spPr>
          <a:xfrm>
            <a:off x="540000" y="7383600"/>
            <a:ext cx="6480000" cy="180000"/>
          </a:xfrm>
          <a:prstGeom prst="rect">
            <a:avLst/>
          </a:prstGeom>
          <a:noFill/>
        </p:spPr>
        <p:txBody>
          <a:bodyPr wrap="square" lIns="0" rIns="0" tIns="0" bIns="0">
            <a:spAutoFit/>
          </a:bodyPr>
          <a:lstStyle/>
          <a:p>
            <a:pPr algn="l"/>
            <a:r>
              <a:rPr sz="900" b="1">
                <a:solidFill>
                  <a:srgbClr val="759DB4"/>
                </a:solidFill>
                <a:latin typeface="Versos"/>
              </a:rPr>
              <a:t>DISTRIBUIÇÃO DE RATING DA CARTEIRA DE CRÉDITO</a:t>
            </a:r>
          </a:p>
        </p:txBody>
      </p:sp>
      <p:graphicFrame>
        <p:nvGraphicFramePr>
          <p:cNvPr id="17" name="Table 16"/>
          <p:cNvGraphicFramePr>
            <a:graphicFrameLocks noGrp="1"/>
          </p:cNvGraphicFramePr>
          <p:nvPr/>
        </p:nvGraphicFramePr>
        <p:xfrm>
          <a:off x="540000" y="7581600"/>
          <a:ext cx="6480000" cy="374400"/>
        </p:xfrm>
        <a:graphic>
          <a:graphicData uri="http://schemas.openxmlformats.org/drawingml/2006/table">
            <a:tbl>
              <a:tblPr firstRow="1" bandRow="1">
                <a:tableStyleId>{5C22544A-7EE6-4342-B048-85BDC9FD1C3A}</a:tableStyleId>
              </a:tblPr>
              <a:tblGrid>
                <a:gridCol w="1080000"/>
                <a:gridCol w="1080000"/>
                <a:gridCol w="1080000"/>
                <a:gridCol w="1080000"/>
                <a:gridCol w="1080000"/>
                <a:gridCol w="1080000"/>
              </a:tblGrid>
              <a:tr h="187200">
                <a:tc>
                  <a:txBody>
                    <a:bodyPr/>
                    <a:lstStyle/>
                    <a:p>
                      <a:pPr algn="l"/>
                      <a:r>
                        <a:rPr sz="850" b="1">
                          <a:solidFill>
                            <a:srgbClr val="FFFFFF"/>
                          </a:solidFill>
                          <a:latin typeface="Versos"/>
                        </a:rPr>
                        <a:t>AAA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c>
                  <a:txBody>
                    <a:bodyPr/>
                    <a:lstStyle/>
                    <a:p>
                      <a:pPr algn="r"/>
                      <a:r>
                        <a:rPr sz="850" b="1">
                          <a:solidFill>
                            <a:srgbClr val="FFFFFF"/>
                          </a:solidFill>
                          <a:latin typeface="Versos"/>
                        </a:rPr>
                        <a:t>A</a:t>
                      </a:r>
                    </a:p>
                  </a:txBody>
                  <a:tcPr marL="43200" marR="43200" marT="0" marB="0">
                    <a:solidFill>
                      <a:srgbClr val="3C4A60"/>
                    </a:solidFill>
                  </a:tcPr>
                </a:tc>
              </a:tr>
              <a:tr h="187200">
                <a:tc>
                  <a:txBody>
                    <a:bodyPr/>
                    <a:lstStyle/>
                    <a:p>
                      <a:pPr algn="l"/>
                      <a:r>
                        <a:rPr sz="850" b="0">
                          <a:solidFill>
                            <a:srgbClr val="1A1A1A"/>
                          </a:solidFill>
                          <a:latin typeface="Versos"/>
                        </a:rPr>
                        <a:t>20,3%</a:t>
                      </a:r>
                    </a:p>
                  </a:txBody>
                  <a:tcPr marL="43200" marR="43200" marT="0" marB="0">
                    <a:solidFill>
                      <a:srgbClr val="F4F7F9"/>
                    </a:solidFill>
                  </a:tcPr>
                </a:tc>
                <a:tc>
                  <a:txBody>
                    <a:bodyPr/>
                    <a:lstStyle/>
                    <a:p>
                      <a:pPr algn="r"/>
                      <a:r>
                        <a:rPr sz="850" b="0">
                          <a:solidFill>
                            <a:srgbClr val="1A1A1A"/>
                          </a:solidFill>
                          <a:latin typeface="Versos"/>
                        </a:rPr>
                        <a:t>15,4%</a:t>
                      </a:r>
                    </a:p>
                  </a:txBody>
                  <a:tcPr marL="43200" marR="43200" marT="0" marB="0">
                    <a:solidFill>
                      <a:srgbClr val="F4F7F9"/>
                    </a:solidFill>
                  </a:tcPr>
                </a:tc>
                <a:tc>
                  <a:txBody>
                    <a:bodyPr/>
                    <a:lstStyle/>
                    <a:p>
                      <a:pPr algn="r"/>
                      <a:r>
                        <a:rPr sz="850" b="0">
                          <a:solidFill>
                            <a:srgbClr val="1A1A1A"/>
                          </a:solidFill>
                          <a:latin typeface="Versos"/>
                        </a:rPr>
                        <a:t>3,7%</a:t>
                      </a:r>
                    </a:p>
                  </a:txBody>
                  <a:tcPr marL="43200" marR="43200" marT="0" marB="0">
                    <a:solidFill>
                      <a:srgbClr val="F4F7F9"/>
                    </a:solidFill>
                  </a:tcPr>
                </a:tc>
                <a:tc>
                  <a:txBody>
                    <a:bodyPr/>
                    <a:lstStyle/>
                    <a:p>
                      <a:pPr algn="r"/>
                      <a:r>
                        <a:rPr sz="850" b="0">
                          <a:solidFill>
                            <a:srgbClr val="1A1A1A"/>
                          </a:solidFill>
                          <a:latin typeface="Versos"/>
                        </a:rPr>
                        <a:t>16,3%</a:t>
                      </a:r>
                    </a:p>
                  </a:txBody>
                  <a:tcPr marL="43200" marR="43200" marT="0" marB="0">
                    <a:solidFill>
                      <a:srgbClr val="F4F7F9"/>
                    </a:solidFill>
                  </a:tcPr>
                </a:tc>
                <a:tc>
                  <a:txBody>
                    <a:bodyPr/>
                    <a:lstStyle/>
                    <a:p>
                      <a:pPr algn="r"/>
                      <a:r>
                        <a:rPr sz="850" b="0">
                          <a:solidFill>
                            <a:srgbClr val="1A1A1A"/>
                          </a:solidFill>
                          <a:latin typeface="Versos"/>
                        </a:rPr>
                        <a:t>8,3%</a:t>
                      </a:r>
                    </a:p>
                  </a:txBody>
                  <a:tcPr marL="43200" marR="43200" marT="0" marB="0">
                    <a:solidFill>
                      <a:srgbClr val="F4F7F9"/>
                    </a:solidFill>
                  </a:tcPr>
                </a:tc>
                <a:tc>
                  <a:txBody>
                    <a:bodyPr/>
                    <a:lstStyle/>
                    <a:p>
                      <a:pPr algn="r"/>
                      <a:r>
                        <a:rPr sz="850" b="0">
                          <a:solidFill>
                            <a:srgbClr val="1A1A1A"/>
                          </a:solidFill>
                          <a:latin typeface="Versos"/>
                        </a:rPr>
                        <a:t>8,6%</a:t>
                      </a:r>
                    </a:p>
                  </a:txBody>
                  <a:tcPr marL="43200" marR="43200" marT="0" marB="0">
                    <a:solidFill>
                      <a:srgbClr val="F4F7F9"/>
                    </a:solidFill>
                  </a:tcPr>
                </a:tc>
              </a:tr>
            </a:tbl>
          </a:graphicData>
        </a:graphic>
      </p:graphicFrame>
      <p:sp>
        <p:nvSpPr>
          <p:cNvPr id="18" name="TextBox 1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1</a:t>
            </a:r>
          </a:p>
        </p:txBody>
      </p:sp>
      <p:sp>
        <p:nvSpPr>
          <p:cNvPr id="19" name="TextBox 1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RENTABILIDADE HISTÓRICA</a:t>
            </a:r>
          </a:p>
        </p:txBody>
      </p:sp>
      <p:graphicFrame>
        <p:nvGraphicFramePr>
          <p:cNvPr id="7" name="Chart 6"/>
          <p:cNvGraphicFramePr>
            <a:graphicFrameLocks noGrp="1"/>
          </p:cNvGraphicFramePr>
          <p:nvPr/>
        </p:nvGraphicFramePr>
        <p:xfrm>
          <a:off x="540000" y="1584000"/>
          <a:ext cx="6480000" cy="3240000"/>
        </p:xfrm>
        <a:graphic>
          <a:graphicData uri="http://schemas.openxmlformats.org/drawingml/2006/chart">
            <c:chart xmlns:c="http://schemas.openxmlformats.org/drawingml/2006/chart" r:id="rId2"/>
          </a:graphicData>
        </a:graphic>
      </p:graphicFrame>
      <p:sp>
        <p:nvSpPr>
          <p:cNvPr id="8" name="TextBox 7"/>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2</a:t>
            </a:r>
          </a:p>
        </p:txBody>
      </p:sp>
      <p:sp>
        <p:nvSpPr>
          <p:cNvPr id="9" name="TextBox 8"/>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7560000" cy="1080000"/>
          </a:xfrm>
          <a:prstGeom prst="rect">
            <a:avLst/>
          </a:prstGeom>
          <a:solidFill>
            <a:srgbClr val="3C4A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0000" y="324000"/>
            <a:ext cx="5040000" cy="180000"/>
          </a:xfrm>
          <a:prstGeom prst="rect">
            <a:avLst/>
          </a:prstGeom>
          <a:noFill/>
        </p:spPr>
        <p:txBody>
          <a:bodyPr wrap="square" lIns="0" rIns="0" tIns="0" bIns="0">
            <a:spAutoFit/>
          </a:bodyPr>
          <a:lstStyle/>
          <a:p>
            <a:pPr algn="l"/>
            <a:r>
              <a:rPr sz="800" b="1">
                <a:solidFill>
                  <a:srgbClr val="ABC6CD"/>
                </a:solidFill>
                <a:latin typeface="Versos"/>
              </a:rPr>
              <a:t>RELATÓRIO DE GESTÃO</a:t>
            </a:r>
          </a:p>
        </p:txBody>
      </p:sp>
      <p:sp>
        <p:nvSpPr>
          <p:cNvPr id="4" name="TextBox 3"/>
          <p:cNvSpPr txBox="1"/>
          <p:nvPr/>
        </p:nvSpPr>
        <p:spPr>
          <a:xfrm>
            <a:off x="540000" y="540000"/>
            <a:ext cx="5040000" cy="396000"/>
          </a:xfrm>
          <a:prstGeom prst="rect">
            <a:avLst/>
          </a:prstGeom>
          <a:noFill/>
        </p:spPr>
        <p:txBody>
          <a:bodyPr wrap="square" lIns="0" rIns="0" tIns="0" bIns="0">
            <a:spAutoFit/>
          </a:bodyPr>
          <a:lstStyle/>
          <a:p>
            <a:pPr algn="l"/>
            <a:r>
              <a:rPr sz="2000" b="1">
                <a:solidFill>
                  <a:srgbClr val="FFFFFF"/>
                </a:solidFill>
                <a:latin typeface="Versos"/>
              </a:rPr>
              <a:t>Tivio ALT Light</a:t>
            </a:r>
          </a:p>
        </p:txBody>
      </p:sp>
      <p:sp>
        <p:nvSpPr>
          <p:cNvPr id="5" name="TextBox 4"/>
          <p:cNvSpPr txBox="1"/>
          <p:nvPr/>
        </p:nvSpPr>
        <p:spPr>
          <a:xfrm>
            <a:off x="540000" y="720000"/>
            <a:ext cx="5040000" cy="180000"/>
          </a:xfrm>
          <a:prstGeom prst="rect">
            <a:avLst/>
          </a:prstGeom>
          <a:noFill/>
        </p:spPr>
        <p:txBody>
          <a:bodyPr wrap="square" lIns="0" rIns="0" tIns="0" bIns="0">
            <a:spAutoFit/>
          </a:bodyPr>
          <a:lstStyle/>
          <a:p>
            <a:pPr algn="l"/>
            <a:r>
              <a:rPr sz="900" b="1">
                <a:solidFill>
                  <a:srgbClr val="C1F4D4"/>
                </a:solidFill>
                <a:latin typeface="Versos"/>
              </a:rPr>
              <a:t>Agosto de 2026</a:t>
            </a:r>
          </a:p>
        </p:txBody>
      </p:sp>
      <p:sp>
        <p:nvSpPr>
          <p:cNvPr id="6" name="TextBox 5"/>
          <p:cNvSpPr txBox="1"/>
          <p:nvPr/>
        </p:nvSpPr>
        <p:spPr>
          <a:xfrm>
            <a:off x="540000" y="1368000"/>
            <a:ext cx="4320000" cy="180000"/>
          </a:xfrm>
          <a:prstGeom prst="rect">
            <a:avLst/>
          </a:prstGeom>
          <a:noFill/>
        </p:spPr>
        <p:txBody>
          <a:bodyPr wrap="square" lIns="0" rIns="0" tIns="0" bIns="0">
            <a:spAutoFit/>
          </a:bodyPr>
          <a:lstStyle/>
          <a:p>
            <a:pPr algn="l"/>
            <a:r>
              <a:rPr sz="900" b="1">
                <a:solidFill>
                  <a:srgbClr val="759DB4"/>
                </a:solidFill>
                <a:latin typeface="Versos"/>
              </a:rPr>
              <a:t>CARACTERÍSTICAS GERAIS DO FUNDO</a:t>
            </a:r>
          </a:p>
        </p:txBody>
      </p:sp>
      <p:graphicFrame>
        <p:nvGraphicFramePr>
          <p:cNvPr id="7" name="Table 6"/>
          <p:cNvGraphicFramePr>
            <a:graphicFrameLocks noGrp="1"/>
          </p:cNvGraphicFramePr>
          <p:nvPr/>
        </p:nvGraphicFramePr>
        <p:xfrm>
          <a:off x="540000" y="1584000"/>
          <a:ext cx="6479999" cy="18720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Gestor</a:t>
                      </a:r>
                    </a:p>
                  </a:txBody>
                  <a:tcPr marL="43200" marR="43200" marT="0" marB="0">
                    <a:solidFill>
                      <a:srgbClr val="FFFFFF"/>
                    </a:solidFill>
                  </a:tcPr>
                </a:tc>
                <a:tc>
                  <a:txBody>
                    <a:bodyPr/>
                    <a:lstStyle/>
                    <a:p>
                      <a:pPr algn="r"/>
                      <a:r>
                        <a:rPr sz="850" b="0">
                          <a:solidFill>
                            <a:srgbClr val="1A1A1A"/>
                          </a:solidFill>
                          <a:latin typeface="Versos"/>
                        </a:rPr>
                        <a:t>Tivio Capital</a:t>
                      </a:r>
                    </a:p>
                  </a:txBody>
                  <a:tcPr marL="43200" marR="43200" marT="0" marB="0">
                    <a:solidFill>
                      <a:srgbClr val="FFFFFF"/>
                    </a:solidFill>
                  </a:tcPr>
                </a:tc>
              </a:tr>
              <a:tr h="187200">
                <a:tc>
                  <a:txBody>
                    <a:bodyPr/>
                    <a:lstStyle/>
                    <a:p>
                      <a:pPr algn="l"/>
                      <a:r>
                        <a:rPr sz="850" b="1">
                          <a:solidFill>
                            <a:srgbClr val="1A1A1A"/>
                          </a:solidFill>
                          <a:latin typeface="Versos"/>
                        </a:rPr>
                        <a:t>Público alvo</a:t>
                      </a:r>
                    </a:p>
                  </a:txBody>
                  <a:tcPr marL="43200" marR="43200" marT="0" marB="0">
                    <a:solidFill>
                      <a:srgbClr val="F4F7F9"/>
                    </a:solidFill>
                  </a:tcPr>
                </a:tc>
                <a:tc>
                  <a:txBody>
                    <a:bodyPr/>
                    <a:lstStyle/>
                    <a:p>
                      <a:pPr algn="r"/>
                      <a:r>
                        <a:rPr sz="850" b="0">
                          <a:solidFill>
                            <a:srgbClr val="1A1A1A"/>
                          </a:solidFill>
                          <a:latin typeface="Versos"/>
                        </a:rPr>
                        <a:t>Investidor qualificado</a:t>
                      </a:r>
                    </a:p>
                  </a:txBody>
                  <a:tcPr marL="43200" marR="43200" marT="0" marB="0">
                    <a:solidFill>
                      <a:srgbClr val="F4F7F9"/>
                    </a:solidFill>
                  </a:tcPr>
                </a:tc>
              </a:tr>
              <a:tr h="187200">
                <a:tc>
                  <a:txBody>
                    <a:bodyPr/>
                    <a:lstStyle/>
                    <a:p>
                      <a:pPr algn="l"/>
                      <a:r>
                        <a:rPr sz="850" b="1">
                          <a:solidFill>
                            <a:srgbClr val="1A1A1A"/>
                          </a:solidFill>
                          <a:latin typeface="Versos"/>
                        </a:rPr>
                        <a:t>Benchmark</a:t>
                      </a:r>
                    </a:p>
                  </a:txBody>
                  <a:tcPr marL="43200" marR="43200" marT="0" marB="0">
                    <a:solidFill>
                      <a:srgbClr val="FFFFFF"/>
                    </a:solidFill>
                  </a:tcPr>
                </a:tc>
                <a:tc>
                  <a:txBody>
                    <a:bodyPr/>
                    <a:lstStyle/>
                    <a:p>
                      <a:pPr algn="r"/>
                      <a:r>
                        <a:rPr sz="850" b="0">
                          <a:solidFill>
                            <a:srgbClr val="1A1A1A"/>
                          </a:solidFill>
                          <a:latin typeface="Versos"/>
                        </a:rPr>
                        <a:t>CDI</a:t>
                      </a:r>
                    </a:p>
                  </a:txBody>
                  <a:tcPr marL="43200" marR="43200" marT="0" marB="0">
                    <a:solidFill>
                      <a:srgbClr val="FFFFFF"/>
                    </a:solidFill>
                  </a:tcPr>
                </a:tc>
              </a:tr>
              <a:tr h="187200">
                <a:tc>
                  <a:txBody>
                    <a:bodyPr/>
                    <a:lstStyle/>
                    <a:p>
                      <a:pPr algn="l"/>
                      <a:r>
                        <a:rPr sz="850" b="1">
                          <a:solidFill>
                            <a:srgbClr val="1A1A1A"/>
                          </a:solidFill>
                          <a:latin typeface="Versos"/>
                        </a:rPr>
                        <a:t>Data de início</a:t>
                      </a:r>
                    </a:p>
                  </a:txBody>
                  <a:tcPr marL="43200" marR="43200" marT="0" marB="0">
                    <a:solidFill>
                      <a:srgbClr val="F4F7F9"/>
                    </a:solidFill>
                  </a:tcPr>
                </a:tc>
                <a:tc>
                  <a:txBody>
                    <a:bodyPr/>
                    <a:lstStyle/>
                    <a:p>
                      <a:pPr algn="r"/>
                      <a:r>
                        <a:rPr sz="850" b="0">
                          <a:solidFill>
                            <a:srgbClr val="1A1A1A"/>
                          </a:solidFill>
                          <a:latin typeface="Versos"/>
                        </a:rPr>
                        <a:t>11/11/2025</a:t>
                      </a:r>
                    </a:p>
                  </a:txBody>
                  <a:tcPr marL="43200" marR="43200" marT="0" marB="0">
                    <a:solidFill>
                      <a:srgbClr val="F4F7F9"/>
                    </a:solidFill>
                  </a:tcPr>
                </a:tc>
              </a:tr>
              <a:tr h="187200">
                <a:tc>
                  <a:txBody>
                    <a:bodyPr/>
                    <a:lstStyle/>
                    <a:p>
                      <a:pPr algn="l"/>
                      <a:r>
                        <a:rPr sz="850" b="1">
                          <a:solidFill>
                            <a:srgbClr val="1A1A1A"/>
                          </a:solidFill>
                          <a:latin typeface="Versos"/>
                        </a:rPr>
                        <a:t>Patrimônio líquido</a:t>
                      </a:r>
                    </a:p>
                  </a:txBody>
                  <a:tcPr marL="43200" marR="43200" marT="0" marB="0">
                    <a:solidFill>
                      <a:srgbClr val="FFFFFF"/>
                    </a:solidFill>
                  </a:tcPr>
                </a:tc>
                <a:tc>
                  <a:txBody>
                    <a:bodyPr/>
                    <a:lstStyle/>
                    <a:p>
                      <a:pPr algn="r"/>
                      <a:r>
                        <a:rPr sz="850" b="0">
                          <a:solidFill>
                            <a:srgbClr val="1A1A1A"/>
                          </a:solidFill>
                          <a:latin typeface="Versos"/>
                        </a:rPr>
                        <a:t>R$ 26.829.258,71</a:t>
                      </a:r>
                    </a:p>
                  </a:txBody>
                  <a:tcPr marL="43200" marR="43200" marT="0" marB="0">
                    <a:solidFill>
                      <a:srgbClr val="FFFFFF"/>
                    </a:solidFill>
                  </a:tcPr>
                </a:tc>
              </a:tr>
              <a:tr h="187200">
                <a:tc>
                  <a:txBody>
                    <a:bodyPr/>
                    <a:lstStyle/>
                    <a:p>
                      <a:pPr algn="l"/>
                      <a:r>
                        <a:rPr sz="850" b="1">
                          <a:solidFill>
                            <a:srgbClr val="1A1A1A"/>
                          </a:solidFill>
                          <a:latin typeface="Versos"/>
                        </a:rPr>
                        <a:t>Patrimônio líquido médio (12 meses)</a:t>
                      </a:r>
                    </a:p>
                  </a:txBody>
                  <a:tcPr marL="43200" marR="43200" marT="0" marB="0">
                    <a:solidFill>
                      <a:srgbClr val="F4F7F9"/>
                    </a:solidFill>
                  </a:tcPr>
                </a:tc>
                <a:tc>
                  <a:txBody>
                    <a:bodyPr/>
                    <a:lstStyle/>
                    <a:p>
                      <a:pPr algn="r"/>
                      <a:r>
                        <a:rPr sz="850" b="0">
                          <a:solidFill>
                            <a:srgbClr val="1A1A1A"/>
                          </a:solidFill>
                          <a:latin typeface="Versos"/>
                        </a:rPr>
                        <a:t>R$ 18.304.046,83</a:t>
                      </a:r>
                    </a:p>
                  </a:txBody>
                  <a:tcPr marL="43200" marR="43200" marT="0" marB="0">
                    <a:solidFill>
                      <a:srgbClr val="F4F7F9"/>
                    </a:solidFill>
                  </a:tcPr>
                </a:tc>
              </a:tr>
              <a:tr h="187200">
                <a:tc>
                  <a:txBody>
                    <a:bodyPr/>
                    <a:lstStyle/>
                    <a:p>
                      <a:pPr algn="l"/>
                      <a:r>
                        <a:rPr sz="850" b="1">
                          <a:solidFill>
                            <a:srgbClr val="1A1A1A"/>
                          </a:solidFill>
                          <a:latin typeface="Versos"/>
                        </a:rPr>
                        <a:t>Taxa global</a:t>
                      </a:r>
                    </a:p>
                  </a:txBody>
                  <a:tcPr marL="43200" marR="43200" marT="0" marB="0">
                    <a:solidFill>
                      <a:srgbClr val="FFFFFF"/>
                    </a:solidFill>
                  </a:tcPr>
                </a:tc>
                <a:tc>
                  <a:txBody>
                    <a:bodyPr/>
                    <a:lstStyle/>
                    <a:p>
                      <a:pPr algn="r"/>
                      <a:r>
                        <a:rPr sz="850" b="0">
                          <a:solidFill>
                            <a:srgbClr val="1A1A1A"/>
                          </a:solidFill>
                          <a:latin typeface="Versos"/>
                        </a:rPr>
                        <a:t>1,15% a.a.</a:t>
                      </a:r>
                    </a:p>
                  </a:txBody>
                  <a:tcPr marL="43200" marR="43200" marT="0" marB="0">
                    <a:solidFill>
                      <a:srgbClr val="FFFFFF"/>
                    </a:solidFill>
                  </a:tcPr>
                </a:tc>
              </a:tr>
              <a:tr h="187200">
                <a:tc>
                  <a:txBody>
                    <a:bodyPr/>
                    <a:lstStyle/>
                    <a:p>
                      <a:pPr algn="l"/>
                      <a:r>
                        <a:rPr sz="850" b="1">
                          <a:solidFill>
                            <a:srgbClr val="1A1A1A"/>
                          </a:solidFill>
                          <a:latin typeface="Versos"/>
                        </a:rPr>
                        <a:t>Taxa de performance</a:t>
                      </a:r>
                    </a:p>
                  </a:txBody>
                  <a:tcPr marL="43200" marR="43200" marT="0" marB="0">
                    <a:solidFill>
                      <a:srgbClr val="F4F7F9"/>
                    </a:solidFill>
                  </a:tcPr>
                </a:tc>
                <a:tc>
                  <a:txBody>
                    <a:bodyPr/>
                    <a:lstStyle/>
                    <a:p>
                      <a:pPr algn="r"/>
                      <a:r>
                        <a:rPr sz="850" b="0">
                          <a:solidFill>
                            <a:srgbClr val="1A1A1A"/>
                          </a:solidFill>
                          <a:latin typeface="Versos"/>
                        </a:rPr>
                        <a:t>15% do retorno que exceder CDI+0,65%</a:t>
                      </a:r>
                    </a:p>
                  </a:txBody>
                  <a:tcPr marL="43200" marR="43200" marT="0" marB="0">
                    <a:solidFill>
                      <a:srgbClr val="F4F7F9"/>
                    </a:solidFill>
                  </a:tcPr>
                </a:tc>
              </a:tr>
              <a:tr h="187200">
                <a:tc>
                  <a:txBody>
                    <a:bodyPr/>
                    <a:lstStyle/>
                    <a:p>
                      <a:pPr algn="l"/>
                      <a:r>
                        <a:rPr sz="850" b="1">
                          <a:solidFill>
                            <a:srgbClr val="1A1A1A"/>
                          </a:solidFill>
                          <a:latin typeface="Versos"/>
                        </a:rPr>
                        <a:t>Carrego da carteira</a:t>
                      </a:r>
                    </a:p>
                  </a:txBody>
                  <a:tcPr marL="43200" marR="43200" marT="0" marB="0">
                    <a:solidFill>
                      <a:srgbClr val="FFFFFF"/>
                    </a:solidFill>
                  </a:tcPr>
                </a:tc>
                <a:tc>
                  <a:txBody>
                    <a:bodyPr/>
                    <a:lstStyle/>
                    <a:p>
                      <a:pPr algn="r"/>
                      <a:r>
                        <a:rPr sz="850" b="0">
                          <a:solidFill>
                            <a:srgbClr val="1A1A1A"/>
                          </a:solidFill>
                          <a:latin typeface="Versos"/>
                        </a:rPr>
                        <a:t>CDI +1,81%</a:t>
                      </a:r>
                    </a:p>
                  </a:txBody>
                  <a:tcPr marL="43200" marR="43200" marT="0" marB="0">
                    <a:solidFill>
                      <a:srgbClr val="FFFFFF"/>
                    </a:solidFill>
                  </a:tcPr>
                </a:tc>
              </a:tr>
              <a:tr h="187200">
                <a:tc>
                  <a:txBody>
                    <a:bodyPr/>
                    <a:lstStyle/>
                    <a:p>
                      <a:pPr algn="l"/>
                      <a:r>
                        <a:rPr sz="850" b="1">
                          <a:solidFill>
                            <a:srgbClr val="1A1A1A"/>
                          </a:solidFill>
                          <a:latin typeface="Versos"/>
                        </a:rPr>
                        <a:t>Duration média</a:t>
                      </a:r>
                    </a:p>
                  </a:txBody>
                  <a:tcPr marL="43200" marR="43200" marT="0" marB="0">
                    <a:solidFill>
                      <a:srgbClr val="F4F7F9"/>
                    </a:solidFill>
                  </a:tcPr>
                </a:tc>
                <a:tc>
                  <a:txBody>
                    <a:bodyPr/>
                    <a:lstStyle/>
                    <a:p>
                      <a:pPr algn="r"/>
                      <a:r>
                        <a:rPr sz="850" b="0">
                          <a:solidFill>
                            <a:srgbClr val="1A1A1A"/>
                          </a:solidFill>
                          <a:latin typeface="Versos"/>
                        </a:rPr>
                        <a:t>2,04 anos</a:t>
                      </a:r>
                    </a:p>
                  </a:txBody>
                  <a:tcPr marL="43200" marR="43200" marT="0" marB="0">
                    <a:solidFill>
                      <a:srgbClr val="F4F7F9"/>
                    </a:solidFill>
                  </a:tcPr>
                </a:tc>
              </a:tr>
            </a:tbl>
          </a:graphicData>
        </a:graphic>
      </p:graphicFrame>
      <p:sp>
        <p:nvSpPr>
          <p:cNvPr id="8" name="TextBox 7"/>
          <p:cNvSpPr txBox="1"/>
          <p:nvPr/>
        </p:nvSpPr>
        <p:spPr>
          <a:xfrm>
            <a:off x="540000" y="3744000"/>
            <a:ext cx="4320000" cy="180000"/>
          </a:xfrm>
          <a:prstGeom prst="rect">
            <a:avLst/>
          </a:prstGeom>
          <a:noFill/>
        </p:spPr>
        <p:txBody>
          <a:bodyPr wrap="square" lIns="0" rIns="0" tIns="0" bIns="0">
            <a:spAutoFit/>
          </a:bodyPr>
          <a:lstStyle/>
          <a:p>
            <a:pPr algn="l"/>
            <a:r>
              <a:rPr sz="900" b="1">
                <a:solidFill>
                  <a:srgbClr val="759DB4"/>
                </a:solidFill>
                <a:latin typeface="Versos"/>
              </a:rPr>
              <a:t>INFORMAÇÕES OPERACIONAIS</a:t>
            </a:r>
          </a:p>
        </p:txBody>
      </p:sp>
      <p:graphicFrame>
        <p:nvGraphicFramePr>
          <p:cNvPr id="9" name="Table 8"/>
          <p:cNvGraphicFramePr>
            <a:graphicFrameLocks noGrp="1"/>
          </p:cNvGraphicFramePr>
          <p:nvPr/>
        </p:nvGraphicFramePr>
        <p:xfrm>
          <a:off x="540000" y="3942000"/>
          <a:ext cx="6479999" cy="748800"/>
        </p:xfrm>
        <a:graphic>
          <a:graphicData uri="http://schemas.openxmlformats.org/drawingml/2006/table">
            <a:tbl>
              <a:tblPr firstRow="1" bandRow="1">
                <a:tableStyleId>{5C22544A-7EE6-4342-B048-85BDC9FD1C3A}</a:tableStyleId>
              </a:tblPr>
              <a:tblGrid>
                <a:gridCol w="3751578"/>
                <a:gridCol w="2728421"/>
              </a:tblGrid>
              <a:tr h="187200">
                <a:tc>
                  <a:txBody>
                    <a:bodyPr/>
                    <a:lstStyle/>
                    <a:p>
                      <a:pPr algn="l"/>
                      <a:r>
                        <a:rPr sz="850" b="1">
                          <a:solidFill>
                            <a:srgbClr val="1A1A1A"/>
                          </a:solidFill>
                          <a:latin typeface="Versos"/>
                        </a:rPr>
                        <a:t>Aplicação</a:t>
                      </a:r>
                    </a:p>
                  </a:txBody>
                  <a:tcPr marL="43200" marR="43200" marT="0" marB="0">
                    <a:solidFill>
                      <a:srgbClr val="FFFFFF"/>
                    </a:solidFill>
                  </a:tcPr>
                </a:tc>
                <a:tc>
                  <a:txBody>
                    <a:bodyPr/>
                    <a:lstStyle/>
                    <a:p>
                      <a:pPr algn="r"/>
                      <a:r>
                        <a:rPr sz="850" b="0">
                          <a:solidFill>
                            <a:srgbClr val="1A1A1A"/>
                          </a:solidFill>
                          <a:latin typeface="Versos"/>
                        </a:rPr>
                        <a:t>D+1</a:t>
                      </a:r>
                    </a:p>
                  </a:txBody>
                  <a:tcPr marL="43200" marR="43200" marT="0" marB="0">
                    <a:solidFill>
                      <a:srgbClr val="FFFFFF"/>
                    </a:solidFill>
                  </a:tcPr>
                </a:tc>
              </a:tr>
              <a:tr h="187200">
                <a:tc>
                  <a:txBody>
                    <a:bodyPr/>
                    <a:lstStyle/>
                    <a:p>
                      <a:pPr algn="l"/>
                      <a:r>
                        <a:rPr sz="850" b="1">
                          <a:solidFill>
                            <a:srgbClr val="1A1A1A"/>
                          </a:solidFill>
                          <a:latin typeface="Versos"/>
                        </a:rPr>
                        <a:t>Resgate</a:t>
                      </a:r>
                    </a:p>
                  </a:txBody>
                  <a:tcPr marL="43200" marR="43200" marT="0" marB="0">
                    <a:solidFill>
                      <a:srgbClr val="F4F7F9"/>
                    </a:solidFill>
                  </a:tcPr>
                </a:tc>
                <a:tc>
                  <a:txBody>
                    <a:bodyPr/>
                    <a:lstStyle/>
                    <a:p>
                      <a:pPr algn="r"/>
                      <a:r>
                        <a:rPr sz="850" b="0">
                          <a:solidFill>
                            <a:srgbClr val="1A1A1A"/>
                          </a:solidFill>
                          <a:latin typeface="Versos"/>
                        </a:rPr>
                        <a:t>D+50</a:t>
                      </a:r>
                    </a:p>
                  </a:txBody>
                  <a:tcPr marL="43200" marR="43200" marT="0" marB="0">
                    <a:solidFill>
                      <a:srgbClr val="F4F7F9"/>
                    </a:solidFill>
                  </a:tcPr>
                </a:tc>
              </a:tr>
              <a:tr h="187200">
                <a:tc>
                  <a:txBody>
                    <a:bodyPr/>
                    <a:lstStyle/>
                    <a:p>
                      <a:pPr algn="l"/>
                      <a:r>
                        <a:rPr sz="850" b="1">
                          <a:solidFill>
                            <a:srgbClr val="1A1A1A"/>
                          </a:solidFill>
                          <a:latin typeface="Versos"/>
                        </a:rPr>
                        <a:t>Aplicação mínima inicial</a:t>
                      </a:r>
                    </a:p>
                  </a:txBody>
                  <a:tcPr marL="43200" marR="43200" marT="0" marB="0">
                    <a:solidFill>
                      <a:srgbClr val="FFFFFF"/>
                    </a:solidFill>
                  </a:tcPr>
                </a:tc>
                <a:tc>
                  <a:txBody>
                    <a:bodyPr/>
                    <a:lstStyle/>
                    <a:p>
                      <a:pPr algn="r"/>
                      <a:r>
                        <a:rPr sz="850" b="0">
                          <a:solidFill>
                            <a:srgbClr val="1A1A1A"/>
                          </a:solidFill>
                          <a:latin typeface="Versos"/>
                        </a:rPr>
                        <a:t>R$ 1.000,00</a:t>
                      </a:r>
                    </a:p>
                  </a:txBody>
                  <a:tcPr marL="43200" marR="43200" marT="0" marB="0">
                    <a:solidFill>
                      <a:srgbClr val="FFFFFF"/>
                    </a:solidFill>
                  </a:tcPr>
                </a:tc>
              </a:tr>
              <a:tr h="187200">
                <a:tc>
                  <a:txBody>
                    <a:bodyPr/>
                    <a:lstStyle/>
                    <a:p>
                      <a:pPr algn="l"/>
                      <a:r>
                        <a:rPr sz="850" b="1">
                          <a:solidFill>
                            <a:srgbClr val="1A1A1A"/>
                          </a:solidFill>
                          <a:latin typeface="Versos"/>
                        </a:rPr>
                        <a:t>Movimentação mínima</a:t>
                      </a:r>
                    </a:p>
                  </a:txBody>
                  <a:tcPr marL="43200" marR="43200" marT="0" marB="0">
                    <a:solidFill>
                      <a:srgbClr val="F4F7F9"/>
                    </a:solidFill>
                  </a:tcPr>
                </a:tc>
                <a:tc>
                  <a:txBody>
                    <a:bodyPr/>
                    <a:lstStyle/>
                    <a:p>
                      <a:pPr algn="r"/>
                      <a:r>
                        <a:rPr sz="850" b="0">
                          <a:solidFill>
                            <a:srgbClr val="1A1A1A"/>
                          </a:solidFill>
                          <a:latin typeface="Versos"/>
                        </a:rPr>
                        <a:t>R$ 1.000,00</a:t>
                      </a:r>
                    </a:p>
                  </a:txBody>
                  <a:tcPr marL="43200" marR="43200" marT="0" marB="0">
                    <a:solidFill>
                      <a:srgbClr val="F4F7F9"/>
                    </a:solidFill>
                  </a:tcPr>
                </a:tc>
              </a:tr>
            </a:tbl>
          </a:graphicData>
        </a:graphic>
      </p:graphicFrame>
      <p:sp>
        <p:nvSpPr>
          <p:cNvPr id="10" name="TextBox 9"/>
          <p:cNvSpPr txBox="1"/>
          <p:nvPr/>
        </p:nvSpPr>
        <p:spPr>
          <a:xfrm>
            <a:off x="540000" y="4978800"/>
            <a:ext cx="6480000" cy="180000"/>
          </a:xfrm>
          <a:prstGeom prst="rect">
            <a:avLst/>
          </a:prstGeom>
          <a:noFill/>
        </p:spPr>
        <p:txBody>
          <a:bodyPr wrap="square" lIns="0" rIns="0" tIns="0" bIns="0">
            <a:spAutoFit/>
          </a:bodyPr>
          <a:lstStyle/>
          <a:p>
            <a:pPr algn="l"/>
            <a:r>
              <a:rPr sz="900" b="1">
                <a:solidFill>
                  <a:srgbClr val="759DB4"/>
                </a:solidFill>
                <a:latin typeface="Versos"/>
              </a:rPr>
              <a:t>DISCLAIMER</a:t>
            </a:r>
          </a:p>
        </p:txBody>
      </p:sp>
      <p:sp>
        <p:nvSpPr>
          <p:cNvPr id="11" name="TextBox 10"/>
          <p:cNvSpPr txBox="1"/>
          <p:nvPr/>
        </p:nvSpPr>
        <p:spPr>
          <a:xfrm>
            <a:off x="540000" y="5176800"/>
            <a:ext cx="6480000" cy="4921200"/>
          </a:xfrm>
          <a:prstGeom prst="rect">
            <a:avLst/>
          </a:prstGeom>
          <a:noFill/>
        </p:spPr>
        <p:txBody>
          <a:bodyPr wrap="square" lIns="0" rIns="0" tIns="0" bIns="0">
            <a:spAutoFit/>
          </a:bodyPr>
          <a:lstStyle/>
          <a:p>
            <a:pPr algn="l"/>
            <a:r>
              <a:rPr sz="540" b="0">
                <a:solidFill>
                  <a:srgbClr val="637881"/>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a:p>
            <a:pPr algn="l"/>
            <a:r>
              <a:rPr sz="540" b="0">
                <a:solidFill>
                  <a:srgbClr val="637881"/>
                </a:solidFill>
                <a:latin typeface="Versos"/>
              </a:rPr>
              <a:t/>
            </a:r>
          </a:p>
          <a:p>
            <a:pPr algn="l"/>
            <a:r>
              <a:rPr sz="540" b="0">
                <a:solidFill>
                  <a:srgbClr val="637881"/>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a:p>
            <a:pPr algn="l"/>
            <a:r>
              <a:rPr sz="540" b="0">
                <a:solidFill>
                  <a:srgbClr val="637881"/>
                </a:solidFill>
                <a:latin typeface="Versos"/>
              </a:rPr>
              <a:t/>
            </a:r>
          </a:p>
          <a:p>
            <a:pPr algn="l"/>
            <a:r>
              <a:rPr sz="540" b="0">
                <a:solidFill>
                  <a:srgbClr val="637881"/>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a:p>
            <a:pPr algn="l"/>
            <a:r>
              <a:rPr sz="540" b="0">
                <a:solidFill>
                  <a:srgbClr val="637881"/>
                </a:solidFill>
                <a:latin typeface="Versos"/>
              </a:rPr>
              <a:t/>
            </a:r>
          </a:p>
          <a:p>
            <a:pPr algn="l"/>
            <a:r>
              <a:rPr sz="540" b="0">
                <a:solidFill>
                  <a:srgbClr val="637881"/>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12" name="TextBox 11"/>
          <p:cNvSpPr txBox="1"/>
          <p:nvPr/>
        </p:nvSpPr>
        <p:spPr>
          <a:xfrm>
            <a:off x="5940000" y="10260000"/>
            <a:ext cx="1080000" cy="144000"/>
          </a:xfrm>
          <a:prstGeom prst="rect">
            <a:avLst/>
          </a:prstGeom>
          <a:noFill/>
        </p:spPr>
        <p:txBody>
          <a:bodyPr wrap="square" lIns="0" rIns="0" tIns="0" bIns="0">
            <a:spAutoFit/>
          </a:bodyPr>
          <a:lstStyle/>
          <a:p>
            <a:pPr algn="r"/>
            <a:r>
              <a:rPr sz="800" b="1">
                <a:solidFill>
                  <a:srgbClr val="637881"/>
                </a:solidFill>
                <a:latin typeface="Versos"/>
              </a:rPr>
              <a:t>3</a:t>
            </a:r>
          </a:p>
        </p:txBody>
      </p:sp>
      <p:sp>
        <p:nvSpPr>
          <p:cNvPr id="13" name="TextBox 12"/>
          <p:cNvSpPr txBox="1"/>
          <p:nvPr/>
        </p:nvSpPr>
        <p:spPr>
          <a:xfrm>
            <a:off x="540000" y="10260000"/>
            <a:ext cx="2160000" cy="144000"/>
          </a:xfrm>
          <a:prstGeom prst="rect">
            <a:avLst/>
          </a:prstGeom>
          <a:noFill/>
        </p:spPr>
        <p:txBody>
          <a:bodyPr wrap="square" lIns="0" rIns="0" tIns="0" bIns="0">
            <a:spAutoFit/>
          </a:bodyPr>
          <a:lstStyle/>
          <a:p>
            <a:pPr algn="l"/>
            <a:r>
              <a:rPr sz="800" b="0">
                <a:solidFill>
                  <a:srgbClr val="637881"/>
                </a:solidFill>
                <a:latin typeface="Versos"/>
              </a:rPr>
              <a:t>tivio.com/fundos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