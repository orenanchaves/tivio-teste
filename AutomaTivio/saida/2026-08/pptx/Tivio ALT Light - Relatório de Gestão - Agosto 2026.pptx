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90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0,72%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9,51%</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12,60%</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11,40%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65,59%</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101,93%</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110,53%</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−4,38%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0,25%</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1,36%</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66584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665845" cy="189000"/>
          </a:xfrm>
          <a:prstGeom prst="rect">
            <a:avLst/>
          </a:prstGeom>
          <a:noFill/>
        </p:spPr>
        <p:txBody>
          <a:bodyPr wrap="none" lIns="0" rIns="0" tIns="0" bIns="0" anchor="t"/>
          <a:lstStyle/>
          <a:p>
            <a:pPr algn="l">
              <a:lnSpc>
                <a:spcPts val="1375"/>
              </a:lnSpc>
            </a:pPr>
            <a:r>
              <a:rPr sz="1250" b="1" i="0">
                <a:solidFill>
                  <a:srgbClr val="2B3744"/>
                </a:solidFill>
                <a:latin typeface="Versos"/>
              </a:rPr>
              <a:t>40,7%</a:t>
            </a:r>
          </a:p>
        </p:txBody>
      </p:sp>
      <p:sp>
        <p:nvSpPr>
          <p:cNvPr id="45" name="TextBox 44"/>
          <p:cNvSpPr txBox="1"/>
          <p:nvPr/>
        </p:nvSpPr>
        <p:spPr>
          <a:xfrm>
            <a:off x="3258832" y="6089934"/>
            <a:ext cx="1553107" cy="292477"/>
          </a:xfrm>
          <a:prstGeom prst="rect">
            <a:avLst/>
          </a:prstGeom>
          <a:noFill/>
        </p:spPr>
        <p:txBody>
          <a:bodyPr wrap="square" lIns="0" rIns="0" tIns="0" bIns="0" anchor="t"/>
          <a:lstStyle/>
          <a:p>
            <a:pPr algn="l">
              <a:lnSpc>
                <a:spcPts val="1113"/>
              </a:lnSpc>
            </a:pPr>
            <a:r>
              <a:rPr sz="1012" b="0" i="0">
                <a:solidFill>
                  <a:srgbClr val="FFFFFF"/>
                </a:solidFill>
                <a:latin typeface="Versos"/>
              </a:rPr>
              <a:t>Crédito</a:t>
            </a:r>
          </a:p>
          <a:p>
            <a:pPr algn="l">
              <a:lnSpc>
                <a:spcPts val="1113"/>
              </a:lnSpc>
            </a:pPr>
            <a:r>
              <a:rPr sz="1012" b="1" i="0">
                <a:solidFill>
                  <a:srgbClr val="FFFFFF"/>
                </a:solidFill>
                <a:latin typeface="Versos"/>
              </a:rPr>
              <a:t>Privado</a:t>
            </a:r>
          </a:p>
        </p:txBody>
      </p:sp>
      <p:sp>
        <p:nvSpPr>
          <p:cNvPr id="46" name="TextBox 45"/>
          <p:cNvSpPr txBox="1"/>
          <p:nvPr/>
        </p:nvSpPr>
        <p:spPr>
          <a:xfrm>
            <a:off x="3258832" y="6387609"/>
            <a:ext cx="1615231" cy="189000"/>
          </a:xfrm>
          <a:prstGeom prst="rect">
            <a:avLst/>
          </a:prstGeom>
          <a:noFill/>
        </p:spPr>
        <p:txBody>
          <a:bodyPr wrap="none" lIns="0" rIns="0" tIns="0" bIns="0" anchor="t"/>
          <a:lstStyle/>
          <a:p>
            <a:pPr algn="l">
              <a:lnSpc>
                <a:spcPts val="1375"/>
              </a:lnSpc>
            </a:pPr>
            <a:r>
              <a:rPr sz="1250" b="1" i="0">
                <a:solidFill>
                  <a:srgbClr val="FFFFFF"/>
                </a:solidFill>
                <a:latin typeface="Versos"/>
              </a:rPr>
              <a:t>25,8%</a:t>
            </a:r>
          </a:p>
        </p:txBody>
      </p:sp>
      <p:sp>
        <p:nvSpPr>
          <p:cNvPr id="47" name="TextBox 46"/>
          <p:cNvSpPr txBox="1"/>
          <p:nvPr/>
        </p:nvSpPr>
        <p:spPr>
          <a:xfrm>
            <a:off x="5008500" y="6089934"/>
            <a:ext cx="1400490"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Sênior</a:t>
            </a:r>
          </a:p>
        </p:txBody>
      </p:sp>
      <p:sp>
        <p:nvSpPr>
          <p:cNvPr id="48" name="TextBox 47"/>
          <p:cNvSpPr txBox="1"/>
          <p:nvPr/>
        </p:nvSpPr>
        <p:spPr>
          <a:xfrm>
            <a:off x="5008500" y="6387609"/>
            <a:ext cx="1456509" cy="189000"/>
          </a:xfrm>
          <a:prstGeom prst="rect">
            <a:avLst/>
          </a:prstGeom>
          <a:noFill/>
        </p:spPr>
        <p:txBody>
          <a:bodyPr wrap="none" lIns="0" rIns="0" tIns="0" bIns="0" anchor="t"/>
          <a:lstStyle/>
          <a:p>
            <a:pPr algn="l">
              <a:lnSpc>
                <a:spcPts val="1375"/>
              </a:lnSpc>
            </a:pPr>
            <a:r>
              <a:rPr sz="1250" b="1" i="0">
                <a:solidFill>
                  <a:srgbClr val="2B3744"/>
                </a:solidFill>
                <a:latin typeface="Versos"/>
              </a:rPr>
              <a:t>23,5%</a:t>
            </a:r>
          </a:p>
        </p:txBody>
      </p:sp>
      <p:sp>
        <p:nvSpPr>
          <p:cNvPr id="49" name="TextBox 48"/>
          <p:cNvSpPr txBox="1"/>
          <p:nvPr/>
        </p:nvSpPr>
        <p:spPr>
          <a:xfrm>
            <a:off x="6559363" y="6086863"/>
            <a:ext cx="569655" cy="105840"/>
          </a:xfrm>
          <a:prstGeom prst="rect">
            <a:avLst/>
          </a:prstGeom>
          <a:noFill/>
        </p:spPr>
        <p:txBody>
          <a:bodyPr wrap="none" lIns="0" rIns="0" tIns="0" bIns="0" anchor="t"/>
          <a:lstStyle/>
          <a:p>
            <a:pPr algn="l">
              <a:lnSpc>
                <a:spcPts val="792"/>
              </a:lnSpc>
            </a:pPr>
            <a:r>
              <a:rPr sz="720" b="0" i="0">
                <a:solidFill>
                  <a:srgbClr val="2B3744"/>
                </a:solidFill>
                <a:latin typeface="Versos"/>
              </a:rPr>
              <a:t>Liquidez</a:t>
            </a:r>
          </a:p>
        </p:txBody>
      </p:sp>
      <p:sp>
        <p:nvSpPr>
          <p:cNvPr id="50" name="TextBox 49"/>
          <p:cNvSpPr txBox="1"/>
          <p:nvPr/>
        </p:nvSpPr>
        <p:spPr>
          <a:xfrm>
            <a:off x="6559363" y="6194947"/>
            <a:ext cx="569655" cy="173880"/>
          </a:xfrm>
          <a:prstGeom prst="rect">
            <a:avLst/>
          </a:prstGeom>
          <a:noFill/>
        </p:spPr>
        <p:txBody>
          <a:bodyPr wrap="none" lIns="0" rIns="0" tIns="0" bIns="0" anchor="t"/>
          <a:lstStyle/>
          <a:p>
            <a:pPr algn="l">
              <a:lnSpc>
                <a:spcPts val="1217"/>
              </a:lnSpc>
            </a:pPr>
            <a:r>
              <a:rPr sz="1107" b="1" i="0">
                <a:solidFill>
                  <a:srgbClr val="2B3744"/>
                </a:solidFill>
                <a:latin typeface="Versos"/>
              </a:rPr>
              <a:t>7,8%</a:t>
            </a:r>
          </a:p>
        </p:txBody>
      </p:sp>
      <p:sp>
        <p:nvSpPr>
          <p:cNvPr id="51" name="TextBox 50"/>
          <p:cNvSpPr txBox="1"/>
          <p:nvPr/>
        </p:nvSpPr>
        <p:spPr>
          <a:xfrm>
            <a:off x="6559363" y="6511876"/>
            <a:ext cx="569655" cy="105840"/>
          </a:xfrm>
          <a:prstGeom prst="rect">
            <a:avLst/>
          </a:prstGeom>
          <a:noFill/>
        </p:spPr>
        <p:txBody>
          <a:bodyPr wrap="none" lIns="0" rIns="0" tIns="0" bIns="0" anchor="t"/>
          <a:lstStyle/>
          <a:p>
            <a:pPr algn="l">
              <a:lnSpc>
                <a:spcPts val="759"/>
              </a:lnSpc>
            </a:pPr>
            <a:r>
              <a:rPr sz="690" b="1" i="0">
                <a:solidFill>
                  <a:srgbClr val="FFFFFF"/>
                </a:solidFill>
                <a:latin typeface="Versos"/>
              </a:rPr>
              <a:t>1,9%</a:t>
            </a:r>
          </a:p>
        </p:txBody>
      </p:sp>
      <p:sp>
        <p:nvSpPr>
          <p:cNvPr id="52" name="TextBox 51"/>
          <p:cNvSpPr txBox="1"/>
          <p:nvPr/>
        </p:nvSpPr>
        <p:spPr>
          <a:xfrm>
            <a:off x="529200" y="6743638"/>
            <a:ext cx="774569"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40,7%</a:t>
            </a:r>
          </a:p>
        </p:txBody>
      </p:sp>
      <p:sp>
        <p:nvSpPr>
          <p:cNvPr id="53" name="TextBox 52"/>
          <p:cNvSpPr txBox="1"/>
          <p:nvPr/>
        </p:nvSpPr>
        <p:spPr>
          <a:xfrm>
            <a:off x="1538578" y="6743638"/>
            <a:ext cx="108365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25,8%</a:t>
            </a:r>
          </a:p>
        </p:txBody>
      </p:sp>
      <p:sp>
        <p:nvSpPr>
          <p:cNvPr id="54" name="TextBox 53"/>
          <p:cNvSpPr txBox="1"/>
          <p:nvPr/>
        </p:nvSpPr>
        <p:spPr>
          <a:xfrm>
            <a:off x="2845158" y="6743638"/>
            <a:ext cx="1277762"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23,5%</a:t>
            </a:r>
          </a:p>
        </p:txBody>
      </p:sp>
      <p:sp>
        <p:nvSpPr>
          <p:cNvPr id="55" name="TextBox 54"/>
          <p:cNvSpPr txBox="1"/>
          <p:nvPr/>
        </p:nvSpPr>
        <p:spPr>
          <a:xfrm>
            <a:off x="4338376" y="6743638"/>
            <a:ext cx="67665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7,8%</a:t>
            </a:r>
          </a:p>
        </p:txBody>
      </p:sp>
      <p:sp>
        <p:nvSpPr>
          <p:cNvPr id="56" name="TextBox 55"/>
          <p:cNvSpPr txBox="1"/>
          <p:nvPr/>
        </p:nvSpPr>
        <p:spPr>
          <a:xfrm>
            <a:off x="5253609" y="6743638"/>
            <a:ext cx="564127" cy="113400"/>
          </a:xfrm>
          <a:prstGeom prst="rect">
            <a:avLst/>
          </a:prstGeom>
          <a:noFill/>
        </p:spPr>
        <p:txBody>
          <a:bodyPr wrap="none" lIns="0" rIns="0" tIns="0" bIns="0" anchor="t"/>
          <a:lstStyle/>
          <a:p>
            <a:pPr algn="l">
              <a:lnSpc>
                <a:spcPts val="892"/>
              </a:lnSpc>
            </a:pPr>
            <a:r>
              <a:rPr sz="744" b="0" i="0">
                <a:solidFill>
                  <a:srgbClr val="333333"/>
                </a:solidFill>
                <a:latin typeface="Versos"/>
              </a:rPr>
              <a:t>Ações </a:t>
            </a:r>
            <a:r>
              <a:rPr sz="744" b="1" i="0">
                <a:solidFill>
                  <a:srgbClr val="111111"/>
                </a:solidFill>
                <a:latin typeface="Versos"/>
              </a:rPr>
              <a:t>1,9%</a:t>
            </a:r>
          </a:p>
        </p:txBody>
      </p:sp>
      <p:sp>
        <p:nvSpPr>
          <p:cNvPr id="57" name="TextBox 56"/>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8" name="TextBox 57"/>
          <p:cNvSpPr txBox="1"/>
          <p:nvPr/>
        </p:nvSpPr>
        <p:spPr>
          <a:xfrm>
            <a:off x="415800" y="7922998"/>
            <a:ext cx="6997536" cy="113400"/>
          </a:xfrm>
          <a:prstGeom prst="rect">
            <a:avLst/>
          </a:prstGeom>
          <a:noFill/>
        </p:spPr>
        <p:txBody>
          <a:bodyPr wrap="none" lIns="0" rIns="0" tIns="0" bIns="0" anchor="t"/>
          <a:lstStyle/>
          <a:p>
            <a:pPr algn="just">
              <a:lnSpc>
                <a:spcPts val="913"/>
              </a:lnSpc>
            </a:pPr>
            <a:r>
              <a:rPr sz="773" b="0" i="0">
                <a:solidFill>
                  <a:srgbClr val="8A99A3"/>
                </a:solidFill>
                <a:latin typeface="Versos"/>
              </a:rPr>
              <a:t>Comentário não preenchido em </a:t>
            </a:r>
            <a:r>
              <a:rPr sz="773" b="0" i="0">
                <a:solidFill>
                  <a:srgbClr val="8A99A3"/>
                </a:solidFill>
                <a:latin typeface="Versos"/>
              </a:rPr>
              <a:t>entrada/comentarios.md</a:t>
            </a:r>
            <a:r>
              <a:rPr sz="773" b="0" i="0">
                <a:solidFill>
                  <a:srgbClr val="8A99A3"/>
                </a:solidFill>
                <a:latin typeface="Versos"/>
              </a:rPr>
              <a:t> para </a:t>
            </a:r>
            <a:r>
              <a:rPr sz="773" b="1" i="0">
                <a:solidFill>
                  <a:srgbClr val="8A99A3"/>
                </a:solidFill>
                <a:latin typeface="Versos"/>
              </a:rPr>
              <a:t>Tivio ALT Light</a:t>
            </a:r>
            <a:r>
              <a:rPr sz="773" b="0" i="0">
                <a:solidFill>
                  <a:srgbClr val="8A99A3"/>
                </a:solidFill>
                <a:latin typeface="Versos"/>
              </a:rPr>
              <a:t>.</a:t>
            </a:r>
          </a:p>
        </p:txBody>
      </p:sp>
      <p:sp>
        <p:nvSpPr>
          <p:cNvPr id="59" name="TextBox 5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8721" cy="120960"/>
          </a:xfrm>
          <a:prstGeom prst="rect">
            <a:avLst/>
          </a:prstGeom>
          <a:noFill/>
        </p:spPr>
        <p:txBody>
          <a:bodyPr wrap="none" lIns="0" rIns="0" tIns="0" bIns="0" anchor="t"/>
          <a:lstStyle/>
          <a:p>
            <a:pPr algn="l">
              <a:lnSpc>
                <a:spcPts val="971"/>
              </a:lnSpc>
            </a:pPr>
            <a:r>
              <a:rPr sz="809" b="0" i="0">
                <a:solidFill>
                  <a:srgbClr val="4F7A93"/>
                </a:solidFill>
                <a:latin typeface="Versos"/>
              </a:rPr>
              <a:t>40,68%</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8" name="TextBox 7"/>
          <p:cNvSpPr txBox="1"/>
          <p:nvPr/>
        </p:nvSpPr>
        <p:spPr>
          <a:xfrm>
            <a:off x="2443770" y="1789357"/>
            <a:ext cx="375921" cy="120960"/>
          </a:xfrm>
          <a:prstGeom prst="rect">
            <a:avLst/>
          </a:prstGeom>
          <a:noFill/>
        </p:spPr>
        <p:txBody>
          <a:bodyPr wrap="none" lIns="0" rIns="0" tIns="0" bIns="0" anchor="t"/>
          <a:lstStyle/>
          <a:p>
            <a:pPr algn="l">
              <a:lnSpc>
                <a:spcPts val="971"/>
              </a:lnSpc>
            </a:pPr>
            <a:r>
              <a:rPr sz="809" b="0" i="0">
                <a:solidFill>
                  <a:srgbClr val="4F7A93"/>
                </a:solidFill>
                <a:latin typeface="Versos"/>
              </a:rPr>
              <a:t>14,26%</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10" name="TextBox 9"/>
          <p:cNvSpPr txBox="1"/>
          <p:nvPr/>
        </p:nvSpPr>
        <p:spPr>
          <a:xfrm>
            <a:off x="2253116" y="1978357"/>
            <a:ext cx="305282" cy="120960"/>
          </a:xfrm>
          <a:prstGeom prst="rect">
            <a:avLst/>
          </a:prstGeom>
          <a:noFill/>
        </p:spPr>
        <p:txBody>
          <a:bodyPr wrap="none" lIns="0" rIns="0" tIns="0" bIns="0" anchor="t"/>
          <a:lstStyle/>
          <a:p>
            <a:pPr algn="l">
              <a:lnSpc>
                <a:spcPts val="971"/>
              </a:lnSpc>
            </a:pPr>
            <a:r>
              <a:rPr sz="809" b="0" i="0">
                <a:solidFill>
                  <a:srgbClr val="4F7A93"/>
                </a:solidFill>
                <a:latin typeface="Versos"/>
              </a:rPr>
              <a:t>7,75%</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2" name="TextBox 11"/>
          <p:cNvSpPr txBox="1"/>
          <p:nvPr/>
        </p:nvSpPr>
        <p:spPr>
          <a:xfrm>
            <a:off x="2183186" y="2167357"/>
            <a:ext cx="325921" cy="120960"/>
          </a:xfrm>
          <a:prstGeom prst="rect">
            <a:avLst/>
          </a:prstGeom>
          <a:noFill/>
        </p:spPr>
        <p:txBody>
          <a:bodyPr wrap="none" lIns="0" rIns="0" tIns="0" bIns="0" anchor="t"/>
          <a:lstStyle/>
          <a:p>
            <a:pPr algn="l">
              <a:lnSpc>
                <a:spcPts val="971"/>
              </a:lnSpc>
            </a:pPr>
            <a:r>
              <a:rPr sz="809" b="0" i="0">
                <a:solidFill>
                  <a:srgbClr val="4F7A93"/>
                </a:solidFill>
                <a:latin typeface="Versos"/>
              </a:rPr>
              <a:t>5,37%</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4" name="TextBox 13"/>
          <p:cNvSpPr txBox="1"/>
          <p:nvPr/>
        </p:nvSpPr>
        <p:spPr>
          <a:xfrm>
            <a:off x="2170428" y="2356357"/>
            <a:ext cx="337346" cy="120960"/>
          </a:xfrm>
          <a:prstGeom prst="rect">
            <a:avLst/>
          </a:prstGeom>
          <a:noFill/>
        </p:spPr>
        <p:txBody>
          <a:bodyPr wrap="none" lIns="0" rIns="0" tIns="0" bIns="0" anchor="t"/>
          <a:lstStyle/>
          <a:p>
            <a:pPr algn="l">
              <a:lnSpc>
                <a:spcPts val="971"/>
              </a:lnSpc>
            </a:pPr>
            <a:r>
              <a:rPr sz="809" b="0" i="0">
                <a:solidFill>
                  <a:srgbClr val="4F7A93"/>
                </a:solidFill>
                <a:latin typeface="Versos"/>
              </a:rPr>
              <a:t>4,93%</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16" name="TextBox 15"/>
          <p:cNvSpPr txBox="1"/>
          <p:nvPr/>
        </p:nvSpPr>
        <p:spPr>
          <a:xfrm>
            <a:off x="2158616" y="2545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4,52%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55781" y="2734357"/>
            <a:ext cx="339803" cy="120960"/>
          </a:xfrm>
          <a:prstGeom prst="rect">
            <a:avLst/>
          </a:prstGeom>
          <a:noFill/>
        </p:spPr>
        <p:txBody>
          <a:bodyPr wrap="none" lIns="0" rIns="0" tIns="0" bIns="0" anchor="t"/>
          <a:lstStyle/>
          <a:p>
            <a:pPr algn="l">
              <a:lnSpc>
                <a:spcPts val="971"/>
              </a:lnSpc>
            </a:pPr>
            <a:r>
              <a:rPr sz="809" b="0" i="0">
                <a:solidFill>
                  <a:srgbClr val="4F7A93"/>
                </a:solidFill>
                <a:latin typeface="Versos"/>
              </a:rPr>
              <a:t>4,43%</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0" name="TextBox 19"/>
          <p:cNvSpPr txBox="1"/>
          <p:nvPr/>
        </p:nvSpPr>
        <p:spPr>
          <a:xfrm>
            <a:off x="2153300" y="2923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4,34%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22" name="TextBox 21"/>
          <p:cNvSpPr txBox="1"/>
          <p:nvPr/>
        </p:nvSpPr>
        <p:spPr>
          <a:xfrm>
            <a:off x="2140661" y="3112357"/>
            <a:ext cx="330097" cy="120960"/>
          </a:xfrm>
          <a:prstGeom prst="rect">
            <a:avLst/>
          </a:prstGeom>
          <a:noFill/>
        </p:spPr>
        <p:txBody>
          <a:bodyPr wrap="none" lIns="0" rIns="0" tIns="0" bIns="0" anchor="t"/>
          <a:lstStyle/>
          <a:p>
            <a:pPr algn="l">
              <a:lnSpc>
                <a:spcPts val="971"/>
              </a:lnSpc>
            </a:pPr>
            <a:r>
              <a:rPr sz="809" b="0" i="0">
                <a:solidFill>
                  <a:srgbClr val="4F7A93"/>
                </a:solidFill>
                <a:latin typeface="Versos"/>
              </a:rPr>
              <a:t>3,92%</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4" name="TextBox 23"/>
          <p:cNvSpPr txBox="1"/>
          <p:nvPr/>
        </p:nvSpPr>
        <p:spPr>
          <a:xfrm>
            <a:off x="2094238" y="3301357"/>
            <a:ext cx="333660" cy="120960"/>
          </a:xfrm>
          <a:prstGeom prst="rect">
            <a:avLst/>
          </a:prstGeom>
          <a:noFill/>
        </p:spPr>
        <p:txBody>
          <a:bodyPr wrap="none" lIns="0" rIns="0" tIns="0" bIns="0" anchor="t"/>
          <a:lstStyle/>
          <a:p>
            <a:pPr algn="l">
              <a:lnSpc>
                <a:spcPts val="971"/>
              </a:lnSpc>
            </a:pPr>
            <a:r>
              <a:rPr sz="809" b="0" i="0">
                <a:solidFill>
                  <a:srgbClr val="4F7A93"/>
                </a:solidFill>
                <a:latin typeface="Versos"/>
              </a:rPr>
              <a:t>2,33%</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26" name="TextBox 25"/>
          <p:cNvSpPr txBox="1"/>
          <p:nvPr/>
        </p:nvSpPr>
        <p:spPr>
          <a:xfrm>
            <a:off x="2090812" y="3490357"/>
            <a:ext cx="302211" cy="120960"/>
          </a:xfrm>
          <a:prstGeom prst="rect">
            <a:avLst/>
          </a:prstGeom>
          <a:noFill/>
        </p:spPr>
        <p:txBody>
          <a:bodyPr wrap="none" lIns="0" rIns="0" tIns="0" bIns="0" anchor="t"/>
          <a:lstStyle/>
          <a:p>
            <a:pPr algn="l">
              <a:lnSpc>
                <a:spcPts val="971"/>
              </a:lnSpc>
            </a:pPr>
            <a:r>
              <a:rPr sz="809" b="0" i="0">
                <a:solidFill>
                  <a:srgbClr val="4F7A93"/>
                </a:solidFill>
                <a:latin typeface="Versos"/>
              </a:rPr>
              <a:t>2,21%</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Alimentos e bebidas</a:t>
            </a:r>
          </a:p>
        </p:txBody>
      </p:sp>
      <p:sp>
        <p:nvSpPr>
          <p:cNvPr id="28" name="TextBox 27"/>
          <p:cNvSpPr txBox="1"/>
          <p:nvPr/>
        </p:nvSpPr>
        <p:spPr>
          <a:xfrm>
            <a:off x="2067069" y="3679357"/>
            <a:ext cx="313636" cy="120960"/>
          </a:xfrm>
          <a:prstGeom prst="rect">
            <a:avLst/>
          </a:prstGeom>
          <a:noFill/>
        </p:spPr>
        <p:txBody>
          <a:bodyPr wrap="none" lIns="0" rIns="0" tIns="0" bIns="0" anchor="t"/>
          <a:lstStyle/>
          <a:p>
            <a:pPr algn="l">
              <a:lnSpc>
                <a:spcPts val="971"/>
              </a:lnSpc>
            </a:pPr>
            <a:r>
              <a:rPr sz="809" b="0" i="0">
                <a:solidFill>
                  <a:srgbClr val="4F7A93"/>
                </a:solidFill>
                <a:latin typeface="Versos"/>
              </a:rPr>
              <a:t>1,40%</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65770" y="3868357"/>
            <a:ext cx="310319" cy="120960"/>
          </a:xfrm>
          <a:prstGeom prst="rect">
            <a:avLst/>
          </a:prstGeom>
          <a:noFill/>
        </p:spPr>
        <p:txBody>
          <a:bodyPr wrap="none" lIns="0" rIns="0" tIns="0" bIns="0" anchor="t"/>
          <a:lstStyle/>
          <a:p>
            <a:pPr algn="l">
              <a:lnSpc>
                <a:spcPts val="971"/>
              </a:lnSpc>
            </a:pPr>
            <a:r>
              <a:rPr sz="809" b="0" i="0">
                <a:solidFill>
                  <a:srgbClr val="4F7A93"/>
                </a:solidFill>
                <a:latin typeface="Versos"/>
              </a:rPr>
              <a:t>1,36%</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32" name="TextBox 31"/>
          <p:cNvSpPr txBox="1"/>
          <p:nvPr/>
        </p:nvSpPr>
        <p:spPr>
          <a:xfrm>
            <a:off x="2059509" y="4057357"/>
            <a:ext cx="270392" cy="120960"/>
          </a:xfrm>
          <a:prstGeom prst="rect">
            <a:avLst/>
          </a:prstGeom>
          <a:noFill/>
        </p:spPr>
        <p:txBody>
          <a:bodyPr wrap="none" lIns="0" rIns="0" tIns="0" bIns="0" anchor="t"/>
          <a:lstStyle/>
          <a:p>
            <a:pPr algn="l">
              <a:lnSpc>
                <a:spcPts val="971"/>
              </a:lnSpc>
            </a:pPr>
            <a:r>
              <a:rPr sz="809" b="0" i="0">
                <a:solidFill>
                  <a:srgbClr val="4F7A93"/>
                </a:solidFill>
                <a:latin typeface="Versos"/>
              </a:rPr>
              <a:t>1,14%</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54430" y="4246357"/>
            <a:ext cx="326043" cy="120960"/>
          </a:xfrm>
          <a:prstGeom prst="rect">
            <a:avLst/>
          </a:prstGeom>
          <a:noFill/>
        </p:spPr>
        <p:txBody>
          <a:bodyPr wrap="none" lIns="0" rIns="0" tIns="0" bIns="0" anchor="t"/>
          <a:lstStyle/>
          <a:p>
            <a:pPr algn="l">
              <a:lnSpc>
                <a:spcPts val="971"/>
              </a:lnSpc>
            </a:pPr>
            <a:r>
              <a:rPr sz="809" b="0" i="0">
                <a:solidFill>
                  <a:srgbClr val="4F7A93"/>
                </a:solidFill>
                <a:latin typeface="Versos"/>
              </a:rPr>
              <a:t>0,97%</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1,36%</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−4,38%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R$ 26.829.258,71</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R$ 18.304.046,83</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