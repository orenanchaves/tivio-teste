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680" y="1005480"/>
            <a:ext cx="6266332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1"/>
              </a:lnSpc>
            </a:pPr>
            <a:r>
              <a:rPr sz="1101" b="0" i="0">
                <a:solidFill>
                  <a:srgbClr val="FFFFFF"/>
                </a:solidFill>
                <a:latin typeface="Versos"/>
              </a:rPr>
              <a:t>TIVIO ALT LIGHT XP PREV </a:t>
            </a:r>
            <a:r>
              <a:rPr sz="903" b="0" i="0">
                <a:solidFill>
                  <a:srgbClr val="FFFFFF"/>
                </a:solidFill>
                <a:latin typeface="Versos"/>
              </a:rPr>
              <a:t>/ CNPJ 53.991.177/0001-63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406160"/>
            <a:ext cx="6266332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560" y="1980720"/>
            <a:ext cx="704471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OBJETIVO DA CARTEIRA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560" y="2154600"/>
            <a:ext cx="6773760" cy="367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4"/>
              </a:lnSpc>
            </a:pPr>
            <a:r>
              <a:rPr sz="1220" b="0" i="0">
                <a:solidFill>
                  <a:srgbClr val="FFFFFF"/>
                </a:solidFill>
                <a:latin typeface="Versos"/>
              </a:rPr>
              <a:t>Fundo de previdência de crédito com parcela máxima permitida em crédito estruturado. Além disso aloca em crédito privado e bancários.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66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16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764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312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24M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860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36M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40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440" y="302163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66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0,72%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216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9,51%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764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312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60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40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12,60%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440" y="340719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66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1,09%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16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9,33%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764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312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860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0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11,40%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440" y="379275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66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65,59%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216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101,93%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764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312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860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40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110,53%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440" y="417831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66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216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0,25%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764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312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7860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840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560" y="4522297"/>
            <a:ext cx="704471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92"/>
              </a:lnSpc>
            </a:pPr>
            <a:r>
              <a:rPr sz="744" b="1" i="0">
                <a:solidFill>
                  <a:srgbClr val="FFFFFF"/>
                </a:solidFill>
                <a:latin typeface="Versos"/>
              </a:rPr>
              <a:t>Data base:</a:t>
            </a:r>
            <a:r>
              <a:rPr sz="744" b="0" i="0">
                <a:solidFill>
                  <a:srgbClr val="FFFFFF"/>
                </a:solidFill>
                <a:latin typeface="Versos"/>
              </a:rPr>
              <a:t> 31/08/2026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680" y="502881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REAL DA CARTEIRA DE CRÉDITO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960" y="6231211"/>
            <a:ext cx="266584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Bancário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960" y="6387609"/>
            <a:ext cx="2665845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40,7%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58832" y="6089934"/>
            <a:ext cx="1553107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Crédito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Privado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8832" y="6387609"/>
            <a:ext cx="1615231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FFFFFF"/>
                </a:solidFill>
                <a:latin typeface="Versos"/>
              </a:rPr>
              <a:t>25,8%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08500" y="6089934"/>
            <a:ext cx="1400490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FIDCs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2B3744"/>
                </a:solidFill>
                <a:latin typeface="Versos"/>
              </a:rPr>
              <a:t>Cota Sênior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8500" y="6387609"/>
            <a:ext cx="1456509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23,5%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363" y="6086863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92"/>
              </a:lnSpc>
            </a:pPr>
            <a:r>
              <a:rPr sz="720" b="0" i="0">
                <a:solidFill>
                  <a:srgbClr val="2B3744"/>
                </a:solidFill>
                <a:latin typeface="Versos"/>
              </a:rPr>
              <a:t>Liquidez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363" y="6194947"/>
            <a:ext cx="569655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7"/>
              </a:lnSpc>
            </a:pPr>
            <a:r>
              <a:rPr sz="1107" b="1" i="0">
                <a:solidFill>
                  <a:srgbClr val="2B3744"/>
                </a:solidFill>
                <a:latin typeface="Versos"/>
              </a:rPr>
              <a:t>7,8%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363" y="6511876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59"/>
              </a:lnSpc>
            </a:pPr>
            <a:r>
              <a:rPr sz="690" b="1" i="0">
                <a:solidFill>
                  <a:srgbClr val="FFFFFF"/>
                </a:solidFill>
                <a:latin typeface="Versos"/>
              </a:rPr>
              <a:t>1,9%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200" y="6743638"/>
            <a:ext cx="77456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Bancário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40,7%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38578" y="6743638"/>
            <a:ext cx="108365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Crédito Privado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25,8%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45158" y="6743638"/>
            <a:ext cx="122678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FIDCs Cota Sênior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23,5%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89355" y="6743638"/>
            <a:ext cx="676657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Liquidez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7,8%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04587" y="6743638"/>
            <a:ext cx="441768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FIP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1,9%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5800" y="7340878"/>
            <a:ext cx="6997536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571"/>
              </a:lnSpc>
            </a:pPr>
            <a:r>
              <a:rPr sz="1309" b="0" i="0">
                <a:solidFill>
                  <a:srgbClr val="707070"/>
                </a:solidFill>
                <a:latin typeface="Versos"/>
              </a:rPr>
              <a:t>Comentário do Gestor e Análise de Mercado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800" y="7922998"/>
            <a:ext cx="6997536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just">
              <a:lnSpc>
                <a:spcPts val="913"/>
              </a:lnSpc>
            </a:pPr>
            <a:r>
              <a:rPr sz="773" b="0" i="0">
                <a:solidFill>
                  <a:srgbClr val="8A99A3"/>
                </a:solidFill>
                <a:latin typeface="Versos"/>
              </a:rPr>
              <a:t>Comentário não preenchido em </a:t>
            </a:r>
            <a:r>
              <a:rPr sz="773" b="0" i="0">
                <a:solidFill>
                  <a:srgbClr val="8A99A3"/>
                </a:solidFill>
                <a:latin typeface="Versos"/>
              </a:rPr>
              <a:t>entrada/comentarios.md</a:t>
            </a:r>
            <a:r>
              <a:rPr sz="773" b="0" i="0">
                <a:solidFill>
                  <a:srgbClr val="8A99A3"/>
                </a:solidFill>
                <a:latin typeface="Versos"/>
              </a:rPr>
              <a:t> para </a:t>
            </a:r>
            <a:r>
              <a:rPr sz="773" b="1" i="0">
                <a:solidFill>
                  <a:srgbClr val="8A99A3"/>
                </a:solidFill>
                <a:latin typeface="Versos"/>
              </a:rPr>
              <a:t>Tivio ALT Light</a:t>
            </a:r>
            <a:r>
              <a:rPr sz="773" b="0" i="0">
                <a:solidFill>
                  <a:srgbClr val="8A99A3"/>
                </a:solidFill>
                <a:latin typeface="Versos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01793" y="10266480"/>
            <a:ext cx="4410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POR ESTRATÉGIA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0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Financeiro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7488" y="1600357"/>
            <a:ext cx="4087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40,68%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178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Indústria e Comércio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3770" y="1789357"/>
            <a:ext cx="37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14,26%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197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Caixa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3116" y="1978357"/>
            <a:ext cx="30528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7,75%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216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Locação de veículos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3186" y="2167357"/>
            <a:ext cx="32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5,37%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235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Transporte 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428" y="2356357"/>
            <a:ext cx="33734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680" y="2545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Comércio atacadista e varejista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8616" y="2545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680" y="2734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Crédito 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781" y="2734357"/>
            <a:ext cx="33980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4,43%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680" y="2923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TI e Telecomunicações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300" y="2923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4,34%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3112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Consignados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0661" y="3112357"/>
            <a:ext cx="330097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3,92%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3301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Energia Elétrica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4238" y="3301357"/>
            <a:ext cx="333660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349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Saneamento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0812" y="3490357"/>
            <a:ext cx="3022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2,21%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367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Alimentos e bebidas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67069" y="3679357"/>
            <a:ext cx="31363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1,40%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680" y="386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Assistência médica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5770" y="3868357"/>
            <a:ext cx="310319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680" y="405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Serviços Imobiliários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9509" y="4057357"/>
            <a:ext cx="27039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1,14%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680" y="424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Agropecuária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4430" y="4246357"/>
            <a:ext cx="32604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0,97%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900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COLATERAIS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868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imóveis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652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automóveis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868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maquinário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652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CF de recebíveis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8680" y="4061846"/>
            <a:ext cx="209176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Coobrigação do cedente/Avais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680" y="498345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RENTABILIDADE HISTÓRICA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880" y="5476275"/>
            <a:ext cx="2044224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Rentabilidade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880" y="5793795"/>
            <a:ext cx="89631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880" y="5975235"/>
            <a:ext cx="896313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1880" y="6111315"/>
            <a:ext cx="896313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3200" y="5793795"/>
            <a:ext cx="762652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63200" y="5975235"/>
            <a:ext cx="762652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63200" y="6111315"/>
            <a:ext cx="762652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4641" y="6498292"/>
            <a:ext cx="6450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Fundo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13556" y="6498292"/>
            <a:ext cx="251473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CDI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443" y="10266480"/>
            <a:ext cx="73587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39840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CARACTERÍSTICAS GERAIS DO FUNDO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94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Gestor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680" y="1883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Tivio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2385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Público Alvo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680" y="2574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Investidor qualificado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3076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Data de início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680" y="3265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11/11/2025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3767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0" y="3956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1,15% a.a.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4458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de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680" y="4647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15% do retorno que exceder CDI+0,65%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8280" y="1694857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Informações Operacionais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8280" y="1883857"/>
            <a:ext cx="3281040" cy="13663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D+1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Resgate: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D+50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 mínima inicial: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Movimentação mínima: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8280" y="3767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8280" y="3956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R$ 26.829.258,71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8280" y="4458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 médio (12M)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8280" y="4647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R$ 18.304.046,83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6229440"/>
            <a:ext cx="702898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MATERIAL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680" y="6471360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6808725"/>
            <a:ext cx="6758640" cy="4387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680" y="729362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envolvem riscos. Consulte os documentos do fundo para conhecer sua estratégia, público-alvo, condições e principais fatores de risco.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763099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Rentabilidade obtida no passado não representa garantia de resultados futuros. A rentabilidade divulgada não é líquida de impostos.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680" y="796835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em fundos não são garantidos pelo administrador, pelo gestor, por qualquer mecanismo de seguro ou pelo Fundo Garantidor de Crédito – FGC.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830572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 Tivio Capital Distribuidora de Títulos e Valores Mobiliários S.A. integra o conglomerado prudencial liderado pelo Banco Bradesco S.A.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680" y="8987540"/>
            <a:ext cx="127326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SAC: 0800 704 8383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24 horas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4909" y="8987540"/>
            <a:ext cx="451839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Ouvidoria: 0800 727 9933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das 9h às 18h, de segunda a sexta-feira, exceto feriados nacionais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0" y="9843120"/>
            <a:ext cx="1274077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28"/>
              </a:lnSpc>
            </a:pPr>
            <a:r>
              <a:rPr sz="1190" b="0" i="0">
                <a:solidFill>
                  <a:srgbClr val="FFFFFF"/>
                </a:solidFill>
                <a:latin typeface="Versos"/>
              </a:rPr>
              <a:t>tivio.com/fundos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1520" y="9756652"/>
            <a:ext cx="907200" cy="349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0"/>
              </a:lnSpc>
            </a:pPr>
            <a:r>
              <a:rPr sz="744" b="0" i="0">
                <a:solidFill>
                  <a:srgbClr val="FFFFFF"/>
                </a:solidFill>
                <a:latin typeface="Versos"/>
              </a:rPr>
              <a:t>Leia o QR Code e acesse as redes da Tivio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8440" y="10020071"/>
            <a:ext cx="527886" cy="982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14"/>
              </a:lnSpc>
            </a:pPr>
            <a:r>
              <a:rPr sz="595" b="0" i="0">
                <a:solidFill>
                  <a:srgbClr val="FFFFFF"/>
                </a:solidFill>
                <a:latin typeface="Versos"/>
              </a:rPr>
              <a:t>Rating S&amp;P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8440" y="10110791"/>
            <a:ext cx="52788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85"/>
              </a:lnSpc>
            </a:pPr>
            <a:r>
              <a:rPr sz="1071" b="1" i="0">
                <a:solidFill>
                  <a:srgbClr val="FFFFFF"/>
                </a:solidFill>
                <a:latin typeface="Versos"/>
              </a:rPr>
              <a:t>brAMP1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