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680" y="1005480"/>
            <a:ext cx="6266332" cy="1738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21"/>
              </a:lnSpc>
            </a:pPr>
            <a:r>
              <a:rPr sz="1101" b="0" i="0">
                <a:solidFill>
                  <a:srgbClr val="FFFFFF"/>
                </a:solidFill>
                <a:latin typeface="Versos"/>
              </a:rPr>
              <a:t>TIVIO ALT LIGHT XP PREV </a:t>
            </a:r>
            <a:r>
              <a:rPr sz="903" b="0" i="0">
                <a:solidFill>
                  <a:srgbClr val="FFFFFF"/>
                </a:solidFill>
                <a:latin typeface="Versos"/>
              </a:rPr>
              <a:t>/ CNPJ 53.991.177/0001-63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406160"/>
            <a:ext cx="6266332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5560" y="1980720"/>
            <a:ext cx="704471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OBJETIVO DA CARTEIRA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560" y="2154600"/>
            <a:ext cx="6773760" cy="367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4"/>
              </a:lnSpc>
            </a:pPr>
            <a:r>
              <a:rPr sz="1220" b="0" i="0">
                <a:solidFill>
                  <a:srgbClr val="FFFFFF"/>
                </a:solidFill>
                <a:latin typeface="Versos"/>
              </a:rPr>
              <a:t>Fundo de previdência de crédito com parcela máxima permitida em crédito estruturado. Além disso aloca em crédito privado e bancários.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668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Mês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216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764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12M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312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24M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7860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36M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4080" y="2662537"/>
            <a:ext cx="98280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Desde o Início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440" y="302163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668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0,72%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216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9,51%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764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312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860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4080" y="301785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1" i="0">
                <a:solidFill>
                  <a:srgbClr val="A8F0C6"/>
                </a:solidFill>
                <a:latin typeface="Versos"/>
              </a:rPr>
              <a:t>12,60%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440" y="340719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CDI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668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1,09%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16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9,33%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764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312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860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4080" y="340341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11,40%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440" y="379275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668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65,59%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216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101,93%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764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312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860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4080" y="378897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110,53%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440" y="4178317"/>
            <a:ext cx="754790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FFFFFF"/>
                </a:solidFill>
                <a:latin typeface="Versos"/>
              </a:rPr>
              <a:t>CDI+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668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−4,38%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6216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0,25%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6764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312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7860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84080" y="4174537"/>
            <a:ext cx="982800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214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1,36%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5560" y="4522297"/>
            <a:ext cx="704471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92"/>
              </a:lnSpc>
            </a:pPr>
            <a:r>
              <a:rPr sz="744" b="1" i="0">
                <a:solidFill>
                  <a:srgbClr val="FFFFFF"/>
                </a:solidFill>
                <a:latin typeface="Versos"/>
              </a:rPr>
              <a:t>Data base:</a:t>
            </a:r>
            <a:r>
              <a:rPr sz="744" b="0" i="0">
                <a:solidFill>
                  <a:srgbClr val="FFFFFF"/>
                </a:solidFill>
                <a:latin typeface="Versos"/>
              </a:rPr>
              <a:t> 31/08/2026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0680" y="5028817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ALOCAÇÃO REAL DA CARTEIRA DE CRÉDITO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8960" y="6231211"/>
            <a:ext cx="2665845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2B3744"/>
                </a:solidFill>
                <a:latin typeface="Versos"/>
              </a:rPr>
              <a:t>Bancário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960" y="6387609"/>
            <a:ext cx="2665845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2B3744"/>
                </a:solidFill>
                <a:latin typeface="Versos"/>
              </a:rPr>
              <a:t>40,7%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58832" y="6089934"/>
            <a:ext cx="1553107" cy="2924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FFFFFF"/>
                </a:solidFill>
                <a:latin typeface="Versos"/>
              </a:rPr>
              <a:t>Crédito</a:t>
            </a:r>
          </a:p>
          <a:p>
            <a:pPr algn="l">
              <a:lnSpc>
                <a:spcPts val="1113"/>
              </a:lnSpc>
            </a:pPr>
            <a:r>
              <a:rPr sz="1012" b="1" i="0">
                <a:solidFill>
                  <a:srgbClr val="FFFFFF"/>
                </a:solidFill>
                <a:latin typeface="Versos"/>
              </a:rPr>
              <a:t>Privado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58832" y="6387609"/>
            <a:ext cx="1615231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FFFFFF"/>
                </a:solidFill>
                <a:latin typeface="Versos"/>
              </a:rPr>
              <a:t>25,8%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08500" y="6089934"/>
            <a:ext cx="1400490" cy="2924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1012" b="0" i="0">
                <a:solidFill>
                  <a:srgbClr val="2B3744"/>
                </a:solidFill>
                <a:latin typeface="Versos"/>
              </a:rPr>
              <a:t>FIDCs</a:t>
            </a:r>
          </a:p>
          <a:p>
            <a:pPr algn="l">
              <a:lnSpc>
                <a:spcPts val="1113"/>
              </a:lnSpc>
            </a:pPr>
            <a:r>
              <a:rPr sz="1012" b="1" i="0">
                <a:solidFill>
                  <a:srgbClr val="2B3744"/>
                </a:solidFill>
                <a:latin typeface="Versos"/>
              </a:rPr>
              <a:t>Cotas Sênior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8500" y="6387609"/>
            <a:ext cx="1456509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75"/>
              </a:lnSpc>
            </a:pPr>
            <a:r>
              <a:rPr sz="1250" b="1" i="0">
                <a:solidFill>
                  <a:srgbClr val="2B3744"/>
                </a:solidFill>
                <a:latin typeface="Versos"/>
              </a:rPr>
              <a:t>23,5%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363" y="6086863"/>
            <a:ext cx="569655" cy="1058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92"/>
              </a:lnSpc>
            </a:pPr>
            <a:r>
              <a:rPr sz="720" b="0" i="0">
                <a:solidFill>
                  <a:srgbClr val="2B3744"/>
                </a:solidFill>
                <a:latin typeface="Versos"/>
              </a:rPr>
              <a:t>Liquidez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9363" y="6194947"/>
            <a:ext cx="569655" cy="1738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7"/>
              </a:lnSpc>
            </a:pPr>
            <a:r>
              <a:rPr sz="1107" b="1" i="0">
                <a:solidFill>
                  <a:srgbClr val="2B3744"/>
                </a:solidFill>
                <a:latin typeface="Versos"/>
              </a:rPr>
              <a:t>7,8%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59363" y="6511876"/>
            <a:ext cx="569655" cy="1058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59"/>
              </a:lnSpc>
            </a:pPr>
            <a:r>
              <a:rPr sz="690" b="1" i="0">
                <a:solidFill>
                  <a:srgbClr val="FFFFFF"/>
                </a:solidFill>
                <a:latin typeface="Versos"/>
              </a:rPr>
              <a:t>1,9%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9200" y="6743638"/>
            <a:ext cx="774569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Bancário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40,7%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38578" y="6743638"/>
            <a:ext cx="1083659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Crédito Privado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25,8%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45158" y="6743638"/>
            <a:ext cx="1277762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FIDCs Cotas Sênior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23,5%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8376" y="6743638"/>
            <a:ext cx="676657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Liquidez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7,8%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53609" y="6743638"/>
            <a:ext cx="564127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744" b="0" i="0">
                <a:solidFill>
                  <a:srgbClr val="333333"/>
                </a:solidFill>
                <a:latin typeface="Versos"/>
              </a:rPr>
              <a:t>Ações </a:t>
            </a:r>
            <a:r>
              <a:rPr sz="744" b="1" i="0">
                <a:solidFill>
                  <a:srgbClr val="111111"/>
                </a:solidFill>
                <a:latin typeface="Versos"/>
              </a:rPr>
              <a:t>1,9%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5800" y="7340878"/>
            <a:ext cx="6997536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1571"/>
              </a:lnSpc>
            </a:pPr>
            <a:r>
              <a:rPr sz="1309" b="0" i="0">
                <a:solidFill>
                  <a:srgbClr val="707070"/>
                </a:solidFill>
                <a:latin typeface="Versos"/>
              </a:rPr>
              <a:t>Comentário do Gestor e Análise de Mercado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5800" y="7922998"/>
            <a:ext cx="6997536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just">
              <a:lnSpc>
                <a:spcPts val="913"/>
              </a:lnSpc>
            </a:pPr>
            <a:r>
              <a:rPr sz="773" b="0" i="0">
                <a:solidFill>
                  <a:srgbClr val="8A99A3"/>
                </a:solidFill>
                <a:latin typeface="Versos"/>
              </a:rPr>
              <a:t>Comentário não preenchido em </a:t>
            </a:r>
            <a:r>
              <a:rPr sz="773" b="0" i="0">
                <a:solidFill>
                  <a:srgbClr val="8A99A3"/>
                </a:solidFill>
                <a:latin typeface="Versos"/>
              </a:rPr>
              <a:t>entrada/comentarios.md</a:t>
            </a:r>
            <a:r>
              <a:rPr sz="773" b="0" i="0">
                <a:solidFill>
                  <a:srgbClr val="8A99A3"/>
                </a:solidFill>
                <a:latin typeface="Versos"/>
              </a:rPr>
              <a:t> para </a:t>
            </a:r>
            <a:r>
              <a:rPr sz="773" b="1" i="0">
                <a:solidFill>
                  <a:srgbClr val="8A99A3"/>
                </a:solidFill>
                <a:latin typeface="Versos"/>
              </a:rPr>
              <a:t>Tivio ALT Light</a:t>
            </a:r>
            <a:r>
              <a:rPr sz="773" b="0" i="0">
                <a:solidFill>
                  <a:srgbClr val="8A99A3"/>
                </a:solidFill>
                <a:latin typeface="Versos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01793" y="10266480"/>
            <a:ext cx="44103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892" b="0" i="0">
                <a:solidFill>
                  <a:srgbClr val="111111"/>
                </a:solidFill>
                <a:latin typeface="Vers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9735" y="374220"/>
            <a:ext cx="1240170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224720"/>
            <a:ext cx="3317932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ALOCAÇÃO POR ESTRATÉGIA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680" y="1600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Financeiro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7488" y="1600357"/>
            <a:ext cx="4087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40,68%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680" y="1789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Indústria e Comércio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3770" y="1789357"/>
            <a:ext cx="3759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14,26%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680" y="1978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Caixa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3116" y="1978357"/>
            <a:ext cx="305282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7,75%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680" y="2167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Locação de veículos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3186" y="2167357"/>
            <a:ext cx="32592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5,37%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680" y="2356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Transporte e Logística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0428" y="2356357"/>
            <a:ext cx="337346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4,93%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680" y="2545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Comércio atacadista e varejista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8616" y="2545357"/>
            <a:ext cx="3350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680" y="2734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Crédito PF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5781" y="2734357"/>
            <a:ext cx="339803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4,43%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680" y="2923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TI e Telecomunicações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300" y="2923357"/>
            <a:ext cx="3350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4,34%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680" y="3112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Consignados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0661" y="3112357"/>
            <a:ext cx="330097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3,92%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680" y="3301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Energia Elétrica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4238" y="3301357"/>
            <a:ext cx="333660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2,33%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680" y="3490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Saneamento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90812" y="3490357"/>
            <a:ext cx="302211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2,21%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680" y="3679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Alimentos e bebidas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67069" y="3679357"/>
            <a:ext cx="313636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1,40%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680" y="3868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Assistência médica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5770" y="3868357"/>
            <a:ext cx="310319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1,36%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0680" y="4057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Serviços Imobiliários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9509" y="4057357"/>
            <a:ext cx="270392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1,14%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680" y="4246948"/>
            <a:ext cx="1541030" cy="11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ts val="825"/>
              </a:lnSpc>
            </a:pPr>
            <a:r>
              <a:rPr sz="750" b="0" i="0">
                <a:solidFill>
                  <a:srgbClr val="222222"/>
                </a:solidFill>
                <a:latin typeface="Versos"/>
              </a:rPr>
              <a:t>Agropecuária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4430" y="4246357"/>
            <a:ext cx="326043" cy="1209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1"/>
              </a:lnSpc>
            </a:pPr>
            <a:r>
              <a:rPr sz="809" b="0" i="0">
                <a:solidFill>
                  <a:srgbClr val="4F7A93"/>
                </a:solidFill>
                <a:latin typeface="Versos"/>
              </a:rPr>
              <a:t>0,97%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9000" y="1224720"/>
            <a:ext cx="3317932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COLATERAIS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8680" y="190051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imóveis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6520" y="190051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automóveis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8680" y="294379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AF de maquinário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6520" y="2943793"/>
            <a:ext cx="846720" cy="3159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CF de recebíveis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8680" y="4061846"/>
            <a:ext cx="2091766" cy="1663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1071" b="1" i="0">
                <a:solidFill>
                  <a:srgbClr val="7A7A7A"/>
                </a:solidFill>
                <a:latin typeface="Versos"/>
              </a:rPr>
              <a:t>Coobrigação do cedente/Avais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0680" y="4983457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RENTABILIDADE HISTÓRICA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880" y="5476275"/>
            <a:ext cx="2044224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Rentabilidade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1880" y="5793795"/>
            <a:ext cx="896313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35"/>
              </a:lnSpc>
            </a:pPr>
            <a:r>
              <a:rPr sz="863" b="0" i="0">
                <a:solidFill>
                  <a:srgbClr val="FFFFFF"/>
                </a:solidFill>
                <a:latin typeface="Versos"/>
              </a:rPr>
              <a:t>Desde o início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1880" y="5975235"/>
            <a:ext cx="896313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CDI 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1880" y="6111315"/>
            <a:ext cx="896313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40"/>
              </a:lnSpc>
            </a:pPr>
            <a:r>
              <a:rPr sz="1309" b="1" i="0">
                <a:solidFill>
                  <a:srgbClr val="FFFFFF"/>
                </a:solidFill>
                <a:latin typeface="Versos"/>
              </a:rPr>
              <a:t>1,36%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3200" y="5793795"/>
            <a:ext cx="762652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35"/>
              </a:lnSpc>
            </a:pPr>
            <a:r>
              <a:rPr sz="863" b="0" i="0">
                <a:solidFill>
                  <a:srgbClr val="FFFFFF"/>
                </a:solidFill>
                <a:latin typeface="Versos"/>
              </a:rPr>
              <a:t>Mês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63200" y="5975235"/>
            <a:ext cx="762652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78"/>
              </a:lnSpc>
            </a:pPr>
            <a:r>
              <a:rPr sz="982" b="1" i="0">
                <a:solidFill>
                  <a:srgbClr val="FFFFFF"/>
                </a:solidFill>
                <a:latin typeface="Versos"/>
              </a:rPr>
              <a:t>CDI +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63200" y="6111315"/>
            <a:ext cx="762652" cy="204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40"/>
              </a:lnSpc>
            </a:pPr>
            <a:r>
              <a:rPr sz="1309" b="1" i="0">
                <a:solidFill>
                  <a:srgbClr val="FFFFFF"/>
                </a:solidFill>
                <a:latin typeface="Versos"/>
              </a:rPr>
              <a:t>−4,38%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4641" y="6498292"/>
            <a:ext cx="6450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111111"/>
                </a:solidFill>
                <a:latin typeface="Versos"/>
              </a:rPr>
              <a:t>Fundo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13556" y="6498292"/>
            <a:ext cx="251473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1" i="0">
                <a:solidFill>
                  <a:srgbClr val="111111"/>
                </a:solidFill>
                <a:latin typeface="Versos"/>
              </a:rPr>
              <a:t>CDI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73443" y="10266480"/>
            <a:ext cx="73587" cy="1360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92"/>
              </a:lnSpc>
            </a:pPr>
            <a:r>
              <a:rPr sz="892" b="0" i="0">
                <a:solidFill>
                  <a:srgbClr val="111111"/>
                </a:solidFill>
                <a:latin typeface="Vers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9735" y="374220"/>
            <a:ext cx="1240170" cy="189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500"/>
              </a:lnSpc>
            </a:pPr>
            <a:r>
              <a:rPr sz="1250" b="0" i="0">
                <a:solidFill>
                  <a:srgbClr val="FFFFFF"/>
                </a:solidFill>
                <a:latin typeface="Versos"/>
              </a:rPr>
              <a:t>Agosto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680" y="1239840"/>
            <a:ext cx="7028985" cy="143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2"/>
              </a:lnSpc>
            </a:pPr>
            <a:r>
              <a:rPr sz="952" b="0" i="0">
                <a:solidFill>
                  <a:srgbClr val="111111"/>
                </a:solidFill>
                <a:latin typeface="Versos"/>
              </a:rPr>
              <a:t>CARACTERÍSTICAS GERAIS DO FUNDO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680" y="1694857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Gestor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680" y="1883857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Tivio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680" y="238577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Público Alvo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680" y="257477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Investidor qualificado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680" y="3076683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Data de início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680" y="3265683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11/11/2025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680" y="3767596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Taxa global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0" y="3956596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1,15% a.a.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680" y="445851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Taxa de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680" y="4647510"/>
            <a:ext cx="2995574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15% do retorno que exceder CDI+0,65%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8280" y="1694857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Informações Operacionais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8280" y="1883857"/>
            <a:ext cx="3281040" cy="136635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Aplicação: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D+1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Resgate: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D+50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Aplicação mínima inicial: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R$ 1.000,00</a:t>
            </a:r>
          </a:p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Movimentação mínima:</a:t>
            </a:r>
          </a:p>
          <a:p>
            <a:pPr algn="l">
              <a:lnSpc>
                <a:spcPts val="1333"/>
              </a:lnSpc>
            </a:pPr>
            <a:r>
              <a:rPr sz="1190" b="1" i="0">
                <a:solidFill>
                  <a:srgbClr val="222222"/>
                </a:solidFill>
                <a:latin typeface="Versos"/>
              </a:rPr>
              <a:t>R$ 1.000,00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8280" y="3767596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Patrimônio líquido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8280" y="3956596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R$ 26.829.258,71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8280" y="4458510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69"/>
              </a:lnSpc>
            </a:pPr>
            <a:r>
              <a:rPr sz="1190" b="1" i="0">
                <a:solidFill>
                  <a:srgbClr val="111111"/>
                </a:solidFill>
                <a:latin typeface="Versos"/>
              </a:rPr>
              <a:t>Patrimônio líquido médio (12M)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8280" y="4647510"/>
            <a:ext cx="3412281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33"/>
              </a:lnSpc>
            </a:pPr>
            <a:r>
              <a:rPr sz="1190" b="0" i="0">
                <a:solidFill>
                  <a:srgbClr val="222222"/>
                </a:solidFill>
                <a:latin typeface="Versos"/>
              </a:rPr>
              <a:t>R$ 18.304.046,83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680" y="6229440"/>
            <a:ext cx="7028985" cy="151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14"/>
              </a:lnSpc>
            </a:pPr>
            <a:r>
              <a:rPr sz="1012" b="1" i="0">
                <a:solidFill>
                  <a:srgbClr val="FFFFFF"/>
                </a:solidFill>
                <a:latin typeface="Versos"/>
              </a:rPr>
              <a:t>MATERIAL TÉCNICO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680" y="6471360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Este material foi elaborado pela Tivio Capital Distribuidora de Títulos e Valores Mobiliários S.A. e possui caráter meramente informativo. Não constitui oferta, recomendação ou aconselhamento de investimento.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680" y="6808725"/>
            <a:ext cx="6758640" cy="4387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Antes de investir, leia a lâmina de informações básicas, se aplicável, o regulamento, o formulário de informações complementares, seus anexos e apêndices. Esses documentos e informações sobre tributação estão disponíveis em tivio.com/fundos/ e tivio.com/documentos/.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680" y="7293628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Os investimentos envolvem riscos. Consulte os documentos do fundo para conhecer sua estratégia, público-alvo, condições e principais fatores de risco.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680" y="7630993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Rentabilidade obtida no passado não representa garantia de resultados futuros. A rentabilidade divulgada não é líquida de impostos.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680" y="7968358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Os investimentos em fundos não são garantidos pelo administrador, pelo gestor, por qualquer mecanismo de seguro ou pelo Fundo Garantidor de Crédito – FGC.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680" y="8305723"/>
            <a:ext cx="6758640" cy="29117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1162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 Tivio Capital Distribuidora de Títulos e Valores Mobiliários S.A. integra o conglomerado prudencial liderado pelo Banco Bradesco S.A.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680" y="8987540"/>
            <a:ext cx="1273269" cy="294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SAC: 0800 704 8383</a:t>
            </a:r>
          </a:p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Atendimento 24 horas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94909" y="8987540"/>
            <a:ext cx="4518399" cy="294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Ouvidoria: 0800 727 9933</a:t>
            </a:r>
          </a:p>
          <a:p>
            <a:pPr algn="l">
              <a:lnSpc>
                <a:spcPts val="1190"/>
              </a:lnSpc>
            </a:pPr>
            <a:r>
              <a:rPr sz="952" b="0" i="0">
                <a:solidFill>
                  <a:srgbClr val="E9E9E9"/>
                </a:solidFill>
                <a:latin typeface="Versos"/>
              </a:rPr>
              <a:t>Atendimento das 9h às 18h, de segunda a sexta-feira, exceto feriados nacionais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60" y="9843120"/>
            <a:ext cx="1274077" cy="1814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28"/>
              </a:lnSpc>
            </a:pPr>
            <a:r>
              <a:rPr sz="1190" b="0" i="0">
                <a:solidFill>
                  <a:srgbClr val="FFFFFF"/>
                </a:solidFill>
                <a:latin typeface="Versos"/>
              </a:rPr>
              <a:t>tivio.com/fundos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1520" y="9756652"/>
            <a:ext cx="907200" cy="349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30"/>
              </a:lnSpc>
            </a:pPr>
            <a:r>
              <a:rPr sz="744" b="0" i="0">
                <a:solidFill>
                  <a:srgbClr val="FFFFFF"/>
                </a:solidFill>
                <a:latin typeface="Versos"/>
              </a:rPr>
              <a:t>Leia o QR Code e acesse as redes da Tivio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8440" y="10020071"/>
            <a:ext cx="527886" cy="982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14"/>
              </a:lnSpc>
            </a:pPr>
            <a:r>
              <a:rPr sz="595" b="0" i="0">
                <a:solidFill>
                  <a:srgbClr val="FFFFFF"/>
                </a:solidFill>
                <a:latin typeface="Versos"/>
              </a:rPr>
              <a:t>Rating S&amp;P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8440" y="10110791"/>
            <a:ext cx="527886" cy="1663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85"/>
              </a:lnSpc>
            </a:pPr>
            <a:r>
              <a:rPr sz="1071" b="1" i="0">
                <a:solidFill>
                  <a:srgbClr val="FFFFFF"/>
                </a:solidFill>
                <a:latin typeface="Versos"/>
              </a:rPr>
              <a:t>brAMP1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