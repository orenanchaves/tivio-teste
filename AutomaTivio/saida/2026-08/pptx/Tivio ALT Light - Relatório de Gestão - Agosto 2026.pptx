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2B3744"/>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FFFFFF"/>
                </a:solidFill>
                <a:latin typeface="Versos"/>
              </a:rPr>
              <a:t>Crédito</a:t>
            </a:r>
          </a:p>
          <a:p>
            <a:pPr algn="l">
              <a:lnSpc>
                <a:spcPts val="1113"/>
              </a:lnSpc>
            </a:pPr>
            <a:r>
              <a:rPr sz="1012" b="1" i="0">
                <a:solidFill>
                  <a:srgbClr val="FFFFFF"/>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FFFFFF"/>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2B3744"/>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FFFFFF"/>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8721" cy="120960"/>
          </a:xfrm>
          <a:prstGeom prst="rect">
            <a:avLst/>
          </a:prstGeom>
          <a:noFill/>
        </p:spPr>
        <p:txBody>
          <a:bodyPr wrap="none" lIns="0" rIns="0" tIns="0" bIns="0" anchor="t"/>
          <a:lstStyle/>
          <a:p>
            <a:pPr algn="l">
              <a:lnSpc>
                <a:spcPts val="971"/>
              </a:lnSpc>
            </a:pPr>
            <a:r>
              <a:rPr sz="809" b="0" i="0">
                <a:solidFill>
                  <a:srgbClr val="4F7A93"/>
                </a:solidFill>
                <a:latin typeface="Versos"/>
              </a:rPr>
              <a:t>40,68%</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8" name="TextBox 7"/>
          <p:cNvSpPr txBox="1"/>
          <p:nvPr/>
        </p:nvSpPr>
        <p:spPr>
          <a:xfrm>
            <a:off x="2443770" y="1789357"/>
            <a:ext cx="375921" cy="120960"/>
          </a:xfrm>
          <a:prstGeom prst="rect">
            <a:avLst/>
          </a:prstGeom>
          <a:noFill/>
        </p:spPr>
        <p:txBody>
          <a:bodyPr wrap="none" lIns="0" rIns="0" tIns="0" bIns="0" anchor="t"/>
          <a:lstStyle/>
          <a:p>
            <a:pPr algn="l">
              <a:lnSpc>
                <a:spcPts val="971"/>
              </a:lnSpc>
            </a:pPr>
            <a:r>
              <a:rPr sz="809" b="0" i="0">
                <a:solidFill>
                  <a:srgbClr val="4F7A93"/>
                </a:solidFill>
                <a:latin typeface="Versos"/>
              </a:rPr>
              <a:t>14,26%</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10" name="TextBox 9"/>
          <p:cNvSpPr txBox="1"/>
          <p:nvPr/>
        </p:nvSpPr>
        <p:spPr>
          <a:xfrm>
            <a:off x="2253116" y="1978357"/>
            <a:ext cx="305282" cy="120960"/>
          </a:xfrm>
          <a:prstGeom prst="rect">
            <a:avLst/>
          </a:prstGeom>
          <a:noFill/>
        </p:spPr>
        <p:txBody>
          <a:bodyPr wrap="none" lIns="0" rIns="0" tIns="0" bIns="0" anchor="t"/>
          <a:lstStyle/>
          <a:p>
            <a:pPr algn="l">
              <a:lnSpc>
                <a:spcPts val="971"/>
              </a:lnSpc>
            </a:pPr>
            <a:r>
              <a:rPr sz="809" b="0" i="0">
                <a:solidFill>
                  <a:srgbClr val="4F7A93"/>
                </a:solidFill>
                <a:latin typeface="Versos"/>
              </a:rPr>
              <a:t>7,75%</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2" name="TextBox 11"/>
          <p:cNvSpPr txBox="1"/>
          <p:nvPr/>
        </p:nvSpPr>
        <p:spPr>
          <a:xfrm>
            <a:off x="2183186" y="2167357"/>
            <a:ext cx="325921" cy="120960"/>
          </a:xfrm>
          <a:prstGeom prst="rect">
            <a:avLst/>
          </a:prstGeom>
          <a:noFill/>
        </p:spPr>
        <p:txBody>
          <a:bodyPr wrap="none" lIns="0" rIns="0" tIns="0" bIns="0" anchor="t"/>
          <a:lstStyle/>
          <a:p>
            <a:pPr algn="l">
              <a:lnSpc>
                <a:spcPts val="971"/>
              </a:lnSpc>
            </a:pPr>
            <a:r>
              <a:rPr sz="809" b="0" i="0">
                <a:solidFill>
                  <a:srgbClr val="4F7A93"/>
                </a:solidFill>
                <a:latin typeface="Versos"/>
              </a:rPr>
              <a:t>5,37%</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4" name="TextBox 13"/>
          <p:cNvSpPr txBox="1"/>
          <p:nvPr/>
        </p:nvSpPr>
        <p:spPr>
          <a:xfrm>
            <a:off x="2170428" y="2356357"/>
            <a:ext cx="337346" cy="120960"/>
          </a:xfrm>
          <a:prstGeom prst="rect">
            <a:avLst/>
          </a:prstGeom>
          <a:noFill/>
        </p:spPr>
        <p:txBody>
          <a:bodyPr wrap="none" lIns="0" rIns="0" tIns="0" bIns="0" anchor="t"/>
          <a:lstStyle/>
          <a:p>
            <a:pPr algn="l">
              <a:lnSpc>
                <a:spcPts val="971"/>
              </a:lnSpc>
            </a:pPr>
            <a:r>
              <a:rPr sz="809" b="0" i="0">
                <a:solidFill>
                  <a:srgbClr val="4F7A93"/>
                </a:solidFill>
                <a:latin typeface="Versos"/>
              </a:rPr>
              <a:t>4,93%</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16" name="TextBox 15"/>
          <p:cNvSpPr txBox="1"/>
          <p:nvPr/>
        </p:nvSpPr>
        <p:spPr>
          <a:xfrm>
            <a:off x="2158616" y="2545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4,52%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55781" y="2734357"/>
            <a:ext cx="339803" cy="120960"/>
          </a:xfrm>
          <a:prstGeom prst="rect">
            <a:avLst/>
          </a:prstGeom>
          <a:noFill/>
        </p:spPr>
        <p:txBody>
          <a:bodyPr wrap="none" lIns="0" rIns="0" tIns="0" bIns="0" anchor="t"/>
          <a:lstStyle/>
          <a:p>
            <a:pPr algn="l">
              <a:lnSpc>
                <a:spcPts val="971"/>
              </a:lnSpc>
            </a:pPr>
            <a:r>
              <a:rPr sz="809" b="0" i="0">
                <a:solidFill>
                  <a:srgbClr val="4F7A93"/>
                </a:solidFill>
                <a:latin typeface="Versos"/>
              </a:rPr>
              <a:t>4,43%</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0" name="TextBox 19"/>
          <p:cNvSpPr txBox="1"/>
          <p:nvPr/>
        </p:nvSpPr>
        <p:spPr>
          <a:xfrm>
            <a:off x="2153300" y="2923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4,34%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22" name="TextBox 21"/>
          <p:cNvSpPr txBox="1"/>
          <p:nvPr/>
        </p:nvSpPr>
        <p:spPr>
          <a:xfrm>
            <a:off x="2140661" y="3112357"/>
            <a:ext cx="330097" cy="120960"/>
          </a:xfrm>
          <a:prstGeom prst="rect">
            <a:avLst/>
          </a:prstGeom>
          <a:noFill/>
        </p:spPr>
        <p:txBody>
          <a:bodyPr wrap="none" lIns="0" rIns="0" tIns="0" bIns="0" anchor="t"/>
          <a:lstStyle/>
          <a:p>
            <a:pPr algn="l">
              <a:lnSpc>
                <a:spcPts val="971"/>
              </a:lnSpc>
            </a:pPr>
            <a:r>
              <a:rPr sz="809" b="0" i="0">
                <a:solidFill>
                  <a:srgbClr val="4F7A93"/>
                </a:solidFill>
                <a:latin typeface="Versos"/>
              </a:rPr>
              <a:t>3,92%</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4" name="TextBox 23"/>
          <p:cNvSpPr txBox="1"/>
          <p:nvPr/>
        </p:nvSpPr>
        <p:spPr>
          <a:xfrm>
            <a:off x="2094238" y="3301357"/>
            <a:ext cx="333660" cy="120960"/>
          </a:xfrm>
          <a:prstGeom prst="rect">
            <a:avLst/>
          </a:prstGeom>
          <a:noFill/>
        </p:spPr>
        <p:txBody>
          <a:bodyPr wrap="none" lIns="0" rIns="0" tIns="0" bIns="0" anchor="t"/>
          <a:lstStyle/>
          <a:p>
            <a:pPr algn="l">
              <a:lnSpc>
                <a:spcPts val="971"/>
              </a:lnSpc>
            </a:pPr>
            <a:r>
              <a:rPr sz="809" b="0" i="0">
                <a:solidFill>
                  <a:srgbClr val="4F7A93"/>
                </a:solidFill>
                <a:latin typeface="Versos"/>
              </a:rPr>
              <a:t>2,33%</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26" name="TextBox 25"/>
          <p:cNvSpPr txBox="1"/>
          <p:nvPr/>
        </p:nvSpPr>
        <p:spPr>
          <a:xfrm>
            <a:off x="2090812" y="3490357"/>
            <a:ext cx="302211" cy="120960"/>
          </a:xfrm>
          <a:prstGeom prst="rect">
            <a:avLst/>
          </a:prstGeom>
          <a:noFill/>
        </p:spPr>
        <p:txBody>
          <a:bodyPr wrap="none" lIns="0" rIns="0" tIns="0" bIns="0" anchor="t"/>
          <a:lstStyle/>
          <a:p>
            <a:pPr algn="l">
              <a:lnSpc>
                <a:spcPts val="971"/>
              </a:lnSpc>
            </a:pPr>
            <a:r>
              <a:rPr sz="809" b="0" i="0">
                <a:solidFill>
                  <a:srgbClr val="4F7A93"/>
                </a:solidFill>
                <a:latin typeface="Versos"/>
              </a:rPr>
              <a:t>2,21%</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Alimentos e bebidas</a:t>
            </a:r>
          </a:p>
        </p:txBody>
      </p:sp>
      <p:sp>
        <p:nvSpPr>
          <p:cNvPr id="28" name="TextBox 27"/>
          <p:cNvSpPr txBox="1"/>
          <p:nvPr/>
        </p:nvSpPr>
        <p:spPr>
          <a:xfrm>
            <a:off x="2067069" y="3679357"/>
            <a:ext cx="313636" cy="120960"/>
          </a:xfrm>
          <a:prstGeom prst="rect">
            <a:avLst/>
          </a:prstGeom>
          <a:noFill/>
        </p:spPr>
        <p:txBody>
          <a:bodyPr wrap="none" lIns="0" rIns="0" tIns="0" bIns="0" anchor="t"/>
          <a:lstStyle/>
          <a:p>
            <a:pPr algn="l">
              <a:lnSpc>
                <a:spcPts val="971"/>
              </a:lnSpc>
            </a:pPr>
            <a:r>
              <a:rPr sz="809" b="0" i="0">
                <a:solidFill>
                  <a:srgbClr val="4F7A93"/>
                </a:solidFill>
                <a:latin typeface="Versos"/>
              </a:rPr>
              <a:t>1,40%</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65770" y="3868357"/>
            <a:ext cx="310319" cy="120960"/>
          </a:xfrm>
          <a:prstGeom prst="rect">
            <a:avLst/>
          </a:prstGeom>
          <a:noFill/>
        </p:spPr>
        <p:txBody>
          <a:bodyPr wrap="none" lIns="0" rIns="0" tIns="0" bIns="0" anchor="t"/>
          <a:lstStyle/>
          <a:p>
            <a:pPr algn="l">
              <a:lnSpc>
                <a:spcPts val="971"/>
              </a:lnSpc>
            </a:pPr>
            <a:r>
              <a:rPr sz="809" b="0" i="0">
                <a:solidFill>
                  <a:srgbClr val="4F7A93"/>
                </a:solidFill>
                <a:latin typeface="Versos"/>
              </a:rPr>
              <a:t>1,36%</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32" name="TextBox 31"/>
          <p:cNvSpPr txBox="1"/>
          <p:nvPr/>
        </p:nvSpPr>
        <p:spPr>
          <a:xfrm>
            <a:off x="2059509" y="4057357"/>
            <a:ext cx="270392" cy="120960"/>
          </a:xfrm>
          <a:prstGeom prst="rect">
            <a:avLst/>
          </a:prstGeom>
          <a:noFill/>
        </p:spPr>
        <p:txBody>
          <a:bodyPr wrap="none" lIns="0" rIns="0" tIns="0" bIns="0" anchor="t"/>
          <a:lstStyle/>
          <a:p>
            <a:pPr algn="l">
              <a:lnSpc>
                <a:spcPts val="971"/>
              </a:lnSpc>
            </a:pPr>
            <a:r>
              <a:rPr sz="809" b="0" i="0">
                <a:solidFill>
                  <a:srgbClr val="4F7A93"/>
                </a:solidFill>
                <a:latin typeface="Versos"/>
              </a:rPr>
              <a:t>1,14%</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54430" y="4246357"/>
            <a:ext cx="326043" cy="120960"/>
          </a:xfrm>
          <a:prstGeom prst="rect">
            <a:avLst/>
          </a:prstGeom>
          <a:noFill/>
        </p:spPr>
        <p:txBody>
          <a:bodyPr wrap="none" lIns="0" rIns="0" tIns="0" bIns="0" anchor="t"/>
          <a:lstStyle/>
          <a:p>
            <a:pPr algn="l">
              <a:lnSpc>
                <a:spcPts val="971"/>
              </a:lnSpc>
            </a:pPr>
            <a:r>
              <a:rPr sz="809" b="0" i="0">
                <a:solidFill>
                  <a:srgbClr val="4F7A93"/>
                </a:solidFill>
                <a:latin typeface="Versos"/>
              </a:rPr>
              <a:t>0,97%</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