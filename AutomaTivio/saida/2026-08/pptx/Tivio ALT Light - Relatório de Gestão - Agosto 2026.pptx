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1005480"/>
            <a:ext cx="6266332" cy="173880"/>
          </a:xfrm>
          <a:prstGeom prst="rect">
            <a:avLst/>
          </a:prstGeom>
          <a:noFill/>
        </p:spPr>
        <p:txBody>
          <a:bodyPr wrap="none" lIns="0" rIns="0" tIns="0" bIns="0" anchor="t"/>
          <a:lstStyle/>
          <a:p>
            <a:pPr algn="l">
              <a:lnSpc>
                <a:spcPts val="1321"/>
              </a:lnSpc>
            </a:pPr>
            <a:r>
              <a:rPr sz="1101" b="0" i="0">
                <a:solidFill>
                  <a:srgbClr val="FFFFFF"/>
                </a:solidFill>
                <a:latin typeface="Versos"/>
              </a:rPr>
              <a:t>TIVIO ALT LIGHT XP PREV </a:t>
            </a:r>
            <a:r>
              <a:rPr sz="903" b="0" i="0">
                <a:solidFill>
                  <a:srgbClr val="FFFFFF"/>
                </a:solidFill>
                <a:latin typeface="Versos"/>
              </a:rPr>
              <a:t>/ CNPJ 53.991.177/0001-63</a:t>
            </a:r>
          </a:p>
        </p:txBody>
      </p:sp>
      <p:sp>
        <p:nvSpPr>
          <p:cNvPr id="4" name="TextBox 3"/>
          <p:cNvSpPr txBox="1"/>
          <p:nvPr/>
        </p:nvSpPr>
        <p:spPr>
          <a:xfrm>
            <a:off x="400680" y="140616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85560" y="1980720"/>
            <a:ext cx="7044710" cy="151200"/>
          </a:xfrm>
          <a:prstGeom prst="rect">
            <a:avLst/>
          </a:prstGeom>
          <a:noFill/>
        </p:spPr>
        <p:txBody>
          <a:bodyPr wrap="none" lIns="0" rIns="0" tIns="0" bIns="0" anchor="t"/>
          <a:lstStyle/>
          <a:p>
            <a:pPr algn="l">
              <a:lnSpc>
                <a:spcPts val="1214"/>
              </a:lnSpc>
            </a:pPr>
            <a:r>
              <a:rPr sz="1012" b="0" i="0">
                <a:solidFill>
                  <a:srgbClr val="FFFFFF"/>
                </a:solidFill>
                <a:latin typeface="Versos"/>
              </a:rPr>
              <a:t>OBJETIVO DA CARTEIRA</a:t>
            </a:r>
          </a:p>
        </p:txBody>
      </p:sp>
      <p:sp>
        <p:nvSpPr>
          <p:cNvPr id="6" name="TextBox 5"/>
          <p:cNvSpPr txBox="1"/>
          <p:nvPr/>
        </p:nvSpPr>
        <p:spPr>
          <a:xfrm>
            <a:off x="385560" y="2154600"/>
            <a:ext cx="6773760" cy="367368"/>
          </a:xfrm>
          <a:prstGeom prst="rect">
            <a:avLst/>
          </a:prstGeom>
          <a:noFill/>
        </p:spPr>
        <p:txBody>
          <a:bodyPr wrap="square" lIns="0" rIns="0" tIns="0" bIns="0" anchor="t"/>
          <a:lstStyle/>
          <a:p>
            <a:pPr algn="l">
              <a:lnSpc>
                <a:spcPts val="1464"/>
              </a:lnSpc>
            </a:pPr>
            <a:r>
              <a:rPr sz="1220" b="0" i="0">
                <a:solidFill>
                  <a:srgbClr val="FFFFFF"/>
                </a:solidFill>
                <a:latin typeface="Versos"/>
              </a:rPr>
              <a:t>Fundo de previdência de crédito com parcela máxima permitida em crédito estruturado. Além disso aloca em crédito privado e bancários.</a:t>
            </a:r>
          </a:p>
        </p:txBody>
      </p:sp>
      <p:sp>
        <p:nvSpPr>
          <p:cNvPr id="7" name="TextBox 6"/>
          <p:cNvSpPr txBox="1"/>
          <p:nvPr/>
        </p:nvSpPr>
        <p:spPr>
          <a:xfrm>
            <a:off x="11566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Mês</a:t>
            </a:r>
          </a:p>
        </p:txBody>
      </p:sp>
      <p:sp>
        <p:nvSpPr>
          <p:cNvPr id="8" name="TextBox 7"/>
          <p:cNvSpPr txBox="1"/>
          <p:nvPr/>
        </p:nvSpPr>
        <p:spPr>
          <a:xfrm>
            <a:off x="216216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Ano</a:t>
            </a:r>
          </a:p>
        </p:txBody>
      </p:sp>
      <p:sp>
        <p:nvSpPr>
          <p:cNvPr id="9" name="TextBox 8"/>
          <p:cNvSpPr txBox="1"/>
          <p:nvPr/>
        </p:nvSpPr>
        <p:spPr>
          <a:xfrm>
            <a:off x="316764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12M</a:t>
            </a:r>
          </a:p>
        </p:txBody>
      </p:sp>
      <p:sp>
        <p:nvSpPr>
          <p:cNvPr id="10" name="TextBox 9"/>
          <p:cNvSpPr txBox="1"/>
          <p:nvPr/>
        </p:nvSpPr>
        <p:spPr>
          <a:xfrm>
            <a:off x="417312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24M</a:t>
            </a:r>
          </a:p>
        </p:txBody>
      </p:sp>
      <p:sp>
        <p:nvSpPr>
          <p:cNvPr id="11" name="TextBox 10"/>
          <p:cNvSpPr txBox="1"/>
          <p:nvPr/>
        </p:nvSpPr>
        <p:spPr>
          <a:xfrm>
            <a:off x="517860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36M</a:t>
            </a:r>
          </a:p>
        </p:txBody>
      </p:sp>
      <p:sp>
        <p:nvSpPr>
          <p:cNvPr id="12" name="TextBox 11"/>
          <p:cNvSpPr txBox="1"/>
          <p:nvPr/>
        </p:nvSpPr>
        <p:spPr>
          <a:xfrm>
            <a:off x="61840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Desde o Início</a:t>
            </a:r>
          </a:p>
        </p:txBody>
      </p:sp>
      <p:sp>
        <p:nvSpPr>
          <p:cNvPr id="13" name="TextBox 12"/>
          <p:cNvSpPr txBox="1"/>
          <p:nvPr/>
        </p:nvSpPr>
        <p:spPr>
          <a:xfrm>
            <a:off x="370440" y="302163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Fundo</a:t>
            </a:r>
          </a:p>
        </p:txBody>
      </p:sp>
      <p:sp>
        <p:nvSpPr>
          <p:cNvPr id="14" name="TextBox 13"/>
          <p:cNvSpPr txBox="1"/>
          <p:nvPr/>
        </p:nvSpPr>
        <p:spPr>
          <a:xfrm>
            <a:off x="11566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0,72%</a:t>
            </a:r>
          </a:p>
        </p:txBody>
      </p:sp>
      <p:sp>
        <p:nvSpPr>
          <p:cNvPr id="15" name="TextBox 14"/>
          <p:cNvSpPr txBox="1"/>
          <p:nvPr/>
        </p:nvSpPr>
        <p:spPr>
          <a:xfrm>
            <a:off x="216216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9,51%</a:t>
            </a:r>
          </a:p>
        </p:txBody>
      </p:sp>
      <p:sp>
        <p:nvSpPr>
          <p:cNvPr id="16" name="TextBox 15"/>
          <p:cNvSpPr txBox="1"/>
          <p:nvPr/>
        </p:nvSpPr>
        <p:spPr>
          <a:xfrm>
            <a:off x="316764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7" name="TextBox 16"/>
          <p:cNvSpPr txBox="1"/>
          <p:nvPr/>
        </p:nvSpPr>
        <p:spPr>
          <a:xfrm>
            <a:off x="417312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8" name="TextBox 17"/>
          <p:cNvSpPr txBox="1"/>
          <p:nvPr/>
        </p:nvSpPr>
        <p:spPr>
          <a:xfrm>
            <a:off x="517860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9" name="TextBox 18"/>
          <p:cNvSpPr txBox="1"/>
          <p:nvPr/>
        </p:nvSpPr>
        <p:spPr>
          <a:xfrm>
            <a:off x="61840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12,60%</a:t>
            </a:r>
          </a:p>
        </p:txBody>
      </p:sp>
      <p:sp>
        <p:nvSpPr>
          <p:cNvPr id="20" name="TextBox 19"/>
          <p:cNvSpPr txBox="1"/>
          <p:nvPr/>
        </p:nvSpPr>
        <p:spPr>
          <a:xfrm>
            <a:off x="370440" y="340719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21" name="TextBox 20"/>
          <p:cNvSpPr txBox="1"/>
          <p:nvPr/>
        </p:nvSpPr>
        <p:spPr>
          <a:xfrm>
            <a:off x="11566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1,09%</a:t>
            </a:r>
          </a:p>
        </p:txBody>
      </p:sp>
      <p:sp>
        <p:nvSpPr>
          <p:cNvPr id="22" name="TextBox 21"/>
          <p:cNvSpPr txBox="1"/>
          <p:nvPr/>
        </p:nvSpPr>
        <p:spPr>
          <a:xfrm>
            <a:off x="216216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9,33%</a:t>
            </a:r>
          </a:p>
        </p:txBody>
      </p:sp>
      <p:sp>
        <p:nvSpPr>
          <p:cNvPr id="23" name="TextBox 22"/>
          <p:cNvSpPr txBox="1"/>
          <p:nvPr/>
        </p:nvSpPr>
        <p:spPr>
          <a:xfrm>
            <a:off x="316764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4" name="TextBox 23"/>
          <p:cNvSpPr txBox="1"/>
          <p:nvPr/>
        </p:nvSpPr>
        <p:spPr>
          <a:xfrm>
            <a:off x="417312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5" name="TextBox 24"/>
          <p:cNvSpPr txBox="1"/>
          <p:nvPr/>
        </p:nvSpPr>
        <p:spPr>
          <a:xfrm>
            <a:off x="517860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6" name="TextBox 25"/>
          <p:cNvSpPr txBox="1"/>
          <p:nvPr/>
        </p:nvSpPr>
        <p:spPr>
          <a:xfrm>
            <a:off x="61840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11,40%</a:t>
            </a:r>
          </a:p>
        </p:txBody>
      </p:sp>
      <p:sp>
        <p:nvSpPr>
          <p:cNvPr id="27" name="TextBox 26"/>
          <p:cNvSpPr txBox="1"/>
          <p:nvPr/>
        </p:nvSpPr>
        <p:spPr>
          <a:xfrm>
            <a:off x="370440" y="379275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a:t>
            </a:r>
          </a:p>
        </p:txBody>
      </p:sp>
      <p:sp>
        <p:nvSpPr>
          <p:cNvPr id="28" name="TextBox 27"/>
          <p:cNvSpPr txBox="1"/>
          <p:nvPr/>
        </p:nvSpPr>
        <p:spPr>
          <a:xfrm>
            <a:off x="11566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65,59%</a:t>
            </a:r>
          </a:p>
        </p:txBody>
      </p:sp>
      <p:sp>
        <p:nvSpPr>
          <p:cNvPr id="29" name="TextBox 28"/>
          <p:cNvSpPr txBox="1"/>
          <p:nvPr/>
        </p:nvSpPr>
        <p:spPr>
          <a:xfrm>
            <a:off x="216216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101,93%</a:t>
            </a:r>
          </a:p>
        </p:txBody>
      </p:sp>
      <p:sp>
        <p:nvSpPr>
          <p:cNvPr id="30" name="TextBox 29"/>
          <p:cNvSpPr txBox="1"/>
          <p:nvPr/>
        </p:nvSpPr>
        <p:spPr>
          <a:xfrm>
            <a:off x="316764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1" name="TextBox 30"/>
          <p:cNvSpPr txBox="1"/>
          <p:nvPr/>
        </p:nvSpPr>
        <p:spPr>
          <a:xfrm>
            <a:off x="417312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2" name="TextBox 31"/>
          <p:cNvSpPr txBox="1"/>
          <p:nvPr/>
        </p:nvSpPr>
        <p:spPr>
          <a:xfrm>
            <a:off x="517860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3" name="TextBox 32"/>
          <p:cNvSpPr txBox="1"/>
          <p:nvPr/>
        </p:nvSpPr>
        <p:spPr>
          <a:xfrm>
            <a:off x="61840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110,53%</a:t>
            </a:r>
          </a:p>
        </p:txBody>
      </p:sp>
      <p:sp>
        <p:nvSpPr>
          <p:cNvPr id="34" name="TextBox 33"/>
          <p:cNvSpPr txBox="1"/>
          <p:nvPr/>
        </p:nvSpPr>
        <p:spPr>
          <a:xfrm>
            <a:off x="370440" y="417831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35" name="TextBox 34"/>
          <p:cNvSpPr txBox="1"/>
          <p:nvPr/>
        </p:nvSpPr>
        <p:spPr>
          <a:xfrm>
            <a:off x="11566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−4,38%</a:t>
            </a:r>
          </a:p>
        </p:txBody>
      </p:sp>
      <p:sp>
        <p:nvSpPr>
          <p:cNvPr id="36" name="TextBox 35"/>
          <p:cNvSpPr txBox="1"/>
          <p:nvPr/>
        </p:nvSpPr>
        <p:spPr>
          <a:xfrm>
            <a:off x="216216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0,25%</a:t>
            </a:r>
          </a:p>
        </p:txBody>
      </p:sp>
      <p:sp>
        <p:nvSpPr>
          <p:cNvPr id="37" name="TextBox 36"/>
          <p:cNvSpPr txBox="1"/>
          <p:nvPr/>
        </p:nvSpPr>
        <p:spPr>
          <a:xfrm>
            <a:off x="316764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8" name="TextBox 37"/>
          <p:cNvSpPr txBox="1"/>
          <p:nvPr/>
        </p:nvSpPr>
        <p:spPr>
          <a:xfrm>
            <a:off x="417312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9" name="TextBox 38"/>
          <p:cNvSpPr txBox="1"/>
          <p:nvPr/>
        </p:nvSpPr>
        <p:spPr>
          <a:xfrm>
            <a:off x="517860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40" name="TextBox 39"/>
          <p:cNvSpPr txBox="1"/>
          <p:nvPr/>
        </p:nvSpPr>
        <p:spPr>
          <a:xfrm>
            <a:off x="61840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1,36%</a:t>
            </a:r>
          </a:p>
        </p:txBody>
      </p:sp>
      <p:sp>
        <p:nvSpPr>
          <p:cNvPr id="41" name="TextBox 40"/>
          <p:cNvSpPr txBox="1"/>
          <p:nvPr/>
        </p:nvSpPr>
        <p:spPr>
          <a:xfrm>
            <a:off x="385560" y="4522297"/>
            <a:ext cx="7044710" cy="113400"/>
          </a:xfrm>
          <a:prstGeom prst="rect">
            <a:avLst/>
          </a:prstGeom>
          <a:noFill/>
        </p:spPr>
        <p:txBody>
          <a:bodyPr wrap="none" lIns="0" rIns="0" tIns="0" bIns="0" anchor="t"/>
          <a:lstStyle/>
          <a:p>
            <a:pPr algn="r">
              <a:lnSpc>
                <a:spcPts val="892"/>
              </a:lnSpc>
            </a:pPr>
            <a:r>
              <a:rPr sz="744" b="1" i="0">
                <a:solidFill>
                  <a:srgbClr val="FFFFFF"/>
                </a:solidFill>
                <a:latin typeface="Versos"/>
              </a:rPr>
              <a:t>Data base:</a:t>
            </a:r>
            <a:r>
              <a:rPr sz="744" b="0" i="0">
                <a:solidFill>
                  <a:srgbClr val="FFFFFF"/>
                </a:solidFill>
                <a:latin typeface="Versos"/>
              </a:rPr>
              <a:t> 31/08/2026</a:t>
            </a:r>
          </a:p>
        </p:txBody>
      </p:sp>
      <p:sp>
        <p:nvSpPr>
          <p:cNvPr id="42" name="TextBox 41"/>
          <p:cNvSpPr txBox="1"/>
          <p:nvPr/>
        </p:nvSpPr>
        <p:spPr>
          <a:xfrm>
            <a:off x="400680" y="502881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REAL DA CARTEIRA DE CRÉDITO</a:t>
            </a:r>
          </a:p>
        </p:txBody>
      </p:sp>
      <p:sp>
        <p:nvSpPr>
          <p:cNvPr id="43" name="TextBox 42"/>
          <p:cNvSpPr txBox="1"/>
          <p:nvPr/>
        </p:nvSpPr>
        <p:spPr>
          <a:xfrm>
            <a:off x="498960" y="6231211"/>
            <a:ext cx="2665845" cy="151200"/>
          </a:xfrm>
          <a:prstGeom prst="rect">
            <a:avLst/>
          </a:prstGeom>
          <a:noFill/>
        </p:spPr>
        <p:txBody>
          <a:bodyPr wrap="none" lIns="0" rIns="0" tIns="0" bIns="0" anchor="t"/>
          <a:lstStyle/>
          <a:p>
            <a:pPr algn="l">
              <a:lnSpc>
                <a:spcPts val="1113"/>
              </a:lnSpc>
            </a:pPr>
            <a:r>
              <a:rPr sz="1012" b="0" i="0">
                <a:solidFill>
                  <a:srgbClr val="2B3744"/>
                </a:solidFill>
                <a:latin typeface="Versos"/>
              </a:rPr>
              <a:t>Bancário</a:t>
            </a:r>
          </a:p>
        </p:txBody>
      </p:sp>
      <p:sp>
        <p:nvSpPr>
          <p:cNvPr id="44" name="TextBox 43"/>
          <p:cNvSpPr txBox="1"/>
          <p:nvPr/>
        </p:nvSpPr>
        <p:spPr>
          <a:xfrm>
            <a:off x="498960" y="6387609"/>
            <a:ext cx="2665845" cy="189000"/>
          </a:xfrm>
          <a:prstGeom prst="rect">
            <a:avLst/>
          </a:prstGeom>
          <a:noFill/>
        </p:spPr>
        <p:txBody>
          <a:bodyPr wrap="none" lIns="0" rIns="0" tIns="0" bIns="0" anchor="t"/>
          <a:lstStyle/>
          <a:p>
            <a:pPr algn="l">
              <a:lnSpc>
                <a:spcPts val="1375"/>
              </a:lnSpc>
            </a:pPr>
            <a:r>
              <a:rPr sz="1250" b="1" i="0">
                <a:solidFill>
                  <a:srgbClr val="2B3744"/>
                </a:solidFill>
                <a:latin typeface="Versos"/>
              </a:rPr>
              <a:t>40,7%</a:t>
            </a:r>
          </a:p>
        </p:txBody>
      </p:sp>
      <p:sp>
        <p:nvSpPr>
          <p:cNvPr id="45" name="TextBox 44"/>
          <p:cNvSpPr txBox="1"/>
          <p:nvPr/>
        </p:nvSpPr>
        <p:spPr>
          <a:xfrm>
            <a:off x="3258832" y="6089934"/>
            <a:ext cx="1553107" cy="292477"/>
          </a:xfrm>
          <a:prstGeom prst="rect">
            <a:avLst/>
          </a:prstGeom>
          <a:noFill/>
        </p:spPr>
        <p:txBody>
          <a:bodyPr wrap="square" lIns="0" rIns="0" tIns="0" bIns="0" anchor="t"/>
          <a:lstStyle/>
          <a:p>
            <a:pPr algn="l">
              <a:lnSpc>
                <a:spcPts val="1113"/>
              </a:lnSpc>
            </a:pPr>
            <a:r>
              <a:rPr sz="1012" b="0" i="0">
                <a:solidFill>
                  <a:srgbClr val="FFFFFF"/>
                </a:solidFill>
                <a:latin typeface="Versos"/>
              </a:rPr>
              <a:t>Crédito</a:t>
            </a:r>
          </a:p>
          <a:p>
            <a:pPr algn="l">
              <a:lnSpc>
                <a:spcPts val="1113"/>
              </a:lnSpc>
            </a:pPr>
            <a:r>
              <a:rPr sz="1012" b="1" i="0">
                <a:solidFill>
                  <a:srgbClr val="FFFFFF"/>
                </a:solidFill>
                <a:latin typeface="Versos"/>
              </a:rPr>
              <a:t>Privado</a:t>
            </a:r>
          </a:p>
        </p:txBody>
      </p:sp>
      <p:sp>
        <p:nvSpPr>
          <p:cNvPr id="46" name="TextBox 45"/>
          <p:cNvSpPr txBox="1"/>
          <p:nvPr/>
        </p:nvSpPr>
        <p:spPr>
          <a:xfrm>
            <a:off x="3258832" y="6387609"/>
            <a:ext cx="1615231" cy="189000"/>
          </a:xfrm>
          <a:prstGeom prst="rect">
            <a:avLst/>
          </a:prstGeom>
          <a:noFill/>
        </p:spPr>
        <p:txBody>
          <a:bodyPr wrap="none" lIns="0" rIns="0" tIns="0" bIns="0" anchor="t"/>
          <a:lstStyle/>
          <a:p>
            <a:pPr algn="l">
              <a:lnSpc>
                <a:spcPts val="1375"/>
              </a:lnSpc>
            </a:pPr>
            <a:r>
              <a:rPr sz="1250" b="1" i="0">
                <a:solidFill>
                  <a:srgbClr val="FFFFFF"/>
                </a:solidFill>
                <a:latin typeface="Versos"/>
              </a:rPr>
              <a:t>25,8%</a:t>
            </a:r>
          </a:p>
        </p:txBody>
      </p:sp>
      <p:sp>
        <p:nvSpPr>
          <p:cNvPr id="47" name="TextBox 46"/>
          <p:cNvSpPr txBox="1"/>
          <p:nvPr/>
        </p:nvSpPr>
        <p:spPr>
          <a:xfrm>
            <a:off x="5008500" y="6089934"/>
            <a:ext cx="1400490" cy="292477"/>
          </a:xfrm>
          <a:prstGeom prst="rect">
            <a:avLst/>
          </a:prstGeom>
          <a:noFill/>
        </p:spPr>
        <p:txBody>
          <a:bodyPr wrap="square" lIns="0" rIns="0" tIns="0" bIns="0" anchor="t"/>
          <a:lstStyle/>
          <a:p>
            <a:pPr algn="l">
              <a:lnSpc>
                <a:spcPts val="1113"/>
              </a:lnSpc>
            </a:pPr>
            <a:r>
              <a:rPr sz="1012" b="0" i="0">
                <a:solidFill>
                  <a:srgbClr val="2B3744"/>
                </a:solidFill>
                <a:latin typeface="Versos"/>
              </a:rPr>
              <a:t>FIDCs</a:t>
            </a:r>
          </a:p>
          <a:p>
            <a:pPr algn="l">
              <a:lnSpc>
                <a:spcPts val="1113"/>
              </a:lnSpc>
            </a:pPr>
            <a:r>
              <a:rPr sz="1012" b="1" i="0">
                <a:solidFill>
                  <a:srgbClr val="2B3744"/>
                </a:solidFill>
                <a:latin typeface="Versos"/>
              </a:rPr>
              <a:t>Cotas Sênior</a:t>
            </a:r>
          </a:p>
        </p:txBody>
      </p:sp>
      <p:sp>
        <p:nvSpPr>
          <p:cNvPr id="48" name="TextBox 47"/>
          <p:cNvSpPr txBox="1"/>
          <p:nvPr/>
        </p:nvSpPr>
        <p:spPr>
          <a:xfrm>
            <a:off x="5008500" y="6387609"/>
            <a:ext cx="1456509" cy="189000"/>
          </a:xfrm>
          <a:prstGeom prst="rect">
            <a:avLst/>
          </a:prstGeom>
          <a:noFill/>
        </p:spPr>
        <p:txBody>
          <a:bodyPr wrap="none" lIns="0" rIns="0" tIns="0" bIns="0" anchor="t"/>
          <a:lstStyle/>
          <a:p>
            <a:pPr algn="l">
              <a:lnSpc>
                <a:spcPts val="1375"/>
              </a:lnSpc>
            </a:pPr>
            <a:r>
              <a:rPr sz="1250" b="1" i="0">
                <a:solidFill>
                  <a:srgbClr val="2B3744"/>
                </a:solidFill>
                <a:latin typeface="Versos"/>
              </a:rPr>
              <a:t>23,5%</a:t>
            </a:r>
          </a:p>
        </p:txBody>
      </p:sp>
      <p:sp>
        <p:nvSpPr>
          <p:cNvPr id="49" name="TextBox 48"/>
          <p:cNvSpPr txBox="1"/>
          <p:nvPr/>
        </p:nvSpPr>
        <p:spPr>
          <a:xfrm>
            <a:off x="6559363" y="6086863"/>
            <a:ext cx="569655" cy="105840"/>
          </a:xfrm>
          <a:prstGeom prst="rect">
            <a:avLst/>
          </a:prstGeom>
          <a:noFill/>
        </p:spPr>
        <p:txBody>
          <a:bodyPr wrap="none" lIns="0" rIns="0" tIns="0" bIns="0" anchor="t"/>
          <a:lstStyle/>
          <a:p>
            <a:pPr algn="l">
              <a:lnSpc>
                <a:spcPts val="792"/>
              </a:lnSpc>
            </a:pPr>
            <a:r>
              <a:rPr sz="720" b="0" i="0">
                <a:solidFill>
                  <a:srgbClr val="2B3744"/>
                </a:solidFill>
                <a:latin typeface="Versos"/>
              </a:rPr>
              <a:t>Liquidez</a:t>
            </a:r>
          </a:p>
        </p:txBody>
      </p:sp>
      <p:sp>
        <p:nvSpPr>
          <p:cNvPr id="50" name="TextBox 49"/>
          <p:cNvSpPr txBox="1"/>
          <p:nvPr/>
        </p:nvSpPr>
        <p:spPr>
          <a:xfrm>
            <a:off x="6559363" y="6194947"/>
            <a:ext cx="569655" cy="173880"/>
          </a:xfrm>
          <a:prstGeom prst="rect">
            <a:avLst/>
          </a:prstGeom>
          <a:noFill/>
        </p:spPr>
        <p:txBody>
          <a:bodyPr wrap="none" lIns="0" rIns="0" tIns="0" bIns="0" anchor="t"/>
          <a:lstStyle/>
          <a:p>
            <a:pPr algn="l">
              <a:lnSpc>
                <a:spcPts val="1217"/>
              </a:lnSpc>
            </a:pPr>
            <a:r>
              <a:rPr sz="1107" b="1" i="0">
                <a:solidFill>
                  <a:srgbClr val="2B3744"/>
                </a:solidFill>
                <a:latin typeface="Versos"/>
              </a:rPr>
              <a:t>7,8%</a:t>
            </a:r>
          </a:p>
        </p:txBody>
      </p:sp>
      <p:sp>
        <p:nvSpPr>
          <p:cNvPr id="51" name="TextBox 50"/>
          <p:cNvSpPr txBox="1"/>
          <p:nvPr/>
        </p:nvSpPr>
        <p:spPr>
          <a:xfrm>
            <a:off x="6559363" y="6511876"/>
            <a:ext cx="569655" cy="105840"/>
          </a:xfrm>
          <a:prstGeom prst="rect">
            <a:avLst/>
          </a:prstGeom>
          <a:noFill/>
        </p:spPr>
        <p:txBody>
          <a:bodyPr wrap="none" lIns="0" rIns="0" tIns="0" bIns="0" anchor="t"/>
          <a:lstStyle/>
          <a:p>
            <a:pPr algn="l">
              <a:lnSpc>
                <a:spcPts val="759"/>
              </a:lnSpc>
            </a:pPr>
            <a:r>
              <a:rPr sz="690" b="1" i="0">
                <a:solidFill>
                  <a:srgbClr val="FFFFFF"/>
                </a:solidFill>
                <a:latin typeface="Versos"/>
              </a:rPr>
              <a:t>1,9%</a:t>
            </a:r>
          </a:p>
        </p:txBody>
      </p:sp>
      <p:sp>
        <p:nvSpPr>
          <p:cNvPr id="52" name="TextBox 51"/>
          <p:cNvSpPr txBox="1"/>
          <p:nvPr/>
        </p:nvSpPr>
        <p:spPr>
          <a:xfrm>
            <a:off x="529200" y="6743638"/>
            <a:ext cx="774569" cy="113400"/>
          </a:xfrm>
          <a:prstGeom prst="rect">
            <a:avLst/>
          </a:prstGeom>
          <a:noFill/>
        </p:spPr>
        <p:txBody>
          <a:bodyPr wrap="none" lIns="0" rIns="0" tIns="0" bIns="0" anchor="t"/>
          <a:lstStyle/>
          <a:p>
            <a:pPr algn="l">
              <a:lnSpc>
                <a:spcPts val="892"/>
              </a:lnSpc>
            </a:pPr>
            <a:r>
              <a:rPr sz="744" b="0" i="0">
                <a:solidFill>
                  <a:srgbClr val="333333"/>
                </a:solidFill>
                <a:latin typeface="Versos"/>
              </a:rPr>
              <a:t>Bancário </a:t>
            </a:r>
            <a:r>
              <a:rPr sz="744" b="1" i="0">
                <a:solidFill>
                  <a:srgbClr val="111111"/>
                </a:solidFill>
                <a:latin typeface="Versos"/>
              </a:rPr>
              <a:t>40,7%</a:t>
            </a:r>
          </a:p>
        </p:txBody>
      </p:sp>
      <p:sp>
        <p:nvSpPr>
          <p:cNvPr id="53" name="TextBox 52"/>
          <p:cNvSpPr txBox="1"/>
          <p:nvPr/>
        </p:nvSpPr>
        <p:spPr>
          <a:xfrm>
            <a:off x="1538578" y="6743638"/>
            <a:ext cx="1083659"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Privado </a:t>
            </a:r>
            <a:r>
              <a:rPr sz="744" b="1" i="0">
                <a:solidFill>
                  <a:srgbClr val="111111"/>
                </a:solidFill>
                <a:latin typeface="Versos"/>
              </a:rPr>
              <a:t>25,8%</a:t>
            </a:r>
          </a:p>
        </p:txBody>
      </p:sp>
      <p:sp>
        <p:nvSpPr>
          <p:cNvPr id="54" name="TextBox 53"/>
          <p:cNvSpPr txBox="1"/>
          <p:nvPr/>
        </p:nvSpPr>
        <p:spPr>
          <a:xfrm>
            <a:off x="2845158" y="6743638"/>
            <a:ext cx="1277762"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Cotas Sênior </a:t>
            </a:r>
            <a:r>
              <a:rPr sz="744" b="1" i="0">
                <a:solidFill>
                  <a:srgbClr val="111111"/>
                </a:solidFill>
                <a:latin typeface="Versos"/>
              </a:rPr>
              <a:t>23,5%</a:t>
            </a:r>
          </a:p>
        </p:txBody>
      </p:sp>
      <p:sp>
        <p:nvSpPr>
          <p:cNvPr id="55" name="TextBox 54"/>
          <p:cNvSpPr txBox="1"/>
          <p:nvPr/>
        </p:nvSpPr>
        <p:spPr>
          <a:xfrm>
            <a:off x="4338376" y="6743638"/>
            <a:ext cx="676657" cy="113400"/>
          </a:xfrm>
          <a:prstGeom prst="rect">
            <a:avLst/>
          </a:prstGeom>
          <a:noFill/>
        </p:spPr>
        <p:txBody>
          <a:bodyPr wrap="none" lIns="0" rIns="0" tIns="0" bIns="0" anchor="t"/>
          <a:lstStyle/>
          <a:p>
            <a:pPr algn="l">
              <a:lnSpc>
                <a:spcPts val="892"/>
              </a:lnSpc>
            </a:pPr>
            <a:r>
              <a:rPr sz="744" b="0" i="0">
                <a:solidFill>
                  <a:srgbClr val="333333"/>
                </a:solidFill>
                <a:latin typeface="Versos"/>
              </a:rPr>
              <a:t>Liquidez </a:t>
            </a:r>
            <a:r>
              <a:rPr sz="744" b="1" i="0">
                <a:solidFill>
                  <a:srgbClr val="111111"/>
                </a:solidFill>
                <a:latin typeface="Versos"/>
              </a:rPr>
              <a:t>7,8%</a:t>
            </a:r>
          </a:p>
        </p:txBody>
      </p:sp>
      <p:sp>
        <p:nvSpPr>
          <p:cNvPr id="56" name="TextBox 55"/>
          <p:cNvSpPr txBox="1"/>
          <p:nvPr/>
        </p:nvSpPr>
        <p:spPr>
          <a:xfrm>
            <a:off x="5253609" y="6743638"/>
            <a:ext cx="564127" cy="113400"/>
          </a:xfrm>
          <a:prstGeom prst="rect">
            <a:avLst/>
          </a:prstGeom>
          <a:noFill/>
        </p:spPr>
        <p:txBody>
          <a:bodyPr wrap="none" lIns="0" rIns="0" tIns="0" bIns="0" anchor="t"/>
          <a:lstStyle/>
          <a:p>
            <a:pPr algn="l">
              <a:lnSpc>
                <a:spcPts val="892"/>
              </a:lnSpc>
            </a:pPr>
            <a:r>
              <a:rPr sz="744" b="0" i="0">
                <a:solidFill>
                  <a:srgbClr val="333333"/>
                </a:solidFill>
                <a:latin typeface="Versos"/>
              </a:rPr>
              <a:t>Ações </a:t>
            </a:r>
            <a:r>
              <a:rPr sz="744" b="1" i="0">
                <a:solidFill>
                  <a:srgbClr val="111111"/>
                </a:solidFill>
                <a:latin typeface="Versos"/>
              </a:rPr>
              <a:t>1,9%</a:t>
            </a:r>
          </a:p>
        </p:txBody>
      </p:sp>
      <p:sp>
        <p:nvSpPr>
          <p:cNvPr id="57" name="TextBox 56"/>
          <p:cNvSpPr txBox="1"/>
          <p:nvPr/>
        </p:nvSpPr>
        <p:spPr>
          <a:xfrm>
            <a:off x="415800" y="7340878"/>
            <a:ext cx="6997536" cy="204120"/>
          </a:xfrm>
          <a:prstGeom prst="rect">
            <a:avLst/>
          </a:prstGeom>
          <a:noFill/>
        </p:spPr>
        <p:txBody>
          <a:bodyPr wrap="none" lIns="0" rIns="0" tIns="0" bIns="0" anchor="t"/>
          <a:lstStyle/>
          <a:p>
            <a:pPr algn="ctr">
              <a:lnSpc>
                <a:spcPts val="1571"/>
              </a:lnSpc>
            </a:pPr>
            <a:r>
              <a:rPr sz="1309" b="0" i="0">
                <a:solidFill>
                  <a:srgbClr val="707070"/>
                </a:solidFill>
                <a:latin typeface="Versos"/>
              </a:rPr>
              <a:t>Comentário do Gestor e Análise de Mercado</a:t>
            </a:r>
          </a:p>
        </p:txBody>
      </p:sp>
      <p:sp>
        <p:nvSpPr>
          <p:cNvPr id="58" name="TextBox 57"/>
          <p:cNvSpPr txBox="1"/>
          <p:nvPr/>
        </p:nvSpPr>
        <p:spPr>
          <a:xfrm>
            <a:off x="415800" y="7922998"/>
            <a:ext cx="6997536" cy="113400"/>
          </a:xfrm>
          <a:prstGeom prst="rect">
            <a:avLst/>
          </a:prstGeom>
          <a:noFill/>
        </p:spPr>
        <p:txBody>
          <a:bodyPr wrap="none" lIns="0" rIns="0" tIns="0" bIns="0" anchor="t"/>
          <a:lstStyle/>
          <a:p>
            <a:pPr algn="just">
              <a:lnSpc>
                <a:spcPts val="913"/>
              </a:lnSpc>
            </a:pPr>
            <a:r>
              <a:rPr sz="773" b="0" i="0">
                <a:solidFill>
                  <a:srgbClr val="8A99A3"/>
                </a:solidFill>
                <a:latin typeface="Versos"/>
              </a:rPr>
              <a:t>Comentário não preenchido em </a:t>
            </a:r>
            <a:r>
              <a:rPr sz="773" b="0" i="0">
                <a:solidFill>
                  <a:srgbClr val="8A99A3"/>
                </a:solidFill>
                <a:latin typeface="Versos"/>
              </a:rPr>
              <a:t>entrada/comentarios.md</a:t>
            </a:r>
            <a:r>
              <a:rPr sz="773" b="0" i="0">
                <a:solidFill>
                  <a:srgbClr val="8A99A3"/>
                </a:solidFill>
                <a:latin typeface="Versos"/>
              </a:rPr>
              <a:t> para </a:t>
            </a:r>
            <a:r>
              <a:rPr sz="773" b="1" i="0">
                <a:solidFill>
                  <a:srgbClr val="8A99A3"/>
                </a:solidFill>
                <a:latin typeface="Versos"/>
              </a:rPr>
              <a:t>Tivio ALT Light</a:t>
            </a:r>
            <a:r>
              <a:rPr sz="773" b="0" i="0">
                <a:solidFill>
                  <a:srgbClr val="8A99A3"/>
                </a:solidFill>
                <a:latin typeface="Versos"/>
              </a:rPr>
              <a:t>.</a:t>
            </a:r>
          </a:p>
        </p:txBody>
      </p:sp>
      <p:sp>
        <p:nvSpPr>
          <p:cNvPr id="59" name="TextBox 5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289735" y="37422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POR ESTRATÉGIA</a:t>
            </a:r>
          </a:p>
        </p:txBody>
      </p:sp>
      <p:sp>
        <p:nvSpPr>
          <p:cNvPr id="5" name="TextBox 4"/>
          <p:cNvSpPr txBox="1"/>
          <p:nvPr/>
        </p:nvSpPr>
        <p:spPr>
          <a:xfrm>
            <a:off x="400680" y="1600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Financeiro</a:t>
            </a:r>
          </a:p>
        </p:txBody>
      </p:sp>
      <p:sp>
        <p:nvSpPr>
          <p:cNvPr id="6" name="TextBox 5"/>
          <p:cNvSpPr txBox="1"/>
          <p:nvPr/>
        </p:nvSpPr>
        <p:spPr>
          <a:xfrm>
            <a:off x="3217488" y="1600357"/>
            <a:ext cx="408721" cy="120960"/>
          </a:xfrm>
          <a:prstGeom prst="rect">
            <a:avLst/>
          </a:prstGeom>
          <a:noFill/>
        </p:spPr>
        <p:txBody>
          <a:bodyPr wrap="none" lIns="0" rIns="0" tIns="0" bIns="0" anchor="t"/>
          <a:lstStyle/>
          <a:p>
            <a:pPr algn="l">
              <a:lnSpc>
                <a:spcPts val="971"/>
              </a:lnSpc>
            </a:pPr>
            <a:r>
              <a:rPr sz="809" b="0" i="0">
                <a:solidFill>
                  <a:srgbClr val="4F7A93"/>
                </a:solidFill>
                <a:latin typeface="Versos"/>
              </a:rPr>
              <a:t>40,68%</a:t>
            </a:r>
          </a:p>
        </p:txBody>
      </p:sp>
      <p:sp>
        <p:nvSpPr>
          <p:cNvPr id="7" name="TextBox 6"/>
          <p:cNvSpPr txBox="1"/>
          <p:nvPr/>
        </p:nvSpPr>
        <p:spPr>
          <a:xfrm>
            <a:off x="400680" y="1789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Indústria e Comércio</a:t>
            </a:r>
          </a:p>
        </p:txBody>
      </p:sp>
      <p:sp>
        <p:nvSpPr>
          <p:cNvPr id="8" name="TextBox 7"/>
          <p:cNvSpPr txBox="1"/>
          <p:nvPr/>
        </p:nvSpPr>
        <p:spPr>
          <a:xfrm>
            <a:off x="2443770" y="1789357"/>
            <a:ext cx="375921" cy="120960"/>
          </a:xfrm>
          <a:prstGeom prst="rect">
            <a:avLst/>
          </a:prstGeom>
          <a:noFill/>
        </p:spPr>
        <p:txBody>
          <a:bodyPr wrap="none" lIns="0" rIns="0" tIns="0" bIns="0" anchor="t"/>
          <a:lstStyle/>
          <a:p>
            <a:pPr algn="l">
              <a:lnSpc>
                <a:spcPts val="971"/>
              </a:lnSpc>
            </a:pPr>
            <a:r>
              <a:rPr sz="809" b="0" i="0">
                <a:solidFill>
                  <a:srgbClr val="4F7A93"/>
                </a:solidFill>
                <a:latin typeface="Versos"/>
              </a:rPr>
              <a:t>14,26%</a:t>
            </a:r>
          </a:p>
        </p:txBody>
      </p:sp>
      <p:sp>
        <p:nvSpPr>
          <p:cNvPr id="9" name="TextBox 8"/>
          <p:cNvSpPr txBox="1"/>
          <p:nvPr/>
        </p:nvSpPr>
        <p:spPr>
          <a:xfrm>
            <a:off x="400680" y="1978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Caixa</a:t>
            </a:r>
          </a:p>
        </p:txBody>
      </p:sp>
      <p:sp>
        <p:nvSpPr>
          <p:cNvPr id="10" name="TextBox 9"/>
          <p:cNvSpPr txBox="1"/>
          <p:nvPr/>
        </p:nvSpPr>
        <p:spPr>
          <a:xfrm>
            <a:off x="2253116" y="1978357"/>
            <a:ext cx="305282" cy="120960"/>
          </a:xfrm>
          <a:prstGeom prst="rect">
            <a:avLst/>
          </a:prstGeom>
          <a:noFill/>
        </p:spPr>
        <p:txBody>
          <a:bodyPr wrap="none" lIns="0" rIns="0" tIns="0" bIns="0" anchor="t"/>
          <a:lstStyle/>
          <a:p>
            <a:pPr algn="l">
              <a:lnSpc>
                <a:spcPts val="971"/>
              </a:lnSpc>
            </a:pPr>
            <a:r>
              <a:rPr sz="809" b="0" i="0">
                <a:solidFill>
                  <a:srgbClr val="4F7A93"/>
                </a:solidFill>
                <a:latin typeface="Versos"/>
              </a:rPr>
              <a:t>7,75%</a:t>
            </a:r>
          </a:p>
        </p:txBody>
      </p:sp>
      <p:sp>
        <p:nvSpPr>
          <p:cNvPr id="11" name="TextBox 10"/>
          <p:cNvSpPr txBox="1"/>
          <p:nvPr/>
        </p:nvSpPr>
        <p:spPr>
          <a:xfrm>
            <a:off x="400680" y="2167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Locação de veículos</a:t>
            </a:r>
          </a:p>
        </p:txBody>
      </p:sp>
      <p:sp>
        <p:nvSpPr>
          <p:cNvPr id="12" name="TextBox 11"/>
          <p:cNvSpPr txBox="1"/>
          <p:nvPr/>
        </p:nvSpPr>
        <p:spPr>
          <a:xfrm>
            <a:off x="2183186" y="2167357"/>
            <a:ext cx="325921" cy="120960"/>
          </a:xfrm>
          <a:prstGeom prst="rect">
            <a:avLst/>
          </a:prstGeom>
          <a:noFill/>
        </p:spPr>
        <p:txBody>
          <a:bodyPr wrap="none" lIns="0" rIns="0" tIns="0" bIns="0" anchor="t"/>
          <a:lstStyle/>
          <a:p>
            <a:pPr algn="l">
              <a:lnSpc>
                <a:spcPts val="971"/>
              </a:lnSpc>
            </a:pPr>
            <a:r>
              <a:rPr sz="809" b="0" i="0">
                <a:solidFill>
                  <a:srgbClr val="4F7A93"/>
                </a:solidFill>
                <a:latin typeface="Versos"/>
              </a:rPr>
              <a:t>5,37%</a:t>
            </a:r>
          </a:p>
        </p:txBody>
      </p:sp>
      <p:sp>
        <p:nvSpPr>
          <p:cNvPr id="13" name="TextBox 12"/>
          <p:cNvSpPr txBox="1"/>
          <p:nvPr/>
        </p:nvSpPr>
        <p:spPr>
          <a:xfrm>
            <a:off x="400680" y="2356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Transporte e Logística</a:t>
            </a:r>
          </a:p>
        </p:txBody>
      </p:sp>
      <p:sp>
        <p:nvSpPr>
          <p:cNvPr id="14" name="TextBox 13"/>
          <p:cNvSpPr txBox="1"/>
          <p:nvPr/>
        </p:nvSpPr>
        <p:spPr>
          <a:xfrm>
            <a:off x="2170428" y="2356357"/>
            <a:ext cx="337346" cy="120960"/>
          </a:xfrm>
          <a:prstGeom prst="rect">
            <a:avLst/>
          </a:prstGeom>
          <a:noFill/>
        </p:spPr>
        <p:txBody>
          <a:bodyPr wrap="none" lIns="0" rIns="0" tIns="0" bIns="0" anchor="t"/>
          <a:lstStyle/>
          <a:p>
            <a:pPr algn="l">
              <a:lnSpc>
                <a:spcPts val="971"/>
              </a:lnSpc>
            </a:pPr>
            <a:r>
              <a:rPr sz="809" b="0" i="0">
                <a:solidFill>
                  <a:srgbClr val="4F7A93"/>
                </a:solidFill>
                <a:latin typeface="Versos"/>
              </a:rPr>
              <a:t>4,93%</a:t>
            </a:r>
          </a:p>
        </p:txBody>
      </p:sp>
      <p:sp>
        <p:nvSpPr>
          <p:cNvPr id="15" name="TextBox 14"/>
          <p:cNvSpPr txBox="1"/>
          <p:nvPr/>
        </p:nvSpPr>
        <p:spPr>
          <a:xfrm>
            <a:off x="400680" y="2545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Comércio atacadista e varejista</a:t>
            </a:r>
          </a:p>
        </p:txBody>
      </p:sp>
      <p:sp>
        <p:nvSpPr>
          <p:cNvPr id="16" name="TextBox 15"/>
          <p:cNvSpPr txBox="1"/>
          <p:nvPr/>
        </p:nvSpPr>
        <p:spPr>
          <a:xfrm>
            <a:off x="2158616" y="2545357"/>
            <a:ext cx="335011" cy="120960"/>
          </a:xfrm>
          <a:prstGeom prst="rect">
            <a:avLst/>
          </a:prstGeom>
          <a:noFill/>
        </p:spPr>
        <p:txBody>
          <a:bodyPr wrap="none" lIns="0" rIns="0" tIns="0" bIns="0" anchor="t"/>
          <a:lstStyle/>
          <a:p>
            <a:pPr algn="l">
              <a:lnSpc>
                <a:spcPts val="971"/>
              </a:lnSpc>
            </a:pPr>
            <a:r>
              <a:rPr sz="809" b="0" i="0">
                <a:solidFill>
                  <a:srgbClr val="4F7A93"/>
                </a:solidFill>
                <a:latin typeface="Versos"/>
              </a:rPr>
              <a:t>4,52%</a:t>
            </a:r>
          </a:p>
        </p:txBody>
      </p:sp>
      <p:sp>
        <p:nvSpPr>
          <p:cNvPr id="17" name="TextBox 16"/>
          <p:cNvSpPr txBox="1"/>
          <p:nvPr/>
        </p:nvSpPr>
        <p:spPr>
          <a:xfrm>
            <a:off x="400680" y="2734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Crédito PF</a:t>
            </a:r>
          </a:p>
        </p:txBody>
      </p:sp>
      <p:sp>
        <p:nvSpPr>
          <p:cNvPr id="18" name="TextBox 17"/>
          <p:cNvSpPr txBox="1"/>
          <p:nvPr/>
        </p:nvSpPr>
        <p:spPr>
          <a:xfrm>
            <a:off x="2155781" y="2734357"/>
            <a:ext cx="339803" cy="120960"/>
          </a:xfrm>
          <a:prstGeom prst="rect">
            <a:avLst/>
          </a:prstGeom>
          <a:noFill/>
        </p:spPr>
        <p:txBody>
          <a:bodyPr wrap="none" lIns="0" rIns="0" tIns="0" bIns="0" anchor="t"/>
          <a:lstStyle/>
          <a:p>
            <a:pPr algn="l">
              <a:lnSpc>
                <a:spcPts val="971"/>
              </a:lnSpc>
            </a:pPr>
            <a:r>
              <a:rPr sz="809" b="0" i="0">
                <a:solidFill>
                  <a:srgbClr val="4F7A93"/>
                </a:solidFill>
                <a:latin typeface="Versos"/>
              </a:rPr>
              <a:t>4,43%</a:t>
            </a:r>
          </a:p>
        </p:txBody>
      </p:sp>
      <p:sp>
        <p:nvSpPr>
          <p:cNvPr id="19" name="TextBox 18"/>
          <p:cNvSpPr txBox="1"/>
          <p:nvPr/>
        </p:nvSpPr>
        <p:spPr>
          <a:xfrm>
            <a:off x="400680" y="2923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TI e Telecomunicações</a:t>
            </a:r>
          </a:p>
        </p:txBody>
      </p:sp>
      <p:sp>
        <p:nvSpPr>
          <p:cNvPr id="20" name="TextBox 19"/>
          <p:cNvSpPr txBox="1"/>
          <p:nvPr/>
        </p:nvSpPr>
        <p:spPr>
          <a:xfrm>
            <a:off x="2153300" y="2923357"/>
            <a:ext cx="335011" cy="120960"/>
          </a:xfrm>
          <a:prstGeom prst="rect">
            <a:avLst/>
          </a:prstGeom>
          <a:noFill/>
        </p:spPr>
        <p:txBody>
          <a:bodyPr wrap="none" lIns="0" rIns="0" tIns="0" bIns="0" anchor="t"/>
          <a:lstStyle/>
          <a:p>
            <a:pPr algn="l">
              <a:lnSpc>
                <a:spcPts val="971"/>
              </a:lnSpc>
            </a:pPr>
            <a:r>
              <a:rPr sz="809" b="0" i="0">
                <a:solidFill>
                  <a:srgbClr val="4F7A93"/>
                </a:solidFill>
                <a:latin typeface="Versos"/>
              </a:rPr>
              <a:t>4,34%</a:t>
            </a:r>
          </a:p>
        </p:txBody>
      </p:sp>
      <p:sp>
        <p:nvSpPr>
          <p:cNvPr id="21" name="TextBox 20"/>
          <p:cNvSpPr txBox="1"/>
          <p:nvPr/>
        </p:nvSpPr>
        <p:spPr>
          <a:xfrm>
            <a:off x="400680" y="3112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Consignados</a:t>
            </a:r>
          </a:p>
        </p:txBody>
      </p:sp>
      <p:sp>
        <p:nvSpPr>
          <p:cNvPr id="22" name="TextBox 21"/>
          <p:cNvSpPr txBox="1"/>
          <p:nvPr/>
        </p:nvSpPr>
        <p:spPr>
          <a:xfrm>
            <a:off x="2140661" y="3112357"/>
            <a:ext cx="330097" cy="120960"/>
          </a:xfrm>
          <a:prstGeom prst="rect">
            <a:avLst/>
          </a:prstGeom>
          <a:noFill/>
        </p:spPr>
        <p:txBody>
          <a:bodyPr wrap="none" lIns="0" rIns="0" tIns="0" bIns="0" anchor="t"/>
          <a:lstStyle/>
          <a:p>
            <a:pPr algn="l">
              <a:lnSpc>
                <a:spcPts val="971"/>
              </a:lnSpc>
            </a:pPr>
            <a:r>
              <a:rPr sz="809" b="0" i="0">
                <a:solidFill>
                  <a:srgbClr val="4F7A93"/>
                </a:solidFill>
                <a:latin typeface="Versos"/>
              </a:rPr>
              <a:t>3,92%</a:t>
            </a:r>
          </a:p>
        </p:txBody>
      </p:sp>
      <p:sp>
        <p:nvSpPr>
          <p:cNvPr id="23" name="TextBox 22"/>
          <p:cNvSpPr txBox="1"/>
          <p:nvPr/>
        </p:nvSpPr>
        <p:spPr>
          <a:xfrm>
            <a:off x="400680" y="3301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Energia Elétrica</a:t>
            </a:r>
          </a:p>
        </p:txBody>
      </p:sp>
      <p:sp>
        <p:nvSpPr>
          <p:cNvPr id="24" name="TextBox 23"/>
          <p:cNvSpPr txBox="1"/>
          <p:nvPr/>
        </p:nvSpPr>
        <p:spPr>
          <a:xfrm>
            <a:off x="2094238" y="3301357"/>
            <a:ext cx="333660" cy="120960"/>
          </a:xfrm>
          <a:prstGeom prst="rect">
            <a:avLst/>
          </a:prstGeom>
          <a:noFill/>
        </p:spPr>
        <p:txBody>
          <a:bodyPr wrap="none" lIns="0" rIns="0" tIns="0" bIns="0" anchor="t"/>
          <a:lstStyle/>
          <a:p>
            <a:pPr algn="l">
              <a:lnSpc>
                <a:spcPts val="971"/>
              </a:lnSpc>
            </a:pPr>
            <a:r>
              <a:rPr sz="809" b="0" i="0">
                <a:solidFill>
                  <a:srgbClr val="4F7A93"/>
                </a:solidFill>
                <a:latin typeface="Versos"/>
              </a:rPr>
              <a:t>2,33%</a:t>
            </a:r>
          </a:p>
        </p:txBody>
      </p:sp>
      <p:sp>
        <p:nvSpPr>
          <p:cNvPr id="25" name="TextBox 24"/>
          <p:cNvSpPr txBox="1"/>
          <p:nvPr/>
        </p:nvSpPr>
        <p:spPr>
          <a:xfrm>
            <a:off x="400680" y="3490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Saneamento</a:t>
            </a:r>
          </a:p>
        </p:txBody>
      </p:sp>
      <p:sp>
        <p:nvSpPr>
          <p:cNvPr id="26" name="TextBox 25"/>
          <p:cNvSpPr txBox="1"/>
          <p:nvPr/>
        </p:nvSpPr>
        <p:spPr>
          <a:xfrm>
            <a:off x="2090812" y="3490357"/>
            <a:ext cx="302211" cy="120960"/>
          </a:xfrm>
          <a:prstGeom prst="rect">
            <a:avLst/>
          </a:prstGeom>
          <a:noFill/>
        </p:spPr>
        <p:txBody>
          <a:bodyPr wrap="none" lIns="0" rIns="0" tIns="0" bIns="0" anchor="t"/>
          <a:lstStyle/>
          <a:p>
            <a:pPr algn="l">
              <a:lnSpc>
                <a:spcPts val="971"/>
              </a:lnSpc>
            </a:pPr>
            <a:r>
              <a:rPr sz="809" b="0" i="0">
                <a:solidFill>
                  <a:srgbClr val="4F7A93"/>
                </a:solidFill>
                <a:latin typeface="Versos"/>
              </a:rPr>
              <a:t>2,21%</a:t>
            </a:r>
          </a:p>
        </p:txBody>
      </p:sp>
      <p:sp>
        <p:nvSpPr>
          <p:cNvPr id="27" name="TextBox 26"/>
          <p:cNvSpPr txBox="1"/>
          <p:nvPr/>
        </p:nvSpPr>
        <p:spPr>
          <a:xfrm>
            <a:off x="400680" y="3679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Alimentos e bebidas</a:t>
            </a:r>
          </a:p>
        </p:txBody>
      </p:sp>
      <p:sp>
        <p:nvSpPr>
          <p:cNvPr id="28" name="TextBox 27"/>
          <p:cNvSpPr txBox="1"/>
          <p:nvPr/>
        </p:nvSpPr>
        <p:spPr>
          <a:xfrm>
            <a:off x="2067069" y="3679357"/>
            <a:ext cx="313636" cy="120960"/>
          </a:xfrm>
          <a:prstGeom prst="rect">
            <a:avLst/>
          </a:prstGeom>
          <a:noFill/>
        </p:spPr>
        <p:txBody>
          <a:bodyPr wrap="none" lIns="0" rIns="0" tIns="0" bIns="0" anchor="t"/>
          <a:lstStyle/>
          <a:p>
            <a:pPr algn="l">
              <a:lnSpc>
                <a:spcPts val="971"/>
              </a:lnSpc>
            </a:pPr>
            <a:r>
              <a:rPr sz="809" b="0" i="0">
                <a:solidFill>
                  <a:srgbClr val="4F7A93"/>
                </a:solidFill>
                <a:latin typeface="Versos"/>
              </a:rPr>
              <a:t>1,40%</a:t>
            </a:r>
          </a:p>
        </p:txBody>
      </p:sp>
      <p:sp>
        <p:nvSpPr>
          <p:cNvPr id="29" name="TextBox 28"/>
          <p:cNvSpPr txBox="1"/>
          <p:nvPr/>
        </p:nvSpPr>
        <p:spPr>
          <a:xfrm>
            <a:off x="400680" y="3868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Assistência médica</a:t>
            </a:r>
          </a:p>
        </p:txBody>
      </p:sp>
      <p:sp>
        <p:nvSpPr>
          <p:cNvPr id="30" name="TextBox 29"/>
          <p:cNvSpPr txBox="1"/>
          <p:nvPr/>
        </p:nvSpPr>
        <p:spPr>
          <a:xfrm>
            <a:off x="2065770" y="3868357"/>
            <a:ext cx="310319" cy="120960"/>
          </a:xfrm>
          <a:prstGeom prst="rect">
            <a:avLst/>
          </a:prstGeom>
          <a:noFill/>
        </p:spPr>
        <p:txBody>
          <a:bodyPr wrap="none" lIns="0" rIns="0" tIns="0" bIns="0" anchor="t"/>
          <a:lstStyle/>
          <a:p>
            <a:pPr algn="l">
              <a:lnSpc>
                <a:spcPts val="971"/>
              </a:lnSpc>
            </a:pPr>
            <a:r>
              <a:rPr sz="809" b="0" i="0">
                <a:solidFill>
                  <a:srgbClr val="4F7A93"/>
                </a:solidFill>
                <a:latin typeface="Versos"/>
              </a:rPr>
              <a:t>1,36%</a:t>
            </a:r>
          </a:p>
        </p:txBody>
      </p:sp>
      <p:sp>
        <p:nvSpPr>
          <p:cNvPr id="31" name="TextBox 30"/>
          <p:cNvSpPr txBox="1"/>
          <p:nvPr/>
        </p:nvSpPr>
        <p:spPr>
          <a:xfrm>
            <a:off x="400680" y="4057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Serviços Imobiliários</a:t>
            </a:r>
          </a:p>
        </p:txBody>
      </p:sp>
      <p:sp>
        <p:nvSpPr>
          <p:cNvPr id="32" name="TextBox 31"/>
          <p:cNvSpPr txBox="1"/>
          <p:nvPr/>
        </p:nvSpPr>
        <p:spPr>
          <a:xfrm>
            <a:off x="2059509" y="4057357"/>
            <a:ext cx="270392" cy="120960"/>
          </a:xfrm>
          <a:prstGeom prst="rect">
            <a:avLst/>
          </a:prstGeom>
          <a:noFill/>
        </p:spPr>
        <p:txBody>
          <a:bodyPr wrap="none" lIns="0" rIns="0" tIns="0" bIns="0" anchor="t"/>
          <a:lstStyle/>
          <a:p>
            <a:pPr algn="l">
              <a:lnSpc>
                <a:spcPts val="971"/>
              </a:lnSpc>
            </a:pPr>
            <a:r>
              <a:rPr sz="809" b="0" i="0">
                <a:solidFill>
                  <a:srgbClr val="4F7A93"/>
                </a:solidFill>
                <a:latin typeface="Versos"/>
              </a:rPr>
              <a:t>1,14%</a:t>
            </a:r>
          </a:p>
        </p:txBody>
      </p:sp>
      <p:sp>
        <p:nvSpPr>
          <p:cNvPr id="33" name="TextBox 32"/>
          <p:cNvSpPr txBox="1"/>
          <p:nvPr/>
        </p:nvSpPr>
        <p:spPr>
          <a:xfrm>
            <a:off x="400680" y="4246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Agropecuária</a:t>
            </a:r>
          </a:p>
        </p:txBody>
      </p:sp>
      <p:sp>
        <p:nvSpPr>
          <p:cNvPr id="34" name="TextBox 33"/>
          <p:cNvSpPr txBox="1"/>
          <p:nvPr/>
        </p:nvSpPr>
        <p:spPr>
          <a:xfrm>
            <a:off x="2054430" y="4246357"/>
            <a:ext cx="326043" cy="120960"/>
          </a:xfrm>
          <a:prstGeom prst="rect">
            <a:avLst/>
          </a:prstGeom>
          <a:noFill/>
        </p:spPr>
        <p:txBody>
          <a:bodyPr wrap="none" lIns="0" rIns="0" tIns="0" bIns="0" anchor="t"/>
          <a:lstStyle/>
          <a:p>
            <a:pPr algn="l">
              <a:lnSpc>
                <a:spcPts val="971"/>
              </a:lnSpc>
            </a:pPr>
            <a:r>
              <a:rPr sz="809" b="0" i="0">
                <a:solidFill>
                  <a:srgbClr val="4F7A93"/>
                </a:solidFill>
                <a:latin typeface="Versos"/>
              </a:rPr>
              <a:t>0,97%</a:t>
            </a:r>
          </a:p>
        </p:txBody>
      </p:sp>
      <p:sp>
        <p:nvSpPr>
          <p:cNvPr id="35" name="TextBox 34"/>
          <p:cNvSpPr txBox="1"/>
          <p:nvPr/>
        </p:nvSpPr>
        <p:spPr>
          <a:xfrm>
            <a:off x="396900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COLATERAIS</a:t>
            </a:r>
          </a:p>
        </p:txBody>
      </p:sp>
      <p:sp>
        <p:nvSpPr>
          <p:cNvPr id="36" name="TextBox 35"/>
          <p:cNvSpPr txBox="1"/>
          <p:nvPr/>
        </p:nvSpPr>
        <p:spPr>
          <a:xfrm>
            <a:off x="455868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imóveis</a:t>
            </a:r>
          </a:p>
        </p:txBody>
      </p:sp>
      <p:sp>
        <p:nvSpPr>
          <p:cNvPr id="37" name="TextBox 36"/>
          <p:cNvSpPr txBox="1"/>
          <p:nvPr/>
        </p:nvSpPr>
        <p:spPr>
          <a:xfrm>
            <a:off x="617652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automóveis</a:t>
            </a:r>
          </a:p>
        </p:txBody>
      </p:sp>
      <p:sp>
        <p:nvSpPr>
          <p:cNvPr id="38" name="TextBox 37"/>
          <p:cNvSpPr txBox="1"/>
          <p:nvPr/>
        </p:nvSpPr>
        <p:spPr>
          <a:xfrm>
            <a:off x="455868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maquinário</a:t>
            </a:r>
          </a:p>
        </p:txBody>
      </p:sp>
      <p:sp>
        <p:nvSpPr>
          <p:cNvPr id="39" name="TextBox 38"/>
          <p:cNvSpPr txBox="1"/>
          <p:nvPr/>
        </p:nvSpPr>
        <p:spPr>
          <a:xfrm>
            <a:off x="617652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CF de recebíveis</a:t>
            </a:r>
          </a:p>
        </p:txBody>
      </p:sp>
      <p:sp>
        <p:nvSpPr>
          <p:cNvPr id="40" name="TextBox 39"/>
          <p:cNvSpPr txBox="1"/>
          <p:nvPr/>
        </p:nvSpPr>
        <p:spPr>
          <a:xfrm>
            <a:off x="4558680" y="4061846"/>
            <a:ext cx="2091766" cy="166320"/>
          </a:xfrm>
          <a:prstGeom prst="rect">
            <a:avLst/>
          </a:prstGeom>
          <a:noFill/>
        </p:spPr>
        <p:txBody>
          <a:bodyPr wrap="none" lIns="0" rIns="0" tIns="0" bIns="0" anchor="t"/>
          <a:lstStyle/>
          <a:p>
            <a:pPr algn="l">
              <a:lnSpc>
                <a:spcPts val="1178"/>
              </a:lnSpc>
            </a:pPr>
            <a:r>
              <a:rPr sz="1071" b="1" i="0">
                <a:solidFill>
                  <a:srgbClr val="7A7A7A"/>
                </a:solidFill>
                <a:latin typeface="Versos"/>
              </a:rPr>
              <a:t>Coobrigação do cedente/Avais</a:t>
            </a:r>
          </a:p>
        </p:txBody>
      </p:sp>
      <p:sp>
        <p:nvSpPr>
          <p:cNvPr id="41" name="TextBox 40"/>
          <p:cNvSpPr txBox="1"/>
          <p:nvPr/>
        </p:nvSpPr>
        <p:spPr>
          <a:xfrm>
            <a:off x="400680" y="498345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42" name="TextBox 41"/>
          <p:cNvSpPr txBox="1"/>
          <p:nvPr/>
        </p:nvSpPr>
        <p:spPr>
          <a:xfrm>
            <a:off x="551880" y="5476275"/>
            <a:ext cx="2044224" cy="151200"/>
          </a:xfrm>
          <a:prstGeom prst="rect">
            <a:avLst/>
          </a:prstGeom>
          <a:noFill/>
        </p:spPr>
        <p:txBody>
          <a:bodyPr wrap="none" lIns="0" rIns="0" tIns="0" bIns="0" anchor="t"/>
          <a:lstStyle/>
          <a:p>
            <a:pPr algn="l">
              <a:lnSpc>
                <a:spcPts val="1178"/>
              </a:lnSpc>
            </a:pPr>
            <a:r>
              <a:rPr sz="982" b="1" i="0">
                <a:solidFill>
                  <a:srgbClr val="FFFFFF"/>
                </a:solidFill>
                <a:latin typeface="Versos"/>
              </a:rPr>
              <a:t>Rentabilidade</a:t>
            </a:r>
          </a:p>
        </p:txBody>
      </p:sp>
      <p:sp>
        <p:nvSpPr>
          <p:cNvPr id="43" name="TextBox 42"/>
          <p:cNvSpPr txBox="1"/>
          <p:nvPr/>
        </p:nvSpPr>
        <p:spPr>
          <a:xfrm>
            <a:off x="551880" y="5793795"/>
            <a:ext cx="896313" cy="136080"/>
          </a:xfrm>
          <a:prstGeom prst="rect">
            <a:avLst/>
          </a:prstGeom>
          <a:noFill/>
        </p:spPr>
        <p:txBody>
          <a:bodyPr wrap="none" lIns="0" rIns="0" tIns="0" bIns="0" anchor="t"/>
          <a:lstStyle/>
          <a:p>
            <a:pPr algn="l">
              <a:lnSpc>
                <a:spcPts val="1035"/>
              </a:lnSpc>
            </a:pPr>
            <a:r>
              <a:rPr sz="863" b="0" i="0">
                <a:solidFill>
                  <a:srgbClr val="FFFFFF"/>
                </a:solidFill>
                <a:latin typeface="Versos"/>
              </a:rPr>
              <a:t>Desde o início</a:t>
            </a:r>
          </a:p>
        </p:txBody>
      </p:sp>
      <p:sp>
        <p:nvSpPr>
          <p:cNvPr id="44" name="TextBox 43"/>
          <p:cNvSpPr txBox="1"/>
          <p:nvPr/>
        </p:nvSpPr>
        <p:spPr>
          <a:xfrm>
            <a:off x="551880" y="5975235"/>
            <a:ext cx="896313"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5" name="TextBox 44"/>
          <p:cNvSpPr txBox="1"/>
          <p:nvPr/>
        </p:nvSpPr>
        <p:spPr>
          <a:xfrm>
            <a:off x="551880" y="6111315"/>
            <a:ext cx="896313" cy="204120"/>
          </a:xfrm>
          <a:prstGeom prst="rect">
            <a:avLst/>
          </a:prstGeom>
          <a:noFill/>
        </p:spPr>
        <p:txBody>
          <a:bodyPr wrap="none" lIns="0" rIns="0" tIns="0" bIns="0" anchor="t"/>
          <a:lstStyle/>
          <a:p>
            <a:pPr algn="l">
              <a:lnSpc>
                <a:spcPts val="1440"/>
              </a:lnSpc>
            </a:pPr>
            <a:r>
              <a:rPr sz="1309" b="1" i="0">
                <a:solidFill>
                  <a:srgbClr val="FFFFFF"/>
                </a:solidFill>
                <a:latin typeface="Versos"/>
              </a:rPr>
              <a:t>1,36%</a:t>
            </a:r>
          </a:p>
        </p:txBody>
      </p:sp>
      <p:sp>
        <p:nvSpPr>
          <p:cNvPr id="46" name="TextBox 45"/>
          <p:cNvSpPr txBox="1"/>
          <p:nvPr/>
        </p:nvSpPr>
        <p:spPr>
          <a:xfrm>
            <a:off x="16632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Mês</a:t>
            </a:r>
          </a:p>
        </p:txBody>
      </p:sp>
      <p:sp>
        <p:nvSpPr>
          <p:cNvPr id="47" name="TextBox 46"/>
          <p:cNvSpPr txBox="1"/>
          <p:nvPr/>
        </p:nvSpPr>
        <p:spPr>
          <a:xfrm>
            <a:off x="16632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8" name="TextBox 47"/>
          <p:cNvSpPr txBox="1"/>
          <p:nvPr/>
        </p:nvSpPr>
        <p:spPr>
          <a:xfrm>
            <a:off x="16632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−4,38%</a:t>
            </a:r>
          </a:p>
        </p:txBody>
      </p:sp>
      <p:sp>
        <p:nvSpPr>
          <p:cNvPr id="49" name="TextBox 48"/>
          <p:cNvSpPr txBox="1"/>
          <p:nvPr/>
        </p:nvSpPr>
        <p:spPr>
          <a:xfrm>
            <a:off x="2804641" y="6498292"/>
            <a:ext cx="645085"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50" name="TextBox 49"/>
          <p:cNvSpPr txBox="1"/>
          <p:nvPr/>
        </p:nvSpPr>
        <p:spPr>
          <a:xfrm>
            <a:off x="4513556" y="6498292"/>
            <a:ext cx="251473"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51" name="TextBox 5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111111"/>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289735" y="37422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 qualificado</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11/11/2025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R$ 26.829.258,71</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6" name="TextBox 15"/>
          <p:cNvSpPr txBox="1"/>
          <p:nvPr/>
        </p:nvSpPr>
        <p:spPr>
          <a:xfrm>
            <a:off x="3878280" y="1883857"/>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15% do retorno que exceder CDI+0,65%</a:t>
            </a:r>
          </a:p>
        </p:txBody>
      </p:sp>
      <p:sp>
        <p:nvSpPr>
          <p:cNvPr id="17" name="TextBox 16"/>
          <p:cNvSpPr txBox="1"/>
          <p:nvPr/>
        </p:nvSpPr>
        <p:spPr>
          <a:xfrm>
            <a:off x="3878280" y="23857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8" name="TextBox 17"/>
          <p:cNvSpPr txBox="1"/>
          <p:nvPr/>
        </p:nvSpPr>
        <p:spPr>
          <a:xfrm>
            <a:off x="3878280" y="2574770"/>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D+1</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D+50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(12M)</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R$ 18.304.046,83</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Disclaimer</a:t>
            </a:r>
          </a:p>
        </p:txBody>
      </p:sp>
      <p:sp>
        <p:nvSpPr>
          <p:cNvPr id="22" name="TextBox 21"/>
          <p:cNvSpPr txBox="1"/>
          <p:nvPr/>
        </p:nvSpPr>
        <p:spPr>
          <a:xfrm>
            <a:off x="400680" y="6471360"/>
            <a:ext cx="6758640" cy="593814"/>
          </a:xfrm>
          <a:prstGeom prst="rect">
            <a:avLst/>
          </a:prstGeom>
          <a:noFill/>
        </p:spPr>
        <p:txBody>
          <a:bodyPr wrap="square" lIns="0" rIns="0" tIns="0" bIns="0" anchor="t"/>
          <a:lstStyle/>
          <a:p>
            <a:pPr algn="just">
              <a:lnSpc>
                <a:spcPts val="780"/>
              </a:lnSpc>
            </a:pPr>
            <a:r>
              <a:rPr sz="639" b="0" i="0">
                <a:solidFill>
                  <a:srgbClr val="E9E9E9"/>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p:txBody>
      </p:sp>
      <p:sp>
        <p:nvSpPr>
          <p:cNvPr id="23" name="TextBox 22"/>
          <p:cNvSpPr txBox="1"/>
          <p:nvPr/>
        </p:nvSpPr>
        <p:spPr>
          <a:xfrm>
            <a:off x="400680" y="7094351"/>
            <a:ext cx="6758640" cy="891135"/>
          </a:xfrm>
          <a:prstGeom prst="rect">
            <a:avLst/>
          </a:prstGeom>
          <a:noFill/>
        </p:spPr>
        <p:txBody>
          <a:bodyPr wrap="square" lIns="0" rIns="0" tIns="0" bIns="0" anchor="t"/>
          <a:lstStyle/>
          <a:p>
            <a:pPr algn="just">
              <a:lnSpc>
                <a:spcPts val="780"/>
              </a:lnSpc>
            </a:pPr>
            <a:r>
              <a:rPr sz="639" b="0" i="0">
                <a:solidFill>
                  <a:srgbClr val="E9E9E9"/>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p:txBody>
      </p:sp>
      <p:sp>
        <p:nvSpPr>
          <p:cNvPr id="24" name="TextBox 23"/>
          <p:cNvSpPr txBox="1"/>
          <p:nvPr/>
        </p:nvSpPr>
        <p:spPr>
          <a:xfrm>
            <a:off x="400680" y="8014663"/>
            <a:ext cx="6758640" cy="494707"/>
          </a:xfrm>
          <a:prstGeom prst="rect">
            <a:avLst/>
          </a:prstGeom>
          <a:noFill/>
        </p:spPr>
        <p:txBody>
          <a:bodyPr wrap="square" lIns="0" rIns="0" tIns="0" bIns="0" anchor="t"/>
          <a:lstStyle/>
          <a:p>
            <a:pPr algn="just">
              <a:lnSpc>
                <a:spcPts val="780"/>
              </a:lnSpc>
            </a:pPr>
            <a:r>
              <a:rPr sz="639" b="0" i="0">
                <a:solidFill>
                  <a:srgbClr val="E9E9E9"/>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p:txBody>
      </p:sp>
      <p:sp>
        <p:nvSpPr>
          <p:cNvPr id="25" name="TextBox 24"/>
          <p:cNvSpPr txBox="1"/>
          <p:nvPr/>
        </p:nvSpPr>
        <p:spPr>
          <a:xfrm>
            <a:off x="400680" y="8538547"/>
            <a:ext cx="6758640" cy="395600"/>
          </a:xfrm>
          <a:prstGeom prst="rect">
            <a:avLst/>
          </a:prstGeom>
          <a:noFill/>
        </p:spPr>
        <p:txBody>
          <a:bodyPr wrap="square" lIns="0" rIns="0" tIns="0" bIns="0" anchor="t"/>
          <a:lstStyle/>
          <a:p>
            <a:pPr algn="just">
              <a:lnSpc>
                <a:spcPts val="780"/>
              </a:lnSpc>
            </a:pPr>
            <a:r>
              <a:rPr sz="639" b="0" i="0">
                <a:solidFill>
                  <a:srgbClr val="E9E9E9"/>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26" name="TextBox 25"/>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7" name="TextBox 26"/>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28" name="TextBox 27"/>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29" name="TextBox 28"/>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0" name="TextBox 29"/>
          <p:cNvSpPr txBox="1"/>
          <p:nvPr/>
        </p:nvSpPr>
        <p:spPr>
          <a:xfrm>
            <a:off x="4528440" y="10020071"/>
            <a:ext cx="500613"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1" name="TextBox 30"/>
          <p:cNvSpPr txBox="1"/>
          <p:nvPr/>
        </p:nvSpPr>
        <p:spPr>
          <a:xfrm>
            <a:off x="4528440" y="10110791"/>
            <a:ext cx="500613" cy="166320"/>
          </a:xfrm>
          <a:prstGeom prst="rect">
            <a:avLst/>
          </a:prstGeom>
          <a:noFill/>
        </p:spPr>
        <p:txBody>
          <a:bodyPr wrap="none" lIns="0" rIns="0" tIns="0" bIns="0" anchor="t"/>
          <a:lstStyle/>
          <a:p>
            <a:pPr algn="l">
              <a:lnSpc>
                <a:spcPts val="1285"/>
              </a:lnSpc>
            </a:pPr>
            <a:r>
              <a:rPr sz="1071" b="1" i="0">
                <a:solidFill>
                  <a:srgbClr val="FFFFFF"/>
                </a:solidFill>
                <a:latin typeface="Versos"/>
              </a:rPr>
              <a:t>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