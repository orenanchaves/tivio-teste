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29"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12997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61381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7097658"/>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581498"/>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943361"/>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923607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9528789"/>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821503"/>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6542825"/>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Financeiro</a:t>
            </a:r>
          </a:p>
        </p:txBody>
      </p:sp>
      <p:sp>
        <p:nvSpPr>
          <p:cNvPr id="66" name="TextBox 65"/>
          <p:cNvSpPr txBox="1"/>
          <p:nvPr/>
        </p:nvSpPr>
        <p:spPr>
          <a:xfrm>
            <a:off x="6752497" y="6533730"/>
            <a:ext cx="524569" cy="166320"/>
          </a:xfrm>
          <a:prstGeom prst="rect">
            <a:avLst/>
          </a:prstGeom>
          <a:noFill/>
        </p:spPr>
        <p:txBody>
          <a:bodyPr wrap="none" lIns="0" rIns="0" tIns="0" bIns="0" anchor="t"/>
          <a:lstStyle/>
          <a:p>
            <a:pPr algn="l">
              <a:lnSpc>
                <a:spcPts val="1285"/>
              </a:lnSpc>
            </a:pPr>
            <a:r>
              <a:rPr sz="1071" b="0" i="0">
                <a:solidFill>
                  <a:srgbClr val="5A82A0"/>
                </a:solidFill>
                <a:latin typeface="Versos"/>
              </a:rPr>
              <a:t>75,69%</a:t>
            </a:r>
          </a:p>
        </p:txBody>
      </p:sp>
      <p:sp>
        <p:nvSpPr>
          <p:cNvPr id="67" name="TextBox 66"/>
          <p:cNvSpPr txBox="1"/>
          <p:nvPr/>
        </p:nvSpPr>
        <p:spPr>
          <a:xfrm>
            <a:off x="3802680" y="8824646"/>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Caixa</a:t>
            </a:r>
          </a:p>
        </p:txBody>
      </p:sp>
      <p:sp>
        <p:nvSpPr>
          <p:cNvPr id="68" name="TextBox 67"/>
          <p:cNvSpPr txBox="1"/>
          <p:nvPr/>
        </p:nvSpPr>
        <p:spPr>
          <a:xfrm>
            <a:off x="5892075" y="8815550"/>
            <a:ext cx="475675" cy="166320"/>
          </a:xfrm>
          <a:prstGeom prst="rect">
            <a:avLst/>
          </a:prstGeom>
          <a:noFill/>
        </p:spPr>
        <p:txBody>
          <a:bodyPr wrap="none" lIns="0" rIns="0" tIns="0" bIns="0" anchor="t"/>
          <a:lstStyle/>
          <a:p>
            <a:pPr algn="l">
              <a:lnSpc>
                <a:spcPts val="1285"/>
              </a:lnSpc>
            </a:pPr>
            <a:r>
              <a:rPr sz="1071" b="0" i="0">
                <a:solidFill>
                  <a:srgbClr val="5A82A0"/>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