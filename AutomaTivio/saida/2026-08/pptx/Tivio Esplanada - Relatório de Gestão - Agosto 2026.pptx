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ESPLANADA </a:t>
            </a:r>
            <a:r>
              <a:rPr sz="833" b="0" i="0">
                <a:solidFill>
                  <a:srgbClr val="FFFFFF"/>
                </a:solidFill>
                <a:latin typeface="Versos"/>
              </a:rPr>
              <a:t>/ CNPJ 54.853.793/0001-10</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6,11%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20,15%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22,20%</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0" i="0">
                <a:solidFill>
                  <a:srgbClr val="444444"/>
                </a:solidFill>
                <a:latin typeface="Versos"/>
              </a:rPr>
              <a:t>31/08/2026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549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5301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4,28%</a:t>
            </a:r>
          </a:p>
        </p:txBody>
      </p:sp>
      <p:sp>
        <p:nvSpPr>
          <p:cNvPr id="38" name="TextBox 37"/>
          <p:cNvSpPr txBox="1"/>
          <p:nvPr/>
        </p:nvSpPr>
        <p:spPr>
          <a:xfrm>
            <a:off x="400680" y="5738748"/>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39" name="TextBox 38"/>
          <p:cNvSpPr txBox="1"/>
          <p:nvPr/>
        </p:nvSpPr>
        <p:spPr>
          <a:xfrm>
            <a:off x="2638440" y="5736858"/>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2225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1" name="TextBox 40"/>
          <p:cNvSpPr txBox="1"/>
          <p:nvPr/>
        </p:nvSpPr>
        <p:spPr>
          <a:xfrm>
            <a:off x="2559296" y="6220698"/>
            <a:ext cx="367690" cy="143640"/>
          </a:xfrm>
          <a:prstGeom prst="rect">
            <a:avLst/>
          </a:prstGeom>
          <a:noFill/>
        </p:spPr>
        <p:txBody>
          <a:bodyPr wrap="none" lIns="0" rIns="0" tIns="0" bIns="0" anchor="t"/>
          <a:lstStyle/>
          <a:p>
            <a:pPr algn="l">
              <a:lnSpc>
                <a:spcPts val="1107"/>
              </a:lnSpc>
            </a:pPr>
            <a:r>
              <a:rPr sz="922" b="0" i="0">
                <a:solidFill>
                  <a:srgbClr val="5A82A0"/>
                </a:solidFill>
                <a:latin typeface="Versos"/>
              </a:rPr>
              <a:t>3,57%</a:t>
            </a:r>
          </a:p>
        </p:txBody>
      </p:sp>
      <p:sp>
        <p:nvSpPr>
          <p:cNvPr id="42" name="TextBox 41"/>
          <p:cNvSpPr txBox="1"/>
          <p:nvPr/>
        </p:nvSpPr>
        <p:spPr>
          <a:xfrm>
            <a:off x="400680" y="67064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3" name="TextBox 42"/>
          <p:cNvSpPr txBox="1"/>
          <p:nvPr/>
        </p:nvSpPr>
        <p:spPr>
          <a:xfrm>
            <a:off x="2542168" y="6704538"/>
            <a:ext cx="378132" cy="143640"/>
          </a:xfrm>
          <a:prstGeom prst="rect">
            <a:avLst/>
          </a:prstGeom>
          <a:noFill/>
        </p:spPr>
        <p:txBody>
          <a:bodyPr wrap="none" lIns="0" rIns="0" tIns="0" bIns="0" anchor="t"/>
          <a:lstStyle/>
          <a:p>
            <a:pPr algn="l">
              <a:lnSpc>
                <a:spcPts val="1107"/>
              </a:lnSpc>
            </a:pPr>
            <a:r>
              <a:rPr sz="922" b="0" i="0">
                <a:solidFill>
                  <a:srgbClr val="5A82A0"/>
                </a:solidFill>
                <a:latin typeface="Versos"/>
              </a:rPr>
              <a:t>3,52%</a:t>
            </a:r>
          </a:p>
        </p:txBody>
      </p:sp>
      <p:sp>
        <p:nvSpPr>
          <p:cNvPr id="44" name="TextBox 43"/>
          <p:cNvSpPr txBox="1"/>
          <p:nvPr/>
        </p:nvSpPr>
        <p:spPr>
          <a:xfrm>
            <a:off x="400680" y="71902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496926" y="7188378"/>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6" name="TextBox 45"/>
          <p:cNvSpPr txBox="1"/>
          <p:nvPr/>
        </p:nvSpPr>
        <p:spPr>
          <a:xfrm>
            <a:off x="400680" y="785968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28446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282570"/>
            <a:ext cx="443488" cy="143640"/>
          </a:xfrm>
          <a:prstGeom prst="rect">
            <a:avLst/>
          </a:prstGeom>
          <a:noFill/>
        </p:spPr>
        <p:txBody>
          <a:bodyPr wrap="none" lIns="0" rIns="0" tIns="0" bIns="0" anchor="t"/>
          <a:lstStyle/>
          <a:p>
            <a:pPr algn="l">
              <a:lnSpc>
                <a:spcPts val="1142"/>
              </a:lnSpc>
            </a:pPr>
            <a:r>
              <a:rPr sz="952" b="0" i="0">
                <a:solidFill>
                  <a:srgbClr val="111111"/>
                </a:solidFill>
                <a:latin typeface="Versos"/>
              </a:rPr>
              <a:t>37,79%</a:t>
            </a:r>
          </a:p>
        </p:txBody>
      </p:sp>
      <p:sp>
        <p:nvSpPr>
          <p:cNvPr id="49" name="TextBox 48"/>
          <p:cNvSpPr txBox="1"/>
          <p:nvPr/>
        </p:nvSpPr>
        <p:spPr>
          <a:xfrm>
            <a:off x="400680" y="85908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968553" y="8588986"/>
            <a:ext cx="433291" cy="143640"/>
          </a:xfrm>
          <a:prstGeom prst="rect">
            <a:avLst/>
          </a:prstGeom>
          <a:noFill/>
        </p:spPr>
        <p:txBody>
          <a:bodyPr wrap="none" lIns="0" rIns="0" tIns="0" bIns="0" anchor="t"/>
          <a:lstStyle/>
          <a:p>
            <a:pPr algn="l">
              <a:lnSpc>
                <a:spcPts val="1142"/>
              </a:lnSpc>
            </a:pPr>
            <a:r>
              <a:rPr sz="952" b="0" i="0">
                <a:solidFill>
                  <a:srgbClr val="111111"/>
                </a:solidFill>
                <a:latin typeface="Versos"/>
              </a:rPr>
              <a:t>18,24%</a:t>
            </a:r>
          </a:p>
        </p:txBody>
      </p:sp>
      <p:sp>
        <p:nvSpPr>
          <p:cNvPr id="51" name="TextBox 50"/>
          <p:cNvSpPr txBox="1"/>
          <p:nvPr/>
        </p:nvSpPr>
        <p:spPr>
          <a:xfrm>
            <a:off x="400680" y="88972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76695" y="8895403"/>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53" name="TextBox 52"/>
          <p:cNvSpPr txBox="1"/>
          <p:nvPr/>
        </p:nvSpPr>
        <p:spPr>
          <a:xfrm>
            <a:off x="400680" y="920370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74214" y="9201819"/>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55" name="TextBox 54"/>
          <p:cNvSpPr txBox="1"/>
          <p:nvPr/>
        </p:nvSpPr>
        <p:spPr>
          <a:xfrm>
            <a:off x="400680" y="951012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215978" y="9508235"/>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3,41%</a:t>
            </a:r>
          </a:p>
        </p:txBody>
      </p:sp>
      <p:sp>
        <p:nvSpPr>
          <p:cNvPr id="57" name="TextBox 56"/>
          <p:cNvSpPr txBox="1"/>
          <p:nvPr/>
        </p:nvSpPr>
        <p:spPr>
          <a:xfrm>
            <a:off x="400680" y="981654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36953" y="9814651"/>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53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45458"/>
            <a:ext cx="438205" cy="143640"/>
          </a:xfrm>
          <a:prstGeom prst="rect">
            <a:avLst/>
          </a:prstGeom>
          <a:noFill/>
        </p:spPr>
        <p:txBody>
          <a:bodyPr wrap="none" lIns="0" rIns="0" tIns="0" bIns="0" anchor="t"/>
          <a:lstStyle/>
          <a:p>
            <a:pPr algn="l">
              <a:lnSpc>
                <a:spcPts val="1142"/>
              </a:lnSpc>
            </a:pPr>
            <a:r>
              <a:rPr sz="952" b="0" i="0">
                <a:solidFill>
                  <a:srgbClr val="111111"/>
                </a:solidFill>
                <a:latin typeface="Versos"/>
              </a:rPr>
              <a:t>36,81%</a:t>
            </a:r>
          </a:p>
        </p:txBody>
      </p:sp>
      <p:sp>
        <p:nvSpPr>
          <p:cNvPr id="62" name="TextBox 61"/>
          <p:cNvSpPr txBox="1"/>
          <p:nvPr/>
        </p:nvSpPr>
        <p:spPr>
          <a:xfrm>
            <a:off x="3802680" y="57218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401075" y="5714178"/>
            <a:ext cx="470515" cy="143640"/>
          </a:xfrm>
          <a:prstGeom prst="rect">
            <a:avLst/>
          </a:prstGeom>
          <a:noFill/>
        </p:spPr>
        <p:txBody>
          <a:bodyPr wrap="none" lIns="0" rIns="0" tIns="0" bIns="0" anchor="t"/>
          <a:lstStyle/>
          <a:p>
            <a:pPr algn="l">
              <a:lnSpc>
                <a:spcPts val="1142"/>
              </a:lnSpc>
            </a:pPr>
            <a:r>
              <a:rPr sz="952" b="0" i="0">
                <a:solidFill>
                  <a:srgbClr val="111111"/>
                </a:solidFill>
                <a:latin typeface="Versos"/>
              </a:rPr>
              <a:t>26,58%</a:t>
            </a:r>
          </a:p>
        </p:txBody>
      </p:sp>
      <p:sp>
        <p:nvSpPr>
          <p:cNvPr id="64" name="TextBox 63"/>
          <p:cNvSpPr txBox="1"/>
          <p:nvPr/>
        </p:nvSpPr>
        <p:spPr>
          <a:xfrm>
            <a:off x="3802680" y="6190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6018468" y="61828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15,43%</a:t>
            </a:r>
          </a:p>
        </p:txBody>
      </p:sp>
      <p:sp>
        <p:nvSpPr>
          <p:cNvPr id="66" name="TextBox 65"/>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816711" y="6651618"/>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9,56%</a:t>
            </a:r>
          </a:p>
        </p:txBody>
      </p:sp>
      <p:sp>
        <p:nvSpPr>
          <p:cNvPr id="68" name="TextBox 67"/>
          <p:cNvSpPr txBox="1"/>
          <p:nvPr/>
        </p:nvSpPr>
        <p:spPr>
          <a:xfrm>
            <a:off x="3802680" y="7128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43185" y="7120338"/>
            <a:ext cx="400245" cy="143640"/>
          </a:xfrm>
          <a:prstGeom prst="rect">
            <a:avLst/>
          </a:prstGeom>
          <a:noFill/>
        </p:spPr>
        <p:txBody>
          <a:bodyPr wrap="none" lIns="0" rIns="0" tIns="0" bIns="0" anchor="t"/>
          <a:lstStyle/>
          <a:p>
            <a:pPr algn="l">
              <a:lnSpc>
                <a:spcPts val="1142"/>
              </a:lnSpc>
            </a:pPr>
            <a:r>
              <a:rPr sz="952" b="0" i="0">
                <a:solidFill>
                  <a:srgbClr val="111111"/>
                </a:solidFill>
                <a:latin typeface="Versos"/>
              </a:rPr>
              <a:t>4,50%</a:t>
            </a:r>
          </a:p>
        </p:txBody>
      </p:sp>
      <p:sp>
        <p:nvSpPr>
          <p:cNvPr id="70" name="TextBox 69"/>
          <p:cNvSpPr txBox="1"/>
          <p:nvPr/>
        </p:nvSpPr>
        <p:spPr>
          <a:xfrm>
            <a:off x="3802680" y="75967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71" name="TextBox 70"/>
          <p:cNvSpPr txBox="1"/>
          <p:nvPr/>
        </p:nvSpPr>
        <p:spPr>
          <a:xfrm>
            <a:off x="5642358" y="7589058"/>
            <a:ext cx="402948" cy="143640"/>
          </a:xfrm>
          <a:prstGeom prst="rect">
            <a:avLst/>
          </a:prstGeom>
          <a:noFill/>
        </p:spPr>
        <p:txBody>
          <a:bodyPr wrap="none" lIns="0" rIns="0" tIns="0" bIns="0" anchor="t"/>
          <a:lstStyle/>
          <a:p>
            <a:pPr algn="l">
              <a:lnSpc>
                <a:spcPts val="1142"/>
              </a:lnSpc>
            </a:pPr>
            <a:r>
              <a:rPr sz="952" b="0" i="0">
                <a:solidFill>
                  <a:srgbClr val="111111"/>
                </a:solidFill>
                <a:latin typeface="Versos"/>
              </a:rPr>
              <a:t>4,48%</a:t>
            </a:r>
          </a:p>
        </p:txBody>
      </p:sp>
      <p:sp>
        <p:nvSpPr>
          <p:cNvPr id="72" name="TextBox 71"/>
          <p:cNvSpPr txBox="1"/>
          <p:nvPr/>
        </p:nvSpPr>
        <p:spPr>
          <a:xfrm>
            <a:off x="3802680" y="80654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3" name="TextBox 72"/>
          <p:cNvSpPr txBox="1"/>
          <p:nvPr/>
        </p:nvSpPr>
        <p:spPr>
          <a:xfrm>
            <a:off x="5535455" y="8057778"/>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1,37%</a:t>
            </a:r>
          </a:p>
        </p:txBody>
      </p:sp>
      <p:sp>
        <p:nvSpPr>
          <p:cNvPr id="74" name="TextBox 73"/>
          <p:cNvSpPr txBox="1"/>
          <p:nvPr/>
        </p:nvSpPr>
        <p:spPr>
          <a:xfrm>
            <a:off x="3802680" y="8534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4038" y="8526498"/>
            <a:ext cx="358967" cy="143640"/>
          </a:xfrm>
          <a:prstGeom prst="rect">
            <a:avLst/>
          </a:prstGeom>
          <a:noFill/>
        </p:spPr>
        <p:txBody>
          <a:bodyPr wrap="none" lIns="0" rIns="0" tIns="0" bIns="0" anchor="t"/>
          <a:lstStyle/>
          <a:p>
            <a:pPr algn="l">
              <a:lnSpc>
                <a:spcPts val="1142"/>
              </a:lnSpc>
            </a:pPr>
            <a:r>
              <a:rPr sz="952" b="0" i="0">
                <a:solidFill>
                  <a:srgbClr val="111111"/>
                </a:solidFill>
                <a:latin typeface="Versos"/>
              </a:rPr>
              <a:t>1,32%</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548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760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760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760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417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79630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79630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79630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286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7499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7499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7499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5156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5369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5369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5369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3025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3238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3238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3238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08952"/>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1107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1107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1107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68764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68977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68977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68977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6634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6846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6846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6846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4503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4716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4716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4716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2373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2585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2585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2585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0289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0502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0502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0502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R$ 118.588.714,20</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R$ 123.362.395,32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71360"/>
            <a:ext cx="6758640" cy="593814"/>
          </a:xfrm>
          <a:prstGeom prst="rect">
            <a:avLst/>
          </a:prstGeom>
          <a:noFill/>
        </p:spPr>
        <p:txBody>
          <a:bodyPr wrap="square" lIns="0" rIns="0" tIns="0" bIns="0" anchor="t"/>
          <a:lstStyle/>
          <a:p>
            <a:pPr algn="just">
              <a:lnSpc>
                <a:spcPts val="780"/>
              </a:lnSpc>
            </a:pPr>
            <a:r>
              <a:rPr sz="639"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3" name="TextBox 22"/>
          <p:cNvSpPr txBox="1"/>
          <p:nvPr/>
        </p:nvSpPr>
        <p:spPr>
          <a:xfrm>
            <a:off x="400680" y="7094351"/>
            <a:ext cx="6758640" cy="891135"/>
          </a:xfrm>
          <a:prstGeom prst="rect">
            <a:avLst/>
          </a:prstGeom>
          <a:noFill/>
        </p:spPr>
        <p:txBody>
          <a:bodyPr wrap="square" lIns="0" rIns="0" tIns="0" bIns="0" anchor="t"/>
          <a:lstStyle/>
          <a:p>
            <a:pPr algn="just">
              <a:lnSpc>
                <a:spcPts val="780"/>
              </a:lnSpc>
            </a:pPr>
            <a:r>
              <a:rPr sz="639"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4" name="TextBox 23"/>
          <p:cNvSpPr txBox="1"/>
          <p:nvPr/>
        </p:nvSpPr>
        <p:spPr>
          <a:xfrm>
            <a:off x="400680" y="8014663"/>
            <a:ext cx="6758640" cy="494707"/>
          </a:xfrm>
          <a:prstGeom prst="rect">
            <a:avLst/>
          </a:prstGeom>
          <a:noFill/>
        </p:spPr>
        <p:txBody>
          <a:bodyPr wrap="square" lIns="0" rIns="0" tIns="0" bIns="0" anchor="t"/>
          <a:lstStyle/>
          <a:p>
            <a:pPr algn="just">
              <a:lnSpc>
                <a:spcPts val="780"/>
              </a:lnSpc>
            </a:pPr>
            <a:r>
              <a:rPr sz="639"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5" name="TextBox 24"/>
          <p:cNvSpPr txBox="1"/>
          <p:nvPr/>
        </p:nvSpPr>
        <p:spPr>
          <a:xfrm>
            <a:off x="400680" y="8538547"/>
            <a:ext cx="6758640" cy="395600"/>
          </a:xfrm>
          <a:prstGeom prst="rect">
            <a:avLst/>
          </a:prstGeom>
          <a:noFill/>
        </p:spPr>
        <p:txBody>
          <a:bodyPr wrap="square" lIns="0" rIns="0" tIns="0" bIns="0" anchor="t"/>
          <a:lstStyle/>
          <a:p>
            <a:pPr algn="just">
              <a:lnSpc>
                <a:spcPts val="780"/>
              </a:lnSpc>
            </a:pPr>
            <a:r>
              <a:rPr sz="639"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6" name="TextBox 25"/>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7" name="TextBox 26"/>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8" name="TextBox 27"/>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29" name="TextBox 28"/>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0" name="TextBox 29"/>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1" name="TextBox 30"/>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