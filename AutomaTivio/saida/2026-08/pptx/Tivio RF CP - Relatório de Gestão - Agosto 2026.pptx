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192"/>
              </a:lnSpc>
            </a:pPr>
            <a:r>
              <a:rPr sz="994" b="0" i="0">
                <a:solidFill>
                  <a:srgbClr val="FFFFFF"/>
                </a:solidFill>
                <a:latin typeface="Versos"/>
              </a:rPr>
              <a:t>RF CP - TIVIO FI FINANCEIRO - CI RF CRED PRIV - RL </a:t>
            </a:r>
            <a:r>
              <a:rPr sz="815" b="0" i="0">
                <a:solidFill>
                  <a:srgbClr val="FFFFFF"/>
                </a:solidFill>
                <a:latin typeface="Versos"/>
              </a:rPr>
              <a:t>/ CNPJ 14.491.665/0001-50</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1,12%</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8,59%</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13,99%</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28,43%</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46,57%</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154,64%</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155,05%</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−0,74%</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−0,58%</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2,40%</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−0,41%</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92%</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01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ITAU</a:t>
            </a:r>
          </a:p>
        </p:txBody>
      </p:sp>
      <p:sp>
        <p:nvSpPr>
          <p:cNvPr id="44" name="TextBox 43"/>
          <p:cNvSpPr txBox="1"/>
          <p:nvPr/>
        </p:nvSpPr>
        <p:spPr>
          <a:xfrm>
            <a:off x="2831928" y="5638224"/>
            <a:ext cx="383292" cy="143640"/>
          </a:xfrm>
          <a:prstGeom prst="rect">
            <a:avLst/>
          </a:prstGeom>
          <a:noFill/>
        </p:spPr>
        <p:txBody>
          <a:bodyPr wrap="none" lIns="0" rIns="0" tIns="0" bIns="0" anchor="t"/>
          <a:lstStyle/>
          <a:p>
            <a:pPr algn="l">
              <a:lnSpc>
                <a:spcPts val="1107"/>
              </a:lnSpc>
            </a:pPr>
            <a:r>
              <a:rPr sz="922" b="0" i="0">
                <a:solidFill>
                  <a:srgbClr val="5A82A0"/>
                </a:solidFill>
                <a:latin typeface="Versos"/>
              </a:rPr>
              <a:t>3,98%</a:t>
            </a:r>
          </a:p>
        </p:txBody>
      </p:sp>
      <p:sp>
        <p:nvSpPr>
          <p:cNvPr id="45" name="TextBox 44"/>
          <p:cNvSpPr txBox="1"/>
          <p:nvPr/>
        </p:nvSpPr>
        <p:spPr>
          <a:xfrm>
            <a:off x="400680" y="6108125"/>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46" name="TextBox 45"/>
          <p:cNvSpPr txBox="1"/>
          <p:nvPr/>
        </p:nvSpPr>
        <p:spPr>
          <a:xfrm>
            <a:off x="2320329" y="6106235"/>
            <a:ext cx="356879" cy="143640"/>
          </a:xfrm>
          <a:prstGeom prst="rect">
            <a:avLst/>
          </a:prstGeom>
          <a:noFill/>
        </p:spPr>
        <p:txBody>
          <a:bodyPr wrap="none" lIns="0" rIns="0" tIns="0" bIns="0" anchor="t"/>
          <a:lstStyle/>
          <a:p>
            <a:pPr algn="l">
              <a:lnSpc>
                <a:spcPts val="1107"/>
              </a:lnSpc>
            </a:pPr>
            <a:r>
              <a:rPr sz="922" b="0" i="0">
                <a:solidFill>
                  <a:srgbClr val="5A82A0"/>
                </a:solidFill>
                <a:latin typeface="Versos"/>
              </a:rPr>
              <a:t>2,74%</a:t>
            </a:r>
          </a:p>
        </p:txBody>
      </p:sp>
      <p:sp>
        <p:nvSpPr>
          <p:cNvPr id="47" name="TextBox 46"/>
          <p:cNvSpPr txBox="1"/>
          <p:nvPr/>
        </p:nvSpPr>
        <p:spPr>
          <a:xfrm>
            <a:off x="400680" y="657625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TOYOTA</a:t>
            </a:r>
          </a:p>
        </p:txBody>
      </p:sp>
      <p:sp>
        <p:nvSpPr>
          <p:cNvPr id="48" name="TextBox 47"/>
          <p:cNvSpPr txBox="1"/>
          <p:nvPr/>
        </p:nvSpPr>
        <p:spPr>
          <a:xfrm>
            <a:off x="1936186" y="6574365"/>
            <a:ext cx="316215" cy="143640"/>
          </a:xfrm>
          <a:prstGeom prst="rect">
            <a:avLst/>
          </a:prstGeom>
          <a:noFill/>
        </p:spPr>
        <p:txBody>
          <a:bodyPr wrap="none" lIns="0" rIns="0" tIns="0" bIns="0" anchor="t"/>
          <a:lstStyle/>
          <a:p>
            <a:pPr algn="l">
              <a:lnSpc>
                <a:spcPts val="1107"/>
              </a:lnSpc>
            </a:pPr>
            <a:r>
              <a:rPr sz="922" b="0" i="0">
                <a:solidFill>
                  <a:srgbClr val="5A82A0"/>
                </a:solidFill>
                <a:latin typeface="Versos"/>
              </a:rPr>
              <a:t>1,81%</a:t>
            </a:r>
          </a:p>
        </p:txBody>
      </p:sp>
      <p:sp>
        <p:nvSpPr>
          <p:cNvPr id="49" name="TextBox 48"/>
          <p:cNvSpPr txBox="1"/>
          <p:nvPr/>
        </p:nvSpPr>
        <p:spPr>
          <a:xfrm>
            <a:off x="400680" y="7044266"/>
            <a:ext cx="785134" cy="136080"/>
          </a:xfrm>
          <a:prstGeom prst="rect">
            <a:avLst/>
          </a:prstGeom>
          <a:noFill/>
        </p:spPr>
        <p:txBody>
          <a:bodyPr wrap="none" lIns="0" rIns="0" tIns="0" bIns="0" anchor="t"/>
          <a:lstStyle/>
          <a:p>
            <a:pPr algn="r">
              <a:lnSpc>
                <a:spcPts val="982"/>
              </a:lnSpc>
            </a:pPr>
            <a:r>
              <a:rPr sz="892" b="0" i="0">
                <a:solidFill>
                  <a:srgbClr val="222222"/>
                </a:solidFill>
                <a:latin typeface="Versos"/>
              </a:rPr>
              <a:t>NEOENERGIA</a:t>
            </a:r>
          </a:p>
        </p:txBody>
      </p:sp>
      <p:sp>
        <p:nvSpPr>
          <p:cNvPr id="50" name="TextBox 49"/>
          <p:cNvSpPr txBox="1"/>
          <p:nvPr/>
        </p:nvSpPr>
        <p:spPr>
          <a:xfrm>
            <a:off x="1866020" y="7042376"/>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1,64%</a:t>
            </a:r>
          </a:p>
        </p:txBody>
      </p:sp>
      <p:sp>
        <p:nvSpPr>
          <p:cNvPr id="51" name="TextBox 50"/>
          <p:cNvSpPr txBox="1"/>
          <p:nvPr/>
        </p:nvSpPr>
        <p:spPr>
          <a:xfrm>
            <a:off x="400680" y="751239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INTER</a:t>
            </a:r>
          </a:p>
        </p:txBody>
      </p:sp>
      <p:sp>
        <p:nvSpPr>
          <p:cNvPr id="52" name="TextBox 51"/>
          <p:cNvSpPr txBox="1"/>
          <p:nvPr/>
        </p:nvSpPr>
        <p:spPr>
          <a:xfrm>
            <a:off x="1863540" y="7510505"/>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1,64%</a:t>
            </a:r>
          </a:p>
        </p:txBody>
      </p:sp>
      <p:sp>
        <p:nvSpPr>
          <p:cNvPr id="53" name="TextBox 52"/>
          <p:cNvSpPr txBox="1"/>
          <p:nvPr/>
        </p:nvSpPr>
        <p:spPr>
          <a:xfrm>
            <a:off x="400680" y="8028129"/>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43896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437078"/>
            <a:ext cx="425061" cy="143640"/>
          </a:xfrm>
          <a:prstGeom prst="rect">
            <a:avLst/>
          </a:prstGeom>
          <a:noFill/>
        </p:spPr>
        <p:txBody>
          <a:bodyPr wrap="none" lIns="0" rIns="0" tIns="0" bIns="0" anchor="t"/>
          <a:lstStyle/>
          <a:p>
            <a:pPr algn="l">
              <a:lnSpc>
                <a:spcPts val="1142"/>
              </a:lnSpc>
            </a:pPr>
            <a:r>
              <a:rPr sz="952" b="0" i="0">
                <a:solidFill>
                  <a:srgbClr val="111111"/>
                </a:solidFill>
                <a:latin typeface="Versos"/>
              </a:rPr>
              <a:t>19,77%</a:t>
            </a:r>
          </a:p>
        </p:txBody>
      </p:sp>
      <p:sp>
        <p:nvSpPr>
          <p:cNvPr id="56" name="TextBox 55"/>
          <p:cNvSpPr txBox="1"/>
          <p:nvPr/>
        </p:nvSpPr>
        <p:spPr>
          <a:xfrm>
            <a:off x="400680" y="871727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15846" y="8715380"/>
            <a:ext cx="392260" cy="143640"/>
          </a:xfrm>
          <a:prstGeom prst="rect">
            <a:avLst/>
          </a:prstGeom>
          <a:noFill/>
        </p:spPr>
        <p:txBody>
          <a:bodyPr wrap="none" lIns="0" rIns="0" tIns="0" bIns="0" anchor="t"/>
          <a:lstStyle/>
          <a:p>
            <a:pPr algn="l">
              <a:lnSpc>
                <a:spcPts val="1142"/>
              </a:lnSpc>
            </a:pPr>
            <a:r>
              <a:rPr sz="952" b="0" i="0">
                <a:solidFill>
                  <a:srgbClr val="111111"/>
                </a:solidFill>
                <a:latin typeface="Versos"/>
              </a:rPr>
              <a:t>3,84%</a:t>
            </a:r>
          </a:p>
        </p:txBody>
      </p:sp>
      <p:sp>
        <p:nvSpPr>
          <p:cNvPr id="58" name="TextBox 57"/>
          <p:cNvSpPr txBox="1"/>
          <p:nvPr/>
        </p:nvSpPr>
        <p:spPr>
          <a:xfrm>
            <a:off x="400680" y="899569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9" name="TextBox 58"/>
          <p:cNvSpPr txBox="1"/>
          <p:nvPr/>
        </p:nvSpPr>
        <p:spPr>
          <a:xfrm>
            <a:off x="1254841" y="8993801"/>
            <a:ext cx="354667" cy="143640"/>
          </a:xfrm>
          <a:prstGeom prst="rect">
            <a:avLst/>
          </a:prstGeom>
          <a:noFill/>
        </p:spPr>
        <p:txBody>
          <a:bodyPr wrap="none" lIns="0" rIns="0" tIns="0" bIns="0" anchor="t"/>
          <a:lstStyle/>
          <a:p>
            <a:pPr algn="l">
              <a:lnSpc>
                <a:spcPts val="1142"/>
              </a:lnSpc>
            </a:pPr>
            <a:r>
              <a:rPr sz="952" b="0" i="0">
                <a:solidFill>
                  <a:srgbClr val="111111"/>
                </a:solidFill>
                <a:latin typeface="Versos"/>
              </a:rPr>
              <a:t>2,18%</a:t>
            </a:r>
          </a:p>
        </p:txBody>
      </p:sp>
      <p:sp>
        <p:nvSpPr>
          <p:cNvPr id="60" name="TextBox 59"/>
          <p:cNvSpPr txBox="1"/>
          <p:nvPr/>
        </p:nvSpPr>
        <p:spPr>
          <a:xfrm>
            <a:off x="400680" y="92739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222003" y="9272103"/>
            <a:ext cx="361179" cy="143640"/>
          </a:xfrm>
          <a:prstGeom prst="rect">
            <a:avLst/>
          </a:prstGeom>
          <a:noFill/>
        </p:spPr>
        <p:txBody>
          <a:bodyPr wrap="none" lIns="0" rIns="0" tIns="0" bIns="0" anchor="t"/>
          <a:lstStyle/>
          <a:p>
            <a:pPr algn="l">
              <a:lnSpc>
                <a:spcPts val="1142"/>
              </a:lnSpc>
            </a:pPr>
            <a:r>
              <a:rPr sz="952" b="0" i="0">
                <a:solidFill>
                  <a:srgbClr val="111111"/>
                </a:solidFill>
                <a:latin typeface="Versos"/>
              </a:rPr>
              <a:t>1,84%</a:t>
            </a:r>
          </a:p>
        </p:txBody>
      </p:sp>
      <p:sp>
        <p:nvSpPr>
          <p:cNvPr id="62" name="TextBox 61"/>
          <p:cNvSpPr txBox="1"/>
          <p:nvPr/>
        </p:nvSpPr>
        <p:spPr>
          <a:xfrm>
            <a:off x="400680" y="955229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72626" y="9550406"/>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64" name="TextBox 63"/>
          <p:cNvSpPr txBox="1"/>
          <p:nvPr/>
        </p:nvSpPr>
        <p:spPr>
          <a:xfrm>
            <a:off x="400680" y="983059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18761" y="9828708"/>
            <a:ext cx="387223" cy="143640"/>
          </a:xfrm>
          <a:prstGeom prst="rect">
            <a:avLst/>
          </a:prstGeom>
          <a:noFill/>
        </p:spPr>
        <p:txBody>
          <a:bodyPr wrap="none" lIns="0" rIns="0" tIns="0" bIns="0" anchor="t"/>
          <a:lstStyle/>
          <a:p>
            <a:pPr algn="l">
              <a:lnSpc>
                <a:spcPts val="1142"/>
              </a:lnSpc>
            </a:pPr>
            <a:r>
              <a:rPr sz="952" b="0" i="0">
                <a:solidFill>
                  <a:srgbClr val="111111"/>
                </a:solidFill>
                <a:latin typeface="Versos"/>
              </a:rPr>
              <a:t>0,78%</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7490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8" name="TextBox 67"/>
          <p:cNvSpPr txBox="1"/>
          <p:nvPr/>
        </p:nvSpPr>
        <p:spPr>
          <a:xfrm>
            <a:off x="6752497" y="5567113"/>
            <a:ext cx="464127" cy="143640"/>
          </a:xfrm>
          <a:prstGeom prst="rect">
            <a:avLst/>
          </a:prstGeom>
          <a:noFill/>
        </p:spPr>
        <p:txBody>
          <a:bodyPr wrap="none" lIns="0" rIns="0" tIns="0" bIns="0" anchor="t"/>
          <a:lstStyle/>
          <a:p>
            <a:pPr algn="l">
              <a:lnSpc>
                <a:spcPts val="1142"/>
              </a:lnSpc>
            </a:pPr>
            <a:r>
              <a:rPr sz="952" b="0" i="0">
                <a:solidFill>
                  <a:srgbClr val="111111"/>
                </a:solidFill>
                <a:latin typeface="Versos"/>
              </a:rPr>
              <a:t>39,07%</a:t>
            </a:r>
          </a:p>
        </p:txBody>
      </p:sp>
      <p:sp>
        <p:nvSpPr>
          <p:cNvPr id="69" name="TextBox 68"/>
          <p:cNvSpPr txBox="1"/>
          <p:nvPr/>
        </p:nvSpPr>
        <p:spPr>
          <a:xfrm>
            <a:off x="3802680" y="59008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5945113" y="5893138"/>
            <a:ext cx="369409" cy="143640"/>
          </a:xfrm>
          <a:prstGeom prst="rect">
            <a:avLst/>
          </a:prstGeom>
          <a:noFill/>
        </p:spPr>
        <p:txBody>
          <a:bodyPr wrap="none" lIns="0" rIns="0" tIns="0" bIns="0" anchor="t"/>
          <a:lstStyle/>
          <a:p>
            <a:pPr algn="l">
              <a:lnSpc>
                <a:spcPts val="1142"/>
              </a:lnSpc>
            </a:pPr>
            <a:r>
              <a:rPr sz="952" b="0" i="0">
                <a:solidFill>
                  <a:srgbClr val="111111"/>
                </a:solidFill>
                <a:latin typeface="Versos"/>
              </a:rPr>
              <a:t>14,11%</a:t>
            </a:r>
          </a:p>
        </p:txBody>
      </p:sp>
      <p:sp>
        <p:nvSpPr>
          <p:cNvPr id="71" name="TextBox 70"/>
          <p:cNvSpPr txBox="1"/>
          <p:nvPr/>
        </p:nvSpPr>
        <p:spPr>
          <a:xfrm>
            <a:off x="3802680" y="62268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74843" y="6219045"/>
            <a:ext cx="383660" cy="143640"/>
          </a:xfrm>
          <a:prstGeom prst="rect">
            <a:avLst/>
          </a:prstGeom>
          <a:noFill/>
        </p:spPr>
        <p:txBody>
          <a:bodyPr wrap="none" lIns="0" rIns="0" tIns="0" bIns="0" anchor="t"/>
          <a:lstStyle/>
          <a:p>
            <a:pPr algn="l">
              <a:lnSpc>
                <a:spcPts val="1142"/>
              </a:lnSpc>
            </a:pPr>
            <a:r>
              <a:rPr sz="952" b="0" i="0">
                <a:solidFill>
                  <a:srgbClr val="111111"/>
                </a:solidFill>
                <a:latin typeface="Versos"/>
              </a:rPr>
              <a:t>5,76%</a:t>
            </a:r>
          </a:p>
        </p:txBody>
      </p:sp>
      <p:sp>
        <p:nvSpPr>
          <p:cNvPr id="73" name="TextBox 72"/>
          <p:cNvSpPr txBox="1"/>
          <p:nvPr/>
        </p:nvSpPr>
        <p:spPr>
          <a:xfrm>
            <a:off x="3802680" y="65527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4" name="TextBox 73"/>
          <p:cNvSpPr txBox="1"/>
          <p:nvPr/>
        </p:nvSpPr>
        <p:spPr>
          <a:xfrm>
            <a:off x="5548213" y="6545070"/>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75" name="TextBox 74"/>
          <p:cNvSpPr txBox="1"/>
          <p:nvPr/>
        </p:nvSpPr>
        <p:spPr>
          <a:xfrm>
            <a:off x="3802680" y="68787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76" name="TextBox 75"/>
          <p:cNvSpPr txBox="1"/>
          <p:nvPr/>
        </p:nvSpPr>
        <p:spPr>
          <a:xfrm>
            <a:off x="5540771" y="6870976"/>
            <a:ext cx="357370" cy="143640"/>
          </a:xfrm>
          <a:prstGeom prst="rect">
            <a:avLst/>
          </a:prstGeom>
          <a:noFill/>
        </p:spPr>
        <p:txBody>
          <a:bodyPr wrap="none" lIns="0" rIns="0" tIns="0" bIns="0" anchor="t"/>
          <a:lstStyle/>
          <a:p>
            <a:pPr algn="l">
              <a:lnSpc>
                <a:spcPts val="1142"/>
              </a:lnSpc>
            </a:pPr>
            <a:r>
              <a:rPr sz="952" b="0" i="0">
                <a:solidFill>
                  <a:srgbClr val="111111"/>
                </a:solidFill>
                <a:latin typeface="Versos"/>
              </a:rPr>
              <a:t>1,62%</a:t>
            </a:r>
          </a:p>
        </p:txBody>
      </p:sp>
      <p:sp>
        <p:nvSpPr>
          <p:cNvPr id="77" name="TextBox 76"/>
          <p:cNvSpPr txBox="1"/>
          <p:nvPr/>
        </p:nvSpPr>
        <p:spPr>
          <a:xfrm>
            <a:off x="3802680" y="7148216"/>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78" name="TextBox 77"/>
          <p:cNvSpPr txBox="1"/>
          <p:nvPr/>
        </p:nvSpPr>
        <p:spPr>
          <a:xfrm>
            <a:off x="5533801" y="7197001"/>
            <a:ext cx="368918" cy="143640"/>
          </a:xfrm>
          <a:prstGeom prst="rect">
            <a:avLst/>
          </a:prstGeom>
          <a:noFill/>
        </p:spPr>
        <p:txBody>
          <a:bodyPr wrap="none" lIns="0" rIns="0" tIns="0" bIns="0" anchor="t"/>
          <a:lstStyle/>
          <a:p>
            <a:pPr algn="l">
              <a:lnSpc>
                <a:spcPts val="1142"/>
              </a:lnSpc>
            </a:pPr>
            <a:r>
              <a:rPr sz="952" b="0" i="0">
                <a:solidFill>
                  <a:srgbClr val="111111"/>
                </a:solidFill>
                <a:latin typeface="Versos"/>
              </a:rPr>
              <a:t>1,40%</a:t>
            </a:r>
          </a:p>
        </p:txBody>
      </p:sp>
      <p:sp>
        <p:nvSpPr>
          <p:cNvPr id="79" name="TextBox 78"/>
          <p:cNvSpPr txBox="1"/>
          <p:nvPr/>
        </p:nvSpPr>
        <p:spPr>
          <a:xfrm>
            <a:off x="3802680" y="75307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0" name="TextBox 79"/>
          <p:cNvSpPr txBox="1"/>
          <p:nvPr/>
        </p:nvSpPr>
        <p:spPr>
          <a:xfrm>
            <a:off x="5533801" y="7522908"/>
            <a:ext cx="368918" cy="143640"/>
          </a:xfrm>
          <a:prstGeom prst="rect">
            <a:avLst/>
          </a:prstGeom>
          <a:noFill/>
        </p:spPr>
        <p:txBody>
          <a:bodyPr wrap="none" lIns="0" rIns="0" tIns="0" bIns="0" anchor="t"/>
          <a:lstStyle/>
          <a:p>
            <a:pPr algn="l">
              <a:lnSpc>
                <a:spcPts val="1142"/>
              </a:lnSpc>
            </a:pPr>
            <a:r>
              <a:rPr sz="952" b="0" i="0">
                <a:solidFill>
                  <a:srgbClr val="111111"/>
                </a:solidFill>
                <a:latin typeface="Versos"/>
              </a:rPr>
              <a:t>1,40%</a:t>
            </a:r>
          </a:p>
        </p:txBody>
      </p:sp>
      <p:sp>
        <p:nvSpPr>
          <p:cNvPr id="81" name="TextBox 80"/>
          <p:cNvSpPr txBox="1"/>
          <p:nvPr/>
        </p:nvSpPr>
        <p:spPr>
          <a:xfrm>
            <a:off x="3802680" y="78566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82" name="TextBox 81"/>
          <p:cNvSpPr txBox="1"/>
          <p:nvPr/>
        </p:nvSpPr>
        <p:spPr>
          <a:xfrm>
            <a:off x="5531675" y="7848933"/>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83" name="TextBox 82"/>
          <p:cNvSpPr txBox="1"/>
          <p:nvPr/>
        </p:nvSpPr>
        <p:spPr>
          <a:xfrm>
            <a:off x="3802680" y="81826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4" name="TextBox 83"/>
          <p:cNvSpPr txBox="1"/>
          <p:nvPr/>
        </p:nvSpPr>
        <p:spPr>
          <a:xfrm>
            <a:off x="5520690" y="8174840"/>
            <a:ext cx="369778" cy="143640"/>
          </a:xfrm>
          <a:prstGeom prst="rect">
            <a:avLst/>
          </a:prstGeom>
          <a:noFill/>
        </p:spPr>
        <p:txBody>
          <a:bodyPr wrap="none" lIns="0" rIns="0" tIns="0" bIns="0" anchor="t"/>
          <a:lstStyle/>
          <a:p>
            <a:pPr algn="l">
              <a:lnSpc>
                <a:spcPts val="1142"/>
              </a:lnSpc>
            </a:pPr>
            <a:r>
              <a:rPr sz="952" b="0" i="0">
                <a:solidFill>
                  <a:srgbClr val="111111"/>
                </a:solidFill>
                <a:latin typeface="Versos"/>
              </a:rPr>
              <a:t>1,00%</a:t>
            </a:r>
          </a:p>
        </p:txBody>
      </p:sp>
      <p:sp>
        <p:nvSpPr>
          <p:cNvPr id="85" name="TextBox 84"/>
          <p:cNvSpPr txBox="1"/>
          <p:nvPr/>
        </p:nvSpPr>
        <p:spPr>
          <a:xfrm>
            <a:off x="3802680" y="850854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6" name="TextBox 85"/>
          <p:cNvSpPr txBox="1"/>
          <p:nvPr/>
        </p:nvSpPr>
        <p:spPr>
          <a:xfrm>
            <a:off x="5515374" y="8500865"/>
            <a:ext cx="398156" cy="143640"/>
          </a:xfrm>
          <a:prstGeom prst="rect">
            <a:avLst/>
          </a:prstGeom>
          <a:noFill/>
        </p:spPr>
        <p:txBody>
          <a:bodyPr wrap="none" lIns="0" rIns="0" tIns="0" bIns="0" anchor="t"/>
          <a:lstStyle/>
          <a:p>
            <a:pPr algn="l">
              <a:lnSpc>
                <a:spcPts val="1142"/>
              </a:lnSpc>
            </a:pPr>
            <a:r>
              <a:rPr sz="952" b="0" i="0">
                <a:solidFill>
                  <a:srgbClr val="111111"/>
                </a:solidFill>
                <a:latin typeface="Versos"/>
              </a:rPr>
              <a:t>0,83%</a:t>
            </a:r>
          </a:p>
        </p:txBody>
      </p:sp>
      <p:sp>
        <p:nvSpPr>
          <p:cNvPr id="87" name="TextBox 86"/>
          <p:cNvSpPr txBox="1"/>
          <p:nvPr/>
        </p:nvSpPr>
        <p:spPr>
          <a:xfrm>
            <a:off x="3802680" y="883456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88" name="TextBox 87"/>
          <p:cNvSpPr txBox="1"/>
          <p:nvPr/>
        </p:nvSpPr>
        <p:spPr>
          <a:xfrm>
            <a:off x="5511358" y="8826772"/>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0,71%</a:t>
            </a:r>
          </a:p>
        </p:txBody>
      </p:sp>
      <p:sp>
        <p:nvSpPr>
          <p:cNvPr id="89" name="TextBox 88"/>
          <p:cNvSpPr txBox="1"/>
          <p:nvPr/>
        </p:nvSpPr>
        <p:spPr>
          <a:xfrm>
            <a:off x="3802680" y="91604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90" name="TextBox 89"/>
          <p:cNvSpPr txBox="1"/>
          <p:nvPr/>
        </p:nvSpPr>
        <p:spPr>
          <a:xfrm>
            <a:off x="5507578" y="9152797"/>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0,59%</a:t>
            </a:r>
          </a:p>
        </p:txBody>
      </p:sp>
      <p:sp>
        <p:nvSpPr>
          <p:cNvPr id="91" name="TextBox 90"/>
          <p:cNvSpPr txBox="1"/>
          <p:nvPr/>
        </p:nvSpPr>
        <p:spPr>
          <a:xfrm>
            <a:off x="3802680" y="948650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2" name="TextBox 91"/>
          <p:cNvSpPr txBox="1"/>
          <p:nvPr/>
        </p:nvSpPr>
        <p:spPr>
          <a:xfrm>
            <a:off x="5501790" y="9478822"/>
            <a:ext cx="359459" cy="143640"/>
          </a:xfrm>
          <a:prstGeom prst="rect">
            <a:avLst/>
          </a:prstGeom>
          <a:noFill/>
        </p:spPr>
        <p:txBody>
          <a:bodyPr wrap="none" lIns="0" rIns="0" tIns="0" bIns="0" anchor="t"/>
          <a:lstStyle/>
          <a:p>
            <a:pPr algn="l">
              <a:lnSpc>
                <a:spcPts val="1142"/>
              </a:lnSpc>
            </a:pPr>
            <a:r>
              <a:rPr sz="952" b="0" i="0">
                <a:solidFill>
                  <a:srgbClr val="111111"/>
                </a:solidFill>
                <a:latin typeface="Versos"/>
              </a:rPr>
              <a:t>0,41%</a:t>
            </a:r>
          </a:p>
        </p:txBody>
      </p:sp>
      <p:sp>
        <p:nvSpPr>
          <p:cNvPr id="93" name="TextBox 92"/>
          <p:cNvSpPr txBox="1"/>
          <p:nvPr/>
        </p:nvSpPr>
        <p:spPr>
          <a:xfrm>
            <a:off x="3802680" y="981252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4" name="TextBox 93"/>
          <p:cNvSpPr txBox="1"/>
          <p:nvPr/>
        </p:nvSpPr>
        <p:spPr>
          <a:xfrm>
            <a:off x="5498010" y="9804847"/>
            <a:ext cx="386240" cy="143640"/>
          </a:xfrm>
          <a:prstGeom prst="rect">
            <a:avLst/>
          </a:prstGeom>
          <a:noFill/>
        </p:spPr>
        <p:txBody>
          <a:bodyPr wrap="none" lIns="0" rIns="0" tIns="0" bIns="0" anchor="t"/>
          <a:lstStyle/>
          <a:p>
            <a:pPr algn="l">
              <a:lnSpc>
                <a:spcPts val="1142"/>
              </a:lnSpc>
            </a:pPr>
            <a:r>
              <a:rPr sz="952" b="0" i="0">
                <a:solidFill>
                  <a:srgbClr val="111111"/>
                </a:solidFill>
                <a:latin typeface="Versos"/>
              </a:rPr>
              <a:t>0,27%</a:t>
            </a:r>
          </a:p>
        </p:txBody>
      </p:sp>
      <p:sp>
        <p:nvSpPr>
          <p:cNvPr id="95" name="TextBox 94"/>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259756"/>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RF CP apresentou rentabilidade de 1,12% no mês (102% do CDI), acumulando 8,59% (92% do CDI) no ano. Na parcela de corporativos, os maiores atribuidores de resultado foram para Randon e Tupy,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09/05/2016</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100%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R$ 39.929.560,29</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R$ 40.998.550,50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