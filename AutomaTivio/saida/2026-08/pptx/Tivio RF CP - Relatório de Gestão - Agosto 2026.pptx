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748440"/>
            <a:ext cx="6266332" cy="151200"/>
          </a:xfrm>
          <a:prstGeom prst="rect">
            <a:avLst/>
          </a:prstGeom>
          <a:noFill/>
        </p:spPr>
        <p:txBody>
          <a:bodyPr wrap="none" lIns="0" rIns="0" tIns="0" bIns="0" anchor="t"/>
          <a:lstStyle/>
          <a:p>
            <a:pPr algn="l">
              <a:lnSpc>
                <a:spcPts val="1192"/>
              </a:lnSpc>
            </a:pPr>
            <a:r>
              <a:rPr sz="994" b="0" i="0">
                <a:solidFill>
                  <a:srgbClr val="FFFFFF"/>
                </a:solidFill>
                <a:latin typeface="Versos"/>
              </a:rPr>
              <a:t>RF CP - TIVIO FI FINANCEIRO - CI RF CRED PRIV - RL </a:t>
            </a:r>
            <a:r>
              <a:rPr sz="815" b="0" i="0">
                <a:solidFill>
                  <a:srgbClr val="FFFFFF"/>
                </a:solidFill>
                <a:latin typeface="Versos"/>
              </a:rPr>
              <a:t>/ CNPJ 14.491.665/0001-50</a:t>
            </a:r>
          </a:p>
        </p:txBody>
      </p:sp>
      <p:sp>
        <p:nvSpPr>
          <p:cNvPr id="4" name="TextBox 3"/>
          <p:cNvSpPr txBox="1"/>
          <p:nvPr/>
        </p:nvSpPr>
        <p:spPr>
          <a:xfrm>
            <a:off x="400680" y="112644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5" name="TextBox 4"/>
          <p:cNvSpPr txBox="1"/>
          <p:nvPr/>
        </p:nvSpPr>
        <p:spPr>
          <a:xfrm>
            <a:off x="355320" y="1859760"/>
            <a:ext cx="7076160" cy="151200"/>
          </a:xfrm>
          <a:prstGeom prst="rect">
            <a:avLst/>
          </a:prstGeom>
          <a:noFill/>
        </p:spPr>
        <p:txBody>
          <a:bodyPr wrap="none" lIns="0" rIns="0" tIns="0" bIns="0" anchor="t"/>
          <a:lstStyle/>
          <a:p>
            <a:pPr algn="l">
              <a:lnSpc>
                <a:spcPts val="1214"/>
              </a:lnSpc>
            </a:pPr>
            <a:r>
              <a:rPr sz="1012" b="0" i="0">
                <a:solidFill>
                  <a:srgbClr val="141414"/>
                </a:solidFill>
                <a:latin typeface="Versos"/>
              </a:rPr>
              <a:t>OBJETIVO DA CARTEIRA</a:t>
            </a:r>
          </a:p>
        </p:txBody>
      </p:sp>
      <p:sp>
        <p:nvSpPr>
          <p:cNvPr id="6" name="TextBox 5"/>
          <p:cNvSpPr txBox="1"/>
          <p:nvPr/>
        </p:nvSpPr>
        <p:spPr>
          <a:xfrm>
            <a:off x="355320" y="2026080"/>
            <a:ext cx="6350400" cy="338900"/>
          </a:xfrm>
          <a:prstGeom prst="rect">
            <a:avLst/>
          </a:prstGeom>
          <a:noFill/>
        </p:spPr>
        <p:txBody>
          <a:bodyPr wrap="square" lIns="0" rIns="0" tIns="0" bIns="0" anchor="t"/>
          <a:lstStyle/>
          <a:p>
            <a:pPr algn="l">
              <a:lnSpc>
                <a:spcPts val="1299"/>
              </a:lnSpc>
            </a:pPr>
            <a:r>
              <a:rPr sz="1101" b="0" i="0">
                <a:solidFill>
                  <a:srgbClr val="1E1E1E"/>
                </a:solidFill>
                <a:latin typeface="Versos"/>
              </a:rPr>
              <a:t>O fundo tem como objetivo identificar oportunidades em ativos de crédito high grade (Bancário e Corporativo). Ele busca superar a variação do CDI no longo prazo.</a:t>
            </a:r>
          </a:p>
        </p:txBody>
      </p:sp>
      <p:sp>
        <p:nvSpPr>
          <p:cNvPr id="7" name="TextBox 6"/>
          <p:cNvSpPr txBox="1"/>
          <p:nvPr/>
        </p:nvSpPr>
        <p:spPr>
          <a:xfrm>
            <a:off x="1126440"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Mês</a:t>
            </a:r>
          </a:p>
        </p:txBody>
      </p:sp>
      <p:sp>
        <p:nvSpPr>
          <p:cNvPr id="8" name="TextBox 7"/>
          <p:cNvSpPr txBox="1"/>
          <p:nvPr/>
        </p:nvSpPr>
        <p:spPr>
          <a:xfrm>
            <a:off x="2136881"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Ano</a:t>
            </a:r>
          </a:p>
        </p:txBody>
      </p:sp>
      <p:sp>
        <p:nvSpPr>
          <p:cNvPr id="9" name="TextBox 8"/>
          <p:cNvSpPr txBox="1"/>
          <p:nvPr/>
        </p:nvSpPr>
        <p:spPr>
          <a:xfrm>
            <a:off x="3147322"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12M</a:t>
            </a:r>
          </a:p>
        </p:txBody>
      </p:sp>
      <p:sp>
        <p:nvSpPr>
          <p:cNvPr id="10" name="TextBox 9"/>
          <p:cNvSpPr txBox="1"/>
          <p:nvPr/>
        </p:nvSpPr>
        <p:spPr>
          <a:xfrm>
            <a:off x="4157763"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24M</a:t>
            </a:r>
          </a:p>
        </p:txBody>
      </p:sp>
      <p:sp>
        <p:nvSpPr>
          <p:cNvPr id="11" name="TextBox 10"/>
          <p:cNvSpPr txBox="1"/>
          <p:nvPr/>
        </p:nvSpPr>
        <p:spPr>
          <a:xfrm>
            <a:off x="5168205"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36M</a:t>
            </a:r>
          </a:p>
        </p:txBody>
      </p:sp>
      <p:sp>
        <p:nvSpPr>
          <p:cNvPr id="12" name="TextBox 11"/>
          <p:cNvSpPr txBox="1"/>
          <p:nvPr/>
        </p:nvSpPr>
        <p:spPr>
          <a:xfrm>
            <a:off x="6178646" y="2590481"/>
            <a:ext cx="988451" cy="143640"/>
          </a:xfrm>
          <a:prstGeom prst="rect">
            <a:avLst/>
          </a:prstGeom>
          <a:noFill/>
        </p:spPr>
        <p:txBody>
          <a:bodyPr wrap="none" lIns="0" rIns="0" tIns="0" bIns="0" anchor="t"/>
          <a:lstStyle/>
          <a:p>
            <a:pPr algn="ctr">
              <a:lnSpc>
                <a:spcPts val="1142"/>
              </a:lnSpc>
            </a:pPr>
            <a:r>
              <a:rPr sz="952" b="1" i="0">
                <a:solidFill>
                  <a:srgbClr val="111111"/>
                </a:solidFill>
                <a:latin typeface="Versos"/>
              </a:rPr>
              <a:t>Desde o Início</a:t>
            </a:r>
          </a:p>
        </p:txBody>
      </p:sp>
      <p:sp>
        <p:nvSpPr>
          <p:cNvPr id="13" name="TextBox 12"/>
          <p:cNvSpPr txBox="1"/>
          <p:nvPr/>
        </p:nvSpPr>
        <p:spPr>
          <a:xfrm>
            <a:off x="340200" y="296659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14" name="TextBox 13"/>
          <p:cNvSpPr txBox="1"/>
          <p:nvPr/>
        </p:nvSpPr>
        <p:spPr>
          <a:xfrm>
            <a:off x="1126440"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1,12%</a:t>
            </a:r>
          </a:p>
        </p:txBody>
      </p:sp>
      <p:sp>
        <p:nvSpPr>
          <p:cNvPr id="15" name="TextBox 14"/>
          <p:cNvSpPr txBox="1"/>
          <p:nvPr/>
        </p:nvSpPr>
        <p:spPr>
          <a:xfrm>
            <a:off x="2136881"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8,59%</a:t>
            </a:r>
          </a:p>
        </p:txBody>
      </p:sp>
      <p:sp>
        <p:nvSpPr>
          <p:cNvPr id="16" name="TextBox 15"/>
          <p:cNvSpPr txBox="1"/>
          <p:nvPr/>
        </p:nvSpPr>
        <p:spPr>
          <a:xfrm>
            <a:off x="3147322"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13,99%</a:t>
            </a:r>
          </a:p>
        </p:txBody>
      </p:sp>
      <p:sp>
        <p:nvSpPr>
          <p:cNvPr id="17" name="TextBox 16"/>
          <p:cNvSpPr txBox="1"/>
          <p:nvPr/>
        </p:nvSpPr>
        <p:spPr>
          <a:xfrm>
            <a:off x="4157763"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28,43%</a:t>
            </a:r>
          </a:p>
        </p:txBody>
      </p:sp>
      <p:sp>
        <p:nvSpPr>
          <p:cNvPr id="18" name="TextBox 17"/>
          <p:cNvSpPr txBox="1"/>
          <p:nvPr/>
        </p:nvSpPr>
        <p:spPr>
          <a:xfrm>
            <a:off x="5168205"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46,57%</a:t>
            </a:r>
          </a:p>
        </p:txBody>
      </p:sp>
      <p:sp>
        <p:nvSpPr>
          <p:cNvPr id="19" name="TextBox 18"/>
          <p:cNvSpPr txBox="1"/>
          <p:nvPr/>
        </p:nvSpPr>
        <p:spPr>
          <a:xfrm>
            <a:off x="6178646" y="2962811"/>
            <a:ext cx="988451" cy="151200"/>
          </a:xfrm>
          <a:prstGeom prst="rect">
            <a:avLst/>
          </a:prstGeom>
          <a:noFill/>
        </p:spPr>
        <p:txBody>
          <a:bodyPr wrap="none" lIns="0" rIns="0" tIns="0" bIns="0" anchor="t"/>
          <a:lstStyle/>
          <a:p>
            <a:pPr algn="ctr">
              <a:lnSpc>
                <a:spcPts val="1214"/>
              </a:lnSpc>
            </a:pPr>
            <a:r>
              <a:rPr sz="1012" b="1" i="0">
                <a:solidFill>
                  <a:srgbClr val="5B8299"/>
                </a:solidFill>
                <a:latin typeface="Versos"/>
              </a:rPr>
              <a:t>154,64%</a:t>
            </a:r>
          </a:p>
        </p:txBody>
      </p:sp>
      <p:sp>
        <p:nvSpPr>
          <p:cNvPr id="20" name="TextBox 19"/>
          <p:cNvSpPr txBox="1"/>
          <p:nvPr/>
        </p:nvSpPr>
        <p:spPr>
          <a:xfrm>
            <a:off x="340200" y="335782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21" name="TextBox 20"/>
          <p:cNvSpPr txBox="1"/>
          <p:nvPr/>
        </p:nvSpPr>
        <p:spPr>
          <a:xfrm>
            <a:off x="1126440"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1,09%</a:t>
            </a:r>
          </a:p>
        </p:txBody>
      </p:sp>
      <p:sp>
        <p:nvSpPr>
          <p:cNvPr id="22" name="TextBox 21"/>
          <p:cNvSpPr txBox="1"/>
          <p:nvPr/>
        </p:nvSpPr>
        <p:spPr>
          <a:xfrm>
            <a:off x="2136881"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9,33%</a:t>
            </a:r>
          </a:p>
        </p:txBody>
      </p:sp>
      <p:sp>
        <p:nvSpPr>
          <p:cNvPr id="23" name="TextBox 22"/>
          <p:cNvSpPr txBox="1"/>
          <p:nvPr/>
        </p:nvSpPr>
        <p:spPr>
          <a:xfrm>
            <a:off x="3147322"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14,57%</a:t>
            </a:r>
          </a:p>
        </p:txBody>
      </p:sp>
      <p:sp>
        <p:nvSpPr>
          <p:cNvPr id="24" name="TextBox 23"/>
          <p:cNvSpPr txBox="1"/>
          <p:nvPr/>
        </p:nvSpPr>
        <p:spPr>
          <a:xfrm>
            <a:off x="4157763"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29,49%</a:t>
            </a:r>
          </a:p>
        </p:txBody>
      </p:sp>
      <p:sp>
        <p:nvSpPr>
          <p:cNvPr id="25" name="TextBox 24"/>
          <p:cNvSpPr txBox="1"/>
          <p:nvPr/>
        </p:nvSpPr>
        <p:spPr>
          <a:xfrm>
            <a:off x="5168205"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44,17%</a:t>
            </a:r>
          </a:p>
        </p:txBody>
      </p:sp>
      <p:sp>
        <p:nvSpPr>
          <p:cNvPr id="26" name="TextBox 25"/>
          <p:cNvSpPr txBox="1"/>
          <p:nvPr/>
        </p:nvSpPr>
        <p:spPr>
          <a:xfrm>
            <a:off x="6178646" y="335404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155,05%</a:t>
            </a:r>
          </a:p>
        </p:txBody>
      </p:sp>
      <p:sp>
        <p:nvSpPr>
          <p:cNvPr id="27" name="TextBox 26"/>
          <p:cNvSpPr txBox="1"/>
          <p:nvPr/>
        </p:nvSpPr>
        <p:spPr>
          <a:xfrm>
            <a:off x="340200" y="375094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Alfa</a:t>
            </a:r>
          </a:p>
        </p:txBody>
      </p:sp>
      <p:sp>
        <p:nvSpPr>
          <p:cNvPr id="28" name="TextBox 27"/>
          <p:cNvSpPr txBox="1"/>
          <p:nvPr/>
        </p:nvSpPr>
        <p:spPr>
          <a:xfrm>
            <a:off x="1126440"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0,02%</a:t>
            </a:r>
          </a:p>
        </p:txBody>
      </p:sp>
      <p:sp>
        <p:nvSpPr>
          <p:cNvPr id="29" name="TextBox 28"/>
          <p:cNvSpPr txBox="1"/>
          <p:nvPr/>
        </p:nvSpPr>
        <p:spPr>
          <a:xfrm>
            <a:off x="2136881"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−0,74%</a:t>
            </a:r>
          </a:p>
        </p:txBody>
      </p:sp>
      <p:sp>
        <p:nvSpPr>
          <p:cNvPr id="30" name="TextBox 29"/>
          <p:cNvSpPr txBox="1"/>
          <p:nvPr/>
        </p:nvSpPr>
        <p:spPr>
          <a:xfrm>
            <a:off x="3147322"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−0,58%</a:t>
            </a:r>
          </a:p>
        </p:txBody>
      </p:sp>
      <p:sp>
        <p:nvSpPr>
          <p:cNvPr id="31" name="TextBox 30"/>
          <p:cNvSpPr txBox="1"/>
          <p:nvPr/>
        </p:nvSpPr>
        <p:spPr>
          <a:xfrm>
            <a:off x="4157763"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−1,05%</a:t>
            </a:r>
          </a:p>
        </p:txBody>
      </p:sp>
      <p:sp>
        <p:nvSpPr>
          <p:cNvPr id="32" name="TextBox 31"/>
          <p:cNvSpPr txBox="1"/>
          <p:nvPr/>
        </p:nvSpPr>
        <p:spPr>
          <a:xfrm>
            <a:off x="5168205"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2,40%</a:t>
            </a:r>
          </a:p>
        </p:txBody>
      </p:sp>
      <p:sp>
        <p:nvSpPr>
          <p:cNvPr id="33" name="TextBox 32"/>
          <p:cNvSpPr txBox="1"/>
          <p:nvPr/>
        </p:nvSpPr>
        <p:spPr>
          <a:xfrm>
            <a:off x="6178646" y="374716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−0,41%</a:t>
            </a:r>
          </a:p>
        </p:txBody>
      </p:sp>
      <p:sp>
        <p:nvSpPr>
          <p:cNvPr id="34" name="TextBox 33"/>
          <p:cNvSpPr txBox="1"/>
          <p:nvPr/>
        </p:nvSpPr>
        <p:spPr>
          <a:xfrm>
            <a:off x="340200" y="414406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t>
            </a:r>
          </a:p>
        </p:txBody>
      </p:sp>
      <p:sp>
        <p:nvSpPr>
          <p:cNvPr id="35" name="TextBox 34"/>
          <p:cNvSpPr txBox="1"/>
          <p:nvPr/>
        </p:nvSpPr>
        <p:spPr>
          <a:xfrm>
            <a:off x="1126440"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102%</a:t>
            </a:r>
          </a:p>
        </p:txBody>
      </p:sp>
      <p:sp>
        <p:nvSpPr>
          <p:cNvPr id="36" name="TextBox 35"/>
          <p:cNvSpPr txBox="1"/>
          <p:nvPr/>
        </p:nvSpPr>
        <p:spPr>
          <a:xfrm>
            <a:off x="2136881"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92%</a:t>
            </a:r>
          </a:p>
        </p:txBody>
      </p:sp>
      <p:sp>
        <p:nvSpPr>
          <p:cNvPr id="37" name="TextBox 36"/>
          <p:cNvSpPr txBox="1"/>
          <p:nvPr/>
        </p:nvSpPr>
        <p:spPr>
          <a:xfrm>
            <a:off x="3147322"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96%</a:t>
            </a:r>
          </a:p>
        </p:txBody>
      </p:sp>
      <p:sp>
        <p:nvSpPr>
          <p:cNvPr id="38" name="TextBox 37"/>
          <p:cNvSpPr txBox="1"/>
          <p:nvPr/>
        </p:nvSpPr>
        <p:spPr>
          <a:xfrm>
            <a:off x="4157763"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96%</a:t>
            </a:r>
          </a:p>
        </p:txBody>
      </p:sp>
      <p:sp>
        <p:nvSpPr>
          <p:cNvPr id="39" name="TextBox 38"/>
          <p:cNvSpPr txBox="1"/>
          <p:nvPr/>
        </p:nvSpPr>
        <p:spPr>
          <a:xfrm>
            <a:off x="5168205"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105%</a:t>
            </a:r>
          </a:p>
        </p:txBody>
      </p:sp>
      <p:sp>
        <p:nvSpPr>
          <p:cNvPr id="40" name="TextBox 39"/>
          <p:cNvSpPr txBox="1"/>
          <p:nvPr/>
        </p:nvSpPr>
        <p:spPr>
          <a:xfrm>
            <a:off x="6178646" y="414028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100%</a:t>
            </a:r>
          </a:p>
        </p:txBody>
      </p:sp>
      <p:sp>
        <p:nvSpPr>
          <p:cNvPr id="41" name="TextBox 40"/>
          <p:cNvSpPr txBox="1"/>
          <p:nvPr/>
        </p:nvSpPr>
        <p:spPr>
          <a:xfrm>
            <a:off x="355320" y="4476701"/>
            <a:ext cx="7076160" cy="113400"/>
          </a:xfrm>
          <a:prstGeom prst="rect">
            <a:avLst/>
          </a:prstGeom>
          <a:noFill/>
        </p:spPr>
        <p:txBody>
          <a:bodyPr wrap="none" lIns="0" rIns="0" tIns="0" bIns="0" anchor="t"/>
          <a:lstStyle/>
          <a:p>
            <a:pPr algn="r">
              <a:lnSpc>
                <a:spcPts val="892"/>
              </a:lnSpc>
            </a:pPr>
            <a:r>
              <a:rPr sz="744" b="1" i="0">
                <a:solidFill>
                  <a:srgbClr val="444444"/>
                </a:solidFill>
                <a:latin typeface="Versos"/>
              </a:rPr>
              <a:t>Data base:</a:t>
            </a:r>
            <a:r>
              <a:rPr sz="744" b="0" i="0">
                <a:solidFill>
                  <a:srgbClr val="444444"/>
                </a:solidFill>
                <a:latin typeface="Versos"/>
              </a:rPr>
              <a:t> 31/08/2026</a:t>
            </a:r>
          </a:p>
        </p:txBody>
      </p:sp>
      <p:sp>
        <p:nvSpPr>
          <p:cNvPr id="42" name="TextBox 41"/>
          <p:cNvSpPr txBox="1"/>
          <p:nvPr/>
        </p:nvSpPr>
        <p:spPr>
          <a:xfrm>
            <a:off x="400680" y="5134421"/>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PRINCIPAIS EMISSORES</a:t>
            </a:r>
          </a:p>
        </p:txBody>
      </p:sp>
      <p:sp>
        <p:nvSpPr>
          <p:cNvPr id="43" name="TextBox 42"/>
          <p:cNvSpPr txBox="1"/>
          <p:nvPr/>
        </p:nvSpPr>
        <p:spPr>
          <a:xfrm>
            <a:off x="400680" y="5640114"/>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ITAU</a:t>
            </a:r>
          </a:p>
        </p:txBody>
      </p:sp>
      <p:sp>
        <p:nvSpPr>
          <p:cNvPr id="44" name="TextBox 43"/>
          <p:cNvSpPr txBox="1"/>
          <p:nvPr/>
        </p:nvSpPr>
        <p:spPr>
          <a:xfrm>
            <a:off x="2831928" y="5638224"/>
            <a:ext cx="383292" cy="143640"/>
          </a:xfrm>
          <a:prstGeom prst="rect">
            <a:avLst/>
          </a:prstGeom>
          <a:noFill/>
        </p:spPr>
        <p:txBody>
          <a:bodyPr wrap="none" lIns="0" rIns="0" tIns="0" bIns="0" anchor="t"/>
          <a:lstStyle/>
          <a:p>
            <a:pPr algn="l">
              <a:lnSpc>
                <a:spcPts val="1107"/>
              </a:lnSpc>
            </a:pPr>
            <a:r>
              <a:rPr sz="922" b="0" i="0">
                <a:solidFill>
                  <a:srgbClr val="5A82A0"/>
                </a:solidFill>
                <a:latin typeface="Versos"/>
              </a:rPr>
              <a:t>3,98%</a:t>
            </a:r>
          </a:p>
        </p:txBody>
      </p:sp>
      <p:sp>
        <p:nvSpPr>
          <p:cNvPr id="45" name="TextBox 44"/>
          <p:cNvSpPr txBox="1"/>
          <p:nvPr/>
        </p:nvSpPr>
        <p:spPr>
          <a:xfrm>
            <a:off x="400680" y="6108125"/>
            <a:ext cx="712407" cy="136080"/>
          </a:xfrm>
          <a:prstGeom prst="rect">
            <a:avLst/>
          </a:prstGeom>
          <a:noFill/>
        </p:spPr>
        <p:txBody>
          <a:bodyPr wrap="none" lIns="0" rIns="0" tIns="0" bIns="0" anchor="t"/>
          <a:lstStyle/>
          <a:p>
            <a:pPr algn="r">
              <a:lnSpc>
                <a:spcPts val="982"/>
              </a:lnSpc>
            </a:pPr>
            <a:r>
              <a:rPr sz="892" b="0" i="0">
                <a:solidFill>
                  <a:srgbClr val="222222"/>
                </a:solidFill>
                <a:latin typeface="Versos"/>
              </a:rPr>
              <a:t>SANTANDER</a:t>
            </a:r>
          </a:p>
        </p:txBody>
      </p:sp>
      <p:sp>
        <p:nvSpPr>
          <p:cNvPr id="46" name="TextBox 45"/>
          <p:cNvSpPr txBox="1"/>
          <p:nvPr/>
        </p:nvSpPr>
        <p:spPr>
          <a:xfrm>
            <a:off x="2320329" y="6106235"/>
            <a:ext cx="356879" cy="143640"/>
          </a:xfrm>
          <a:prstGeom prst="rect">
            <a:avLst/>
          </a:prstGeom>
          <a:noFill/>
        </p:spPr>
        <p:txBody>
          <a:bodyPr wrap="none" lIns="0" rIns="0" tIns="0" bIns="0" anchor="t"/>
          <a:lstStyle/>
          <a:p>
            <a:pPr algn="l">
              <a:lnSpc>
                <a:spcPts val="1107"/>
              </a:lnSpc>
            </a:pPr>
            <a:r>
              <a:rPr sz="922" b="0" i="0">
                <a:solidFill>
                  <a:srgbClr val="5A82A0"/>
                </a:solidFill>
                <a:latin typeface="Versos"/>
              </a:rPr>
              <a:t>2,74%</a:t>
            </a:r>
          </a:p>
        </p:txBody>
      </p:sp>
      <p:sp>
        <p:nvSpPr>
          <p:cNvPr id="47" name="TextBox 46"/>
          <p:cNvSpPr txBox="1"/>
          <p:nvPr/>
        </p:nvSpPr>
        <p:spPr>
          <a:xfrm>
            <a:off x="400680" y="6576255"/>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TOYOTA</a:t>
            </a:r>
          </a:p>
        </p:txBody>
      </p:sp>
      <p:sp>
        <p:nvSpPr>
          <p:cNvPr id="48" name="TextBox 47"/>
          <p:cNvSpPr txBox="1"/>
          <p:nvPr/>
        </p:nvSpPr>
        <p:spPr>
          <a:xfrm>
            <a:off x="1936186" y="6574365"/>
            <a:ext cx="316215" cy="143640"/>
          </a:xfrm>
          <a:prstGeom prst="rect">
            <a:avLst/>
          </a:prstGeom>
          <a:noFill/>
        </p:spPr>
        <p:txBody>
          <a:bodyPr wrap="none" lIns="0" rIns="0" tIns="0" bIns="0" anchor="t"/>
          <a:lstStyle/>
          <a:p>
            <a:pPr algn="l">
              <a:lnSpc>
                <a:spcPts val="1107"/>
              </a:lnSpc>
            </a:pPr>
            <a:r>
              <a:rPr sz="922" b="0" i="0">
                <a:solidFill>
                  <a:srgbClr val="5A82A0"/>
                </a:solidFill>
                <a:latin typeface="Versos"/>
              </a:rPr>
              <a:t>1,81%</a:t>
            </a:r>
          </a:p>
        </p:txBody>
      </p:sp>
      <p:sp>
        <p:nvSpPr>
          <p:cNvPr id="49" name="TextBox 48"/>
          <p:cNvSpPr txBox="1"/>
          <p:nvPr/>
        </p:nvSpPr>
        <p:spPr>
          <a:xfrm>
            <a:off x="400680" y="7044266"/>
            <a:ext cx="785134" cy="136080"/>
          </a:xfrm>
          <a:prstGeom prst="rect">
            <a:avLst/>
          </a:prstGeom>
          <a:noFill/>
        </p:spPr>
        <p:txBody>
          <a:bodyPr wrap="none" lIns="0" rIns="0" tIns="0" bIns="0" anchor="t"/>
          <a:lstStyle/>
          <a:p>
            <a:pPr algn="r">
              <a:lnSpc>
                <a:spcPts val="982"/>
              </a:lnSpc>
            </a:pPr>
            <a:r>
              <a:rPr sz="892" b="0" i="0">
                <a:solidFill>
                  <a:srgbClr val="222222"/>
                </a:solidFill>
                <a:latin typeface="Versos"/>
              </a:rPr>
              <a:t>NEOENERGIA</a:t>
            </a:r>
          </a:p>
        </p:txBody>
      </p:sp>
      <p:sp>
        <p:nvSpPr>
          <p:cNvPr id="50" name="TextBox 49"/>
          <p:cNvSpPr txBox="1"/>
          <p:nvPr/>
        </p:nvSpPr>
        <p:spPr>
          <a:xfrm>
            <a:off x="1866020" y="7042376"/>
            <a:ext cx="347051" cy="143640"/>
          </a:xfrm>
          <a:prstGeom prst="rect">
            <a:avLst/>
          </a:prstGeom>
          <a:noFill/>
        </p:spPr>
        <p:txBody>
          <a:bodyPr wrap="none" lIns="0" rIns="0" tIns="0" bIns="0" anchor="t"/>
          <a:lstStyle/>
          <a:p>
            <a:pPr algn="l">
              <a:lnSpc>
                <a:spcPts val="1107"/>
              </a:lnSpc>
            </a:pPr>
            <a:r>
              <a:rPr sz="922" b="0" i="0">
                <a:solidFill>
                  <a:srgbClr val="5A82A0"/>
                </a:solidFill>
                <a:latin typeface="Versos"/>
              </a:rPr>
              <a:t>1,64%</a:t>
            </a:r>
          </a:p>
        </p:txBody>
      </p:sp>
      <p:sp>
        <p:nvSpPr>
          <p:cNvPr id="51" name="TextBox 50"/>
          <p:cNvSpPr txBox="1"/>
          <p:nvPr/>
        </p:nvSpPr>
        <p:spPr>
          <a:xfrm>
            <a:off x="400680" y="7512395"/>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INTER</a:t>
            </a:r>
          </a:p>
        </p:txBody>
      </p:sp>
      <p:sp>
        <p:nvSpPr>
          <p:cNvPr id="52" name="TextBox 51"/>
          <p:cNvSpPr txBox="1"/>
          <p:nvPr/>
        </p:nvSpPr>
        <p:spPr>
          <a:xfrm>
            <a:off x="1863540" y="7510505"/>
            <a:ext cx="347051" cy="143640"/>
          </a:xfrm>
          <a:prstGeom prst="rect">
            <a:avLst/>
          </a:prstGeom>
          <a:noFill/>
        </p:spPr>
        <p:txBody>
          <a:bodyPr wrap="none" lIns="0" rIns="0" tIns="0" bIns="0" anchor="t"/>
          <a:lstStyle/>
          <a:p>
            <a:pPr algn="l">
              <a:lnSpc>
                <a:spcPts val="1107"/>
              </a:lnSpc>
            </a:pPr>
            <a:r>
              <a:rPr sz="922" b="0" i="0">
                <a:solidFill>
                  <a:srgbClr val="5A82A0"/>
                </a:solidFill>
                <a:latin typeface="Versos"/>
              </a:rPr>
              <a:t>1,64%</a:t>
            </a:r>
          </a:p>
        </p:txBody>
      </p:sp>
      <p:sp>
        <p:nvSpPr>
          <p:cNvPr id="53" name="TextBox 52"/>
          <p:cNvSpPr txBox="1"/>
          <p:nvPr/>
        </p:nvSpPr>
        <p:spPr>
          <a:xfrm>
            <a:off x="400680" y="8028129"/>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DISTRIBUIÇÃO DE RATING DA CARTEIRA DE CRÉDITO</a:t>
            </a:r>
          </a:p>
        </p:txBody>
      </p:sp>
      <p:sp>
        <p:nvSpPr>
          <p:cNvPr id="54" name="TextBox 53"/>
          <p:cNvSpPr txBox="1"/>
          <p:nvPr/>
        </p:nvSpPr>
        <p:spPr>
          <a:xfrm>
            <a:off x="400680" y="843896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a:t>
            </a:r>
          </a:p>
        </p:txBody>
      </p:sp>
      <p:sp>
        <p:nvSpPr>
          <p:cNvPr id="55" name="TextBox 54"/>
          <p:cNvSpPr txBox="1"/>
          <p:nvPr/>
        </p:nvSpPr>
        <p:spPr>
          <a:xfrm>
            <a:off x="2960448" y="8437078"/>
            <a:ext cx="425061" cy="143640"/>
          </a:xfrm>
          <a:prstGeom prst="rect">
            <a:avLst/>
          </a:prstGeom>
          <a:noFill/>
        </p:spPr>
        <p:txBody>
          <a:bodyPr wrap="none" lIns="0" rIns="0" tIns="0" bIns="0" anchor="t"/>
          <a:lstStyle/>
          <a:p>
            <a:pPr algn="l">
              <a:lnSpc>
                <a:spcPts val="1142"/>
              </a:lnSpc>
            </a:pPr>
            <a:r>
              <a:rPr sz="952" b="0" i="0">
                <a:solidFill>
                  <a:srgbClr val="111111"/>
                </a:solidFill>
                <a:latin typeface="Versos"/>
              </a:rPr>
              <a:t>19,77%</a:t>
            </a:r>
          </a:p>
        </p:txBody>
      </p:sp>
      <p:sp>
        <p:nvSpPr>
          <p:cNvPr id="56" name="TextBox 55"/>
          <p:cNvSpPr txBox="1"/>
          <p:nvPr/>
        </p:nvSpPr>
        <p:spPr>
          <a:xfrm>
            <a:off x="400680" y="8717270"/>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7" name="TextBox 56"/>
          <p:cNvSpPr txBox="1"/>
          <p:nvPr/>
        </p:nvSpPr>
        <p:spPr>
          <a:xfrm>
            <a:off x="1415846" y="8715380"/>
            <a:ext cx="392260" cy="143640"/>
          </a:xfrm>
          <a:prstGeom prst="rect">
            <a:avLst/>
          </a:prstGeom>
          <a:noFill/>
        </p:spPr>
        <p:txBody>
          <a:bodyPr wrap="none" lIns="0" rIns="0" tIns="0" bIns="0" anchor="t"/>
          <a:lstStyle/>
          <a:p>
            <a:pPr algn="l">
              <a:lnSpc>
                <a:spcPts val="1142"/>
              </a:lnSpc>
            </a:pPr>
            <a:r>
              <a:rPr sz="952" b="0" i="0">
                <a:solidFill>
                  <a:srgbClr val="111111"/>
                </a:solidFill>
                <a:latin typeface="Versos"/>
              </a:rPr>
              <a:t>3,84%</a:t>
            </a:r>
          </a:p>
        </p:txBody>
      </p:sp>
      <p:sp>
        <p:nvSpPr>
          <p:cNvPr id="58" name="TextBox 57"/>
          <p:cNvSpPr txBox="1"/>
          <p:nvPr/>
        </p:nvSpPr>
        <p:spPr>
          <a:xfrm>
            <a:off x="400680" y="899569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9" name="TextBox 58"/>
          <p:cNvSpPr txBox="1"/>
          <p:nvPr/>
        </p:nvSpPr>
        <p:spPr>
          <a:xfrm>
            <a:off x="1254841" y="8993801"/>
            <a:ext cx="354667" cy="143640"/>
          </a:xfrm>
          <a:prstGeom prst="rect">
            <a:avLst/>
          </a:prstGeom>
          <a:noFill/>
        </p:spPr>
        <p:txBody>
          <a:bodyPr wrap="none" lIns="0" rIns="0" tIns="0" bIns="0" anchor="t"/>
          <a:lstStyle/>
          <a:p>
            <a:pPr algn="l">
              <a:lnSpc>
                <a:spcPts val="1142"/>
              </a:lnSpc>
            </a:pPr>
            <a:r>
              <a:rPr sz="952" b="0" i="0">
                <a:solidFill>
                  <a:srgbClr val="111111"/>
                </a:solidFill>
                <a:latin typeface="Versos"/>
              </a:rPr>
              <a:t>2,18%</a:t>
            </a:r>
          </a:p>
        </p:txBody>
      </p:sp>
      <p:sp>
        <p:nvSpPr>
          <p:cNvPr id="60" name="TextBox 59"/>
          <p:cNvSpPr txBox="1"/>
          <p:nvPr/>
        </p:nvSpPr>
        <p:spPr>
          <a:xfrm>
            <a:off x="400680" y="927399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1" name="TextBox 60"/>
          <p:cNvSpPr txBox="1"/>
          <p:nvPr/>
        </p:nvSpPr>
        <p:spPr>
          <a:xfrm>
            <a:off x="1222003" y="9272103"/>
            <a:ext cx="361179" cy="143640"/>
          </a:xfrm>
          <a:prstGeom prst="rect">
            <a:avLst/>
          </a:prstGeom>
          <a:noFill/>
        </p:spPr>
        <p:txBody>
          <a:bodyPr wrap="none" lIns="0" rIns="0" tIns="0" bIns="0" anchor="t"/>
          <a:lstStyle/>
          <a:p>
            <a:pPr algn="l">
              <a:lnSpc>
                <a:spcPts val="1142"/>
              </a:lnSpc>
            </a:pPr>
            <a:r>
              <a:rPr sz="952" b="0" i="0">
                <a:solidFill>
                  <a:srgbClr val="111111"/>
                </a:solidFill>
                <a:latin typeface="Versos"/>
              </a:rPr>
              <a:t>1,84%</a:t>
            </a:r>
          </a:p>
        </p:txBody>
      </p:sp>
      <p:sp>
        <p:nvSpPr>
          <p:cNvPr id="62" name="TextBox 61"/>
          <p:cNvSpPr txBox="1"/>
          <p:nvPr/>
        </p:nvSpPr>
        <p:spPr>
          <a:xfrm>
            <a:off x="400680" y="955229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63" name="TextBox 62"/>
          <p:cNvSpPr txBox="1"/>
          <p:nvPr/>
        </p:nvSpPr>
        <p:spPr>
          <a:xfrm>
            <a:off x="1172626" y="9550406"/>
            <a:ext cx="362407" cy="143640"/>
          </a:xfrm>
          <a:prstGeom prst="rect">
            <a:avLst/>
          </a:prstGeom>
          <a:noFill/>
        </p:spPr>
        <p:txBody>
          <a:bodyPr wrap="none" lIns="0" rIns="0" tIns="0" bIns="0" anchor="t"/>
          <a:lstStyle/>
          <a:p>
            <a:pPr algn="l">
              <a:lnSpc>
                <a:spcPts val="1142"/>
              </a:lnSpc>
            </a:pPr>
            <a:r>
              <a:rPr sz="952" b="0" i="0">
                <a:solidFill>
                  <a:srgbClr val="111111"/>
                </a:solidFill>
                <a:latin typeface="Versos"/>
              </a:rPr>
              <a:t>1,33%</a:t>
            </a:r>
          </a:p>
        </p:txBody>
      </p:sp>
      <p:sp>
        <p:nvSpPr>
          <p:cNvPr id="64" name="TextBox 63"/>
          <p:cNvSpPr txBox="1"/>
          <p:nvPr/>
        </p:nvSpPr>
        <p:spPr>
          <a:xfrm>
            <a:off x="400680" y="983059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65" name="TextBox 64"/>
          <p:cNvSpPr txBox="1"/>
          <p:nvPr/>
        </p:nvSpPr>
        <p:spPr>
          <a:xfrm>
            <a:off x="1118761" y="9828708"/>
            <a:ext cx="387223" cy="143640"/>
          </a:xfrm>
          <a:prstGeom prst="rect">
            <a:avLst/>
          </a:prstGeom>
          <a:noFill/>
        </p:spPr>
        <p:txBody>
          <a:bodyPr wrap="none" lIns="0" rIns="0" tIns="0" bIns="0" anchor="t"/>
          <a:lstStyle/>
          <a:p>
            <a:pPr algn="l">
              <a:lnSpc>
                <a:spcPts val="1142"/>
              </a:lnSpc>
            </a:pPr>
            <a:r>
              <a:rPr sz="952" b="0" i="0">
                <a:solidFill>
                  <a:srgbClr val="111111"/>
                </a:solidFill>
                <a:latin typeface="Versos"/>
              </a:rPr>
              <a:t>0,78%</a:t>
            </a:r>
          </a:p>
        </p:txBody>
      </p:sp>
      <p:sp>
        <p:nvSpPr>
          <p:cNvPr id="66" name="TextBox 65"/>
          <p:cNvSpPr txBox="1"/>
          <p:nvPr/>
        </p:nvSpPr>
        <p:spPr>
          <a:xfrm>
            <a:off x="3802680" y="5134421"/>
            <a:ext cx="349090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DA CARTEIRA DE CRÉDITO POR SETOR</a:t>
            </a:r>
          </a:p>
        </p:txBody>
      </p:sp>
      <p:sp>
        <p:nvSpPr>
          <p:cNvPr id="67" name="TextBox 66"/>
          <p:cNvSpPr txBox="1"/>
          <p:nvPr/>
        </p:nvSpPr>
        <p:spPr>
          <a:xfrm>
            <a:off x="3802680" y="557490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68" name="TextBox 67"/>
          <p:cNvSpPr txBox="1"/>
          <p:nvPr/>
        </p:nvSpPr>
        <p:spPr>
          <a:xfrm>
            <a:off x="6752497" y="5567113"/>
            <a:ext cx="464127" cy="143640"/>
          </a:xfrm>
          <a:prstGeom prst="rect">
            <a:avLst/>
          </a:prstGeom>
          <a:noFill/>
        </p:spPr>
        <p:txBody>
          <a:bodyPr wrap="none" lIns="0" rIns="0" tIns="0" bIns="0" anchor="t"/>
          <a:lstStyle/>
          <a:p>
            <a:pPr algn="l">
              <a:lnSpc>
                <a:spcPts val="1142"/>
              </a:lnSpc>
            </a:pPr>
            <a:r>
              <a:rPr sz="952" b="0" i="0">
                <a:solidFill>
                  <a:srgbClr val="111111"/>
                </a:solidFill>
                <a:latin typeface="Versos"/>
              </a:rPr>
              <a:t>39,07%</a:t>
            </a:r>
          </a:p>
        </p:txBody>
      </p:sp>
      <p:sp>
        <p:nvSpPr>
          <p:cNvPr id="69" name="TextBox 68"/>
          <p:cNvSpPr txBox="1"/>
          <p:nvPr/>
        </p:nvSpPr>
        <p:spPr>
          <a:xfrm>
            <a:off x="3802680" y="590081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a:t>
            </a:r>
          </a:p>
        </p:txBody>
      </p:sp>
      <p:sp>
        <p:nvSpPr>
          <p:cNvPr id="70" name="TextBox 69"/>
          <p:cNvSpPr txBox="1"/>
          <p:nvPr/>
        </p:nvSpPr>
        <p:spPr>
          <a:xfrm>
            <a:off x="5945113" y="5893138"/>
            <a:ext cx="369409" cy="143640"/>
          </a:xfrm>
          <a:prstGeom prst="rect">
            <a:avLst/>
          </a:prstGeom>
          <a:noFill/>
        </p:spPr>
        <p:txBody>
          <a:bodyPr wrap="none" lIns="0" rIns="0" tIns="0" bIns="0" anchor="t"/>
          <a:lstStyle/>
          <a:p>
            <a:pPr algn="l">
              <a:lnSpc>
                <a:spcPts val="1142"/>
              </a:lnSpc>
            </a:pPr>
            <a:r>
              <a:rPr sz="952" b="0" i="0">
                <a:solidFill>
                  <a:srgbClr val="111111"/>
                </a:solidFill>
                <a:latin typeface="Versos"/>
              </a:rPr>
              <a:t>14,11%</a:t>
            </a:r>
          </a:p>
        </p:txBody>
      </p:sp>
      <p:sp>
        <p:nvSpPr>
          <p:cNvPr id="71" name="TextBox 70"/>
          <p:cNvSpPr txBox="1"/>
          <p:nvPr/>
        </p:nvSpPr>
        <p:spPr>
          <a:xfrm>
            <a:off x="3802680" y="622684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 Elétrica</a:t>
            </a:r>
          </a:p>
        </p:txBody>
      </p:sp>
      <p:sp>
        <p:nvSpPr>
          <p:cNvPr id="72" name="TextBox 71"/>
          <p:cNvSpPr txBox="1"/>
          <p:nvPr/>
        </p:nvSpPr>
        <p:spPr>
          <a:xfrm>
            <a:off x="5674843" y="6219045"/>
            <a:ext cx="383660" cy="143640"/>
          </a:xfrm>
          <a:prstGeom prst="rect">
            <a:avLst/>
          </a:prstGeom>
          <a:noFill/>
        </p:spPr>
        <p:txBody>
          <a:bodyPr wrap="none" lIns="0" rIns="0" tIns="0" bIns="0" anchor="t"/>
          <a:lstStyle/>
          <a:p>
            <a:pPr algn="l">
              <a:lnSpc>
                <a:spcPts val="1142"/>
              </a:lnSpc>
            </a:pPr>
            <a:r>
              <a:rPr sz="952" b="0" i="0">
                <a:solidFill>
                  <a:srgbClr val="111111"/>
                </a:solidFill>
                <a:latin typeface="Versos"/>
              </a:rPr>
              <a:t>5,76%</a:t>
            </a:r>
          </a:p>
        </p:txBody>
      </p:sp>
      <p:sp>
        <p:nvSpPr>
          <p:cNvPr id="73" name="TextBox 72"/>
          <p:cNvSpPr txBox="1"/>
          <p:nvPr/>
        </p:nvSpPr>
        <p:spPr>
          <a:xfrm>
            <a:off x="3802680" y="655274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Locação de veículos</a:t>
            </a:r>
          </a:p>
        </p:txBody>
      </p:sp>
      <p:sp>
        <p:nvSpPr>
          <p:cNvPr id="74" name="TextBox 73"/>
          <p:cNvSpPr txBox="1"/>
          <p:nvPr/>
        </p:nvSpPr>
        <p:spPr>
          <a:xfrm>
            <a:off x="5548213" y="6545070"/>
            <a:ext cx="360196" cy="143640"/>
          </a:xfrm>
          <a:prstGeom prst="rect">
            <a:avLst/>
          </a:prstGeom>
          <a:noFill/>
        </p:spPr>
        <p:txBody>
          <a:bodyPr wrap="none" lIns="0" rIns="0" tIns="0" bIns="0" anchor="t"/>
          <a:lstStyle/>
          <a:p>
            <a:pPr algn="l">
              <a:lnSpc>
                <a:spcPts val="1142"/>
              </a:lnSpc>
            </a:pPr>
            <a:r>
              <a:rPr sz="952" b="0" i="0">
                <a:solidFill>
                  <a:srgbClr val="111111"/>
                </a:solidFill>
                <a:latin typeface="Versos"/>
              </a:rPr>
              <a:t>1,85%</a:t>
            </a:r>
          </a:p>
        </p:txBody>
      </p:sp>
      <p:sp>
        <p:nvSpPr>
          <p:cNvPr id="75" name="TextBox 74"/>
          <p:cNvSpPr txBox="1"/>
          <p:nvPr/>
        </p:nvSpPr>
        <p:spPr>
          <a:xfrm>
            <a:off x="3802680" y="6878773"/>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Transporte e Logística</a:t>
            </a:r>
          </a:p>
        </p:txBody>
      </p:sp>
      <p:sp>
        <p:nvSpPr>
          <p:cNvPr id="76" name="TextBox 75"/>
          <p:cNvSpPr txBox="1"/>
          <p:nvPr/>
        </p:nvSpPr>
        <p:spPr>
          <a:xfrm>
            <a:off x="5540771" y="6870976"/>
            <a:ext cx="357370" cy="143640"/>
          </a:xfrm>
          <a:prstGeom prst="rect">
            <a:avLst/>
          </a:prstGeom>
          <a:noFill/>
        </p:spPr>
        <p:txBody>
          <a:bodyPr wrap="none" lIns="0" rIns="0" tIns="0" bIns="0" anchor="t"/>
          <a:lstStyle/>
          <a:p>
            <a:pPr algn="l">
              <a:lnSpc>
                <a:spcPts val="1142"/>
              </a:lnSpc>
            </a:pPr>
            <a:r>
              <a:rPr sz="952" b="0" i="0">
                <a:solidFill>
                  <a:srgbClr val="111111"/>
                </a:solidFill>
                <a:latin typeface="Versos"/>
              </a:rPr>
              <a:t>1,62%</a:t>
            </a:r>
          </a:p>
        </p:txBody>
      </p:sp>
      <p:sp>
        <p:nvSpPr>
          <p:cNvPr id="77" name="TextBox 76"/>
          <p:cNvSpPr txBox="1"/>
          <p:nvPr/>
        </p:nvSpPr>
        <p:spPr>
          <a:xfrm>
            <a:off x="3802680" y="7148216"/>
            <a:ext cx="1542240" cy="234005"/>
          </a:xfrm>
          <a:prstGeom prst="rect">
            <a:avLst/>
          </a:prstGeom>
          <a:noFill/>
        </p:spPr>
        <p:txBody>
          <a:bodyPr wrap="square" lIns="0" rIns="0" tIns="0" bIns="0" anchor="t"/>
          <a:lstStyle/>
          <a:p>
            <a:pPr algn="r">
              <a:lnSpc>
                <a:spcPts val="890"/>
              </a:lnSpc>
            </a:pPr>
            <a:r>
              <a:rPr sz="809" b="0" i="0">
                <a:solidFill>
                  <a:srgbClr val="222222"/>
                </a:solidFill>
                <a:latin typeface="Versos"/>
              </a:rPr>
              <a:t>Comércio atacadista e varejista</a:t>
            </a:r>
          </a:p>
        </p:txBody>
      </p:sp>
      <p:sp>
        <p:nvSpPr>
          <p:cNvPr id="78" name="TextBox 77"/>
          <p:cNvSpPr txBox="1"/>
          <p:nvPr/>
        </p:nvSpPr>
        <p:spPr>
          <a:xfrm>
            <a:off x="5533801" y="7197001"/>
            <a:ext cx="368918" cy="143640"/>
          </a:xfrm>
          <a:prstGeom prst="rect">
            <a:avLst/>
          </a:prstGeom>
          <a:noFill/>
        </p:spPr>
        <p:txBody>
          <a:bodyPr wrap="none" lIns="0" rIns="0" tIns="0" bIns="0" anchor="t"/>
          <a:lstStyle/>
          <a:p>
            <a:pPr algn="l">
              <a:lnSpc>
                <a:spcPts val="1142"/>
              </a:lnSpc>
            </a:pPr>
            <a:r>
              <a:rPr sz="952" b="0" i="0">
                <a:solidFill>
                  <a:srgbClr val="111111"/>
                </a:solidFill>
                <a:latin typeface="Versos"/>
              </a:rPr>
              <a:t>1,40%</a:t>
            </a:r>
          </a:p>
        </p:txBody>
      </p:sp>
      <p:sp>
        <p:nvSpPr>
          <p:cNvPr id="79" name="TextBox 78"/>
          <p:cNvSpPr txBox="1"/>
          <p:nvPr/>
        </p:nvSpPr>
        <p:spPr>
          <a:xfrm>
            <a:off x="3802680" y="753070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Assistência médica</a:t>
            </a:r>
          </a:p>
        </p:txBody>
      </p:sp>
      <p:sp>
        <p:nvSpPr>
          <p:cNvPr id="80" name="TextBox 79"/>
          <p:cNvSpPr txBox="1"/>
          <p:nvPr/>
        </p:nvSpPr>
        <p:spPr>
          <a:xfrm>
            <a:off x="5533801" y="7522908"/>
            <a:ext cx="368918" cy="143640"/>
          </a:xfrm>
          <a:prstGeom prst="rect">
            <a:avLst/>
          </a:prstGeom>
          <a:noFill/>
        </p:spPr>
        <p:txBody>
          <a:bodyPr wrap="none" lIns="0" rIns="0" tIns="0" bIns="0" anchor="t"/>
          <a:lstStyle/>
          <a:p>
            <a:pPr algn="l">
              <a:lnSpc>
                <a:spcPts val="1142"/>
              </a:lnSpc>
            </a:pPr>
            <a:r>
              <a:rPr sz="952" b="0" i="0">
                <a:solidFill>
                  <a:srgbClr val="111111"/>
                </a:solidFill>
                <a:latin typeface="Versos"/>
              </a:rPr>
              <a:t>1,40%</a:t>
            </a:r>
          </a:p>
        </p:txBody>
      </p:sp>
      <p:sp>
        <p:nvSpPr>
          <p:cNvPr id="81" name="TextBox 80"/>
          <p:cNvSpPr txBox="1"/>
          <p:nvPr/>
        </p:nvSpPr>
        <p:spPr>
          <a:xfrm>
            <a:off x="3802680" y="785661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Educação</a:t>
            </a:r>
          </a:p>
        </p:txBody>
      </p:sp>
      <p:sp>
        <p:nvSpPr>
          <p:cNvPr id="82" name="TextBox 81"/>
          <p:cNvSpPr txBox="1"/>
          <p:nvPr/>
        </p:nvSpPr>
        <p:spPr>
          <a:xfrm>
            <a:off x="5531675" y="7848933"/>
            <a:ext cx="362407" cy="143640"/>
          </a:xfrm>
          <a:prstGeom prst="rect">
            <a:avLst/>
          </a:prstGeom>
          <a:noFill/>
        </p:spPr>
        <p:txBody>
          <a:bodyPr wrap="none" lIns="0" rIns="0" tIns="0" bIns="0" anchor="t"/>
          <a:lstStyle/>
          <a:p>
            <a:pPr algn="l">
              <a:lnSpc>
                <a:spcPts val="1142"/>
              </a:lnSpc>
            </a:pPr>
            <a:r>
              <a:rPr sz="952" b="0" i="0">
                <a:solidFill>
                  <a:srgbClr val="111111"/>
                </a:solidFill>
                <a:latin typeface="Versos"/>
              </a:rPr>
              <a:t>1,33%</a:t>
            </a:r>
          </a:p>
        </p:txBody>
      </p:sp>
      <p:sp>
        <p:nvSpPr>
          <p:cNvPr id="83" name="TextBox 82"/>
          <p:cNvSpPr txBox="1"/>
          <p:nvPr/>
        </p:nvSpPr>
        <p:spPr>
          <a:xfrm>
            <a:off x="3802680" y="818263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Saneamento</a:t>
            </a:r>
          </a:p>
        </p:txBody>
      </p:sp>
      <p:sp>
        <p:nvSpPr>
          <p:cNvPr id="84" name="TextBox 83"/>
          <p:cNvSpPr txBox="1"/>
          <p:nvPr/>
        </p:nvSpPr>
        <p:spPr>
          <a:xfrm>
            <a:off x="5520690" y="8174840"/>
            <a:ext cx="369778" cy="143640"/>
          </a:xfrm>
          <a:prstGeom prst="rect">
            <a:avLst/>
          </a:prstGeom>
          <a:noFill/>
        </p:spPr>
        <p:txBody>
          <a:bodyPr wrap="none" lIns="0" rIns="0" tIns="0" bIns="0" anchor="t"/>
          <a:lstStyle/>
          <a:p>
            <a:pPr algn="l">
              <a:lnSpc>
                <a:spcPts val="1142"/>
              </a:lnSpc>
            </a:pPr>
            <a:r>
              <a:rPr sz="952" b="0" i="0">
                <a:solidFill>
                  <a:srgbClr val="111111"/>
                </a:solidFill>
                <a:latin typeface="Versos"/>
              </a:rPr>
              <a:t>1,00%</a:t>
            </a:r>
          </a:p>
        </p:txBody>
      </p:sp>
      <p:sp>
        <p:nvSpPr>
          <p:cNvPr id="85" name="TextBox 84"/>
          <p:cNvSpPr txBox="1"/>
          <p:nvPr/>
        </p:nvSpPr>
        <p:spPr>
          <a:xfrm>
            <a:off x="3802680" y="8508543"/>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Petróleo e Gás</a:t>
            </a:r>
          </a:p>
        </p:txBody>
      </p:sp>
      <p:sp>
        <p:nvSpPr>
          <p:cNvPr id="86" name="TextBox 85"/>
          <p:cNvSpPr txBox="1"/>
          <p:nvPr/>
        </p:nvSpPr>
        <p:spPr>
          <a:xfrm>
            <a:off x="5515374" y="8500865"/>
            <a:ext cx="398156" cy="143640"/>
          </a:xfrm>
          <a:prstGeom prst="rect">
            <a:avLst/>
          </a:prstGeom>
          <a:noFill/>
        </p:spPr>
        <p:txBody>
          <a:bodyPr wrap="none" lIns="0" rIns="0" tIns="0" bIns="0" anchor="t"/>
          <a:lstStyle/>
          <a:p>
            <a:pPr algn="l">
              <a:lnSpc>
                <a:spcPts val="1142"/>
              </a:lnSpc>
            </a:pPr>
            <a:r>
              <a:rPr sz="952" b="0" i="0">
                <a:solidFill>
                  <a:srgbClr val="111111"/>
                </a:solidFill>
                <a:latin typeface="Versos"/>
              </a:rPr>
              <a:t>0,83%</a:t>
            </a:r>
          </a:p>
        </p:txBody>
      </p:sp>
      <p:sp>
        <p:nvSpPr>
          <p:cNvPr id="87" name="TextBox 86"/>
          <p:cNvSpPr txBox="1"/>
          <p:nvPr/>
        </p:nvSpPr>
        <p:spPr>
          <a:xfrm>
            <a:off x="3802680" y="883456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TI e Telecomunicações</a:t>
            </a:r>
          </a:p>
        </p:txBody>
      </p:sp>
      <p:sp>
        <p:nvSpPr>
          <p:cNvPr id="88" name="TextBox 87"/>
          <p:cNvSpPr txBox="1"/>
          <p:nvPr/>
        </p:nvSpPr>
        <p:spPr>
          <a:xfrm>
            <a:off x="5511358" y="8826772"/>
            <a:ext cx="354176" cy="143640"/>
          </a:xfrm>
          <a:prstGeom prst="rect">
            <a:avLst/>
          </a:prstGeom>
          <a:noFill/>
        </p:spPr>
        <p:txBody>
          <a:bodyPr wrap="none" lIns="0" rIns="0" tIns="0" bIns="0" anchor="t"/>
          <a:lstStyle/>
          <a:p>
            <a:pPr algn="l">
              <a:lnSpc>
                <a:spcPts val="1142"/>
              </a:lnSpc>
            </a:pPr>
            <a:r>
              <a:rPr sz="952" b="0" i="0">
                <a:solidFill>
                  <a:srgbClr val="111111"/>
                </a:solidFill>
                <a:latin typeface="Versos"/>
              </a:rPr>
              <a:t>0,71%</a:t>
            </a:r>
          </a:p>
        </p:txBody>
      </p:sp>
      <p:sp>
        <p:nvSpPr>
          <p:cNvPr id="89" name="TextBox 88"/>
          <p:cNvSpPr txBox="1"/>
          <p:nvPr/>
        </p:nvSpPr>
        <p:spPr>
          <a:xfrm>
            <a:off x="3802680" y="916047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Indústria e Comércio</a:t>
            </a:r>
          </a:p>
        </p:txBody>
      </p:sp>
      <p:sp>
        <p:nvSpPr>
          <p:cNvPr id="90" name="TextBox 89"/>
          <p:cNvSpPr txBox="1"/>
          <p:nvPr/>
        </p:nvSpPr>
        <p:spPr>
          <a:xfrm>
            <a:off x="5507578" y="9152797"/>
            <a:ext cx="396682" cy="143640"/>
          </a:xfrm>
          <a:prstGeom prst="rect">
            <a:avLst/>
          </a:prstGeom>
          <a:noFill/>
        </p:spPr>
        <p:txBody>
          <a:bodyPr wrap="none" lIns="0" rIns="0" tIns="0" bIns="0" anchor="t"/>
          <a:lstStyle/>
          <a:p>
            <a:pPr algn="l">
              <a:lnSpc>
                <a:spcPts val="1142"/>
              </a:lnSpc>
            </a:pPr>
            <a:r>
              <a:rPr sz="952" b="0" i="0">
                <a:solidFill>
                  <a:srgbClr val="111111"/>
                </a:solidFill>
                <a:latin typeface="Versos"/>
              </a:rPr>
              <a:t>0,59%</a:t>
            </a:r>
          </a:p>
        </p:txBody>
      </p:sp>
      <p:sp>
        <p:nvSpPr>
          <p:cNvPr id="91" name="TextBox 90"/>
          <p:cNvSpPr txBox="1"/>
          <p:nvPr/>
        </p:nvSpPr>
        <p:spPr>
          <a:xfrm>
            <a:off x="3802680" y="9486500"/>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 Corp</a:t>
            </a:r>
          </a:p>
        </p:txBody>
      </p:sp>
      <p:sp>
        <p:nvSpPr>
          <p:cNvPr id="92" name="TextBox 91"/>
          <p:cNvSpPr txBox="1"/>
          <p:nvPr/>
        </p:nvSpPr>
        <p:spPr>
          <a:xfrm>
            <a:off x="5501790" y="9478822"/>
            <a:ext cx="359459" cy="143640"/>
          </a:xfrm>
          <a:prstGeom prst="rect">
            <a:avLst/>
          </a:prstGeom>
          <a:noFill/>
        </p:spPr>
        <p:txBody>
          <a:bodyPr wrap="none" lIns="0" rIns="0" tIns="0" bIns="0" anchor="t"/>
          <a:lstStyle/>
          <a:p>
            <a:pPr algn="l">
              <a:lnSpc>
                <a:spcPts val="1142"/>
              </a:lnSpc>
            </a:pPr>
            <a:r>
              <a:rPr sz="952" b="0" i="0">
                <a:solidFill>
                  <a:srgbClr val="111111"/>
                </a:solidFill>
                <a:latin typeface="Versos"/>
              </a:rPr>
              <a:t>0,41%</a:t>
            </a:r>
          </a:p>
        </p:txBody>
      </p:sp>
      <p:sp>
        <p:nvSpPr>
          <p:cNvPr id="93" name="TextBox 92"/>
          <p:cNvSpPr txBox="1"/>
          <p:nvPr/>
        </p:nvSpPr>
        <p:spPr>
          <a:xfrm>
            <a:off x="3802680" y="981252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Metalurgia e Siderurgia</a:t>
            </a:r>
          </a:p>
        </p:txBody>
      </p:sp>
      <p:sp>
        <p:nvSpPr>
          <p:cNvPr id="94" name="TextBox 93"/>
          <p:cNvSpPr txBox="1"/>
          <p:nvPr/>
        </p:nvSpPr>
        <p:spPr>
          <a:xfrm>
            <a:off x="5498010" y="9804847"/>
            <a:ext cx="386240" cy="143640"/>
          </a:xfrm>
          <a:prstGeom prst="rect">
            <a:avLst/>
          </a:prstGeom>
          <a:noFill/>
        </p:spPr>
        <p:txBody>
          <a:bodyPr wrap="none" lIns="0" rIns="0" tIns="0" bIns="0" anchor="t"/>
          <a:lstStyle/>
          <a:p>
            <a:pPr algn="l">
              <a:lnSpc>
                <a:spcPts val="1142"/>
              </a:lnSpc>
            </a:pPr>
            <a:r>
              <a:rPr sz="952" b="0" i="0">
                <a:solidFill>
                  <a:srgbClr val="111111"/>
                </a:solidFill>
                <a:latin typeface="Versos"/>
              </a:rPr>
              <a:t>0,27%</a:t>
            </a:r>
          </a:p>
        </p:txBody>
      </p:sp>
      <p:sp>
        <p:nvSpPr>
          <p:cNvPr id="95" name="TextBox 94"/>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5" name="TextBox 4"/>
          <p:cNvSpPr txBox="1"/>
          <p:nvPr/>
        </p:nvSpPr>
        <p:spPr>
          <a:xfrm>
            <a:off x="400680" y="4604158"/>
            <a:ext cx="7028985" cy="279720"/>
          </a:xfrm>
          <a:prstGeom prst="rect">
            <a:avLst/>
          </a:prstGeom>
          <a:noFill/>
        </p:spPr>
        <p:txBody>
          <a:bodyPr wrap="none" lIns="0" rIns="0" tIns="0" bIns="0" anchor="t"/>
          <a:lstStyle/>
          <a:p>
            <a:pPr algn="ctr">
              <a:lnSpc>
                <a:spcPts val="2143"/>
              </a:lnSpc>
            </a:pPr>
            <a:r>
              <a:rPr sz="1785" b="1" i="0">
                <a:solidFill>
                  <a:srgbClr val="FFFFFF"/>
                </a:solidFill>
                <a:latin typeface="Versos"/>
              </a:rPr>
              <a:t>Comentário do Gestor e Análise de Mercado</a:t>
            </a:r>
          </a:p>
        </p:txBody>
      </p:sp>
      <p:sp>
        <p:nvSpPr>
          <p:cNvPr id="6" name="TextBox 5"/>
          <p:cNvSpPr txBox="1"/>
          <p:nvPr/>
        </p:nvSpPr>
        <p:spPr>
          <a:xfrm>
            <a:off x="529200" y="5216518"/>
            <a:ext cx="6501600" cy="653467"/>
          </a:xfrm>
          <a:prstGeom prst="rect">
            <a:avLst/>
          </a:prstGeom>
          <a:noFill/>
        </p:spPr>
        <p:txBody>
          <a:bodyPr wrap="square" lIns="0" rIns="0" tIns="0" bIns="0" anchor="t"/>
          <a:lstStyle/>
          <a:p>
            <a:pPr algn="just">
              <a:lnSpc>
                <a:spcPts val="1033"/>
              </a:lnSpc>
            </a:pPr>
            <a:r>
              <a:rPr sz="833" b="0" i="0">
                <a:solidFill>
                  <a:srgbClr val="F1F1F1"/>
                </a:solidFill>
                <a:latin typeface="Versos"/>
              </a:rPr>
              <a:t>Em agosto, o mercado de crédito foi marcado por um ambiente de menor liquidez nas negociações do mercado secundário e por uma leve reabertura dos spreads de crédito. Após meses consecutivos de compressão dos prêmios de risco, observou-se um movimento mais cauteloso por parte dos investidores, com os spreads médios dos títulos corporativos indexados ao CDI avançando aproximadamente 0,03%, passando de CDI + 1,19% para CDI + 1,22% ao ano. Apesar desse ajuste, os níveis de prêmio permaneceram próximos das mínimas históricas observadas ao longo do ciclo recente.</a:t>
            </a:r>
          </a:p>
        </p:txBody>
      </p:sp>
      <p:sp>
        <p:nvSpPr>
          <p:cNvPr id="7" name="TextBox 6"/>
          <p:cNvSpPr txBox="1"/>
          <p:nvPr/>
        </p:nvSpPr>
        <p:spPr>
          <a:xfrm>
            <a:off x="529200" y="5948893"/>
            <a:ext cx="6501600" cy="390993"/>
          </a:xfrm>
          <a:prstGeom prst="rect">
            <a:avLst/>
          </a:prstGeom>
          <a:noFill/>
        </p:spPr>
        <p:txBody>
          <a:bodyPr wrap="square" lIns="0" rIns="0" tIns="0" bIns="0" anchor="t"/>
          <a:lstStyle/>
          <a:p>
            <a:pPr algn="just">
              <a:lnSpc>
                <a:spcPts val="1033"/>
              </a:lnSpc>
            </a:pPr>
            <a:r>
              <a:rPr sz="833" b="0" i="0">
                <a:solidFill>
                  <a:srgbClr val="F1F1F1"/>
                </a:solidFill>
                <a:latin typeface="Versos"/>
              </a:rPr>
              <a:t>No mercado secundário, a redução do volume negociado contribuiu para uma formação de preços mais seletiva, especialmente em ativos corporativos com menor liquidez. Ainda assim, o comportamento dos investidores permaneceu construtivo, sustentado por um ambiente técnico favorável e pela continuidade da elevada demanda por ativos de crédito.</a:t>
            </a:r>
          </a:p>
        </p:txBody>
      </p:sp>
      <p:sp>
        <p:nvSpPr>
          <p:cNvPr id="8" name="TextBox 7"/>
          <p:cNvSpPr txBox="1"/>
          <p:nvPr/>
        </p:nvSpPr>
        <p:spPr>
          <a:xfrm>
            <a:off x="529200" y="6418794"/>
            <a:ext cx="6501600" cy="784704"/>
          </a:xfrm>
          <a:prstGeom prst="rect">
            <a:avLst/>
          </a:prstGeom>
          <a:noFill/>
        </p:spPr>
        <p:txBody>
          <a:bodyPr wrap="square" lIns="0" rIns="0" tIns="0" bIns="0" anchor="t"/>
          <a:lstStyle/>
          <a:p>
            <a:pPr algn="just">
              <a:lnSpc>
                <a:spcPts val="1033"/>
              </a:lnSpc>
            </a:pPr>
            <a:r>
              <a:rPr sz="833" b="0" i="0">
                <a:solidFill>
                  <a:srgbClr val="F1F1F1"/>
                </a:solidFill>
                <a:latin typeface="Versos"/>
              </a:rPr>
              <a:t>Já no mercado primário, as emissões bancárias seguiram registrando forte demanda por parte dos investidores. As ofertas de Letras Financeiras Seniores distribuídas ao longo do mês apresentaram níveis elevados de subscrição, com demanda que, em diversos casos, superou três vezes o volume ofertado. Esse forte apetite permitiu que as operações fossem precificadas com taxas inferiores aos limites inicialmente indicados pelos emissores, evidenciando a elevada disponibilidade de recursos para alocação na indústria de crédito. Por outro lado, o pipeline de emissões corporativas permaneceu limitado, restringindo a oferta de novos ativos em um momento de demanda ainda aquecida.</a:t>
            </a:r>
          </a:p>
        </p:txBody>
      </p:sp>
      <p:sp>
        <p:nvSpPr>
          <p:cNvPr id="9" name="TextBox 8"/>
          <p:cNvSpPr txBox="1"/>
          <p:nvPr/>
        </p:nvSpPr>
        <p:spPr>
          <a:xfrm>
            <a:off x="529200" y="7282406"/>
            <a:ext cx="6501600" cy="653467"/>
          </a:xfrm>
          <a:prstGeom prst="rect">
            <a:avLst/>
          </a:prstGeom>
          <a:noFill/>
        </p:spPr>
        <p:txBody>
          <a:bodyPr wrap="square" lIns="0" rIns="0" tIns="0" bIns="0" anchor="t"/>
          <a:lstStyle/>
          <a:p>
            <a:pPr algn="just">
              <a:lnSpc>
                <a:spcPts val="1033"/>
              </a:lnSpc>
            </a:pPr>
            <a:r>
              <a:rPr sz="833" b="0" i="0">
                <a:solidFill>
                  <a:srgbClr val="F1F1F1"/>
                </a:solidFill>
                <a:latin typeface="Versos"/>
              </a:rPr>
              <a:t>Em relação aos fluxos, os fundos com alocação mínima de 15% em crédito e ao menos 1% em debêntures apresentaram captação líquida próxima de R$ 8 bilhões em agosto, resultado significativamente superior ao observado no mês anterior. O volume reforça a percepção de que os investidores seguem direcionando recursos para estratégias de crédito, impulsionados pelo elevado nível de carrego proporcionado pelos ativos indexados ao CDI e pela busca por alternativas de investimento com perfil de risco-retorno atrativo.</a:t>
            </a:r>
          </a:p>
        </p:txBody>
      </p:sp>
      <p:sp>
        <p:nvSpPr>
          <p:cNvPr id="10" name="TextBox 9"/>
          <p:cNvSpPr txBox="1"/>
          <p:nvPr/>
        </p:nvSpPr>
        <p:spPr>
          <a:xfrm>
            <a:off x="529200" y="8014781"/>
            <a:ext cx="6501600" cy="522230"/>
          </a:xfrm>
          <a:prstGeom prst="rect">
            <a:avLst/>
          </a:prstGeom>
          <a:noFill/>
        </p:spPr>
        <p:txBody>
          <a:bodyPr wrap="square" lIns="0" rIns="0" tIns="0" bIns="0" anchor="t"/>
          <a:lstStyle/>
          <a:p>
            <a:pPr algn="just">
              <a:lnSpc>
                <a:spcPts val="1033"/>
              </a:lnSpc>
            </a:pPr>
            <a:r>
              <a:rPr sz="833" b="0" i="0">
                <a:solidFill>
                  <a:srgbClr val="F1F1F1"/>
                </a:solidFill>
                <a:latin typeface="Versos"/>
              </a:rPr>
              <a:t>Nesse contexto, a combinação entre fluxos positivos para a indústria, vencimentos e amortizações recorrentes das carteiras, além da limitada oferta de novos ativos corporativos, continuou sustentando a demanda por crédito privado. Ainda que agosto tenha apresentado uma leve reabertura dos spreads médios de mercado, a dinâmica técnica permanece favorável e os prêmios seguem negociando em patamares historicamente reduzidos.</a:t>
            </a:r>
          </a:p>
        </p:txBody>
      </p:sp>
      <p:sp>
        <p:nvSpPr>
          <p:cNvPr id="11" name="TextBox 10"/>
          <p:cNvSpPr txBox="1"/>
          <p:nvPr/>
        </p:nvSpPr>
        <p:spPr>
          <a:xfrm>
            <a:off x="529200" y="8615919"/>
            <a:ext cx="6501600" cy="653467"/>
          </a:xfrm>
          <a:prstGeom prst="rect">
            <a:avLst/>
          </a:prstGeom>
          <a:noFill/>
        </p:spPr>
        <p:txBody>
          <a:bodyPr wrap="square" lIns="0" rIns="0" tIns="0" bIns="0" anchor="t"/>
          <a:lstStyle/>
          <a:p>
            <a:pPr algn="just">
              <a:lnSpc>
                <a:spcPts val="1033"/>
              </a:lnSpc>
            </a:pPr>
            <a:r>
              <a:rPr sz="833" b="0" i="0">
                <a:solidFill>
                  <a:srgbClr val="F1F1F1"/>
                </a:solidFill>
                <a:latin typeface="Versos"/>
              </a:rPr>
              <a:t>Por fim, sob a ótica da gestão, seguimos acompanhando de forma criteriosa a evolução dos fundamentos dos emissores presentes nas carteiras, com atenção especial aos indicadores operacionais, à geração de caixa e à manutenção de estruturas de capital adequadas. Em um ambiente em que os spreads permanecem comprimidos em termos históricos, mantemos disciplina na alocação dos recursos, priorizando operações que apresentem adequada relação entre risco e retorno e preservando flexibilidade para captura de oportunidades que possam surgir em eventuais períodos de maior volatilidade do mercado.</a:t>
            </a:r>
          </a:p>
        </p:txBody>
      </p:sp>
      <p:sp>
        <p:nvSpPr>
          <p:cNvPr id="12" name="TextBox 11"/>
          <p:cNvSpPr txBox="1"/>
          <p:nvPr/>
        </p:nvSpPr>
        <p:spPr>
          <a:xfrm>
            <a:off x="529200" y="9348294"/>
            <a:ext cx="6501600" cy="259756"/>
          </a:xfrm>
          <a:prstGeom prst="rect">
            <a:avLst/>
          </a:prstGeom>
          <a:noFill/>
        </p:spPr>
        <p:txBody>
          <a:bodyPr wrap="square" lIns="0" rIns="0" tIns="0" bIns="0" anchor="t"/>
          <a:lstStyle/>
          <a:p>
            <a:pPr algn="just">
              <a:lnSpc>
                <a:spcPts val="1033"/>
              </a:lnSpc>
            </a:pPr>
            <a:r>
              <a:rPr sz="833" b="0" i="0">
                <a:solidFill>
                  <a:srgbClr val="F1F1F1"/>
                </a:solidFill>
                <a:latin typeface="Versos"/>
              </a:rPr>
              <a:t>Nesse cenário, o Tivio RF CP apresentou rentabilidade de 1,12% no mês (102% do CDI), acumulando 8,59% (92% do CDI) no ano. Na parcela de corporativos, os maiores atribuidores de resultado foram para Randon e Tupy, enquanto Hapvida foi o maior detrator.</a:t>
            </a:r>
          </a:p>
        </p:txBody>
      </p:sp>
      <p:sp>
        <p:nvSpPr>
          <p:cNvPr id="13" name="TextBox 12"/>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FFFFFF"/>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7359"/>
            <a:ext cx="7028985" cy="146120"/>
          </a:xfrm>
          <a:prstGeom prst="rect">
            <a:avLst/>
          </a:prstGeom>
          <a:noFill/>
        </p:spPr>
        <p:txBody>
          <a:bodyPr wrap="none" lIns="0" rIns="0" tIns="0" bIns="0" anchor="t"/>
          <a:lstStyle/>
          <a:p>
            <a:pPr algn="l">
              <a:lnSpc>
                <a:spcPts val="1142"/>
              </a:lnSpc>
            </a:pPr>
            <a:r>
              <a:rPr sz="952" b="0" i="0">
                <a:solidFill>
                  <a:srgbClr val="111111"/>
                </a:solidFill>
                <a:latin typeface="Versos"/>
              </a:rPr>
              <a:t>MERCADO DE CRÉDITO</a:t>
            </a:r>
            <a:r>
              <a:rPr sz="571" b="0" i="0">
                <a:solidFill>
                  <a:srgbClr val="111111"/>
                </a:solidFill>
                <a:latin typeface="Versos"/>
              </a:rPr>
              <a:t>1</a:t>
            </a:r>
          </a:p>
        </p:txBody>
      </p:sp>
      <p:sp>
        <p:nvSpPr>
          <p:cNvPr id="5" name="TextBox 4"/>
          <p:cNvSpPr txBox="1"/>
          <p:nvPr/>
        </p:nvSpPr>
        <p:spPr>
          <a:xfrm>
            <a:off x="2404080" y="1811801"/>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6" name="TextBox 5"/>
          <p:cNvSpPr txBox="1"/>
          <p:nvPr/>
        </p:nvSpPr>
        <p:spPr>
          <a:xfrm>
            <a:off x="3296160" y="1811801"/>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7" name="TextBox 6"/>
          <p:cNvSpPr txBox="1"/>
          <p:nvPr/>
        </p:nvSpPr>
        <p:spPr>
          <a:xfrm>
            <a:off x="3870720" y="1811801"/>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8" name="TextBox 7"/>
          <p:cNvSpPr txBox="1"/>
          <p:nvPr/>
        </p:nvSpPr>
        <p:spPr>
          <a:xfrm>
            <a:off x="4656960" y="1755337"/>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9" name="TextBox 8"/>
          <p:cNvSpPr txBox="1"/>
          <p:nvPr/>
        </p:nvSpPr>
        <p:spPr>
          <a:xfrm>
            <a:off x="567000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10" name="TextBox 9"/>
          <p:cNvSpPr txBox="1"/>
          <p:nvPr/>
        </p:nvSpPr>
        <p:spPr>
          <a:xfrm>
            <a:off x="638064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11" name="TextBox 10"/>
          <p:cNvSpPr txBox="1"/>
          <p:nvPr/>
        </p:nvSpPr>
        <p:spPr>
          <a:xfrm>
            <a:off x="2404080" y="2107586"/>
            <a:ext cx="833414" cy="151200"/>
          </a:xfrm>
          <a:prstGeom prst="rect">
            <a:avLst/>
          </a:prstGeom>
          <a:noFill/>
        </p:spPr>
        <p:txBody>
          <a:bodyPr wrap="none" lIns="0" rIns="0" tIns="0" bIns="0" anchor="t"/>
          <a:lstStyle/>
          <a:p>
            <a:pPr algn="ctr">
              <a:lnSpc>
                <a:spcPts val="1163"/>
              </a:lnSpc>
            </a:pPr>
            <a:r>
              <a:rPr sz="1012" b="1" i="0">
                <a:solidFill>
                  <a:srgbClr val="FFFFFF"/>
                </a:solidFill>
                <a:latin typeface="Versos"/>
              </a:rPr>
              <a:t>443.345</a:t>
            </a:r>
          </a:p>
        </p:txBody>
      </p:sp>
      <p:sp>
        <p:nvSpPr>
          <p:cNvPr id="12" name="TextBox 11"/>
          <p:cNvSpPr txBox="1"/>
          <p:nvPr/>
        </p:nvSpPr>
        <p:spPr>
          <a:xfrm>
            <a:off x="3296160" y="2107586"/>
            <a:ext cx="503193" cy="151200"/>
          </a:xfrm>
          <a:prstGeom prst="rect">
            <a:avLst/>
          </a:prstGeom>
          <a:noFill/>
        </p:spPr>
        <p:txBody>
          <a:bodyPr wrap="none" lIns="0" rIns="0" tIns="0" bIns="0" anchor="t"/>
          <a:lstStyle/>
          <a:p>
            <a:pPr algn="ctr">
              <a:lnSpc>
                <a:spcPts val="1163"/>
              </a:lnSpc>
            </a:pPr>
            <a:r>
              <a:rPr sz="1012" b="1" i="0">
                <a:solidFill>
                  <a:srgbClr val="FFFFFF"/>
                </a:solidFill>
                <a:latin typeface="Versos"/>
              </a:rPr>
              <a:t>100%</a:t>
            </a:r>
          </a:p>
        </p:txBody>
      </p:sp>
      <p:sp>
        <p:nvSpPr>
          <p:cNvPr id="13" name="TextBox 12"/>
          <p:cNvSpPr txBox="1"/>
          <p:nvPr/>
        </p:nvSpPr>
        <p:spPr>
          <a:xfrm>
            <a:off x="3870720" y="2107586"/>
            <a:ext cx="723340" cy="151200"/>
          </a:xfrm>
          <a:prstGeom prst="rect">
            <a:avLst/>
          </a:prstGeom>
          <a:noFill/>
        </p:spPr>
        <p:txBody>
          <a:bodyPr wrap="none" lIns="0" rIns="0" tIns="0" bIns="0" anchor="t"/>
          <a:lstStyle/>
          <a:p>
            <a:pPr algn="ctr">
              <a:lnSpc>
                <a:spcPts val="1163"/>
              </a:lnSpc>
            </a:pPr>
            <a:r>
              <a:rPr sz="1012" b="1" i="0">
                <a:solidFill>
                  <a:srgbClr val="FFFFFF"/>
                </a:solidFill>
                <a:latin typeface="Versos"/>
              </a:rPr>
              <a:t>1,22%</a:t>
            </a:r>
          </a:p>
        </p:txBody>
      </p:sp>
      <p:sp>
        <p:nvSpPr>
          <p:cNvPr id="14" name="TextBox 13"/>
          <p:cNvSpPr txBox="1"/>
          <p:nvPr/>
        </p:nvSpPr>
        <p:spPr>
          <a:xfrm>
            <a:off x="4656960" y="2107586"/>
            <a:ext cx="959212" cy="151200"/>
          </a:xfrm>
          <a:prstGeom prst="rect">
            <a:avLst/>
          </a:prstGeom>
          <a:noFill/>
        </p:spPr>
        <p:txBody>
          <a:bodyPr wrap="none" lIns="0" rIns="0" tIns="0" bIns="0" anchor="t"/>
          <a:lstStyle/>
          <a:p>
            <a:pPr algn="ctr">
              <a:lnSpc>
                <a:spcPts val="1163"/>
              </a:lnSpc>
            </a:pPr>
            <a:r>
              <a:rPr sz="1012" b="1" i="0">
                <a:solidFill>
                  <a:srgbClr val="FFFFFF"/>
                </a:solidFill>
                <a:latin typeface="Versos"/>
              </a:rPr>
              <a:t>1,19%</a:t>
            </a:r>
          </a:p>
        </p:txBody>
      </p:sp>
      <p:sp>
        <p:nvSpPr>
          <p:cNvPr id="15" name="TextBox 14"/>
          <p:cNvSpPr txBox="1"/>
          <p:nvPr/>
        </p:nvSpPr>
        <p:spPr>
          <a:xfrm>
            <a:off x="567000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0,03%</a:t>
            </a:r>
          </a:p>
        </p:txBody>
      </p:sp>
      <p:sp>
        <p:nvSpPr>
          <p:cNvPr id="16" name="TextBox 15"/>
          <p:cNvSpPr txBox="1"/>
          <p:nvPr/>
        </p:nvSpPr>
        <p:spPr>
          <a:xfrm>
            <a:off x="638064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2,71</a:t>
            </a:r>
          </a:p>
        </p:txBody>
      </p:sp>
      <p:sp>
        <p:nvSpPr>
          <p:cNvPr id="17" name="TextBox 16"/>
          <p:cNvSpPr txBox="1"/>
          <p:nvPr/>
        </p:nvSpPr>
        <p:spPr>
          <a:xfrm>
            <a:off x="559440" y="2604656"/>
            <a:ext cx="1824076" cy="113400"/>
          </a:xfrm>
          <a:prstGeom prst="rect">
            <a:avLst/>
          </a:prstGeom>
          <a:noFill/>
        </p:spPr>
        <p:txBody>
          <a:bodyPr wrap="none" lIns="0" rIns="0" tIns="0" bIns="0" anchor="t"/>
          <a:lstStyle/>
          <a:p>
            <a:pPr algn="ctr">
              <a:lnSpc>
                <a:spcPts val="889"/>
              </a:lnSpc>
            </a:pPr>
            <a:r>
              <a:rPr sz="773" b="1" i="0">
                <a:solidFill>
                  <a:srgbClr val="FFFFFF"/>
                </a:solidFill>
                <a:latin typeface="Versos"/>
              </a:rPr>
              <a:t>Setor</a:t>
            </a:r>
          </a:p>
        </p:txBody>
      </p:sp>
      <p:sp>
        <p:nvSpPr>
          <p:cNvPr id="18" name="TextBox 17"/>
          <p:cNvSpPr txBox="1"/>
          <p:nvPr/>
        </p:nvSpPr>
        <p:spPr>
          <a:xfrm>
            <a:off x="2404080" y="2604656"/>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19" name="TextBox 18"/>
          <p:cNvSpPr txBox="1"/>
          <p:nvPr/>
        </p:nvSpPr>
        <p:spPr>
          <a:xfrm>
            <a:off x="3296160" y="2604656"/>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20" name="TextBox 19"/>
          <p:cNvSpPr txBox="1"/>
          <p:nvPr/>
        </p:nvSpPr>
        <p:spPr>
          <a:xfrm>
            <a:off x="3870720" y="2604656"/>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21" name="TextBox 20"/>
          <p:cNvSpPr txBox="1"/>
          <p:nvPr/>
        </p:nvSpPr>
        <p:spPr>
          <a:xfrm>
            <a:off x="4656960" y="2548192"/>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22" name="TextBox 21"/>
          <p:cNvSpPr txBox="1"/>
          <p:nvPr/>
        </p:nvSpPr>
        <p:spPr>
          <a:xfrm>
            <a:off x="567000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23" name="TextBox 22"/>
          <p:cNvSpPr txBox="1"/>
          <p:nvPr/>
        </p:nvSpPr>
        <p:spPr>
          <a:xfrm>
            <a:off x="638064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24" name="TextBox 23"/>
          <p:cNvSpPr txBox="1"/>
          <p:nvPr/>
        </p:nvSpPr>
        <p:spPr>
          <a:xfrm>
            <a:off x="604800" y="288414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Energia elétrica</a:t>
            </a:r>
          </a:p>
        </p:txBody>
      </p:sp>
      <p:sp>
        <p:nvSpPr>
          <p:cNvPr id="25" name="TextBox 24"/>
          <p:cNvSpPr txBox="1"/>
          <p:nvPr/>
        </p:nvSpPr>
        <p:spPr>
          <a:xfrm>
            <a:off x="2404080" y="288414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108.945</a:t>
            </a:r>
          </a:p>
        </p:txBody>
      </p:sp>
      <p:sp>
        <p:nvSpPr>
          <p:cNvPr id="26" name="TextBox 25"/>
          <p:cNvSpPr txBox="1"/>
          <p:nvPr/>
        </p:nvSpPr>
        <p:spPr>
          <a:xfrm>
            <a:off x="3296160" y="288414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24,6%</a:t>
            </a:r>
          </a:p>
        </p:txBody>
      </p:sp>
      <p:sp>
        <p:nvSpPr>
          <p:cNvPr id="27" name="TextBox 26"/>
          <p:cNvSpPr txBox="1"/>
          <p:nvPr/>
        </p:nvSpPr>
        <p:spPr>
          <a:xfrm>
            <a:off x="3870720" y="288414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8" name="TextBox 27"/>
          <p:cNvSpPr txBox="1"/>
          <p:nvPr/>
        </p:nvSpPr>
        <p:spPr>
          <a:xfrm>
            <a:off x="4656960" y="288414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9" name="TextBox 28"/>
          <p:cNvSpPr txBox="1"/>
          <p:nvPr/>
        </p:nvSpPr>
        <p:spPr>
          <a:xfrm>
            <a:off x="567000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30" name="TextBox 29"/>
          <p:cNvSpPr txBox="1"/>
          <p:nvPr/>
        </p:nvSpPr>
        <p:spPr>
          <a:xfrm>
            <a:off x="638064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31" name="TextBox 30"/>
          <p:cNvSpPr txBox="1"/>
          <p:nvPr/>
        </p:nvSpPr>
        <p:spPr>
          <a:xfrm>
            <a:off x="604800" y="316137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Assistência médica</a:t>
            </a:r>
          </a:p>
        </p:txBody>
      </p:sp>
      <p:sp>
        <p:nvSpPr>
          <p:cNvPr id="32" name="TextBox 31"/>
          <p:cNvSpPr txBox="1"/>
          <p:nvPr/>
        </p:nvSpPr>
        <p:spPr>
          <a:xfrm>
            <a:off x="2404080" y="316137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43.410</a:t>
            </a:r>
          </a:p>
        </p:txBody>
      </p:sp>
      <p:sp>
        <p:nvSpPr>
          <p:cNvPr id="33" name="TextBox 32"/>
          <p:cNvSpPr txBox="1"/>
          <p:nvPr/>
        </p:nvSpPr>
        <p:spPr>
          <a:xfrm>
            <a:off x="3296160" y="316137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9,8%</a:t>
            </a:r>
          </a:p>
        </p:txBody>
      </p:sp>
      <p:sp>
        <p:nvSpPr>
          <p:cNvPr id="34" name="TextBox 33"/>
          <p:cNvSpPr txBox="1"/>
          <p:nvPr/>
        </p:nvSpPr>
        <p:spPr>
          <a:xfrm>
            <a:off x="3870720" y="316137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2,55%</a:t>
            </a:r>
          </a:p>
        </p:txBody>
      </p:sp>
      <p:sp>
        <p:nvSpPr>
          <p:cNvPr id="35" name="TextBox 34"/>
          <p:cNvSpPr txBox="1"/>
          <p:nvPr/>
        </p:nvSpPr>
        <p:spPr>
          <a:xfrm>
            <a:off x="4656960" y="316137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2,23%</a:t>
            </a:r>
          </a:p>
        </p:txBody>
      </p:sp>
      <p:sp>
        <p:nvSpPr>
          <p:cNvPr id="36" name="TextBox 35"/>
          <p:cNvSpPr txBox="1"/>
          <p:nvPr/>
        </p:nvSpPr>
        <p:spPr>
          <a:xfrm>
            <a:off x="567000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0,32%</a:t>
            </a:r>
          </a:p>
        </p:txBody>
      </p:sp>
      <p:sp>
        <p:nvSpPr>
          <p:cNvPr id="37" name="TextBox 36"/>
          <p:cNvSpPr txBox="1"/>
          <p:nvPr/>
        </p:nvSpPr>
        <p:spPr>
          <a:xfrm>
            <a:off x="638064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38" name="TextBox 37"/>
          <p:cNvSpPr txBox="1"/>
          <p:nvPr/>
        </p:nvSpPr>
        <p:spPr>
          <a:xfrm>
            <a:off x="604800" y="343861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Saneamento</a:t>
            </a:r>
          </a:p>
        </p:txBody>
      </p:sp>
      <p:sp>
        <p:nvSpPr>
          <p:cNvPr id="39" name="TextBox 38"/>
          <p:cNvSpPr txBox="1"/>
          <p:nvPr/>
        </p:nvSpPr>
        <p:spPr>
          <a:xfrm>
            <a:off x="2404080" y="343861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39.943</a:t>
            </a:r>
          </a:p>
        </p:txBody>
      </p:sp>
      <p:sp>
        <p:nvSpPr>
          <p:cNvPr id="40" name="TextBox 39"/>
          <p:cNvSpPr txBox="1"/>
          <p:nvPr/>
        </p:nvSpPr>
        <p:spPr>
          <a:xfrm>
            <a:off x="3296160" y="343861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9,0%</a:t>
            </a:r>
          </a:p>
        </p:txBody>
      </p:sp>
      <p:sp>
        <p:nvSpPr>
          <p:cNvPr id="41" name="TextBox 40"/>
          <p:cNvSpPr txBox="1"/>
          <p:nvPr/>
        </p:nvSpPr>
        <p:spPr>
          <a:xfrm>
            <a:off x="3870720" y="343861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42" name="TextBox 41"/>
          <p:cNvSpPr txBox="1"/>
          <p:nvPr/>
        </p:nvSpPr>
        <p:spPr>
          <a:xfrm>
            <a:off x="4656960" y="343861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1,67%</a:t>
            </a:r>
          </a:p>
        </p:txBody>
      </p:sp>
      <p:sp>
        <p:nvSpPr>
          <p:cNvPr id="43" name="TextBox 42"/>
          <p:cNvSpPr txBox="1"/>
          <p:nvPr/>
        </p:nvSpPr>
        <p:spPr>
          <a:xfrm>
            <a:off x="567000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44" name="TextBox 43"/>
          <p:cNvSpPr txBox="1"/>
          <p:nvPr/>
        </p:nvSpPr>
        <p:spPr>
          <a:xfrm>
            <a:off x="638064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45" name="TextBox 44"/>
          <p:cNvSpPr txBox="1"/>
          <p:nvPr/>
        </p:nvSpPr>
        <p:spPr>
          <a:xfrm>
            <a:off x="604800" y="371585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Locação de veículos</a:t>
            </a:r>
          </a:p>
        </p:txBody>
      </p:sp>
      <p:sp>
        <p:nvSpPr>
          <p:cNvPr id="46" name="TextBox 45"/>
          <p:cNvSpPr txBox="1"/>
          <p:nvPr/>
        </p:nvSpPr>
        <p:spPr>
          <a:xfrm>
            <a:off x="2404080" y="371585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33.800</a:t>
            </a:r>
          </a:p>
        </p:txBody>
      </p:sp>
      <p:sp>
        <p:nvSpPr>
          <p:cNvPr id="47" name="TextBox 46"/>
          <p:cNvSpPr txBox="1"/>
          <p:nvPr/>
        </p:nvSpPr>
        <p:spPr>
          <a:xfrm>
            <a:off x="3296160" y="371585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7,6%</a:t>
            </a:r>
          </a:p>
        </p:txBody>
      </p:sp>
      <p:sp>
        <p:nvSpPr>
          <p:cNvPr id="48" name="TextBox 47"/>
          <p:cNvSpPr txBox="1"/>
          <p:nvPr/>
        </p:nvSpPr>
        <p:spPr>
          <a:xfrm>
            <a:off x="3870720" y="371585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1,62%</a:t>
            </a:r>
          </a:p>
        </p:txBody>
      </p:sp>
      <p:sp>
        <p:nvSpPr>
          <p:cNvPr id="49" name="TextBox 48"/>
          <p:cNvSpPr txBox="1"/>
          <p:nvPr/>
        </p:nvSpPr>
        <p:spPr>
          <a:xfrm>
            <a:off x="4656960" y="371585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1,65%</a:t>
            </a:r>
          </a:p>
        </p:txBody>
      </p:sp>
      <p:sp>
        <p:nvSpPr>
          <p:cNvPr id="50" name="TextBox 49"/>
          <p:cNvSpPr txBox="1"/>
          <p:nvPr/>
        </p:nvSpPr>
        <p:spPr>
          <a:xfrm>
            <a:off x="567000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51" name="TextBox 50"/>
          <p:cNvSpPr txBox="1"/>
          <p:nvPr/>
        </p:nvSpPr>
        <p:spPr>
          <a:xfrm>
            <a:off x="638064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52" name="TextBox 51"/>
          <p:cNvSpPr txBox="1"/>
          <p:nvPr/>
        </p:nvSpPr>
        <p:spPr>
          <a:xfrm>
            <a:off x="604800" y="3993097"/>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Petróleo e gás</a:t>
            </a:r>
          </a:p>
        </p:txBody>
      </p:sp>
      <p:sp>
        <p:nvSpPr>
          <p:cNvPr id="53" name="TextBox 52"/>
          <p:cNvSpPr txBox="1"/>
          <p:nvPr/>
        </p:nvSpPr>
        <p:spPr>
          <a:xfrm>
            <a:off x="2404080" y="3993097"/>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33.070</a:t>
            </a:r>
          </a:p>
        </p:txBody>
      </p:sp>
      <p:sp>
        <p:nvSpPr>
          <p:cNvPr id="54" name="TextBox 53"/>
          <p:cNvSpPr txBox="1"/>
          <p:nvPr/>
        </p:nvSpPr>
        <p:spPr>
          <a:xfrm>
            <a:off x="3296160" y="3993097"/>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7,5%</a:t>
            </a:r>
          </a:p>
        </p:txBody>
      </p:sp>
      <p:sp>
        <p:nvSpPr>
          <p:cNvPr id="55" name="TextBox 54"/>
          <p:cNvSpPr txBox="1"/>
          <p:nvPr/>
        </p:nvSpPr>
        <p:spPr>
          <a:xfrm>
            <a:off x="3870720" y="3993097"/>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0,80%</a:t>
            </a:r>
          </a:p>
        </p:txBody>
      </p:sp>
      <p:sp>
        <p:nvSpPr>
          <p:cNvPr id="56" name="TextBox 55"/>
          <p:cNvSpPr txBox="1"/>
          <p:nvPr/>
        </p:nvSpPr>
        <p:spPr>
          <a:xfrm>
            <a:off x="4656960" y="3993097"/>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0,82%</a:t>
            </a:r>
          </a:p>
        </p:txBody>
      </p:sp>
      <p:sp>
        <p:nvSpPr>
          <p:cNvPr id="57" name="TextBox 56"/>
          <p:cNvSpPr txBox="1"/>
          <p:nvPr/>
        </p:nvSpPr>
        <p:spPr>
          <a:xfrm>
            <a:off x="567000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58" name="TextBox 57"/>
          <p:cNvSpPr txBox="1"/>
          <p:nvPr/>
        </p:nvSpPr>
        <p:spPr>
          <a:xfrm>
            <a:off x="638064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2,8</a:t>
            </a:r>
          </a:p>
        </p:txBody>
      </p:sp>
      <p:sp>
        <p:nvSpPr>
          <p:cNvPr id="59" name="TextBox 58"/>
          <p:cNvSpPr txBox="1"/>
          <p:nvPr/>
        </p:nvSpPr>
        <p:spPr>
          <a:xfrm>
            <a:off x="604800" y="427033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Transporte e logística</a:t>
            </a:r>
          </a:p>
        </p:txBody>
      </p:sp>
      <p:sp>
        <p:nvSpPr>
          <p:cNvPr id="60" name="TextBox 59"/>
          <p:cNvSpPr txBox="1"/>
          <p:nvPr/>
        </p:nvSpPr>
        <p:spPr>
          <a:xfrm>
            <a:off x="2404080" y="427033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29.782</a:t>
            </a:r>
          </a:p>
        </p:txBody>
      </p:sp>
      <p:sp>
        <p:nvSpPr>
          <p:cNvPr id="61" name="TextBox 60"/>
          <p:cNvSpPr txBox="1"/>
          <p:nvPr/>
        </p:nvSpPr>
        <p:spPr>
          <a:xfrm>
            <a:off x="3296160" y="427033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6,7%</a:t>
            </a:r>
          </a:p>
        </p:txBody>
      </p:sp>
      <p:sp>
        <p:nvSpPr>
          <p:cNvPr id="62" name="TextBox 61"/>
          <p:cNvSpPr txBox="1"/>
          <p:nvPr/>
        </p:nvSpPr>
        <p:spPr>
          <a:xfrm>
            <a:off x="3870720" y="427033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63" name="TextBox 62"/>
          <p:cNvSpPr txBox="1"/>
          <p:nvPr/>
        </p:nvSpPr>
        <p:spPr>
          <a:xfrm>
            <a:off x="4656960" y="427033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64" name="TextBox 63"/>
          <p:cNvSpPr txBox="1"/>
          <p:nvPr/>
        </p:nvSpPr>
        <p:spPr>
          <a:xfrm>
            <a:off x="567000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0,08%</a:t>
            </a:r>
          </a:p>
        </p:txBody>
      </p:sp>
      <p:sp>
        <p:nvSpPr>
          <p:cNvPr id="65" name="TextBox 64"/>
          <p:cNvSpPr txBox="1"/>
          <p:nvPr/>
        </p:nvSpPr>
        <p:spPr>
          <a:xfrm>
            <a:off x="638064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66" name="TextBox 65"/>
          <p:cNvSpPr txBox="1"/>
          <p:nvPr/>
        </p:nvSpPr>
        <p:spPr>
          <a:xfrm>
            <a:off x="604800" y="4505878"/>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Comércio atacadista e varejista</a:t>
            </a:r>
          </a:p>
        </p:txBody>
      </p:sp>
      <p:sp>
        <p:nvSpPr>
          <p:cNvPr id="67" name="TextBox 66"/>
          <p:cNvSpPr txBox="1"/>
          <p:nvPr/>
        </p:nvSpPr>
        <p:spPr>
          <a:xfrm>
            <a:off x="2404080" y="457970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26.963</a:t>
            </a:r>
          </a:p>
        </p:txBody>
      </p:sp>
      <p:sp>
        <p:nvSpPr>
          <p:cNvPr id="68" name="TextBox 67"/>
          <p:cNvSpPr txBox="1"/>
          <p:nvPr/>
        </p:nvSpPr>
        <p:spPr>
          <a:xfrm>
            <a:off x="3296160" y="457970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6,1%</a:t>
            </a:r>
          </a:p>
        </p:txBody>
      </p:sp>
      <p:sp>
        <p:nvSpPr>
          <p:cNvPr id="69" name="TextBox 68"/>
          <p:cNvSpPr txBox="1"/>
          <p:nvPr/>
        </p:nvSpPr>
        <p:spPr>
          <a:xfrm>
            <a:off x="3870720" y="457970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70" name="TextBox 69"/>
          <p:cNvSpPr txBox="1"/>
          <p:nvPr/>
        </p:nvSpPr>
        <p:spPr>
          <a:xfrm>
            <a:off x="4656960" y="457970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1,32%</a:t>
            </a:r>
          </a:p>
        </p:txBody>
      </p:sp>
      <p:sp>
        <p:nvSpPr>
          <p:cNvPr id="71" name="TextBox 70"/>
          <p:cNvSpPr txBox="1"/>
          <p:nvPr/>
        </p:nvSpPr>
        <p:spPr>
          <a:xfrm>
            <a:off x="567000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72" name="TextBox 71"/>
          <p:cNvSpPr txBox="1"/>
          <p:nvPr/>
        </p:nvSpPr>
        <p:spPr>
          <a:xfrm>
            <a:off x="638064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73" name="TextBox 72"/>
          <p:cNvSpPr txBox="1"/>
          <p:nvPr/>
        </p:nvSpPr>
        <p:spPr>
          <a:xfrm>
            <a:off x="604800" y="488919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Financeiro</a:t>
            </a:r>
          </a:p>
        </p:txBody>
      </p:sp>
      <p:sp>
        <p:nvSpPr>
          <p:cNvPr id="74" name="TextBox 73"/>
          <p:cNvSpPr txBox="1"/>
          <p:nvPr/>
        </p:nvSpPr>
        <p:spPr>
          <a:xfrm>
            <a:off x="2404080" y="488919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23.678</a:t>
            </a:r>
          </a:p>
        </p:txBody>
      </p:sp>
      <p:sp>
        <p:nvSpPr>
          <p:cNvPr id="75" name="TextBox 74"/>
          <p:cNvSpPr txBox="1"/>
          <p:nvPr/>
        </p:nvSpPr>
        <p:spPr>
          <a:xfrm>
            <a:off x="3296160" y="488919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5,3%</a:t>
            </a:r>
          </a:p>
        </p:txBody>
      </p:sp>
      <p:sp>
        <p:nvSpPr>
          <p:cNvPr id="76" name="TextBox 75"/>
          <p:cNvSpPr txBox="1"/>
          <p:nvPr/>
        </p:nvSpPr>
        <p:spPr>
          <a:xfrm>
            <a:off x="3870720" y="488919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0,45%</a:t>
            </a:r>
          </a:p>
        </p:txBody>
      </p:sp>
      <p:sp>
        <p:nvSpPr>
          <p:cNvPr id="77" name="TextBox 76"/>
          <p:cNvSpPr txBox="1"/>
          <p:nvPr/>
        </p:nvSpPr>
        <p:spPr>
          <a:xfrm>
            <a:off x="4656960" y="488919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0,46%</a:t>
            </a:r>
          </a:p>
        </p:txBody>
      </p:sp>
      <p:sp>
        <p:nvSpPr>
          <p:cNvPr id="78" name="TextBox 77"/>
          <p:cNvSpPr txBox="1"/>
          <p:nvPr/>
        </p:nvSpPr>
        <p:spPr>
          <a:xfrm>
            <a:off x="567000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79" name="TextBox 78"/>
          <p:cNvSpPr txBox="1"/>
          <p:nvPr/>
        </p:nvSpPr>
        <p:spPr>
          <a:xfrm>
            <a:off x="638064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80" name="TextBox 79"/>
          <p:cNvSpPr txBox="1"/>
          <p:nvPr/>
        </p:nvSpPr>
        <p:spPr>
          <a:xfrm>
            <a:off x="604800" y="516643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Indústria e comércio</a:t>
            </a:r>
          </a:p>
        </p:txBody>
      </p:sp>
      <p:sp>
        <p:nvSpPr>
          <p:cNvPr id="81" name="TextBox 80"/>
          <p:cNvSpPr txBox="1"/>
          <p:nvPr/>
        </p:nvSpPr>
        <p:spPr>
          <a:xfrm>
            <a:off x="2404080" y="516643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22.210</a:t>
            </a:r>
          </a:p>
        </p:txBody>
      </p:sp>
      <p:sp>
        <p:nvSpPr>
          <p:cNvPr id="82" name="TextBox 81"/>
          <p:cNvSpPr txBox="1"/>
          <p:nvPr/>
        </p:nvSpPr>
        <p:spPr>
          <a:xfrm>
            <a:off x="3296160" y="516643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5,0%</a:t>
            </a:r>
          </a:p>
        </p:txBody>
      </p:sp>
      <p:sp>
        <p:nvSpPr>
          <p:cNvPr id="83" name="TextBox 82"/>
          <p:cNvSpPr txBox="1"/>
          <p:nvPr/>
        </p:nvSpPr>
        <p:spPr>
          <a:xfrm>
            <a:off x="3870720" y="516643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4" name="TextBox 83"/>
          <p:cNvSpPr txBox="1"/>
          <p:nvPr/>
        </p:nvSpPr>
        <p:spPr>
          <a:xfrm>
            <a:off x="4656960" y="516643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5" name="TextBox 84"/>
          <p:cNvSpPr txBox="1"/>
          <p:nvPr/>
        </p:nvSpPr>
        <p:spPr>
          <a:xfrm>
            <a:off x="567000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86" name="TextBox 85"/>
          <p:cNvSpPr txBox="1"/>
          <p:nvPr/>
        </p:nvSpPr>
        <p:spPr>
          <a:xfrm>
            <a:off x="638064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2,6</a:t>
            </a:r>
          </a:p>
        </p:txBody>
      </p:sp>
      <p:sp>
        <p:nvSpPr>
          <p:cNvPr id="87" name="TextBox 86"/>
          <p:cNvSpPr txBox="1"/>
          <p:nvPr/>
        </p:nvSpPr>
        <p:spPr>
          <a:xfrm>
            <a:off x="604800" y="544367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Ti e telecomunicações</a:t>
            </a:r>
          </a:p>
        </p:txBody>
      </p:sp>
      <p:sp>
        <p:nvSpPr>
          <p:cNvPr id="88" name="TextBox 87"/>
          <p:cNvSpPr txBox="1"/>
          <p:nvPr/>
        </p:nvSpPr>
        <p:spPr>
          <a:xfrm>
            <a:off x="2404080" y="544367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18.606</a:t>
            </a:r>
          </a:p>
        </p:txBody>
      </p:sp>
      <p:sp>
        <p:nvSpPr>
          <p:cNvPr id="89" name="TextBox 88"/>
          <p:cNvSpPr txBox="1"/>
          <p:nvPr/>
        </p:nvSpPr>
        <p:spPr>
          <a:xfrm>
            <a:off x="3296160" y="544367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4,2%</a:t>
            </a:r>
          </a:p>
        </p:txBody>
      </p:sp>
      <p:sp>
        <p:nvSpPr>
          <p:cNvPr id="90" name="TextBox 89"/>
          <p:cNvSpPr txBox="1"/>
          <p:nvPr/>
        </p:nvSpPr>
        <p:spPr>
          <a:xfrm>
            <a:off x="3870720" y="544367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1" name="TextBox 90"/>
          <p:cNvSpPr txBox="1"/>
          <p:nvPr/>
        </p:nvSpPr>
        <p:spPr>
          <a:xfrm>
            <a:off x="4656960" y="544367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2" name="TextBox 91"/>
          <p:cNvSpPr txBox="1"/>
          <p:nvPr/>
        </p:nvSpPr>
        <p:spPr>
          <a:xfrm>
            <a:off x="567000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93" name="TextBox 92"/>
          <p:cNvSpPr txBox="1"/>
          <p:nvPr/>
        </p:nvSpPr>
        <p:spPr>
          <a:xfrm>
            <a:off x="638064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94" name="TextBox 93"/>
          <p:cNvSpPr txBox="1"/>
          <p:nvPr/>
        </p:nvSpPr>
        <p:spPr>
          <a:xfrm>
            <a:off x="604800" y="572091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Bioenergia</a:t>
            </a:r>
          </a:p>
        </p:txBody>
      </p:sp>
      <p:sp>
        <p:nvSpPr>
          <p:cNvPr id="95" name="TextBox 94"/>
          <p:cNvSpPr txBox="1"/>
          <p:nvPr/>
        </p:nvSpPr>
        <p:spPr>
          <a:xfrm>
            <a:off x="2404080" y="572091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9.534</a:t>
            </a:r>
          </a:p>
        </p:txBody>
      </p:sp>
      <p:sp>
        <p:nvSpPr>
          <p:cNvPr id="96" name="TextBox 95"/>
          <p:cNvSpPr txBox="1"/>
          <p:nvPr/>
        </p:nvSpPr>
        <p:spPr>
          <a:xfrm>
            <a:off x="3296160" y="572091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97" name="TextBox 96"/>
          <p:cNvSpPr txBox="1"/>
          <p:nvPr/>
        </p:nvSpPr>
        <p:spPr>
          <a:xfrm>
            <a:off x="3870720" y="572091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1,69%</a:t>
            </a:r>
          </a:p>
        </p:txBody>
      </p:sp>
      <p:sp>
        <p:nvSpPr>
          <p:cNvPr id="98" name="TextBox 97"/>
          <p:cNvSpPr txBox="1"/>
          <p:nvPr/>
        </p:nvSpPr>
        <p:spPr>
          <a:xfrm>
            <a:off x="4656960" y="572091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99" name="TextBox 98"/>
          <p:cNvSpPr txBox="1"/>
          <p:nvPr/>
        </p:nvSpPr>
        <p:spPr>
          <a:xfrm>
            <a:off x="567000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100" name="TextBox 99"/>
          <p:cNvSpPr txBox="1"/>
          <p:nvPr/>
        </p:nvSpPr>
        <p:spPr>
          <a:xfrm>
            <a:off x="638064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3,0</a:t>
            </a:r>
          </a:p>
        </p:txBody>
      </p:sp>
      <p:sp>
        <p:nvSpPr>
          <p:cNvPr id="101" name="TextBox 100"/>
          <p:cNvSpPr txBox="1"/>
          <p:nvPr/>
        </p:nvSpPr>
        <p:spPr>
          <a:xfrm>
            <a:off x="604800" y="599815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Metalurgia e siderurgia</a:t>
            </a:r>
          </a:p>
        </p:txBody>
      </p:sp>
      <p:sp>
        <p:nvSpPr>
          <p:cNvPr id="102" name="TextBox 101"/>
          <p:cNvSpPr txBox="1"/>
          <p:nvPr/>
        </p:nvSpPr>
        <p:spPr>
          <a:xfrm>
            <a:off x="2404080" y="599815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9.897</a:t>
            </a:r>
          </a:p>
        </p:txBody>
      </p:sp>
      <p:sp>
        <p:nvSpPr>
          <p:cNvPr id="103" name="TextBox 102"/>
          <p:cNvSpPr txBox="1"/>
          <p:nvPr/>
        </p:nvSpPr>
        <p:spPr>
          <a:xfrm>
            <a:off x="3296160" y="599815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104" name="TextBox 103"/>
          <p:cNvSpPr txBox="1"/>
          <p:nvPr/>
        </p:nvSpPr>
        <p:spPr>
          <a:xfrm>
            <a:off x="3870720" y="599815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1,22%</a:t>
            </a:r>
          </a:p>
        </p:txBody>
      </p:sp>
      <p:sp>
        <p:nvSpPr>
          <p:cNvPr id="105" name="TextBox 104"/>
          <p:cNvSpPr txBox="1"/>
          <p:nvPr/>
        </p:nvSpPr>
        <p:spPr>
          <a:xfrm>
            <a:off x="4656960" y="599815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106" name="TextBox 105"/>
          <p:cNvSpPr txBox="1"/>
          <p:nvPr/>
        </p:nvSpPr>
        <p:spPr>
          <a:xfrm>
            <a:off x="567000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07" name="TextBox 106"/>
          <p:cNvSpPr txBox="1"/>
          <p:nvPr/>
        </p:nvSpPr>
        <p:spPr>
          <a:xfrm>
            <a:off x="638064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08" name="TextBox 107"/>
          <p:cNvSpPr txBox="1"/>
          <p:nvPr/>
        </p:nvSpPr>
        <p:spPr>
          <a:xfrm>
            <a:off x="604800" y="627539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Educação</a:t>
            </a:r>
          </a:p>
        </p:txBody>
      </p:sp>
      <p:sp>
        <p:nvSpPr>
          <p:cNvPr id="109" name="TextBox 108"/>
          <p:cNvSpPr txBox="1"/>
          <p:nvPr/>
        </p:nvSpPr>
        <p:spPr>
          <a:xfrm>
            <a:off x="2404080" y="627539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7.210</a:t>
            </a:r>
          </a:p>
        </p:txBody>
      </p:sp>
      <p:sp>
        <p:nvSpPr>
          <p:cNvPr id="110" name="TextBox 109"/>
          <p:cNvSpPr txBox="1"/>
          <p:nvPr/>
        </p:nvSpPr>
        <p:spPr>
          <a:xfrm>
            <a:off x="3296160" y="627539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1,6%</a:t>
            </a:r>
          </a:p>
        </p:txBody>
      </p:sp>
      <p:sp>
        <p:nvSpPr>
          <p:cNvPr id="111" name="TextBox 110"/>
          <p:cNvSpPr txBox="1"/>
          <p:nvPr/>
        </p:nvSpPr>
        <p:spPr>
          <a:xfrm>
            <a:off x="3870720" y="627539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1,13%</a:t>
            </a:r>
          </a:p>
        </p:txBody>
      </p:sp>
      <p:sp>
        <p:nvSpPr>
          <p:cNvPr id="112" name="TextBox 111"/>
          <p:cNvSpPr txBox="1"/>
          <p:nvPr/>
        </p:nvSpPr>
        <p:spPr>
          <a:xfrm>
            <a:off x="4656960" y="627539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1,17%</a:t>
            </a:r>
          </a:p>
        </p:txBody>
      </p:sp>
      <p:sp>
        <p:nvSpPr>
          <p:cNvPr id="113" name="TextBox 112"/>
          <p:cNvSpPr txBox="1"/>
          <p:nvPr/>
        </p:nvSpPr>
        <p:spPr>
          <a:xfrm>
            <a:off x="567000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14" name="TextBox 113"/>
          <p:cNvSpPr txBox="1"/>
          <p:nvPr/>
        </p:nvSpPr>
        <p:spPr>
          <a:xfrm>
            <a:off x="638064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115" name="TextBox 114"/>
          <p:cNvSpPr txBox="1"/>
          <p:nvPr/>
        </p:nvSpPr>
        <p:spPr>
          <a:xfrm>
            <a:off x="604800" y="655263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Serviços imobiliários</a:t>
            </a:r>
          </a:p>
        </p:txBody>
      </p:sp>
      <p:sp>
        <p:nvSpPr>
          <p:cNvPr id="116" name="TextBox 115"/>
          <p:cNvSpPr txBox="1"/>
          <p:nvPr/>
        </p:nvSpPr>
        <p:spPr>
          <a:xfrm>
            <a:off x="2404080" y="655263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5.994</a:t>
            </a:r>
          </a:p>
        </p:txBody>
      </p:sp>
      <p:sp>
        <p:nvSpPr>
          <p:cNvPr id="117" name="TextBox 116"/>
          <p:cNvSpPr txBox="1"/>
          <p:nvPr/>
        </p:nvSpPr>
        <p:spPr>
          <a:xfrm>
            <a:off x="3296160" y="655263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1,4%</a:t>
            </a:r>
          </a:p>
        </p:txBody>
      </p:sp>
      <p:sp>
        <p:nvSpPr>
          <p:cNvPr id="118" name="TextBox 117"/>
          <p:cNvSpPr txBox="1"/>
          <p:nvPr/>
        </p:nvSpPr>
        <p:spPr>
          <a:xfrm>
            <a:off x="3870720" y="655263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0,53%</a:t>
            </a:r>
          </a:p>
        </p:txBody>
      </p:sp>
      <p:sp>
        <p:nvSpPr>
          <p:cNvPr id="119" name="TextBox 118"/>
          <p:cNvSpPr txBox="1"/>
          <p:nvPr/>
        </p:nvSpPr>
        <p:spPr>
          <a:xfrm>
            <a:off x="4656960" y="655263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0,54%</a:t>
            </a:r>
          </a:p>
        </p:txBody>
      </p:sp>
      <p:sp>
        <p:nvSpPr>
          <p:cNvPr id="120" name="TextBox 119"/>
          <p:cNvSpPr txBox="1"/>
          <p:nvPr/>
        </p:nvSpPr>
        <p:spPr>
          <a:xfrm>
            <a:off x="567000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21" name="TextBox 120"/>
          <p:cNvSpPr txBox="1"/>
          <p:nvPr/>
        </p:nvSpPr>
        <p:spPr>
          <a:xfrm>
            <a:off x="638064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122" name="TextBox 121"/>
          <p:cNvSpPr txBox="1"/>
          <p:nvPr/>
        </p:nvSpPr>
        <p:spPr>
          <a:xfrm>
            <a:off x="604800" y="682986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Outros serviços</a:t>
            </a:r>
          </a:p>
        </p:txBody>
      </p:sp>
      <p:sp>
        <p:nvSpPr>
          <p:cNvPr id="123" name="TextBox 122"/>
          <p:cNvSpPr txBox="1"/>
          <p:nvPr/>
        </p:nvSpPr>
        <p:spPr>
          <a:xfrm>
            <a:off x="2404080" y="682986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6.611</a:t>
            </a:r>
          </a:p>
        </p:txBody>
      </p:sp>
      <p:sp>
        <p:nvSpPr>
          <p:cNvPr id="124" name="TextBox 123"/>
          <p:cNvSpPr txBox="1"/>
          <p:nvPr/>
        </p:nvSpPr>
        <p:spPr>
          <a:xfrm>
            <a:off x="3296160" y="682986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1,5%</a:t>
            </a:r>
          </a:p>
        </p:txBody>
      </p:sp>
      <p:sp>
        <p:nvSpPr>
          <p:cNvPr id="125" name="TextBox 124"/>
          <p:cNvSpPr txBox="1"/>
          <p:nvPr/>
        </p:nvSpPr>
        <p:spPr>
          <a:xfrm>
            <a:off x="3870720" y="682986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1,25%</a:t>
            </a:r>
          </a:p>
        </p:txBody>
      </p:sp>
      <p:sp>
        <p:nvSpPr>
          <p:cNvPr id="126" name="TextBox 125"/>
          <p:cNvSpPr txBox="1"/>
          <p:nvPr/>
        </p:nvSpPr>
        <p:spPr>
          <a:xfrm>
            <a:off x="4656960" y="682986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1,09%</a:t>
            </a:r>
          </a:p>
        </p:txBody>
      </p:sp>
      <p:sp>
        <p:nvSpPr>
          <p:cNvPr id="127" name="TextBox 126"/>
          <p:cNvSpPr txBox="1"/>
          <p:nvPr/>
        </p:nvSpPr>
        <p:spPr>
          <a:xfrm>
            <a:off x="567000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0,16%</a:t>
            </a:r>
          </a:p>
        </p:txBody>
      </p:sp>
      <p:sp>
        <p:nvSpPr>
          <p:cNvPr id="128" name="TextBox 127"/>
          <p:cNvSpPr txBox="1"/>
          <p:nvPr/>
        </p:nvSpPr>
        <p:spPr>
          <a:xfrm>
            <a:off x="638064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29" name="TextBox 128"/>
          <p:cNvSpPr txBox="1"/>
          <p:nvPr/>
        </p:nvSpPr>
        <p:spPr>
          <a:xfrm>
            <a:off x="604800" y="7065410"/>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Empreendimentos e participações</a:t>
            </a:r>
          </a:p>
        </p:txBody>
      </p:sp>
      <p:sp>
        <p:nvSpPr>
          <p:cNvPr id="130" name="TextBox 129"/>
          <p:cNvSpPr txBox="1"/>
          <p:nvPr/>
        </p:nvSpPr>
        <p:spPr>
          <a:xfrm>
            <a:off x="2404080" y="713923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9.181</a:t>
            </a:r>
          </a:p>
        </p:txBody>
      </p:sp>
      <p:sp>
        <p:nvSpPr>
          <p:cNvPr id="131" name="TextBox 130"/>
          <p:cNvSpPr txBox="1"/>
          <p:nvPr/>
        </p:nvSpPr>
        <p:spPr>
          <a:xfrm>
            <a:off x="3296160" y="713923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32" name="TextBox 131"/>
          <p:cNvSpPr txBox="1"/>
          <p:nvPr/>
        </p:nvSpPr>
        <p:spPr>
          <a:xfrm>
            <a:off x="3870720" y="713923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3" name="TextBox 132"/>
          <p:cNvSpPr txBox="1"/>
          <p:nvPr/>
        </p:nvSpPr>
        <p:spPr>
          <a:xfrm>
            <a:off x="4656960" y="713923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4" name="TextBox 133"/>
          <p:cNvSpPr txBox="1"/>
          <p:nvPr/>
        </p:nvSpPr>
        <p:spPr>
          <a:xfrm>
            <a:off x="567000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35" name="TextBox 134"/>
          <p:cNvSpPr txBox="1"/>
          <p:nvPr/>
        </p:nvSpPr>
        <p:spPr>
          <a:xfrm>
            <a:off x="638064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3,2</a:t>
            </a:r>
          </a:p>
        </p:txBody>
      </p:sp>
      <p:sp>
        <p:nvSpPr>
          <p:cNvPr id="136" name="TextBox 135"/>
          <p:cNvSpPr txBox="1"/>
          <p:nvPr/>
        </p:nvSpPr>
        <p:spPr>
          <a:xfrm>
            <a:off x="604800" y="744872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Papel e Celulose</a:t>
            </a:r>
          </a:p>
        </p:txBody>
      </p:sp>
      <p:sp>
        <p:nvSpPr>
          <p:cNvPr id="137" name="TextBox 136"/>
          <p:cNvSpPr txBox="1"/>
          <p:nvPr/>
        </p:nvSpPr>
        <p:spPr>
          <a:xfrm>
            <a:off x="2404080" y="744872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5.316</a:t>
            </a:r>
          </a:p>
        </p:txBody>
      </p:sp>
      <p:sp>
        <p:nvSpPr>
          <p:cNvPr id="138" name="TextBox 137"/>
          <p:cNvSpPr txBox="1"/>
          <p:nvPr/>
        </p:nvSpPr>
        <p:spPr>
          <a:xfrm>
            <a:off x="3296160" y="744872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1,2%</a:t>
            </a:r>
          </a:p>
        </p:txBody>
      </p:sp>
      <p:sp>
        <p:nvSpPr>
          <p:cNvPr id="139" name="TextBox 138"/>
          <p:cNvSpPr txBox="1"/>
          <p:nvPr/>
        </p:nvSpPr>
        <p:spPr>
          <a:xfrm>
            <a:off x="3870720" y="744872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0,52%</a:t>
            </a:r>
          </a:p>
        </p:txBody>
      </p:sp>
      <p:sp>
        <p:nvSpPr>
          <p:cNvPr id="140" name="TextBox 139"/>
          <p:cNvSpPr txBox="1"/>
          <p:nvPr/>
        </p:nvSpPr>
        <p:spPr>
          <a:xfrm>
            <a:off x="4656960" y="744872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0,49%</a:t>
            </a:r>
          </a:p>
        </p:txBody>
      </p:sp>
      <p:sp>
        <p:nvSpPr>
          <p:cNvPr id="141" name="TextBox 140"/>
          <p:cNvSpPr txBox="1"/>
          <p:nvPr/>
        </p:nvSpPr>
        <p:spPr>
          <a:xfrm>
            <a:off x="567000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142" name="TextBox 141"/>
          <p:cNvSpPr txBox="1"/>
          <p:nvPr/>
        </p:nvSpPr>
        <p:spPr>
          <a:xfrm>
            <a:off x="638064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4,4</a:t>
            </a:r>
          </a:p>
        </p:txBody>
      </p:sp>
      <p:sp>
        <p:nvSpPr>
          <p:cNvPr id="143" name="TextBox 142"/>
          <p:cNvSpPr txBox="1"/>
          <p:nvPr/>
        </p:nvSpPr>
        <p:spPr>
          <a:xfrm>
            <a:off x="604800" y="7684267"/>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Materiais de construção e agregados</a:t>
            </a:r>
          </a:p>
        </p:txBody>
      </p:sp>
      <p:sp>
        <p:nvSpPr>
          <p:cNvPr id="144" name="TextBox 143"/>
          <p:cNvSpPr txBox="1"/>
          <p:nvPr/>
        </p:nvSpPr>
        <p:spPr>
          <a:xfrm>
            <a:off x="2404080" y="7758095"/>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3.551</a:t>
            </a:r>
          </a:p>
        </p:txBody>
      </p:sp>
      <p:sp>
        <p:nvSpPr>
          <p:cNvPr id="145" name="TextBox 144"/>
          <p:cNvSpPr txBox="1"/>
          <p:nvPr/>
        </p:nvSpPr>
        <p:spPr>
          <a:xfrm>
            <a:off x="3296160" y="7758095"/>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0,8%</a:t>
            </a:r>
          </a:p>
        </p:txBody>
      </p:sp>
      <p:sp>
        <p:nvSpPr>
          <p:cNvPr id="146" name="TextBox 145"/>
          <p:cNvSpPr txBox="1"/>
          <p:nvPr/>
        </p:nvSpPr>
        <p:spPr>
          <a:xfrm>
            <a:off x="3870720" y="7758095"/>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0,88%</a:t>
            </a:r>
          </a:p>
        </p:txBody>
      </p:sp>
      <p:sp>
        <p:nvSpPr>
          <p:cNvPr id="147" name="TextBox 146"/>
          <p:cNvSpPr txBox="1"/>
          <p:nvPr/>
        </p:nvSpPr>
        <p:spPr>
          <a:xfrm>
            <a:off x="4656960" y="7758095"/>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48" name="TextBox 147"/>
          <p:cNvSpPr txBox="1"/>
          <p:nvPr/>
        </p:nvSpPr>
        <p:spPr>
          <a:xfrm>
            <a:off x="567000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49" name="TextBox 148"/>
          <p:cNvSpPr txBox="1"/>
          <p:nvPr/>
        </p:nvSpPr>
        <p:spPr>
          <a:xfrm>
            <a:off x="638064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0" name="TextBox 149"/>
          <p:cNvSpPr txBox="1"/>
          <p:nvPr/>
        </p:nvSpPr>
        <p:spPr>
          <a:xfrm>
            <a:off x="604800" y="806758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Química e petroquímica</a:t>
            </a:r>
          </a:p>
        </p:txBody>
      </p:sp>
      <p:sp>
        <p:nvSpPr>
          <p:cNvPr id="151" name="TextBox 150"/>
          <p:cNvSpPr txBox="1"/>
          <p:nvPr/>
        </p:nvSpPr>
        <p:spPr>
          <a:xfrm>
            <a:off x="2404080" y="806758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2.512</a:t>
            </a:r>
          </a:p>
        </p:txBody>
      </p:sp>
      <p:sp>
        <p:nvSpPr>
          <p:cNvPr id="152" name="TextBox 151"/>
          <p:cNvSpPr txBox="1"/>
          <p:nvPr/>
        </p:nvSpPr>
        <p:spPr>
          <a:xfrm>
            <a:off x="3296160" y="806758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0,6%</a:t>
            </a:r>
          </a:p>
        </p:txBody>
      </p:sp>
      <p:sp>
        <p:nvSpPr>
          <p:cNvPr id="153" name="TextBox 152"/>
          <p:cNvSpPr txBox="1"/>
          <p:nvPr/>
        </p:nvSpPr>
        <p:spPr>
          <a:xfrm>
            <a:off x="3870720" y="806758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4" name="TextBox 153"/>
          <p:cNvSpPr txBox="1"/>
          <p:nvPr/>
        </p:nvSpPr>
        <p:spPr>
          <a:xfrm>
            <a:off x="4656960" y="806758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5" name="TextBox 154"/>
          <p:cNvSpPr txBox="1"/>
          <p:nvPr/>
        </p:nvSpPr>
        <p:spPr>
          <a:xfrm>
            <a:off x="567000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156" name="TextBox 155"/>
          <p:cNvSpPr txBox="1"/>
          <p:nvPr/>
        </p:nvSpPr>
        <p:spPr>
          <a:xfrm>
            <a:off x="638064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7" name="TextBox 156"/>
          <p:cNvSpPr txBox="1"/>
          <p:nvPr/>
        </p:nvSpPr>
        <p:spPr>
          <a:xfrm>
            <a:off x="604800" y="834482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Alimentos e bebidas</a:t>
            </a:r>
          </a:p>
        </p:txBody>
      </p:sp>
      <p:sp>
        <p:nvSpPr>
          <p:cNvPr id="158" name="TextBox 157"/>
          <p:cNvSpPr txBox="1"/>
          <p:nvPr/>
        </p:nvSpPr>
        <p:spPr>
          <a:xfrm>
            <a:off x="2404080" y="834482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1.739</a:t>
            </a:r>
          </a:p>
        </p:txBody>
      </p:sp>
      <p:sp>
        <p:nvSpPr>
          <p:cNvPr id="159" name="TextBox 158"/>
          <p:cNvSpPr txBox="1"/>
          <p:nvPr/>
        </p:nvSpPr>
        <p:spPr>
          <a:xfrm>
            <a:off x="3296160" y="834482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0,4%</a:t>
            </a:r>
          </a:p>
        </p:txBody>
      </p:sp>
      <p:sp>
        <p:nvSpPr>
          <p:cNvPr id="160" name="TextBox 159"/>
          <p:cNvSpPr txBox="1"/>
          <p:nvPr/>
        </p:nvSpPr>
        <p:spPr>
          <a:xfrm>
            <a:off x="3870720" y="834482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1,51%</a:t>
            </a:r>
          </a:p>
        </p:txBody>
      </p:sp>
      <p:sp>
        <p:nvSpPr>
          <p:cNvPr id="161" name="TextBox 160"/>
          <p:cNvSpPr txBox="1"/>
          <p:nvPr/>
        </p:nvSpPr>
        <p:spPr>
          <a:xfrm>
            <a:off x="4656960" y="834482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1,46%</a:t>
            </a:r>
          </a:p>
        </p:txBody>
      </p:sp>
      <p:sp>
        <p:nvSpPr>
          <p:cNvPr id="162" name="TextBox 161"/>
          <p:cNvSpPr txBox="1"/>
          <p:nvPr/>
        </p:nvSpPr>
        <p:spPr>
          <a:xfrm>
            <a:off x="567000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0,05%</a:t>
            </a:r>
          </a:p>
        </p:txBody>
      </p:sp>
      <p:sp>
        <p:nvSpPr>
          <p:cNvPr id="163" name="TextBox 162"/>
          <p:cNvSpPr txBox="1"/>
          <p:nvPr/>
        </p:nvSpPr>
        <p:spPr>
          <a:xfrm>
            <a:off x="638064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64" name="TextBox 163"/>
          <p:cNvSpPr txBox="1"/>
          <p:nvPr/>
        </p:nvSpPr>
        <p:spPr>
          <a:xfrm>
            <a:off x="604800" y="862206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Têxtil e calçados</a:t>
            </a:r>
          </a:p>
        </p:txBody>
      </p:sp>
      <p:sp>
        <p:nvSpPr>
          <p:cNvPr id="165" name="TextBox 164"/>
          <p:cNvSpPr txBox="1"/>
          <p:nvPr/>
        </p:nvSpPr>
        <p:spPr>
          <a:xfrm>
            <a:off x="2404080" y="862206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261</a:t>
            </a:r>
          </a:p>
        </p:txBody>
      </p:sp>
      <p:sp>
        <p:nvSpPr>
          <p:cNvPr id="166" name="TextBox 165"/>
          <p:cNvSpPr txBox="1"/>
          <p:nvPr/>
        </p:nvSpPr>
        <p:spPr>
          <a:xfrm>
            <a:off x="3296160" y="862206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0,1%</a:t>
            </a:r>
          </a:p>
        </p:txBody>
      </p:sp>
      <p:sp>
        <p:nvSpPr>
          <p:cNvPr id="167" name="TextBox 166"/>
          <p:cNvSpPr txBox="1"/>
          <p:nvPr/>
        </p:nvSpPr>
        <p:spPr>
          <a:xfrm>
            <a:off x="3870720" y="862206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0,98%</a:t>
            </a:r>
          </a:p>
        </p:txBody>
      </p:sp>
      <p:sp>
        <p:nvSpPr>
          <p:cNvPr id="168" name="TextBox 167"/>
          <p:cNvSpPr txBox="1"/>
          <p:nvPr/>
        </p:nvSpPr>
        <p:spPr>
          <a:xfrm>
            <a:off x="4656960" y="862206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69" name="TextBox 168"/>
          <p:cNvSpPr txBox="1"/>
          <p:nvPr/>
        </p:nvSpPr>
        <p:spPr>
          <a:xfrm>
            <a:off x="567000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70" name="TextBox 169"/>
          <p:cNvSpPr txBox="1"/>
          <p:nvPr/>
        </p:nvSpPr>
        <p:spPr>
          <a:xfrm>
            <a:off x="638064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171" name="TextBox 170"/>
          <p:cNvSpPr txBox="1"/>
          <p:nvPr/>
        </p:nvSpPr>
        <p:spPr>
          <a:xfrm>
            <a:off x="604800" y="889930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Mineração</a:t>
            </a:r>
          </a:p>
        </p:txBody>
      </p:sp>
      <p:sp>
        <p:nvSpPr>
          <p:cNvPr id="172" name="TextBox 171"/>
          <p:cNvSpPr txBox="1"/>
          <p:nvPr/>
        </p:nvSpPr>
        <p:spPr>
          <a:xfrm>
            <a:off x="2404080" y="889930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1.082</a:t>
            </a:r>
          </a:p>
        </p:txBody>
      </p:sp>
      <p:sp>
        <p:nvSpPr>
          <p:cNvPr id="173" name="TextBox 172"/>
          <p:cNvSpPr txBox="1"/>
          <p:nvPr/>
        </p:nvSpPr>
        <p:spPr>
          <a:xfrm>
            <a:off x="3296160" y="889930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0,2%</a:t>
            </a:r>
          </a:p>
        </p:txBody>
      </p:sp>
      <p:sp>
        <p:nvSpPr>
          <p:cNvPr id="174" name="TextBox 173"/>
          <p:cNvSpPr txBox="1"/>
          <p:nvPr/>
        </p:nvSpPr>
        <p:spPr>
          <a:xfrm>
            <a:off x="3870720" y="889930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0,71%</a:t>
            </a:r>
          </a:p>
        </p:txBody>
      </p:sp>
      <p:sp>
        <p:nvSpPr>
          <p:cNvPr id="175" name="TextBox 174"/>
          <p:cNvSpPr txBox="1"/>
          <p:nvPr/>
        </p:nvSpPr>
        <p:spPr>
          <a:xfrm>
            <a:off x="4656960" y="889930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176" name="TextBox 175"/>
          <p:cNvSpPr txBox="1"/>
          <p:nvPr/>
        </p:nvSpPr>
        <p:spPr>
          <a:xfrm>
            <a:off x="567000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77" name="TextBox 176"/>
          <p:cNvSpPr txBox="1"/>
          <p:nvPr/>
        </p:nvSpPr>
        <p:spPr>
          <a:xfrm>
            <a:off x="638064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78" name="TextBox 177"/>
          <p:cNvSpPr txBox="1"/>
          <p:nvPr/>
        </p:nvSpPr>
        <p:spPr>
          <a:xfrm>
            <a:off x="604800" y="917713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Construção civil</a:t>
            </a:r>
          </a:p>
        </p:txBody>
      </p:sp>
      <p:sp>
        <p:nvSpPr>
          <p:cNvPr id="179" name="TextBox 178"/>
          <p:cNvSpPr txBox="1"/>
          <p:nvPr/>
        </p:nvSpPr>
        <p:spPr>
          <a:xfrm>
            <a:off x="2404080" y="917713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51</a:t>
            </a:r>
          </a:p>
        </p:txBody>
      </p:sp>
      <p:sp>
        <p:nvSpPr>
          <p:cNvPr id="180" name="TextBox 179"/>
          <p:cNvSpPr txBox="1"/>
          <p:nvPr/>
        </p:nvSpPr>
        <p:spPr>
          <a:xfrm>
            <a:off x="3296160" y="917713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0,0%</a:t>
            </a:r>
          </a:p>
        </p:txBody>
      </p:sp>
      <p:sp>
        <p:nvSpPr>
          <p:cNvPr id="181" name="TextBox 180"/>
          <p:cNvSpPr txBox="1"/>
          <p:nvPr/>
        </p:nvSpPr>
        <p:spPr>
          <a:xfrm>
            <a:off x="3870720" y="917713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82" name="TextBox 181"/>
          <p:cNvSpPr txBox="1"/>
          <p:nvPr/>
        </p:nvSpPr>
        <p:spPr>
          <a:xfrm>
            <a:off x="4656960" y="917713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83" name="TextBox 182"/>
          <p:cNvSpPr txBox="1"/>
          <p:nvPr/>
        </p:nvSpPr>
        <p:spPr>
          <a:xfrm>
            <a:off x="567000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84" name="TextBox 183"/>
          <p:cNvSpPr txBox="1"/>
          <p:nvPr/>
        </p:nvSpPr>
        <p:spPr>
          <a:xfrm>
            <a:off x="638064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85" name="TextBox 184"/>
          <p:cNvSpPr txBox="1"/>
          <p:nvPr/>
        </p:nvSpPr>
        <p:spPr>
          <a:xfrm>
            <a:off x="400680" y="9647268"/>
            <a:ext cx="6758640" cy="246054"/>
          </a:xfrm>
          <a:prstGeom prst="rect">
            <a:avLst/>
          </a:prstGeom>
          <a:noFill/>
        </p:spPr>
        <p:txBody>
          <a:bodyPr wrap="square" lIns="0" rIns="0" tIns="0" bIns="0" anchor="t"/>
          <a:lstStyle/>
          <a:p>
            <a:pPr algn="l">
              <a:lnSpc>
                <a:spcPts val="975"/>
              </a:lnSpc>
            </a:pPr>
            <a:r>
              <a:rPr sz="525" b="0" i="0">
                <a:solidFill>
                  <a:srgbClr val="222222"/>
                </a:solidFill>
                <a:latin typeface="Versos"/>
              </a:rPr>
              <a:t>1</a:t>
            </a:r>
            <a:r>
              <a:rPr sz="750" b="0" i="0">
                <a:solidFill>
                  <a:srgbClr val="222222"/>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186" name="TextBox 185"/>
          <p:cNvSpPr txBox="1"/>
          <p:nvPr/>
        </p:nvSpPr>
        <p:spPr>
          <a:xfrm>
            <a:off x="7071553" y="10266480"/>
            <a:ext cx="75552" cy="136080"/>
          </a:xfrm>
          <a:prstGeom prst="rect">
            <a:avLst/>
          </a:prstGeom>
          <a:noFill/>
        </p:spPr>
        <p:txBody>
          <a:bodyPr wrap="none" lIns="0" rIns="0" tIns="0" bIns="0" anchor="t"/>
          <a:lstStyle/>
          <a:p>
            <a:pPr algn="l">
              <a:lnSpc>
                <a:spcPts val="892"/>
              </a:lnSpc>
            </a:pPr>
            <a:r>
              <a:rPr sz="892" b="0" i="0">
                <a:solidFill>
                  <a:srgbClr val="111111"/>
                </a:solidFill>
                <a:latin typeface="Vers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Investidores em geral</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09/05/2016</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0,40% a.a.</a:t>
            </a:r>
          </a:p>
        </p:txBody>
      </p:sp>
      <p:sp>
        <p:nvSpPr>
          <p:cNvPr id="13" name="TextBox 12"/>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4" name="TextBox 13"/>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20% do que exceder 100% CDI</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6" name="TextBox 15"/>
          <p:cNvSpPr txBox="1"/>
          <p:nvPr/>
        </p:nvSpPr>
        <p:spPr>
          <a:xfrm>
            <a:off x="3878280" y="1883857"/>
            <a:ext cx="3281040" cy="1366351"/>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R$ 1.000,00</a:t>
            </a:r>
          </a:p>
        </p:txBody>
      </p:sp>
      <p:sp>
        <p:nvSpPr>
          <p:cNvPr id="17" name="TextBox 16"/>
          <p:cNvSpPr txBox="1"/>
          <p:nvPr/>
        </p:nvSpPr>
        <p:spPr>
          <a:xfrm>
            <a:off x="3878280" y="3767596"/>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8" name="TextBox 17"/>
          <p:cNvSpPr txBox="1"/>
          <p:nvPr/>
        </p:nvSpPr>
        <p:spPr>
          <a:xfrm>
            <a:off x="3878280" y="3956596"/>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R$ 39.929.560,29</a:t>
            </a:r>
          </a:p>
        </p:txBody>
      </p:sp>
      <p:sp>
        <p:nvSpPr>
          <p:cNvPr id="19" name="TextBox 18"/>
          <p:cNvSpPr txBox="1"/>
          <p:nvPr/>
        </p:nvSpPr>
        <p:spPr>
          <a:xfrm>
            <a:off x="3878280" y="445851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 meses)</a:t>
            </a:r>
          </a:p>
        </p:txBody>
      </p:sp>
      <p:sp>
        <p:nvSpPr>
          <p:cNvPr id="20" name="TextBox 19"/>
          <p:cNvSpPr txBox="1"/>
          <p:nvPr/>
        </p:nvSpPr>
        <p:spPr>
          <a:xfrm>
            <a:off x="3878280" y="4647510"/>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R$ 40.998.550,50</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MATERIAL TÉCNICO</a:t>
            </a:r>
          </a:p>
        </p:txBody>
      </p:sp>
      <p:sp>
        <p:nvSpPr>
          <p:cNvPr id="22" name="TextBox 21"/>
          <p:cNvSpPr txBox="1"/>
          <p:nvPr/>
        </p:nvSpPr>
        <p:spPr>
          <a:xfrm>
            <a:off x="400680" y="6471360"/>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Este material foi elaborado pela Tivio Capital Distribuidora de Títulos e Valores Mobiliários S.A. e possui caráter meramente informativo. Não constitui oferta, recomendação ou aconselhamento de investimento.</a:t>
            </a:r>
          </a:p>
        </p:txBody>
      </p:sp>
      <p:sp>
        <p:nvSpPr>
          <p:cNvPr id="23" name="TextBox 22"/>
          <p:cNvSpPr txBox="1"/>
          <p:nvPr/>
        </p:nvSpPr>
        <p:spPr>
          <a:xfrm>
            <a:off x="400680" y="6808725"/>
            <a:ext cx="6758640" cy="438716"/>
          </a:xfrm>
          <a:prstGeom prst="rect">
            <a:avLst/>
          </a:prstGeom>
          <a:noFill/>
        </p:spPr>
        <p:txBody>
          <a:bodyPr wrap="square" lIns="0" rIns="0" tIns="0" bIns="0" anchor="t"/>
          <a:lstStyle/>
          <a:p>
            <a:pPr algn="just">
              <a:lnSpc>
                <a:spcPts val="1162"/>
              </a:lnSpc>
            </a:pPr>
            <a:r>
              <a:rPr sz="952" b="0" i="0">
                <a:solidFill>
                  <a:srgbClr val="E9E9E9"/>
                </a:solidFill>
                <a:latin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p:txBody>
      </p:sp>
      <p:sp>
        <p:nvSpPr>
          <p:cNvPr id="24" name="TextBox 23"/>
          <p:cNvSpPr txBox="1"/>
          <p:nvPr/>
        </p:nvSpPr>
        <p:spPr>
          <a:xfrm>
            <a:off x="400680" y="729362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envolvem riscos. Consulte os documentos do fundo para conhecer sua estratégia, público-alvo, condições e principais fatores de risco.</a:t>
            </a:r>
          </a:p>
        </p:txBody>
      </p:sp>
      <p:sp>
        <p:nvSpPr>
          <p:cNvPr id="25" name="TextBox 24"/>
          <p:cNvSpPr txBox="1"/>
          <p:nvPr/>
        </p:nvSpPr>
        <p:spPr>
          <a:xfrm>
            <a:off x="400680" y="763099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Rentabilidade obtida no passado não representa garantia de resultados futuros. A rentabilidade divulgada não é líquida de impostos.</a:t>
            </a:r>
          </a:p>
        </p:txBody>
      </p:sp>
      <p:sp>
        <p:nvSpPr>
          <p:cNvPr id="26" name="TextBox 25"/>
          <p:cNvSpPr txBox="1"/>
          <p:nvPr/>
        </p:nvSpPr>
        <p:spPr>
          <a:xfrm>
            <a:off x="400680" y="796835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em fundos não são garantidos pelo administrador, pelo gestor, por qualquer mecanismo de seguro ou pelo Fundo Garantidor de Crédito – FGC.</a:t>
            </a:r>
          </a:p>
        </p:txBody>
      </p:sp>
      <p:sp>
        <p:nvSpPr>
          <p:cNvPr id="27" name="TextBox 26"/>
          <p:cNvSpPr txBox="1"/>
          <p:nvPr/>
        </p:nvSpPr>
        <p:spPr>
          <a:xfrm>
            <a:off x="400680" y="830572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A Tivio Capital Distribuidora de Títulos e Valores Mobiliários S.A. integra o conglomerado prudencial liderado pelo Banco Bradesco S.A.</a:t>
            </a:r>
          </a:p>
        </p:txBody>
      </p:sp>
      <p:sp>
        <p:nvSpPr>
          <p:cNvPr id="28" name="TextBox 27"/>
          <p:cNvSpPr txBox="1"/>
          <p:nvPr/>
        </p:nvSpPr>
        <p:spPr>
          <a:xfrm>
            <a:off x="400680" y="8987540"/>
            <a:ext cx="1273269" cy="294840"/>
          </a:xfrm>
          <a:prstGeom prst="rect">
            <a:avLst/>
          </a:prstGeom>
          <a:noFill/>
        </p:spPr>
        <p:txBody>
          <a:bodyPr wrap="square" lIns="0" rIns="0" tIns="0" bIns="0" anchor="t"/>
          <a:lstStyle/>
          <a:p>
            <a:pPr algn="l">
              <a:lnSpc>
                <a:spcPts val="1190"/>
              </a:lnSpc>
            </a:pPr>
            <a:r>
              <a:rPr sz="952" b="0" i="0">
                <a:solidFill>
                  <a:srgbClr val="E9E9E9"/>
                </a:solidFill>
                <a:latin typeface="Versos"/>
              </a:rPr>
              <a:t>SAC: 0800 704 8383</a:t>
            </a:r>
          </a:p>
          <a:p>
            <a:pPr algn="l">
              <a:lnSpc>
                <a:spcPts val="1190"/>
              </a:lnSpc>
            </a:pPr>
            <a:r>
              <a:rPr sz="952" b="0" i="0">
                <a:solidFill>
                  <a:srgbClr val="E9E9E9"/>
                </a:solidFill>
                <a:latin typeface="Versos"/>
              </a:rPr>
              <a:t>Atendimento 24 horas</a:t>
            </a:r>
          </a:p>
        </p:txBody>
      </p:sp>
      <p:sp>
        <p:nvSpPr>
          <p:cNvPr id="29" name="TextBox 28"/>
          <p:cNvSpPr txBox="1"/>
          <p:nvPr/>
        </p:nvSpPr>
        <p:spPr>
          <a:xfrm>
            <a:off x="1794909" y="8987540"/>
            <a:ext cx="4518399" cy="294840"/>
          </a:xfrm>
          <a:prstGeom prst="rect">
            <a:avLst/>
          </a:prstGeom>
          <a:noFill/>
        </p:spPr>
        <p:txBody>
          <a:bodyPr wrap="square" lIns="0" rIns="0" tIns="0" bIns="0" anchor="t"/>
          <a:lstStyle/>
          <a:p>
            <a:pPr algn="l">
              <a:lnSpc>
                <a:spcPts val="1190"/>
              </a:lnSpc>
            </a:pPr>
            <a:r>
              <a:rPr sz="952" b="0" i="0">
                <a:solidFill>
                  <a:srgbClr val="E9E9E9"/>
                </a:solidFill>
                <a:latin typeface="Versos"/>
              </a:rPr>
              <a:t>Ouvidoria: 0800 727 9933</a:t>
            </a:r>
          </a:p>
          <a:p>
            <a:pPr algn="l">
              <a:lnSpc>
                <a:spcPts val="1190"/>
              </a:lnSpc>
            </a:pPr>
            <a:r>
              <a:rPr sz="952" b="0" i="0">
                <a:solidFill>
                  <a:srgbClr val="E9E9E9"/>
                </a:solidFill>
                <a:latin typeface="Versos"/>
              </a:rPr>
              <a:t>Atendimento das 9h às 18h, de segunda a sexta-feira, exceto feriados nacionais</a:t>
            </a:r>
          </a:p>
        </p:txBody>
      </p:sp>
      <p:sp>
        <p:nvSpPr>
          <p:cNvPr id="30" name="TextBox 29"/>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1" name="TextBox 30"/>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2" name="TextBox 31"/>
          <p:cNvSpPr txBox="1"/>
          <p:nvPr/>
        </p:nvSpPr>
        <p:spPr>
          <a:xfrm>
            <a:off x="4528440" y="10020071"/>
            <a:ext cx="527886"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3" name="TextBox 32"/>
          <p:cNvSpPr txBox="1"/>
          <p:nvPr/>
        </p:nvSpPr>
        <p:spPr>
          <a:xfrm>
            <a:off x="4528440" y="10110791"/>
            <a:ext cx="527886" cy="166320"/>
          </a:xfrm>
          <a:prstGeom prst="rect">
            <a:avLst/>
          </a:prstGeom>
          <a:noFill/>
        </p:spPr>
        <p:txBody>
          <a:bodyPr wrap="none" lIns="0" rIns="0" tIns="0" bIns="0" anchor="t"/>
          <a:lstStyle/>
          <a:p>
            <a:pPr algn="l">
              <a:lnSpc>
                <a:spcPts val="1285"/>
              </a:lnSpc>
            </a:pPr>
            <a:r>
              <a:rPr sz="1071" b="1" i="0">
                <a:solidFill>
                  <a:srgbClr val="FFFFFF"/>
                </a:solidFill>
                <a:latin typeface="Versos"/>
              </a:rPr>
              <a:t>brAMP1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