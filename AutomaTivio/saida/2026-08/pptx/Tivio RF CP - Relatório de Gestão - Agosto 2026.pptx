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192"/>
              </a:lnSpc>
            </a:pPr>
            <a:r>
              <a:rPr sz="994" b="0" i="0">
                <a:solidFill>
                  <a:srgbClr val="FFFFFF"/>
                </a:solidFill>
                <a:latin typeface="Versos"/>
              </a:rPr>
              <a:t>RF CP - TIVIO FI FINANCEIRO - CI RF CRED PRIV - RL </a:t>
            </a:r>
            <a:r>
              <a:rPr sz="815" b="0" i="0">
                <a:solidFill>
                  <a:srgbClr val="FFFFFF"/>
                </a:solidFill>
                <a:latin typeface="Versos"/>
              </a:rPr>
              <a:t>/ CNPJ 14.491.665/0001-50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8,59%</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13,99%</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28,43%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46,57%</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154,64%</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155,05%</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−0,74%</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−0,58%</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2,40%</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−0,41%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ITAU</a:t>
            </a:r>
          </a:p>
        </p:txBody>
      </p:sp>
      <p:sp>
        <p:nvSpPr>
          <p:cNvPr id="44" name="TextBox 43"/>
          <p:cNvSpPr txBox="1"/>
          <p:nvPr/>
        </p:nvSpPr>
        <p:spPr>
          <a:xfrm>
            <a:off x="2831928" y="5638224"/>
            <a:ext cx="383292" cy="143640"/>
          </a:xfrm>
          <a:prstGeom prst="rect">
            <a:avLst/>
          </a:prstGeom>
          <a:noFill/>
        </p:spPr>
        <p:txBody>
          <a:bodyPr wrap="none" lIns="0" rIns="0" tIns="0" bIns="0" anchor="t"/>
          <a:lstStyle/>
          <a:p>
            <a:pPr algn="l">
              <a:lnSpc>
                <a:spcPts val="1107"/>
              </a:lnSpc>
            </a:pPr>
            <a:r>
              <a:rPr sz="922" b="0" i="0">
                <a:solidFill>
                  <a:srgbClr val="5A82A0"/>
                </a:solidFill>
                <a:latin typeface="Versos"/>
              </a:rPr>
              <a:t>3,98%</a:t>
            </a:r>
          </a:p>
        </p:txBody>
      </p:sp>
      <p:sp>
        <p:nvSpPr>
          <p:cNvPr id="45" name="TextBox 44"/>
          <p:cNvSpPr txBox="1"/>
          <p:nvPr/>
        </p:nvSpPr>
        <p:spPr>
          <a:xfrm>
            <a:off x="400680" y="610812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6" name="TextBox 45"/>
          <p:cNvSpPr txBox="1"/>
          <p:nvPr/>
        </p:nvSpPr>
        <p:spPr>
          <a:xfrm>
            <a:off x="2320329" y="6106235"/>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47" name="TextBox 46"/>
          <p:cNvSpPr txBox="1"/>
          <p:nvPr/>
        </p:nvSpPr>
        <p:spPr>
          <a:xfrm>
            <a:off x="400680" y="657625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TOYOTA</a:t>
            </a:r>
          </a:p>
        </p:txBody>
      </p:sp>
      <p:sp>
        <p:nvSpPr>
          <p:cNvPr id="48" name="TextBox 47"/>
          <p:cNvSpPr txBox="1"/>
          <p:nvPr/>
        </p:nvSpPr>
        <p:spPr>
          <a:xfrm>
            <a:off x="1936186" y="6574365"/>
            <a:ext cx="316215" cy="143640"/>
          </a:xfrm>
          <a:prstGeom prst="rect">
            <a:avLst/>
          </a:prstGeom>
          <a:noFill/>
        </p:spPr>
        <p:txBody>
          <a:bodyPr wrap="none" lIns="0" rIns="0" tIns="0" bIns="0" anchor="t"/>
          <a:lstStyle/>
          <a:p>
            <a:pPr algn="l">
              <a:lnSpc>
                <a:spcPts val="1107"/>
              </a:lnSpc>
            </a:pPr>
            <a:r>
              <a:rPr sz="922" b="0" i="0">
                <a:solidFill>
                  <a:srgbClr val="5A82A0"/>
                </a:solidFill>
                <a:latin typeface="Versos"/>
              </a:rPr>
              <a:t>1,81%</a:t>
            </a:r>
          </a:p>
        </p:txBody>
      </p:sp>
      <p:sp>
        <p:nvSpPr>
          <p:cNvPr id="49" name="TextBox 48"/>
          <p:cNvSpPr txBox="1"/>
          <p:nvPr/>
        </p:nvSpPr>
        <p:spPr>
          <a:xfrm>
            <a:off x="400680" y="7044266"/>
            <a:ext cx="785134" cy="136080"/>
          </a:xfrm>
          <a:prstGeom prst="rect">
            <a:avLst/>
          </a:prstGeom>
          <a:noFill/>
        </p:spPr>
        <p:txBody>
          <a:bodyPr wrap="none" lIns="0" rIns="0" tIns="0" bIns="0" anchor="t"/>
          <a:lstStyle/>
          <a:p>
            <a:pPr algn="r">
              <a:lnSpc>
                <a:spcPts val="982"/>
              </a:lnSpc>
            </a:pPr>
            <a:r>
              <a:rPr sz="892" b="0" i="0">
                <a:solidFill>
                  <a:srgbClr val="222222"/>
                </a:solidFill>
                <a:latin typeface="Versos"/>
              </a:rPr>
              <a:t>NEOENERGIA</a:t>
            </a:r>
          </a:p>
        </p:txBody>
      </p:sp>
      <p:sp>
        <p:nvSpPr>
          <p:cNvPr id="50" name="TextBox 49"/>
          <p:cNvSpPr txBox="1"/>
          <p:nvPr/>
        </p:nvSpPr>
        <p:spPr>
          <a:xfrm>
            <a:off x="1866020" y="7042376"/>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INTER</a:t>
            </a:r>
          </a:p>
        </p:txBody>
      </p:sp>
      <p:sp>
        <p:nvSpPr>
          <p:cNvPr id="52" name="TextBox 51"/>
          <p:cNvSpPr txBox="1"/>
          <p:nvPr/>
        </p:nvSpPr>
        <p:spPr>
          <a:xfrm>
            <a:off x="1863540" y="7510505"/>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25061" cy="143640"/>
          </a:xfrm>
          <a:prstGeom prst="rect">
            <a:avLst/>
          </a:prstGeom>
          <a:noFill/>
        </p:spPr>
        <p:txBody>
          <a:bodyPr wrap="none" lIns="0" rIns="0" tIns="0" bIns="0" anchor="t"/>
          <a:lstStyle/>
          <a:p>
            <a:pPr algn="l">
              <a:lnSpc>
                <a:spcPts val="1142"/>
              </a:lnSpc>
            </a:pPr>
            <a:r>
              <a:rPr sz="952" b="0" i="0">
                <a:solidFill>
                  <a:srgbClr val="111111"/>
                </a:solidFill>
                <a:latin typeface="Versos"/>
              </a:rPr>
              <a:t>19,77%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15846" y="8715380"/>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254841" y="8993801"/>
            <a:ext cx="354667" cy="143640"/>
          </a:xfrm>
          <a:prstGeom prst="rect">
            <a:avLst/>
          </a:prstGeom>
          <a:noFill/>
        </p:spPr>
        <p:txBody>
          <a:bodyPr wrap="none" lIns="0" rIns="0" tIns="0" bIns="0" anchor="t"/>
          <a:lstStyle/>
          <a:p>
            <a:pPr algn="l">
              <a:lnSpc>
                <a:spcPts val="1142"/>
              </a:lnSpc>
            </a:pPr>
            <a:r>
              <a:rPr sz="952" b="0" i="0">
                <a:solidFill>
                  <a:srgbClr val="111111"/>
                </a:solidFill>
                <a:latin typeface="Versos"/>
              </a:rPr>
              <a:t>2,18%</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22003" y="9272103"/>
            <a:ext cx="361179" cy="143640"/>
          </a:xfrm>
          <a:prstGeom prst="rect">
            <a:avLst/>
          </a:prstGeom>
          <a:noFill/>
        </p:spPr>
        <p:txBody>
          <a:bodyPr wrap="none" lIns="0" rIns="0" tIns="0" bIns="0" anchor="t"/>
          <a:lstStyle/>
          <a:p>
            <a:pPr algn="l">
              <a:lnSpc>
                <a:spcPts val="1142"/>
              </a:lnSpc>
            </a:pPr>
            <a:r>
              <a:rPr sz="952" b="0" i="0">
                <a:solidFill>
                  <a:srgbClr val="111111"/>
                </a:solidFill>
                <a:latin typeface="Versos"/>
              </a:rPr>
              <a:t>1,84%</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550406"/>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18761" y="9828708"/>
            <a:ext cx="387223" cy="143640"/>
          </a:xfrm>
          <a:prstGeom prst="rect">
            <a:avLst/>
          </a:prstGeom>
          <a:noFill/>
        </p:spPr>
        <p:txBody>
          <a:bodyPr wrap="none" lIns="0" rIns="0" tIns="0" bIns="0" anchor="t"/>
          <a:lstStyle/>
          <a:p>
            <a:pPr algn="l">
              <a:lnSpc>
                <a:spcPts val="1142"/>
              </a:lnSpc>
            </a:pPr>
            <a:r>
              <a:rPr sz="952" b="0" i="0">
                <a:solidFill>
                  <a:srgbClr val="111111"/>
                </a:solidFill>
                <a:latin typeface="Versos"/>
              </a:rPr>
              <a:t>0,78%</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7490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67113"/>
            <a:ext cx="464127" cy="143640"/>
          </a:xfrm>
          <a:prstGeom prst="rect">
            <a:avLst/>
          </a:prstGeom>
          <a:noFill/>
        </p:spPr>
        <p:txBody>
          <a:bodyPr wrap="none" lIns="0" rIns="0" tIns="0" bIns="0" anchor="t"/>
          <a:lstStyle/>
          <a:p>
            <a:pPr algn="l">
              <a:lnSpc>
                <a:spcPts val="1142"/>
              </a:lnSpc>
            </a:pPr>
            <a:r>
              <a:rPr sz="952" b="0" i="0">
                <a:solidFill>
                  <a:srgbClr val="111111"/>
                </a:solidFill>
                <a:latin typeface="Versos"/>
              </a:rPr>
              <a:t>39,07%</a:t>
            </a:r>
          </a:p>
        </p:txBody>
      </p:sp>
      <p:sp>
        <p:nvSpPr>
          <p:cNvPr id="69" name="TextBox 68"/>
          <p:cNvSpPr txBox="1"/>
          <p:nvPr/>
        </p:nvSpPr>
        <p:spPr>
          <a:xfrm>
            <a:off x="3802680" y="59008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5945113" y="5893138"/>
            <a:ext cx="369409" cy="143640"/>
          </a:xfrm>
          <a:prstGeom prst="rect">
            <a:avLst/>
          </a:prstGeom>
          <a:noFill/>
        </p:spPr>
        <p:txBody>
          <a:bodyPr wrap="none" lIns="0" rIns="0" tIns="0" bIns="0" anchor="t"/>
          <a:lstStyle/>
          <a:p>
            <a:pPr algn="l">
              <a:lnSpc>
                <a:spcPts val="1142"/>
              </a:lnSpc>
            </a:pPr>
            <a:r>
              <a:rPr sz="952" b="0" i="0">
                <a:solidFill>
                  <a:srgbClr val="111111"/>
                </a:solidFill>
                <a:latin typeface="Versos"/>
              </a:rPr>
              <a:t>14,11%</a:t>
            </a:r>
          </a:p>
        </p:txBody>
      </p:sp>
      <p:sp>
        <p:nvSpPr>
          <p:cNvPr id="71" name="TextBox 70"/>
          <p:cNvSpPr txBox="1"/>
          <p:nvPr/>
        </p:nvSpPr>
        <p:spPr>
          <a:xfrm>
            <a:off x="3802680" y="62268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74843" y="6219045"/>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5,76%</a:t>
            </a:r>
          </a:p>
        </p:txBody>
      </p:sp>
      <p:sp>
        <p:nvSpPr>
          <p:cNvPr id="73" name="TextBox 72"/>
          <p:cNvSpPr txBox="1"/>
          <p:nvPr/>
        </p:nvSpPr>
        <p:spPr>
          <a:xfrm>
            <a:off x="3802680" y="65527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4" name="TextBox 73"/>
          <p:cNvSpPr txBox="1"/>
          <p:nvPr/>
        </p:nvSpPr>
        <p:spPr>
          <a:xfrm>
            <a:off x="5548213" y="6545070"/>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75" name="TextBox 74"/>
          <p:cNvSpPr txBox="1"/>
          <p:nvPr/>
        </p:nvSpPr>
        <p:spPr>
          <a:xfrm>
            <a:off x="3802680" y="68787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0771" y="6870976"/>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1,62%</a:t>
            </a:r>
          </a:p>
        </p:txBody>
      </p:sp>
      <p:sp>
        <p:nvSpPr>
          <p:cNvPr id="77" name="TextBox 76"/>
          <p:cNvSpPr txBox="1"/>
          <p:nvPr/>
        </p:nvSpPr>
        <p:spPr>
          <a:xfrm>
            <a:off x="3802680" y="7148216"/>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8" name="TextBox 77"/>
          <p:cNvSpPr txBox="1"/>
          <p:nvPr/>
        </p:nvSpPr>
        <p:spPr>
          <a:xfrm>
            <a:off x="5533801" y="7197001"/>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79" name="TextBox 78"/>
          <p:cNvSpPr txBox="1"/>
          <p:nvPr/>
        </p:nvSpPr>
        <p:spPr>
          <a:xfrm>
            <a:off x="3802680" y="75307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0" name="TextBox 79"/>
          <p:cNvSpPr txBox="1"/>
          <p:nvPr/>
        </p:nvSpPr>
        <p:spPr>
          <a:xfrm>
            <a:off x="5533801" y="7522908"/>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81" name="TextBox 80"/>
          <p:cNvSpPr txBox="1"/>
          <p:nvPr/>
        </p:nvSpPr>
        <p:spPr>
          <a:xfrm>
            <a:off x="3802680" y="78566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2" name="TextBox 81"/>
          <p:cNvSpPr txBox="1"/>
          <p:nvPr/>
        </p:nvSpPr>
        <p:spPr>
          <a:xfrm>
            <a:off x="5531675" y="7848933"/>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83" name="TextBox 82"/>
          <p:cNvSpPr txBox="1"/>
          <p:nvPr/>
        </p:nvSpPr>
        <p:spPr>
          <a:xfrm>
            <a:off x="3802680" y="81826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4" name="TextBox 83"/>
          <p:cNvSpPr txBox="1"/>
          <p:nvPr/>
        </p:nvSpPr>
        <p:spPr>
          <a:xfrm>
            <a:off x="5520690" y="8174840"/>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85" name="TextBox 84"/>
          <p:cNvSpPr txBox="1"/>
          <p:nvPr/>
        </p:nvSpPr>
        <p:spPr>
          <a:xfrm>
            <a:off x="3802680" y="85085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6" name="TextBox 85"/>
          <p:cNvSpPr txBox="1"/>
          <p:nvPr/>
        </p:nvSpPr>
        <p:spPr>
          <a:xfrm>
            <a:off x="5515374" y="8500865"/>
            <a:ext cx="398156" cy="143640"/>
          </a:xfrm>
          <a:prstGeom prst="rect">
            <a:avLst/>
          </a:prstGeom>
          <a:noFill/>
        </p:spPr>
        <p:txBody>
          <a:bodyPr wrap="none" lIns="0" rIns="0" tIns="0" bIns="0" anchor="t"/>
          <a:lstStyle/>
          <a:p>
            <a:pPr algn="l">
              <a:lnSpc>
                <a:spcPts val="1142"/>
              </a:lnSpc>
            </a:pPr>
            <a:r>
              <a:rPr sz="952" b="0" i="0">
                <a:solidFill>
                  <a:srgbClr val="111111"/>
                </a:solidFill>
                <a:latin typeface="Versos"/>
              </a:rPr>
              <a:t>0,83%</a:t>
            </a:r>
          </a:p>
        </p:txBody>
      </p:sp>
      <p:sp>
        <p:nvSpPr>
          <p:cNvPr id="87" name="TextBox 86"/>
          <p:cNvSpPr txBox="1"/>
          <p:nvPr/>
        </p:nvSpPr>
        <p:spPr>
          <a:xfrm>
            <a:off x="3802680" y="883456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8" name="TextBox 87"/>
          <p:cNvSpPr txBox="1"/>
          <p:nvPr/>
        </p:nvSpPr>
        <p:spPr>
          <a:xfrm>
            <a:off x="5511358" y="8826772"/>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0,71%</a:t>
            </a:r>
          </a:p>
        </p:txBody>
      </p:sp>
      <p:sp>
        <p:nvSpPr>
          <p:cNvPr id="89" name="TextBox 88"/>
          <p:cNvSpPr txBox="1"/>
          <p:nvPr/>
        </p:nvSpPr>
        <p:spPr>
          <a:xfrm>
            <a:off x="3802680" y="91604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0" name="TextBox 89"/>
          <p:cNvSpPr txBox="1"/>
          <p:nvPr/>
        </p:nvSpPr>
        <p:spPr>
          <a:xfrm>
            <a:off x="5507578" y="9152797"/>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1" name="TextBox 90"/>
          <p:cNvSpPr txBox="1"/>
          <p:nvPr/>
        </p:nvSpPr>
        <p:spPr>
          <a:xfrm>
            <a:off x="3802680" y="948650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501790" y="9478822"/>
            <a:ext cx="359459" cy="143640"/>
          </a:xfrm>
          <a:prstGeom prst="rect">
            <a:avLst/>
          </a:prstGeom>
          <a:noFill/>
        </p:spPr>
        <p:txBody>
          <a:bodyPr wrap="none" lIns="0" rIns="0" tIns="0" bIns="0" anchor="t"/>
          <a:lstStyle/>
          <a:p>
            <a:pPr algn="l">
              <a:lnSpc>
                <a:spcPts val="1142"/>
              </a:lnSpc>
            </a:pPr>
            <a:r>
              <a:rPr sz="952" b="0" i="0">
                <a:solidFill>
                  <a:srgbClr val="111111"/>
                </a:solidFill>
                <a:latin typeface="Versos"/>
              </a:rPr>
              <a:t>0,41%</a:t>
            </a:r>
          </a:p>
        </p:txBody>
      </p:sp>
      <p:sp>
        <p:nvSpPr>
          <p:cNvPr id="93" name="TextBox 92"/>
          <p:cNvSpPr txBox="1"/>
          <p:nvPr/>
        </p:nvSpPr>
        <p:spPr>
          <a:xfrm>
            <a:off x="3802680" y="981252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4" name="TextBox 93"/>
          <p:cNvSpPr txBox="1"/>
          <p:nvPr/>
        </p:nvSpPr>
        <p:spPr>
          <a:xfrm>
            <a:off x="5498010" y="9804847"/>
            <a:ext cx="386240" cy="143640"/>
          </a:xfrm>
          <a:prstGeom prst="rect">
            <a:avLst/>
          </a:prstGeom>
          <a:noFill/>
        </p:spPr>
        <p:txBody>
          <a:bodyPr wrap="none" lIns="0" rIns="0" tIns="0" bIns="0" anchor="t"/>
          <a:lstStyle/>
          <a:p>
            <a:pPr algn="l">
              <a:lnSpc>
                <a:spcPts val="1142"/>
              </a:lnSpc>
            </a:pPr>
            <a:r>
              <a:rPr sz="952" b="0" i="0">
                <a:solidFill>
                  <a:srgbClr val="111111"/>
                </a:solidFill>
                <a:latin typeface="Versos"/>
              </a:rPr>
              <a:t>0,27%</a:t>
            </a:r>
          </a:p>
        </p:txBody>
      </p:sp>
      <p:sp>
        <p:nvSpPr>
          <p:cNvPr id="95" name="TextBox 9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RF CP apresentou rentabilidade de 1,12% no mês (102% do CDI), acumulando 8,59% (92% do CDI) no ano. Na parcela de corporativos, os maiores atribuidores de resultado foram para Randon e Tupy,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09/05/2016</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R$ 39.929.560,29</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R$ 40.998.550,50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9" name="TextBox 28"/>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