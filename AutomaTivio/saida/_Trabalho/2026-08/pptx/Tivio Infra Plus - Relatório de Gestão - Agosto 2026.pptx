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748440"/>
            <a:ext cx="6266332" cy="113400"/>
          </a:xfrm>
          <a:prstGeom prst="rect">
            <a:avLst/>
          </a:prstGeom>
          <a:noFill/>
        </p:spPr>
        <p:txBody>
          <a:bodyPr wrap="none" lIns="0" rIns="0" tIns="0" bIns="0" anchor="t"/>
          <a:lstStyle/>
          <a:p>
            <a:pPr algn="l">
              <a:lnSpc>
                <a:spcPts val="921"/>
              </a:lnSpc>
            </a:pPr>
            <a:r>
              <a:rPr sz="767" b="0" i="0">
                <a:solidFill>
                  <a:srgbClr val="FFFFFF"/>
                </a:solidFill>
                <a:latin typeface="Versos"/>
              </a:rPr>
              <a:t>TIVIO PLUS RF FUNDO INCENTIVADO DE INVESTIMENTO FINANCEIRO EM INFRA – RL </a:t>
            </a:r>
            <a:r>
              <a:rPr sz="629" b="0" i="0">
                <a:solidFill>
                  <a:srgbClr val="FFFFFF"/>
                </a:solidFill>
                <a:latin typeface="Versos"/>
              </a:rPr>
              <a:t>/ CNPJ 32.485.590/0001-86</a:t>
            </a:r>
          </a:p>
        </p:txBody>
      </p:sp>
      <p:sp>
        <p:nvSpPr>
          <p:cNvPr id="4" name="TextBox 3"/>
          <p:cNvSpPr txBox="1"/>
          <p:nvPr/>
        </p:nvSpPr>
        <p:spPr>
          <a:xfrm>
            <a:off x="400680" y="1088640"/>
            <a:ext cx="6266332" cy="189000"/>
          </a:xfrm>
          <a:prstGeom prst="rect">
            <a:avLst/>
          </a:prstGeom>
          <a:noFill/>
        </p:spPr>
        <p:txBody>
          <a:bodyPr wrap="none" lIns="0" rIns="0" tIns="0" bIns="0" anchor="t"/>
          <a:lstStyle/>
          <a:p>
            <a:pPr algn="l">
              <a:lnSpc>
                <a:spcPts val="1500"/>
              </a:lnSpc>
            </a:pPr>
            <a:r>
              <a:rPr sz="1250" b="0" i="0">
                <a:solidFill>
                  <a:srgbClr val="FFFFFF"/>
                </a:solidFill>
                <a:latin typeface="Versos"/>
              </a:rPr>
              <a:t>Agosto de 2026</a:t>
            </a:r>
          </a:p>
        </p:txBody>
      </p:sp>
      <p:sp>
        <p:nvSpPr>
          <p:cNvPr id="5" name="TextBox 4"/>
          <p:cNvSpPr txBox="1"/>
          <p:nvPr/>
        </p:nvSpPr>
        <p:spPr>
          <a:xfrm>
            <a:off x="355320" y="1859760"/>
            <a:ext cx="7076160" cy="151200"/>
          </a:xfrm>
          <a:prstGeom prst="rect">
            <a:avLst/>
          </a:prstGeom>
          <a:noFill/>
        </p:spPr>
        <p:txBody>
          <a:bodyPr wrap="none" lIns="0" rIns="0" tIns="0" bIns="0" anchor="t"/>
          <a:lstStyle/>
          <a:p>
            <a:pPr algn="l">
              <a:lnSpc>
                <a:spcPts val="1214"/>
              </a:lnSpc>
            </a:pPr>
            <a:r>
              <a:rPr sz="1012" b="0" i="0">
                <a:solidFill>
                  <a:srgbClr val="141414"/>
                </a:solidFill>
                <a:latin typeface="Versos"/>
              </a:rPr>
              <a:t>OBJETIVO DA CARTEIRA</a:t>
            </a:r>
          </a:p>
        </p:txBody>
      </p:sp>
      <p:sp>
        <p:nvSpPr>
          <p:cNvPr id="6" name="TextBox 5"/>
          <p:cNvSpPr txBox="1"/>
          <p:nvPr/>
        </p:nvSpPr>
        <p:spPr>
          <a:xfrm>
            <a:off x="355320" y="2026080"/>
            <a:ext cx="6350400" cy="503921"/>
          </a:xfrm>
          <a:prstGeom prst="rect">
            <a:avLst/>
          </a:prstGeom>
          <a:noFill/>
        </p:spPr>
        <p:txBody>
          <a:bodyPr wrap="square" lIns="0" rIns="0" tIns="0" bIns="0" anchor="t"/>
          <a:lstStyle/>
          <a:p>
            <a:pPr algn="l">
              <a:lnSpc>
                <a:spcPts val="1299"/>
              </a:lnSpc>
            </a:pPr>
            <a:r>
              <a:rPr sz="1101" b="0" i="0">
                <a:solidFill>
                  <a:srgbClr val="1E1E1E"/>
                </a:solidFill>
                <a:latin typeface="Versos"/>
              </a:rPr>
              <a:t>O fundo busca promover o investimento em debêntures de infraestrutura (Lei 12.431/11) que oferece benefício fiscal para o cotista pessoa física. O fundo busca superar o retorno de ativos indexados à inflação.</a:t>
            </a:r>
          </a:p>
        </p:txBody>
      </p:sp>
      <p:sp>
        <p:nvSpPr>
          <p:cNvPr id="7" name="TextBox 6"/>
          <p:cNvSpPr txBox="1"/>
          <p:nvPr/>
        </p:nvSpPr>
        <p:spPr>
          <a:xfrm>
            <a:off x="1126440" y="275550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Mês</a:t>
            </a:r>
          </a:p>
        </p:txBody>
      </p:sp>
      <p:sp>
        <p:nvSpPr>
          <p:cNvPr id="8" name="TextBox 7"/>
          <p:cNvSpPr txBox="1"/>
          <p:nvPr/>
        </p:nvSpPr>
        <p:spPr>
          <a:xfrm>
            <a:off x="2136881" y="275550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Ano</a:t>
            </a:r>
          </a:p>
        </p:txBody>
      </p:sp>
      <p:sp>
        <p:nvSpPr>
          <p:cNvPr id="9" name="TextBox 8"/>
          <p:cNvSpPr txBox="1"/>
          <p:nvPr/>
        </p:nvSpPr>
        <p:spPr>
          <a:xfrm>
            <a:off x="3147322" y="275550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12M</a:t>
            </a:r>
          </a:p>
        </p:txBody>
      </p:sp>
      <p:sp>
        <p:nvSpPr>
          <p:cNvPr id="10" name="TextBox 9"/>
          <p:cNvSpPr txBox="1"/>
          <p:nvPr/>
        </p:nvSpPr>
        <p:spPr>
          <a:xfrm>
            <a:off x="4157763" y="275550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24M</a:t>
            </a:r>
          </a:p>
        </p:txBody>
      </p:sp>
      <p:sp>
        <p:nvSpPr>
          <p:cNvPr id="11" name="TextBox 10"/>
          <p:cNvSpPr txBox="1"/>
          <p:nvPr/>
        </p:nvSpPr>
        <p:spPr>
          <a:xfrm>
            <a:off x="5168205" y="275550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36M</a:t>
            </a:r>
          </a:p>
        </p:txBody>
      </p:sp>
      <p:sp>
        <p:nvSpPr>
          <p:cNvPr id="12" name="TextBox 11"/>
          <p:cNvSpPr txBox="1"/>
          <p:nvPr/>
        </p:nvSpPr>
        <p:spPr>
          <a:xfrm>
            <a:off x="6178646" y="2755501"/>
            <a:ext cx="988451" cy="143640"/>
          </a:xfrm>
          <a:prstGeom prst="rect">
            <a:avLst/>
          </a:prstGeom>
          <a:noFill/>
        </p:spPr>
        <p:txBody>
          <a:bodyPr wrap="none" lIns="0" rIns="0" tIns="0" bIns="0" anchor="t"/>
          <a:lstStyle/>
          <a:p>
            <a:pPr algn="ctr">
              <a:lnSpc>
                <a:spcPts val="1142"/>
              </a:lnSpc>
            </a:pPr>
            <a:r>
              <a:rPr sz="952" b="1" i="0">
                <a:solidFill>
                  <a:srgbClr val="111111"/>
                </a:solidFill>
                <a:latin typeface="Versos"/>
              </a:rPr>
              <a:t>Desde o Início</a:t>
            </a:r>
          </a:p>
        </p:txBody>
      </p:sp>
      <p:sp>
        <p:nvSpPr>
          <p:cNvPr id="13" name="TextBox 12"/>
          <p:cNvSpPr txBox="1"/>
          <p:nvPr/>
        </p:nvSpPr>
        <p:spPr>
          <a:xfrm>
            <a:off x="340200" y="313161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Fundo</a:t>
            </a:r>
          </a:p>
        </p:txBody>
      </p:sp>
      <p:sp>
        <p:nvSpPr>
          <p:cNvPr id="14" name="TextBox 13"/>
          <p:cNvSpPr txBox="1"/>
          <p:nvPr/>
        </p:nvSpPr>
        <p:spPr>
          <a:xfrm>
            <a:off x="1126440" y="312783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1,26%</a:t>
            </a:r>
          </a:p>
        </p:txBody>
      </p:sp>
      <p:sp>
        <p:nvSpPr>
          <p:cNvPr id="15" name="TextBox 14"/>
          <p:cNvSpPr txBox="1"/>
          <p:nvPr/>
        </p:nvSpPr>
        <p:spPr>
          <a:xfrm>
            <a:off x="2136881" y="312783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5,98%</a:t>
            </a:r>
          </a:p>
        </p:txBody>
      </p:sp>
      <p:sp>
        <p:nvSpPr>
          <p:cNvPr id="16" name="TextBox 15"/>
          <p:cNvSpPr txBox="1"/>
          <p:nvPr/>
        </p:nvSpPr>
        <p:spPr>
          <a:xfrm>
            <a:off x="3147322" y="312783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9,91%</a:t>
            </a:r>
          </a:p>
        </p:txBody>
      </p:sp>
      <p:sp>
        <p:nvSpPr>
          <p:cNvPr id="17" name="TextBox 16"/>
          <p:cNvSpPr txBox="1"/>
          <p:nvPr/>
        </p:nvSpPr>
        <p:spPr>
          <a:xfrm>
            <a:off x="4157763" y="312783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19,03%</a:t>
            </a:r>
          </a:p>
        </p:txBody>
      </p:sp>
      <p:sp>
        <p:nvSpPr>
          <p:cNvPr id="18" name="TextBox 17"/>
          <p:cNvSpPr txBox="1"/>
          <p:nvPr/>
        </p:nvSpPr>
        <p:spPr>
          <a:xfrm>
            <a:off x="5168205" y="312783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29,49%</a:t>
            </a:r>
          </a:p>
        </p:txBody>
      </p:sp>
      <p:sp>
        <p:nvSpPr>
          <p:cNvPr id="19" name="TextBox 18"/>
          <p:cNvSpPr txBox="1"/>
          <p:nvPr/>
        </p:nvSpPr>
        <p:spPr>
          <a:xfrm>
            <a:off x="6178646" y="3127831"/>
            <a:ext cx="988451" cy="151200"/>
          </a:xfrm>
          <a:prstGeom prst="rect">
            <a:avLst/>
          </a:prstGeom>
          <a:noFill/>
        </p:spPr>
        <p:txBody>
          <a:bodyPr wrap="none" lIns="0" rIns="0" tIns="0" bIns="0" anchor="t"/>
          <a:lstStyle/>
          <a:p>
            <a:pPr algn="ctr">
              <a:lnSpc>
                <a:spcPts val="1214"/>
              </a:lnSpc>
            </a:pPr>
            <a:r>
              <a:rPr sz="1012" b="1" i="0">
                <a:solidFill>
                  <a:srgbClr val="5B8299"/>
                </a:solidFill>
                <a:latin typeface="Versos"/>
              </a:rPr>
              <a:t>77,41%</a:t>
            </a:r>
          </a:p>
        </p:txBody>
      </p:sp>
      <p:sp>
        <p:nvSpPr>
          <p:cNvPr id="20" name="TextBox 19"/>
          <p:cNvSpPr txBox="1"/>
          <p:nvPr/>
        </p:nvSpPr>
        <p:spPr>
          <a:xfrm>
            <a:off x="340200" y="352284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IMA-B 5</a:t>
            </a:r>
          </a:p>
        </p:txBody>
      </p:sp>
      <p:sp>
        <p:nvSpPr>
          <p:cNvPr id="21" name="TextBox 20"/>
          <p:cNvSpPr txBox="1"/>
          <p:nvPr/>
        </p:nvSpPr>
        <p:spPr>
          <a:xfrm>
            <a:off x="1126440" y="35190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1,28%</a:t>
            </a:r>
          </a:p>
        </p:txBody>
      </p:sp>
      <p:sp>
        <p:nvSpPr>
          <p:cNvPr id="22" name="TextBox 21"/>
          <p:cNvSpPr txBox="1"/>
          <p:nvPr/>
        </p:nvSpPr>
        <p:spPr>
          <a:xfrm>
            <a:off x="2136881" y="35190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9,18%</a:t>
            </a:r>
          </a:p>
        </p:txBody>
      </p:sp>
      <p:sp>
        <p:nvSpPr>
          <p:cNvPr id="23" name="TextBox 22"/>
          <p:cNvSpPr txBox="1"/>
          <p:nvPr/>
        </p:nvSpPr>
        <p:spPr>
          <a:xfrm>
            <a:off x="3147322" y="35190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13,34%</a:t>
            </a:r>
          </a:p>
        </p:txBody>
      </p:sp>
      <p:sp>
        <p:nvSpPr>
          <p:cNvPr id="24" name="TextBox 23"/>
          <p:cNvSpPr txBox="1"/>
          <p:nvPr/>
        </p:nvSpPr>
        <p:spPr>
          <a:xfrm>
            <a:off x="4157763" y="35190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23,32%</a:t>
            </a:r>
          </a:p>
        </p:txBody>
      </p:sp>
      <p:sp>
        <p:nvSpPr>
          <p:cNvPr id="25" name="TextBox 24"/>
          <p:cNvSpPr txBox="1"/>
          <p:nvPr/>
        </p:nvSpPr>
        <p:spPr>
          <a:xfrm>
            <a:off x="5168205" y="35190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33,11%</a:t>
            </a:r>
          </a:p>
        </p:txBody>
      </p:sp>
      <p:sp>
        <p:nvSpPr>
          <p:cNvPr id="26" name="TextBox 25"/>
          <p:cNvSpPr txBox="1"/>
          <p:nvPr/>
        </p:nvSpPr>
        <p:spPr>
          <a:xfrm>
            <a:off x="6178646" y="3519061"/>
            <a:ext cx="988451" cy="151200"/>
          </a:xfrm>
          <a:prstGeom prst="rect">
            <a:avLst/>
          </a:prstGeom>
          <a:noFill/>
        </p:spPr>
        <p:txBody>
          <a:bodyPr wrap="none" lIns="0" rIns="0" tIns="0" bIns="0" anchor="t"/>
          <a:lstStyle/>
          <a:p>
            <a:pPr algn="ctr">
              <a:lnSpc>
                <a:spcPts val="1214"/>
              </a:lnSpc>
            </a:pPr>
            <a:r>
              <a:rPr sz="1012" b="0" i="0">
                <a:solidFill>
                  <a:srgbClr val="444444"/>
                </a:solidFill>
                <a:latin typeface="Versos"/>
              </a:rPr>
              <a:t>87,91%</a:t>
            </a:r>
          </a:p>
        </p:txBody>
      </p:sp>
      <p:sp>
        <p:nvSpPr>
          <p:cNvPr id="27" name="TextBox 26"/>
          <p:cNvSpPr txBox="1"/>
          <p:nvPr/>
        </p:nvSpPr>
        <p:spPr>
          <a:xfrm>
            <a:off x="340200" y="391596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Alfa</a:t>
            </a:r>
          </a:p>
        </p:txBody>
      </p:sp>
      <p:sp>
        <p:nvSpPr>
          <p:cNvPr id="28" name="TextBox 27"/>
          <p:cNvSpPr txBox="1"/>
          <p:nvPr/>
        </p:nvSpPr>
        <p:spPr>
          <a:xfrm>
            <a:off x="1126440" y="39121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−0,01%</a:t>
            </a:r>
          </a:p>
        </p:txBody>
      </p:sp>
      <p:sp>
        <p:nvSpPr>
          <p:cNvPr id="29" name="TextBox 28"/>
          <p:cNvSpPr txBox="1"/>
          <p:nvPr/>
        </p:nvSpPr>
        <p:spPr>
          <a:xfrm>
            <a:off x="2136881" y="39121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−3,20%</a:t>
            </a:r>
          </a:p>
        </p:txBody>
      </p:sp>
      <p:sp>
        <p:nvSpPr>
          <p:cNvPr id="30" name="TextBox 29"/>
          <p:cNvSpPr txBox="1"/>
          <p:nvPr/>
        </p:nvSpPr>
        <p:spPr>
          <a:xfrm>
            <a:off x="3147322" y="39121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−3,44%</a:t>
            </a:r>
          </a:p>
        </p:txBody>
      </p:sp>
      <p:sp>
        <p:nvSpPr>
          <p:cNvPr id="31" name="TextBox 30"/>
          <p:cNvSpPr txBox="1"/>
          <p:nvPr/>
        </p:nvSpPr>
        <p:spPr>
          <a:xfrm>
            <a:off x="4157763" y="39121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−4,28%</a:t>
            </a:r>
          </a:p>
        </p:txBody>
      </p:sp>
      <p:sp>
        <p:nvSpPr>
          <p:cNvPr id="32" name="TextBox 31"/>
          <p:cNvSpPr txBox="1"/>
          <p:nvPr/>
        </p:nvSpPr>
        <p:spPr>
          <a:xfrm>
            <a:off x="5168205" y="39121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−3,62%</a:t>
            </a:r>
          </a:p>
        </p:txBody>
      </p:sp>
      <p:sp>
        <p:nvSpPr>
          <p:cNvPr id="33" name="TextBox 32"/>
          <p:cNvSpPr txBox="1"/>
          <p:nvPr/>
        </p:nvSpPr>
        <p:spPr>
          <a:xfrm>
            <a:off x="6178646" y="3912181"/>
            <a:ext cx="988451" cy="151200"/>
          </a:xfrm>
          <a:prstGeom prst="rect">
            <a:avLst/>
          </a:prstGeom>
          <a:noFill/>
        </p:spPr>
        <p:txBody>
          <a:bodyPr wrap="none" lIns="0" rIns="0" tIns="0" bIns="0" anchor="t"/>
          <a:lstStyle/>
          <a:p>
            <a:pPr algn="ctr">
              <a:lnSpc>
                <a:spcPts val="1214"/>
              </a:lnSpc>
            </a:pPr>
            <a:r>
              <a:rPr sz="1012" b="0" i="0">
                <a:solidFill>
                  <a:srgbClr val="444444"/>
                </a:solidFill>
                <a:latin typeface="Versos"/>
              </a:rPr>
              <a:t>−10,50%</a:t>
            </a:r>
          </a:p>
        </p:txBody>
      </p:sp>
      <p:sp>
        <p:nvSpPr>
          <p:cNvPr id="34" name="TextBox 33"/>
          <p:cNvSpPr txBox="1"/>
          <p:nvPr/>
        </p:nvSpPr>
        <p:spPr>
          <a:xfrm>
            <a:off x="355320" y="4248601"/>
            <a:ext cx="7076160" cy="113400"/>
          </a:xfrm>
          <a:prstGeom prst="rect">
            <a:avLst/>
          </a:prstGeom>
          <a:noFill/>
        </p:spPr>
        <p:txBody>
          <a:bodyPr wrap="none" lIns="0" rIns="0" tIns="0" bIns="0" anchor="t"/>
          <a:lstStyle/>
          <a:p>
            <a:pPr algn="r">
              <a:lnSpc>
                <a:spcPts val="892"/>
              </a:lnSpc>
            </a:pPr>
            <a:r>
              <a:rPr sz="744" b="1" i="0">
                <a:solidFill>
                  <a:srgbClr val="444444"/>
                </a:solidFill>
                <a:latin typeface="Versos"/>
              </a:rPr>
              <a:t>Data base:</a:t>
            </a:r>
            <a:r>
              <a:rPr sz="744" b="0" i="0">
                <a:solidFill>
                  <a:srgbClr val="444444"/>
                </a:solidFill>
                <a:latin typeface="Versos"/>
              </a:rPr>
              <a:t> 31/08/2026</a:t>
            </a:r>
          </a:p>
        </p:txBody>
      </p:sp>
      <p:sp>
        <p:nvSpPr>
          <p:cNvPr id="35" name="TextBox 34"/>
          <p:cNvSpPr txBox="1"/>
          <p:nvPr/>
        </p:nvSpPr>
        <p:spPr>
          <a:xfrm>
            <a:off x="400680" y="4906321"/>
            <a:ext cx="3412281" cy="143640"/>
          </a:xfrm>
          <a:prstGeom prst="rect">
            <a:avLst/>
          </a:prstGeom>
          <a:noFill/>
        </p:spPr>
        <p:txBody>
          <a:bodyPr wrap="none" lIns="0" rIns="0" tIns="0" bIns="0" anchor="t"/>
          <a:lstStyle/>
          <a:p>
            <a:pPr algn="l">
              <a:lnSpc>
                <a:spcPts val="1142"/>
              </a:lnSpc>
            </a:pPr>
            <a:r>
              <a:rPr sz="952" b="0" i="0">
                <a:solidFill>
                  <a:srgbClr val="111111"/>
                </a:solidFill>
                <a:latin typeface="Versos"/>
              </a:rPr>
              <a:t>PRINCIPAIS EMISSORES</a:t>
            </a:r>
          </a:p>
        </p:txBody>
      </p:sp>
      <p:sp>
        <p:nvSpPr>
          <p:cNvPr id="36" name="TextBox 35"/>
          <p:cNvSpPr txBox="1"/>
          <p:nvPr/>
        </p:nvSpPr>
        <p:spPr>
          <a:xfrm>
            <a:off x="400680" y="5419929"/>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AUREN</a:t>
            </a:r>
          </a:p>
        </p:txBody>
      </p:sp>
      <p:sp>
        <p:nvSpPr>
          <p:cNvPr id="37" name="TextBox 36"/>
          <p:cNvSpPr txBox="1"/>
          <p:nvPr/>
        </p:nvSpPr>
        <p:spPr>
          <a:xfrm>
            <a:off x="2831928" y="5418039"/>
            <a:ext cx="366584" cy="143640"/>
          </a:xfrm>
          <a:prstGeom prst="rect">
            <a:avLst/>
          </a:prstGeom>
          <a:noFill/>
        </p:spPr>
        <p:txBody>
          <a:bodyPr wrap="none" lIns="0" rIns="0" tIns="0" bIns="0" anchor="t"/>
          <a:lstStyle/>
          <a:p>
            <a:pPr algn="l">
              <a:lnSpc>
                <a:spcPts val="1107"/>
              </a:lnSpc>
            </a:pPr>
            <a:r>
              <a:rPr sz="922" b="0" i="0">
                <a:solidFill>
                  <a:srgbClr val="5A82A0"/>
                </a:solidFill>
                <a:latin typeface="Versos"/>
              </a:rPr>
              <a:t>7,68%</a:t>
            </a:r>
          </a:p>
        </p:txBody>
      </p:sp>
      <p:sp>
        <p:nvSpPr>
          <p:cNvPr id="38" name="TextBox 37"/>
          <p:cNvSpPr txBox="1"/>
          <p:nvPr/>
        </p:nvSpPr>
        <p:spPr>
          <a:xfrm>
            <a:off x="400680" y="5903769"/>
            <a:ext cx="762898" cy="136080"/>
          </a:xfrm>
          <a:prstGeom prst="rect">
            <a:avLst/>
          </a:prstGeom>
          <a:noFill/>
        </p:spPr>
        <p:txBody>
          <a:bodyPr wrap="none" lIns="0" rIns="0" tIns="0" bIns="0" anchor="t"/>
          <a:lstStyle/>
          <a:p>
            <a:pPr algn="r">
              <a:lnSpc>
                <a:spcPts val="982"/>
              </a:lnSpc>
            </a:pPr>
            <a:r>
              <a:rPr sz="892" b="0" i="0">
                <a:solidFill>
                  <a:srgbClr val="222222"/>
                </a:solidFill>
                <a:latin typeface="Versos"/>
              </a:rPr>
              <a:t>EQUATORIAL</a:t>
            </a:r>
          </a:p>
        </p:txBody>
      </p:sp>
      <p:sp>
        <p:nvSpPr>
          <p:cNvPr id="39" name="TextBox 38"/>
          <p:cNvSpPr txBox="1"/>
          <p:nvPr/>
        </p:nvSpPr>
        <p:spPr>
          <a:xfrm>
            <a:off x="2737074" y="5901879"/>
            <a:ext cx="354422" cy="143640"/>
          </a:xfrm>
          <a:prstGeom prst="rect">
            <a:avLst/>
          </a:prstGeom>
          <a:noFill/>
        </p:spPr>
        <p:txBody>
          <a:bodyPr wrap="none" lIns="0" rIns="0" tIns="0" bIns="0" anchor="t"/>
          <a:lstStyle/>
          <a:p>
            <a:pPr algn="l">
              <a:lnSpc>
                <a:spcPts val="1107"/>
              </a:lnSpc>
            </a:pPr>
            <a:r>
              <a:rPr sz="922" b="0" i="0">
                <a:solidFill>
                  <a:srgbClr val="5A82A0"/>
                </a:solidFill>
                <a:latin typeface="Versos"/>
              </a:rPr>
              <a:t>7,24%</a:t>
            </a:r>
          </a:p>
        </p:txBody>
      </p:sp>
      <p:sp>
        <p:nvSpPr>
          <p:cNvPr id="40" name="TextBox 39"/>
          <p:cNvSpPr txBox="1"/>
          <p:nvPr/>
        </p:nvSpPr>
        <p:spPr>
          <a:xfrm>
            <a:off x="400680" y="6387609"/>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EDF</a:t>
            </a:r>
          </a:p>
        </p:txBody>
      </p:sp>
      <p:sp>
        <p:nvSpPr>
          <p:cNvPr id="41" name="TextBox 40"/>
          <p:cNvSpPr txBox="1"/>
          <p:nvPr/>
        </p:nvSpPr>
        <p:spPr>
          <a:xfrm>
            <a:off x="2372540" y="6385719"/>
            <a:ext cx="376780" cy="143640"/>
          </a:xfrm>
          <a:prstGeom prst="rect">
            <a:avLst/>
          </a:prstGeom>
          <a:noFill/>
        </p:spPr>
        <p:txBody>
          <a:bodyPr wrap="none" lIns="0" rIns="0" tIns="0" bIns="0" anchor="t"/>
          <a:lstStyle/>
          <a:p>
            <a:pPr algn="l">
              <a:lnSpc>
                <a:spcPts val="1107"/>
              </a:lnSpc>
            </a:pPr>
            <a:r>
              <a:rPr sz="922" b="0" i="0">
                <a:solidFill>
                  <a:srgbClr val="5A82A0"/>
                </a:solidFill>
                <a:latin typeface="Versos"/>
              </a:rPr>
              <a:t>5,54%</a:t>
            </a:r>
          </a:p>
        </p:txBody>
      </p:sp>
      <p:sp>
        <p:nvSpPr>
          <p:cNvPr id="42" name="TextBox 41"/>
          <p:cNvSpPr txBox="1"/>
          <p:nvPr/>
        </p:nvSpPr>
        <p:spPr>
          <a:xfrm>
            <a:off x="400680" y="6871449"/>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SINOP</a:t>
            </a:r>
          </a:p>
        </p:txBody>
      </p:sp>
      <p:sp>
        <p:nvSpPr>
          <p:cNvPr id="43" name="TextBox 42"/>
          <p:cNvSpPr txBox="1"/>
          <p:nvPr/>
        </p:nvSpPr>
        <p:spPr>
          <a:xfrm>
            <a:off x="2041436" y="6869559"/>
            <a:ext cx="383414" cy="143640"/>
          </a:xfrm>
          <a:prstGeom prst="rect">
            <a:avLst/>
          </a:prstGeom>
          <a:noFill/>
        </p:spPr>
        <p:txBody>
          <a:bodyPr wrap="none" lIns="0" rIns="0" tIns="0" bIns="0" anchor="t"/>
          <a:lstStyle/>
          <a:p>
            <a:pPr algn="l">
              <a:lnSpc>
                <a:spcPts val="1107"/>
              </a:lnSpc>
            </a:pPr>
            <a:r>
              <a:rPr sz="922" b="0" i="0">
                <a:solidFill>
                  <a:srgbClr val="5A82A0"/>
                </a:solidFill>
                <a:latin typeface="Versos"/>
              </a:rPr>
              <a:t>3,99%</a:t>
            </a:r>
          </a:p>
        </p:txBody>
      </p:sp>
      <p:sp>
        <p:nvSpPr>
          <p:cNvPr id="44" name="TextBox 43"/>
          <p:cNvSpPr txBox="1"/>
          <p:nvPr/>
        </p:nvSpPr>
        <p:spPr>
          <a:xfrm>
            <a:off x="400680" y="7355289"/>
            <a:ext cx="773340" cy="136080"/>
          </a:xfrm>
          <a:prstGeom prst="rect">
            <a:avLst/>
          </a:prstGeom>
          <a:noFill/>
        </p:spPr>
        <p:txBody>
          <a:bodyPr wrap="none" lIns="0" rIns="0" tIns="0" bIns="0" anchor="t"/>
          <a:lstStyle/>
          <a:p>
            <a:pPr algn="r">
              <a:lnSpc>
                <a:spcPts val="982"/>
              </a:lnSpc>
            </a:pPr>
            <a:r>
              <a:rPr sz="892" b="0" i="0">
                <a:solidFill>
                  <a:srgbClr val="222222"/>
                </a:solidFill>
                <a:latin typeface="Versos"/>
              </a:rPr>
              <a:t>ELETROBRAS</a:t>
            </a:r>
          </a:p>
        </p:txBody>
      </p:sp>
      <p:sp>
        <p:nvSpPr>
          <p:cNvPr id="45" name="TextBox 44"/>
          <p:cNvSpPr txBox="1"/>
          <p:nvPr/>
        </p:nvSpPr>
        <p:spPr>
          <a:xfrm>
            <a:off x="1968435" y="7353399"/>
            <a:ext cx="376780" cy="143640"/>
          </a:xfrm>
          <a:prstGeom prst="rect">
            <a:avLst/>
          </a:prstGeom>
          <a:noFill/>
        </p:spPr>
        <p:txBody>
          <a:bodyPr wrap="none" lIns="0" rIns="0" tIns="0" bIns="0" anchor="t"/>
          <a:lstStyle/>
          <a:p>
            <a:pPr algn="l">
              <a:lnSpc>
                <a:spcPts val="1107"/>
              </a:lnSpc>
            </a:pPr>
            <a:r>
              <a:rPr sz="922" b="0" i="0">
                <a:solidFill>
                  <a:srgbClr val="5A82A0"/>
                </a:solidFill>
                <a:latin typeface="Versos"/>
              </a:rPr>
              <a:t>3,65%</a:t>
            </a:r>
          </a:p>
        </p:txBody>
      </p:sp>
      <p:sp>
        <p:nvSpPr>
          <p:cNvPr id="46" name="TextBox 45"/>
          <p:cNvSpPr txBox="1"/>
          <p:nvPr/>
        </p:nvSpPr>
        <p:spPr>
          <a:xfrm>
            <a:off x="400680" y="7930440"/>
            <a:ext cx="3412281" cy="143640"/>
          </a:xfrm>
          <a:prstGeom prst="rect">
            <a:avLst/>
          </a:prstGeom>
          <a:noFill/>
        </p:spPr>
        <p:txBody>
          <a:bodyPr wrap="none" lIns="0" rIns="0" tIns="0" bIns="0" anchor="t"/>
          <a:lstStyle/>
          <a:p>
            <a:pPr algn="l">
              <a:lnSpc>
                <a:spcPts val="1142"/>
              </a:lnSpc>
            </a:pPr>
            <a:r>
              <a:rPr sz="952" b="0" i="0">
                <a:solidFill>
                  <a:srgbClr val="111111"/>
                </a:solidFill>
                <a:latin typeface="Versos"/>
              </a:rPr>
              <a:t>DISTRIBUIÇÃO DE RATING DA CARTEIRA DE CRÉDITO</a:t>
            </a:r>
          </a:p>
        </p:txBody>
      </p:sp>
      <p:sp>
        <p:nvSpPr>
          <p:cNvPr id="47" name="TextBox 46"/>
          <p:cNvSpPr txBox="1"/>
          <p:nvPr/>
        </p:nvSpPr>
        <p:spPr>
          <a:xfrm>
            <a:off x="400680" y="8349429"/>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a:t>
            </a:r>
          </a:p>
        </p:txBody>
      </p:sp>
      <p:sp>
        <p:nvSpPr>
          <p:cNvPr id="48" name="TextBox 47"/>
          <p:cNvSpPr txBox="1"/>
          <p:nvPr/>
        </p:nvSpPr>
        <p:spPr>
          <a:xfrm>
            <a:off x="2960448" y="8347539"/>
            <a:ext cx="476289" cy="143640"/>
          </a:xfrm>
          <a:prstGeom prst="rect">
            <a:avLst/>
          </a:prstGeom>
          <a:noFill/>
        </p:spPr>
        <p:txBody>
          <a:bodyPr wrap="none" lIns="0" rIns="0" tIns="0" bIns="0" anchor="t"/>
          <a:lstStyle/>
          <a:p>
            <a:pPr algn="l">
              <a:lnSpc>
                <a:spcPts val="1142"/>
              </a:lnSpc>
            </a:pPr>
            <a:r>
              <a:rPr sz="952" b="0" i="0">
                <a:solidFill>
                  <a:srgbClr val="111111"/>
                </a:solidFill>
                <a:latin typeface="Versos"/>
              </a:rPr>
              <a:t>35,39%</a:t>
            </a:r>
          </a:p>
        </p:txBody>
      </p:sp>
      <p:sp>
        <p:nvSpPr>
          <p:cNvPr id="49" name="TextBox 48"/>
          <p:cNvSpPr txBox="1"/>
          <p:nvPr/>
        </p:nvSpPr>
        <p:spPr>
          <a:xfrm>
            <a:off x="400680" y="8644033"/>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50" name="TextBox 49"/>
          <p:cNvSpPr txBox="1"/>
          <p:nvPr/>
        </p:nvSpPr>
        <p:spPr>
          <a:xfrm>
            <a:off x="2453810" y="8642143"/>
            <a:ext cx="467321" cy="143640"/>
          </a:xfrm>
          <a:prstGeom prst="rect">
            <a:avLst/>
          </a:prstGeom>
          <a:noFill/>
        </p:spPr>
        <p:txBody>
          <a:bodyPr wrap="none" lIns="0" rIns="0" tIns="0" bIns="0" anchor="t"/>
          <a:lstStyle/>
          <a:p>
            <a:pPr algn="l">
              <a:lnSpc>
                <a:spcPts val="1142"/>
              </a:lnSpc>
            </a:pPr>
            <a:r>
              <a:rPr sz="952" b="0" i="0">
                <a:solidFill>
                  <a:srgbClr val="111111"/>
                </a:solidFill>
                <a:latin typeface="Versos"/>
              </a:rPr>
              <a:t>26,04%</a:t>
            </a:r>
          </a:p>
        </p:txBody>
      </p:sp>
      <p:sp>
        <p:nvSpPr>
          <p:cNvPr id="51" name="TextBox 50"/>
          <p:cNvSpPr txBox="1"/>
          <p:nvPr/>
        </p:nvSpPr>
        <p:spPr>
          <a:xfrm>
            <a:off x="400680" y="8938636"/>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52" name="TextBox 51"/>
          <p:cNvSpPr txBox="1"/>
          <p:nvPr/>
        </p:nvSpPr>
        <p:spPr>
          <a:xfrm>
            <a:off x="1643355" y="8936746"/>
            <a:ext cx="414004" cy="143640"/>
          </a:xfrm>
          <a:prstGeom prst="rect">
            <a:avLst/>
          </a:prstGeom>
          <a:noFill/>
        </p:spPr>
        <p:txBody>
          <a:bodyPr wrap="none" lIns="0" rIns="0" tIns="0" bIns="0" anchor="t"/>
          <a:lstStyle/>
          <a:p>
            <a:pPr algn="l">
              <a:lnSpc>
                <a:spcPts val="1142"/>
              </a:lnSpc>
            </a:pPr>
            <a:r>
              <a:rPr sz="952" b="0" i="0">
                <a:solidFill>
                  <a:srgbClr val="111111"/>
                </a:solidFill>
                <a:latin typeface="Versos"/>
              </a:rPr>
              <a:t>11,08%</a:t>
            </a:r>
          </a:p>
        </p:txBody>
      </p:sp>
      <p:sp>
        <p:nvSpPr>
          <p:cNvPr id="53" name="TextBox 52"/>
          <p:cNvSpPr txBox="1"/>
          <p:nvPr/>
        </p:nvSpPr>
        <p:spPr>
          <a:xfrm>
            <a:off x="400680" y="9233240"/>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54" name="TextBox 53"/>
          <p:cNvSpPr txBox="1"/>
          <p:nvPr/>
        </p:nvSpPr>
        <p:spPr>
          <a:xfrm>
            <a:off x="1518969" y="9231350"/>
            <a:ext cx="387714" cy="143640"/>
          </a:xfrm>
          <a:prstGeom prst="rect">
            <a:avLst/>
          </a:prstGeom>
          <a:noFill/>
        </p:spPr>
        <p:txBody>
          <a:bodyPr wrap="none" lIns="0" rIns="0" tIns="0" bIns="0" anchor="t"/>
          <a:lstStyle/>
          <a:p>
            <a:pPr algn="l">
              <a:lnSpc>
                <a:spcPts val="1142"/>
              </a:lnSpc>
            </a:pPr>
            <a:r>
              <a:rPr sz="952" b="0" i="0">
                <a:solidFill>
                  <a:srgbClr val="111111"/>
                </a:solidFill>
                <a:latin typeface="Versos"/>
              </a:rPr>
              <a:t>8,78%</a:t>
            </a:r>
          </a:p>
        </p:txBody>
      </p:sp>
      <p:sp>
        <p:nvSpPr>
          <p:cNvPr id="55" name="TextBox 54"/>
          <p:cNvSpPr txBox="1"/>
          <p:nvPr/>
        </p:nvSpPr>
        <p:spPr>
          <a:xfrm>
            <a:off x="400680" y="9527844"/>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t>
            </a:r>
          </a:p>
        </p:txBody>
      </p:sp>
      <p:sp>
        <p:nvSpPr>
          <p:cNvPr id="56" name="TextBox 55"/>
          <p:cNvSpPr txBox="1"/>
          <p:nvPr/>
        </p:nvSpPr>
        <p:spPr>
          <a:xfrm>
            <a:off x="1320046" y="9525954"/>
            <a:ext cx="318304" cy="143640"/>
          </a:xfrm>
          <a:prstGeom prst="rect">
            <a:avLst/>
          </a:prstGeom>
          <a:noFill/>
        </p:spPr>
        <p:txBody>
          <a:bodyPr wrap="none" lIns="0" rIns="0" tIns="0" bIns="0" anchor="t"/>
          <a:lstStyle/>
          <a:p>
            <a:pPr algn="l">
              <a:lnSpc>
                <a:spcPts val="1142"/>
              </a:lnSpc>
            </a:pPr>
            <a:r>
              <a:rPr sz="952" b="0" i="0">
                <a:solidFill>
                  <a:srgbClr val="111111"/>
                </a:solidFill>
                <a:latin typeface="Versos"/>
              </a:rPr>
              <a:t>5,11%</a:t>
            </a:r>
          </a:p>
        </p:txBody>
      </p:sp>
      <p:sp>
        <p:nvSpPr>
          <p:cNvPr id="57" name="TextBox 56"/>
          <p:cNvSpPr txBox="1"/>
          <p:nvPr/>
        </p:nvSpPr>
        <p:spPr>
          <a:xfrm>
            <a:off x="400680" y="9822448"/>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t>
            </a:r>
          </a:p>
        </p:txBody>
      </p:sp>
      <p:sp>
        <p:nvSpPr>
          <p:cNvPr id="58" name="TextBox 57"/>
          <p:cNvSpPr txBox="1"/>
          <p:nvPr/>
        </p:nvSpPr>
        <p:spPr>
          <a:xfrm>
            <a:off x="1175461" y="9820558"/>
            <a:ext cx="390663" cy="143640"/>
          </a:xfrm>
          <a:prstGeom prst="rect">
            <a:avLst/>
          </a:prstGeom>
          <a:noFill/>
        </p:spPr>
        <p:txBody>
          <a:bodyPr wrap="none" lIns="0" rIns="0" tIns="0" bIns="0" anchor="t"/>
          <a:lstStyle/>
          <a:p>
            <a:pPr algn="l">
              <a:lnSpc>
                <a:spcPts val="1142"/>
              </a:lnSpc>
            </a:pPr>
            <a:r>
              <a:rPr sz="952" b="0" i="0">
                <a:solidFill>
                  <a:srgbClr val="111111"/>
                </a:solidFill>
                <a:latin typeface="Versos"/>
              </a:rPr>
              <a:t>2,44%</a:t>
            </a:r>
          </a:p>
        </p:txBody>
      </p:sp>
      <p:sp>
        <p:nvSpPr>
          <p:cNvPr id="59" name="TextBox 58"/>
          <p:cNvSpPr txBox="1"/>
          <p:nvPr/>
        </p:nvSpPr>
        <p:spPr>
          <a:xfrm>
            <a:off x="3802680" y="4906321"/>
            <a:ext cx="3490905" cy="143640"/>
          </a:xfrm>
          <a:prstGeom prst="rect">
            <a:avLst/>
          </a:prstGeom>
          <a:noFill/>
        </p:spPr>
        <p:txBody>
          <a:bodyPr wrap="none" lIns="0" rIns="0" tIns="0" bIns="0" anchor="t"/>
          <a:lstStyle/>
          <a:p>
            <a:pPr algn="l">
              <a:lnSpc>
                <a:spcPts val="1142"/>
              </a:lnSpc>
            </a:pPr>
            <a:r>
              <a:rPr sz="952" b="0" i="0">
                <a:solidFill>
                  <a:srgbClr val="111111"/>
                </a:solidFill>
                <a:latin typeface="Versos"/>
              </a:rPr>
              <a:t>ALOCAÇÃO DA CARTEIRA DE CRÉDITO POR SETOR</a:t>
            </a:r>
          </a:p>
        </p:txBody>
      </p:sp>
      <p:sp>
        <p:nvSpPr>
          <p:cNvPr id="60" name="TextBox 59"/>
          <p:cNvSpPr txBox="1"/>
          <p:nvPr/>
        </p:nvSpPr>
        <p:spPr>
          <a:xfrm>
            <a:off x="3802680" y="5418157"/>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Energia Elétrica</a:t>
            </a:r>
          </a:p>
        </p:txBody>
      </p:sp>
      <p:sp>
        <p:nvSpPr>
          <p:cNvPr id="61" name="TextBox 60"/>
          <p:cNvSpPr txBox="1"/>
          <p:nvPr/>
        </p:nvSpPr>
        <p:spPr>
          <a:xfrm>
            <a:off x="6752497" y="5410479"/>
            <a:ext cx="471006" cy="143640"/>
          </a:xfrm>
          <a:prstGeom prst="rect">
            <a:avLst/>
          </a:prstGeom>
          <a:noFill/>
        </p:spPr>
        <p:txBody>
          <a:bodyPr wrap="none" lIns="0" rIns="0" tIns="0" bIns="0" anchor="t"/>
          <a:lstStyle/>
          <a:p>
            <a:pPr algn="l">
              <a:lnSpc>
                <a:spcPts val="1142"/>
              </a:lnSpc>
            </a:pPr>
            <a:r>
              <a:rPr sz="952" b="0" i="0">
                <a:solidFill>
                  <a:srgbClr val="111111"/>
                </a:solidFill>
                <a:latin typeface="Versos"/>
              </a:rPr>
              <a:t>55,85%</a:t>
            </a:r>
          </a:p>
        </p:txBody>
      </p:sp>
      <p:sp>
        <p:nvSpPr>
          <p:cNvPr id="62" name="TextBox 61"/>
          <p:cNvSpPr txBox="1"/>
          <p:nvPr/>
        </p:nvSpPr>
        <p:spPr>
          <a:xfrm>
            <a:off x="3802680" y="5886877"/>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Transporte e Logística</a:t>
            </a:r>
          </a:p>
        </p:txBody>
      </p:sp>
      <p:sp>
        <p:nvSpPr>
          <p:cNvPr id="63" name="TextBox 62"/>
          <p:cNvSpPr txBox="1"/>
          <p:nvPr/>
        </p:nvSpPr>
        <p:spPr>
          <a:xfrm>
            <a:off x="5834548" y="5879199"/>
            <a:ext cx="438083" cy="143640"/>
          </a:xfrm>
          <a:prstGeom prst="rect">
            <a:avLst/>
          </a:prstGeom>
          <a:noFill/>
        </p:spPr>
        <p:txBody>
          <a:bodyPr wrap="none" lIns="0" rIns="0" tIns="0" bIns="0" anchor="t"/>
          <a:lstStyle/>
          <a:p>
            <a:pPr algn="l">
              <a:lnSpc>
                <a:spcPts val="1142"/>
              </a:lnSpc>
            </a:pPr>
            <a:r>
              <a:rPr sz="952" b="0" i="0">
                <a:solidFill>
                  <a:srgbClr val="111111"/>
                </a:solidFill>
                <a:latin typeface="Versos"/>
              </a:rPr>
              <a:t>15,29%</a:t>
            </a:r>
          </a:p>
        </p:txBody>
      </p:sp>
      <p:sp>
        <p:nvSpPr>
          <p:cNvPr id="64" name="TextBox 63"/>
          <p:cNvSpPr txBox="1"/>
          <p:nvPr/>
        </p:nvSpPr>
        <p:spPr>
          <a:xfrm>
            <a:off x="3802680" y="6355597"/>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Saneamento</a:t>
            </a:r>
          </a:p>
        </p:txBody>
      </p:sp>
      <p:sp>
        <p:nvSpPr>
          <p:cNvPr id="65" name="TextBox 64"/>
          <p:cNvSpPr txBox="1"/>
          <p:nvPr/>
        </p:nvSpPr>
        <p:spPr>
          <a:xfrm>
            <a:off x="5654289" y="6347919"/>
            <a:ext cx="372849" cy="143640"/>
          </a:xfrm>
          <a:prstGeom prst="rect">
            <a:avLst/>
          </a:prstGeom>
          <a:noFill/>
        </p:spPr>
        <p:txBody>
          <a:bodyPr wrap="none" lIns="0" rIns="0" tIns="0" bIns="0" anchor="t"/>
          <a:lstStyle/>
          <a:p>
            <a:pPr algn="l">
              <a:lnSpc>
                <a:spcPts val="1142"/>
              </a:lnSpc>
            </a:pPr>
            <a:r>
              <a:rPr sz="952" b="0" i="0">
                <a:solidFill>
                  <a:srgbClr val="111111"/>
                </a:solidFill>
                <a:latin typeface="Versos"/>
              </a:rPr>
              <a:t>7,32%</a:t>
            </a:r>
          </a:p>
        </p:txBody>
      </p:sp>
      <p:sp>
        <p:nvSpPr>
          <p:cNvPr id="66" name="TextBox 65"/>
          <p:cNvSpPr txBox="1"/>
          <p:nvPr/>
        </p:nvSpPr>
        <p:spPr>
          <a:xfrm>
            <a:off x="3802680" y="6824317"/>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TI e Telecomunicações</a:t>
            </a:r>
          </a:p>
        </p:txBody>
      </p:sp>
      <p:sp>
        <p:nvSpPr>
          <p:cNvPr id="67" name="TextBox 66"/>
          <p:cNvSpPr txBox="1"/>
          <p:nvPr/>
        </p:nvSpPr>
        <p:spPr>
          <a:xfrm>
            <a:off x="5610110" y="6816639"/>
            <a:ext cx="396314" cy="143640"/>
          </a:xfrm>
          <a:prstGeom prst="rect">
            <a:avLst/>
          </a:prstGeom>
          <a:noFill/>
        </p:spPr>
        <p:txBody>
          <a:bodyPr wrap="none" lIns="0" rIns="0" tIns="0" bIns="0" anchor="t"/>
          <a:lstStyle/>
          <a:p>
            <a:pPr algn="l">
              <a:lnSpc>
                <a:spcPts val="1142"/>
              </a:lnSpc>
            </a:pPr>
            <a:r>
              <a:rPr sz="952" b="0" i="0">
                <a:solidFill>
                  <a:srgbClr val="111111"/>
                </a:solidFill>
                <a:latin typeface="Versos"/>
              </a:rPr>
              <a:t>5,38%</a:t>
            </a:r>
          </a:p>
        </p:txBody>
      </p:sp>
      <p:sp>
        <p:nvSpPr>
          <p:cNvPr id="68" name="TextBox 67"/>
          <p:cNvSpPr txBox="1"/>
          <p:nvPr/>
        </p:nvSpPr>
        <p:spPr>
          <a:xfrm>
            <a:off x="3802680" y="7293037"/>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Petróleo e Gás</a:t>
            </a:r>
          </a:p>
        </p:txBody>
      </p:sp>
      <p:sp>
        <p:nvSpPr>
          <p:cNvPr id="69" name="TextBox 68"/>
          <p:cNvSpPr txBox="1"/>
          <p:nvPr/>
        </p:nvSpPr>
        <p:spPr>
          <a:xfrm>
            <a:off x="5597943" y="7285359"/>
            <a:ext cx="396068" cy="143640"/>
          </a:xfrm>
          <a:prstGeom prst="rect">
            <a:avLst/>
          </a:prstGeom>
          <a:noFill/>
        </p:spPr>
        <p:txBody>
          <a:bodyPr wrap="none" lIns="0" rIns="0" tIns="0" bIns="0" anchor="t"/>
          <a:lstStyle/>
          <a:p>
            <a:pPr algn="l">
              <a:lnSpc>
                <a:spcPts val="1142"/>
              </a:lnSpc>
            </a:pPr>
            <a:r>
              <a:rPr sz="952" b="0" i="0">
                <a:solidFill>
                  <a:srgbClr val="111111"/>
                </a:solidFill>
                <a:latin typeface="Versos"/>
              </a:rPr>
              <a:t>4,84%</a:t>
            </a:r>
          </a:p>
        </p:txBody>
      </p:sp>
      <p:sp>
        <p:nvSpPr>
          <p:cNvPr id="70" name="TextBox 69"/>
          <p:cNvSpPr txBox="1"/>
          <p:nvPr/>
        </p:nvSpPr>
        <p:spPr>
          <a:xfrm>
            <a:off x="3802680" y="7761757"/>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Caixa</a:t>
            </a:r>
          </a:p>
        </p:txBody>
      </p:sp>
      <p:sp>
        <p:nvSpPr>
          <p:cNvPr id="71" name="TextBox 70"/>
          <p:cNvSpPr txBox="1"/>
          <p:nvPr/>
        </p:nvSpPr>
        <p:spPr>
          <a:xfrm>
            <a:off x="5596998" y="7754079"/>
            <a:ext cx="403930" cy="143640"/>
          </a:xfrm>
          <a:prstGeom prst="rect">
            <a:avLst/>
          </a:prstGeom>
          <a:noFill/>
        </p:spPr>
        <p:txBody>
          <a:bodyPr wrap="none" lIns="0" rIns="0" tIns="0" bIns="0" anchor="t"/>
          <a:lstStyle/>
          <a:p>
            <a:pPr algn="l">
              <a:lnSpc>
                <a:spcPts val="1142"/>
              </a:lnSpc>
            </a:pPr>
            <a:r>
              <a:rPr sz="952" b="0" i="0">
                <a:solidFill>
                  <a:srgbClr val="111111"/>
                </a:solidFill>
                <a:latin typeface="Versos"/>
              </a:rPr>
              <a:t>4,80%</a:t>
            </a:r>
          </a:p>
        </p:txBody>
      </p:sp>
      <p:sp>
        <p:nvSpPr>
          <p:cNvPr id="72" name="TextBox 71"/>
          <p:cNvSpPr txBox="1"/>
          <p:nvPr/>
        </p:nvSpPr>
        <p:spPr>
          <a:xfrm>
            <a:off x="3802680" y="8230477"/>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Açúcar, Álcool e Cana</a:t>
            </a:r>
          </a:p>
        </p:txBody>
      </p:sp>
      <p:sp>
        <p:nvSpPr>
          <p:cNvPr id="73" name="TextBox 72"/>
          <p:cNvSpPr txBox="1"/>
          <p:nvPr/>
        </p:nvSpPr>
        <p:spPr>
          <a:xfrm>
            <a:off x="5573137" y="8222799"/>
            <a:ext cx="369287" cy="143640"/>
          </a:xfrm>
          <a:prstGeom prst="rect">
            <a:avLst/>
          </a:prstGeom>
          <a:noFill/>
        </p:spPr>
        <p:txBody>
          <a:bodyPr wrap="none" lIns="0" rIns="0" tIns="0" bIns="0" anchor="t"/>
          <a:lstStyle/>
          <a:p>
            <a:pPr algn="l">
              <a:lnSpc>
                <a:spcPts val="1142"/>
              </a:lnSpc>
            </a:pPr>
            <a:r>
              <a:rPr sz="952" b="0" i="0">
                <a:solidFill>
                  <a:srgbClr val="111111"/>
                </a:solidFill>
                <a:latin typeface="Versos"/>
              </a:rPr>
              <a:t>3,74%</a:t>
            </a:r>
          </a:p>
        </p:txBody>
      </p:sp>
      <p:sp>
        <p:nvSpPr>
          <p:cNvPr id="74" name="TextBox 73"/>
          <p:cNvSpPr txBox="1"/>
          <p:nvPr/>
        </p:nvSpPr>
        <p:spPr>
          <a:xfrm>
            <a:off x="3802680" y="8699197"/>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Locação de veículos</a:t>
            </a:r>
          </a:p>
        </p:txBody>
      </p:sp>
      <p:sp>
        <p:nvSpPr>
          <p:cNvPr id="75" name="TextBox 74"/>
          <p:cNvSpPr txBox="1"/>
          <p:nvPr/>
        </p:nvSpPr>
        <p:spPr>
          <a:xfrm>
            <a:off x="5555773" y="8691519"/>
            <a:ext cx="379975" cy="143640"/>
          </a:xfrm>
          <a:prstGeom prst="rect">
            <a:avLst/>
          </a:prstGeom>
          <a:noFill/>
        </p:spPr>
        <p:txBody>
          <a:bodyPr wrap="none" lIns="0" rIns="0" tIns="0" bIns="0" anchor="t"/>
          <a:lstStyle/>
          <a:p>
            <a:pPr algn="l">
              <a:lnSpc>
                <a:spcPts val="1142"/>
              </a:lnSpc>
            </a:pPr>
            <a:r>
              <a:rPr sz="952" b="0" i="0">
                <a:solidFill>
                  <a:srgbClr val="111111"/>
                </a:solidFill>
                <a:latin typeface="Versos"/>
              </a:rPr>
              <a:t>2,97%</a:t>
            </a:r>
          </a:p>
        </p:txBody>
      </p:sp>
      <p:sp>
        <p:nvSpPr>
          <p:cNvPr id="76" name="TextBox 75"/>
          <p:cNvSpPr txBox="1"/>
          <p:nvPr/>
        </p:nvSpPr>
        <p:spPr>
          <a:xfrm>
            <a:off x="3802680" y="9167917"/>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Outros</a:t>
            </a:r>
          </a:p>
        </p:txBody>
      </p:sp>
      <p:sp>
        <p:nvSpPr>
          <p:cNvPr id="77" name="TextBox 76"/>
          <p:cNvSpPr txBox="1"/>
          <p:nvPr/>
        </p:nvSpPr>
        <p:spPr>
          <a:xfrm>
            <a:off x="5515492" y="9160239"/>
            <a:ext cx="323955" cy="143640"/>
          </a:xfrm>
          <a:prstGeom prst="rect">
            <a:avLst/>
          </a:prstGeom>
          <a:noFill/>
        </p:spPr>
        <p:txBody>
          <a:bodyPr wrap="none" lIns="0" rIns="0" tIns="0" bIns="0" anchor="t"/>
          <a:lstStyle/>
          <a:p>
            <a:pPr algn="l">
              <a:lnSpc>
                <a:spcPts val="1142"/>
              </a:lnSpc>
            </a:pPr>
            <a:r>
              <a:rPr sz="952" b="0" i="0">
                <a:solidFill>
                  <a:srgbClr val="111111"/>
                </a:solidFill>
                <a:latin typeface="Versos"/>
              </a:rPr>
              <a:t>1,19%</a:t>
            </a:r>
          </a:p>
        </p:txBody>
      </p:sp>
      <p:sp>
        <p:nvSpPr>
          <p:cNvPr id="78" name="TextBox 77"/>
          <p:cNvSpPr txBox="1"/>
          <p:nvPr/>
        </p:nvSpPr>
        <p:spPr>
          <a:xfrm>
            <a:off x="7101793" y="10266480"/>
            <a:ext cx="44103" cy="136080"/>
          </a:xfrm>
          <a:prstGeom prst="rect">
            <a:avLst/>
          </a:prstGeom>
          <a:noFill/>
        </p:spPr>
        <p:txBody>
          <a:bodyPr wrap="none" lIns="0" rIns="0" tIns="0" bIns="0" anchor="t"/>
          <a:lstStyle/>
          <a:p>
            <a:pPr algn="l">
              <a:lnSpc>
                <a:spcPts val="892"/>
              </a:lnSpc>
            </a:pPr>
            <a:r>
              <a:rPr sz="892" b="0" i="0">
                <a:solidFill>
                  <a:srgbClr val="111111"/>
                </a:solidFill>
                <a:latin typeface="Verso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642600"/>
            <a:ext cx="1240170" cy="189000"/>
          </a:xfrm>
          <a:prstGeom prst="rect">
            <a:avLst/>
          </a:prstGeom>
          <a:noFill/>
        </p:spPr>
        <p:txBody>
          <a:bodyPr wrap="none" lIns="0" rIns="0" tIns="0" bIns="0" anchor="t"/>
          <a:lstStyle/>
          <a:p>
            <a:pPr algn="l">
              <a:lnSpc>
                <a:spcPts val="1500"/>
              </a:lnSpc>
            </a:pPr>
            <a:r>
              <a:rPr sz="1250" b="0" i="0">
                <a:solidFill>
                  <a:srgbClr val="FFFFFF"/>
                </a:solidFill>
                <a:latin typeface="Versos"/>
              </a:rPr>
              <a:t>Agosto de 2026</a:t>
            </a:r>
          </a:p>
        </p:txBody>
      </p:sp>
      <p:sp>
        <p:nvSpPr>
          <p:cNvPr id="4" name="TextBox 3"/>
          <p:cNvSpPr txBox="1"/>
          <p:nvPr/>
        </p:nvSpPr>
        <p:spPr>
          <a:xfrm>
            <a:off x="400680" y="1239840"/>
            <a:ext cx="7028985" cy="143640"/>
          </a:xfrm>
          <a:prstGeom prst="rect">
            <a:avLst/>
          </a:prstGeom>
          <a:noFill/>
        </p:spPr>
        <p:txBody>
          <a:bodyPr wrap="none" lIns="0" rIns="0" tIns="0" bIns="0" anchor="t"/>
          <a:lstStyle/>
          <a:p>
            <a:pPr algn="l">
              <a:lnSpc>
                <a:spcPts val="1142"/>
              </a:lnSpc>
            </a:pPr>
            <a:r>
              <a:rPr sz="952" b="0" i="0">
                <a:solidFill>
                  <a:srgbClr val="111111"/>
                </a:solidFill>
                <a:latin typeface="Versos"/>
              </a:rPr>
              <a:t>RENTABILIDADE HISTÓRICA</a:t>
            </a:r>
          </a:p>
        </p:txBody>
      </p:sp>
      <p:sp>
        <p:nvSpPr>
          <p:cNvPr id="5" name="TextBox 4"/>
          <p:cNvSpPr txBox="1"/>
          <p:nvPr/>
        </p:nvSpPr>
        <p:spPr>
          <a:xfrm>
            <a:off x="400680" y="4604158"/>
            <a:ext cx="7028985" cy="279720"/>
          </a:xfrm>
          <a:prstGeom prst="rect">
            <a:avLst/>
          </a:prstGeom>
          <a:noFill/>
        </p:spPr>
        <p:txBody>
          <a:bodyPr wrap="none" lIns="0" rIns="0" tIns="0" bIns="0" anchor="t"/>
          <a:lstStyle/>
          <a:p>
            <a:pPr algn="ctr">
              <a:lnSpc>
                <a:spcPts val="2143"/>
              </a:lnSpc>
            </a:pPr>
            <a:r>
              <a:rPr sz="1785" b="1" i="0">
                <a:solidFill>
                  <a:srgbClr val="FFFFFF"/>
                </a:solidFill>
                <a:latin typeface="Versos"/>
              </a:rPr>
              <a:t>Comentário do Gestor e Análise de Mercado</a:t>
            </a:r>
          </a:p>
        </p:txBody>
      </p:sp>
      <p:sp>
        <p:nvSpPr>
          <p:cNvPr id="6" name="TextBox 5"/>
          <p:cNvSpPr txBox="1"/>
          <p:nvPr/>
        </p:nvSpPr>
        <p:spPr>
          <a:xfrm>
            <a:off x="529200" y="5216518"/>
            <a:ext cx="6501600" cy="1256141"/>
          </a:xfrm>
          <a:prstGeom prst="rect">
            <a:avLst/>
          </a:prstGeom>
          <a:noFill/>
        </p:spPr>
        <p:txBody>
          <a:bodyPr wrap="square" lIns="0" rIns="0" tIns="0" bIns="0" anchor="t"/>
          <a:lstStyle/>
          <a:p>
            <a:pPr algn="just">
              <a:lnSpc>
                <a:spcPts val="1420"/>
              </a:lnSpc>
            </a:pPr>
            <a:r>
              <a:rPr sz="1145" b="0" i="0">
                <a:solidFill>
                  <a:srgbClr val="F1F1F1"/>
                </a:solidFill>
                <a:latin typeface="Versos"/>
              </a:rPr>
              <a:t>Em agosto, os títulos de crédito indexados ao IPCA precificados pela ANBIMA apresentaram desempenho positivo, refletindo principalmente o movimento de fechamento da curva real de juros observado ao longo do período. Embora os spreads de crédito tenham registrado abertura média de aproximadamente 5 bps em relação a julho, a redução das taxas reais ao longo da estrutura a termo mais do que compensou esse movimento. Como resultado, as taxas médias dos títulos incentivados precificados pela ANBIMA encerraram o mês com fechamento próximo de 16 bps, proporcionando valorização dos ativos no mercado secundário.</a:t>
            </a:r>
          </a:p>
        </p:txBody>
      </p:sp>
      <p:sp>
        <p:nvSpPr>
          <p:cNvPr id="7" name="TextBox 6"/>
          <p:cNvSpPr txBox="1"/>
          <p:nvPr/>
        </p:nvSpPr>
        <p:spPr>
          <a:xfrm>
            <a:off x="529200" y="6583933"/>
            <a:ext cx="6501600" cy="895387"/>
          </a:xfrm>
          <a:prstGeom prst="rect">
            <a:avLst/>
          </a:prstGeom>
          <a:noFill/>
        </p:spPr>
        <p:txBody>
          <a:bodyPr wrap="square" lIns="0" rIns="0" tIns="0" bIns="0" anchor="t"/>
          <a:lstStyle/>
          <a:p>
            <a:pPr algn="just">
              <a:lnSpc>
                <a:spcPts val="1420"/>
              </a:lnSpc>
            </a:pPr>
            <a:r>
              <a:rPr sz="1145" b="0" i="0">
                <a:solidFill>
                  <a:srgbClr val="F1F1F1"/>
                </a:solidFill>
                <a:latin typeface="Versos"/>
              </a:rPr>
              <a:t>No mercado primário, manteve-se o cenário de oferta restrita de ativos, com parcela relevante das emissões sendo absorvida diretamente pelos balanços dos bancos distribuidores. Já no mercado secundário, observou-se um nível de liquidez inferior à média observada ao longo de 2025, contribuindo para um ambiente de maior equilíbrio entre oferta e demanda dos ativos negociados.</a:t>
            </a:r>
          </a:p>
        </p:txBody>
      </p:sp>
      <p:sp>
        <p:nvSpPr>
          <p:cNvPr id="8" name="TextBox 7"/>
          <p:cNvSpPr txBox="1"/>
          <p:nvPr/>
        </p:nvSpPr>
        <p:spPr>
          <a:xfrm>
            <a:off x="529200" y="7590594"/>
            <a:ext cx="6501600" cy="1616895"/>
          </a:xfrm>
          <a:prstGeom prst="rect">
            <a:avLst/>
          </a:prstGeom>
          <a:noFill/>
        </p:spPr>
        <p:txBody>
          <a:bodyPr wrap="square" lIns="0" rIns="0" tIns="0" bIns="0" anchor="t"/>
          <a:lstStyle/>
          <a:p>
            <a:pPr algn="just">
              <a:lnSpc>
                <a:spcPts val="1420"/>
              </a:lnSpc>
            </a:pPr>
            <a:r>
              <a:rPr sz="1145" b="0" i="0">
                <a:solidFill>
                  <a:srgbClr val="F1F1F1"/>
                </a:solidFill>
                <a:latin typeface="Versos"/>
              </a:rPr>
              <a:t>Sob a ótica da gestão, mantivemos uma postura cautelosa ao longo do período, priorizando o encurtamento da duration da carteira como forma de mitigar a volatilidade e reduzir a sensibilidade do portfólio a eventuais movimentos adversos nos spreads de crédito. Apesar da melhora observada no desempenho dos ativos incentivados no mês, seguimos avaliando que os níveis atuais de prêmio ainda oferecem pouca margem de segurança frente aos riscos inerentes à classe. Dessa forma, permanecemos atentos à evolução das condições de mercado e à dinâmica de precificação dos ativos, buscando identificar oportunidades mais atrativas para aumentar a exposição ao risco de crédito de forma gradual e criteriosa, quando a relação risco-retorno se mostrar mais favorável.</a:t>
            </a:r>
          </a:p>
        </p:txBody>
      </p:sp>
      <p:sp>
        <p:nvSpPr>
          <p:cNvPr id="9" name="TextBox 8"/>
          <p:cNvSpPr txBox="1"/>
          <p:nvPr/>
        </p:nvSpPr>
        <p:spPr>
          <a:xfrm>
            <a:off x="529200" y="9318763"/>
            <a:ext cx="6501600" cy="534633"/>
          </a:xfrm>
          <a:prstGeom prst="rect">
            <a:avLst/>
          </a:prstGeom>
          <a:noFill/>
        </p:spPr>
        <p:txBody>
          <a:bodyPr wrap="square" lIns="0" rIns="0" tIns="0" bIns="0" anchor="t"/>
          <a:lstStyle/>
          <a:p>
            <a:pPr algn="just">
              <a:lnSpc>
                <a:spcPts val="1420"/>
              </a:lnSpc>
            </a:pPr>
            <a:r>
              <a:rPr sz="1145" b="0" i="0">
                <a:solidFill>
                  <a:srgbClr val="F1F1F1"/>
                </a:solidFill>
                <a:latin typeface="Versos"/>
              </a:rPr>
              <a:t>Nesse cenário, o Tivio Infra Plus apresentou rentabilidade, isenta de imposto de renda de 1,26% no mês, acumulando 5,98% no ano. Na atribuição de performance, pode-se destacar as debêntures de NTS e São Simão, enquanto as de Jalles Machado foram as maiores detratoras.</a:t>
            </a:r>
          </a:p>
        </p:txBody>
      </p:sp>
      <p:sp>
        <p:nvSpPr>
          <p:cNvPr id="10" name="TextBox 9"/>
          <p:cNvSpPr txBox="1"/>
          <p:nvPr/>
        </p:nvSpPr>
        <p:spPr>
          <a:xfrm>
            <a:off x="7073443" y="10266480"/>
            <a:ext cx="73587" cy="136080"/>
          </a:xfrm>
          <a:prstGeom prst="rect">
            <a:avLst/>
          </a:prstGeom>
          <a:noFill/>
        </p:spPr>
        <p:txBody>
          <a:bodyPr wrap="none" lIns="0" rIns="0" tIns="0" bIns="0" anchor="t"/>
          <a:lstStyle/>
          <a:p>
            <a:pPr algn="l">
              <a:lnSpc>
                <a:spcPts val="892"/>
              </a:lnSpc>
            </a:pPr>
            <a:r>
              <a:rPr sz="892" b="0" i="0">
                <a:solidFill>
                  <a:srgbClr val="FFFFFF"/>
                </a:solidFill>
                <a:latin typeface="Verso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642600"/>
            <a:ext cx="1240170" cy="189000"/>
          </a:xfrm>
          <a:prstGeom prst="rect">
            <a:avLst/>
          </a:prstGeom>
          <a:noFill/>
        </p:spPr>
        <p:txBody>
          <a:bodyPr wrap="none" lIns="0" rIns="0" tIns="0" bIns="0" anchor="t"/>
          <a:lstStyle/>
          <a:p>
            <a:pPr algn="l">
              <a:lnSpc>
                <a:spcPts val="1500"/>
              </a:lnSpc>
            </a:pPr>
            <a:r>
              <a:rPr sz="1250" b="0" i="0">
                <a:solidFill>
                  <a:srgbClr val="FFFFFF"/>
                </a:solidFill>
                <a:latin typeface="Versos"/>
              </a:rPr>
              <a:t>Agosto de 2026</a:t>
            </a:r>
          </a:p>
        </p:txBody>
      </p:sp>
      <p:sp>
        <p:nvSpPr>
          <p:cNvPr id="4" name="TextBox 3"/>
          <p:cNvSpPr txBox="1"/>
          <p:nvPr/>
        </p:nvSpPr>
        <p:spPr>
          <a:xfrm>
            <a:off x="400680" y="1237359"/>
            <a:ext cx="7028985" cy="146120"/>
          </a:xfrm>
          <a:prstGeom prst="rect">
            <a:avLst/>
          </a:prstGeom>
          <a:noFill/>
        </p:spPr>
        <p:txBody>
          <a:bodyPr wrap="none" lIns="0" rIns="0" tIns="0" bIns="0" anchor="t"/>
          <a:lstStyle/>
          <a:p>
            <a:pPr algn="l">
              <a:lnSpc>
                <a:spcPts val="1142"/>
              </a:lnSpc>
            </a:pPr>
            <a:r>
              <a:rPr sz="952" b="0" i="0">
                <a:solidFill>
                  <a:srgbClr val="111111"/>
                </a:solidFill>
                <a:latin typeface="Versos"/>
              </a:rPr>
              <a:t>MERCADO DE CRÉDITO</a:t>
            </a:r>
            <a:r>
              <a:rPr sz="571" b="0" i="0">
                <a:solidFill>
                  <a:srgbClr val="111111"/>
                </a:solidFill>
                <a:latin typeface="Versos"/>
              </a:rPr>
              <a:t>1</a:t>
            </a:r>
          </a:p>
        </p:txBody>
      </p:sp>
      <p:sp>
        <p:nvSpPr>
          <p:cNvPr id="5" name="TextBox 4"/>
          <p:cNvSpPr txBox="1"/>
          <p:nvPr/>
        </p:nvSpPr>
        <p:spPr>
          <a:xfrm>
            <a:off x="2043090" y="1807430"/>
            <a:ext cx="470137" cy="210144"/>
          </a:xfrm>
          <a:prstGeom prst="rect">
            <a:avLst/>
          </a:prstGeom>
          <a:noFill/>
        </p:spPr>
        <p:txBody>
          <a:bodyPr wrap="square" lIns="0" rIns="0" tIns="0" bIns="0" anchor="t"/>
          <a:lstStyle/>
          <a:p>
            <a:pPr algn="ctr">
              <a:lnSpc>
                <a:spcPts val="821"/>
              </a:lnSpc>
            </a:pPr>
            <a:r>
              <a:rPr sz="714" b="1" i="0">
                <a:solidFill>
                  <a:srgbClr val="FFFFFF"/>
                </a:solidFill>
                <a:latin typeface="Versos"/>
              </a:rPr>
              <a:t>Volume (R$ MM)</a:t>
            </a:r>
          </a:p>
        </p:txBody>
      </p:sp>
      <p:sp>
        <p:nvSpPr>
          <p:cNvPr id="6" name="TextBox 5"/>
          <p:cNvSpPr txBox="1"/>
          <p:nvPr/>
        </p:nvSpPr>
        <p:spPr>
          <a:xfrm>
            <a:off x="2603947" y="1859641"/>
            <a:ext cx="488943" cy="105840"/>
          </a:xfrm>
          <a:prstGeom prst="rect">
            <a:avLst/>
          </a:prstGeom>
          <a:noFill/>
        </p:spPr>
        <p:txBody>
          <a:bodyPr wrap="none" lIns="0" rIns="0" tIns="0" bIns="0" anchor="t"/>
          <a:lstStyle/>
          <a:p>
            <a:pPr algn="ctr">
              <a:lnSpc>
                <a:spcPts val="821"/>
              </a:lnSpc>
            </a:pPr>
            <a:r>
              <a:rPr sz="714" b="1" i="0">
                <a:solidFill>
                  <a:srgbClr val="FFFFFF"/>
                </a:solidFill>
                <a:latin typeface="Versos"/>
              </a:rPr>
              <a:t>%</a:t>
            </a:r>
          </a:p>
        </p:txBody>
      </p:sp>
      <p:sp>
        <p:nvSpPr>
          <p:cNvPr id="7" name="TextBox 6"/>
          <p:cNvSpPr txBox="1"/>
          <p:nvPr/>
        </p:nvSpPr>
        <p:spPr>
          <a:xfrm>
            <a:off x="3164805" y="1859641"/>
            <a:ext cx="488943" cy="105840"/>
          </a:xfrm>
          <a:prstGeom prst="rect">
            <a:avLst/>
          </a:prstGeom>
          <a:noFill/>
        </p:spPr>
        <p:txBody>
          <a:bodyPr wrap="none" lIns="0" rIns="0" tIns="0" bIns="0" anchor="t"/>
          <a:lstStyle/>
          <a:p>
            <a:pPr algn="ctr">
              <a:lnSpc>
                <a:spcPts val="821"/>
              </a:lnSpc>
            </a:pPr>
            <a:r>
              <a:rPr sz="714" b="1" i="0">
                <a:solidFill>
                  <a:srgbClr val="FFFFFF"/>
                </a:solidFill>
                <a:latin typeface="Versos"/>
              </a:rPr>
              <a:t>Taxa Atual</a:t>
            </a:r>
          </a:p>
        </p:txBody>
      </p:sp>
      <p:sp>
        <p:nvSpPr>
          <p:cNvPr id="8" name="TextBox 7"/>
          <p:cNvSpPr txBox="1"/>
          <p:nvPr/>
        </p:nvSpPr>
        <p:spPr>
          <a:xfrm>
            <a:off x="3725662" y="1807430"/>
            <a:ext cx="470137" cy="210144"/>
          </a:xfrm>
          <a:prstGeom prst="rect">
            <a:avLst/>
          </a:prstGeom>
          <a:noFill/>
        </p:spPr>
        <p:txBody>
          <a:bodyPr wrap="square" lIns="0" rIns="0" tIns="0" bIns="0" anchor="t"/>
          <a:lstStyle/>
          <a:p>
            <a:pPr algn="ctr">
              <a:lnSpc>
                <a:spcPts val="821"/>
              </a:lnSpc>
            </a:pPr>
            <a:r>
              <a:rPr sz="714" b="1" i="0">
                <a:solidFill>
                  <a:srgbClr val="FFFFFF"/>
                </a:solidFill>
                <a:latin typeface="Versos"/>
              </a:rPr>
              <a:t>Taxa mês anterior</a:t>
            </a:r>
          </a:p>
        </p:txBody>
      </p:sp>
      <p:sp>
        <p:nvSpPr>
          <p:cNvPr id="9" name="TextBox 8"/>
          <p:cNvSpPr txBox="1"/>
          <p:nvPr/>
        </p:nvSpPr>
        <p:spPr>
          <a:xfrm>
            <a:off x="4286520" y="1859641"/>
            <a:ext cx="488943" cy="105840"/>
          </a:xfrm>
          <a:prstGeom prst="rect">
            <a:avLst/>
          </a:prstGeom>
          <a:noFill/>
        </p:spPr>
        <p:txBody>
          <a:bodyPr wrap="none" lIns="0" rIns="0" tIns="0" bIns="0" anchor="t"/>
          <a:lstStyle/>
          <a:p>
            <a:pPr algn="ctr">
              <a:lnSpc>
                <a:spcPts val="821"/>
              </a:lnSpc>
            </a:pPr>
            <a:r>
              <a:rPr sz="714" b="1" i="0">
                <a:solidFill>
                  <a:srgbClr val="FFFFFF"/>
                </a:solidFill>
                <a:latin typeface="Versos"/>
              </a:rPr>
              <a:t>Variação</a:t>
            </a:r>
          </a:p>
        </p:txBody>
      </p:sp>
      <p:sp>
        <p:nvSpPr>
          <p:cNvPr id="10" name="TextBox 9"/>
          <p:cNvSpPr txBox="1"/>
          <p:nvPr/>
        </p:nvSpPr>
        <p:spPr>
          <a:xfrm>
            <a:off x="4847377" y="1807430"/>
            <a:ext cx="470137" cy="210144"/>
          </a:xfrm>
          <a:prstGeom prst="rect">
            <a:avLst/>
          </a:prstGeom>
          <a:noFill/>
        </p:spPr>
        <p:txBody>
          <a:bodyPr wrap="square" lIns="0" rIns="0" tIns="0" bIns="0" anchor="t"/>
          <a:lstStyle/>
          <a:p>
            <a:pPr algn="ctr">
              <a:lnSpc>
                <a:spcPts val="821"/>
              </a:lnSpc>
            </a:pPr>
            <a:r>
              <a:rPr sz="714" b="1" i="0">
                <a:solidFill>
                  <a:srgbClr val="FFFFFF"/>
                </a:solidFill>
                <a:latin typeface="Versos"/>
              </a:rPr>
              <a:t>Spread Atual</a:t>
            </a:r>
          </a:p>
        </p:txBody>
      </p:sp>
      <p:sp>
        <p:nvSpPr>
          <p:cNvPr id="11" name="TextBox 10"/>
          <p:cNvSpPr txBox="1"/>
          <p:nvPr/>
        </p:nvSpPr>
        <p:spPr>
          <a:xfrm>
            <a:off x="5408235" y="1755337"/>
            <a:ext cx="470137" cy="314448"/>
          </a:xfrm>
          <a:prstGeom prst="rect">
            <a:avLst/>
          </a:prstGeom>
          <a:noFill/>
        </p:spPr>
        <p:txBody>
          <a:bodyPr wrap="square" lIns="0" rIns="0" tIns="0" bIns="0" anchor="t"/>
          <a:lstStyle/>
          <a:p>
            <a:pPr algn="ctr">
              <a:lnSpc>
                <a:spcPts val="821"/>
              </a:lnSpc>
            </a:pPr>
            <a:r>
              <a:rPr sz="714" b="1" i="0">
                <a:solidFill>
                  <a:srgbClr val="FFFFFF"/>
                </a:solidFill>
                <a:latin typeface="Versos"/>
              </a:rPr>
              <a:t>Spread mês anterior</a:t>
            </a:r>
          </a:p>
        </p:txBody>
      </p:sp>
      <p:sp>
        <p:nvSpPr>
          <p:cNvPr id="12" name="TextBox 11"/>
          <p:cNvSpPr txBox="1"/>
          <p:nvPr/>
        </p:nvSpPr>
        <p:spPr>
          <a:xfrm>
            <a:off x="5969092" y="1859641"/>
            <a:ext cx="488943" cy="105840"/>
          </a:xfrm>
          <a:prstGeom prst="rect">
            <a:avLst/>
          </a:prstGeom>
          <a:noFill/>
        </p:spPr>
        <p:txBody>
          <a:bodyPr wrap="none" lIns="0" rIns="0" tIns="0" bIns="0" anchor="t"/>
          <a:lstStyle/>
          <a:p>
            <a:pPr algn="ctr">
              <a:lnSpc>
                <a:spcPts val="821"/>
              </a:lnSpc>
            </a:pPr>
            <a:r>
              <a:rPr sz="714" b="1" i="0">
                <a:solidFill>
                  <a:srgbClr val="FFFFFF"/>
                </a:solidFill>
                <a:latin typeface="Versos"/>
              </a:rPr>
              <a:t>Variação</a:t>
            </a:r>
          </a:p>
        </p:txBody>
      </p:sp>
      <p:sp>
        <p:nvSpPr>
          <p:cNvPr id="13" name="TextBox 12"/>
          <p:cNvSpPr txBox="1"/>
          <p:nvPr/>
        </p:nvSpPr>
        <p:spPr>
          <a:xfrm>
            <a:off x="6529950" y="1859641"/>
            <a:ext cx="489434" cy="105840"/>
          </a:xfrm>
          <a:prstGeom prst="rect">
            <a:avLst/>
          </a:prstGeom>
          <a:noFill/>
        </p:spPr>
        <p:txBody>
          <a:bodyPr wrap="none" lIns="0" rIns="0" tIns="0" bIns="0" anchor="t"/>
          <a:lstStyle/>
          <a:p>
            <a:pPr algn="ctr">
              <a:lnSpc>
                <a:spcPts val="821"/>
              </a:lnSpc>
            </a:pPr>
            <a:r>
              <a:rPr sz="714" b="1" i="0">
                <a:solidFill>
                  <a:srgbClr val="FFFFFF"/>
                </a:solidFill>
                <a:latin typeface="Versos"/>
              </a:rPr>
              <a:t>Duration</a:t>
            </a:r>
          </a:p>
        </p:txBody>
      </p:sp>
      <p:sp>
        <p:nvSpPr>
          <p:cNvPr id="14" name="TextBox 13"/>
          <p:cNvSpPr txBox="1"/>
          <p:nvPr/>
        </p:nvSpPr>
        <p:spPr>
          <a:xfrm>
            <a:off x="2043090" y="2201259"/>
            <a:ext cx="505036" cy="143640"/>
          </a:xfrm>
          <a:prstGeom prst="rect">
            <a:avLst/>
          </a:prstGeom>
          <a:noFill/>
        </p:spPr>
        <p:txBody>
          <a:bodyPr wrap="none" lIns="0" rIns="0" tIns="0" bIns="0" anchor="t"/>
          <a:lstStyle/>
          <a:p>
            <a:pPr algn="ctr">
              <a:lnSpc>
                <a:spcPts val="1061"/>
              </a:lnSpc>
            </a:pPr>
            <a:r>
              <a:rPr sz="922" b="1" i="0">
                <a:solidFill>
                  <a:srgbClr val="FFFFFF"/>
                </a:solidFill>
                <a:latin typeface="Versos"/>
              </a:rPr>
              <a:t>392.485</a:t>
            </a:r>
          </a:p>
        </p:txBody>
      </p:sp>
      <p:sp>
        <p:nvSpPr>
          <p:cNvPr id="15" name="TextBox 14"/>
          <p:cNvSpPr txBox="1"/>
          <p:nvPr/>
        </p:nvSpPr>
        <p:spPr>
          <a:xfrm>
            <a:off x="2603947" y="2201259"/>
            <a:ext cx="488943" cy="143640"/>
          </a:xfrm>
          <a:prstGeom prst="rect">
            <a:avLst/>
          </a:prstGeom>
          <a:noFill/>
        </p:spPr>
        <p:txBody>
          <a:bodyPr wrap="none" lIns="0" rIns="0" tIns="0" bIns="0" anchor="t"/>
          <a:lstStyle/>
          <a:p>
            <a:pPr algn="ctr">
              <a:lnSpc>
                <a:spcPts val="1061"/>
              </a:lnSpc>
            </a:pPr>
            <a:r>
              <a:rPr sz="922" b="1" i="0">
                <a:solidFill>
                  <a:srgbClr val="FFFFFF"/>
                </a:solidFill>
                <a:latin typeface="Versos"/>
              </a:rPr>
              <a:t>100%</a:t>
            </a:r>
          </a:p>
        </p:txBody>
      </p:sp>
      <p:sp>
        <p:nvSpPr>
          <p:cNvPr id="16" name="TextBox 15"/>
          <p:cNvSpPr txBox="1"/>
          <p:nvPr/>
        </p:nvSpPr>
        <p:spPr>
          <a:xfrm>
            <a:off x="3164805" y="2201259"/>
            <a:ext cx="488943" cy="143640"/>
          </a:xfrm>
          <a:prstGeom prst="rect">
            <a:avLst/>
          </a:prstGeom>
          <a:noFill/>
        </p:spPr>
        <p:txBody>
          <a:bodyPr wrap="none" lIns="0" rIns="0" tIns="0" bIns="0" anchor="t"/>
          <a:lstStyle/>
          <a:p>
            <a:pPr algn="ctr">
              <a:lnSpc>
                <a:spcPts val="1061"/>
              </a:lnSpc>
            </a:pPr>
            <a:r>
              <a:rPr sz="922" b="1" i="0">
                <a:solidFill>
                  <a:srgbClr val="FFFFFF"/>
                </a:solidFill>
                <a:latin typeface="Versos"/>
              </a:rPr>
              <a:t>8,30%</a:t>
            </a:r>
          </a:p>
        </p:txBody>
      </p:sp>
      <p:sp>
        <p:nvSpPr>
          <p:cNvPr id="17" name="TextBox 16"/>
          <p:cNvSpPr txBox="1"/>
          <p:nvPr/>
        </p:nvSpPr>
        <p:spPr>
          <a:xfrm>
            <a:off x="3725662" y="2201259"/>
            <a:ext cx="488943" cy="143640"/>
          </a:xfrm>
          <a:prstGeom prst="rect">
            <a:avLst/>
          </a:prstGeom>
          <a:noFill/>
        </p:spPr>
        <p:txBody>
          <a:bodyPr wrap="none" lIns="0" rIns="0" tIns="0" bIns="0" anchor="t"/>
          <a:lstStyle/>
          <a:p>
            <a:pPr algn="ctr">
              <a:lnSpc>
                <a:spcPts val="1061"/>
              </a:lnSpc>
            </a:pPr>
            <a:r>
              <a:rPr sz="922" b="1" i="0">
                <a:solidFill>
                  <a:srgbClr val="FFFFFF"/>
                </a:solidFill>
                <a:latin typeface="Versos"/>
              </a:rPr>
              <a:t>8,47%</a:t>
            </a:r>
          </a:p>
        </p:txBody>
      </p:sp>
      <p:sp>
        <p:nvSpPr>
          <p:cNvPr id="18" name="TextBox 17"/>
          <p:cNvSpPr txBox="1"/>
          <p:nvPr/>
        </p:nvSpPr>
        <p:spPr>
          <a:xfrm>
            <a:off x="4286520" y="2201259"/>
            <a:ext cx="488943" cy="143640"/>
          </a:xfrm>
          <a:prstGeom prst="rect">
            <a:avLst/>
          </a:prstGeom>
          <a:noFill/>
        </p:spPr>
        <p:txBody>
          <a:bodyPr wrap="none" lIns="0" rIns="0" tIns="0" bIns="0" anchor="t"/>
          <a:lstStyle/>
          <a:p>
            <a:pPr algn="ctr">
              <a:lnSpc>
                <a:spcPts val="1061"/>
              </a:lnSpc>
            </a:pPr>
            <a:r>
              <a:rPr sz="922" b="1" i="0">
                <a:solidFill>
                  <a:srgbClr val="FFFFFF"/>
                </a:solidFill>
                <a:latin typeface="Versos"/>
              </a:rPr>
              <a:t>0,05%</a:t>
            </a:r>
          </a:p>
        </p:txBody>
      </p:sp>
      <p:sp>
        <p:nvSpPr>
          <p:cNvPr id="19" name="TextBox 18"/>
          <p:cNvSpPr txBox="1"/>
          <p:nvPr/>
        </p:nvSpPr>
        <p:spPr>
          <a:xfrm>
            <a:off x="4847377" y="2201259"/>
            <a:ext cx="488943" cy="143640"/>
          </a:xfrm>
          <a:prstGeom prst="rect">
            <a:avLst/>
          </a:prstGeom>
          <a:noFill/>
        </p:spPr>
        <p:txBody>
          <a:bodyPr wrap="none" lIns="0" rIns="0" tIns="0" bIns="0" anchor="t"/>
          <a:lstStyle/>
          <a:p>
            <a:pPr algn="ctr">
              <a:lnSpc>
                <a:spcPts val="1061"/>
              </a:lnSpc>
            </a:pPr>
            <a:r>
              <a:rPr sz="922" b="1" i="0">
                <a:solidFill>
                  <a:srgbClr val="FFFFFF"/>
                </a:solidFill>
                <a:latin typeface="Versos"/>
              </a:rPr>
              <a:t>0,34%</a:t>
            </a:r>
          </a:p>
        </p:txBody>
      </p:sp>
      <p:sp>
        <p:nvSpPr>
          <p:cNvPr id="20" name="TextBox 19"/>
          <p:cNvSpPr txBox="1"/>
          <p:nvPr/>
        </p:nvSpPr>
        <p:spPr>
          <a:xfrm>
            <a:off x="5408235" y="2201259"/>
            <a:ext cx="488943" cy="143640"/>
          </a:xfrm>
          <a:prstGeom prst="rect">
            <a:avLst/>
          </a:prstGeom>
          <a:noFill/>
        </p:spPr>
        <p:txBody>
          <a:bodyPr wrap="none" lIns="0" rIns="0" tIns="0" bIns="0" anchor="t"/>
          <a:lstStyle/>
          <a:p>
            <a:pPr algn="ctr">
              <a:lnSpc>
                <a:spcPts val="1061"/>
              </a:lnSpc>
            </a:pPr>
            <a:r>
              <a:rPr sz="922" b="1" i="0">
                <a:solidFill>
                  <a:srgbClr val="FFFFFF"/>
                </a:solidFill>
                <a:latin typeface="Versos"/>
              </a:rPr>
              <a:t>0,29%</a:t>
            </a:r>
          </a:p>
        </p:txBody>
      </p:sp>
      <p:sp>
        <p:nvSpPr>
          <p:cNvPr id="21" name="TextBox 20"/>
          <p:cNvSpPr txBox="1"/>
          <p:nvPr/>
        </p:nvSpPr>
        <p:spPr>
          <a:xfrm>
            <a:off x="5969092" y="2201259"/>
            <a:ext cx="488943" cy="143640"/>
          </a:xfrm>
          <a:prstGeom prst="rect">
            <a:avLst/>
          </a:prstGeom>
          <a:noFill/>
        </p:spPr>
        <p:txBody>
          <a:bodyPr wrap="none" lIns="0" rIns="0" tIns="0" bIns="0" anchor="t"/>
          <a:lstStyle/>
          <a:p>
            <a:pPr algn="ctr">
              <a:lnSpc>
                <a:spcPts val="1061"/>
              </a:lnSpc>
            </a:pPr>
            <a:r>
              <a:rPr sz="922" b="1" i="0">
                <a:solidFill>
                  <a:srgbClr val="FFFFFF"/>
                </a:solidFill>
                <a:latin typeface="Versos"/>
              </a:rPr>
              <a:t>0,05%</a:t>
            </a:r>
          </a:p>
        </p:txBody>
      </p:sp>
      <p:sp>
        <p:nvSpPr>
          <p:cNvPr id="22" name="TextBox 21"/>
          <p:cNvSpPr txBox="1"/>
          <p:nvPr/>
        </p:nvSpPr>
        <p:spPr>
          <a:xfrm>
            <a:off x="6529950" y="2201259"/>
            <a:ext cx="489434" cy="143640"/>
          </a:xfrm>
          <a:prstGeom prst="rect">
            <a:avLst/>
          </a:prstGeom>
          <a:noFill/>
        </p:spPr>
        <p:txBody>
          <a:bodyPr wrap="none" lIns="0" rIns="0" tIns="0" bIns="0" anchor="t"/>
          <a:lstStyle/>
          <a:p>
            <a:pPr algn="ctr">
              <a:lnSpc>
                <a:spcPts val="1061"/>
              </a:lnSpc>
            </a:pPr>
            <a:r>
              <a:rPr sz="922" b="1" i="0">
                <a:solidFill>
                  <a:srgbClr val="FFFFFF"/>
                </a:solidFill>
                <a:latin typeface="Versos"/>
              </a:rPr>
              <a:t>5,38</a:t>
            </a:r>
          </a:p>
        </p:txBody>
      </p:sp>
      <p:sp>
        <p:nvSpPr>
          <p:cNvPr id="23" name="TextBox 22"/>
          <p:cNvSpPr txBox="1"/>
          <p:nvPr/>
        </p:nvSpPr>
        <p:spPr>
          <a:xfrm>
            <a:off x="559440" y="2739555"/>
            <a:ext cx="1448647" cy="105840"/>
          </a:xfrm>
          <a:prstGeom prst="rect">
            <a:avLst/>
          </a:prstGeom>
          <a:noFill/>
        </p:spPr>
        <p:txBody>
          <a:bodyPr wrap="none" lIns="0" rIns="0" tIns="0" bIns="0" anchor="t"/>
          <a:lstStyle/>
          <a:p>
            <a:pPr algn="ctr">
              <a:lnSpc>
                <a:spcPts val="821"/>
              </a:lnSpc>
            </a:pPr>
            <a:r>
              <a:rPr sz="714" b="1" i="0">
                <a:solidFill>
                  <a:srgbClr val="FFFFFF"/>
                </a:solidFill>
                <a:latin typeface="Versos"/>
              </a:rPr>
              <a:t>Setor</a:t>
            </a:r>
          </a:p>
        </p:txBody>
      </p:sp>
      <p:sp>
        <p:nvSpPr>
          <p:cNvPr id="24" name="TextBox 23"/>
          <p:cNvSpPr txBox="1"/>
          <p:nvPr/>
        </p:nvSpPr>
        <p:spPr>
          <a:xfrm>
            <a:off x="2043090" y="2687343"/>
            <a:ext cx="470137" cy="210144"/>
          </a:xfrm>
          <a:prstGeom prst="rect">
            <a:avLst/>
          </a:prstGeom>
          <a:noFill/>
        </p:spPr>
        <p:txBody>
          <a:bodyPr wrap="square" lIns="0" rIns="0" tIns="0" bIns="0" anchor="t"/>
          <a:lstStyle/>
          <a:p>
            <a:pPr algn="ctr">
              <a:lnSpc>
                <a:spcPts val="821"/>
              </a:lnSpc>
            </a:pPr>
            <a:r>
              <a:rPr sz="714" b="1" i="0">
                <a:solidFill>
                  <a:srgbClr val="FFFFFF"/>
                </a:solidFill>
                <a:latin typeface="Versos"/>
              </a:rPr>
              <a:t>Volume (R$ MM)</a:t>
            </a:r>
          </a:p>
        </p:txBody>
      </p:sp>
      <p:sp>
        <p:nvSpPr>
          <p:cNvPr id="25" name="TextBox 24"/>
          <p:cNvSpPr txBox="1"/>
          <p:nvPr/>
        </p:nvSpPr>
        <p:spPr>
          <a:xfrm>
            <a:off x="2603947" y="2739555"/>
            <a:ext cx="488943" cy="105840"/>
          </a:xfrm>
          <a:prstGeom prst="rect">
            <a:avLst/>
          </a:prstGeom>
          <a:noFill/>
        </p:spPr>
        <p:txBody>
          <a:bodyPr wrap="none" lIns="0" rIns="0" tIns="0" bIns="0" anchor="t"/>
          <a:lstStyle/>
          <a:p>
            <a:pPr algn="ctr">
              <a:lnSpc>
                <a:spcPts val="821"/>
              </a:lnSpc>
            </a:pPr>
            <a:r>
              <a:rPr sz="714" b="1" i="0">
                <a:solidFill>
                  <a:srgbClr val="FFFFFF"/>
                </a:solidFill>
                <a:latin typeface="Versos"/>
              </a:rPr>
              <a:t>%</a:t>
            </a:r>
          </a:p>
        </p:txBody>
      </p:sp>
      <p:sp>
        <p:nvSpPr>
          <p:cNvPr id="26" name="TextBox 25"/>
          <p:cNvSpPr txBox="1"/>
          <p:nvPr/>
        </p:nvSpPr>
        <p:spPr>
          <a:xfrm>
            <a:off x="3164805" y="2739555"/>
            <a:ext cx="488943" cy="105840"/>
          </a:xfrm>
          <a:prstGeom prst="rect">
            <a:avLst/>
          </a:prstGeom>
          <a:noFill/>
        </p:spPr>
        <p:txBody>
          <a:bodyPr wrap="none" lIns="0" rIns="0" tIns="0" bIns="0" anchor="t"/>
          <a:lstStyle/>
          <a:p>
            <a:pPr algn="ctr">
              <a:lnSpc>
                <a:spcPts val="821"/>
              </a:lnSpc>
            </a:pPr>
            <a:r>
              <a:rPr sz="714" b="1" i="0">
                <a:solidFill>
                  <a:srgbClr val="FFFFFF"/>
                </a:solidFill>
                <a:latin typeface="Versos"/>
              </a:rPr>
              <a:t>Taxa Atual</a:t>
            </a:r>
          </a:p>
        </p:txBody>
      </p:sp>
      <p:sp>
        <p:nvSpPr>
          <p:cNvPr id="27" name="TextBox 26"/>
          <p:cNvSpPr txBox="1"/>
          <p:nvPr/>
        </p:nvSpPr>
        <p:spPr>
          <a:xfrm>
            <a:off x="3725662" y="2687343"/>
            <a:ext cx="470137" cy="210144"/>
          </a:xfrm>
          <a:prstGeom prst="rect">
            <a:avLst/>
          </a:prstGeom>
          <a:noFill/>
        </p:spPr>
        <p:txBody>
          <a:bodyPr wrap="square" lIns="0" rIns="0" tIns="0" bIns="0" anchor="t"/>
          <a:lstStyle/>
          <a:p>
            <a:pPr algn="ctr">
              <a:lnSpc>
                <a:spcPts val="821"/>
              </a:lnSpc>
            </a:pPr>
            <a:r>
              <a:rPr sz="714" b="1" i="0">
                <a:solidFill>
                  <a:srgbClr val="FFFFFF"/>
                </a:solidFill>
                <a:latin typeface="Versos"/>
              </a:rPr>
              <a:t>Taxa mês anterior</a:t>
            </a:r>
          </a:p>
        </p:txBody>
      </p:sp>
      <p:sp>
        <p:nvSpPr>
          <p:cNvPr id="28" name="TextBox 27"/>
          <p:cNvSpPr txBox="1"/>
          <p:nvPr/>
        </p:nvSpPr>
        <p:spPr>
          <a:xfrm>
            <a:off x="4286520" y="2739555"/>
            <a:ext cx="488943" cy="105840"/>
          </a:xfrm>
          <a:prstGeom prst="rect">
            <a:avLst/>
          </a:prstGeom>
          <a:noFill/>
        </p:spPr>
        <p:txBody>
          <a:bodyPr wrap="none" lIns="0" rIns="0" tIns="0" bIns="0" anchor="t"/>
          <a:lstStyle/>
          <a:p>
            <a:pPr algn="ctr">
              <a:lnSpc>
                <a:spcPts val="821"/>
              </a:lnSpc>
            </a:pPr>
            <a:r>
              <a:rPr sz="714" b="1" i="0">
                <a:solidFill>
                  <a:srgbClr val="FFFFFF"/>
                </a:solidFill>
                <a:latin typeface="Versos"/>
              </a:rPr>
              <a:t>Variação</a:t>
            </a:r>
          </a:p>
        </p:txBody>
      </p:sp>
      <p:sp>
        <p:nvSpPr>
          <p:cNvPr id="29" name="TextBox 28"/>
          <p:cNvSpPr txBox="1"/>
          <p:nvPr/>
        </p:nvSpPr>
        <p:spPr>
          <a:xfrm>
            <a:off x="4847377" y="2687343"/>
            <a:ext cx="470137" cy="210144"/>
          </a:xfrm>
          <a:prstGeom prst="rect">
            <a:avLst/>
          </a:prstGeom>
          <a:noFill/>
        </p:spPr>
        <p:txBody>
          <a:bodyPr wrap="square" lIns="0" rIns="0" tIns="0" bIns="0" anchor="t"/>
          <a:lstStyle/>
          <a:p>
            <a:pPr algn="ctr">
              <a:lnSpc>
                <a:spcPts val="821"/>
              </a:lnSpc>
            </a:pPr>
            <a:r>
              <a:rPr sz="714" b="1" i="0">
                <a:solidFill>
                  <a:srgbClr val="FFFFFF"/>
                </a:solidFill>
                <a:latin typeface="Versos"/>
              </a:rPr>
              <a:t>Spread Atual</a:t>
            </a:r>
          </a:p>
        </p:txBody>
      </p:sp>
      <p:sp>
        <p:nvSpPr>
          <p:cNvPr id="30" name="TextBox 29"/>
          <p:cNvSpPr txBox="1"/>
          <p:nvPr/>
        </p:nvSpPr>
        <p:spPr>
          <a:xfrm>
            <a:off x="5408235" y="2635250"/>
            <a:ext cx="470137" cy="314448"/>
          </a:xfrm>
          <a:prstGeom prst="rect">
            <a:avLst/>
          </a:prstGeom>
          <a:noFill/>
        </p:spPr>
        <p:txBody>
          <a:bodyPr wrap="square" lIns="0" rIns="0" tIns="0" bIns="0" anchor="t"/>
          <a:lstStyle/>
          <a:p>
            <a:pPr algn="ctr">
              <a:lnSpc>
                <a:spcPts val="821"/>
              </a:lnSpc>
            </a:pPr>
            <a:r>
              <a:rPr sz="714" b="1" i="0">
                <a:solidFill>
                  <a:srgbClr val="FFFFFF"/>
                </a:solidFill>
                <a:latin typeface="Versos"/>
              </a:rPr>
              <a:t>Spread mês anterior</a:t>
            </a:r>
          </a:p>
        </p:txBody>
      </p:sp>
      <p:sp>
        <p:nvSpPr>
          <p:cNvPr id="31" name="TextBox 30"/>
          <p:cNvSpPr txBox="1"/>
          <p:nvPr/>
        </p:nvSpPr>
        <p:spPr>
          <a:xfrm>
            <a:off x="5969092" y="2739555"/>
            <a:ext cx="488943" cy="105840"/>
          </a:xfrm>
          <a:prstGeom prst="rect">
            <a:avLst/>
          </a:prstGeom>
          <a:noFill/>
        </p:spPr>
        <p:txBody>
          <a:bodyPr wrap="none" lIns="0" rIns="0" tIns="0" bIns="0" anchor="t"/>
          <a:lstStyle/>
          <a:p>
            <a:pPr algn="ctr">
              <a:lnSpc>
                <a:spcPts val="821"/>
              </a:lnSpc>
            </a:pPr>
            <a:r>
              <a:rPr sz="714" b="1" i="0">
                <a:solidFill>
                  <a:srgbClr val="FFFFFF"/>
                </a:solidFill>
                <a:latin typeface="Versos"/>
              </a:rPr>
              <a:t>Variação</a:t>
            </a:r>
          </a:p>
        </p:txBody>
      </p:sp>
      <p:sp>
        <p:nvSpPr>
          <p:cNvPr id="32" name="TextBox 31"/>
          <p:cNvSpPr txBox="1"/>
          <p:nvPr/>
        </p:nvSpPr>
        <p:spPr>
          <a:xfrm>
            <a:off x="6529950" y="2739555"/>
            <a:ext cx="489434" cy="105840"/>
          </a:xfrm>
          <a:prstGeom prst="rect">
            <a:avLst/>
          </a:prstGeom>
          <a:noFill/>
        </p:spPr>
        <p:txBody>
          <a:bodyPr wrap="none" lIns="0" rIns="0" tIns="0" bIns="0" anchor="t"/>
          <a:lstStyle/>
          <a:p>
            <a:pPr algn="ctr">
              <a:lnSpc>
                <a:spcPts val="821"/>
              </a:lnSpc>
            </a:pPr>
            <a:r>
              <a:rPr sz="714" b="1" i="0">
                <a:solidFill>
                  <a:srgbClr val="FFFFFF"/>
                </a:solidFill>
                <a:latin typeface="Versos"/>
              </a:rPr>
              <a:t>Duration</a:t>
            </a:r>
          </a:p>
        </p:txBody>
      </p:sp>
      <p:sp>
        <p:nvSpPr>
          <p:cNvPr id="33" name="TextBox 32"/>
          <p:cNvSpPr txBox="1"/>
          <p:nvPr/>
        </p:nvSpPr>
        <p:spPr>
          <a:xfrm>
            <a:off x="604800" y="3216898"/>
            <a:ext cx="1401472" cy="143640"/>
          </a:xfrm>
          <a:prstGeom prst="rect">
            <a:avLst/>
          </a:prstGeom>
          <a:noFill/>
        </p:spPr>
        <p:txBody>
          <a:bodyPr wrap="none" lIns="0" rIns="0" tIns="0" bIns="0" anchor="t"/>
          <a:lstStyle/>
          <a:p>
            <a:pPr algn="l">
              <a:lnSpc>
                <a:spcPts val="1061"/>
              </a:lnSpc>
            </a:pPr>
            <a:r>
              <a:rPr sz="922" b="0" i="0">
                <a:solidFill>
                  <a:srgbClr val="FFFFFF"/>
                </a:solidFill>
                <a:latin typeface="Versos"/>
              </a:rPr>
              <a:t>Energia elétrica</a:t>
            </a:r>
          </a:p>
        </p:txBody>
      </p:sp>
      <p:sp>
        <p:nvSpPr>
          <p:cNvPr id="34" name="TextBox 33"/>
          <p:cNvSpPr txBox="1"/>
          <p:nvPr/>
        </p:nvSpPr>
        <p:spPr>
          <a:xfrm>
            <a:off x="2043090" y="3219024"/>
            <a:ext cx="488943" cy="136080"/>
          </a:xfrm>
          <a:prstGeom prst="rect">
            <a:avLst/>
          </a:prstGeom>
          <a:noFill/>
        </p:spPr>
        <p:txBody>
          <a:bodyPr wrap="none" lIns="0" rIns="0" tIns="0" bIns="0" anchor="t"/>
          <a:lstStyle/>
          <a:p>
            <a:pPr algn="ctr">
              <a:lnSpc>
                <a:spcPts val="1026"/>
              </a:lnSpc>
            </a:pPr>
            <a:r>
              <a:rPr sz="892" b="0" i="0">
                <a:solidFill>
                  <a:srgbClr val="BFDAEA"/>
                </a:solidFill>
                <a:latin typeface="Versos"/>
              </a:rPr>
              <a:t>191.166</a:t>
            </a:r>
          </a:p>
        </p:txBody>
      </p:sp>
      <p:sp>
        <p:nvSpPr>
          <p:cNvPr id="35" name="TextBox 34"/>
          <p:cNvSpPr txBox="1"/>
          <p:nvPr/>
        </p:nvSpPr>
        <p:spPr>
          <a:xfrm>
            <a:off x="2603947" y="321902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48,7%</a:t>
            </a:r>
          </a:p>
        </p:txBody>
      </p:sp>
      <p:sp>
        <p:nvSpPr>
          <p:cNvPr id="36" name="TextBox 35"/>
          <p:cNvSpPr txBox="1"/>
          <p:nvPr/>
        </p:nvSpPr>
        <p:spPr>
          <a:xfrm>
            <a:off x="3164805" y="321902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7,93%</a:t>
            </a:r>
          </a:p>
        </p:txBody>
      </p:sp>
      <p:sp>
        <p:nvSpPr>
          <p:cNvPr id="37" name="TextBox 36"/>
          <p:cNvSpPr txBox="1"/>
          <p:nvPr/>
        </p:nvSpPr>
        <p:spPr>
          <a:xfrm>
            <a:off x="3725662" y="321902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8,13%</a:t>
            </a:r>
          </a:p>
        </p:txBody>
      </p:sp>
      <p:sp>
        <p:nvSpPr>
          <p:cNvPr id="38" name="TextBox 37"/>
          <p:cNvSpPr txBox="1"/>
          <p:nvPr/>
        </p:nvSpPr>
        <p:spPr>
          <a:xfrm>
            <a:off x="4286520" y="321902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-0,19%</a:t>
            </a:r>
          </a:p>
        </p:txBody>
      </p:sp>
      <p:sp>
        <p:nvSpPr>
          <p:cNvPr id="39" name="TextBox 38"/>
          <p:cNvSpPr txBox="1"/>
          <p:nvPr/>
        </p:nvSpPr>
        <p:spPr>
          <a:xfrm>
            <a:off x="4847377" y="321902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-0,02%</a:t>
            </a:r>
          </a:p>
        </p:txBody>
      </p:sp>
      <p:sp>
        <p:nvSpPr>
          <p:cNvPr id="40" name="TextBox 39"/>
          <p:cNvSpPr txBox="1"/>
          <p:nvPr/>
        </p:nvSpPr>
        <p:spPr>
          <a:xfrm>
            <a:off x="5408235" y="321902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-0,04%</a:t>
            </a:r>
          </a:p>
        </p:txBody>
      </p:sp>
      <p:sp>
        <p:nvSpPr>
          <p:cNvPr id="41" name="TextBox 40"/>
          <p:cNvSpPr txBox="1"/>
          <p:nvPr/>
        </p:nvSpPr>
        <p:spPr>
          <a:xfrm>
            <a:off x="5969092" y="321902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0,02%</a:t>
            </a:r>
          </a:p>
        </p:txBody>
      </p:sp>
      <p:sp>
        <p:nvSpPr>
          <p:cNvPr id="42" name="TextBox 41"/>
          <p:cNvSpPr txBox="1"/>
          <p:nvPr/>
        </p:nvSpPr>
        <p:spPr>
          <a:xfrm>
            <a:off x="6529950" y="3219024"/>
            <a:ext cx="489434" cy="136080"/>
          </a:xfrm>
          <a:prstGeom prst="rect">
            <a:avLst/>
          </a:prstGeom>
          <a:noFill/>
        </p:spPr>
        <p:txBody>
          <a:bodyPr wrap="none" lIns="0" rIns="0" tIns="0" bIns="0" anchor="t"/>
          <a:lstStyle/>
          <a:p>
            <a:pPr algn="ctr">
              <a:lnSpc>
                <a:spcPts val="1026"/>
              </a:lnSpc>
            </a:pPr>
            <a:r>
              <a:rPr sz="892" b="0" i="0">
                <a:solidFill>
                  <a:srgbClr val="FFFFFF"/>
                </a:solidFill>
                <a:latin typeface="Versos"/>
              </a:rPr>
              <a:t>5,3</a:t>
            </a:r>
          </a:p>
        </p:txBody>
      </p:sp>
      <p:sp>
        <p:nvSpPr>
          <p:cNvPr id="43" name="TextBox 42"/>
          <p:cNvSpPr txBox="1"/>
          <p:nvPr/>
        </p:nvSpPr>
        <p:spPr>
          <a:xfrm>
            <a:off x="604800" y="3798309"/>
            <a:ext cx="1401472" cy="143640"/>
          </a:xfrm>
          <a:prstGeom prst="rect">
            <a:avLst/>
          </a:prstGeom>
          <a:noFill/>
        </p:spPr>
        <p:txBody>
          <a:bodyPr wrap="none" lIns="0" rIns="0" tIns="0" bIns="0" anchor="t"/>
          <a:lstStyle/>
          <a:p>
            <a:pPr algn="l">
              <a:lnSpc>
                <a:spcPts val="1061"/>
              </a:lnSpc>
            </a:pPr>
            <a:r>
              <a:rPr sz="922" b="0" i="0">
                <a:solidFill>
                  <a:srgbClr val="FFFFFF"/>
                </a:solidFill>
                <a:latin typeface="Versos"/>
              </a:rPr>
              <a:t>Transporte e logística</a:t>
            </a:r>
          </a:p>
        </p:txBody>
      </p:sp>
      <p:sp>
        <p:nvSpPr>
          <p:cNvPr id="44" name="TextBox 43"/>
          <p:cNvSpPr txBox="1"/>
          <p:nvPr/>
        </p:nvSpPr>
        <p:spPr>
          <a:xfrm>
            <a:off x="2043090" y="3800435"/>
            <a:ext cx="488943" cy="136080"/>
          </a:xfrm>
          <a:prstGeom prst="rect">
            <a:avLst/>
          </a:prstGeom>
          <a:noFill/>
        </p:spPr>
        <p:txBody>
          <a:bodyPr wrap="none" lIns="0" rIns="0" tIns="0" bIns="0" anchor="t"/>
          <a:lstStyle/>
          <a:p>
            <a:pPr algn="ctr">
              <a:lnSpc>
                <a:spcPts val="1026"/>
              </a:lnSpc>
            </a:pPr>
            <a:r>
              <a:rPr sz="892" b="0" i="0">
                <a:solidFill>
                  <a:srgbClr val="BFDAEA"/>
                </a:solidFill>
                <a:latin typeface="Versos"/>
              </a:rPr>
              <a:t>89.369</a:t>
            </a:r>
          </a:p>
        </p:txBody>
      </p:sp>
      <p:sp>
        <p:nvSpPr>
          <p:cNvPr id="45" name="TextBox 44"/>
          <p:cNvSpPr txBox="1"/>
          <p:nvPr/>
        </p:nvSpPr>
        <p:spPr>
          <a:xfrm>
            <a:off x="2603947" y="380043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22,8%</a:t>
            </a:r>
          </a:p>
        </p:txBody>
      </p:sp>
      <p:sp>
        <p:nvSpPr>
          <p:cNvPr id="46" name="TextBox 45"/>
          <p:cNvSpPr txBox="1"/>
          <p:nvPr/>
        </p:nvSpPr>
        <p:spPr>
          <a:xfrm>
            <a:off x="3164805" y="380043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8,32%</a:t>
            </a:r>
          </a:p>
        </p:txBody>
      </p:sp>
      <p:sp>
        <p:nvSpPr>
          <p:cNvPr id="47" name="TextBox 46"/>
          <p:cNvSpPr txBox="1"/>
          <p:nvPr/>
        </p:nvSpPr>
        <p:spPr>
          <a:xfrm>
            <a:off x="3725662" y="380043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8,48%</a:t>
            </a:r>
          </a:p>
        </p:txBody>
      </p:sp>
      <p:sp>
        <p:nvSpPr>
          <p:cNvPr id="48" name="TextBox 47"/>
          <p:cNvSpPr txBox="1"/>
          <p:nvPr/>
        </p:nvSpPr>
        <p:spPr>
          <a:xfrm>
            <a:off x="4286520" y="380043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-0,15%</a:t>
            </a:r>
          </a:p>
        </p:txBody>
      </p:sp>
      <p:sp>
        <p:nvSpPr>
          <p:cNvPr id="49" name="TextBox 48"/>
          <p:cNvSpPr txBox="1"/>
          <p:nvPr/>
        </p:nvSpPr>
        <p:spPr>
          <a:xfrm>
            <a:off x="4847377" y="380043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0,36%</a:t>
            </a:r>
          </a:p>
        </p:txBody>
      </p:sp>
      <p:sp>
        <p:nvSpPr>
          <p:cNvPr id="50" name="TextBox 49"/>
          <p:cNvSpPr txBox="1"/>
          <p:nvPr/>
        </p:nvSpPr>
        <p:spPr>
          <a:xfrm>
            <a:off x="5408235" y="380043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0,30%</a:t>
            </a:r>
          </a:p>
        </p:txBody>
      </p:sp>
      <p:sp>
        <p:nvSpPr>
          <p:cNvPr id="51" name="TextBox 50"/>
          <p:cNvSpPr txBox="1"/>
          <p:nvPr/>
        </p:nvSpPr>
        <p:spPr>
          <a:xfrm>
            <a:off x="5969092" y="380043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0,06%</a:t>
            </a:r>
          </a:p>
        </p:txBody>
      </p:sp>
      <p:sp>
        <p:nvSpPr>
          <p:cNvPr id="52" name="TextBox 51"/>
          <p:cNvSpPr txBox="1"/>
          <p:nvPr/>
        </p:nvSpPr>
        <p:spPr>
          <a:xfrm>
            <a:off x="6529950" y="3800435"/>
            <a:ext cx="489434" cy="136080"/>
          </a:xfrm>
          <a:prstGeom prst="rect">
            <a:avLst/>
          </a:prstGeom>
          <a:noFill/>
        </p:spPr>
        <p:txBody>
          <a:bodyPr wrap="none" lIns="0" rIns="0" tIns="0" bIns="0" anchor="t"/>
          <a:lstStyle/>
          <a:p>
            <a:pPr algn="ctr">
              <a:lnSpc>
                <a:spcPts val="1026"/>
              </a:lnSpc>
            </a:pPr>
            <a:r>
              <a:rPr sz="892" b="0" i="0">
                <a:solidFill>
                  <a:srgbClr val="FFFFFF"/>
                </a:solidFill>
                <a:latin typeface="Versos"/>
              </a:rPr>
              <a:t>5,2</a:t>
            </a:r>
          </a:p>
        </p:txBody>
      </p:sp>
      <p:sp>
        <p:nvSpPr>
          <p:cNvPr id="53" name="TextBox 52"/>
          <p:cNvSpPr txBox="1"/>
          <p:nvPr/>
        </p:nvSpPr>
        <p:spPr>
          <a:xfrm>
            <a:off x="604800" y="4379720"/>
            <a:ext cx="1401472" cy="143640"/>
          </a:xfrm>
          <a:prstGeom prst="rect">
            <a:avLst/>
          </a:prstGeom>
          <a:noFill/>
        </p:spPr>
        <p:txBody>
          <a:bodyPr wrap="none" lIns="0" rIns="0" tIns="0" bIns="0" anchor="t"/>
          <a:lstStyle/>
          <a:p>
            <a:pPr algn="l">
              <a:lnSpc>
                <a:spcPts val="1061"/>
              </a:lnSpc>
            </a:pPr>
            <a:r>
              <a:rPr sz="922" b="0" i="0">
                <a:solidFill>
                  <a:srgbClr val="FFFFFF"/>
                </a:solidFill>
                <a:latin typeface="Versos"/>
              </a:rPr>
              <a:t>Saneamento</a:t>
            </a:r>
          </a:p>
        </p:txBody>
      </p:sp>
      <p:sp>
        <p:nvSpPr>
          <p:cNvPr id="54" name="TextBox 53"/>
          <p:cNvSpPr txBox="1"/>
          <p:nvPr/>
        </p:nvSpPr>
        <p:spPr>
          <a:xfrm>
            <a:off x="2043090" y="4381846"/>
            <a:ext cx="488943" cy="136080"/>
          </a:xfrm>
          <a:prstGeom prst="rect">
            <a:avLst/>
          </a:prstGeom>
          <a:noFill/>
        </p:spPr>
        <p:txBody>
          <a:bodyPr wrap="none" lIns="0" rIns="0" tIns="0" bIns="0" anchor="t"/>
          <a:lstStyle/>
          <a:p>
            <a:pPr algn="ctr">
              <a:lnSpc>
                <a:spcPts val="1026"/>
              </a:lnSpc>
            </a:pPr>
            <a:r>
              <a:rPr sz="892" b="0" i="0">
                <a:solidFill>
                  <a:srgbClr val="BFDAEA"/>
                </a:solidFill>
                <a:latin typeface="Versos"/>
              </a:rPr>
              <a:t>35.248</a:t>
            </a:r>
          </a:p>
        </p:txBody>
      </p:sp>
      <p:sp>
        <p:nvSpPr>
          <p:cNvPr id="55" name="TextBox 54"/>
          <p:cNvSpPr txBox="1"/>
          <p:nvPr/>
        </p:nvSpPr>
        <p:spPr>
          <a:xfrm>
            <a:off x="2603947" y="4381846"/>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9,0%</a:t>
            </a:r>
          </a:p>
        </p:txBody>
      </p:sp>
      <p:sp>
        <p:nvSpPr>
          <p:cNvPr id="56" name="TextBox 55"/>
          <p:cNvSpPr txBox="1"/>
          <p:nvPr/>
        </p:nvSpPr>
        <p:spPr>
          <a:xfrm>
            <a:off x="3164805" y="4381846"/>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9,69%</a:t>
            </a:r>
          </a:p>
        </p:txBody>
      </p:sp>
      <p:sp>
        <p:nvSpPr>
          <p:cNvPr id="57" name="TextBox 56"/>
          <p:cNvSpPr txBox="1"/>
          <p:nvPr/>
        </p:nvSpPr>
        <p:spPr>
          <a:xfrm>
            <a:off x="3725662" y="4381846"/>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9,75%</a:t>
            </a:r>
          </a:p>
        </p:txBody>
      </p:sp>
      <p:sp>
        <p:nvSpPr>
          <p:cNvPr id="58" name="TextBox 57"/>
          <p:cNvSpPr txBox="1"/>
          <p:nvPr/>
        </p:nvSpPr>
        <p:spPr>
          <a:xfrm>
            <a:off x="4286520" y="4381846"/>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-0,05%</a:t>
            </a:r>
          </a:p>
        </p:txBody>
      </p:sp>
      <p:sp>
        <p:nvSpPr>
          <p:cNvPr id="59" name="TextBox 58"/>
          <p:cNvSpPr txBox="1"/>
          <p:nvPr/>
        </p:nvSpPr>
        <p:spPr>
          <a:xfrm>
            <a:off x="4847377" y="4381846"/>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1,68%</a:t>
            </a:r>
          </a:p>
        </p:txBody>
      </p:sp>
      <p:sp>
        <p:nvSpPr>
          <p:cNvPr id="60" name="TextBox 59"/>
          <p:cNvSpPr txBox="1"/>
          <p:nvPr/>
        </p:nvSpPr>
        <p:spPr>
          <a:xfrm>
            <a:off x="5408235" y="4381846"/>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1,51%</a:t>
            </a:r>
          </a:p>
        </p:txBody>
      </p:sp>
      <p:sp>
        <p:nvSpPr>
          <p:cNvPr id="61" name="TextBox 60"/>
          <p:cNvSpPr txBox="1"/>
          <p:nvPr/>
        </p:nvSpPr>
        <p:spPr>
          <a:xfrm>
            <a:off x="5969092" y="4381846"/>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0,17%</a:t>
            </a:r>
          </a:p>
        </p:txBody>
      </p:sp>
      <p:sp>
        <p:nvSpPr>
          <p:cNvPr id="62" name="TextBox 61"/>
          <p:cNvSpPr txBox="1"/>
          <p:nvPr/>
        </p:nvSpPr>
        <p:spPr>
          <a:xfrm>
            <a:off x="6529950" y="4381846"/>
            <a:ext cx="489434" cy="136080"/>
          </a:xfrm>
          <a:prstGeom prst="rect">
            <a:avLst/>
          </a:prstGeom>
          <a:noFill/>
        </p:spPr>
        <p:txBody>
          <a:bodyPr wrap="none" lIns="0" rIns="0" tIns="0" bIns="0" anchor="t"/>
          <a:lstStyle/>
          <a:p>
            <a:pPr algn="ctr">
              <a:lnSpc>
                <a:spcPts val="1026"/>
              </a:lnSpc>
            </a:pPr>
            <a:r>
              <a:rPr sz="892" b="0" i="0">
                <a:solidFill>
                  <a:srgbClr val="FFFFFF"/>
                </a:solidFill>
                <a:latin typeface="Versos"/>
              </a:rPr>
              <a:t>6,2</a:t>
            </a:r>
          </a:p>
        </p:txBody>
      </p:sp>
      <p:sp>
        <p:nvSpPr>
          <p:cNvPr id="63" name="TextBox 62"/>
          <p:cNvSpPr txBox="1"/>
          <p:nvPr/>
        </p:nvSpPr>
        <p:spPr>
          <a:xfrm>
            <a:off x="604800" y="4961131"/>
            <a:ext cx="1401472" cy="143640"/>
          </a:xfrm>
          <a:prstGeom prst="rect">
            <a:avLst/>
          </a:prstGeom>
          <a:noFill/>
        </p:spPr>
        <p:txBody>
          <a:bodyPr wrap="none" lIns="0" rIns="0" tIns="0" bIns="0" anchor="t"/>
          <a:lstStyle/>
          <a:p>
            <a:pPr algn="l">
              <a:lnSpc>
                <a:spcPts val="1061"/>
              </a:lnSpc>
            </a:pPr>
            <a:r>
              <a:rPr sz="922" b="0" i="0">
                <a:solidFill>
                  <a:srgbClr val="FFFFFF"/>
                </a:solidFill>
                <a:latin typeface="Versos"/>
              </a:rPr>
              <a:t>Petróleo e gás</a:t>
            </a:r>
          </a:p>
        </p:txBody>
      </p:sp>
      <p:sp>
        <p:nvSpPr>
          <p:cNvPr id="64" name="TextBox 63"/>
          <p:cNvSpPr txBox="1"/>
          <p:nvPr/>
        </p:nvSpPr>
        <p:spPr>
          <a:xfrm>
            <a:off x="2043090" y="4963258"/>
            <a:ext cx="488943" cy="136080"/>
          </a:xfrm>
          <a:prstGeom prst="rect">
            <a:avLst/>
          </a:prstGeom>
          <a:noFill/>
        </p:spPr>
        <p:txBody>
          <a:bodyPr wrap="none" lIns="0" rIns="0" tIns="0" bIns="0" anchor="t"/>
          <a:lstStyle/>
          <a:p>
            <a:pPr algn="ctr">
              <a:lnSpc>
                <a:spcPts val="1026"/>
              </a:lnSpc>
            </a:pPr>
            <a:r>
              <a:rPr sz="892" b="0" i="0">
                <a:solidFill>
                  <a:srgbClr val="BFDAEA"/>
                </a:solidFill>
                <a:latin typeface="Versos"/>
              </a:rPr>
              <a:t>26.236</a:t>
            </a:r>
          </a:p>
        </p:txBody>
      </p:sp>
      <p:sp>
        <p:nvSpPr>
          <p:cNvPr id="65" name="TextBox 64"/>
          <p:cNvSpPr txBox="1"/>
          <p:nvPr/>
        </p:nvSpPr>
        <p:spPr>
          <a:xfrm>
            <a:off x="2603947" y="4963258"/>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6,7%</a:t>
            </a:r>
          </a:p>
        </p:txBody>
      </p:sp>
      <p:sp>
        <p:nvSpPr>
          <p:cNvPr id="66" name="TextBox 65"/>
          <p:cNvSpPr txBox="1"/>
          <p:nvPr/>
        </p:nvSpPr>
        <p:spPr>
          <a:xfrm>
            <a:off x="3164805" y="4963258"/>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7,91%</a:t>
            </a:r>
          </a:p>
        </p:txBody>
      </p:sp>
      <p:sp>
        <p:nvSpPr>
          <p:cNvPr id="67" name="TextBox 66"/>
          <p:cNvSpPr txBox="1"/>
          <p:nvPr/>
        </p:nvSpPr>
        <p:spPr>
          <a:xfrm>
            <a:off x="3725662" y="4963258"/>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8,08%</a:t>
            </a:r>
          </a:p>
        </p:txBody>
      </p:sp>
      <p:sp>
        <p:nvSpPr>
          <p:cNvPr id="68" name="TextBox 67"/>
          <p:cNvSpPr txBox="1"/>
          <p:nvPr/>
        </p:nvSpPr>
        <p:spPr>
          <a:xfrm>
            <a:off x="4286520" y="4963258"/>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-0,16%</a:t>
            </a:r>
          </a:p>
        </p:txBody>
      </p:sp>
      <p:sp>
        <p:nvSpPr>
          <p:cNvPr id="69" name="TextBox 68"/>
          <p:cNvSpPr txBox="1"/>
          <p:nvPr/>
        </p:nvSpPr>
        <p:spPr>
          <a:xfrm>
            <a:off x="4847377" y="4963258"/>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-0,03%</a:t>
            </a:r>
          </a:p>
        </p:txBody>
      </p:sp>
      <p:sp>
        <p:nvSpPr>
          <p:cNvPr id="70" name="TextBox 69"/>
          <p:cNvSpPr txBox="1"/>
          <p:nvPr/>
        </p:nvSpPr>
        <p:spPr>
          <a:xfrm>
            <a:off x="5408235" y="4963258"/>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-0,07%</a:t>
            </a:r>
          </a:p>
        </p:txBody>
      </p:sp>
      <p:sp>
        <p:nvSpPr>
          <p:cNvPr id="71" name="TextBox 70"/>
          <p:cNvSpPr txBox="1"/>
          <p:nvPr/>
        </p:nvSpPr>
        <p:spPr>
          <a:xfrm>
            <a:off x="5969092" y="4963258"/>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0,04%</a:t>
            </a:r>
          </a:p>
        </p:txBody>
      </p:sp>
      <p:sp>
        <p:nvSpPr>
          <p:cNvPr id="72" name="TextBox 71"/>
          <p:cNvSpPr txBox="1"/>
          <p:nvPr/>
        </p:nvSpPr>
        <p:spPr>
          <a:xfrm>
            <a:off x="6529950" y="4963258"/>
            <a:ext cx="489434" cy="136080"/>
          </a:xfrm>
          <a:prstGeom prst="rect">
            <a:avLst/>
          </a:prstGeom>
          <a:noFill/>
        </p:spPr>
        <p:txBody>
          <a:bodyPr wrap="none" lIns="0" rIns="0" tIns="0" bIns="0" anchor="t"/>
          <a:lstStyle/>
          <a:p>
            <a:pPr algn="ctr">
              <a:lnSpc>
                <a:spcPts val="1026"/>
              </a:lnSpc>
            </a:pPr>
            <a:r>
              <a:rPr sz="892" b="0" i="0">
                <a:solidFill>
                  <a:srgbClr val="FFFFFF"/>
                </a:solidFill>
                <a:latin typeface="Versos"/>
              </a:rPr>
              <a:t>5,2</a:t>
            </a:r>
          </a:p>
        </p:txBody>
      </p:sp>
      <p:sp>
        <p:nvSpPr>
          <p:cNvPr id="73" name="TextBox 72"/>
          <p:cNvSpPr txBox="1"/>
          <p:nvPr/>
        </p:nvSpPr>
        <p:spPr>
          <a:xfrm>
            <a:off x="604800" y="5542543"/>
            <a:ext cx="1401472" cy="143640"/>
          </a:xfrm>
          <a:prstGeom prst="rect">
            <a:avLst/>
          </a:prstGeom>
          <a:noFill/>
        </p:spPr>
        <p:txBody>
          <a:bodyPr wrap="none" lIns="0" rIns="0" tIns="0" bIns="0" anchor="t"/>
          <a:lstStyle/>
          <a:p>
            <a:pPr algn="l">
              <a:lnSpc>
                <a:spcPts val="1061"/>
              </a:lnSpc>
            </a:pPr>
            <a:r>
              <a:rPr sz="922" b="0" i="0">
                <a:solidFill>
                  <a:srgbClr val="FFFFFF"/>
                </a:solidFill>
                <a:latin typeface="Versos"/>
              </a:rPr>
              <a:t>TI e Telecomunicações</a:t>
            </a:r>
          </a:p>
        </p:txBody>
      </p:sp>
      <p:sp>
        <p:nvSpPr>
          <p:cNvPr id="74" name="TextBox 73"/>
          <p:cNvSpPr txBox="1"/>
          <p:nvPr/>
        </p:nvSpPr>
        <p:spPr>
          <a:xfrm>
            <a:off x="2043090" y="5544669"/>
            <a:ext cx="488943" cy="136080"/>
          </a:xfrm>
          <a:prstGeom prst="rect">
            <a:avLst/>
          </a:prstGeom>
          <a:noFill/>
        </p:spPr>
        <p:txBody>
          <a:bodyPr wrap="none" lIns="0" rIns="0" tIns="0" bIns="0" anchor="t"/>
          <a:lstStyle/>
          <a:p>
            <a:pPr algn="ctr">
              <a:lnSpc>
                <a:spcPts val="1026"/>
              </a:lnSpc>
            </a:pPr>
            <a:r>
              <a:rPr sz="892" b="0" i="0">
                <a:solidFill>
                  <a:srgbClr val="BFDAEA"/>
                </a:solidFill>
                <a:latin typeface="Versos"/>
              </a:rPr>
              <a:t>16.942</a:t>
            </a:r>
          </a:p>
        </p:txBody>
      </p:sp>
      <p:sp>
        <p:nvSpPr>
          <p:cNvPr id="75" name="TextBox 74"/>
          <p:cNvSpPr txBox="1"/>
          <p:nvPr/>
        </p:nvSpPr>
        <p:spPr>
          <a:xfrm>
            <a:off x="2603947" y="5544669"/>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4,3%</a:t>
            </a:r>
          </a:p>
        </p:txBody>
      </p:sp>
      <p:sp>
        <p:nvSpPr>
          <p:cNvPr id="76" name="TextBox 75"/>
          <p:cNvSpPr txBox="1"/>
          <p:nvPr/>
        </p:nvSpPr>
        <p:spPr>
          <a:xfrm>
            <a:off x="3164805" y="5544669"/>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9,41%</a:t>
            </a:r>
          </a:p>
        </p:txBody>
      </p:sp>
      <p:sp>
        <p:nvSpPr>
          <p:cNvPr id="77" name="TextBox 76"/>
          <p:cNvSpPr txBox="1"/>
          <p:nvPr/>
        </p:nvSpPr>
        <p:spPr>
          <a:xfrm>
            <a:off x="3725662" y="5544669"/>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9,53%</a:t>
            </a:r>
          </a:p>
        </p:txBody>
      </p:sp>
      <p:sp>
        <p:nvSpPr>
          <p:cNvPr id="78" name="TextBox 77"/>
          <p:cNvSpPr txBox="1"/>
          <p:nvPr/>
        </p:nvSpPr>
        <p:spPr>
          <a:xfrm>
            <a:off x="4286520" y="5544669"/>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-0,11%</a:t>
            </a:r>
          </a:p>
        </p:txBody>
      </p:sp>
      <p:sp>
        <p:nvSpPr>
          <p:cNvPr id="79" name="TextBox 78"/>
          <p:cNvSpPr txBox="1"/>
          <p:nvPr/>
        </p:nvSpPr>
        <p:spPr>
          <a:xfrm>
            <a:off x="4847377" y="5544669"/>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1,41%</a:t>
            </a:r>
          </a:p>
        </p:txBody>
      </p:sp>
      <p:sp>
        <p:nvSpPr>
          <p:cNvPr id="80" name="TextBox 79"/>
          <p:cNvSpPr txBox="1"/>
          <p:nvPr/>
        </p:nvSpPr>
        <p:spPr>
          <a:xfrm>
            <a:off x="5408235" y="5544669"/>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1,21%</a:t>
            </a:r>
          </a:p>
        </p:txBody>
      </p:sp>
      <p:sp>
        <p:nvSpPr>
          <p:cNvPr id="81" name="TextBox 80"/>
          <p:cNvSpPr txBox="1"/>
          <p:nvPr/>
        </p:nvSpPr>
        <p:spPr>
          <a:xfrm>
            <a:off x="5969092" y="5544669"/>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0,19%</a:t>
            </a:r>
          </a:p>
        </p:txBody>
      </p:sp>
      <p:sp>
        <p:nvSpPr>
          <p:cNvPr id="82" name="TextBox 81"/>
          <p:cNvSpPr txBox="1"/>
          <p:nvPr/>
        </p:nvSpPr>
        <p:spPr>
          <a:xfrm>
            <a:off x="6529950" y="5544669"/>
            <a:ext cx="489434" cy="136080"/>
          </a:xfrm>
          <a:prstGeom prst="rect">
            <a:avLst/>
          </a:prstGeom>
          <a:noFill/>
        </p:spPr>
        <p:txBody>
          <a:bodyPr wrap="none" lIns="0" rIns="0" tIns="0" bIns="0" anchor="t"/>
          <a:lstStyle/>
          <a:p>
            <a:pPr algn="ctr">
              <a:lnSpc>
                <a:spcPts val="1026"/>
              </a:lnSpc>
            </a:pPr>
            <a:r>
              <a:rPr sz="892" b="0" i="0">
                <a:solidFill>
                  <a:srgbClr val="FFFFFF"/>
                </a:solidFill>
                <a:latin typeface="Versos"/>
              </a:rPr>
              <a:t>3,9</a:t>
            </a:r>
          </a:p>
        </p:txBody>
      </p:sp>
      <p:sp>
        <p:nvSpPr>
          <p:cNvPr id="83" name="TextBox 82"/>
          <p:cNvSpPr txBox="1"/>
          <p:nvPr/>
        </p:nvSpPr>
        <p:spPr>
          <a:xfrm>
            <a:off x="604800" y="6123954"/>
            <a:ext cx="1401472" cy="143640"/>
          </a:xfrm>
          <a:prstGeom prst="rect">
            <a:avLst/>
          </a:prstGeom>
          <a:noFill/>
        </p:spPr>
        <p:txBody>
          <a:bodyPr wrap="none" lIns="0" rIns="0" tIns="0" bIns="0" anchor="t"/>
          <a:lstStyle/>
          <a:p>
            <a:pPr algn="l">
              <a:lnSpc>
                <a:spcPts val="1061"/>
              </a:lnSpc>
            </a:pPr>
            <a:r>
              <a:rPr sz="922" b="0" i="0">
                <a:solidFill>
                  <a:srgbClr val="FFFFFF"/>
                </a:solidFill>
                <a:latin typeface="Versos"/>
              </a:rPr>
              <a:t>Mineração</a:t>
            </a:r>
          </a:p>
        </p:txBody>
      </p:sp>
      <p:sp>
        <p:nvSpPr>
          <p:cNvPr id="84" name="TextBox 83"/>
          <p:cNvSpPr txBox="1"/>
          <p:nvPr/>
        </p:nvSpPr>
        <p:spPr>
          <a:xfrm>
            <a:off x="2043090" y="6126080"/>
            <a:ext cx="488943" cy="136080"/>
          </a:xfrm>
          <a:prstGeom prst="rect">
            <a:avLst/>
          </a:prstGeom>
          <a:noFill/>
        </p:spPr>
        <p:txBody>
          <a:bodyPr wrap="none" lIns="0" rIns="0" tIns="0" bIns="0" anchor="t"/>
          <a:lstStyle/>
          <a:p>
            <a:pPr algn="ctr">
              <a:lnSpc>
                <a:spcPts val="1026"/>
              </a:lnSpc>
            </a:pPr>
            <a:r>
              <a:rPr sz="892" b="0" i="0">
                <a:solidFill>
                  <a:srgbClr val="BFDAEA"/>
                </a:solidFill>
                <a:latin typeface="Versos"/>
              </a:rPr>
              <a:t>14.839</a:t>
            </a:r>
          </a:p>
        </p:txBody>
      </p:sp>
      <p:sp>
        <p:nvSpPr>
          <p:cNvPr id="85" name="TextBox 84"/>
          <p:cNvSpPr txBox="1"/>
          <p:nvPr/>
        </p:nvSpPr>
        <p:spPr>
          <a:xfrm>
            <a:off x="2603947" y="6126080"/>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3,8%</a:t>
            </a:r>
          </a:p>
        </p:txBody>
      </p:sp>
      <p:sp>
        <p:nvSpPr>
          <p:cNvPr id="86" name="TextBox 85"/>
          <p:cNvSpPr txBox="1"/>
          <p:nvPr/>
        </p:nvSpPr>
        <p:spPr>
          <a:xfrm>
            <a:off x="3164805" y="6126080"/>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8,09%</a:t>
            </a:r>
          </a:p>
        </p:txBody>
      </p:sp>
      <p:sp>
        <p:nvSpPr>
          <p:cNvPr id="87" name="TextBox 86"/>
          <p:cNvSpPr txBox="1"/>
          <p:nvPr/>
        </p:nvSpPr>
        <p:spPr>
          <a:xfrm>
            <a:off x="3725662" y="6126080"/>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8,30%</a:t>
            </a:r>
          </a:p>
        </p:txBody>
      </p:sp>
      <p:sp>
        <p:nvSpPr>
          <p:cNvPr id="88" name="TextBox 87"/>
          <p:cNvSpPr txBox="1"/>
          <p:nvPr/>
        </p:nvSpPr>
        <p:spPr>
          <a:xfrm>
            <a:off x="4286520" y="6126080"/>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-0,19%</a:t>
            </a:r>
          </a:p>
        </p:txBody>
      </p:sp>
      <p:sp>
        <p:nvSpPr>
          <p:cNvPr id="89" name="TextBox 88"/>
          <p:cNvSpPr txBox="1"/>
          <p:nvPr/>
        </p:nvSpPr>
        <p:spPr>
          <a:xfrm>
            <a:off x="4847377" y="6126080"/>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0,18%</a:t>
            </a:r>
          </a:p>
        </p:txBody>
      </p:sp>
      <p:sp>
        <p:nvSpPr>
          <p:cNvPr id="90" name="TextBox 89"/>
          <p:cNvSpPr txBox="1"/>
          <p:nvPr/>
        </p:nvSpPr>
        <p:spPr>
          <a:xfrm>
            <a:off x="5408235" y="6126080"/>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0,21%</a:t>
            </a:r>
          </a:p>
        </p:txBody>
      </p:sp>
      <p:sp>
        <p:nvSpPr>
          <p:cNvPr id="91" name="TextBox 90"/>
          <p:cNvSpPr txBox="1"/>
          <p:nvPr/>
        </p:nvSpPr>
        <p:spPr>
          <a:xfrm>
            <a:off x="5969092" y="6126080"/>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-0,03%</a:t>
            </a:r>
          </a:p>
        </p:txBody>
      </p:sp>
      <p:sp>
        <p:nvSpPr>
          <p:cNvPr id="92" name="TextBox 91"/>
          <p:cNvSpPr txBox="1"/>
          <p:nvPr/>
        </p:nvSpPr>
        <p:spPr>
          <a:xfrm>
            <a:off x="6529950" y="6126080"/>
            <a:ext cx="489434" cy="136080"/>
          </a:xfrm>
          <a:prstGeom prst="rect">
            <a:avLst/>
          </a:prstGeom>
          <a:noFill/>
        </p:spPr>
        <p:txBody>
          <a:bodyPr wrap="none" lIns="0" rIns="0" tIns="0" bIns="0" anchor="t"/>
          <a:lstStyle/>
          <a:p>
            <a:pPr algn="ctr">
              <a:lnSpc>
                <a:spcPts val="1026"/>
              </a:lnSpc>
            </a:pPr>
            <a:r>
              <a:rPr sz="892" b="0" i="0">
                <a:solidFill>
                  <a:srgbClr val="FFFFFF"/>
                </a:solidFill>
                <a:latin typeface="Versos"/>
              </a:rPr>
              <a:t>6,5</a:t>
            </a:r>
          </a:p>
        </p:txBody>
      </p:sp>
      <p:sp>
        <p:nvSpPr>
          <p:cNvPr id="93" name="TextBox 92"/>
          <p:cNvSpPr txBox="1"/>
          <p:nvPr/>
        </p:nvSpPr>
        <p:spPr>
          <a:xfrm>
            <a:off x="604800" y="6705365"/>
            <a:ext cx="1401472" cy="143640"/>
          </a:xfrm>
          <a:prstGeom prst="rect">
            <a:avLst/>
          </a:prstGeom>
          <a:noFill/>
        </p:spPr>
        <p:txBody>
          <a:bodyPr wrap="none" lIns="0" rIns="0" tIns="0" bIns="0" anchor="t"/>
          <a:lstStyle/>
          <a:p>
            <a:pPr algn="l">
              <a:lnSpc>
                <a:spcPts val="1061"/>
              </a:lnSpc>
            </a:pPr>
            <a:r>
              <a:rPr sz="922" b="0" i="0">
                <a:solidFill>
                  <a:srgbClr val="FFFFFF"/>
                </a:solidFill>
                <a:latin typeface="Versos"/>
              </a:rPr>
              <a:t>Bioenergia</a:t>
            </a:r>
          </a:p>
        </p:txBody>
      </p:sp>
      <p:sp>
        <p:nvSpPr>
          <p:cNvPr id="94" name="TextBox 93"/>
          <p:cNvSpPr txBox="1"/>
          <p:nvPr/>
        </p:nvSpPr>
        <p:spPr>
          <a:xfrm>
            <a:off x="2043090" y="6707491"/>
            <a:ext cx="488943" cy="136080"/>
          </a:xfrm>
          <a:prstGeom prst="rect">
            <a:avLst/>
          </a:prstGeom>
          <a:noFill/>
        </p:spPr>
        <p:txBody>
          <a:bodyPr wrap="none" lIns="0" rIns="0" tIns="0" bIns="0" anchor="t"/>
          <a:lstStyle/>
          <a:p>
            <a:pPr algn="ctr">
              <a:lnSpc>
                <a:spcPts val="1026"/>
              </a:lnSpc>
            </a:pPr>
            <a:r>
              <a:rPr sz="892" b="0" i="0">
                <a:solidFill>
                  <a:srgbClr val="BFDAEA"/>
                </a:solidFill>
                <a:latin typeface="Versos"/>
              </a:rPr>
              <a:t>6.924</a:t>
            </a:r>
          </a:p>
        </p:txBody>
      </p:sp>
      <p:sp>
        <p:nvSpPr>
          <p:cNvPr id="95" name="TextBox 94"/>
          <p:cNvSpPr txBox="1"/>
          <p:nvPr/>
        </p:nvSpPr>
        <p:spPr>
          <a:xfrm>
            <a:off x="2603947" y="6707491"/>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1,8%</a:t>
            </a:r>
          </a:p>
        </p:txBody>
      </p:sp>
      <p:sp>
        <p:nvSpPr>
          <p:cNvPr id="96" name="TextBox 95"/>
          <p:cNvSpPr txBox="1"/>
          <p:nvPr/>
        </p:nvSpPr>
        <p:spPr>
          <a:xfrm>
            <a:off x="3164805" y="6707491"/>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8,96%</a:t>
            </a:r>
          </a:p>
        </p:txBody>
      </p:sp>
      <p:sp>
        <p:nvSpPr>
          <p:cNvPr id="97" name="TextBox 96"/>
          <p:cNvSpPr txBox="1"/>
          <p:nvPr/>
        </p:nvSpPr>
        <p:spPr>
          <a:xfrm>
            <a:off x="3725662" y="6707491"/>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9,07%</a:t>
            </a:r>
          </a:p>
        </p:txBody>
      </p:sp>
      <p:sp>
        <p:nvSpPr>
          <p:cNvPr id="98" name="TextBox 97"/>
          <p:cNvSpPr txBox="1"/>
          <p:nvPr/>
        </p:nvSpPr>
        <p:spPr>
          <a:xfrm>
            <a:off x="4286520" y="6707491"/>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-0,11%</a:t>
            </a:r>
          </a:p>
        </p:txBody>
      </p:sp>
      <p:sp>
        <p:nvSpPr>
          <p:cNvPr id="99" name="TextBox 98"/>
          <p:cNvSpPr txBox="1"/>
          <p:nvPr/>
        </p:nvSpPr>
        <p:spPr>
          <a:xfrm>
            <a:off x="4847377" y="6707491"/>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0,86%</a:t>
            </a:r>
          </a:p>
        </p:txBody>
      </p:sp>
      <p:sp>
        <p:nvSpPr>
          <p:cNvPr id="100" name="TextBox 99"/>
          <p:cNvSpPr txBox="1"/>
          <p:nvPr/>
        </p:nvSpPr>
        <p:spPr>
          <a:xfrm>
            <a:off x="5408235" y="6707491"/>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0,76%</a:t>
            </a:r>
          </a:p>
        </p:txBody>
      </p:sp>
      <p:sp>
        <p:nvSpPr>
          <p:cNvPr id="101" name="TextBox 100"/>
          <p:cNvSpPr txBox="1"/>
          <p:nvPr/>
        </p:nvSpPr>
        <p:spPr>
          <a:xfrm>
            <a:off x="5969092" y="6707491"/>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0,10%</a:t>
            </a:r>
          </a:p>
        </p:txBody>
      </p:sp>
      <p:sp>
        <p:nvSpPr>
          <p:cNvPr id="102" name="TextBox 101"/>
          <p:cNvSpPr txBox="1"/>
          <p:nvPr/>
        </p:nvSpPr>
        <p:spPr>
          <a:xfrm>
            <a:off x="6529950" y="6707491"/>
            <a:ext cx="489434" cy="136080"/>
          </a:xfrm>
          <a:prstGeom prst="rect">
            <a:avLst/>
          </a:prstGeom>
          <a:noFill/>
        </p:spPr>
        <p:txBody>
          <a:bodyPr wrap="none" lIns="0" rIns="0" tIns="0" bIns="0" anchor="t"/>
          <a:lstStyle/>
          <a:p>
            <a:pPr algn="ctr">
              <a:lnSpc>
                <a:spcPts val="1026"/>
              </a:lnSpc>
            </a:pPr>
            <a:r>
              <a:rPr sz="892" b="0" i="0">
                <a:solidFill>
                  <a:srgbClr val="FFFFFF"/>
                </a:solidFill>
                <a:latin typeface="Versos"/>
              </a:rPr>
              <a:t>4,4</a:t>
            </a:r>
          </a:p>
        </p:txBody>
      </p:sp>
      <p:sp>
        <p:nvSpPr>
          <p:cNvPr id="103" name="TextBox 102"/>
          <p:cNvSpPr txBox="1"/>
          <p:nvPr/>
        </p:nvSpPr>
        <p:spPr>
          <a:xfrm>
            <a:off x="604800" y="7286776"/>
            <a:ext cx="1401472" cy="143640"/>
          </a:xfrm>
          <a:prstGeom prst="rect">
            <a:avLst/>
          </a:prstGeom>
          <a:noFill/>
        </p:spPr>
        <p:txBody>
          <a:bodyPr wrap="none" lIns="0" rIns="0" tIns="0" bIns="0" anchor="t"/>
          <a:lstStyle/>
          <a:p>
            <a:pPr algn="l">
              <a:lnSpc>
                <a:spcPts val="1061"/>
              </a:lnSpc>
            </a:pPr>
            <a:r>
              <a:rPr sz="922" b="0" i="0">
                <a:solidFill>
                  <a:srgbClr val="FFFFFF"/>
                </a:solidFill>
                <a:latin typeface="Versos"/>
              </a:rPr>
              <a:t>Papel e celulose</a:t>
            </a:r>
          </a:p>
        </p:txBody>
      </p:sp>
      <p:sp>
        <p:nvSpPr>
          <p:cNvPr id="104" name="TextBox 103"/>
          <p:cNvSpPr txBox="1"/>
          <p:nvPr/>
        </p:nvSpPr>
        <p:spPr>
          <a:xfrm>
            <a:off x="2043090" y="7288903"/>
            <a:ext cx="488943" cy="136080"/>
          </a:xfrm>
          <a:prstGeom prst="rect">
            <a:avLst/>
          </a:prstGeom>
          <a:noFill/>
        </p:spPr>
        <p:txBody>
          <a:bodyPr wrap="none" lIns="0" rIns="0" tIns="0" bIns="0" anchor="t"/>
          <a:lstStyle/>
          <a:p>
            <a:pPr algn="ctr">
              <a:lnSpc>
                <a:spcPts val="1026"/>
              </a:lnSpc>
            </a:pPr>
            <a:r>
              <a:rPr sz="892" b="0" i="0">
                <a:solidFill>
                  <a:srgbClr val="BFDAEA"/>
                </a:solidFill>
                <a:latin typeface="Versos"/>
              </a:rPr>
              <a:t>7.223</a:t>
            </a:r>
          </a:p>
        </p:txBody>
      </p:sp>
      <p:sp>
        <p:nvSpPr>
          <p:cNvPr id="105" name="TextBox 104"/>
          <p:cNvSpPr txBox="1"/>
          <p:nvPr/>
        </p:nvSpPr>
        <p:spPr>
          <a:xfrm>
            <a:off x="2603947" y="7288903"/>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1,8%</a:t>
            </a:r>
          </a:p>
        </p:txBody>
      </p:sp>
      <p:sp>
        <p:nvSpPr>
          <p:cNvPr id="106" name="TextBox 105"/>
          <p:cNvSpPr txBox="1"/>
          <p:nvPr/>
        </p:nvSpPr>
        <p:spPr>
          <a:xfrm>
            <a:off x="3164805" y="7288903"/>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7,65%</a:t>
            </a:r>
          </a:p>
        </p:txBody>
      </p:sp>
      <p:sp>
        <p:nvSpPr>
          <p:cNvPr id="107" name="TextBox 106"/>
          <p:cNvSpPr txBox="1"/>
          <p:nvPr/>
        </p:nvSpPr>
        <p:spPr>
          <a:xfrm>
            <a:off x="3725662" y="7288903"/>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7,87%</a:t>
            </a:r>
          </a:p>
        </p:txBody>
      </p:sp>
      <p:sp>
        <p:nvSpPr>
          <p:cNvPr id="108" name="TextBox 107"/>
          <p:cNvSpPr txBox="1"/>
          <p:nvPr/>
        </p:nvSpPr>
        <p:spPr>
          <a:xfrm>
            <a:off x="4286520" y="7288903"/>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-0,20%</a:t>
            </a:r>
          </a:p>
        </p:txBody>
      </p:sp>
      <p:sp>
        <p:nvSpPr>
          <p:cNvPr id="109" name="TextBox 108"/>
          <p:cNvSpPr txBox="1"/>
          <p:nvPr/>
        </p:nvSpPr>
        <p:spPr>
          <a:xfrm>
            <a:off x="4847377" y="7288903"/>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-0,23%</a:t>
            </a:r>
          </a:p>
        </p:txBody>
      </p:sp>
      <p:sp>
        <p:nvSpPr>
          <p:cNvPr id="110" name="TextBox 109"/>
          <p:cNvSpPr txBox="1"/>
          <p:nvPr/>
        </p:nvSpPr>
        <p:spPr>
          <a:xfrm>
            <a:off x="5408235" y="7288903"/>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-0,20%</a:t>
            </a:r>
          </a:p>
        </p:txBody>
      </p:sp>
      <p:sp>
        <p:nvSpPr>
          <p:cNvPr id="111" name="TextBox 110"/>
          <p:cNvSpPr txBox="1"/>
          <p:nvPr/>
        </p:nvSpPr>
        <p:spPr>
          <a:xfrm>
            <a:off x="5969092" y="7288903"/>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-0,04%</a:t>
            </a:r>
          </a:p>
        </p:txBody>
      </p:sp>
      <p:sp>
        <p:nvSpPr>
          <p:cNvPr id="112" name="TextBox 111"/>
          <p:cNvSpPr txBox="1"/>
          <p:nvPr/>
        </p:nvSpPr>
        <p:spPr>
          <a:xfrm>
            <a:off x="6529950" y="7288903"/>
            <a:ext cx="489434" cy="136080"/>
          </a:xfrm>
          <a:prstGeom prst="rect">
            <a:avLst/>
          </a:prstGeom>
          <a:noFill/>
        </p:spPr>
        <p:txBody>
          <a:bodyPr wrap="none" lIns="0" rIns="0" tIns="0" bIns="0" anchor="t"/>
          <a:lstStyle/>
          <a:p>
            <a:pPr algn="ctr">
              <a:lnSpc>
                <a:spcPts val="1026"/>
              </a:lnSpc>
            </a:pPr>
            <a:r>
              <a:rPr sz="892" b="0" i="0">
                <a:solidFill>
                  <a:srgbClr val="FFFFFF"/>
                </a:solidFill>
                <a:latin typeface="Versos"/>
              </a:rPr>
              <a:t>6,9</a:t>
            </a:r>
          </a:p>
        </p:txBody>
      </p:sp>
      <p:sp>
        <p:nvSpPr>
          <p:cNvPr id="113" name="TextBox 112"/>
          <p:cNvSpPr txBox="1"/>
          <p:nvPr/>
        </p:nvSpPr>
        <p:spPr>
          <a:xfrm>
            <a:off x="604800" y="7868188"/>
            <a:ext cx="1401472" cy="143640"/>
          </a:xfrm>
          <a:prstGeom prst="rect">
            <a:avLst/>
          </a:prstGeom>
          <a:noFill/>
        </p:spPr>
        <p:txBody>
          <a:bodyPr wrap="none" lIns="0" rIns="0" tIns="0" bIns="0" anchor="t"/>
          <a:lstStyle/>
          <a:p>
            <a:pPr algn="l">
              <a:lnSpc>
                <a:spcPts val="1061"/>
              </a:lnSpc>
            </a:pPr>
            <a:r>
              <a:rPr sz="922" b="0" i="0">
                <a:solidFill>
                  <a:srgbClr val="FFFFFF"/>
                </a:solidFill>
                <a:latin typeface="Versos"/>
              </a:rPr>
              <a:t>Outros serviços</a:t>
            </a:r>
          </a:p>
        </p:txBody>
      </p:sp>
      <p:sp>
        <p:nvSpPr>
          <p:cNvPr id="114" name="TextBox 113"/>
          <p:cNvSpPr txBox="1"/>
          <p:nvPr/>
        </p:nvSpPr>
        <p:spPr>
          <a:xfrm>
            <a:off x="2043090" y="7870314"/>
            <a:ext cx="488943" cy="136080"/>
          </a:xfrm>
          <a:prstGeom prst="rect">
            <a:avLst/>
          </a:prstGeom>
          <a:noFill/>
        </p:spPr>
        <p:txBody>
          <a:bodyPr wrap="none" lIns="0" rIns="0" tIns="0" bIns="0" anchor="t"/>
          <a:lstStyle/>
          <a:p>
            <a:pPr algn="ctr">
              <a:lnSpc>
                <a:spcPts val="1026"/>
              </a:lnSpc>
            </a:pPr>
            <a:r>
              <a:rPr sz="892" b="0" i="0">
                <a:solidFill>
                  <a:srgbClr val="BFDAEA"/>
                </a:solidFill>
                <a:latin typeface="Versos"/>
              </a:rPr>
              <a:t>1.671</a:t>
            </a:r>
          </a:p>
        </p:txBody>
      </p:sp>
      <p:sp>
        <p:nvSpPr>
          <p:cNvPr id="115" name="TextBox 114"/>
          <p:cNvSpPr txBox="1"/>
          <p:nvPr/>
        </p:nvSpPr>
        <p:spPr>
          <a:xfrm>
            <a:off x="2603947" y="787031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0,4%</a:t>
            </a:r>
          </a:p>
        </p:txBody>
      </p:sp>
      <p:sp>
        <p:nvSpPr>
          <p:cNvPr id="116" name="TextBox 115"/>
          <p:cNvSpPr txBox="1"/>
          <p:nvPr/>
        </p:nvSpPr>
        <p:spPr>
          <a:xfrm>
            <a:off x="3164805" y="787031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7,71%</a:t>
            </a:r>
          </a:p>
        </p:txBody>
      </p:sp>
      <p:sp>
        <p:nvSpPr>
          <p:cNvPr id="117" name="TextBox 116"/>
          <p:cNvSpPr txBox="1"/>
          <p:nvPr/>
        </p:nvSpPr>
        <p:spPr>
          <a:xfrm>
            <a:off x="3725662" y="787031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7,95%</a:t>
            </a:r>
          </a:p>
        </p:txBody>
      </p:sp>
      <p:sp>
        <p:nvSpPr>
          <p:cNvPr id="118" name="TextBox 117"/>
          <p:cNvSpPr txBox="1"/>
          <p:nvPr/>
        </p:nvSpPr>
        <p:spPr>
          <a:xfrm>
            <a:off x="4286520" y="787031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-0,23%</a:t>
            </a:r>
          </a:p>
        </p:txBody>
      </p:sp>
      <p:sp>
        <p:nvSpPr>
          <p:cNvPr id="119" name="TextBox 118"/>
          <p:cNvSpPr txBox="1"/>
          <p:nvPr/>
        </p:nvSpPr>
        <p:spPr>
          <a:xfrm>
            <a:off x="4847377" y="787031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-0,30%</a:t>
            </a:r>
          </a:p>
        </p:txBody>
      </p:sp>
      <p:sp>
        <p:nvSpPr>
          <p:cNvPr id="120" name="TextBox 119"/>
          <p:cNvSpPr txBox="1"/>
          <p:nvPr/>
        </p:nvSpPr>
        <p:spPr>
          <a:xfrm>
            <a:off x="5408235" y="787031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-0,27%</a:t>
            </a:r>
          </a:p>
        </p:txBody>
      </p:sp>
      <p:sp>
        <p:nvSpPr>
          <p:cNvPr id="121" name="TextBox 120"/>
          <p:cNvSpPr txBox="1"/>
          <p:nvPr/>
        </p:nvSpPr>
        <p:spPr>
          <a:xfrm>
            <a:off x="5969092" y="787031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-0,03%</a:t>
            </a:r>
          </a:p>
        </p:txBody>
      </p:sp>
      <p:sp>
        <p:nvSpPr>
          <p:cNvPr id="122" name="TextBox 121"/>
          <p:cNvSpPr txBox="1"/>
          <p:nvPr/>
        </p:nvSpPr>
        <p:spPr>
          <a:xfrm>
            <a:off x="6529950" y="7870314"/>
            <a:ext cx="489434" cy="136080"/>
          </a:xfrm>
          <a:prstGeom prst="rect">
            <a:avLst/>
          </a:prstGeom>
          <a:noFill/>
        </p:spPr>
        <p:txBody>
          <a:bodyPr wrap="none" lIns="0" rIns="0" tIns="0" bIns="0" anchor="t"/>
          <a:lstStyle/>
          <a:p>
            <a:pPr algn="ctr">
              <a:lnSpc>
                <a:spcPts val="1026"/>
              </a:lnSpc>
            </a:pPr>
            <a:r>
              <a:rPr sz="892" b="0" i="0">
                <a:solidFill>
                  <a:srgbClr val="FFFFFF"/>
                </a:solidFill>
                <a:latin typeface="Versos"/>
              </a:rPr>
              <a:t>3,3</a:t>
            </a:r>
          </a:p>
        </p:txBody>
      </p:sp>
      <p:sp>
        <p:nvSpPr>
          <p:cNvPr id="123" name="TextBox 122"/>
          <p:cNvSpPr txBox="1"/>
          <p:nvPr/>
        </p:nvSpPr>
        <p:spPr>
          <a:xfrm>
            <a:off x="604800" y="8449599"/>
            <a:ext cx="1401472" cy="143640"/>
          </a:xfrm>
          <a:prstGeom prst="rect">
            <a:avLst/>
          </a:prstGeom>
          <a:noFill/>
        </p:spPr>
        <p:txBody>
          <a:bodyPr wrap="none" lIns="0" rIns="0" tIns="0" bIns="0" anchor="t"/>
          <a:lstStyle/>
          <a:p>
            <a:pPr algn="l">
              <a:lnSpc>
                <a:spcPts val="1061"/>
              </a:lnSpc>
            </a:pPr>
            <a:r>
              <a:rPr sz="922" b="0" i="0">
                <a:solidFill>
                  <a:srgbClr val="FFFFFF"/>
                </a:solidFill>
                <a:latin typeface="Versos"/>
              </a:rPr>
              <a:t>Comunicação</a:t>
            </a:r>
          </a:p>
        </p:txBody>
      </p:sp>
      <p:sp>
        <p:nvSpPr>
          <p:cNvPr id="124" name="TextBox 123"/>
          <p:cNvSpPr txBox="1"/>
          <p:nvPr/>
        </p:nvSpPr>
        <p:spPr>
          <a:xfrm>
            <a:off x="2043090" y="8451725"/>
            <a:ext cx="488943" cy="136080"/>
          </a:xfrm>
          <a:prstGeom prst="rect">
            <a:avLst/>
          </a:prstGeom>
          <a:noFill/>
        </p:spPr>
        <p:txBody>
          <a:bodyPr wrap="none" lIns="0" rIns="0" tIns="0" bIns="0" anchor="t"/>
          <a:lstStyle/>
          <a:p>
            <a:pPr algn="ctr">
              <a:lnSpc>
                <a:spcPts val="1026"/>
              </a:lnSpc>
            </a:pPr>
            <a:r>
              <a:rPr sz="892" b="0" i="0">
                <a:solidFill>
                  <a:srgbClr val="BFDAEA"/>
                </a:solidFill>
                <a:latin typeface="Versos"/>
              </a:rPr>
              <a:t>1.747</a:t>
            </a:r>
          </a:p>
        </p:txBody>
      </p:sp>
      <p:sp>
        <p:nvSpPr>
          <p:cNvPr id="125" name="TextBox 124"/>
          <p:cNvSpPr txBox="1"/>
          <p:nvPr/>
        </p:nvSpPr>
        <p:spPr>
          <a:xfrm>
            <a:off x="2603947" y="845172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0,5%</a:t>
            </a:r>
          </a:p>
        </p:txBody>
      </p:sp>
      <p:sp>
        <p:nvSpPr>
          <p:cNvPr id="126" name="TextBox 125"/>
          <p:cNvSpPr txBox="1"/>
          <p:nvPr/>
        </p:nvSpPr>
        <p:spPr>
          <a:xfrm>
            <a:off x="3164805" y="845172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7,95%</a:t>
            </a:r>
          </a:p>
        </p:txBody>
      </p:sp>
      <p:sp>
        <p:nvSpPr>
          <p:cNvPr id="127" name="TextBox 126"/>
          <p:cNvSpPr txBox="1"/>
          <p:nvPr/>
        </p:nvSpPr>
        <p:spPr>
          <a:xfrm>
            <a:off x="3725662" y="845172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8,09%</a:t>
            </a:r>
          </a:p>
        </p:txBody>
      </p:sp>
      <p:sp>
        <p:nvSpPr>
          <p:cNvPr id="128" name="TextBox 127"/>
          <p:cNvSpPr txBox="1"/>
          <p:nvPr/>
        </p:nvSpPr>
        <p:spPr>
          <a:xfrm>
            <a:off x="4286520" y="845172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-0,13%</a:t>
            </a:r>
          </a:p>
        </p:txBody>
      </p:sp>
      <p:sp>
        <p:nvSpPr>
          <p:cNvPr id="129" name="TextBox 128"/>
          <p:cNvSpPr txBox="1"/>
          <p:nvPr/>
        </p:nvSpPr>
        <p:spPr>
          <a:xfrm>
            <a:off x="4847377" y="845172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-0,14%</a:t>
            </a:r>
          </a:p>
        </p:txBody>
      </p:sp>
      <p:sp>
        <p:nvSpPr>
          <p:cNvPr id="130" name="TextBox 129"/>
          <p:cNvSpPr txBox="1"/>
          <p:nvPr/>
        </p:nvSpPr>
        <p:spPr>
          <a:xfrm>
            <a:off x="5408235" y="845172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-0,16%</a:t>
            </a:r>
          </a:p>
        </p:txBody>
      </p:sp>
      <p:sp>
        <p:nvSpPr>
          <p:cNvPr id="131" name="TextBox 130"/>
          <p:cNvSpPr txBox="1"/>
          <p:nvPr/>
        </p:nvSpPr>
        <p:spPr>
          <a:xfrm>
            <a:off x="5969092" y="845172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0,02%</a:t>
            </a:r>
          </a:p>
        </p:txBody>
      </p:sp>
      <p:sp>
        <p:nvSpPr>
          <p:cNvPr id="132" name="TextBox 131"/>
          <p:cNvSpPr txBox="1"/>
          <p:nvPr/>
        </p:nvSpPr>
        <p:spPr>
          <a:xfrm>
            <a:off x="6529950" y="8451725"/>
            <a:ext cx="489434" cy="136080"/>
          </a:xfrm>
          <a:prstGeom prst="rect">
            <a:avLst/>
          </a:prstGeom>
          <a:noFill/>
        </p:spPr>
        <p:txBody>
          <a:bodyPr wrap="none" lIns="0" rIns="0" tIns="0" bIns="0" anchor="t"/>
          <a:lstStyle/>
          <a:p>
            <a:pPr algn="ctr">
              <a:lnSpc>
                <a:spcPts val="1026"/>
              </a:lnSpc>
            </a:pPr>
            <a:r>
              <a:rPr sz="892" b="0" i="0">
                <a:solidFill>
                  <a:srgbClr val="FFFFFF"/>
                </a:solidFill>
                <a:latin typeface="Versos"/>
              </a:rPr>
              <a:t>4,2</a:t>
            </a:r>
          </a:p>
        </p:txBody>
      </p:sp>
      <p:sp>
        <p:nvSpPr>
          <p:cNvPr id="133" name="TextBox 132"/>
          <p:cNvSpPr txBox="1"/>
          <p:nvPr/>
        </p:nvSpPr>
        <p:spPr>
          <a:xfrm>
            <a:off x="604800" y="9031601"/>
            <a:ext cx="1401472" cy="143640"/>
          </a:xfrm>
          <a:prstGeom prst="rect">
            <a:avLst/>
          </a:prstGeom>
          <a:noFill/>
        </p:spPr>
        <p:txBody>
          <a:bodyPr wrap="none" lIns="0" rIns="0" tIns="0" bIns="0" anchor="t"/>
          <a:lstStyle/>
          <a:p>
            <a:pPr algn="l">
              <a:lnSpc>
                <a:spcPts val="1061"/>
              </a:lnSpc>
            </a:pPr>
            <a:r>
              <a:rPr sz="922" b="0" i="0">
                <a:solidFill>
                  <a:srgbClr val="FFFFFF"/>
                </a:solidFill>
                <a:latin typeface="Versos"/>
              </a:rPr>
              <a:t>Metalurgia e siderurgia</a:t>
            </a:r>
          </a:p>
        </p:txBody>
      </p:sp>
      <p:sp>
        <p:nvSpPr>
          <p:cNvPr id="134" name="TextBox 133"/>
          <p:cNvSpPr txBox="1"/>
          <p:nvPr/>
        </p:nvSpPr>
        <p:spPr>
          <a:xfrm>
            <a:off x="2043090" y="9033727"/>
            <a:ext cx="488943" cy="136080"/>
          </a:xfrm>
          <a:prstGeom prst="rect">
            <a:avLst/>
          </a:prstGeom>
          <a:noFill/>
        </p:spPr>
        <p:txBody>
          <a:bodyPr wrap="none" lIns="0" rIns="0" tIns="0" bIns="0" anchor="t"/>
          <a:lstStyle/>
          <a:p>
            <a:pPr algn="ctr">
              <a:lnSpc>
                <a:spcPts val="1026"/>
              </a:lnSpc>
            </a:pPr>
            <a:r>
              <a:rPr sz="892" b="0" i="0">
                <a:solidFill>
                  <a:srgbClr val="BFDAEA"/>
                </a:solidFill>
                <a:latin typeface="Versos"/>
              </a:rPr>
              <a:t>1.120</a:t>
            </a:r>
          </a:p>
        </p:txBody>
      </p:sp>
      <p:sp>
        <p:nvSpPr>
          <p:cNvPr id="135" name="TextBox 134"/>
          <p:cNvSpPr txBox="1"/>
          <p:nvPr/>
        </p:nvSpPr>
        <p:spPr>
          <a:xfrm>
            <a:off x="2603947" y="9033727"/>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0,3%</a:t>
            </a:r>
          </a:p>
        </p:txBody>
      </p:sp>
      <p:sp>
        <p:nvSpPr>
          <p:cNvPr id="136" name="TextBox 135"/>
          <p:cNvSpPr txBox="1"/>
          <p:nvPr/>
        </p:nvSpPr>
        <p:spPr>
          <a:xfrm>
            <a:off x="3164805" y="9033727"/>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23,57%</a:t>
            </a:r>
          </a:p>
        </p:txBody>
      </p:sp>
      <p:sp>
        <p:nvSpPr>
          <p:cNvPr id="137" name="TextBox 136"/>
          <p:cNvSpPr txBox="1"/>
          <p:nvPr/>
        </p:nvSpPr>
        <p:spPr>
          <a:xfrm>
            <a:off x="3725662" y="9033727"/>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21,71%</a:t>
            </a:r>
          </a:p>
        </p:txBody>
      </p:sp>
      <p:sp>
        <p:nvSpPr>
          <p:cNvPr id="138" name="TextBox 137"/>
          <p:cNvSpPr txBox="1"/>
          <p:nvPr/>
        </p:nvSpPr>
        <p:spPr>
          <a:xfrm>
            <a:off x="4286520" y="9033727"/>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1,53%</a:t>
            </a:r>
          </a:p>
        </p:txBody>
      </p:sp>
      <p:sp>
        <p:nvSpPr>
          <p:cNvPr id="139" name="TextBox 138"/>
          <p:cNvSpPr txBox="1"/>
          <p:nvPr/>
        </p:nvSpPr>
        <p:spPr>
          <a:xfrm>
            <a:off x="4847377" y="9033727"/>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14,35%</a:t>
            </a:r>
          </a:p>
        </p:txBody>
      </p:sp>
      <p:sp>
        <p:nvSpPr>
          <p:cNvPr id="140" name="TextBox 139"/>
          <p:cNvSpPr txBox="1"/>
          <p:nvPr/>
        </p:nvSpPr>
        <p:spPr>
          <a:xfrm>
            <a:off x="5408235" y="9033727"/>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12,46%</a:t>
            </a:r>
          </a:p>
        </p:txBody>
      </p:sp>
      <p:sp>
        <p:nvSpPr>
          <p:cNvPr id="141" name="TextBox 140"/>
          <p:cNvSpPr txBox="1"/>
          <p:nvPr/>
        </p:nvSpPr>
        <p:spPr>
          <a:xfrm>
            <a:off x="5969092" y="9033727"/>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1,68%</a:t>
            </a:r>
          </a:p>
        </p:txBody>
      </p:sp>
      <p:sp>
        <p:nvSpPr>
          <p:cNvPr id="142" name="TextBox 141"/>
          <p:cNvSpPr txBox="1"/>
          <p:nvPr/>
        </p:nvSpPr>
        <p:spPr>
          <a:xfrm>
            <a:off x="6529950" y="9033727"/>
            <a:ext cx="489434" cy="136080"/>
          </a:xfrm>
          <a:prstGeom prst="rect">
            <a:avLst/>
          </a:prstGeom>
          <a:noFill/>
        </p:spPr>
        <p:txBody>
          <a:bodyPr wrap="none" lIns="0" rIns="0" tIns="0" bIns="0" anchor="t"/>
          <a:lstStyle/>
          <a:p>
            <a:pPr algn="ctr">
              <a:lnSpc>
                <a:spcPts val="1026"/>
              </a:lnSpc>
            </a:pPr>
            <a:r>
              <a:rPr sz="892" b="0" i="0">
                <a:solidFill>
                  <a:srgbClr val="FFFFFF"/>
                </a:solidFill>
                <a:latin typeface="Versos"/>
              </a:rPr>
              <a:t>4,9</a:t>
            </a:r>
          </a:p>
        </p:txBody>
      </p:sp>
      <p:sp>
        <p:nvSpPr>
          <p:cNvPr id="143" name="TextBox 142"/>
          <p:cNvSpPr txBox="1"/>
          <p:nvPr/>
        </p:nvSpPr>
        <p:spPr>
          <a:xfrm>
            <a:off x="400680" y="9647268"/>
            <a:ext cx="6758640" cy="246054"/>
          </a:xfrm>
          <a:prstGeom prst="rect">
            <a:avLst/>
          </a:prstGeom>
          <a:noFill/>
        </p:spPr>
        <p:txBody>
          <a:bodyPr wrap="square" lIns="0" rIns="0" tIns="0" bIns="0" anchor="t"/>
          <a:lstStyle/>
          <a:p>
            <a:pPr algn="l">
              <a:lnSpc>
                <a:spcPts val="975"/>
              </a:lnSpc>
            </a:pPr>
            <a:r>
              <a:rPr sz="525" b="0" i="0">
                <a:solidFill>
                  <a:srgbClr val="222222"/>
                </a:solidFill>
                <a:latin typeface="Versos"/>
              </a:rPr>
              <a:t>1</a:t>
            </a:r>
            <a:r>
              <a:rPr sz="750" b="0" i="0">
                <a:solidFill>
                  <a:srgbClr val="222222"/>
                </a:solidFill>
                <a:latin typeface="Versos"/>
              </a:rPr>
              <a:t>Debêntures incentivadas precificadas pela ANBIMA. Desconsideramos as debêntures que começaram a ser precificadas ou que venceram ao longo do mês, para que a comparação com o mês anterior seja feita com a mesma base de ativos.</a:t>
            </a:r>
          </a:p>
        </p:txBody>
      </p:sp>
      <p:sp>
        <p:nvSpPr>
          <p:cNvPr id="144" name="TextBox 143"/>
          <p:cNvSpPr txBox="1"/>
          <p:nvPr/>
        </p:nvSpPr>
        <p:spPr>
          <a:xfrm>
            <a:off x="7071553" y="10266480"/>
            <a:ext cx="75552" cy="136080"/>
          </a:xfrm>
          <a:prstGeom prst="rect">
            <a:avLst/>
          </a:prstGeom>
          <a:noFill/>
        </p:spPr>
        <p:txBody>
          <a:bodyPr wrap="none" lIns="0" rIns="0" tIns="0" bIns="0" anchor="t"/>
          <a:lstStyle/>
          <a:p>
            <a:pPr algn="l">
              <a:lnSpc>
                <a:spcPts val="892"/>
              </a:lnSpc>
            </a:pPr>
            <a:r>
              <a:rPr sz="892" b="0" i="0">
                <a:solidFill>
                  <a:srgbClr val="111111"/>
                </a:solidFill>
                <a:latin typeface="Verso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642600"/>
            <a:ext cx="1240170" cy="189000"/>
          </a:xfrm>
          <a:prstGeom prst="rect">
            <a:avLst/>
          </a:prstGeom>
          <a:noFill/>
        </p:spPr>
        <p:txBody>
          <a:bodyPr wrap="none" lIns="0" rIns="0" tIns="0" bIns="0" anchor="t"/>
          <a:lstStyle/>
          <a:p>
            <a:pPr algn="l">
              <a:lnSpc>
                <a:spcPts val="1500"/>
              </a:lnSpc>
            </a:pPr>
            <a:r>
              <a:rPr sz="1250" b="0" i="0">
                <a:solidFill>
                  <a:srgbClr val="FFFFFF"/>
                </a:solidFill>
                <a:latin typeface="Versos"/>
              </a:rPr>
              <a:t>Agosto de 2026</a:t>
            </a:r>
          </a:p>
        </p:txBody>
      </p:sp>
      <p:sp>
        <p:nvSpPr>
          <p:cNvPr id="4" name="TextBox 3"/>
          <p:cNvSpPr txBox="1"/>
          <p:nvPr/>
        </p:nvSpPr>
        <p:spPr>
          <a:xfrm>
            <a:off x="400680" y="1239840"/>
            <a:ext cx="7028985" cy="143640"/>
          </a:xfrm>
          <a:prstGeom prst="rect">
            <a:avLst/>
          </a:prstGeom>
          <a:noFill/>
        </p:spPr>
        <p:txBody>
          <a:bodyPr wrap="none" lIns="0" rIns="0" tIns="0" bIns="0" anchor="t"/>
          <a:lstStyle/>
          <a:p>
            <a:pPr algn="l">
              <a:lnSpc>
                <a:spcPts val="1142"/>
              </a:lnSpc>
            </a:pPr>
            <a:r>
              <a:rPr sz="952" b="0" i="0">
                <a:solidFill>
                  <a:srgbClr val="111111"/>
                </a:solidFill>
                <a:latin typeface="Versos"/>
              </a:rPr>
              <a:t>CARACTERÍSTICAS GERAIS DO FUNDO</a:t>
            </a:r>
          </a:p>
        </p:txBody>
      </p:sp>
      <p:sp>
        <p:nvSpPr>
          <p:cNvPr id="5" name="TextBox 4"/>
          <p:cNvSpPr txBox="1"/>
          <p:nvPr/>
        </p:nvSpPr>
        <p:spPr>
          <a:xfrm>
            <a:off x="400680" y="1694857"/>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Gestor</a:t>
            </a:r>
          </a:p>
        </p:txBody>
      </p:sp>
      <p:sp>
        <p:nvSpPr>
          <p:cNvPr id="6" name="TextBox 5"/>
          <p:cNvSpPr txBox="1"/>
          <p:nvPr/>
        </p:nvSpPr>
        <p:spPr>
          <a:xfrm>
            <a:off x="400680" y="1883857"/>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Tivio Capital</a:t>
            </a:r>
          </a:p>
        </p:txBody>
      </p:sp>
      <p:sp>
        <p:nvSpPr>
          <p:cNvPr id="7" name="TextBox 6"/>
          <p:cNvSpPr txBox="1"/>
          <p:nvPr/>
        </p:nvSpPr>
        <p:spPr>
          <a:xfrm>
            <a:off x="400680" y="2385770"/>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Público Alvo</a:t>
            </a:r>
          </a:p>
        </p:txBody>
      </p:sp>
      <p:sp>
        <p:nvSpPr>
          <p:cNvPr id="8" name="TextBox 7"/>
          <p:cNvSpPr txBox="1"/>
          <p:nvPr/>
        </p:nvSpPr>
        <p:spPr>
          <a:xfrm>
            <a:off x="400680" y="2574770"/>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Investidores em geral</a:t>
            </a:r>
          </a:p>
        </p:txBody>
      </p:sp>
      <p:sp>
        <p:nvSpPr>
          <p:cNvPr id="9" name="TextBox 8"/>
          <p:cNvSpPr txBox="1"/>
          <p:nvPr/>
        </p:nvSpPr>
        <p:spPr>
          <a:xfrm>
            <a:off x="400680" y="3076683"/>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Data de início</a:t>
            </a:r>
          </a:p>
        </p:txBody>
      </p:sp>
      <p:sp>
        <p:nvSpPr>
          <p:cNvPr id="10" name="TextBox 9"/>
          <p:cNvSpPr txBox="1"/>
          <p:nvPr/>
        </p:nvSpPr>
        <p:spPr>
          <a:xfrm>
            <a:off x="400680" y="3265683"/>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31/05/2021</a:t>
            </a:r>
          </a:p>
        </p:txBody>
      </p:sp>
      <p:sp>
        <p:nvSpPr>
          <p:cNvPr id="11" name="TextBox 10"/>
          <p:cNvSpPr txBox="1"/>
          <p:nvPr/>
        </p:nvSpPr>
        <p:spPr>
          <a:xfrm>
            <a:off x="400680" y="3767596"/>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Taxa global</a:t>
            </a:r>
          </a:p>
        </p:txBody>
      </p:sp>
      <p:sp>
        <p:nvSpPr>
          <p:cNvPr id="12" name="TextBox 11"/>
          <p:cNvSpPr txBox="1"/>
          <p:nvPr/>
        </p:nvSpPr>
        <p:spPr>
          <a:xfrm>
            <a:off x="400680" y="3956596"/>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0,75% a.a.</a:t>
            </a:r>
          </a:p>
        </p:txBody>
      </p:sp>
      <p:sp>
        <p:nvSpPr>
          <p:cNvPr id="13" name="TextBox 12"/>
          <p:cNvSpPr txBox="1"/>
          <p:nvPr/>
        </p:nvSpPr>
        <p:spPr>
          <a:xfrm>
            <a:off x="400680" y="4458510"/>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Taxa de performance</a:t>
            </a:r>
          </a:p>
        </p:txBody>
      </p:sp>
      <p:sp>
        <p:nvSpPr>
          <p:cNvPr id="14" name="TextBox 13"/>
          <p:cNvSpPr txBox="1"/>
          <p:nvPr/>
        </p:nvSpPr>
        <p:spPr>
          <a:xfrm>
            <a:off x="400680" y="4647510"/>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Não há</a:t>
            </a:r>
          </a:p>
        </p:txBody>
      </p:sp>
      <p:sp>
        <p:nvSpPr>
          <p:cNvPr id="15" name="TextBox 14"/>
          <p:cNvSpPr txBox="1"/>
          <p:nvPr/>
        </p:nvSpPr>
        <p:spPr>
          <a:xfrm>
            <a:off x="3878280" y="1694857"/>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Informações Operacionais</a:t>
            </a:r>
          </a:p>
        </p:txBody>
      </p:sp>
      <p:sp>
        <p:nvSpPr>
          <p:cNvPr id="16" name="TextBox 15"/>
          <p:cNvSpPr txBox="1"/>
          <p:nvPr/>
        </p:nvSpPr>
        <p:spPr>
          <a:xfrm>
            <a:off x="3878280" y="1883857"/>
            <a:ext cx="3281040" cy="1366351"/>
          </a:xfrm>
          <a:prstGeom prst="rect">
            <a:avLst/>
          </a:prstGeom>
          <a:noFill/>
        </p:spPr>
        <p:txBody>
          <a:bodyPr wrap="square" lIns="0" rIns="0" tIns="0" bIns="0" anchor="t"/>
          <a:lstStyle/>
          <a:p>
            <a:pPr algn="l">
              <a:lnSpc>
                <a:spcPts val="1333"/>
              </a:lnSpc>
            </a:pPr>
            <a:r>
              <a:rPr sz="1190" b="0" i="0">
                <a:solidFill>
                  <a:srgbClr val="222222"/>
                </a:solidFill>
                <a:latin typeface="Versos"/>
              </a:rPr>
              <a:t>Aplicação:</a:t>
            </a:r>
          </a:p>
          <a:p>
            <a:pPr algn="l">
              <a:lnSpc>
                <a:spcPts val="1333"/>
              </a:lnSpc>
            </a:pPr>
            <a:r>
              <a:rPr sz="1190" b="1" i="0">
                <a:solidFill>
                  <a:srgbClr val="222222"/>
                </a:solidFill>
                <a:latin typeface="Versos"/>
              </a:rPr>
              <a:t>D+0</a:t>
            </a:r>
          </a:p>
          <a:p>
            <a:pPr algn="l">
              <a:lnSpc>
                <a:spcPts val="1333"/>
              </a:lnSpc>
            </a:pPr>
            <a:r>
              <a:rPr sz="1190" b="0" i="0">
                <a:solidFill>
                  <a:srgbClr val="222222"/>
                </a:solidFill>
                <a:latin typeface="Versos"/>
              </a:rPr>
              <a:t>Resgate:</a:t>
            </a:r>
          </a:p>
          <a:p>
            <a:pPr algn="l">
              <a:lnSpc>
                <a:spcPts val="1333"/>
              </a:lnSpc>
            </a:pPr>
            <a:r>
              <a:rPr sz="1190" b="1" i="0">
                <a:solidFill>
                  <a:srgbClr val="222222"/>
                </a:solidFill>
                <a:latin typeface="Versos"/>
              </a:rPr>
              <a:t>D+31</a:t>
            </a:r>
          </a:p>
          <a:p>
            <a:pPr algn="l">
              <a:lnSpc>
                <a:spcPts val="1333"/>
              </a:lnSpc>
            </a:pPr>
            <a:r>
              <a:rPr sz="1190" b="0" i="0">
                <a:solidFill>
                  <a:srgbClr val="222222"/>
                </a:solidFill>
                <a:latin typeface="Versos"/>
              </a:rPr>
              <a:t>Aplicação mínima inicial:</a:t>
            </a:r>
          </a:p>
          <a:p>
            <a:pPr algn="l">
              <a:lnSpc>
                <a:spcPts val="1333"/>
              </a:lnSpc>
            </a:pPr>
            <a:r>
              <a:rPr sz="1190" b="1" i="0">
                <a:solidFill>
                  <a:srgbClr val="222222"/>
                </a:solidFill>
                <a:latin typeface="Versos"/>
              </a:rPr>
              <a:t>R$ 1.000,00</a:t>
            </a:r>
          </a:p>
          <a:p>
            <a:pPr algn="l">
              <a:lnSpc>
                <a:spcPts val="1333"/>
              </a:lnSpc>
            </a:pPr>
            <a:r>
              <a:rPr sz="1190" b="0" i="0">
                <a:solidFill>
                  <a:srgbClr val="222222"/>
                </a:solidFill>
                <a:latin typeface="Versos"/>
              </a:rPr>
              <a:t>Movimentação mínima:</a:t>
            </a:r>
          </a:p>
          <a:p>
            <a:pPr algn="l">
              <a:lnSpc>
                <a:spcPts val="1333"/>
              </a:lnSpc>
            </a:pPr>
            <a:r>
              <a:rPr sz="1190" b="1" i="0">
                <a:solidFill>
                  <a:srgbClr val="222222"/>
                </a:solidFill>
                <a:latin typeface="Versos"/>
              </a:rPr>
              <a:t>R$ 1.000,00</a:t>
            </a:r>
          </a:p>
        </p:txBody>
      </p:sp>
      <p:sp>
        <p:nvSpPr>
          <p:cNvPr id="17" name="TextBox 16"/>
          <p:cNvSpPr txBox="1"/>
          <p:nvPr/>
        </p:nvSpPr>
        <p:spPr>
          <a:xfrm>
            <a:off x="3878280" y="3767596"/>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Patrimônio líquido</a:t>
            </a:r>
          </a:p>
        </p:txBody>
      </p:sp>
      <p:sp>
        <p:nvSpPr>
          <p:cNvPr id="18" name="TextBox 17"/>
          <p:cNvSpPr txBox="1"/>
          <p:nvPr/>
        </p:nvSpPr>
        <p:spPr>
          <a:xfrm>
            <a:off x="3878280" y="3956596"/>
            <a:ext cx="3412281" cy="181440"/>
          </a:xfrm>
          <a:prstGeom prst="rect">
            <a:avLst/>
          </a:prstGeom>
          <a:noFill/>
        </p:spPr>
        <p:txBody>
          <a:bodyPr wrap="none" lIns="0" rIns="0" tIns="0" bIns="0" anchor="t"/>
          <a:lstStyle/>
          <a:p>
            <a:pPr algn="l">
              <a:lnSpc>
                <a:spcPts val="1333"/>
              </a:lnSpc>
            </a:pPr>
            <a:r>
              <a:rPr sz="1190" b="0" i="0">
                <a:solidFill>
                  <a:srgbClr val="222222"/>
                </a:solidFill>
                <a:latin typeface="Versos"/>
              </a:rPr>
              <a:t>R$ 42.694.019,75</a:t>
            </a:r>
          </a:p>
        </p:txBody>
      </p:sp>
      <p:sp>
        <p:nvSpPr>
          <p:cNvPr id="19" name="TextBox 18"/>
          <p:cNvSpPr txBox="1"/>
          <p:nvPr/>
        </p:nvSpPr>
        <p:spPr>
          <a:xfrm>
            <a:off x="3878280" y="4458510"/>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Patrimônio líquido médio (12 meses)</a:t>
            </a:r>
          </a:p>
        </p:txBody>
      </p:sp>
      <p:sp>
        <p:nvSpPr>
          <p:cNvPr id="20" name="TextBox 19"/>
          <p:cNvSpPr txBox="1"/>
          <p:nvPr/>
        </p:nvSpPr>
        <p:spPr>
          <a:xfrm>
            <a:off x="3878280" y="4647510"/>
            <a:ext cx="3412281" cy="181440"/>
          </a:xfrm>
          <a:prstGeom prst="rect">
            <a:avLst/>
          </a:prstGeom>
          <a:noFill/>
        </p:spPr>
        <p:txBody>
          <a:bodyPr wrap="none" lIns="0" rIns="0" tIns="0" bIns="0" anchor="t"/>
          <a:lstStyle/>
          <a:p>
            <a:pPr algn="l">
              <a:lnSpc>
                <a:spcPts val="1333"/>
              </a:lnSpc>
            </a:pPr>
            <a:r>
              <a:rPr sz="1190" b="0" i="0">
                <a:solidFill>
                  <a:srgbClr val="222222"/>
                </a:solidFill>
                <a:latin typeface="Versos"/>
              </a:rPr>
              <a:t>R$ 49.421.174,50</a:t>
            </a:r>
          </a:p>
        </p:txBody>
      </p:sp>
      <p:sp>
        <p:nvSpPr>
          <p:cNvPr id="21" name="TextBox 20"/>
          <p:cNvSpPr txBox="1"/>
          <p:nvPr/>
        </p:nvSpPr>
        <p:spPr>
          <a:xfrm>
            <a:off x="400680" y="6229440"/>
            <a:ext cx="7028985" cy="151200"/>
          </a:xfrm>
          <a:prstGeom prst="rect">
            <a:avLst/>
          </a:prstGeom>
          <a:noFill/>
        </p:spPr>
        <p:txBody>
          <a:bodyPr wrap="none" lIns="0" rIns="0" tIns="0" bIns="0" anchor="t"/>
          <a:lstStyle/>
          <a:p>
            <a:pPr algn="l">
              <a:lnSpc>
                <a:spcPts val="1214"/>
              </a:lnSpc>
            </a:pPr>
            <a:r>
              <a:rPr sz="1012" b="1" i="0">
                <a:solidFill>
                  <a:srgbClr val="FFFFFF"/>
                </a:solidFill>
                <a:latin typeface="Versos"/>
              </a:rPr>
              <a:t>MATERIAL TÉCNICO</a:t>
            </a:r>
          </a:p>
        </p:txBody>
      </p:sp>
      <p:sp>
        <p:nvSpPr>
          <p:cNvPr id="22" name="TextBox 21"/>
          <p:cNvSpPr txBox="1"/>
          <p:nvPr/>
        </p:nvSpPr>
        <p:spPr>
          <a:xfrm>
            <a:off x="400680" y="6471360"/>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Este material foi elaborado pela Tivio Capital Distribuidora de Títulos e Valores Mobiliários S.A. e possui caráter meramente informativo. Não constitui oferta, recomendação ou aconselhamento de investimento.</a:t>
            </a:r>
          </a:p>
        </p:txBody>
      </p:sp>
      <p:sp>
        <p:nvSpPr>
          <p:cNvPr id="23" name="TextBox 22"/>
          <p:cNvSpPr txBox="1"/>
          <p:nvPr/>
        </p:nvSpPr>
        <p:spPr>
          <a:xfrm>
            <a:off x="400680" y="6808725"/>
            <a:ext cx="6758640" cy="438716"/>
          </a:xfrm>
          <a:prstGeom prst="rect">
            <a:avLst/>
          </a:prstGeom>
          <a:noFill/>
        </p:spPr>
        <p:txBody>
          <a:bodyPr wrap="square" lIns="0" rIns="0" tIns="0" bIns="0" anchor="t"/>
          <a:lstStyle/>
          <a:p>
            <a:pPr algn="just">
              <a:lnSpc>
                <a:spcPts val="1162"/>
              </a:lnSpc>
            </a:pPr>
            <a:r>
              <a:rPr sz="952" b="0" i="0">
                <a:solidFill>
                  <a:srgbClr val="E9E9E9"/>
                </a:solidFill>
                <a:latin typeface="Versos"/>
              </a:rPr>
              <a:t>Antes de investir, leia a lâmina de informações básicas, se aplicável, o regulamento, o formulário de informações complementares, seus anexos e apêndices. Esses documentos e informações sobre tributação estão disponíveis em tivio.com/fundos/ e tivio.com/documentos/.</a:t>
            </a:r>
          </a:p>
        </p:txBody>
      </p:sp>
      <p:sp>
        <p:nvSpPr>
          <p:cNvPr id="24" name="TextBox 23"/>
          <p:cNvSpPr txBox="1"/>
          <p:nvPr/>
        </p:nvSpPr>
        <p:spPr>
          <a:xfrm>
            <a:off x="400680" y="7293628"/>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Os investimentos envolvem riscos. Consulte os documentos do fundo para conhecer sua estratégia, público-alvo, condições e principais fatores de risco.</a:t>
            </a:r>
          </a:p>
        </p:txBody>
      </p:sp>
      <p:sp>
        <p:nvSpPr>
          <p:cNvPr id="25" name="TextBox 24"/>
          <p:cNvSpPr txBox="1"/>
          <p:nvPr/>
        </p:nvSpPr>
        <p:spPr>
          <a:xfrm>
            <a:off x="400680" y="7630993"/>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Rentabilidade obtida no passado não representa garantia de resultados futuros. A rentabilidade divulgada não é líquida de impostos.</a:t>
            </a:r>
          </a:p>
        </p:txBody>
      </p:sp>
      <p:sp>
        <p:nvSpPr>
          <p:cNvPr id="26" name="TextBox 25"/>
          <p:cNvSpPr txBox="1"/>
          <p:nvPr/>
        </p:nvSpPr>
        <p:spPr>
          <a:xfrm>
            <a:off x="400680" y="7968358"/>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Os investimentos em fundos não são garantidos pelo administrador, pelo gestor, por qualquer mecanismo de seguro ou pelo Fundo Garantidor de Crédito – FGC.</a:t>
            </a:r>
          </a:p>
        </p:txBody>
      </p:sp>
      <p:sp>
        <p:nvSpPr>
          <p:cNvPr id="27" name="TextBox 26"/>
          <p:cNvSpPr txBox="1"/>
          <p:nvPr/>
        </p:nvSpPr>
        <p:spPr>
          <a:xfrm>
            <a:off x="400680" y="8305723"/>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A Tivio Capital Distribuidora de Títulos e Valores Mobiliários S.A. integra o conglomerado prudencial liderado pelo Banco Bradesco S.A.</a:t>
            </a:r>
          </a:p>
        </p:txBody>
      </p:sp>
      <p:sp>
        <p:nvSpPr>
          <p:cNvPr id="28" name="TextBox 27"/>
          <p:cNvSpPr txBox="1"/>
          <p:nvPr/>
        </p:nvSpPr>
        <p:spPr>
          <a:xfrm>
            <a:off x="400680" y="8987540"/>
            <a:ext cx="1273269" cy="294840"/>
          </a:xfrm>
          <a:prstGeom prst="rect">
            <a:avLst/>
          </a:prstGeom>
          <a:noFill/>
        </p:spPr>
        <p:txBody>
          <a:bodyPr wrap="square" lIns="0" rIns="0" tIns="0" bIns="0" anchor="t"/>
          <a:lstStyle/>
          <a:p>
            <a:pPr algn="l">
              <a:lnSpc>
                <a:spcPts val="1190"/>
              </a:lnSpc>
            </a:pPr>
            <a:r>
              <a:rPr sz="952" b="0" i="0">
                <a:solidFill>
                  <a:srgbClr val="E9E9E9"/>
                </a:solidFill>
                <a:latin typeface="Versos"/>
              </a:rPr>
              <a:t>SAC: 0800 704 8383</a:t>
            </a:r>
          </a:p>
          <a:p>
            <a:pPr algn="l">
              <a:lnSpc>
                <a:spcPts val="1190"/>
              </a:lnSpc>
            </a:pPr>
            <a:r>
              <a:rPr sz="952" b="0" i="0">
                <a:solidFill>
                  <a:srgbClr val="E9E9E9"/>
                </a:solidFill>
                <a:latin typeface="Versos"/>
              </a:rPr>
              <a:t>Atendimento 24 horas</a:t>
            </a:r>
          </a:p>
        </p:txBody>
      </p:sp>
      <p:sp>
        <p:nvSpPr>
          <p:cNvPr id="29" name="TextBox 28"/>
          <p:cNvSpPr txBox="1"/>
          <p:nvPr/>
        </p:nvSpPr>
        <p:spPr>
          <a:xfrm>
            <a:off x="1794909" y="8987540"/>
            <a:ext cx="4518399" cy="294840"/>
          </a:xfrm>
          <a:prstGeom prst="rect">
            <a:avLst/>
          </a:prstGeom>
          <a:noFill/>
        </p:spPr>
        <p:txBody>
          <a:bodyPr wrap="square" lIns="0" rIns="0" tIns="0" bIns="0" anchor="t"/>
          <a:lstStyle/>
          <a:p>
            <a:pPr algn="l">
              <a:lnSpc>
                <a:spcPts val="1190"/>
              </a:lnSpc>
            </a:pPr>
            <a:r>
              <a:rPr sz="952" b="0" i="0">
                <a:solidFill>
                  <a:srgbClr val="E9E9E9"/>
                </a:solidFill>
                <a:latin typeface="Versos"/>
              </a:rPr>
              <a:t>Ouvidoria: 0800 727 9933</a:t>
            </a:r>
          </a:p>
          <a:p>
            <a:pPr algn="l">
              <a:lnSpc>
                <a:spcPts val="1190"/>
              </a:lnSpc>
            </a:pPr>
            <a:r>
              <a:rPr sz="952" b="0" i="0">
                <a:solidFill>
                  <a:srgbClr val="E9E9E9"/>
                </a:solidFill>
                <a:latin typeface="Versos"/>
              </a:rPr>
              <a:t>Atendimento das 9h às 18h, de segunda a sexta-feira, exceto feriados nacionais</a:t>
            </a:r>
          </a:p>
        </p:txBody>
      </p:sp>
      <p:sp>
        <p:nvSpPr>
          <p:cNvPr id="30" name="TextBox 29"/>
          <p:cNvSpPr txBox="1"/>
          <p:nvPr/>
        </p:nvSpPr>
        <p:spPr>
          <a:xfrm>
            <a:off x="876960" y="9843120"/>
            <a:ext cx="1274077" cy="181440"/>
          </a:xfrm>
          <a:prstGeom prst="rect">
            <a:avLst/>
          </a:prstGeom>
          <a:noFill/>
        </p:spPr>
        <p:txBody>
          <a:bodyPr wrap="none" lIns="0" rIns="0" tIns="0" bIns="0" anchor="t"/>
          <a:lstStyle/>
          <a:p>
            <a:pPr algn="l">
              <a:lnSpc>
                <a:spcPts val="1428"/>
              </a:lnSpc>
            </a:pPr>
            <a:r>
              <a:rPr sz="1190" b="0" i="0">
                <a:solidFill>
                  <a:srgbClr val="FFFFFF"/>
                </a:solidFill>
                <a:latin typeface="Versos"/>
              </a:rPr>
              <a:t>tivio.com/fundos</a:t>
            </a:r>
          </a:p>
        </p:txBody>
      </p:sp>
      <p:sp>
        <p:nvSpPr>
          <p:cNvPr id="31" name="TextBox 30"/>
          <p:cNvSpPr txBox="1"/>
          <p:nvPr/>
        </p:nvSpPr>
        <p:spPr>
          <a:xfrm>
            <a:off x="3341520" y="9756652"/>
            <a:ext cx="907200" cy="349650"/>
          </a:xfrm>
          <a:prstGeom prst="rect">
            <a:avLst/>
          </a:prstGeom>
          <a:noFill/>
        </p:spPr>
        <p:txBody>
          <a:bodyPr wrap="square" lIns="0" rIns="0" tIns="0" bIns="0" anchor="t"/>
          <a:lstStyle/>
          <a:p>
            <a:pPr algn="l">
              <a:lnSpc>
                <a:spcPts val="930"/>
              </a:lnSpc>
            </a:pPr>
            <a:r>
              <a:rPr sz="744" b="0" i="0">
                <a:solidFill>
                  <a:srgbClr val="FFFFFF"/>
                </a:solidFill>
                <a:latin typeface="Versos"/>
              </a:rPr>
              <a:t>Leia o QR Code e acesse as redes da Tivio Capital</a:t>
            </a:r>
          </a:p>
        </p:txBody>
      </p:sp>
      <p:sp>
        <p:nvSpPr>
          <p:cNvPr id="32" name="TextBox 31"/>
          <p:cNvSpPr txBox="1"/>
          <p:nvPr/>
        </p:nvSpPr>
        <p:spPr>
          <a:xfrm>
            <a:off x="4528440" y="10020071"/>
            <a:ext cx="527886" cy="98280"/>
          </a:xfrm>
          <a:prstGeom prst="rect">
            <a:avLst/>
          </a:prstGeom>
          <a:noFill/>
        </p:spPr>
        <p:txBody>
          <a:bodyPr wrap="none" lIns="0" rIns="0" tIns="0" bIns="0" anchor="t"/>
          <a:lstStyle/>
          <a:p>
            <a:pPr algn="l">
              <a:lnSpc>
                <a:spcPts val="714"/>
              </a:lnSpc>
            </a:pPr>
            <a:r>
              <a:rPr sz="595" b="0" i="0">
                <a:solidFill>
                  <a:srgbClr val="FFFFFF"/>
                </a:solidFill>
                <a:latin typeface="Versos"/>
              </a:rPr>
              <a:t>Rating S&amp;P</a:t>
            </a:r>
          </a:p>
        </p:txBody>
      </p:sp>
      <p:sp>
        <p:nvSpPr>
          <p:cNvPr id="33" name="TextBox 32"/>
          <p:cNvSpPr txBox="1"/>
          <p:nvPr/>
        </p:nvSpPr>
        <p:spPr>
          <a:xfrm>
            <a:off x="4528440" y="10110791"/>
            <a:ext cx="527886" cy="166320"/>
          </a:xfrm>
          <a:prstGeom prst="rect">
            <a:avLst/>
          </a:prstGeom>
          <a:noFill/>
        </p:spPr>
        <p:txBody>
          <a:bodyPr wrap="none" lIns="0" rIns="0" tIns="0" bIns="0" anchor="t"/>
          <a:lstStyle/>
          <a:p>
            <a:pPr algn="l">
              <a:lnSpc>
                <a:spcPts val="1285"/>
              </a:lnSpc>
            </a:pPr>
            <a:r>
              <a:rPr sz="1071" b="1" i="0">
                <a:solidFill>
                  <a:srgbClr val="FFFFFF"/>
                </a:solidFill>
                <a:latin typeface="Versos"/>
              </a:rPr>
              <a:t>brAMP1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