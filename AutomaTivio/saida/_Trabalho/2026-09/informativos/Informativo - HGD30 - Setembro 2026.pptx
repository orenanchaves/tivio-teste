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media/image1.svg" ContentType="image/svg+xml"/>
  <Override PartName="/ppt/media/image14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  <p:sldMasterId id="2147483696" r:id="rId5"/>
    <p:sldMasterId id="2147483702" r:id="rId6"/>
  </p:sldMasterIdLst>
  <p:notesMasterIdLst>
    <p:notesMasterId r:id="rId13"/>
  </p:notesMasterIdLst>
  <p:sldIdLst>
    <p:sldId id="257" r:id="rId7"/>
    <p:sldId id="256" r:id="rId8"/>
    <p:sldId id="2147474427" r:id="rId9"/>
    <p:sldId id="2147474428" r:id="rId10"/>
    <p:sldId id="258" r:id="rId11"/>
    <p:sldId id="303" r:id="rId1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apa" id="{005BDDA3-A7DC-4239-98AE-B64C414314C5}">
          <p14:sldIdLst>
            <p14:sldId id="257"/>
            <p14:sldId id="256"/>
          </p14:sldIdLst>
        </p14:section>
        <p14:section name="Princiapais características" id="{A7474290-C507-4B77-AB33-C6E28A61193B}">
          <p14:sldIdLst>
            <p14:sldId id="2147474427"/>
            <p14:sldId id="2147474428"/>
            <p14:sldId id="258"/>
          </p14:sldIdLst>
        </p14:section>
        <p14:section name="Disclaimer" id="{5EAD1322-5AC1-4A4C-90AC-66D236BF9FE6}">
          <p14:sldIdLst>
            <p14:sldId id="303"/>
          </p14:sldIdLst>
        </p14:section>
      </p14:sectionLst>
    </p:ext>
    <p:ext uri="{EFAFB233-063F-42B5-8137-9DF3F51BA10A}">
      <p15:sldGuideLst xmlns:p15="http://schemas.microsoft.com/office/powerpoint/2012/main">
        <p15:guide id="1" pos="278" userDrawn="1">
          <p15:clr>
            <a:srgbClr val="A4A3A4"/>
          </p15:clr>
        </p15:guide>
        <p15:guide id="2" pos="4020" userDrawn="1">
          <p15:clr>
            <a:srgbClr val="A4A3A4"/>
          </p15:clr>
        </p15:guide>
        <p15:guide id="3" orient="horz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1417"/>
    <a:srgbClr val="465C69"/>
    <a:srgbClr val="293A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61E7A5-FB32-85B3-0232-4423FF49781C}" v="1" dt="2026-10-05T21:26:33.379"/>
    <p1510:client id="{40228799-1607-432C-BC82-431C50A707BC}" v="22" dt="2026-10-05T20:07:10.260"/>
    <p1510:client id="{AB41E8C2-791D-4B96-A837-6C86EA16E851}" v="4" dt="2026-10-05T21:31:10.7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5520" y="48"/>
      </p:cViewPr>
      <p:guideLst>
        <p:guide pos="278"/>
        <p:guide pos="4020"/>
        <p:guide orient="horz"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6/11/relationships/changesInfo" Target="changesInfos/changesInfo1.xml"/><Relationship Id="rId1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 Fiorilli" userId="6dec09dd-bf1e-4f54-a7db-53ed072060ed" providerId="ADAL" clId="{7DBF1522-1442-4072-822F-816E1C27FADA}"/>
    <pc:docChg chg="undo redo custSel addSld delSld modSld addMainMaster delMainMaster delSection modSection">
      <pc:chgData name="Gabriel Fiorilli" userId="6dec09dd-bf1e-4f54-a7db-53ed072060ed" providerId="ADAL" clId="{7DBF1522-1442-4072-822F-816E1C27FADA}" dt="2026-10-05T20:42:01.842" v="652" actId="27918"/>
      <pc:docMkLst>
        <pc:docMk/>
      </pc:docMkLst>
      <pc:sldChg chg="modSp mod">
        <pc:chgData name="Gabriel Fiorilli" userId="6dec09dd-bf1e-4f54-a7db-53ed072060ed" providerId="ADAL" clId="{7DBF1522-1442-4072-822F-816E1C27FADA}" dt="2026-10-05T20:13:46.894" v="638" actId="20577"/>
        <pc:sldMkLst>
          <pc:docMk/>
          <pc:sldMk cId="2724459421" sldId="256"/>
        </pc:sldMkLst>
        <pc:spChg chg="mod">
          <ac:chgData name="Gabriel Fiorilli" userId="6dec09dd-bf1e-4f54-a7db-53ed072060ed" providerId="ADAL" clId="{7DBF1522-1442-4072-822F-816E1C27FADA}" dt="2026-10-05T20:13:46.894" v="638" actId="20577"/>
          <ac:spMkLst>
            <pc:docMk/>
            <pc:sldMk cId="2724459421" sldId="256"/>
            <ac:spMk id="5" creationId="{6ED797C1-536B-FB13-D516-893D6DD50F4E}"/>
          </ac:spMkLst>
        </pc:spChg>
        <pc:spChg chg="mod">
          <ac:chgData name="Gabriel Fiorilli" userId="6dec09dd-bf1e-4f54-a7db-53ed072060ed" providerId="ADAL" clId="{7DBF1522-1442-4072-822F-816E1C27FADA}" dt="2026-10-05T20:09:08.361" v="610" actId="1076"/>
          <ac:spMkLst>
            <pc:docMk/>
            <pc:sldMk cId="2724459421" sldId="256"/>
            <ac:spMk id="27" creationId="{77CEE74B-AF3F-6AA9-CF50-44142EBA11D7}"/>
          </ac:spMkLst>
        </pc:spChg>
      </pc:sldChg>
      <pc:sldChg chg="modSp mod">
        <pc:chgData name="Gabriel Fiorilli" userId="6dec09dd-bf1e-4f54-a7db-53ed072060ed" providerId="ADAL" clId="{7DBF1522-1442-4072-822F-816E1C27FADA}" dt="2026-10-05T20:14:35.334" v="646" actId="20577"/>
        <pc:sldMkLst>
          <pc:docMk/>
          <pc:sldMk cId="1891738540" sldId="257"/>
        </pc:sldMkLst>
        <pc:spChg chg="mod">
          <ac:chgData name="Gabriel Fiorilli" userId="6dec09dd-bf1e-4f54-a7db-53ed072060ed" providerId="ADAL" clId="{7DBF1522-1442-4072-822F-816E1C27FADA}" dt="2026-10-05T20:14:35.334" v="646" actId="20577"/>
          <ac:spMkLst>
            <pc:docMk/>
            <pc:sldMk cId="1891738540" sldId="257"/>
            <ac:spMk id="11" creationId="{FEDD7AE2-8667-BE81-AA30-588368E29C9A}"/>
          </ac:spMkLst>
        </pc:spChg>
      </pc:sldChg>
      <pc:sldChg chg="addSp delSp modSp mod">
        <pc:chgData name="Gabriel Fiorilli" userId="6dec09dd-bf1e-4f54-a7db-53ed072060ed" providerId="ADAL" clId="{7DBF1522-1442-4072-822F-816E1C27FADA}" dt="2026-10-05T20:42:01.842" v="652" actId="27918"/>
        <pc:sldMkLst>
          <pc:docMk/>
          <pc:sldMk cId="3892377387" sldId="258"/>
        </pc:sldMkLst>
        <pc:spChg chg="mod">
          <ac:chgData name="Gabriel Fiorilli" userId="6dec09dd-bf1e-4f54-a7db-53ed072060ed" providerId="ADAL" clId="{7DBF1522-1442-4072-822F-816E1C27FADA}" dt="2026-10-05T19:55:54.861" v="540" actId="20577"/>
          <ac:spMkLst>
            <pc:docMk/>
            <pc:sldMk cId="3892377387" sldId="258"/>
            <ac:spMk id="11" creationId="{FC3BB2EA-E2A1-4A12-FD0A-9A73E63D795B}"/>
          </ac:spMkLst>
        </pc:spChg>
        <pc:spChg chg="mod">
          <ac:chgData name="Gabriel Fiorilli" userId="6dec09dd-bf1e-4f54-a7db-53ed072060ed" providerId="ADAL" clId="{7DBF1522-1442-4072-822F-816E1C27FADA}" dt="2026-10-05T19:56:01.879" v="541" actId="20577"/>
          <ac:spMkLst>
            <pc:docMk/>
            <pc:sldMk cId="3892377387" sldId="258"/>
            <ac:spMk id="14" creationId="{9A239E70-2F28-673E-5D5A-08B4AA6A2BA5}"/>
          </ac:spMkLst>
        </pc:spChg>
        <pc:spChg chg="mod">
          <ac:chgData name="Gabriel Fiorilli" userId="6dec09dd-bf1e-4f54-a7db-53ed072060ed" providerId="ADAL" clId="{7DBF1522-1442-4072-822F-816E1C27FADA}" dt="2026-10-05T19:56:12.774" v="544" actId="20577"/>
          <ac:spMkLst>
            <pc:docMk/>
            <pc:sldMk cId="3892377387" sldId="258"/>
            <ac:spMk id="17" creationId="{CEDE1CA3-19AC-1F8B-366B-B070C89919B9}"/>
          </ac:spMkLst>
        </pc:spChg>
        <pc:spChg chg="mod">
          <ac:chgData name="Gabriel Fiorilli" userId="6dec09dd-bf1e-4f54-a7db-53ed072060ed" providerId="ADAL" clId="{7DBF1522-1442-4072-822F-816E1C27FADA}" dt="2026-10-05T20:24:24.170" v="648" actId="1076"/>
          <ac:spMkLst>
            <pc:docMk/>
            <pc:sldMk cId="3892377387" sldId="258"/>
            <ac:spMk id="27" creationId="{CA162D6F-E976-DFF4-D0B0-D7C0CCAA9F6D}"/>
          </ac:spMkLst>
        </pc:spChg>
        <pc:grpChg chg="mod">
          <ac:chgData name="Gabriel Fiorilli" userId="6dec09dd-bf1e-4f54-a7db-53ed072060ed" providerId="ADAL" clId="{7DBF1522-1442-4072-822F-816E1C27FADA}" dt="2026-10-05T20:24:24.170" v="648" actId="1076"/>
          <ac:grpSpMkLst>
            <pc:docMk/>
            <pc:sldMk cId="3892377387" sldId="258"/>
            <ac:grpSpMk id="2" creationId="{6EC1888F-BECC-54DC-763C-81564BDED283}"/>
          </ac:grpSpMkLst>
        </pc:grpChg>
        <pc:grpChg chg="mod">
          <ac:chgData name="Gabriel Fiorilli" userId="6dec09dd-bf1e-4f54-a7db-53ed072060ed" providerId="ADAL" clId="{7DBF1522-1442-4072-822F-816E1C27FADA}" dt="2026-10-05T20:04:55.400" v="592" actId="1076"/>
          <ac:grpSpMkLst>
            <pc:docMk/>
            <pc:sldMk cId="3892377387" sldId="258"/>
            <ac:grpSpMk id="45" creationId="{29E84DDA-E6BF-F541-5647-15D1F81A5A09}"/>
          </ac:grpSpMkLst>
        </pc:grpChg>
        <pc:graphicFrameChg chg="add del mod">
          <ac:chgData name="Gabriel Fiorilli" userId="6dec09dd-bf1e-4f54-a7db-53ed072060ed" providerId="ADAL" clId="{7DBF1522-1442-4072-822F-816E1C27FADA}" dt="2026-10-05T20:04:59.404" v="593" actId="478"/>
          <ac:graphicFrameMkLst>
            <pc:docMk/>
            <pc:sldMk cId="3892377387" sldId="258"/>
            <ac:graphicFrameMk id="3" creationId="{94E308F0-9F8A-4757-8175-DAF4DE86B096}"/>
          </ac:graphicFrameMkLst>
        </pc:graphicFrameChg>
        <pc:graphicFrameChg chg="add mod">
          <ac:chgData name="Gabriel Fiorilli" userId="6dec09dd-bf1e-4f54-a7db-53ed072060ed" providerId="ADAL" clId="{7DBF1522-1442-4072-822F-816E1C27FADA}" dt="2026-10-05T20:04:52.168" v="591" actId="14100"/>
          <ac:graphicFrameMkLst>
            <pc:docMk/>
            <pc:sldMk cId="3892377387" sldId="258"/>
            <ac:graphicFrameMk id="5" creationId="{D4B4B3A8-F6BC-44FA-CE0B-B1A9B6CB9E6A}"/>
          </ac:graphicFrameMkLst>
        </pc:graphicFrameChg>
        <pc:graphicFrameChg chg="add del mod ord">
          <ac:chgData name="Gabriel Fiorilli" userId="6dec09dd-bf1e-4f54-a7db-53ed072060ed" providerId="ADAL" clId="{7DBF1522-1442-4072-822F-816E1C27FADA}" dt="2026-10-05T20:08:09.962" v="603" actId="478"/>
          <ac:graphicFrameMkLst>
            <pc:docMk/>
            <pc:sldMk cId="3892377387" sldId="258"/>
            <ac:graphicFrameMk id="7" creationId="{9BDB515A-1F86-4604-93F1-EE287629D1FF}"/>
          </ac:graphicFrameMkLst>
        </pc:graphicFrameChg>
        <pc:graphicFrameChg chg="add mod">
          <ac:chgData name="Gabriel Fiorilli" userId="6dec09dd-bf1e-4f54-a7db-53ed072060ed" providerId="ADAL" clId="{7DBF1522-1442-4072-822F-816E1C27FADA}" dt="2026-10-05T20:08:24.977" v="608" actId="1076"/>
          <ac:graphicFrameMkLst>
            <pc:docMk/>
            <pc:sldMk cId="3892377387" sldId="258"/>
            <ac:graphicFrameMk id="19" creationId="{94E308F0-9F8A-4757-8175-DAF4DE86B096}"/>
          </ac:graphicFrameMkLst>
        </pc:graphicFrameChg>
        <pc:graphicFrameChg chg="del mod">
          <ac:chgData name="Gabriel Fiorilli" userId="6dec09dd-bf1e-4f54-a7db-53ed072060ed" providerId="ADAL" clId="{7DBF1522-1442-4072-822F-816E1C27FADA}" dt="2026-10-05T20:02:28.837" v="557" actId="478"/>
          <ac:graphicFrameMkLst>
            <pc:docMk/>
            <pc:sldMk cId="3892377387" sldId="258"/>
            <ac:graphicFrameMk id="26" creationId="{2AB6F6D6-D4B7-72DC-A4B6-A2086FBFE7F4}"/>
          </ac:graphicFrameMkLst>
        </pc:graphicFrameChg>
        <pc:picChg chg="add mod">
          <ac:chgData name="Gabriel Fiorilli" userId="6dec09dd-bf1e-4f54-a7db-53ed072060ed" providerId="ADAL" clId="{7DBF1522-1442-4072-822F-816E1C27FADA}" dt="2026-10-05T20:08:18.992" v="607" actId="14100"/>
          <ac:picMkLst>
            <pc:docMk/>
            <pc:sldMk cId="3892377387" sldId="258"/>
            <ac:picMk id="21" creationId="{ED649092-9C9B-B58A-9068-263530AF38A3}"/>
          </ac:picMkLst>
        </pc:picChg>
        <pc:picChg chg="del mod">
          <ac:chgData name="Gabriel Fiorilli" userId="6dec09dd-bf1e-4f54-a7db-53ed072060ed" providerId="ADAL" clId="{7DBF1522-1442-4072-822F-816E1C27FADA}" dt="2026-10-05T20:08:09.962" v="603" actId="478"/>
          <ac:picMkLst>
            <pc:docMk/>
            <pc:sldMk cId="3892377387" sldId="258"/>
            <ac:picMk id="23" creationId="{61D66E27-BCB2-D3AC-1DB0-8BDC641D52BC}"/>
          </ac:picMkLst>
        </pc:picChg>
      </pc:sldChg>
      <pc:sldChg chg="modSp mod">
        <pc:chgData name="Gabriel Fiorilli" userId="6dec09dd-bf1e-4f54-a7db-53ed072060ed" providerId="ADAL" clId="{7DBF1522-1442-4072-822F-816E1C27FADA}" dt="2026-10-05T19:55:24.444" v="539" actId="20577"/>
        <pc:sldMkLst>
          <pc:docMk/>
          <pc:sldMk cId="1372601644" sldId="2147474427"/>
        </pc:sldMkLst>
        <pc:spChg chg="mod">
          <ac:chgData name="Gabriel Fiorilli" userId="6dec09dd-bf1e-4f54-a7db-53ed072060ed" providerId="ADAL" clId="{7DBF1522-1442-4072-822F-816E1C27FADA}" dt="2026-09-08T14:55:55.478" v="482" actId="1076"/>
          <ac:spMkLst>
            <pc:docMk/>
            <pc:sldMk cId="1372601644" sldId="2147474427"/>
            <ac:spMk id="6" creationId="{2C04A9AC-4F5C-E545-ABA8-D655142D9A4B}"/>
          </ac:spMkLst>
        </pc:spChg>
        <pc:spChg chg="mod">
          <ac:chgData name="Gabriel Fiorilli" userId="6dec09dd-bf1e-4f54-a7db-53ed072060ed" providerId="ADAL" clId="{7DBF1522-1442-4072-822F-816E1C27FADA}" dt="2026-10-05T19:55:07.222" v="534" actId="20577"/>
          <ac:spMkLst>
            <pc:docMk/>
            <pc:sldMk cId="1372601644" sldId="2147474427"/>
            <ac:spMk id="23" creationId="{769E4618-C3C2-D69D-D3FF-7A6AB53CD4B5}"/>
          </ac:spMkLst>
        </pc:spChg>
        <pc:spChg chg="mod">
          <ac:chgData name="Gabriel Fiorilli" userId="6dec09dd-bf1e-4f54-a7db-53ed072060ed" providerId="ADAL" clId="{7DBF1522-1442-4072-822F-816E1C27FADA}" dt="2026-10-05T19:55:16.144" v="538" actId="20577"/>
          <ac:spMkLst>
            <pc:docMk/>
            <pc:sldMk cId="1372601644" sldId="2147474427"/>
            <ac:spMk id="111" creationId="{5BD223AC-071C-84A7-2AC3-ADFB0CCC7B33}"/>
          </ac:spMkLst>
        </pc:spChg>
        <pc:spChg chg="mod">
          <ac:chgData name="Gabriel Fiorilli" userId="6dec09dd-bf1e-4f54-a7db-53ed072060ed" providerId="ADAL" clId="{7DBF1522-1442-4072-822F-816E1C27FADA}" dt="2026-10-05T19:55:24.444" v="539" actId="20577"/>
          <ac:spMkLst>
            <pc:docMk/>
            <pc:sldMk cId="1372601644" sldId="2147474427"/>
            <ac:spMk id="114" creationId="{4566322E-64FB-73C9-D0AD-A27ABF46DA39}"/>
          </ac:spMkLst>
        </pc:spChg>
      </pc:sldChg>
    </pc:docChg>
  </pc:docChgLst>
  <pc:docChgLst>
    <pc:chgData name="Renan Chaves" userId="87d612b1-8fbc-4dfb-aeee-fef7412ff91a" providerId="ADAL" clId="{1B3D67D0-E9A3-4733-BE13-E4624521CA12}"/>
    <pc:docChg chg="undo custSel modSld">
      <pc:chgData name="Renan Chaves" userId="87d612b1-8fbc-4dfb-aeee-fef7412ff91a" providerId="ADAL" clId="{1B3D67D0-E9A3-4733-BE13-E4624521CA12}" dt="2026-10-05T21:31:10.799" v="3" actId="1076"/>
      <pc:docMkLst>
        <pc:docMk/>
      </pc:docMkLst>
      <pc:sldChg chg="modSp mod">
        <pc:chgData name="Renan Chaves" userId="87d612b1-8fbc-4dfb-aeee-fef7412ff91a" providerId="ADAL" clId="{1B3D67D0-E9A3-4733-BE13-E4624521CA12}" dt="2026-10-05T21:31:10.799" v="3" actId="1076"/>
        <pc:sldMkLst>
          <pc:docMk/>
          <pc:sldMk cId="3892377387" sldId="258"/>
        </pc:sldMkLst>
        <pc:picChg chg="mod">
          <ac:chgData name="Renan Chaves" userId="87d612b1-8fbc-4dfb-aeee-fef7412ff91a" providerId="ADAL" clId="{1B3D67D0-E9A3-4733-BE13-E4624521CA12}" dt="2026-10-05T21:31:10.799" v="3" actId="1076"/>
          <ac:picMkLst>
            <pc:docMk/>
            <pc:sldMk cId="3892377387" sldId="258"/>
            <ac:picMk id="21" creationId="{ED649092-9C9B-B58A-9068-263530AF38A3}"/>
          </ac:picMkLst>
        </pc:picChg>
      </pc:sldChg>
    </pc:docChg>
  </pc:docChgLst>
  <pc:docChgLst>
    <pc:chgData name="Renan Chaves" userId="S::renan.chaves@tivio.com::87d612b1-8fbc-4dfb-aeee-fef7412ff91a" providerId="AD" clId="Web-{1C61E7A5-FB32-85B3-0232-4423FF49781C}"/>
    <pc:docChg chg="modSld">
      <pc:chgData name="Renan Chaves" userId="S::renan.chaves@tivio.com::87d612b1-8fbc-4dfb-aeee-fef7412ff91a" providerId="AD" clId="Web-{1C61E7A5-FB32-85B3-0232-4423FF49781C}" dt="2026-10-05T21:26:33.379" v="0" actId="14100"/>
      <pc:docMkLst>
        <pc:docMk/>
      </pc:docMkLst>
      <pc:sldChg chg="modSp">
        <pc:chgData name="Renan Chaves" userId="S::renan.chaves@tivio.com::87d612b1-8fbc-4dfb-aeee-fef7412ff91a" providerId="AD" clId="Web-{1C61E7A5-FB32-85B3-0232-4423FF49781C}" dt="2026-10-05T21:26:33.379" v="0" actId="14100"/>
        <pc:sldMkLst>
          <pc:docMk/>
          <pc:sldMk cId="2724459421" sldId="256"/>
        </pc:sldMkLst>
        <pc:spChg chg="mod">
          <ac:chgData name="Renan Chaves" userId="S::renan.chaves@tivio.com::87d612b1-8fbc-4dfb-aeee-fef7412ff91a" providerId="AD" clId="Web-{1C61E7A5-FB32-85B3-0232-4423FF49781C}" dt="2026-10-05T21:26:33.379" v="0" actId="14100"/>
          <ac:spMkLst>
            <pc:docMk/>
            <pc:sldMk cId="2724459421" sldId="256"/>
            <ac:spMk id="5" creationId="{6ED797C1-536B-FB13-D516-893D6DD50F4E}"/>
          </ac:spMkLst>
        </pc:spChg>
      </pc:sldChg>
    </pc:docChg>
  </pc:docChgLst>
  <pc:docChgLst>
    <pc:chgData name="Gabriel Fiorilli" userId="S::gabriel.fiorilli@tivio.com::6dec09dd-bf1e-4f54-a7db-53ed072060ed" providerId="AD" clId="Web-{D9E2D20A-B864-50A3-623A-CC65DE242C25}"/>
    <pc:docChg chg="sldOrd">
      <pc:chgData name="Gabriel Fiorilli" userId="S::gabriel.fiorilli@tivio.com::6dec09dd-bf1e-4f54-a7db-53ed072060ed" providerId="AD" clId="Web-{D9E2D20A-B864-50A3-623A-CC65DE242C25}" dt="2026-09-14T14:17:45.512" v="0"/>
      <pc:docMkLst>
        <pc:docMk/>
      </pc:docMkLst>
      <pc:sldChg chg="ord">
        <pc:chgData name="Gabriel Fiorilli" userId="S::gabriel.fiorilli@tivio.com::6dec09dd-bf1e-4f54-a7db-53ed072060ed" providerId="AD" clId="Web-{D9E2D20A-B864-50A3-623A-CC65DE242C25}" dt="2026-09-14T14:17:45.512" v="0"/>
        <pc:sldMkLst>
          <pc:docMk/>
          <pc:sldMk cId="1372601644" sldId="2147474427"/>
        </pc:sldMkLst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Sheet2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ysClr val="windowText" lastClr="000000"/>
                    </a:solidFill>
                    <a:latin typeface="Versos" panose="020B0503020204030204" pitchFamily="34" charset="0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Caixa</c:v>
                </c:pt>
                <c:pt idx="1">
                  <c:v>FIDC</c:v>
                </c:pt>
                <c:pt idx="2">
                  <c:v>Bancário</c:v>
                </c:pt>
                <c:pt idx="3">
                  <c:v>Corporativo</c:v>
                </c:pt>
              </c:strCache>
            </c:strRef>
          </c:cat>
          <c:val>
            <c:numRef>
              <c:f>Sheet1!$B$2:$B$5</c:f>
              <c:numCache>
                <c:formatCode>0.0%</c:formatCode>
                <c:ptCount val="4"/>
                <c:pt idx="0">
                  <c:v>0.28350000000000003</c:v>
                </c:pt>
                <c:pt idx="1">
                  <c:v>0.0722</c:v>
                </c:pt>
                <c:pt idx="2">
                  <c:v>0.36119999999999997</c:v>
                </c:pt>
                <c:pt idx="3">
                  <c:v>0.28309999999999996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51-4BA8-A84B-1BFD7C07501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794801199"/>
        <c:axId val="794815119"/>
      </c:barChart>
      <c:catAx>
        <c:axId val="794801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ysClr val="windowText" lastClr="000000"/>
                </a:solidFill>
                <a:latin typeface="Versos" panose="020B0503020204030204" pitchFamily="34" charset="0"/>
                <a:ea typeface="+mn-ea"/>
                <a:cs typeface="+mn-cs"/>
              </a:defRPr>
            </a:pPr>
            <a:endParaRPr lang="pt-BR"/>
          </a:p>
        </c:txPr>
        <c:crossAx val="794815119"/>
        <c:crosses val="autoZero"/>
        <c:auto val="1"/>
        <c:lblAlgn val="ctr"/>
        <c:lblOffset val="100"/>
        <c:noMultiLvlLbl val="0"/>
      </c:catAx>
      <c:valAx>
        <c:axId val="794815119"/>
        <c:scaling>
          <c:orientation val="minMax"/>
        </c:scaling>
        <c:delete val="1"/>
        <c:axPos val="b"/>
        <c:numFmt formatCode="0.0%" sourceLinked="1"/>
        <c:majorTickMark val="none"/>
        <c:minorTickMark val="none"/>
        <c:tickLblPos val="nextTo"/>
        <c:crossAx val="794801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sz="900" b="1">
          <a:latin typeface="Versos" panose="020B0503020204030204" pitchFamily="34" charset="0"/>
        </a:defRPr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1.995336709551862E-3"/>
          <c:y val="3.9146981627296591E-3"/>
          <c:w val="0.96040107956440313"/>
          <c:h val="0.99217061933153605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ysClr val="windowText" lastClr="000000"/>
                    </a:solidFill>
                    <a:latin typeface="Versos" panose="020B0503020204030204" pitchFamily="34" charset="0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AAA</c:v>
                </c:pt>
                <c:pt idx="1">
                  <c:v>AA+</c:v>
                </c:pt>
                <c:pt idx="2">
                  <c:v>A</c:v>
                </c:pt>
                <c:pt idx="3">
                  <c:v>AA-</c:v>
                </c:pt>
                <c:pt idx="4">
                  <c:v>AA</c:v>
                </c:pt>
                <c:pt idx="5">
                  <c:v>A+</c:v>
                </c:pt>
                <c:pt idx="6">
                  <c:v>BB</c:v>
                </c:pt>
              </c:strCache>
            </c:strRef>
          </c:cat>
          <c:val>
            <c:numRef>
              <c:f>Sheet1!$B$2:$B$8</c:f>
              <c:numCache>
                <c:formatCode>0.00%</c:formatCode>
                <c:ptCount val="7"/>
                <c:pt idx="0">
                  <c:v>0.365452</c:v>
                </c:pt>
                <c:pt idx="1">
                  <c:v>0.101691</c:v>
                </c:pt>
                <c:pt idx="2">
                  <c:v>0.056292999999999996</c:v>
                </c:pt>
                <c:pt idx="3">
                  <c:v>0.047176</c:v>
                </c:pt>
                <c:pt idx="4">
                  <c:v>0.040136000000000005</c:v>
                </c:pt>
                <c:pt idx="5">
                  <c:v>0.034393</c:v>
                </c:pt>
                <c:pt idx="6">
                  <c:v>0.008045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AD-4A44-ABC1-163ECAA7385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2"/>
        <c:axId val="1847786048"/>
        <c:axId val="1847786528"/>
      </c:barChart>
      <c:catAx>
        <c:axId val="1847786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ysClr val="windowText" lastClr="000000"/>
                </a:solidFill>
                <a:latin typeface="Versos" panose="020B0503020204030204" pitchFamily="34" charset="0"/>
                <a:ea typeface="+mn-ea"/>
                <a:cs typeface="+mn-cs"/>
              </a:defRPr>
            </a:pPr>
            <a:endParaRPr lang="pt-BR"/>
          </a:p>
        </c:txPr>
        <c:crossAx val="1847786528"/>
        <c:crosses val="autoZero"/>
        <c:auto val="1"/>
        <c:lblAlgn val="ctr"/>
        <c:lblOffset val="100"/>
        <c:noMultiLvlLbl val="0"/>
      </c:catAx>
      <c:valAx>
        <c:axId val="1847786528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18477860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>
          <a:latin typeface="Versos" panose="020B0503020204030204" pitchFamily="34" charset="0"/>
        </a:defRPr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205C4F-AA39-470E-BB8C-A4577A891542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A4ACE0-5C8F-49DD-9A07-7BFC714197A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5857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B984160-37D4-A24B-8EE4-F88DE8A63FC8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688029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7469A-6CF5-417C-B671-5BFE2B13BB81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2AA25-0CC7-4508-8FCF-2A8B8A59DF2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06691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0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B027277-E75C-8BB8-D8ED-287F737535E3}"/>
              </a:ext>
            </a:extLst>
          </p:cNvPr>
          <p:cNvGrpSpPr/>
          <p:nvPr userDrawn="1"/>
        </p:nvGrpSpPr>
        <p:grpSpPr>
          <a:xfrm>
            <a:off x="441325" y="365502"/>
            <a:ext cx="2474915" cy="266303"/>
            <a:chOff x="1062369" y="1520552"/>
            <a:chExt cx="4730420" cy="508998"/>
          </a:xfrm>
        </p:grpSpPr>
        <p:grpSp>
          <p:nvGrpSpPr>
            <p:cNvPr id="8" name="Graphic 1">
              <a:extLst>
                <a:ext uri="{FF2B5EF4-FFF2-40B4-BE49-F238E27FC236}">
                  <a16:creationId xmlns:a16="http://schemas.microsoft.com/office/drawing/2014/main" id="{F993DC33-BDDF-634E-316E-269E9718828A}"/>
                </a:ext>
              </a:extLst>
            </p:cNvPr>
            <p:cNvGrpSpPr/>
            <p:nvPr/>
          </p:nvGrpSpPr>
          <p:grpSpPr>
            <a:xfrm>
              <a:off x="1062369" y="1529175"/>
              <a:ext cx="2056372" cy="494788"/>
              <a:chOff x="1062369" y="1529175"/>
              <a:chExt cx="2056372" cy="494788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3224F5A6-4767-D94F-49F0-E54E7C794B75}"/>
                  </a:ext>
                </a:extLst>
              </p:cNvPr>
              <p:cNvSpPr/>
              <p:nvPr/>
            </p:nvSpPr>
            <p:spPr>
              <a:xfrm>
                <a:off x="1062369" y="1535937"/>
                <a:ext cx="393164" cy="481068"/>
              </a:xfrm>
              <a:custGeom>
                <a:avLst/>
                <a:gdLst>
                  <a:gd name="csX0" fmla="*/ 165615 w 393164"/>
                  <a:gd name="csY0" fmla="*/ 58406 h 481068"/>
                  <a:gd name="csX1" fmla="*/ 0 w 393164"/>
                  <a:gd name="csY1" fmla="*/ 58406 h 481068"/>
                  <a:gd name="csX2" fmla="*/ 0 w 393164"/>
                  <a:gd name="csY2" fmla="*/ 0 h 481068"/>
                  <a:gd name="csX3" fmla="*/ 393165 w 393164"/>
                  <a:gd name="csY3" fmla="*/ 0 h 481068"/>
                  <a:gd name="csX4" fmla="*/ 393165 w 393164"/>
                  <a:gd name="csY4" fmla="*/ 58406 h 481068"/>
                  <a:gd name="csX5" fmla="*/ 227549 w 393164"/>
                  <a:gd name="csY5" fmla="*/ 58406 h 481068"/>
                  <a:gd name="csX6" fmla="*/ 227549 w 393164"/>
                  <a:gd name="csY6" fmla="*/ 481069 h 481068"/>
                  <a:gd name="csX7" fmla="*/ 165713 w 393164"/>
                  <a:gd name="csY7" fmla="*/ 481069 h 481068"/>
                  <a:gd name="csX8" fmla="*/ 165713 w 393164"/>
                  <a:gd name="csY8" fmla="*/ 58406 h 48106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93164" h="481068">
                    <a:moveTo>
                      <a:pt x="165615" y="58406"/>
                    </a:moveTo>
                    <a:lnTo>
                      <a:pt x="0" y="58406"/>
                    </a:lnTo>
                    <a:lnTo>
                      <a:pt x="0" y="0"/>
                    </a:lnTo>
                    <a:lnTo>
                      <a:pt x="393165" y="0"/>
                    </a:lnTo>
                    <a:lnTo>
                      <a:pt x="393165" y="58406"/>
                    </a:lnTo>
                    <a:lnTo>
                      <a:pt x="227549" y="58406"/>
                    </a:lnTo>
                    <a:lnTo>
                      <a:pt x="227549" y="481069"/>
                    </a:lnTo>
                    <a:lnTo>
                      <a:pt x="165713" y="481069"/>
                    </a:lnTo>
                    <a:lnTo>
                      <a:pt x="165713" y="58406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978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39316E7-98B2-5F4C-3983-4F82E6BA8091}"/>
                  </a:ext>
                </a:extLst>
              </p:cNvPr>
              <p:cNvSpPr/>
              <p:nvPr/>
            </p:nvSpPr>
            <p:spPr>
              <a:xfrm>
                <a:off x="1513939" y="1535937"/>
                <a:ext cx="284485" cy="481068"/>
              </a:xfrm>
              <a:custGeom>
                <a:avLst/>
                <a:gdLst>
                  <a:gd name="csX0" fmla="*/ 0 w 284485"/>
                  <a:gd name="csY0" fmla="*/ 422662 h 481068"/>
                  <a:gd name="csX1" fmla="*/ 111325 w 284485"/>
                  <a:gd name="csY1" fmla="*/ 422662 h 481068"/>
                  <a:gd name="csX2" fmla="*/ 111325 w 284485"/>
                  <a:gd name="csY2" fmla="*/ 58406 h 481068"/>
                  <a:gd name="csX3" fmla="*/ 0 w 284485"/>
                  <a:gd name="csY3" fmla="*/ 58406 h 481068"/>
                  <a:gd name="csX4" fmla="*/ 0 w 284485"/>
                  <a:gd name="csY4" fmla="*/ 0 h 481068"/>
                  <a:gd name="csX5" fmla="*/ 284486 w 284485"/>
                  <a:gd name="csY5" fmla="*/ 0 h 481068"/>
                  <a:gd name="csX6" fmla="*/ 284486 w 284485"/>
                  <a:gd name="csY6" fmla="*/ 58406 h 481068"/>
                  <a:gd name="csX7" fmla="*/ 173161 w 284485"/>
                  <a:gd name="csY7" fmla="*/ 58406 h 481068"/>
                  <a:gd name="csX8" fmla="*/ 173161 w 284485"/>
                  <a:gd name="csY8" fmla="*/ 422662 h 481068"/>
                  <a:gd name="csX9" fmla="*/ 284486 w 284485"/>
                  <a:gd name="csY9" fmla="*/ 422662 h 481068"/>
                  <a:gd name="csX10" fmla="*/ 284486 w 284485"/>
                  <a:gd name="csY10" fmla="*/ 481069 h 481068"/>
                  <a:gd name="csX11" fmla="*/ 0 w 284485"/>
                  <a:gd name="csY11" fmla="*/ 481069 h 481068"/>
                  <a:gd name="csX12" fmla="*/ 0 w 284485"/>
                  <a:gd name="csY12" fmla="*/ 422662 h 48106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284485" h="481068">
                    <a:moveTo>
                      <a:pt x="0" y="422662"/>
                    </a:moveTo>
                    <a:lnTo>
                      <a:pt x="111325" y="422662"/>
                    </a:lnTo>
                    <a:lnTo>
                      <a:pt x="111325" y="58406"/>
                    </a:lnTo>
                    <a:lnTo>
                      <a:pt x="0" y="58406"/>
                    </a:lnTo>
                    <a:lnTo>
                      <a:pt x="0" y="0"/>
                    </a:lnTo>
                    <a:lnTo>
                      <a:pt x="284486" y="0"/>
                    </a:lnTo>
                    <a:lnTo>
                      <a:pt x="284486" y="58406"/>
                    </a:lnTo>
                    <a:lnTo>
                      <a:pt x="173161" y="58406"/>
                    </a:lnTo>
                    <a:lnTo>
                      <a:pt x="173161" y="422662"/>
                    </a:lnTo>
                    <a:lnTo>
                      <a:pt x="284486" y="422662"/>
                    </a:lnTo>
                    <a:lnTo>
                      <a:pt x="284486" y="481069"/>
                    </a:lnTo>
                    <a:lnTo>
                      <a:pt x="0" y="481069"/>
                    </a:lnTo>
                    <a:lnTo>
                      <a:pt x="0" y="422662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978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21A4E061-6880-ECAF-116A-D40AC1F9B6B5}"/>
                  </a:ext>
                </a:extLst>
              </p:cNvPr>
              <p:cNvSpPr/>
              <p:nvPr/>
            </p:nvSpPr>
            <p:spPr>
              <a:xfrm>
                <a:off x="1849972" y="1535937"/>
                <a:ext cx="436381" cy="481068"/>
              </a:xfrm>
              <a:custGeom>
                <a:avLst/>
                <a:gdLst>
                  <a:gd name="csX0" fmla="*/ 0 w 436381"/>
                  <a:gd name="csY0" fmla="*/ 0 h 481068"/>
                  <a:gd name="csX1" fmla="*/ 68696 w 436381"/>
                  <a:gd name="csY1" fmla="*/ 0 h 481068"/>
                  <a:gd name="csX2" fmla="*/ 209616 w 436381"/>
                  <a:gd name="csY2" fmla="*/ 429522 h 481068"/>
                  <a:gd name="csX3" fmla="*/ 227451 w 436381"/>
                  <a:gd name="csY3" fmla="*/ 429522 h 481068"/>
                  <a:gd name="csX4" fmla="*/ 367685 w 436381"/>
                  <a:gd name="csY4" fmla="*/ 0 h 481068"/>
                  <a:gd name="csX5" fmla="*/ 436381 w 436381"/>
                  <a:gd name="csY5" fmla="*/ 0 h 481068"/>
                  <a:gd name="csX6" fmla="*/ 273510 w 436381"/>
                  <a:gd name="csY6" fmla="*/ 481069 h 481068"/>
                  <a:gd name="csX7" fmla="*/ 162871 w 436381"/>
                  <a:gd name="csY7" fmla="*/ 481069 h 481068"/>
                  <a:gd name="csX8" fmla="*/ 0 w 436381"/>
                  <a:gd name="csY8" fmla="*/ 0 h 48106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436381" h="481068">
                    <a:moveTo>
                      <a:pt x="0" y="0"/>
                    </a:moveTo>
                    <a:lnTo>
                      <a:pt x="68696" y="0"/>
                    </a:lnTo>
                    <a:lnTo>
                      <a:pt x="209616" y="429522"/>
                    </a:lnTo>
                    <a:lnTo>
                      <a:pt x="227451" y="429522"/>
                    </a:lnTo>
                    <a:lnTo>
                      <a:pt x="367685" y="0"/>
                    </a:lnTo>
                    <a:lnTo>
                      <a:pt x="436381" y="0"/>
                    </a:lnTo>
                    <a:lnTo>
                      <a:pt x="273510" y="481069"/>
                    </a:lnTo>
                    <a:lnTo>
                      <a:pt x="162871" y="4810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978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EA8E0B8-0B5E-0925-D8C6-E09CEE005083}"/>
                  </a:ext>
                </a:extLst>
              </p:cNvPr>
              <p:cNvSpPr/>
              <p:nvPr/>
            </p:nvSpPr>
            <p:spPr>
              <a:xfrm>
                <a:off x="2337900" y="1535937"/>
                <a:ext cx="284485" cy="481068"/>
              </a:xfrm>
              <a:custGeom>
                <a:avLst/>
                <a:gdLst>
                  <a:gd name="csX0" fmla="*/ 0 w 284485"/>
                  <a:gd name="csY0" fmla="*/ 422662 h 481068"/>
                  <a:gd name="csX1" fmla="*/ 111325 w 284485"/>
                  <a:gd name="csY1" fmla="*/ 422662 h 481068"/>
                  <a:gd name="csX2" fmla="*/ 111325 w 284485"/>
                  <a:gd name="csY2" fmla="*/ 58406 h 481068"/>
                  <a:gd name="csX3" fmla="*/ 0 w 284485"/>
                  <a:gd name="csY3" fmla="*/ 58406 h 481068"/>
                  <a:gd name="csX4" fmla="*/ 0 w 284485"/>
                  <a:gd name="csY4" fmla="*/ 0 h 481068"/>
                  <a:gd name="csX5" fmla="*/ 284486 w 284485"/>
                  <a:gd name="csY5" fmla="*/ 0 h 481068"/>
                  <a:gd name="csX6" fmla="*/ 284486 w 284485"/>
                  <a:gd name="csY6" fmla="*/ 58406 h 481068"/>
                  <a:gd name="csX7" fmla="*/ 173161 w 284485"/>
                  <a:gd name="csY7" fmla="*/ 58406 h 481068"/>
                  <a:gd name="csX8" fmla="*/ 173161 w 284485"/>
                  <a:gd name="csY8" fmla="*/ 422662 h 481068"/>
                  <a:gd name="csX9" fmla="*/ 284486 w 284485"/>
                  <a:gd name="csY9" fmla="*/ 422662 h 481068"/>
                  <a:gd name="csX10" fmla="*/ 284486 w 284485"/>
                  <a:gd name="csY10" fmla="*/ 481069 h 481068"/>
                  <a:gd name="csX11" fmla="*/ 0 w 284485"/>
                  <a:gd name="csY11" fmla="*/ 481069 h 481068"/>
                  <a:gd name="csX12" fmla="*/ 0 w 284485"/>
                  <a:gd name="csY12" fmla="*/ 422662 h 48106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284485" h="481068">
                    <a:moveTo>
                      <a:pt x="0" y="422662"/>
                    </a:moveTo>
                    <a:lnTo>
                      <a:pt x="111325" y="422662"/>
                    </a:lnTo>
                    <a:lnTo>
                      <a:pt x="111325" y="58406"/>
                    </a:lnTo>
                    <a:lnTo>
                      <a:pt x="0" y="58406"/>
                    </a:lnTo>
                    <a:lnTo>
                      <a:pt x="0" y="0"/>
                    </a:lnTo>
                    <a:lnTo>
                      <a:pt x="284486" y="0"/>
                    </a:lnTo>
                    <a:lnTo>
                      <a:pt x="284486" y="58406"/>
                    </a:lnTo>
                    <a:lnTo>
                      <a:pt x="173161" y="58406"/>
                    </a:lnTo>
                    <a:lnTo>
                      <a:pt x="173161" y="422662"/>
                    </a:lnTo>
                    <a:lnTo>
                      <a:pt x="284486" y="422662"/>
                    </a:lnTo>
                    <a:lnTo>
                      <a:pt x="284486" y="481069"/>
                    </a:lnTo>
                    <a:lnTo>
                      <a:pt x="0" y="481069"/>
                    </a:lnTo>
                    <a:lnTo>
                      <a:pt x="0" y="422662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978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00B24A0E-BD00-79A7-6527-7EB80C8799BD}"/>
                  </a:ext>
                </a:extLst>
              </p:cNvPr>
              <p:cNvSpPr/>
              <p:nvPr/>
            </p:nvSpPr>
            <p:spPr>
              <a:xfrm>
                <a:off x="2677362" y="1529175"/>
                <a:ext cx="441379" cy="494788"/>
              </a:xfrm>
              <a:custGeom>
                <a:avLst/>
                <a:gdLst>
                  <a:gd name="csX0" fmla="*/ 103485 w 441379"/>
                  <a:gd name="csY0" fmla="*/ 469015 h 494788"/>
                  <a:gd name="csX1" fmla="*/ 26851 w 441379"/>
                  <a:gd name="csY1" fmla="*/ 394439 h 494788"/>
                  <a:gd name="csX2" fmla="*/ 0 w 441379"/>
                  <a:gd name="csY2" fmla="*/ 278998 h 494788"/>
                  <a:gd name="csX3" fmla="*/ 0 w 441379"/>
                  <a:gd name="csY3" fmla="*/ 216476 h 494788"/>
                  <a:gd name="csX4" fmla="*/ 26851 w 441379"/>
                  <a:gd name="csY4" fmla="*/ 101721 h 494788"/>
                  <a:gd name="csX5" fmla="*/ 103485 w 441379"/>
                  <a:gd name="csY5" fmla="*/ 26459 h 494788"/>
                  <a:gd name="csX6" fmla="*/ 220690 w 441379"/>
                  <a:gd name="csY6" fmla="*/ 0 h 494788"/>
                  <a:gd name="csX7" fmla="*/ 337894 w 441379"/>
                  <a:gd name="csY7" fmla="*/ 25773 h 494788"/>
                  <a:gd name="csX8" fmla="*/ 414528 w 441379"/>
                  <a:gd name="csY8" fmla="*/ 100349 h 494788"/>
                  <a:gd name="csX9" fmla="*/ 441379 w 441379"/>
                  <a:gd name="csY9" fmla="*/ 215790 h 494788"/>
                  <a:gd name="csX10" fmla="*/ 441379 w 441379"/>
                  <a:gd name="csY10" fmla="*/ 278312 h 494788"/>
                  <a:gd name="csX11" fmla="*/ 414528 w 441379"/>
                  <a:gd name="csY11" fmla="*/ 393067 h 494788"/>
                  <a:gd name="csX12" fmla="*/ 337894 w 441379"/>
                  <a:gd name="csY12" fmla="*/ 468329 h 494788"/>
                  <a:gd name="csX13" fmla="*/ 220690 w 441379"/>
                  <a:gd name="csY13" fmla="*/ 494788 h 494788"/>
                  <a:gd name="csX14" fmla="*/ 103485 w 441379"/>
                  <a:gd name="csY14" fmla="*/ 469015 h 494788"/>
                  <a:gd name="csX15" fmla="*/ 335444 w 441379"/>
                  <a:gd name="csY15" fmla="*/ 393753 h 494788"/>
                  <a:gd name="csX16" fmla="*/ 376015 w 441379"/>
                  <a:gd name="csY16" fmla="*/ 278312 h 494788"/>
                  <a:gd name="csX17" fmla="*/ 376015 w 441379"/>
                  <a:gd name="csY17" fmla="*/ 215790 h 494788"/>
                  <a:gd name="csX18" fmla="*/ 335150 w 441379"/>
                  <a:gd name="csY18" fmla="*/ 101329 h 494788"/>
                  <a:gd name="csX19" fmla="*/ 220690 w 441379"/>
                  <a:gd name="csY19" fmla="*/ 60464 h 494788"/>
                  <a:gd name="csX20" fmla="*/ 105935 w 441379"/>
                  <a:gd name="csY20" fmla="*/ 101035 h 494788"/>
                  <a:gd name="csX21" fmla="*/ 65364 w 441379"/>
                  <a:gd name="csY21" fmla="*/ 216476 h 494788"/>
                  <a:gd name="csX22" fmla="*/ 65364 w 441379"/>
                  <a:gd name="csY22" fmla="*/ 278998 h 494788"/>
                  <a:gd name="csX23" fmla="*/ 106229 w 441379"/>
                  <a:gd name="csY23" fmla="*/ 393459 h 494788"/>
                  <a:gd name="csX24" fmla="*/ 220690 w 441379"/>
                  <a:gd name="csY24" fmla="*/ 434324 h 494788"/>
                  <a:gd name="csX25" fmla="*/ 335444 w 441379"/>
                  <a:gd name="csY25" fmla="*/ 393753 h 4947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</a:cxnLst>
                <a:rect l="l" t="t" r="r" b="b"/>
                <a:pathLst>
                  <a:path w="441379" h="494788">
                    <a:moveTo>
                      <a:pt x="103485" y="469015"/>
                    </a:moveTo>
                    <a:cubicBezTo>
                      <a:pt x="70264" y="451866"/>
                      <a:pt x="44687" y="426974"/>
                      <a:pt x="26851" y="394439"/>
                    </a:cubicBezTo>
                    <a:cubicBezTo>
                      <a:pt x="9016" y="361904"/>
                      <a:pt x="0" y="323391"/>
                      <a:pt x="0" y="278998"/>
                    </a:cubicBezTo>
                    <a:lnTo>
                      <a:pt x="0" y="216476"/>
                    </a:lnTo>
                    <a:cubicBezTo>
                      <a:pt x="0" y="172475"/>
                      <a:pt x="8918" y="134256"/>
                      <a:pt x="26851" y="101721"/>
                    </a:cubicBezTo>
                    <a:cubicBezTo>
                      <a:pt x="44687" y="69186"/>
                      <a:pt x="70264" y="44099"/>
                      <a:pt x="103485" y="26459"/>
                    </a:cubicBezTo>
                    <a:cubicBezTo>
                      <a:pt x="136706" y="8820"/>
                      <a:pt x="175709" y="0"/>
                      <a:pt x="220690" y="0"/>
                    </a:cubicBezTo>
                    <a:cubicBezTo>
                      <a:pt x="265670" y="0"/>
                      <a:pt x="304673" y="8624"/>
                      <a:pt x="337894" y="25773"/>
                    </a:cubicBezTo>
                    <a:cubicBezTo>
                      <a:pt x="371115" y="42923"/>
                      <a:pt x="396692" y="67814"/>
                      <a:pt x="414528" y="100349"/>
                    </a:cubicBezTo>
                    <a:cubicBezTo>
                      <a:pt x="432363" y="132884"/>
                      <a:pt x="441379" y="171397"/>
                      <a:pt x="441379" y="215790"/>
                    </a:cubicBezTo>
                    <a:lnTo>
                      <a:pt x="441379" y="278312"/>
                    </a:lnTo>
                    <a:cubicBezTo>
                      <a:pt x="441379" y="322313"/>
                      <a:pt x="432461" y="360532"/>
                      <a:pt x="414528" y="393067"/>
                    </a:cubicBezTo>
                    <a:cubicBezTo>
                      <a:pt x="396692" y="425602"/>
                      <a:pt x="371115" y="450690"/>
                      <a:pt x="337894" y="468329"/>
                    </a:cubicBezTo>
                    <a:cubicBezTo>
                      <a:pt x="304673" y="485969"/>
                      <a:pt x="265572" y="494788"/>
                      <a:pt x="220690" y="494788"/>
                    </a:cubicBezTo>
                    <a:cubicBezTo>
                      <a:pt x="175807" y="494788"/>
                      <a:pt x="136706" y="486165"/>
                      <a:pt x="103485" y="469015"/>
                    </a:cubicBezTo>
                    <a:close/>
                    <a:moveTo>
                      <a:pt x="335444" y="393753"/>
                    </a:moveTo>
                    <a:cubicBezTo>
                      <a:pt x="362491" y="366706"/>
                      <a:pt x="376015" y="328193"/>
                      <a:pt x="376015" y="278312"/>
                    </a:cubicBezTo>
                    <a:lnTo>
                      <a:pt x="376015" y="215790"/>
                    </a:lnTo>
                    <a:cubicBezTo>
                      <a:pt x="376015" y="166791"/>
                      <a:pt x="362393" y="128670"/>
                      <a:pt x="335150" y="101329"/>
                    </a:cubicBezTo>
                    <a:cubicBezTo>
                      <a:pt x="307907" y="74086"/>
                      <a:pt x="269786" y="60464"/>
                      <a:pt x="220690" y="60464"/>
                    </a:cubicBezTo>
                    <a:cubicBezTo>
                      <a:pt x="171593" y="60464"/>
                      <a:pt x="132982" y="73988"/>
                      <a:pt x="105935" y="101035"/>
                    </a:cubicBezTo>
                    <a:cubicBezTo>
                      <a:pt x="78888" y="128082"/>
                      <a:pt x="65364" y="166595"/>
                      <a:pt x="65364" y="216476"/>
                    </a:cubicBezTo>
                    <a:lnTo>
                      <a:pt x="65364" y="278998"/>
                    </a:lnTo>
                    <a:cubicBezTo>
                      <a:pt x="65364" y="327997"/>
                      <a:pt x="78986" y="366216"/>
                      <a:pt x="106229" y="393459"/>
                    </a:cubicBezTo>
                    <a:cubicBezTo>
                      <a:pt x="133472" y="420702"/>
                      <a:pt x="171593" y="434324"/>
                      <a:pt x="220690" y="434324"/>
                    </a:cubicBezTo>
                    <a:cubicBezTo>
                      <a:pt x="269786" y="434324"/>
                      <a:pt x="308397" y="420800"/>
                      <a:pt x="335444" y="393753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978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9" name="Graphic 1">
              <a:extLst>
                <a:ext uri="{FF2B5EF4-FFF2-40B4-BE49-F238E27FC236}">
                  <a16:creationId xmlns:a16="http://schemas.microsoft.com/office/drawing/2014/main" id="{AC530DE3-C175-A48F-BEF0-47F9B8D59E2A}"/>
                </a:ext>
              </a:extLst>
            </p:cNvPr>
            <p:cNvGrpSpPr/>
            <p:nvPr/>
          </p:nvGrpSpPr>
          <p:grpSpPr>
            <a:xfrm>
              <a:off x="3412634" y="1520552"/>
              <a:ext cx="2380155" cy="508998"/>
              <a:chOff x="3412634" y="1520552"/>
              <a:chExt cx="2380155" cy="508998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9385BF4A-3322-07AB-0C60-BD39225E02BF}"/>
                  </a:ext>
                </a:extLst>
              </p:cNvPr>
              <p:cNvSpPr/>
              <p:nvPr/>
            </p:nvSpPr>
            <p:spPr>
              <a:xfrm>
                <a:off x="3412634" y="1529077"/>
                <a:ext cx="431187" cy="492338"/>
              </a:xfrm>
              <a:custGeom>
                <a:avLst/>
                <a:gdLst>
                  <a:gd name="csX0" fmla="*/ 0 w 431187"/>
                  <a:gd name="csY0" fmla="*/ 0 h 492338"/>
                  <a:gd name="csX1" fmla="*/ 98487 w 431187"/>
                  <a:gd name="csY1" fmla="*/ 0 h 492338"/>
                  <a:gd name="csX2" fmla="*/ 98487 w 431187"/>
                  <a:gd name="csY2" fmla="*/ 194133 h 492338"/>
                  <a:gd name="csX3" fmla="*/ 332700 w 431187"/>
                  <a:gd name="csY3" fmla="*/ 194133 h 492338"/>
                  <a:gd name="csX4" fmla="*/ 332700 w 431187"/>
                  <a:gd name="csY4" fmla="*/ 0 h 492338"/>
                  <a:gd name="csX5" fmla="*/ 431187 w 431187"/>
                  <a:gd name="csY5" fmla="*/ 0 h 492338"/>
                  <a:gd name="csX6" fmla="*/ 431187 w 431187"/>
                  <a:gd name="csY6" fmla="*/ 492338 h 492338"/>
                  <a:gd name="csX7" fmla="*/ 332700 w 431187"/>
                  <a:gd name="csY7" fmla="*/ 492338 h 492338"/>
                  <a:gd name="csX8" fmla="*/ 332700 w 431187"/>
                  <a:gd name="csY8" fmla="*/ 283408 h 492338"/>
                  <a:gd name="csX9" fmla="*/ 98487 w 431187"/>
                  <a:gd name="csY9" fmla="*/ 283408 h 492338"/>
                  <a:gd name="csX10" fmla="*/ 98487 w 431187"/>
                  <a:gd name="csY10" fmla="*/ 492338 h 492338"/>
                  <a:gd name="csX11" fmla="*/ 0 w 431187"/>
                  <a:gd name="csY11" fmla="*/ 492338 h 492338"/>
                  <a:gd name="csX12" fmla="*/ 0 w 431187"/>
                  <a:gd name="csY12" fmla="*/ 0 h 49233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431187" h="492338">
                    <a:moveTo>
                      <a:pt x="0" y="0"/>
                    </a:moveTo>
                    <a:lnTo>
                      <a:pt x="98487" y="0"/>
                    </a:lnTo>
                    <a:lnTo>
                      <a:pt x="98487" y="194133"/>
                    </a:lnTo>
                    <a:lnTo>
                      <a:pt x="332700" y="194133"/>
                    </a:lnTo>
                    <a:lnTo>
                      <a:pt x="332700" y="0"/>
                    </a:lnTo>
                    <a:lnTo>
                      <a:pt x="431187" y="0"/>
                    </a:lnTo>
                    <a:lnTo>
                      <a:pt x="431187" y="492338"/>
                    </a:lnTo>
                    <a:lnTo>
                      <a:pt x="332700" y="492338"/>
                    </a:lnTo>
                    <a:lnTo>
                      <a:pt x="332700" y="283408"/>
                    </a:lnTo>
                    <a:lnTo>
                      <a:pt x="98487" y="283408"/>
                    </a:lnTo>
                    <a:lnTo>
                      <a:pt x="98487" y="492338"/>
                    </a:lnTo>
                    <a:lnTo>
                      <a:pt x="0" y="4923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 w="978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4FDE7523-9D07-53F3-A293-BCF87987E097}"/>
                  </a:ext>
                </a:extLst>
              </p:cNvPr>
              <p:cNvSpPr/>
              <p:nvPr/>
            </p:nvSpPr>
            <p:spPr>
              <a:xfrm>
                <a:off x="3927512" y="1520552"/>
                <a:ext cx="470680" cy="508998"/>
              </a:xfrm>
              <a:custGeom>
                <a:avLst/>
                <a:gdLst>
                  <a:gd name="csX0" fmla="*/ 113579 w 470680"/>
                  <a:gd name="csY0" fmla="*/ 481853 h 508998"/>
                  <a:gd name="csX1" fmla="*/ 29497 w 470680"/>
                  <a:gd name="csY1" fmla="*/ 403063 h 508998"/>
                  <a:gd name="csX2" fmla="*/ 0 w 470680"/>
                  <a:gd name="csY2" fmla="*/ 280664 h 508998"/>
                  <a:gd name="csX3" fmla="*/ 0 w 470680"/>
                  <a:gd name="csY3" fmla="*/ 230686 h 508998"/>
                  <a:gd name="csX4" fmla="*/ 29203 w 470680"/>
                  <a:gd name="csY4" fmla="*/ 107601 h 508998"/>
                  <a:gd name="csX5" fmla="*/ 113285 w 470680"/>
                  <a:gd name="csY5" fmla="*/ 27733 h 508998"/>
                  <a:gd name="csX6" fmla="*/ 241955 w 470680"/>
                  <a:gd name="csY6" fmla="*/ 0 h 508998"/>
                  <a:gd name="csX7" fmla="*/ 359454 w 470680"/>
                  <a:gd name="csY7" fmla="*/ 20775 h 508998"/>
                  <a:gd name="csX8" fmla="*/ 438243 w 470680"/>
                  <a:gd name="csY8" fmla="*/ 81240 h 508998"/>
                  <a:gd name="csX9" fmla="*/ 466368 w 470680"/>
                  <a:gd name="csY9" fmla="*/ 176591 h 508998"/>
                  <a:gd name="csX10" fmla="*/ 366509 w 470680"/>
                  <a:gd name="csY10" fmla="*/ 176591 h 508998"/>
                  <a:gd name="csX11" fmla="*/ 332701 w 470680"/>
                  <a:gd name="csY11" fmla="*/ 113285 h 508998"/>
                  <a:gd name="csX12" fmla="*/ 241955 w 470680"/>
                  <a:gd name="csY12" fmla="*/ 91529 h 508998"/>
                  <a:gd name="csX13" fmla="*/ 137196 w 470680"/>
                  <a:gd name="csY13" fmla="*/ 126319 h 508998"/>
                  <a:gd name="csX14" fmla="*/ 100643 w 470680"/>
                  <a:gd name="csY14" fmla="*/ 224414 h 508998"/>
                  <a:gd name="csX15" fmla="*/ 100643 w 470680"/>
                  <a:gd name="csY15" fmla="*/ 279978 h 508998"/>
                  <a:gd name="csX16" fmla="*/ 137588 w 470680"/>
                  <a:gd name="csY16" fmla="*/ 382973 h 508998"/>
                  <a:gd name="csX17" fmla="*/ 245581 w 470680"/>
                  <a:gd name="csY17" fmla="*/ 417763 h 508998"/>
                  <a:gd name="csX18" fmla="*/ 335934 w 470680"/>
                  <a:gd name="csY18" fmla="*/ 391695 h 508998"/>
                  <a:gd name="csX19" fmla="*/ 369351 w 470680"/>
                  <a:gd name="csY19" fmla="*/ 322019 h 508998"/>
                  <a:gd name="csX20" fmla="*/ 369351 w 470680"/>
                  <a:gd name="csY20" fmla="*/ 307222 h 508998"/>
                  <a:gd name="csX21" fmla="*/ 222356 w 470680"/>
                  <a:gd name="csY21" fmla="*/ 307222 h 508998"/>
                  <a:gd name="csX22" fmla="*/ 222356 w 470680"/>
                  <a:gd name="csY22" fmla="*/ 228432 h 508998"/>
                  <a:gd name="csX23" fmla="*/ 470680 w 470680"/>
                  <a:gd name="csY23" fmla="*/ 228432 h 508998"/>
                  <a:gd name="csX24" fmla="*/ 470680 w 470680"/>
                  <a:gd name="csY24" fmla="*/ 309280 h 508998"/>
                  <a:gd name="csX25" fmla="*/ 442555 w 470680"/>
                  <a:gd name="csY25" fmla="*/ 414039 h 508998"/>
                  <a:gd name="csX26" fmla="*/ 362688 w 470680"/>
                  <a:gd name="csY26" fmla="*/ 484009 h 508998"/>
                  <a:gd name="csX27" fmla="*/ 242053 w 470680"/>
                  <a:gd name="csY27" fmla="*/ 508998 h 508998"/>
                  <a:gd name="csX28" fmla="*/ 113677 w 470680"/>
                  <a:gd name="csY28" fmla="*/ 481559 h 50899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</a:cxnLst>
                <a:rect l="l" t="t" r="r" b="b"/>
                <a:pathLst>
                  <a:path w="470680" h="508998">
                    <a:moveTo>
                      <a:pt x="113579" y="481853"/>
                    </a:moveTo>
                    <a:cubicBezTo>
                      <a:pt x="77222" y="463527"/>
                      <a:pt x="49195" y="437264"/>
                      <a:pt x="29497" y="403063"/>
                    </a:cubicBezTo>
                    <a:cubicBezTo>
                      <a:pt x="9800" y="368862"/>
                      <a:pt x="0" y="327997"/>
                      <a:pt x="0" y="280664"/>
                    </a:cubicBezTo>
                    <a:lnTo>
                      <a:pt x="0" y="230686"/>
                    </a:lnTo>
                    <a:cubicBezTo>
                      <a:pt x="0" y="183353"/>
                      <a:pt x="9702" y="142292"/>
                      <a:pt x="29203" y="107601"/>
                    </a:cubicBezTo>
                    <a:cubicBezTo>
                      <a:pt x="48607" y="72910"/>
                      <a:pt x="76634" y="46255"/>
                      <a:pt x="113285" y="27733"/>
                    </a:cubicBezTo>
                    <a:cubicBezTo>
                      <a:pt x="149838" y="9212"/>
                      <a:pt x="192761" y="0"/>
                      <a:pt x="241955" y="0"/>
                    </a:cubicBezTo>
                    <a:cubicBezTo>
                      <a:pt x="286544" y="0"/>
                      <a:pt x="325645" y="6958"/>
                      <a:pt x="359454" y="20775"/>
                    </a:cubicBezTo>
                    <a:cubicBezTo>
                      <a:pt x="393263" y="34593"/>
                      <a:pt x="419428" y="54780"/>
                      <a:pt x="438243" y="81240"/>
                    </a:cubicBezTo>
                    <a:cubicBezTo>
                      <a:pt x="456961" y="107699"/>
                      <a:pt x="466368" y="139548"/>
                      <a:pt x="466368" y="176591"/>
                    </a:cubicBezTo>
                    <a:lnTo>
                      <a:pt x="366509" y="176591"/>
                    </a:lnTo>
                    <a:cubicBezTo>
                      <a:pt x="366509" y="148956"/>
                      <a:pt x="355240" y="127788"/>
                      <a:pt x="332701" y="113285"/>
                    </a:cubicBezTo>
                    <a:cubicBezTo>
                      <a:pt x="310161" y="98781"/>
                      <a:pt x="279978" y="91529"/>
                      <a:pt x="241955" y="91529"/>
                    </a:cubicBezTo>
                    <a:cubicBezTo>
                      <a:pt x="196485" y="91529"/>
                      <a:pt x="161499" y="103093"/>
                      <a:pt x="137196" y="126319"/>
                    </a:cubicBezTo>
                    <a:cubicBezTo>
                      <a:pt x="112795" y="149544"/>
                      <a:pt x="100643" y="182275"/>
                      <a:pt x="100643" y="224414"/>
                    </a:cubicBezTo>
                    <a:lnTo>
                      <a:pt x="100643" y="279978"/>
                    </a:lnTo>
                    <a:cubicBezTo>
                      <a:pt x="100643" y="325449"/>
                      <a:pt x="112991" y="359846"/>
                      <a:pt x="137588" y="382973"/>
                    </a:cubicBezTo>
                    <a:cubicBezTo>
                      <a:pt x="162185" y="406101"/>
                      <a:pt x="198150" y="417763"/>
                      <a:pt x="245581" y="417763"/>
                    </a:cubicBezTo>
                    <a:cubicBezTo>
                      <a:pt x="283604" y="417763"/>
                      <a:pt x="313689" y="409139"/>
                      <a:pt x="335934" y="391695"/>
                    </a:cubicBezTo>
                    <a:cubicBezTo>
                      <a:pt x="358180" y="374350"/>
                      <a:pt x="369351" y="351124"/>
                      <a:pt x="369351" y="322019"/>
                    </a:cubicBezTo>
                    <a:lnTo>
                      <a:pt x="369351" y="307222"/>
                    </a:lnTo>
                    <a:lnTo>
                      <a:pt x="222356" y="307222"/>
                    </a:lnTo>
                    <a:lnTo>
                      <a:pt x="222356" y="228432"/>
                    </a:lnTo>
                    <a:lnTo>
                      <a:pt x="470680" y="228432"/>
                    </a:lnTo>
                    <a:lnTo>
                      <a:pt x="470680" y="309280"/>
                    </a:lnTo>
                    <a:cubicBezTo>
                      <a:pt x="470680" y="349164"/>
                      <a:pt x="461273" y="384051"/>
                      <a:pt x="442555" y="414039"/>
                    </a:cubicBezTo>
                    <a:cubicBezTo>
                      <a:pt x="423740" y="444026"/>
                      <a:pt x="397183" y="467349"/>
                      <a:pt x="362688" y="484009"/>
                    </a:cubicBezTo>
                    <a:cubicBezTo>
                      <a:pt x="328192" y="500668"/>
                      <a:pt x="288014" y="508998"/>
                      <a:pt x="242053" y="508998"/>
                    </a:cubicBezTo>
                    <a:cubicBezTo>
                      <a:pt x="192858" y="508998"/>
                      <a:pt x="150034" y="499884"/>
                      <a:pt x="113677" y="481559"/>
                    </a:cubicBez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 w="978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A21BDA2C-3204-5F55-F29E-E9D6D0AA838E}"/>
                  </a:ext>
                </a:extLst>
              </p:cNvPr>
              <p:cNvSpPr/>
              <p:nvPr/>
            </p:nvSpPr>
            <p:spPr>
              <a:xfrm>
                <a:off x="4501481" y="1529077"/>
                <a:ext cx="387480" cy="492338"/>
              </a:xfrm>
              <a:custGeom>
                <a:avLst/>
                <a:gdLst>
                  <a:gd name="csX0" fmla="*/ 0 w 387480"/>
                  <a:gd name="csY0" fmla="*/ 0 h 492338"/>
                  <a:gd name="csX1" fmla="*/ 172279 w 387480"/>
                  <a:gd name="csY1" fmla="*/ 0 h 492338"/>
                  <a:gd name="csX2" fmla="*/ 332602 w 387480"/>
                  <a:gd name="csY2" fmla="*/ 52429 h 492338"/>
                  <a:gd name="csX3" fmla="*/ 387481 w 387480"/>
                  <a:gd name="csY3" fmla="*/ 205402 h 492338"/>
                  <a:gd name="csX4" fmla="*/ 387481 w 387480"/>
                  <a:gd name="csY4" fmla="*/ 286250 h 492338"/>
                  <a:gd name="csX5" fmla="*/ 332308 w 387480"/>
                  <a:gd name="csY5" fmla="*/ 439616 h 492338"/>
                  <a:gd name="csX6" fmla="*/ 172279 w 387480"/>
                  <a:gd name="csY6" fmla="*/ 492338 h 492338"/>
                  <a:gd name="csX7" fmla="*/ 0 w 387480"/>
                  <a:gd name="csY7" fmla="*/ 492338 h 492338"/>
                  <a:gd name="csX8" fmla="*/ 0 w 387480"/>
                  <a:gd name="csY8" fmla="*/ 0 h 492338"/>
                  <a:gd name="csX9" fmla="*/ 164537 w 387480"/>
                  <a:gd name="csY9" fmla="*/ 469897 h 492338"/>
                  <a:gd name="csX10" fmla="*/ 362197 w 387480"/>
                  <a:gd name="csY10" fmla="*/ 286348 h 492338"/>
                  <a:gd name="csX11" fmla="*/ 362197 w 387480"/>
                  <a:gd name="csY11" fmla="*/ 205500 h 492338"/>
                  <a:gd name="csX12" fmla="*/ 164537 w 387480"/>
                  <a:gd name="csY12" fmla="*/ 22637 h 492338"/>
                  <a:gd name="csX13" fmla="*/ 24597 w 387480"/>
                  <a:gd name="csY13" fmla="*/ 22637 h 492338"/>
                  <a:gd name="csX14" fmla="*/ 24597 w 387480"/>
                  <a:gd name="csY14" fmla="*/ 469995 h 492338"/>
                  <a:gd name="csX15" fmla="*/ 164537 w 387480"/>
                  <a:gd name="csY15" fmla="*/ 469995 h 49233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387480" h="492338">
                    <a:moveTo>
                      <a:pt x="0" y="0"/>
                    </a:moveTo>
                    <a:lnTo>
                      <a:pt x="172279" y="0"/>
                    </a:lnTo>
                    <a:cubicBezTo>
                      <a:pt x="242641" y="0"/>
                      <a:pt x="296049" y="17444"/>
                      <a:pt x="332602" y="52429"/>
                    </a:cubicBezTo>
                    <a:cubicBezTo>
                      <a:pt x="369155" y="87414"/>
                      <a:pt x="387481" y="138372"/>
                      <a:pt x="387481" y="205402"/>
                    </a:cubicBezTo>
                    <a:lnTo>
                      <a:pt x="387481" y="286250"/>
                    </a:lnTo>
                    <a:cubicBezTo>
                      <a:pt x="387481" y="353280"/>
                      <a:pt x="369057" y="404435"/>
                      <a:pt x="332308" y="439616"/>
                    </a:cubicBezTo>
                    <a:cubicBezTo>
                      <a:pt x="295461" y="474797"/>
                      <a:pt x="242151" y="492338"/>
                      <a:pt x="172279" y="492338"/>
                    </a:cubicBezTo>
                    <a:lnTo>
                      <a:pt x="0" y="492338"/>
                    </a:lnTo>
                    <a:lnTo>
                      <a:pt x="0" y="0"/>
                    </a:lnTo>
                    <a:close/>
                    <a:moveTo>
                      <a:pt x="164537" y="469897"/>
                    </a:moveTo>
                    <a:cubicBezTo>
                      <a:pt x="296343" y="469897"/>
                      <a:pt x="362197" y="408747"/>
                      <a:pt x="362197" y="286348"/>
                    </a:cubicBezTo>
                    <a:lnTo>
                      <a:pt x="362197" y="205500"/>
                    </a:lnTo>
                    <a:cubicBezTo>
                      <a:pt x="362197" y="83592"/>
                      <a:pt x="296343" y="22637"/>
                      <a:pt x="164537" y="22637"/>
                    </a:cubicBezTo>
                    <a:lnTo>
                      <a:pt x="24597" y="22637"/>
                    </a:lnTo>
                    <a:lnTo>
                      <a:pt x="24597" y="469995"/>
                    </a:lnTo>
                    <a:lnTo>
                      <a:pt x="164537" y="469995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978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FA9E21D7-E2C8-E8E9-8C16-937A650DEC0D}"/>
                  </a:ext>
                </a:extLst>
              </p:cNvPr>
              <p:cNvSpPr/>
              <p:nvPr/>
            </p:nvSpPr>
            <p:spPr>
              <a:xfrm>
                <a:off x="4987449" y="1524961"/>
                <a:ext cx="342696" cy="500766"/>
              </a:xfrm>
              <a:custGeom>
                <a:avLst/>
                <a:gdLst>
                  <a:gd name="csX0" fmla="*/ 82318 w 342696"/>
                  <a:gd name="csY0" fmla="*/ 484891 h 500766"/>
                  <a:gd name="csX1" fmla="*/ 22147 w 342696"/>
                  <a:gd name="csY1" fmla="*/ 439518 h 500766"/>
                  <a:gd name="csX2" fmla="*/ 0 w 342696"/>
                  <a:gd name="csY2" fmla="*/ 370626 h 500766"/>
                  <a:gd name="csX3" fmla="*/ 24597 w 342696"/>
                  <a:gd name="csY3" fmla="*/ 370626 h 500766"/>
                  <a:gd name="csX4" fmla="*/ 43609 w 342696"/>
                  <a:gd name="csY4" fmla="*/ 427562 h 500766"/>
                  <a:gd name="csX5" fmla="*/ 94959 w 342696"/>
                  <a:gd name="csY5" fmla="*/ 465193 h 500766"/>
                  <a:gd name="csX6" fmla="*/ 166693 w 342696"/>
                  <a:gd name="csY6" fmla="*/ 478227 h 500766"/>
                  <a:gd name="csX7" fmla="*/ 247247 w 342696"/>
                  <a:gd name="csY7" fmla="*/ 462449 h 500766"/>
                  <a:gd name="csX8" fmla="*/ 299675 w 342696"/>
                  <a:gd name="csY8" fmla="*/ 418841 h 500766"/>
                  <a:gd name="csX9" fmla="*/ 318001 w 342696"/>
                  <a:gd name="csY9" fmla="*/ 355142 h 500766"/>
                  <a:gd name="csX10" fmla="*/ 287426 w 342696"/>
                  <a:gd name="csY10" fmla="*/ 278508 h 500766"/>
                  <a:gd name="csX11" fmla="*/ 208342 w 342696"/>
                  <a:gd name="csY11" fmla="*/ 248227 h 500766"/>
                  <a:gd name="csX12" fmla="*/ 102799 w 342696"/>
                  <a:gd name="csY12" fmla="*/ 248227 h 500766"/>
                  <a:gd name="csX13" fmla="*/ 102799 w 342696"/>
                  <a:gd name="csY13" fmla="*/ 225688 h 500766"/>
                  <a:gd name="csX14" fmla="*/ 208342 w 342696"/>
                  <a:gd name="csY14" fmla="*/ 225688 h 500766"/>
                  <a:gd name="csX15" fmla="*/ 277626 w 342696"/>
                  <a:gd name="csY15" fmla="*/ 198249 h 500766"/>
                  <a:gd name="csX16" fmla="*/ 304673 w 342696"/>
                  <a:gd name="csY16" fmla="*/ 125143 h 500766"/>
                  <a:gd name="csX17" fmla="*/ 266650 w 342696"/>
                  <a:gd name="csY17" fmla="*/ 50567 h 500766"/>
                  <a:gd name="csX18" fmla="*/ 168163 w 342696"/>
                  <a:gd name="csY18" fmla="*/ 22441 h 500766"/>
                  <a:gd name="csX19" fmla="*/ 73596 w 342696"/>
                  <a:gd name="csY19" fmla="*/ 50959 h 500766"/>
                  <a:gd name="csX20" fmla="*/ 37337 w 342696"/>
                  <a:gd name="csY20" fmla="*/ 127299 h 500766"/>
                  <a:gd name="csX21" fmla="*/ 13426 w 342696"/>
                  <a:gd name="csY21" fmla="*/ 127299 h 500766"/>
                  <a:gd name="csX22" fmla="*/ 55956 w 342696"/>
                  <a:gd name="csY22" fmla="*/ 34495 h 500766"/>
                  <a:gd name="csX23" fmla="*/ 168163 w 342696"/>
                  <a:gd name="csY23" fmla="*/ 0 h 500766"/>
                  <a:gd name="csX24" fmla="*/ 252245 w 342696"/>
                  <a:gd name="csY24" fmla="*/ 15484 h 500766"/>
                  <a:gd name="csX25" fmla="*/ 308887 w 342696"/>
                  <a:gd name="csY25" fmla="*/ 59092 h 500766"/>
                  <a:gd name="csX26" fmla="*/ 329271 w 342696"/>
                  <a:gd name="csY26" fmla="*/ 124457 h 500766"/>
                  <a:gd name="csX27" fmla="*/ 308887 w 342696"/>
                  <a:gd name="csY27" fmla="*/ 196191 h 500766"/>
                  <a:gd name="csX28" fmla="*/ 252637 w 342696"/>
                  <a:gd name="csY28" fmla="*/ 235586 h 500766"/>
                  <a:gd name="csX29" fmla="*/ 252637 w 342696"/>
                  <a:gd name="csY29" fmla="*/ 236958 h 500766"/>
                  <a:gd name="csX30" fmla="*/ 318785 w 342696"/>
                  <a:gd name="csY30" fmla="*/ 279194 h 500766"/>
                  <a:gd name="csX31" fmla="*/ 342696 w 342696"/>
                  <a:gd name="csY31" fmla="*/ 355142 h 500766"/>
                  <a:gd name="csX32" fmla="*/ 321627 w 342696"/>
                  <a:gd name="csY32" fmla="*/ 430404 h 500766"/>
                  <a:gd name="csX33" fmla="*/ 260476 w 342696"/>
                  <a:gd name="csY33" fmla="*/ 482147 h 500766"/>
                  <a:gd name="csX34" fmla="*/ 166889 w 342696"/>
                  <a:gd name="csY34" fmla="*/ 500766 h 500766"/>
                  <a:gd name="csX35" fmla="*/ 82514 w 342696"/>
                  <a:gd name="csY35" fmla="*/ 484989 h 5007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</a:cxnLst>
                <a:rect l="l" t="t" r="r" b="b"/>
                <a:pathLst>
                  <a:path w="342696" h="500766">
                    <a:moveTo>
                      <a:pt x="82318" y="484891"/>
                    </a:moveTo>
                    <a:cubicBezTo>
                      <a:pt x="57034" y="474307"/>
                      <a:pt x="36945" y="459215"/>
                      <a:pt x="22147" y="439518"/>
                    </a:cubicBezTo>
                    <a:cubicBezTo>
                      <a:pt x="7350" y="419820"/>
                      <a:pt x="0" y="396889"/>
                      <a:pt x="0" y="370626"/>
                    </a:cubicBezTo>
                    <a:lnTo>
                      <a:pt x="24597" y="370626"/>
                    </a:lnTo>
                    <a:cubicBezTo>
                      <a:pt x="24597" y="392185"/>
                      <a:pt x="30967" y="411197"/>
                      <a:pt x="43609" y="427562"/>
                    </a:cubicBezTo>
                    <a:cubicBezTo>
                      <a:pt x="56250" y="444026"/>
                      <a:pt x="73400" y="456569"/>
                      <a:pt x="94959" y="465193"/>
                    </a:cubicBezTo>
                    <a:cubicBezTo>
                      <a:pt x="116519" y="473915"/>
                      <a:pt x="140430" y="478227"/>
                      <a:pt x="166693" y="478227"/>
                    </a:cubicBezTo>
                    <a:cubicBezTo>
                      <a:pt x="197660" y="478227"/>
                      <a:pt x="224512" y="472935"/>
                      <a:pt x="247247" y="462449"/>
                    </a:cubicBezTo>
                    <a:cubicBezTo>
                      <a:pt x="269982" y="451866"/>
                      <a:pt x="287426" y="437362"/>
                      <a:pt x="299675" y="418841"/>
                    </a:cubicBezTo>
                    <a:cubicBezTo>
                      <a:pt x="311827" y="400319"/>
                      <a:pt x="318001" y="379054"/>
                      <a:pt x="318001" y="355142"/>
                    </a:cubicBezTo>
                    <a:cubicBezTo>
                      <a:pt x="318001" y="324175"/>
                      <a:pt x="307809" y="298598"/>
                      <a:pt x="287426" y="278508"/>
                    </a:cubicBezTo>
                    <a:cubicBezTo>
                      <a:pt x="267042" y="258321"/>
                      <a:pt x="240681" y="248227"/>
                      <a:pt x="208342" y="248227"/>
                    </a:cubicBezTo>
                    <a:lnTo>
                      <a:pt x="102799" y="248227"/>
                    </a:lnTo>
                    <a:lnTo>
                      <a:pt x="102799" y="225688"/>
                    </a:lnTo>
                    <a:lnTo>
                      <a:pt x="208342" y="225688"/>
                    </a:lnTo>
                    <a:cubicBezTo>
                      <a:pt x="236467" y="225688"/>
                      <a:pt x="259594" y="216574"/>
                      <a:pt x="277626" y="198249"/>
                    </a:cubicBezTo>
                    <a:cubicBezTo>
                      <a:pt x="295658" y="179923"/>
                      <a:pt x="304673" y="155620"/>
                      <a:pt x="304673" y="125143"/>
                    </a:cubicBezTo>
                    <a:cubicBezTo>
                      <a:pt x="304673" y="94665"/>
                      <a:pt x="292031" y="69382"/>
                      <a:pt x="266650" y="50567"/>
                    </a:cubicBezTo>
                    <a:cubicBezTo>
                      <a:pt x="241367" y="31849"/>
                      <a:pt x="208538" y="22441"/>
                      <a:pt x="168163" y="22441"/>
                    </a:cubicBezTo>
                    <a:cubicBezTo>
                      <a:pt x="127788" y="22441"/>
                      <a:pt x="97703" y="31947"/>
                      <a:pt x="73596" y="50959"/>
                    </a:cubicBezTo>
                    <a:cubicBezTo>
                      <a:pt x="49488" y="69970"/>
                      <a:pt x="37337" y="95351"/>
                      <a:pt x="37337" y="127299"/>
                    </a:cubicBezTo>
                    <a:lnTo>
                      <a:pt x="13426" y="127299"/>
                    </a:lnTo>
                    <a:cubicBezTo>
                      <a:pt x="13426" y="88394"/>
                      <a:pt x="27635" y="57426"/>
                      <a:pt x="55956" y="34495"/>
                    </a:cubicBezTo>
                    <a:cubicBezTo>
                      <a:pt x="84278" y="11564"/>
                      <a:pt x="121713" y="0"/>
                      <a:pt x="168163" y="0"/>
                    </a:cubicBezTo>
                    <a:cubicBezTo>
                      <a:pt x="200012" y="0"/>
                      <a:pt x="228039" y="5194"/>
                      <a:pt x="252245" y="15484"/>
                    </a:cubicBezTo>
                    <a:cubicBezTo>
                      <a:pt x="276352" y="25773"/>
                      <a:pt x="295266" y="40375"/>
                      <a:pt x="308887" y="59092"/>
                    </a:cubicBezTo>
                    <a:cubicBezTo>
                      <a:pt x="322509" y="77810"/>
                      <a:pt x="329271" y="99663"/>
                      <a:pt x="329271" y="124457"/>
                    </a:cubicBezTo>
                    <a:cubicBezTo>
                      <a:pt x="329271" y="152582"/>
                      <a:pt x="322509" y="176493"/>
                      <a:pt x="308887" y="196191"/>
                    </a:cubicBezTo>
                    <a:cubicBezTo>
                      <a:pt x="295266" y="215888"/>
                      <a:pt x="276548" y="229020"/>
                      <a:pt x="252637" y="235586"/>
                    </a:cubicBezTo>
                    <a:lnTo>
                      <a:pt x="252637" y="236958"/>
                    </a:lnTo>
                    <a:cubicBezTo>
                      <a:pt x="280762" y="243033"/>
                      <a:pt x="302811" y="257145"/>
                      <a:pt x="318785" y="279194"/>
                    </a:cubicBezTo>
                    <a:cubicBezTo>
                      <a:pt x="334758" y="301244"/>
                      <a:pt x="342696" y="326527"/>
                      <a:pt x="342696" y="355142"/>
                    </a:cubicBezTo>
                    <a:cubicBezTo>
                      <a:pt x="342696" y="383757"/>
                      <a:pt x="335640" y="408355"/>
                      <a:pt x="321627" y="430404"/>
                    </a:cubicBezTo>
                    <a:cubicBezTo>
                      <a:pt x="307515" y="452454"/>
                      <a:pt x="287132" y="469701"/>
                      <a:pt x="260476" y="482147"/>
                    </a:cubicBezTo>
                    <a:cubicBezTo>
                      <a:pt x="233723" y="494592"/>
                      <a:pt x="202560" y="500766"/>
                      <a:pt x="166889" y="500766"/>
                    </a:cubicBezTo>
                    <a:cubicBezTo>
                      <a:pt x="135922" y="500766"/>
                      <a:pt x="107797" y="495474"/>
                      <a:pt x="82514" y="484989"/>
                    </a:cubicBez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978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D08F05DC-EB66-6B46-040C-C8E1234C61AA}"/>
                  </a:ext>
                </a:extLst>
              </p:cNvPr>
              <p:cNvSpPr/>
              <p:nvPr/>
            </p:nvSpPr>
            <p:spPr>
              <a:xfrm>
                <a:off x="5433336" y="1524863"/>
                <a:ext cx="359453" cy="500766"/>
              </a:xfrm>
              <a:custGeom>
                <a:avLst/>
                <a:gdLst>
                  <a:gd name="csX0" fmla="*/ 305163 w 359453"/>
                  <a:gd name="csY0" fmla="*/ 43315 h 500766"/>
                  <a:gd name="csX1" fmla="*/ 306927 w 359453"/>
                  <a:gd name="csY1" fmla="*/ 40277 h 500766"/>
                  <a:gd name="csX2" fmla="*/ 289974 w 359453"/>
                  <a:gd name="csY2" fmla="*/ 30379 h 500766"/>
                  <a:gd name="csX3" fmla="*/ 289974 w 359453"/>
                  <a:gd name="csY3" fmla="*/ 30379 h 500766"/>
                  <a:gd name="csX4" fmla="*/ 179335 w 359453"/>
                  <a:gd name="csY4" fmla="*/ 0 h 500766"/>
                  <a:gd name="csX5" fmla="*/ 43217 w 359453"/>
                  <a:gd name="csY5" fmla="*/ 56250 h 500766"/>
                  <a:gd name="csX6" fmla="*/ 0 w 359453"/>
                  <a:gd name="csY6" fmla="*/ 211674 h 500766"/>
                  <a:gd name="csX7" fmla="*/ 0 w 359453"/>
                  <a:gd name="csY7" fmla="*/ 290464 h 500766"/>
                  <a:gd name="csX8" fmla="*/ 42923 w 359453"/>
                  <a:gd name="csY8" fmla="*/ 445202 h 500766"/>
                  <a:gd name="csX9" fmla="*/ 179335 w 359453"/>
                  <a:gd name="csY9" fmla="*/ 500766 h 500766"/>
                  <a:gd name="csX10" fmla="*/ 316531 w 359453"/>
                  <a:gd name="csY10" fmla="*/ 443830 h 500766"/>
                  <a:gd name="csX11" fmla="*/ 359454 w 359453"/>
                  <a:gd name="csY11" fmla="*/ 290464 h 500766"/>
                  <a:gd name="csX12" fmla="*/ 359454 w 359453"/>
                  <a:gd name="csY12" fmla="*/ 211674 h 500766"/>
                  <a:gd name="csX13" fmla="*/ 305163 w 359453"/>
                  <a:gd name="csY13" fmla="*/ 43315 h 500766"/>
                  <a:gd name="csX14" fmla="*/ 24695 w 359453"/>
                  <a:gd name="csY14" fmla="*/ 290464 h 500766"/>
                  <a:gd name="csX15" fmla="*/ 24695 w 359453"/>
                  <a:gd name="csY15" fmla="*/ 211674 h 500766"/>
                  <a:gd name="csX16" fmla="*/ 179433 w 359453"/>
                  <a:gd name="csY16" fmla="*/ 22441 h 500766"/>
                  <a:gd name="csX17" fmla="*/ 277528 w 359453"/>
                  <a:gd name="csY17" fmla="*/ 51939 h 500766"/>
                  <a:gd name="csX18" fmla="*/ 59386 w 359453"/>
                  <a:gd name="csY18" fmla="*/ 425798 h 500766"/>
                  <a:gd name="csX19" fmla="*/ 24695 w 359453"/>
                  <a:gd name="csY19" fmla="*/ 290464 h 500766"/>
                  <a:gd name="csX20" fmla="*/ 334856 w 359453"/>
                  <a:gd name="csY20" fmla="*/ 290464 h 500766"/>
                  <a:gd name="csX21" fmla="*/ 297617 w 359453"/>
                  <a:gd name="csY21" fmla="*/ 428346 h 500766"/>
                  <a:gd name="csX22" fmla="*/ 179433 w 359453"/>
                  <a:gd name="csY22" fmla="*/ 478325 h 500766"/>
                  <a:gd name="csX23" fmla="*/ 72910 w 359453"/>
                  <a:gd name="csY23" fmla="*/ 441576 h 500766"/>
                  <a:gd name="csX24" fmla="*/ 291934 w 359453"/>
                  <a:gd name="csY24" fmla="*/ 66148 h 500766"/>
                  <a:gd name="csX25" fmla="*/ 297617 w 359453"/>
                  <a:gd name="csY25" fmla="*/ 72812 h 500766"/>
                  <a:gd name="csX26" fmla="*/ 334856 w 359453"/>
                  <a:gd name="csY26" fmla="*/ 211772 h 500766"/>
                  <a:gd name="csX27" fmla="*/ 334856 w 359453"/>
                  <a:gd name="csY27" fmla="*/ 290562 h 5007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</a:cxnLst>
                <a:rect l="l" t="t" r="r" b="b"/>
                <a:pathLst>
                  <a:path w="359453" h="500766">
                    <a:moveTo>
                      <a:pt x="305163" y="43315"/>
                    </a:moveTo>
                    <a:lnTo>
                      <a:pt x="306927" y="40277"/>
                    </a:lnTo>
                    <a:lnTo>
                      <a:pt x="289974" y="30379"/>
                    </a:lnTo>
                    <a:lnTo>
                      <a:pt x="289974" y="30379"/>
                    </a:lnTo>
                    <a:cubicBezTo>
                      <a:pt x="261750" y="10192"/>
                      <a:pt x="224904" y="0"/>
                      <a:pt x="179335" y="0"/>
                    </a:cubicBezTo>
                    <a:cubicBezTo>
                      <a:pt x="117401" y="0"/>
                      <a:pt x="72028" y="18717"/>
                      <a:pt x="43217" y="56250"/>
                    </a:cubicBezTo>
                    <a:cubicBezTo>
                      <a:pt x="14406" y="93783"/>
                      <a:pt x="0" y="145624"/>
                      <a:pt x="0" y="211674"/>
                    </a:cubicBezTo>
                    <a:lnTo>
                      <a:pt x="0" y="290464"/>
                    </a:lnTo>
                    <a:cubicBezTo>
                      <a:pt x="0" y="356612"/>
                      <a:pt x="14308" y="408159"/>
                      <a:pt x="42923" y="445202"/>
                    </a:cubicBezTo>
                    <a:cubicBezTo>
                      <a:pt x="71538" y="482245"/>
                      <a:pt x="117009" y="500766"/>
                      <a:pt x="179335" y="500766"/>
                    </a:cubicBezTo>
                    <a:cubicBezTo>
                      <a:pt x="241661" y="500766"/>
                      <a:pt x="287916" y="481755"/>
                      <a:pt x="316531" y="443830"/>
                    </a:cubicBezTo>
                    <a:cubicBezTo>
                      <a:pt x="345146" y="405807"/>
                      <a:pt x="359454" y="354750"/>
                      <a:pt x="359454" y="290464"/>
                    </a:cubicBezTo>
                    <a:lnTo>
                      <a:pt x="359454" y="211674"/>
                    </a:lnTo>
                    <a:cubicBezTo>
                      <a:pt x="359454" y="134256"/>
                      <a:pt x="341324" y="78300"/>
                      <a:pt x="305163" y="43315"/>
                    </a:cubicBezTo>
                    <a:close/>
                    <a:moveTo>
                      <a:pt x="24695" y="290464"/>
                    </a:moveTo>
                    <a:lnTo>
                      <a:pt x="24695" y="211674"/>
                    </a:lnTo>
                    <a:cubicBezTo>
                      <a:pt x="24695" y="85552"/>
                      <a:pt x="76242" y="22441"/>
                      <a:pt x="179433" y="22441"/>
                    </a:cubicBezTo>
                    <a:cubicBezTo>
                      <a:pt x="220592" y="22441"/>
                      <a:pt x="253323" y="32339"/>
                      <a:pt x="277528" y="51939"/>
                    </a:cubicBezTo>
                    <a:lnTo>
                      <a:pt x="59386" y="425798"/>
                    </a:lnTo>
                    <a:cubicBezTo>
                      <a:pt x="36357" y="394635"/>
                      <a:pt x="24695" y="349556"/>
                      <a:pt x="24695" y="290464"/>
                    </a:cubicBezTo>
                    <a:close/>
                    <a:moveTo>
                      <a:pt x="334856" y="290464"/>
                    </a:moveTo>
                    <a:cubicBezTo>
                      <a:pt x="334856" y="349066"/>
                      <a:pt x="322411" y="395027"/>
                      <a:pt x="297617" y="428346"/>
                    </a:cubicBezTo>
                    <a:cubicBezTo>
                      <a:pt x="272726" y="461665"/>
                      <a:pt x="233331" y="478325"/>
                      <a:pt x="179433" y="478325"/>
                    </a:cubicBezTo>
                    <a:cubicBezTo>
                      <a:pt x="133864" y="478325"/>
                      <a:pt x="98389" y="466075"/>
                      <a:pt x="72910" y="441576"/>
                    </a:cubicBezTo>
                    <a:lnTo>
                      <a:pt x="291934" y="66148"/>
                    </a:lnTo>
                    <a:cubicBezTo>
                      <a:pt x="293796" y="68304"/>
                      <a:pt x="295853" y="70460"/>
                      <a:pt x="297617" y="72812"/>
                    </a:cubicBezTo>
                    <a:cubicBezTo>
                      <a:pt x="322509" y="106327"/>
                      <a:pt x="334856" y="152680"/>
                      <a:pt x="334856" y="211772"/>
                    </a:cubicBezTo>
                    <a:lnTo>
                      <a:pt x="334856" y="290562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9781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</p:grp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5CCA2B0-0678-9CA0-9BDB-5D8FB71C2E5B}"/>
              </a:ext>
            </a:extLst>
          </p:cNvPr>
          <p:cNvCxnSpPr>
            <a:cxnSpLocks/>
          </p:cNvCxnSpPr>
          <p:nvPr userDrawn="1"/>
        </p:nvCxnSpPr>
        <p:spPr>
          <a:xfrm>
            <a:off x="449179" y="9403733"/>
            <a:ext cx="483294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927B195-F8BF-ACCE-FE1B-C8ACAA05773B}"/>
              </a:ext>
            </a:extLst>
          </p:cNvPr>
          <p:cNvCxnSpPr>
            <a:cxnSpLocks/>
          </p:cNvCxnSpPr>
          <p:nvPr userDrawn="1"/>
        </p:nvCxnSpPr>
        <p:spPr>
          <a:xfrm>
            <a:off x="3225835" y="496111"/>
            <a:ext cx="319084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8">
            <a:extLst>
              <a:ext uri="{FF2B5EF4-FFF2-40B4-BE49-F238E27FC236}">
                <a16:creationId xmlns:a16="http://schemas.microsoft.com/office/drawing/2014/main" id="{6EDB3EA2-02BD-2EFD-A067-7CFADE15704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5501418" y="9189849"/>
            <a:ext cx="987820" cy="427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344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7469A-6CF5-417C-B671-5BFE2B13BB81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2AA25-0CC7-4508-8FCF-2A8B8A59DF2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1956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7469A-6CF5-417C-B671-5BFE2B13BB81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2AA25-0CC7-4508-8FCF-2A8B8A59DF2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6786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7469A-6CF5-417C-B671-5BFE2B13BB81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2AA25-0CC7-4508-8FCF-2A8B8A59DF2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2730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7469A-6CF5-417C-B671-5BFE2B13BB81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2AA25-0CC7-4508-8FCF-2A8B8A59DF2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8999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7469A-6CF5-417C-B671-5BFE2B13BB81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2AA25-0CC7-4508-8FCF-2A8B8A59DF2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8023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7469A-6CF5-417C-B671-5BFE2B13BB81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2AA25-0CC7-4508-8FCF-2A8B8A59DF2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405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7469A-6CF5-417C-B671-5BFE2B13BB81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2AA25-0CC7-4508-8FCF-2A8B8A59DF2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54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7469A-6CF5-417C-B671-5BFE2B13BB81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2AA25-0CC7-4508-8FCF-2A8B8A59DF2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3612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7469A-6CF5-417C-B671-5BFE2B13BB81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2AA25-0CC7-4508-8FCF-2A8B8A59DF2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94212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4350" y="3070860"/>
            <a:ext cx="5829301" cy="7001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28700" y="5547361"/>
            <a:ext cx="48006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91446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47433" y="2083515"/>
            <a:ext cx="1563132" cy="238848"/>
          </a:xfrm>
        </p:spPr>
        <p:txBody>
          <a:bodyPr lIns="0" tIns="0" rIns="0" bIns="0"/>
          <a:lstStyle>
            <a:lvl1pPr>
              <a:defRPr sz="1552" b="1" i="0">
                <a:solidFill>
                  <a:srgbClr val="1E271F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18730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47433" y="2083515"/>
            <a:ext cx="1563132" cy="238848"/>
          </a:xfrm>
        </p:spPr>
        <p:txBody>
          <a:bodyPr lIns="0" tIns="0" rIns="0" bIns="0"/>
          <a:lstStyle>
            <a:lvl1pPr>
              <a:defRPr sz="1552" b="1" i="0">
                <a:solidFill>
                  <a:srgbClr val="1E271F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42900" y="2278381"/>
            <a:ext cx="298323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531870" y="2278381"/>
            <a:ext cx="298323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710067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47433" y="2083515"/>
            <a:ext cx="1563132" cy="238848"/>
          </a:xfrm>
        </p:spPr>
        <p:txBody>
          <a:bodyPr lIns="0" tIns="0" rIns="0" bIns="0"/>
          <a:lstStyle>
            <a:lvl1pPr>
              <a:defRPr sz="1552" b="1" i="0">
                <a:solidFill>
                  <a:srgbClr val="1E271F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41513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>
          <p15:clr>
            <a:srgbClr val="FBAE40"/>
          </p15:clr>
        </p15:guide>
        <p15:guide id="2" pos="6332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455161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de Tí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2D4BCB3-4F76-760A-4445-FEE2DDE11714}"/>
              </a:ext>
            </a:extLst>
          </p:cNvPr>
          <p:cNvSpPr/>
          <p:nvPr userDrawn="1"/>
        </p:nvSpPr>
        <p:spPr>
          <a:xfrm>
            <a:off x="0" y="0"/>
            <a:ext cx="6858000" cy="2804506"/>
          </a:xfrm>
          <a:prstGeom prst="rect">
            <a:avLst/>
          </a:prstGeom>
          <a:gradFill>
            <a:gsLst>
              <a:gs pos="0">
                <a:schemeClr val="bg2">
                  <a:lumMod val="10000"/>
                </a:schemeClr>
              </a:gs>
              <a:gs pos="100000">
                <a:schemeClr val="bg2">
                  <a:lumMod val="25000"/>
                </a:schemeClr>
              </a:gs>
            </a:gsLst>
            <a:lin ang="27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34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4A45564-5184-90D2-14D9-94EA332442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59959"/>
          <a:stretch/>
        </p:blipFill>
        <p:spPr>
          <a:xfrm>
            <a:off x="0" y="0"/>
            <a:ext cx="6858000" cy="2804506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0B7DDAD-8C66-FA3E-4B5B-9AB3416CA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6404" y="9526039"/>
            <a:ext cx="372999" cy="14257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r">
              <a:defRPr sz="908"/>
            </a:lvl1pPr>
          </a:lstStyle>
          <a:p>
            <a:fld id="{61A145B2-DE88-4296-A48E-C1DA3784F3C8}" type="slidenum">
              <a:rPr lang="pt-BR" smtClean="0"/>
              <a:pPr/>
              <a:t>‹#›</a:t>
            </a:fld>
            <a:endParaRPr lang="pt-BR"/>
          </a:p>
        </p:txBody>
      </p:sp>
      <p:pic>
        <p:nvPicPr>
          <p:cNvPr id="12" name="Picture 8">
            <a:extLst>
              <a:ext uri="{FF2B5EF4-FFF2-40B4-BE49-F238E27FC236}">
                <a16:creationId xmlns:a16="http://schemas.microsoft.com/office/drawing/2014/main" id="{1FBF88D0-6DD9-ABC3-7BB8-61EAE182C83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117" t="-23966" r="-8117" b="-23966"/>
          <a:stretch/>
        </p:blipFill>
        <p:spPr>
          <a:xfrm>
            <a:off x="5688504" y="276002"/>
            <a:ext cx="874432" cy="386733"/>
          </a:xfrm>
          <a:prstGeom prst="rect">
            <a:avLst/>
          </a:prstGeom>
        </p:spPr>
      </p:pic>
      <p:sp>
        <p:nvSpPr>
          <p:cNvPr id="3" name="CaixaDeTexto 17">
            <a:extLst>
              <a:ext uri="{FF2B5EF4-FFF2-40B4-BE49-F238E27FC236}">
                <a16:creationId xmlns:a16="http://schemas.microsoft.com/office/drawing/2014/main" id="{39D693CA-239F-BF27-5666-D85F301F4EB9}"/>
              </a:ext>
            </a:extLst>
          </p:cNvPr>
          <p:cNvSpPr txBox="1"/>
          <p:nvPr userDrawn="1"/>
        </p:nvSpPr>
        <p:spPr>
          <a:xfrm>
            <a:off x="981104" y="271305"/>
            <a:ext cx="2110770" cy="396124"/>
          </a:xfrm>
          <a:prstGeom prst="rect">
            <a:avLst/>
          </a:prstGeom>
          <a:noFill/>
        </p:spPr>
        <p:txBody>
          <a:bodyPr wrap="square" lIns="0" tIns="0" rIns="0" bIns="0" numCol="1" spcCol="612000" anchor="ctr" anchorCtr="0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>
                <a:tab pos="2870200" algn="l"/>
              </a:tabLst>
              <a:defRPr kumimoji="0" sz="1400" b="0" i="0" u="none" strike="noStrike" cap="none" spc="0" normalizeH="0" baseline="0">
                <a:ln>
                  <a:noFill/>
                </a:ln>
                <a:solidFill>
                  <a:srgbClr val="557F97"/>
                </a:solidFill>
                <a:effectLst/>
                <a:uLnTx/>
                <a:uFillTx/>
                <a:latin typeface="Versos"/>
              </a:defRPr>
            </a:lvl1pPr>
          </a:lstStyle>
          <a:p>
            <a:pPr lvl="0"/>
            <a:r>
              <a:rPr lang="pt-BR" sz="1089" noProof="0">
                <a:solidFill>
                  <a:schemeClr val="bg1"/>
                </a:solidFill>
                <a:latin typeface="+mn-lt"/>
              </a:rPr>
              <a:t>Abril de 2025 | Carta do Gestor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B302827-45EA-384F-A87C-8FECD556410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8599" y="290485"/>
            <a:ext cx="408086" cy="357764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1A68D458-14F2-4AA7-6581-119AB128C8A9}"/>
              </a:ext>
            </a:extLst>
          </p:cNvPr>
          <p:cNvGrpSpPr/>
          <p:nvPr userDrawn="1"/>
        </p:nvGrpSpPr>
        <p:grpSpPr>
          <a:xfrm>
            <a:off x="2103946" y="820554"/>
            <a:ext cx="4395457" cy="489003"/>
            <a:chOff x="389590" y="1268631"/>
            <a:chExt cx="5107839" cy="527795"/>
          </a:xfrm>
        </p:grpSpPr>
        <p:sp>
          <p:nvSpPr>
            <p:cNvPr id="47" name="CaixaDeTexto 5">
              <a:extLst>
                <a:ext uri="{FF2B5EF4-FFF2-40B4-BE49-F238E27FC236}">
                  <a16:creationId xmlns:a16="http://schemas.microsoft.com/office/drawing/2014/main" id="{F87B3DAC-DB98-A1BE-3260-C2FB8180EAF9}"/>
                </a:ext>
              </a:extLst>
            </p:cNvPr>
            <p:cNvSpPr txBox="1"/>
            <p:nvPr userDrawn="1"/>
          </p:nvSpPr>
          <p:spPr>
            <a:xfrm>
              <a:off x="389590" y="1268631"/>
              <a:ext cx="5107839" cy="262605"/>
            </a:xfrm>
            <a:prstGeom prst="rect">
              <a:avLst/>
            </a:prstGeom>
            <a:noFill/>
          </p:spPr>
          <p:txBody>
            <a:bodyPr wrap="square" lIns="0" tIns="0" rIns="0" bIns="0" numCol="1" spcCol="612000" anchor="ctr" anchorCtr="0">
              <a:noAutofit/>
            </a:bodyPr>
            <a:lstStyle/>
            <a:p>
              <a:pPr marL="0" marR="0" lvl="0" indent="0" algn="l" defTabSz="414789" rtl="0" eaLnBrk="1" fontAlgn="auto" latinLnBrk="0" hangingPunct="1">
                <a:lnSpc>
                  <a:spcPct val="100000"/>
                </a:lnSpc>
                <a:spcBef>
                  <a:spcPts val="272"/>
                </a:spcBef>
                <a:spcAft>
                  <a:spcPts val="272"/>
                </a:spcAft>
                <a:buClrTx/>
                <a:buSzTx/>
                <a:buFontTx/>
                <a:buNone/>
                <a:tabLst>
                  <a:tab pos="2603952" algn="l"/>
                </a:tabLst>
                <a:defRPr/>
              </a:pPr>
              <a:r>
                <a:rPr kumimoji="0" lang="pt-BR" sz="1814" b="0" i="0" u="none" strike="noStrike" kern="1200" cap="none" spc="0" normalizeH="0" baseline="0" noProof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Versos"/>
                  <a:ea typeface="+mn-ea"/>
                  <a:cs typeface="+mn-cs"/>
                </a:rPr>
                <a:t>A Curva de Galton no Crédito Privado</a:t>
              </a:r>
            </a:p>
          </p:txBody>
        </p:sp>
        <p:sp>
          <p:nvSpPr>
            <p:cNvPr id="10" name="CaixaDeTexto 5">
              <a:extLst>
                <a:ext uri="{FF2B5EF4-FFF2-40B4-BE49-F238E27FC236}">
                  <a16:creationId xmlns:a16="http://schemas.microsoft.com/office/drawing/2014/main" id="{C6AD5879-128F-580E-F9BF-4A3DDAA86EAE}"/>
                </a:ext>
              </a:extLst>
            </p:cNvPr>
            <p:cNvSpPr txBox="1"/>
            <p:nvPr userDrawn="1"/>
          </p:nvSpPr>
          <p:spPr>
            <a:xfrm>
              <a:off x="389590" y="1558873"/>
              <a:ext cx="5107839" cy="237553"/>
            </a:xfrm>
            <a:prstGeom prst="rect">
              <a:avLst/>
            </a:prstGeom>
            <a:noFill/>
          </p:spPr>
          <p:txBody>
            <a:bodyPr wrap="square" lIns="0" tIns="0" rIns="0" bIns="0" numCol="1" spcCol="612000" anchor="ctr" anchorCtr="0">
              <a:noAutofit/>
            </a:bodyPr>
            <a:lstStyle/>
            <a:p>
              <a:pPr marL="0" marR="0" lvl="0" indent="0" algn="l" defTabSz="414789" rtl="0" eaLnBrk="1" fontAlgn="auto" latinLnBrk="0" hangingPunct="1">
                <a:lnSpc>
                  <a:spcPct val="100000"/>
                </a:lnSpc>
                <a:spcBef>
                  <a:spcPts val="272"/>
                </a:spcBef>
                <a:spcAft>
                  <a:spcPts val="272"/>
                </a:spcAft>
                <a:buClrTx/>
                <a:buSzTx/>
                <a:buFontTx/>
                <a:buNone/>
                <a:tabLst>
                  <a:tab pos="2603952" algn="l"/>
                </a:tabLst>
                <a:defRPr/>
              </a:pPr>
              <a:r>
                <a:rPr kumimoji="0" lang="pt-BR" sz="1451" b="0" i="0" u="none" strike="noStrike" kern="1200" cap="none" spc="0" normalizeH="0" baseline="0" noProof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Da Normalidade Estatística à Seleção Estratégica</a:t>
              </a:r>
            </a:p>
          </p:txBody>
        </p:sp>
      </p:grpSp>
      <p:sp>
        <p:nvSpPr>
          <p:cNvPr id="11" name="CaixaDeTexto 17">
            <a:extLst>
              <a:ext uri="{FF2B5EF4-FFF2-40B4-BE49-F238E27FC236}">
                <a16:creationId xmlns:a16="http://schemas.microsoft.com/office/drawing/2014/main" id="{77C2A921-1881-321F-10FC-0EBD9F53D303}"/>
              </a:ext>
            </a:extLst>
          </p:cNvPr>
          <p:cNvSpPr txBox="1"/>
          <p:nvPr userDrawn="1"/>
        </p:nvSpPr>
        <p:spPr>
          <a:xfrm>
            <a:off x="3242533" y="341377"/>
            <a:ext cx="1520558" cy="25598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numCol="1" spcCol="612000" anchor="ctr" anchorCtr="0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14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>
                <a:tab pos="2870200" algn="l"/>
              </a:tabLst>
              <a:defRPr kumimoji="0" sz="1400" b="0" i="0" u="none" strike="noStrike" cap="none" spc="0" normalizeH="0" baseline="0">
                <a:ln>
                  <a:noFill/>
                </a:ln>
                <a:solidFill>
                  <a:srgbClr val="557F97"/>
                </a:solidFill>
                <a:effectLst/>
                <a:uLnTx/>
                <a:uFillTx/>
                <a:latin typeface="Versos"/>
              </a:defRPr>
            </a:lvl1pPr>
          </a:lstStyle>
          <a:p>
            <a:pPr lvl="0" algn="ctr"/>
            <a:r>
              <a:rPr lang="pt-BR" sz="1089" b="1" noProof="0">
                <a:solidFill>
                  <a:schemeClr val="bg2">
                    <a:lumMod val="90000"/>
                  </a:schemeClr>
                </a:solidFill>
                <a:latin typeface="+mj-lt"/>
              </a:rPr>
              <a:t>CRÉDITO PRIVADO</a:t>
            </a:r>
          </a:p>
        </p:txBody>
      </p:sp>
    </p:spTree>
    <p:extLst>
      <p:ext uri="{BB962C8B-B14F-4D97-AF65-F5344CB8AC3E}">
        <p14:creationId xmlns:p14="http://schemas.microsoft.com/office/powerpoint/2010/main" val="259149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7">
          <p15:clr>
            <a:srgbClr val="FBAE40"/>
          </p15:clr>
        </p15:guide>
        <p15:guide id="2" pos="249">
          <p15:clr>
            <a:srgbClr val="FBAE40"/>
          </p15:clr>
        </p15:guide>
        <p15:guide id="3" pos="4513">
          <p15:clr>
            <a:srgbClr val="FBAE40"/>
          </p15:clr>
        </p15:guide>
        <p15:guide id="4" orient="horz" pos="6475">
          <p15:clr>
            <a:srgbClr val="FBAE40"/>
          </p15:clr>
        </p15:guide>
        <p15:guide id="5" orient="horz" pos="465">
          <p15:clr>
            <a:srgbClr val="FBAE40"/>
          </p15:clr>
        </p15:guide>
        <p15:guide id="6" orient="horz" pos="1916">
          <p15:clr>
            <a:srgbClr val="FBAE40"/>
          </p15:clr>
        </p15:guide>
        <p15:guide id="7" orient="horz" pos="6588">
          <p15:clr>
            <a:srgbClr val="FBAE40"/>
          </p15:clr>
        </p15:guide>
        <p15:guide id="8" orient="horz" pos="636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79785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8">
          <p15:clr>
            <a:srgbClr val="FBAE40"/>
          </p15:clr>
        </p15:guide>
        <p15:guide id="2" pos="249">
          <p15:clr>
            <a:srgbClr val="FBAE40"/>
          </p15:clr>
        </p15:guide>
        <p15:guide id="3" pos="4513">
          <p15:clr>
            <a:srgbClr val="FBAE40"/>
          </p15:clr>
        </p15:guide>
        <p15:guide id="4" orient="horz" pos="6475">
          <p15:clr>
            <a:srgbClr val="FBAE40"/>
          </p15:clr>
        </p15:guide>
        <p15:guide id="5" orient="horz" pos="737">
          <p15:clr>
            <a:srgbClr val="FBAE40"/>
          </p15:clr>
        </p15:guide>
        <p15:guide id="6" orient="horz" pos="442">
          <p15:clr>
            <a:srgbClr val="FBAE40"/>
          </p15:clr>
        </p15:guide>
        <p15:guide id="7" orient="horz" pos="661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07469A-6CF5-417C-B671-5BFE2B13BB81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72AA25-0CC7-4508-8FCF-2A8B8A59DF2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6758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12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47433" y="2083515"/>
            <a:ext cx="1563132" cy="7001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50" b="1" i="0">
                <a:solidFill>
                  <a:srgbClr val="1E271F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2900" y="2278381"/>
            <a:ext cx="61722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331720" y="9212580"/>
            <a:ext cx="21945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42900" y="9212580"/>
            <a:ext cx="15773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937761" y="9212580"/>
            <a:ext cx="15773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7196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155951">
        <a:defRPr>
          <a:latin typeface="+mn-lt"/>
          <a:ea typeface="+mn-ea"/>
          <a:cs typeface="+mn-cs"/>
        </a:defRPr>
      </a:lvl2pPr>
      <a:lvl3pPr marL="311902">
        <a:defRPr>
          <a:latin typeface="+mn-lt"/>
          <a:ea typeface="+mn-ea"/>
          <a:cs typeface="+mn-cs"/>
        </a:defRPr>
      </a:lvl3pPr>
      <a:lvl4pPr marL="467853">
        <a:defRPr>
          <a:latin typeface="+mn-lt"/>
          <a:ea typeface="+mn-ea"/>
          <a:cs typeface="+mn-cs"/>
        </a:defRPr>
      </a:lvl4pPr>
      <a:lvl5pPr marL="623804">
        <a:defRPr>
          <a:latin typeface="+mn-lt"/>
          <a:ea typeface="+mn-ea"/>
          <a:cs typeface="+mn-cs"/>
        </a:defRPr>
      </a:lvl5pPr>
      <a:lvl6pPr marL="779754">
        <a:defRPr>
          <a:latin typeface="+mn-lt"/>
          <a:ea typeface="+mn-ea"/>
          <a:cs typeface="+mn-cs"/>
        </a:defRPr>
      </a:lvl6pPr>
      <a:lvl7pPr marL="935705">
        <a:defRPr>
          <a:latin typeface="+mn-lt"/>
          <a:ea typeface="+mn-ea"/>
          <a:cs typeface="+mn-cs"/>
        </a:defRPr>
      </a:lvl7pPr>
      <a:lvl8pPr marL="1091657">
        <a:defRPr>
          <a:latin typeface="+mn-lt"/>
          <a:ea typeface="+mn-ea"/>
          <a:cs typeface="+mn-cs"/>
        </a:defRPr>
      </a:lvl8pPr>
      <a:lvl9pPr marL="124760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155951">
        <a:defRPr>
          <a:latin typeface="+mn-lt"/>
          <a:ea typeface="+mn-ea"/>
          <a:cs typeface="+mn-cs"/>
        </a:defRPr>
      </a:lvl2pPr>
      <a:lvl3pPr marL="311902">
        <a:defRPr>
          <a:latin typeface="+mn-lt"/>
          <a:ea typeface="+mn-ea"/>
          <a:cs typeface="+mn-cs"/>
        </a:defRPr>
      </a:lvl3pPr>
      <a:lvl4pPr marL="467853">
        <a:defRPr>
          <a:latin typeface="+mn-lt"/>
          <a:ea typeface="+mn-ea"/>
          <a:cs typeface="+mn-cs"/>
        </a:defRPr>
      </a:lvl4pPr>
      <a:lvl5pPr marL="623804">
        <a:defRPr>
          <a:latin typeface="+mn-lt"/>
          <a:ea typeface="+mn-ea"/>
          <a:cs typeface="+mn-cs"/>
        </a:defRPr>
      </a:lvl5pPr>
      <a:lvl6pPr marL="779754">
        <a:defRPr>
          <a:latin typeface="+mn-lt"/>
          <a:ea typeface="+mn-ea"/>
          <a:cs typeface="+mn-cs"/>
        </a:defRPr>
      </a:lvl6pPr>
      <a:lvl7pPr marL="935705">
        <a:defRPr>
          <a:latin typeface="+mn-lt"/>
          <a:ea typeface="+mn-ea"/>
          <a:cs typeface="+mn-cs"/>
        </a:defRPr>
      </a:lvl7pPr>
      <a:lvl8pPr marL="1091657">
        <a:defRPr>
          <a:latin typeface="+mn-lt"/>
          <a:ea typeface="+mn-ea"/>
          <a:cs typeface="+mn-cs"/>
        </a:defRPr>
      </a:lvl8pPr>
      <a:lvl9pPr marL="1247608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680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</p:sldLayoutIdLst>
  <p:hf hdr="0" ftr="0"/>
  <p:txStyles>
    <p:titleStyle>
      <a:lvl1pPr algn="l" defTabSz="685812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3" indent="-171453" algn="l" defTabSz="685812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9" indent="-171453" algn="l" defTabSz="685812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65" indent="-171453" algn="l" defTabSz="685812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99" kern="1200">
          <a:solidFill>
            <a:schemeClr val="tx1"/>
          </a:solidFill>
          <a:latin typeface="+mn-lt"/>
          <a:ea typeface="+mn-ea"/>
          <a:cs typeface="+mn-cs"/>
        </a:defRPr>
      </a:lvl3pPr>
      <a:lvl4pPr marL="1200170" indent="-171453" algn="l" defTabSz="685812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77" indent="-171453" algn="l" defTabSz="685812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82" indent="-171453" algn="l" defTabSz="685812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88" indent="-171453" algn="l" defTabSz="685812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94" indent="-171453" algn="l" defTabSz="685812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700" indent="-171453" algn="l" defTabSz="685812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1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6" algn="l" defTabSz="68581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12" algn="l" defTabSz="68581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17" algn="l" defTabSz="68581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23" algn="l" defTabSz="68581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29" algn="l" defTabSz="68581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35" algn="l" defTabSz="68581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42" algn="l" defTabSz="68581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47" algn="l" defTabSz="685812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>
          <p15:clr>
            <a:srgbClr val="F26B43"/>
          </p15:clr>
        </p15:guide>
        <p15:guide id="2">
          <p15:clr>
            <a:srgbClr val="F26B43"/>
          </p15:clr>
        </p15:guide>
        <p15:guide id="3" orient="horz" pos="6735">
          <p15:clr>
            <a:srgbClr val="F26B43"/>
          </p15:clr>
        </p15:guide>
        <p15:guide id="4" pos="4762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3" Type="http://schemas.openxmlformats.org/officeDocument/2006/relationships/image" Target="../media/image6.svg"/><Relationship Id="rId4" Type="http://schemas.openxmlformats.org/officeDocument/2006/relationships/image" Target="../media/image7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sv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6.svg"/><Relationship Id="rId6" Type="http://schemas.openxmlformats.org/officeDocument/2006/relationships/image" Target="../media/image11.png"/><Relationship Id="rId7" Type="http://schemas.microsoft.com/office/2007/relationships/hdphoto" Target="../media/hdphoto1.wdp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hyperlink" Target="../../../07_Cr&#233;dito%20Estruturado%20-%20Julho%202025/tivio.com/fundos" TargetMode="External"/><Relationship Id="rId5" Type="http://schemas.openxmlformats.org/officeDocument/2006/relationships/image" Target="../media/image14.sv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21.png"/><Relationship Id="rId13" Type="http://schemas.openxmlformats.org/officeDocument/2006/relationships/image" Target="../media/image22.png"/><Relationship Id="rId14" Type="http://schemas.openxmlformats.org/officeDocument/2006/relationships/image" Target="../media/image23.png"/><Relationship Id="rId15" Type="http://schemas.microsoft.com/office/2007/relationships/hdphoto" Target="../media/hdphoto2.wdp"/><Relationship Id="rId16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D9A716-406A-76EB-3338-3E4D6DCBEC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/>
              <a:t>Palavra do Gestor HGD30</a:t>
            </a:r>
          </a:p>
        </p:txBody>
      </p:sp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AB5BC589-33FE-EB5B-A9A5-BCF98DAAED2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67" r="53854" b="7831"/>
          <a:stretch>
            <a:fillRect/>
          </a:stretch>
        </p:blipFill>
        <p:spPr>
          <a:xfrm flipH="1">
            <a:off x="0" y="0"/>
            <a:ext cx="6858000" cy="9906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D19CB61-6377-F749-A2DA-FB35296281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2369" y="1520650"/>
            <a:ext cx="4733263" cy="509586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E853601-3DC7-6CC4-60EF-A1437D6D1669}"/>
              </a:ext>
            </a:extLst>
          </p:cNvPr>
          <p:cNvGrpSpPr/>
          <p:nvPr/>
        </p:nvGrpSpPr>
        <p:grpSpPr>
          <a:xfrm>
            <a:off x="-13892651" y="3345569"/>
            <a:ext cx="22791930" cy="7093284"/>
            <a:chOff x="-62630" y="3261055"/>
            <a:chExt cx="12291315" cy="3825292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29898B0-964D-AE4F-D1FC-754EE6FF42B8}"/>
                </a:ext>
              </a:extLst>
            </p:cNvPr>
            <p:cNvSpPr/>
            <p:nvPr/>
          </p:nvSpPr>
          <p:spPr>
            <a:xfrm flipV="1">
              <a:off x="-62630" y="5210522"/>
              <a:ext cx="12254630" cy="200722"/>
            </a:xfrm>
            <a:custGeom>
              <a:avLst/>
              <a:gdLst>
                <a:gd name="connsiteX0" fmla="*/ 0 w 12225403"/>
                <a:gd name="connsiteY0" fmla="*/ 0 h 0"/>
                <a:gd name="connsiteX1" fmla="*/ 12225403 w 12225403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25403">
                  <a:moveTo>
                    <a:pt x="0" y="0"/>
                  </a:moveTo>
                  <a:lnTo>
                    <a:pt x="12225403" y="0"/>
                  </a:lnTo>
                </a:path>
              </a:pathLst>
            </a:custGeom>
            <a:noFill/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B203CBC-60C4-9A6C-D17A-1543A28B3353}"/>
                </a:ext>
              </a:extLst>
            </p:cNvPr>
            <p:cNvSpPr/>
            <p:nvPr/>
          </p:nvSpPr>
          <p:spPr>
            <a:xfrm>
              <a:off x="7240261" y="3261055"/>
              <a:ext cx="4988424" cy="3825292"/>
            </a:xfrm>
            <a:custGeom>
              <a:avLst/>
              <a:gdLst>
                <a:gd name="connsiteX0" fmla="*/ 0 w 5087815"/>
                <a:gd name="connsiteY0" fmla="*/ 3845169 h 3845169"/>
                <a:gd name="connsiteX1" fmla="*/ 5087815 w 5087815"/>
                <a:gd name="connsiteY1" fmla="*/ 0 h 3845169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25292 h 3825292"/>
                <a:gd name="connsiteX1" fmla="*/ 4988424 w 4988424"/>
                <a:gd name="connsiteY1" fmla="*/ 0 h 382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88424" h="3825292">
                  <a:moveTo>
                    <a:pt x="0" y="3825292"/>
                  </a:moveTo>
                  <a:cubicBezTo>
                    <a:pt x="1384087" y="1839675"/>
                    <a:pt x="2310976" y="251621"/>
                    <a:pt x="4988424" y="0"/>
                  </a:cubicBezTo>
                </a:path>
              </a:pathLst>
            </a:custGeom>
            <a:noFill/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</p:grpSp>
      <p:pic>
        <p:nvPicPr>
          <p:cNvPr id="10" name="Picture 8">
            <a:extLst>
              <a:ext uri="{FF2B5EF4-FFF2-40B4-BE49-F238E27FC236}">
                <a16:creationId xmlns:a16="http://schemas.microsoft.com/office/drawing/2014/main" id="{78FCB047-CDAA-4778-E685-943FE37AB7E9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8117" t="-23966" r="-8117" b="-23966"/>
          <a:stretch/>
        </p:blipFill>
        <p:spPr>
          <a:xfrm>
            <a:off x="2709666" y="8061862"/>
            <a:ext cx="1438668" cy="62300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EDD7AE2-8667-BE81-AA30-588368E29C9A}"/>
              </a:ext>
            </a:extLst>
          </p:cNvPr>
          <p:cNvSpPr txBox="1"/>
          <p:nvPr/>
        </p:nvSpPr>
        <p:spPr>
          <a:xfrm>
            <a:off x="2371659" y="2303578"/>
            <a:ext cx="24529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>
                <a:solidFill>
                  <a:schemeClr val="bg1"/>
                </a:solidFill>
                <a:latin typeface="Versos Light" panose="020B0403020204030204" pitchFamily="34" charset="0"/>
              </a:rPr>
              <a:t>Setembro de 2026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44EC30-5FED-E14B-2AAF-49BE63F425EF}"/>
              </a:ext>
            </a:extLst>
          </p:cNvPr>
          <p:cNvSpPr txBox="1"/>
          <p:nvPr/>
        </p:nvSpPr>
        <p:spPr>
          <a:xfrm>
            <a:off x="2536127" y="9624649"/>
            <a:ext cx="178574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Versos Light" panose="020B0403020204030204" pitchFamily="34" charset="0"/>
              </a:rPr>
              <a:t>MATERIAL DE USO INTERNO</a:t>
            </a:r>
          </a:p>
        </p:txBody>
      </p:sp>
    </p:spTree>
    <p:extLst>
      <p:ext uri="{BB962C8B-B14F-4D97-AF65-F5344CB8AC3E}">
        <p14:creationId xmlns:p14="http://schemas.microsoft.com/office/powerpoint/2010/main" val="1891738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6ED797C1-536B-FB13-D516-893D6DD50F4E}"/>
              </a:ext>
            </a:extLst>
          </p:cNvPr>
          <p:cNvSpPr txBox="1"/>
          <p:nvPr/>
        </p:nvSpPr>
        <p:spPr>
          <a:xfrm>
            <a:off x="790261" y="1734262"/>
            <a:ext cx="5228401" cy="5755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just"/>
            <a:r>
              <a:rPr lang="pt-BR" sz="902" b="0">
                <a:latin typeface="Versos" panose="020B0503020204030204" pitchFamily="34" charset="0"/>
              </a:rPr>
              <a:t>Mercado de crédito marcado por </a:t>
            </a:r>
            <a:r>
              <a:rPr lang="pt-BR" sz="902" b="1">
                <a:latin typeface="Versos" panose="020B0503020204030204" pitchFamily="34" charset="0"/>
              </a:rPr>
              <a:t>reabertura dos spreads e liquidez reduzida no secundário,</a:t>
            </a:r>
            <a:r>
              <a:rPr lang="pt-BR" sz="902" b="0">
                <a:latin typeface="Versos" panose="020B0503020204030204" pitchFamily="34" charset="0"/>
              </a:rPr>
              <a:t> interrompendo parcialmente o movimento de compressão observado nos últimos meses.</a:t>
            </a:r>
          </a:p>
          <a:p>
            <a:pPr lvl="0" algn="just"/>
            <a:r>
              <a:rPr lang="pt-BR" sz="902">
                <a:latin typeface="Versos" panose="020B0503020204030204" pitchFamily="34" charset="0"/>
              </a:rPr>
              <a:t> </a:t>
            </a:r>
          </a:p>
          <a:p>
            <a:pPr lvl="0" algn="just"/>
            <a:r>
              <a:rPr lang="pt-BR" sz="902" b="0">
                <a:latin typeface="Versos" panose="020B0503020204030204" pitchFamily="34" charset="0"/>
              </a:rPr>
              <a:t>Os spreads médios dos títulos corporativos indexados ao CDI avançaram cerca de </a:t>
            </a:r>
            <a:r>
              <a:rPr lang="pt-BR" sz="902" b="1">
                <a:latin typeface="Versos" panose="020B0503020204030204" pitchFamily="34" charset="0"/>
              </a:rPr>
              <a:t>5 bps</a:t>
            </a:r>
            <a:r>
              <a:rPr lang="pt-BR" sz="902" b="0">
                <a:latin typeface="Versos" panose="020B0503020204030204" pitchFamily="34" charset="0"/>
              </a:rPr>
              <a:t>, passando de </a:t>
            </a:r>
            <a:r>
              <a:rPr lang="pt-BR" sz="902" b="1">
                <a:latin typeface="Versos" panose="020B0503020204030204" pitchFamily="34" charset="0"/>
              </a:rPr>
              <a:t>CDI + 1,23% para CDI + 1,28% ao ano.</a:t>
            </a:r>
          </a:p>
          <a:p>
            <a:pPr lvl="0" algn="just"/>
            <a:r>
              <a:rPr lang="pt-BR" sz="902">
                <a:latin typeface="Versos" panose="020B0503020204030204" pitchFamily="34" charset="0"/>
              </a:rPr>
              <a:t> </a:t>
            </a:r>
          </a:p>
          <a:p>
            <a:pPr lvl="0" algn="just"/>
            <a:r>
              <a:rPr lang="pt-BR" sz="902" b="0">
                <a:latin typeface="Versos" panose="020B0503020204030204" pitchFamily="34" charset="0"/>
              </a:rPr>
              <a:t>No secundário, a </a:t>
            </a:r>
            <a:r>
              <a:rPr lang="pt-BR" sz="902" b="1">
                <a:latin typeface="Versos" panose="020B0503020204030204" pitchFamily="34" charset="0"/>
              </a:rPr>
              <a:t>liquidez permaneceu limitada,</a:t>
            </a:r>
            <a:r>
              <a:rPr lang="pt-BR" sz="902" b="0">
                <a:latin typeface="Versos" panose="020B0503020204030204" pitchFamily="34" charset="0"/>
              </a:rPr>
              <a:t> especialmente em ativos corporativos, resultando em uma formação de preços mais seletiva.</a:t>
            </a:r>
          </a:p>
          <a:p>
            <a:pPr lvl="0" algn="just"/>
            <a:r>
              <a:rPr lang="pt-BR" sz="902">
                <a:latin typeface="Versos" panose="020B0503020204030204" pitchFamily="34" charset="0"/>
              </a:rPr>
              <a:t> </a:t>
            </a:r>
          </a:p>
          <a:p>
            <a:pPr lvl="0" algn="just"/>
            <a:r>
              <a:rPr lang="pt-BR" sz="902" b="0">
                <a:latin typeface="Versos" panose="020B0503020204030204" pitchFamily="34" charset="0"/>
              </a:rPr>
              <a:t>No primário, as </a:t>
            </a:r>
            <a:r>
              <a:rPr lang="pt-BR" sz="902" b="1">
                <a:latin typeface="Versos" panose="020B0503020204030204" pitchFamily="34" charset="0"/>
              </a:rPr>
              <a:t>emissões bancárias seguiram registrando demanda consistente,</a:t>
            </a:r>
            <a:r>
              <a:rPr lang="pt-BR" sz="902" b="0">
                <a:latin typeface="Versos" panose="020B0503020204030204" pitchFamily="34" charset="0"/>
              </a:rPr>
              <a:t> embora com menor intensidade em comparação aos meses anteriores.</a:t>
            </a:r>
          </a:p>
          <a:p>
            <a:pPr lvl="0" algn="just"/>
            <a:r>
              <a:rPr lang="pt-BR" sz="902">
                <a:latin typeface="Versos" panose="020B0503020204030204" pitchFamily="34" charset="0"/>
              </a:rPr>
              <a:t> </a:t>
            </a:r>
          </a:p>
          <a:p>
            <a:pPr lvl="0" algn="just"/>
            <a:r>
              <a:rPr lang="pt-BR" sz="902" b="0">
                <a:latin typeface="Versos" panose="020B0503020204030204" pitchFamily="34" charset="0"/>
              </a:rPr>
              <a:t>O </a:t>
            </a:r>
            <a:r>
              <a:rPr lang="pt-BR" sz="902" b="1">
                <a:latin typeface="Versos" panose="020B0503020204030204" pitchFamily="34" charset="0"/>
              </a:rPr>
              <a:t>pipeline de emissões corporativas permaneceu restrito,</a:t>
            </a:r>
            <a:r>
              <a:rPr lang="pt-BR" sz="902" b="0">
                <a:latin typeface="Versos" panose="020B0503020204030204" pitchFamily="34" charset="0"/>
              </a:rPr>
              <a:t> mantendo a oferta de novos ativos em níveis reduzidos.</a:t>
            </a:r>
          </a:p>
          <a:p>
            <a:pPr lvl="0" algn="just"/>
            <a:r>
              <a:rPr lang="pt-BR" sz="902">
                <a:latin typeface="Versos" panose="020B0503020204030204" pitchFamily="34" charset="0"/>
              </a:rPr>
              <a:t> </a:t>
            </a:r>
          </a:p>
          <a:p>
            <a:pPr lvl="0" algn="just"/>
            <a:r>
              <a:rPr lang="pt-BR" sz="902" b="0">
                <a:latin typeface="Versos" panose="020B0503020204030204" pitchFamily="34" charset="0"/>
              </a:rPr>
              <a:t>Fundos com alocação mínima de 15% em crédito e ao menos 1% em debêntures registraram </a:t>
            </a:r>
            <a:r>
              <a:rPr lang="pt-BR" sz="902" b="1">
                <a:latin typeface="Versos" panose="020B0503020204030204" pitchFamily="34" charset="0"/>
              </a:rPr>
              <a:t>resgates líquidos próximos de R$ 10 bilhões</a:t>
            </a:r>
            <a:r>
              <a:rPr lang="pt-BR" sz="902" b="0">
                <a:latin typeface="Versos" panose="020B0503020204030204" pitchFamily="34" charset="0"/>
              </a:rPr>
              <a:t> no período. Esse movimento contribuiu para a reabertura dos spreads e para uma </a:t>
            </a:r>
            <a:r>
              <a:rPr lang="pt-BR" sz="902" b="1">
                <a:latin typeface="Versos" panose="020B0503020204030204" pitchFamily="34" charset="0"/>
              </a:rPr>
              <a:t>piora da dinâmica técnica da classe.</a:t>
            </a:r>
          </a:p>
          <a:p>
            <a:pPr lvl="0" algn="just"/>
            <a:r>
              <a:rPr lang="pt-BR" sz="902">
                <a:latin typeface="Versos" panose="020B0503020204030204" pitchFamily="34" charset="0"/>
              </a:rPr>
              <a:t> </a:t>
            </a:r>
          </a:p>
          <a:p>
            <a:pPr lvl="0" algn="just"/>
            <a:r>
              <a:rPr lang="pt-BR" sz="902" b="0">
                <a:latin typeface="Versos" panose="020B0503020204030204" pitchFamily="34" charset="0"/>
              </a:rPr>
              <a:t>Apesar desse cenário, os </a:t>
            </a:r>
            <a:r>
              <a:rPr lang="pt-BR" sz="902" b="1">
                <a:latin typeface="Versos" panose="020B0503020204030204" pitchFamily="34" charset="0"/>
              </a:rPr>
              <a:t>fundamentos corporativos permanecem resilientes</a:t>
            </a:r>
            <a:r>
              <a:rPr lang="pt-BR" sz="902" b="0">
                <a:latin typeface="Versos" panose="020B0503020204030204" pitchFamily="34" charset="0"/>
              </a:rPr>
              <a:t> e os níveis de inadimplência seguem controlados.</a:t>
            </a:r>
          </a:p>
          <a:p>
            <a:pPr lvl="0" algn="just"/>
            <a:r>
              <a:rPr lang="pt-BR" sz="902">
                <a:latin typeface="Versos" panose="020B0503020204030204" pitchFamily="34" charset="0"/>
              </a:rPr>
              <a:t> </a:t>
            </a:r>
          </a:p>
          <a:p>
            <a:pPr lvl="0" algn="just"/>
            <a:r>
              <a:rPr lang="pt-BR" sz="902" b="1">
                <a:latin typeface="Versos" panose="020B0503020204030204" pitchFamily="34" charset="0"/>
              </a:rPr>
              <a:t>Destaques da atuação da gestão em setembro</a:t>
            </a:r>
          </a:p>
          <a:p>
            <a:pPr lvl="0" algn="just"/>
            <a:r>
              <a:rPr lang="pt-BR" sz="902">
                <a:latin typeface="Versos" panose="020B0503020204030204" pitchFamily="34" charset="0"/>
              </a:rPr>
              <a:t> </a:t>
            </a:r>
          </a:p>
          <a:p>
            <a:pPr lvl="0" algn="just"/>
            <a:r>
              <a:rPr lang="pt-BR" sz="902" b="0">
                <a:latin typeface="Versos" panose="020B0503020204030204" pitchFamily="34" charset="0"/>
              </a:rPr>
              <a:t>O </a:t>
            </a:r>
            <a:r>
              <a:rPr lang="pt-BR" sz="902" b="1">
                <a:latin typeface="Versos" panose="020B0503020204030204" pitchFamily="34" charset="0"/>
              </a:rPr>
              <a:t>Tivio HGD30 apresentou rentabilidade de 1,04% no mês (96% do CDI), acumulando 14,01% (97% do CDI) em 12 meses.</a:t>
            </a:r>
          </a:p>
          <a:p>
            <a:pPr lvl="0" algn="just"/>
            <a:r>
              <a:rPr lang="pt-BR" sz="902">
                <a:latin typeface="Versos" panose="020B0503020204030204" pitchFamily="34" charset="0"/>
              </a:rPr>
              <a:t> </a:t>
            </a:r>
          </a:p>
          <a:p>
            <a:pPr lvl="0" algn="just"/>
            <a:r>
              <a:rPr lang="pt-BR" sz="902" b="0">
                <a:latin typeface="Versos" panose="020B0503020204030204" pitchFamily="34" charset="0"/>
              </a:rPr>
              <a:t>A </a:t>
            </a:r>
            <a:r>
              <a:rPr lang="pt-BR" sz="902" b="1">
                <a:latin typeface="Versos" panose="020B0503020204030204" pitchFamily="34" charset="0"/>
              </a:rPr>
              <a:t>carteira de títulos bancários foi a principal responsável pelo resultado</a:t>
            </a:r>
            <a:r>
              <a:rPr lang="pt-BR" sz="902" b="0">
                <a:latin typeface="Versos" panose="020B0503020204030204" pitchFamily="34" charset="0"/>
              </a:rPr>
              <a:t> do período, contribuindo com aproximadamente </a:t>
            </a:r>
            <a:r>
              <a:rPr lang="pt-BR" sz="902" b="1">
                <a:latin typeface="Versos" panose="020B0503020204030204" pitchFamily="34" charset="0"/>
              </a:rPr>
              <a:t>3 bps de alfa,</a:t>
            </a:r>
            <a:r>
              <a:rPr lang="pt-BR" sz="902" b="0">
                <a:latin typeface="Versos" panose="020B0503020204030204" pitchFamily="34" charset="0"/>
              </a:rPr>
              <a:t> com destaque para a parcela de </a:t>
            </a:r>
            <a:r>
              <a:rPr lang="pt-BR" sz="902" b="1">
                <a:latin typeface="Versos" panose="020B0503020204030204" pitchFamily="34" charset="0"/>
              </a:rPr>
              <a:t>LFs perpétuas</a:t>
            </a:r>
            <a:r>
              <a:rPr lang="pt-BR" sz="902" b="0">
                <a:latin typeface="Versos" panose="020B0503020204030204" pitchFamily="34" charset="0"/>
              </a:rPr>
              <a:t>.</a:t>
            </a:r>
          </a:p>
          <a:p>
            <a:pPr lvl="0" algn="just"/>
            <a:r>
              <a:rPr lang="pt-BR" sz="902">
                <a:latin typeface="Versos" panose="020B0503020204030204" pitchFamily="34" charset="0"/>
              </a:rPr>
              <a:t> </a:t>
            </a:r>
          </a:p>
          <a:p>
            <a:pPr lvl="0" algn="just"/>
            <a:r>
              <a:rPr lang="pt-BR" sz="902" b="0">
                <a:latin typeface="Versos" panose="020B0503020204030204" pitchFamily="34" charset="0"/>
              </a:rPr>
              <a:t>A </a:t>
            </a:r>
            <a:r>
              <a:rPr lang="pt-BR" sz="902" b="1">
                <a:latin typeface="Versos" panose="020B0503020204030204" pitchFamily="34" charset="0"/>
              </a:rPr>
              <a:t>carteira de debêntures foi a principal detratora de performance,</a:t>
            </a:r>
            <a:r>
              <a:rPr lang="pt-BR" sz="902" b="0">
                <a:latin typeface="Versos" panose="020B0503020204030204" pitchFamily="34" charset="0"/>
              </a:rPr>
              <a:t> com impacto negativo de cerca de </a:t>
            </a:r>
            <a:r>
              <a:rPr lang="pt-BR" sz="902" b="1">
                <a:latin typeface="Versos" panose="020B0503020204030204" pitchFamily="34" charset="0"/>
              </a:rPr>
              <a:t>1,3 bps de alfa.</a:t>
            </a:r>
          </a:p>
          <a:p>
            <a:pPr lvl="0" algn="just"/>
            <a:r>
              <a:rPr lang="pt-BR" sz="902">
                <a:latin typeface="Versos" panose="020B0503020204030204" pitchFamily="34" charset="0"/>
              </a:rPr>
              <a:t> </a:t>
            </a:r>
          </a:p>
          <a:p>
            <a:pPr lvl="0" algn="just"/>
            <a:r>
              <a:rPr lang="pt-BR" sz="902" b="0">
                <a:latin typeface="Versos" panose="020B0503020204030204" pitchFamily="34" charset="0"/>
              </a:rPr>
              <a:t>Dentro dessa classe, os papéis de </a:t>
            </a:r>
            <a:r>
              <a:rPr lang="pt-BR" sz="902" b="1">
                <a:latin typeface="Versos" panose="020B0503020204030204" pitchFamily="34" charset="0"/>
              </a:rPr>
              <a:t>Tupy e Randon</a:t>
            </a:r>
            <a:r>
              <a:rPr lang="pt-BR" sz="902" b="0">
                <a:latin typeface="Versos" panose="020B0503020204030204" pitchFamily="34" charset="0"/>
              </a:rPr>
              <a:t> foram os destaques positivos, adicionando conjuntamente </a:t>
            </a:r>
            <a:r>
              <a:rPr lang="pt-BR" sz="902" b="1">
                <a:latin typeface="Versos" panose="020B0503020204030204" pitchFamily="34" charset="0"/>
              </a:rPr>
              <a:t>2,3 bps de rentabilidade acima do CDI.</a:t>
            </a:r>
            <a:r>
              <a:rPr lang="pt-BR" sz="902" b="0">
                <a:latin typeface="Versos" panose="020B0503020204030204" pitchFamily="34" charset="0"/>
              </a:rPr>
              <a:t> Em contrapartida, </a:t>
            </a:r>
            <a:r>
              <a:rPr lang="pt-BR" sz="902" b="1">
                <a:latin typeface="Versos" panose="020B0503020204030204" pitchFamily="34" charset="0"/>
              </a:rPr>
              <a:t>Hapvida e Sendas</a:t>
            </a:r>
            <a:r>
              <a:rPr lang="pt-BR" sz="902" b="0">
                <a:latin typeface="Versos" panose="020B0503020204030204" pitchFamily="34" charset="0"/>
              </a:rPr>
              <a:t> foram os principais detratores do mês, com contribuição combinada de aproximadamente </a:t>
            </a:r>
            <a:r>
              <a:rPr lang="pt-BR" sz="902" b="1">
                <a:latin typeface="Versos" panose="020B0503020204030204" pitchFamily="34" charset="0"/>
              </a:rPr>
              <a:t>2,5 bps abaixo do CDI.</a:t>
            </a:r>
          </a:p>
          <a:p>
            <a:pPr lvl="0" algn="just"/>
            <a:r>
              <a:rPr lang="pt-BR" sz="902">
                <a:latin typeface="Versos" panose="020B0503020204030204" pitchFamily="34" charset="0"/>
              </a:rPr>
              <a:t> </a:t>
            </a:r>
          </a:p>
          <a:p>
            <a:pPr lvl="0" algn="just"/>
            <a:r>
              <a:rPr lang="pt-BR" sz="902" b="0">
                <a:latin typeface="Versos" panose="020B0503020204030204" pitchFamily="34" charset="0"/>
              </a:rPr>
              <a:t>A gestão manteve uma </a:t>
            </a:r>
            <a:r>
              <a:rPr lang="pt-BR" sz="902" b="1">
                <a:latin typeface="Versos" panose="020B0503020204030204" pitchFamily="34" charset="0"/>
              </a:rPr>
              <a:t>postura disciplinada e seletiva na alocação dos recursos,</a:t>
            </a:r>
            <a:r>
              <a:rPr lang="pt-BR" sz="902" b="0">
                <a:latin typeface="Versos" panose="020B0503020204030204" pitchFamily="34" charset="0"/>
              </a:rPr>
              <a:t> buscando capturar oportunidades geradas pela recente abertura dos spreads sem abrir mão da qualidade de crédito das carteiras.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CEE74B-AF3F-6AA9-CF50-44142EBA11D7}"/>
              </a:ext>
            </a:extLst>
          </p:cNvPr>
          <p:cNvSpPr txBox="1"/>
          <p:nvPr/>
        </p:nvSpPr>
        <p:spPr>
          <a:xfrm>
            <a:off x="784115" y="1343649"/>
            <a:ext cx="206787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>
                <a:solidFill>
                  <a:srgbClr val="000000"/>
                </a:solidFill>
                <a:latin typeface="Versos" panose="020B0503020204030204" pitchFamily="34" charset="0"/>
              </a:rPr>
              <a:t>Setembro</a:t>
            </a: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 de 2026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BBA6F3A-3937-8118-2A2C-67F365777B13}"/>
              </a:ext>
            </a:extLst>
          </p:cNvPr>
          <p:cNvSpPr txBox="1"/>
          <p:nvPr/>
        </p:nvSpPr>
        <p:spPr>
          <a:xfrm>
            <a:off x="2536127" y="9624649"/>
            <a:ext cx="178574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Versos Light" panose="020B0403020204030204" pitchFamily="34" charset="0"/>
              </a:rPr>
              <a:t>MATERIAL DE USO INTERNO</a:t>
            </a:r>
          </a:p>
        </p:txBody>
      </p:sp>
    </p:spTree>
    <p:extLst>
      <p:ext uri="{BB962C8B-B14F-4D97-AF65-F5344CB8AC3E}">
        <p14:creationId xmlns:p14="http://schemas.microsoft.com/office/powerpoint/2010/main" val="2724459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EA7151-0EB9-C42F-F74E-0920A33F1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2C04A9AC-4F5C-E545-ABA8-D655142D9A4B}"/>
              </a:ext>
            </a:extLst>
          </p:cNvPr>
          <p:cNvSpPr/>
          <p:nvPr/>
        </p:nvSpPr>
        <p:spPr>
          <a:xfrm>
            <a:off x="193376" y="404099"/>
            <a:ext cx="6545179" cy="9649327"/>
          </a:xfrm>
          <a:prstGeom prst="round2SameRect">
            <a:avLst>
              <a:gd name="adj1" fmla="val 2696"/>
              <a:gd name="adj2" fmla="val 0"/>
            </a:avLst>
          </a:prstGeom>
          <a:gradFill>
            <a:gsLst>
              <a:gs pos="0">
                <a:srgbClr val="293A42"/>
              </a:gs>
              <a:gs pos="56000">
                <a:schemeClr val="tx1">
                  <a:lumMod val="95000"/>
                  <a:lumOff val="5000"/>
                </a:schemeClr>
              </a:gs>
            </a:gsLst>
            <a:lin ang="5400000" scaled="1"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object 13">
            <a:extLst>
              <a:ext uri="{FF2B5EF4-FFF2-40B4-BE49-F238E27FC236}">
                <a16:creationId xmlns:a16="http://schemas.microsoft.com/office/drawing/2014/main" id="{1DF4A519-7E23-056B-75F0-6192B2701D79}"/>
              </a:ext>
            </a:extLst>
          </p:cNvPr>
          <p:cNvSpPr txBox="1">
            <a:spLocks/>
          </p:cNvSpPr>
          <p:nvPr/>
        </p:nvSpPr>
        <p:spPr>
          <a:xfrm>
            <a:off x="405825" y="2147637"/>
            <a:ext cx="6130568" cy="255031"/>
          </a:xfrm>
          <a:prstGeom prst="rect">
            <a:avLst/>
          </a:prstGeom>
        </p:spPr>
        <p:txBody>
          <a:bodyPr vert="horz" wrap="square" lIns="0" tIns="39205" rIns="0" bIns="0" rtlCol="0" anchor="t">
            <a:spAutoFit/>
          </a:bodyPr>
          <a:lstStyle>
            <a:lvl1pPr>
              <a:defRPr sz="4550" b="1" i="0">
                <a:solidFill>
                  <a:srgbClr val="1E271F"/>
                </a:solidFill>
                <a:latin typeface="Versos"/>
                <a:ea typeface="+mj-ea"/>
                <a:cs typeface="Versos"/>
              </a:defRPr>
            </a:lvl1pPr>
          </a:lstStyle>
          <a:p>
            <a:pPr defTabSz="311902">
              <a:defRPr/>
            </a:pPr>
            <a:r>
              <a:rPr lang="pt-BR" sz="1400" kern="0">
                <a:solidFill>
                  <a:prstClr val="white"/>
                </a:solidFill>
                <a:sym typeface="Arial"/>
              </a:rPr>
              <a:t>/</a:t>
            </a:r>
            <a:r>
              <a:rPr lang="pt-BR" sz="1400" kern="0">
                <a:sym typeface="Arial"/>
              </a:rPr>
              <a:t> </a:t>
            </a:r>
            <a:r>
              <a:rPr lang="pt-BR" sz="1400" kern="0">
                <a:solidFill>
                  <a:prstClr val="white"/>
                </a:solidFill>
                <a:sym typeface="Arial"/>
              </a:rPr>
              <a:t>/</a:t>
            </a:r>
            <a:r>
              <a:rPr lang="pt-BR" sz="1400" kern="0">
                <a:sym typeface="Arial"/>
              </a:rPr>
              <a:t> </a:t>
            </a:r>
            <a:r>
              <a:rPr lang="pt-BR" sz="1400" kern="0">
                <a:solidFill>
                  <a:prstClr val="white"/>
                </a:solidFill>
                <a:sym typeface="Arial"/>
              </a:rPr>
              <a:t>BRADESCO TIVIO HGD30 PGBL/VGBL RF CRÉDITO PRIVADO</a:t>
            </a:r>
            <a:endParaRPr lang="pt-BR" sz="1400" b="0" kern="0">
              <a:solidFill>
                <a:prstClr val="white"/>
              </a:solidFill>
              <a:latin typeface="Versos-Light"/>
              <a:cs typeface="Versos-Light"/>
              <a:sym typeface="Arial"/>
            </a:endParaRPr>
          </a:p>
        </p:txBody>
      </p:sp>
      <p:sp>
        <p:nvSpPr>
          <p:cNvPr id="20" name="object 2">
            <a:extLst>
              <a:ext uri="{FF2B5EF4-FFF2-40B4-BE49-F238E27FC236}">
                <a16:creationId xmlns:a16="http://schemas.microsoft.com/office/drawing/2014/main" id="{296F7F03-A96C-F5D7-6FBF-A49242EE0F36}"/>
              </a:ext>
            </a:extLst>
          </p:cNvPr>
          <p:cNvSpPr txBox="1"/>
          <p:nvPr/>
        </p:nvSpPr>
        <p:spPr>
          <a:xfrm>
            <a:off x="4548051" y="5799260"/>
            <a:ext cx="1846256" cy="558372"/>
          </a:xfrm>
          <a:prstGeom prst="rect">
            <a:avLst/>
          </a:prstGeom>
        </p:spPr>
        <p:txBody>
          <a:bodyPr vert="horz" wrap="square" lIns="0" tIns="4332" rIns="0" bIns="0" rtlCol="0" anchor="t">
            <a:spAutoFit/>
          </a:bodyPr>
          <a:lstStyle/>
          <a:p>
            <a:pPr marL="4332" defTabSz="311902">
              <a:spcBef>
                <a:spcPts val="36"/>
              </a:spcBef>
              <a:defRPr/>
            </a:pPr>
            <a:r>
              <a:rPr lang="pt-BR" sz="2400" b="1" kern="0">
                <a:solidFill>
                  <a:srgbClr val="FFFFFF"/>
                </a:solidFill>
                <a:latin typeface="Versos"/>
                <a:cs typeface="Arial"/>
                <a:sym typeface="Arial"/>
              </a:rPr>
              <a:t>Previdência </a:t>
            </a:r>
          </a:p>
          <a:p>
            <a:pPr defTabSz="311902">
              <a:spcBef>
                <a:spcPts val="34"/>
              </a:spcBef>
              <a:defRPr/>
            </a:pPr>
            <a:r>
              <a:rPr lang="pt-BR" sz="1200" kern="0">
                <a:solidFill>
                  <a:srgbClr val="F6F6F6"/>
                </a:solidFill>
                <a:latin typeface="Versos Light" panose="020B0403020204030204" pitchFamily="34" charset="0"/>
                <a:cs typeface="Arial"/>
                <a:sym typeface="Arial"/>
              </a:rPr>
              <a:t>(VGBL/PGBL)</a:t>
            </a:r>
          </a:p>
        </p:txBody>
      </p:sp>
      <p:sp>
        <p:nvSpPr>
          <p:cNvPr id="21" name="object 3">
            <a:extLst>
              <a:ext uri="{FF2B5EF4-FFF2-40B4-BE49-F238E27FC236}">
                <a16:creationId xmlns:a16="http://schemas.microsoft.com/office/drawing/2014/main" id="{F8618A8D-B125-ECAB-1339-3969C3200DDE}"/>
              </a:ext>
            </a:extLst>
          </p:cNvPr>
          <p:cNvSpPr txBox="1"/>
          <p:nvPr/>
        </p:nvSpPr>
        <p:spPr>
          <a:xfrm>
            <a:off x="3620322" y="6121547"/>
            <a:ext cx="684838" cy="373924"/>
          </a:xfrm>
          <a:prstGeom prst="rect">
            <a:avLst/>
          </a:prstGeom>
        </p:spPr>
        <p:txBody>
          <a:bodyPr vert="horz" wrap="square" lIns="0" tIns="4548" rIns="0" bIns="0" rtlCol="0">
            <a:spAutoFit/>
          </a:bodyPr>
          <a:lstStyle/>
          <a:p>
            <a:pPr marL="4332" defTabSz="311902">
              <a:spcBef>
                <a:spcPts val="36"/>
              </a:spcBef>
              <a:defRPr/>
            </a:pPr>
            <a:r>
              <a:rPr sz="2400" b="1" kern="0">
                <a:solidFill>
                  <a:srgbClr val="FFFFFF"/>
                </a:solidFill>
                <a:latin typeface="Versos"/>
                <a:cs typeface="Arial"/>
                <a:sym typeface="Arial"/>
              </a:rPr>
              <a:t>CDI</a:t>
            </a:r>
          </a:p>
        </p:txBody>
      </p:sp>
      <p:sp>
        <p:nvSpPr>
          <p:cNvPr id="22" name="object 4">
            <a:extLst>
              <a:ext uri="{FF2B5EF4-FFF2-40B4-BE49-F238E27FC236}">
                <a16:creationId xmlns:a16="http://schemas.microsoft.com/office/drawing/2014/main" id="{7FCBFB48-C671-CE87-C89C-CAA6129EE06B}"/>
              </a:ext>
            </a:extLst>
          </p:cNvPr>
          <p:cNvSpPr txBox="1"/>
          <p:nvPr/>
        </p:nvSpPr>
        <p:spPr>
          <a:xfrm>
            <a:off x="2698243" y="5559988"/>
            <a:ext cx="2195572" cy="312211"/>
          </a:xfrm>
          <a:prstGeom prst="rect">
            <a:avLst/>
          </a:prstGeom>
        </p:spPr>
        <p:txBody>
          <a:bodyPr vert="horz" wrap="square" lIns="0" tIns="34872" rIns="0" bIns="0" rtlCol="0" anchor="t">
            <a:spAutoFit/>
          </a:bodyPr>
          <a:lstStyle/>
          <a:p>
            <a:pPr defTabSz="311902">
              <a:spcBef>
                <a:spcPts val="275"/>
              </a:spcBef>
              <a:defRPr/>
            </a:pPr>
            <a:r>
              <a:rPr b="1" kern="0">
                <a:solidFill>
                  <a:srgbClr val="F6F6F6"/>
                </a:solidFill>
                <a:latin typeface="Versos"/>
                <a:cs typeface="Arial"/>
                <a:sym typeface="Arial"/>
              </a:rPr>
              <a:t>CDI +</a:t>
            </a:r>
            <a:r>
              <a:rPr lang="pt-BR" b="1" kern="0">
                <a:solidFill>
                  <a:srgbClr val="F6F6F6"/>
                </a:solidFill>
                <a:latin typeface="Versos"/>
                <a:cs typeface="Arial"/>
                <a:sym typeface="Arial"/>
              </a:rPr>
              <a:t>1 % </a:t>
            </a:r>
            <a:r>
              <a:rPr lang="en-US" b="1" kern="0" err="1">
                <a:solidFill>
                  <a:srgbClr val="F6F6F6"/>
                </a:solidFill>
                <a:latin typeface="Versos"/>
                <a:cs typeface="Arial"/>
                <a:sym typeface="Arial"/>
              </a:rPr>
              <a:t>a.a</a:t>
            </a:r>
            <a:r>
              <a:rPr lang="pt-BR" b="1" kern="0">
                <a:solidFill>
                  <a:srgbClr val="F6F6F6"/>
                </a:solidFill>
                <a:latin typeface="Versos"/>
                <a:cs typeface="Arial"/>
                <a:sym typeface="Arial"/>
              </a:rPr>
              <a:t>.</a:t>
            </a:r>
            <a:endParaRPr b="1" kern="0">
              <a:solidFill>
                <a:srgbClr val="F6F6F6"/>
              </a:solidFill>
              <a:latin typeface="Versos"/>
              <a:cs typeface="Arial"/>
              <a:sym typeface="Arial"/>
            </a:endParaRPr>
          </a:p>
        </p:txBody>
      </p:sp>
      <p:sp>
        <p:nvSpPr>
          <p:cNvPr id="23" name="object 5">
            <a:extLst>
              <a:ext uri="{FF2B5EF4-FFF2-40B4-BE49-F238E27FC236}">
                <a16:creationId xmlns:a16="http://schemas.microsoft.com/office/drawing/2014/main" id="{769E4618-C3C2-D69D-D3FF-7A6AB53CD4B5}"/>
              </a:ext>
            </a:extLst>
          </p:cNvPr>
          <p:cNvSpPr txBox="1"/>
          <p:nvPr/>
        </p:nvSpPr>
        <p:spPr>
          <a:xfrm>
            <a:off x="3128308" y="6721090"/>
            <a:ext cx="3291267" cy="466039"/>
          </a:xfrm>
          <a:prstGeom prst="rect">
            <a:avLst/>
          </a:prstGeom>
        </p:spPr>
        <p:txBody>
          <a:bodyPr vert="horz" wrap="square" lIns="0" tIns="4332" rIns="0" bIns="0" rtlCol="0" anchor="t">
            <a:spAutoFit/>
          </a:bodyPr>
          <a:lstStyle/>
          <a:p>
            <a:pPr marL="4286" algn="r" defTabSz="311902">
              <a:spcBef>
                <a:spcPts val="34"/>
              </a:spcBef>
              <a:defRPr/>
            </a:pPr>
            <a:r>
              <a:rPr sz="3000" b="1" kern="0">
                <a:solidFill>
                  <a:srgbClr val="FFFFFF"/>
                </a:solidFill>
                <a:latin typeface="Versos"/>
                <a:cs typeface="Arial"/>
                <a:sym typeface="Arial"/>
              </a:rPr>
              <a:t>R$ </a:t>
            </a:r>
            <a:r>
              <a:rPr lang="pt-BR" sz="3000" b="1" kern="0">
                <a:solidFill>
                  <a:srgbClr val="FFFFFF"/>
                </a:solidFill>
                <a:latin typeface="Versos"/>
                <a:cs typeface="Arial"/>
                <a:sym typeface="Arial"/>
              </a:rPr>
              <a:t>3,8 bilhões</a:t>
            </a:r>
            <a:endParaRPr lang="pt-BR" sz="3000" b="1" kern="0">
              <a:solidFill>
                <a:srgbClr val="FFFFFF"/>
              </a:solidFill>
              <a:latin typeface="Versos"/>
              <a:cs typeface="Arial"/>
            </a:endParaRPr>
          </a:p>
        </p:txBody>
      </p:sp>
      <p:sp>
        <p:nvSpPr>
          <p:cNvPr id="24" name="object 16">
            <a:extLst>
              <a:ext uri="{FF2B5EF4-FFF2-40B4-BE49-F238E27FC236}">
                <a16:creationId xmlns:a16="http://schemas.microsoft.com/office/drawing/2014/main" id="{1749835E-191D-7C2C-3DE5-BED95383CC68}"/>
              </a:ext>
            </a:extLst>
          </p:cNvPr>
          <p:cNvSpPr/>
          <p:nvPr/>
        </p:nvSpPr>
        <p:spPr>
          <a:xfrm>
            <a:off x="425570" y="3506826"/>
            <a:ext cx="2673888" cy="1414040"/>
          </a:xfrm>
          <a:prstGeom prst="roundRect">
            <a:avLst>
              <a:gd name="adj" fmla="val 5178"/>
            </a:avLst>
          </a:prstGeom>
          <a:solidFill>
            <a:schemeClr val="bg1"/>
          </a:solidFill>
        </p:spPr>
        <p:txBody>
          <a:bodyPr wrap="square" lIns="0" tIns="0" rIns="0" bIns="0" rtlCol="0"/>
          <a:lstStyle/>
          <a:p>
            <a:pPr defTabSz="311902">
              <a:defRPr/>
            </a:pPr>
            <a:endParaRPr sz="1200" kern="0">
              <a:solidFill>
                <a:sysClr val="windowText" lastClr="000000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sp>
        <p:nvSpPr>
          <p:cNvPr id="25" name="object 17">
            <a:extLst>
              <a:ext uri="{FF2B5EF4-FFF2-40B4-BE49-F238E27FC236}">
                <a16:creationId xmlns:a16="http://schemas.microsoft.com/office/drawing/2014/main" id="{F0F90EC0-4E6E-5ABD-0B1D-23783966AB1D}"/>
              </a:ext>
            </a:extLst>
          </p:cNvPr>
          <p:cNvSpPr/>
          <p:nvPr/>
        </p:nvSpPr>
        <p:spPr>
          <a:xfrm>
            <a:off x="4919947" y="3506826"/>
            <a:ext cx="1588231" cy="1414040"/>
          </a:xfrm>
          <a:prstGeom prst="roundRect">
            <a:avLst>
              <a:gd name="adj" fmla="val 5179"/>
            </a:avLst>
          </a:prstGeom>
          <a:solidFill>
            <a:schemeClr val="bg1"/>
          </a:solidFill>
        </p:spPr>
        <p:txBody>
          <a:bodyPr wrap="square" lIns="0" tIns="0" rIns="0" bIns="0" rtlCol="0"/>
          <a:lstStyle/>
          <a:p>
            <a:pPr defTabSz="311902">
              <a:defRPr/>
            </a:pPr>
            <a:endParaRPr sz="1200" kern="0">
              <a:solidFill>
                <a:sysClr val="windowText" lastClr="000000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sp>
        <p:nvSpPr>
          <p:cNvPr id="26" name="object 18">
            <a:extLst>
              <a:ext uri="{FF2B5EF4-FFF2-40B4-BE49-F238E27FC236}">
                <a16:creationId xmlns:a16="http://schemas.microsoft.com/office/drawing/2014/main" id="{5B9D0EF6-2C42-4BE4-A04E-78A8E848FA64}"/>
              </a:ext>
            </a:extLst>
          </p:cNvPr>
          <p:cNvSpPr/>
          <p:nvPr/>
        </p:nvSpPr>
        <p:spPr>
          <a:xfrm>
            <a:off x="3178244" y="3506826"/>
            <a:ext cx="1630148" cy="1414040"/>
          </a:xfrm>
          <a:prstGeom prst="roundRect">
            <a:avLst>
              <a:gd name="adj" fmla="val 4460"/>
            </a:avLst>
          </a:prstGeom>
          <a:solidFill>
            <a:schemeClr val="bg1"/>
          </a:solidFill>
        </p:spPr>
        <p:txBody>
          <a:bodyPr wrap="square" lIns="0" tIns="0" rIns="0" bIns="0" rtlCol="0"/>
          <a:lstStyle/>
          <a:p>
            <a:pPr defTabSz="311902">
              <a:defRPr/>
            </a:pPr>
            <a:endParaRPr sz="1200" kern="0">
              <a:solidFill>
                <a:sysClr val="windowText" lastClr="000000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sp>
        <p:nvSpPr>
          <p:cNvPr id="27" name="object 19">
            <a:extLst>
              <a:ext uri="{FF2B5EF4-FFF2-40B4-BE49-F238E27FC236}">
                <a16:creationId xmlns:a16="http://schemas.microsoft.com/office/drawing/2014/main" id="{C6D9ADFC-8E3E-C77F-B1F4-624C18830A9D}"/>
              </a:ext>
            </a:extLst>
          </p:cNvPr>
          <p:cNvSpPr/>
          <p:nvPr/>
        </p:nvSpPr>
        <p:spPr>
          <a:xfrm>
            <a:off x="2594343" y="6046916"/>
            <a:ext cx="1728634" cy="464231"/>
          </a:xfrm>
          <a:prstGeom prst="roundRect">
            <a:avLst>
              <a:gd name="adj" fmla="val 5731"/>
            </a:avLst>
          </a:prstGeom>
          <a:ln w="14837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defTabSz="311902">
              <a:defRPr/>
            </a:pPr>
            <a:endParaRPr sz="1200" kern="0">
              <a:solidFill>
                <a:sysClr val="windowText" lastClr="000000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sp>
        <p:nvSpPr>
          <p:cNvPr id="28" name="object 20">
            <a:extLst>
              <a:ext uri="{FF2B5EF4-FFF2-40B4-BE49-F238E27FC236}">
                <a16:creationId xmlns:a16="http://schemas.microsoft.com/office/drawing/2014/main" id="{DF8A22CF-53F7-4F4E-1878-443CDD93E766}"/>
              </a:ext>
            </a:extLst>
          </p:cNvPr>
          <p:cNvSpPr/>
          <p:nvPr/>
        </p:nvSpPr>
        <p:spPr>
          <a:xfrm>
            <a:off x="4411743" y="5100291"/>
            <a:ext cx="2096434" cy="1411039"/>
          </a:xfrm>
          <a:prstGeom prst="roundRect">
            <a:avLst>
              <a:gd name="adj" fmla="val 5874"/>
            </a:avLst>
          </a:prstGeom>
          <a:ln w="14837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defTabSz="311902">
              <a:defRPr/>
            </a:pPr>
            <a:endParaRPr sz="1200" kern="0">
              <a:solidFill>
                <a:sysClr val="windowText" lastClr="000000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sp>
        <p:nvSpPr>
          <p:cNvPr id="29" name="object 21">
            <a:extLst>
              <a:ext uri="{FF2B5EF4-FFF2-40B4-BE49-F238E27FC236}">
                <a16:creationId xmlns:a16="http://schemas.microsoft.com/office/drawing/2014/main" id="{30CE27A9-F991-6D78-8518-20B32BF7BCDF}"/>
              </a:ext>
            </a:extLst>
          </p:cNvPr>
          <p:cNvSpPr/>
          <p:nvPr/>
        </p:nvSpPr>
        <p:spPr>
          <a:xfrm>
            <a:off x="2591971" y="5097270"/>
            <a:ext cx="1713189" cy="887110"/>
          </a:xfrm>
          <a:prstGeom prst="roundRect">
            <a:avLst>
              <a:gd name="adj" fmla="val 6366"/>
            </a:avLst>
          </a:prstGeom>
          <a:ln w="14837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defTabSz="311902">
              <a:defRPr/>
            </a:pPr>
            <a:endParaRPr sz="1200" kern="0">
              <a:solidFill>
                <a:sysClr val="windowText" lastClr="000000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sp>
        <p:nvSpPr>
          <p:cNvPr id="30" name="object 22">
            <a:extLst>
              <a:ext uri="{FF2B5EF4-FFF2-40B4-BE49-F238E27FC236}">
                <a16:creationId xmlns:a16="http://schemas.microsoft.com/office/drawing/2014/main" id="{FC4B72E8-043E-6389-6762-C53927B61FB1}"/>
              </a:ext>
            </a:extLst>
          </p:cNvPr>
          <p:cNvSpPr/>
          <p:nvPr/>
        </p:nvSpPr>
        <p:spPr>
          <a:xfrm>
            <a:off x="425572" y="5097272"/>
            <a:ext cx="2032683" cy="1414040"/>
          </a:xfrm>
          <a:prstGeom prst="roundRect">
            <a:avLst>
              <a:gd name="adj" fmla="val 5897"/>
            </a:avLst>
          </a:prstGeom>
          <a:ln w="14837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defTabSz="311902">
              <a:defRPr/>
            </a:pPr>
            <a:endParaRPr sz="1200" kern="0">
              <a:solidFill>
                <a:sysClr val="windowText" lastClr="000000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sp>
        <p:nvSpPr>
          <p:cNvPr id="33" name="object 25">
            <a:extLst>
              <a:ext uri="{FF2B5EF4-FFF2-40B4-BE49-F238E27FC236}">
                <a16:creationId xmlns:a16="http://schemas.microsoft.com/office/drawing/2014/main" id="{2812A797-5D7C-2A09-5D74-2AE457D4202E}"/>
              </a:ext>
            </a:extLst>
          </p:cNvPr>
          <p:cNvSpPr/>
          <p:nvPr/>
        </p:nvSpPr>
        <p:spPr>
          <a:xfrm>
            <a:off x="425569" y="6650813"/>
            <a:ext cx="6082609" cy="639320"/>
          </a:xfrm>
          <a:prstGeom prst="roundRect">
            <a:avLst>
              <a:gd name="adj" fmla="val 11903"/>
            </a:avLst>
          </a:prstGeom>
          <a:ln w="14837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defTabSz="311902">
              <a:defRPr/>
            </a:pPr>
            <a:endParaRPr sz="1200" kern="0">
              <a:solidFill>
                <a:sysClr val="windowText" lastClr="000000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sp>
        <p:nvSpPr>
          <p:cNvPr id="37" name="object 29">
            <a:extLst>
              <a:ext uri="{FF2B5EF4-FFF2-40B4-BE49-F238E27FC236}">
                <a16:creationId xmlns:a16="http://schemas.microsoft.com/office/drawing/2014/main" id="{794A913B-8496-581E-4FB8-4701F93F2271}"/>
              </a:ext>
            </a:extLst>
          </p:cNvPr>
          <p:cNvSpPr txBox="1"/>
          <p:nvPr/>
        </p:nvSpPr>
        <p:spPr>
          <a:xfrm>
            <a:off x="561661" y="3876022"/>
            <a:ext cx="2537798" cy="927485"/>
          </a:xfrm>
          <a:prstGeom prst="rect">
            <a:avLst/>
          </a:prstGeom>
        </p:spPr>
        <p:txBody>
          <a:bodyPr vert="horz" wrap="square" lIns="0" tIns="4115" rIns="0" bIns="0" rtlCol="0" anchor="t">
            <a:spAutoFit/>
          </a:bodyPr>
          <a:lstStyle/>
          <a:p>
            <a:pPr marL="4332" marR="1733" defTabSz="311902">
              <a:lnSpc>
                <a:spcPct val="100499"/>
              </a:lnSpc>
              <a:spcBef>
                <a:spcPts val="33"/>
              </a:spcBef>
              <a:defRPr/>
            </a:pPr>
            <a:r>
              <a:rPr lang="pt-BR" sz="1200" kern="0">
                <a:solidFill>
                  <a:sysClr val="windowText" lastClr="000000"/>
                </a:solidFill>
                <a:latin typeface="Versos Light" panose="020B0403020204030204" pitchFamily="34" charset="0"/>
                <a:cs typeface="Arial"/>
                <a:sym typeface="Arial"/>
              </a:rPr>
              <a:t>Fundo de Previdência que investe em títulos de dívidas de empresas brasileiras e/ou instituições financeiras, com alocação </a:t>
            </a:r>
            <a:br>
              <a:rPr lang="pt-BR" sz="1200" kern="0">
                <a:solidFill>
                  <a:sysClr val="windowText" lastClr="000000"/>
                </a:solidFill>
                <a:latin typeface="Versos Light" panose="020B0403020204030204" pitchFamily="34" charset="0"/>
                <a:cs typeface="Arial"/>
                <a:sym typeface="Arial"/>
              </a:rPr>
            </a:br>
            <a:r>
              <a:rPr lang="pt-BR" sz="1200" kern="0">
                <a:solidFill>
                  <a:sysClr val="windowText" lastClr="000000"/>
                </a:solidFill>
                <a:latin typeface="Versos Light" panose="020B0403020204030204" pitchFamily="34" charset="0"/>
                <a:cs typeface="Arial"/>
                <a:sym typeface="Arial"/>
              </a:rPr>
              <a:t>também em crédito estruturado.</a:t>
            </a:r>
          </a:p>
        </p:txBody>
      </p:sp>
      <p:sp>
        <p:nvSpPr>
          <p:cNvPr id="42" name="object 34">
            <a:extLst>
              <a:ext uri="{FF2B5EF4-FFF2-40B4-BE49-F238E27FC236}">
                <a16:creationId xmlns:a16="http://schemas.microsoft.com/office/drawing/2014/main" id="{448C5D1A-8433-7A9B-2A0A-E5EF817177D2}"/>
              </a:ext>
            </a:extLst>
          </p:cNvPr>
          <p:cNvSpPr txBox="1"/>
          <p:nvPr/>
        </p:nvSpPr>
        <p:spPr>
          <a:xfrm>
            <a:off x="561659" y="3578847"/>
            <a:ext cx="2489651" cy="190790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marL="4332" defTabSz="311902">
              <a:spcBef>
                <a:spcPts val="48"/>
              </a:spcBef>
              <a:defRPr/>
            </a:pPr>
            <a:r>
              <a:rPr sz="1200" b="1" kern="0">
                <a:solidFill>
                  <a:sysClr val="windowText" lastClr="000000"/>
                </a:solidFill>
                <a:latin typeface="Versos" panose="020B0503020204030204" pitchFamily="34" charset="77"/>
                <a:cs typeface="Arial"/>
                <a:sym typeface="Arial"/>
              </a:rPr>
              <a:t>Política de Investimentos</a:t>
            </a:r>
            <a:endParaRPr sz="1200" kern="0">
              <a:solidFill>
                <a:sysClr val="windowText" lastClr="000000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sp>
        <p:nvSpPr>
          <p:cNvPr id="43" name="object 36">
            <a:extLst>
              <a:ext uri="{FF2B5EF4-FFF2-40B4-BE49-F238E27FC236}">
                <a16:creationId xmlns:a16="http://schemas.microsoft.com/office/drawing/2014/main" id="{361C2561-78F0-C910-AEE2-A46831634FF2}"/>
              </a:ext>
            </a:extLst>
          </p:cNvPr>
          <p:cNvSpPr/>
          <p:nvPr/>
        </p:nvSpPr>
        <p:spPr>
          <a:xfrm>
            <a:off x="561661" y="3767076"/>
            <a:ext cx="1977322" cy="0"/>
          </a:xfrm>
          <a:custGeom>
            <a:avLst/>
            <a:gdLst/>
            <a:ahLst/>
            <a:cxnLst/>
            <a:rect l="l" t="t" r="r" b="b"/>
            <a:pathLst>
              <a:path w="3764915">
                <a:moveTo>
                  <a:pt x="0" y="0"/>
                </a:moveTo>
                <a:lnTo>
                  <a:pt x="3764304" y="0"/>
                </a:lnTo>
              </a:path>
            </a:pathLst>
          </a:custGeom>
          <a:ln w="10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311902">
              <a:defRPr/>
            </a:pPr>
            <a:endParaRPr sz="1200" kern="0">
              <a:solidFill>
                <a:sysClr val="windowText" lastClr="000000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sp>
        <p:nvSpPr>
          <p:cNvPr id="52" name="object 45">
            <a:extLst>
              <a:ext uri="{FF2B5EF4-FFF2-40B4-BE49-F238E27FC236}">
                <a16:creationId xmlns:a16="http://schemas.microsoft.com/office/drawing/2014/main" id="{2752D91A-6733-DCD3-A0E2-F7219C155D00}"/>
              </a:ext>
            </a:extLst>
          </p:cNvPr>
          <p:cNvSpPr txBox="1"/>
          <p:nvPr/>
        </p:nvSpPr>
        <p:spPr>
          <a:xfrm>
            <a:off x="561661" y="5198637"/>
            <a:ext cx="1573120" cy="190790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marL="4332" defTabSz="311902">
              <a:spcBef>
                <a:spcPts val="48"/>
              </a:spcBef>
              <a:defRPr/>
            </a:pPr>
            <a:r>
              <a:rPr sz="1200" b="1" kern="0">
                <a:solidFill>
                  <a:prstClr val="white"/>
                </a:solidFill>
                <a:latin typeface="Versos" panose="020B0503020204030204" pitchFamily="34" charset="77"/>
                <a:cs typeface="Arial"/>
                <a:sym typeface="Arial"/>
              </a:rPr>
              <a:t>Forma de </a:t>
            </a:r>
            <a:r>
              <a:rPr lang="pt-BR" sz="1200" b="1" kern="0">
                <a:solidFill>
                  <a:prstClr val="white"/>
                </a:solidFill>
                <a:latin typeface="Versos" panose="020B0503020204030204" pitchFamily="34" charset="77"/>
                <a:cs typeface="Arial"/>
                <a:sym typeface="Arial"/>
              </a:rPr>
              <a:t>Aplicação</a:t>
            </a:r>
            <a:endParaRPr sz="1200" kern="0">
              <a:solidFill>
                <a:prstClr val="white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sp>
        <p:nvSpPr>
          <p:cNvPr id="53" name="object 46">
            <a:extLst>
              <a:ext uri="{FF2B5EF4-FFF2-40B4-BE49-F238E27FC236}">
                <a16:creationId xmlns:a16="http://schemas.microsoft.com/office/drawing/2014/main" id="{398A4BB4-7130-1769-7F0C-5C0516995363}"/>
              </a:ext>
            </a:extLst>
          </p:cNvPr>
          <p:cNvSpPr/>
          <p:nvPr/>
        </p:nvSpPr>
        <p:spPr>
          <a:xfrm>
            <a:off x="561661" y="5420873"/>
            <a:ext cx="1573120" cy="0"/>
          </a:xfrm>
          <a:custGeom>
            <a:avLst/>
            <a:gdLst/>
            <a:ahLst/>
            <a:cxnLst/>
            <a:rect l="l" t="t" r="r" b="b"/>
            <a:pathLst>
              <a:path w="2995295">
                <a:moveTo>
                  <a:pt x="0" y="0"/>
                </a:moveTo>
                <a:lnTo>
                  <a:pt x="2994819" y="0"/>
                </a:lnTo>
              </a:path>
            </a:pathLst>
          </a:custGeom>
          <a:ln w="14837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defTabSz="311902">
              <a:defRPr/>
            </a:pPr>
            <a:endParaRPr sz="1200" kern="0">
              <a:solidFill>
                <a:sysClr val="windowText" lastClr="000000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sp>
        <p:nvSpPr>
          <p:cNvPr id="54" name="object 47">
            <a:extLst>
              <a:ext uri="{FF2B5EF4-FFF2-40B4-BE49-F238E27FC236}">
                <a16:creationId xmlns:a16="http://schemas.microsoft.com/office/drawing/2014/main" id="{719B1E47-4DB0-BD65-9816-C1B12A6BC948}"/>
              </a:ext>
            </a:extLst>
          </p:cNvPr>
          <p:cNvSpPr txBox="1"/>
          <p:nvPr/>
        </p:nvSpPr>
        <p:spPr>
          <a:xfrm>
            <a:off x="561659" y="6778399"/>
            <a:ext cx="2026013" cy="190790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marL="4332" defTabSz="311902">
              <a:spcBef>
                <a:spcPts val="48"/>
              </a:spcBef>
              <a:defRPr/>
            </a:pPr>
            <a:r>
              <a:rPr lang="pt-BR" sz="1200" b="1" kern="0">
                <a:solidFill>
                  <a:prstClr val="white"/>
                </a:solidFill>
                <a:latin typeface="Versos" panose="020B0503020204030204" pitchFamily="34" charset="77"/>
                <a:cs typeface="Arial"/>
                <a:sym typeface="Arial"/>
              </a:rPr>
              <a:t>Patrimônio Líquido</a:t>
            </a:r>
            <a:endParaRPr sz="1200" kern="0">
              <a:solidFill>
                <a:prstClr val="white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sp>
        <p:nvSpPr>
          <p:cNvPr id="55" name="object 48">
            <a:extLst>
              <a:ext uri="{FF2B5EF4-FFF2-40B4-BE49-F238E27FC236}">
                <a16:creationId xmlns:a16="http://schemas.microsoft.com/office/drawing/2014/main" id="{86DBBE7E-5D0A-9CFF-9229-39A531D671B4}"/>
              </a:ext>
            </a:extLst>
          </p:cNvPr>
          <p:cNvSpPr/>
          <p:nvPr/>
        </p:nvSpPr>
        <p:spPr>
          <a:xfrm>
            <a:off x="561662" y="7010896"/>
            <a:ext cx="2026013" cy="130270"/>
          </a:xfrm>
          <a:custGeom>
            <a:avLst/>
            <a:gdLst/>
            <a:ahLst/>
            <a:cxnLst/>
            <a:rect l="l" t="t" r="r" b="b"/>
            <a:pathLst>
              <a:path w="2564129">
                <a:moveTo>
                  <a:pt x="0" y="0"/>
                </a:moveTo>
                <a:lnTo>
                  <a:pt x="2563607" y="0"/>
                </a:lnTo>
              </a:path>
            </a:pathLst>
          </a:custGeom>
          <a:ln w="14837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defTabSz="311902">
              <a:defRPr/>
            </a:pPr>
            <a:endParaRPr sz="1200" kern="0">
              <a:solidFill>
                <a:sysClr val="windowText" lastClr="000000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sp>
        <p:nvSpPr>
          <p:cNvPr id="60" name="object 53">
            <a:extLst>
              <a:ext uri="{FF2B5EF4-FFF2-40B4-BE49-F238E27FC236}">
                <a16:creationId xmlns:a16="http://schemas.microsoft.com/office/drawing/2014/main" id="{259216BA-4CE4-9177-C055-4EB3AC8BF975}"/>
              </a:ext>
            </a:extLst>
          </p:cNvPr>
          <p:cNvSpPr txBox="1"/>
          <p:nvPr/>
        </p:nvSpPr>
        <p:spPr>
          <a:xfrm>
            <a:off x="4548051" y="5198637"/>
            <a:ext cx="899703" cy="190790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marL="4332" defTabSz="311902">
              <a:spcBef>
                <a:spcPts val="48"/>
              </a:spcBef>
              <a:defRPr/>
            </a:pPr>
            <a:r>
              <a:rPr sz="1200" b="1" kern="0" err="1">
                <a:solidFill>
                  <a:prstClr val="white"/>
                </a:solidFill>
                <a:latin typeface="Versos" panose="020B0503020204030204" pitchFamily="34" charset="77"/>
                <a:cs typeface="Arial"/>
                <a:sym typeface="Arial"/>
              </a:rPr>
              <a:t>Veículo</a:t>
            </a:r>
            <a:endParaRPr sz="1200" kern="0">
              <a:solidFill>
                <a:prstClr val="white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sp>
        <p:nvSpPr>
          <p:cNvPr id="61" name="object 54">
            <a:extLst>
              <a:ext uri="{FF2B5EF4-FFF2-40B4-BE49-F238E27FC236}">
                <a16:creationId xmlns:a16="http://schemas.microsoft.com/office/drawing/2014/main" id="{3EFF8380-B3B3-ABDF-2F56-6A896D8F7D17}"/>
              </a:ext>
            </a:extLst>
          </p:cNvPr>
          <p:cNvSpPr/>
          <p:nvPr/>
        </p:nvSpPr>
        <p:spPr>
          <a:xfrm>
            <a:off x="4548051" y="5420873"/>
            <a:ext cx="1846256" cy="0"/>
          </a:xfrm>
          <a:custGeom>
            <a:avLst/>
            <a:gdLst/>
            <a:ahLst/>
            <a:cxnLst/>
            <a:rect l="l" t="t" r="r" b="b"/>
            <a:pathLst>
              <a:path w="3515359">
                <a:moveTo>
                  <a:pt x="0" y="0"/>
                </a:moveTo>
                <a:lnTo>
                  <a:pt x="3514971" y="0"/>
                </a:lnTo>
              </a:path>
            </a:pathLst>
          </a:custGeom>
          <a:ln w="14837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defTabSz="311902">
              <a:defRPr/>
            </a:pPr>
            <a:endParaRPr sz="1200" kern="0">
              <a:solidFill>
                <a:sysClr val="windowText" lastClr="000000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sp>
        <p:nvSpPr>
          <p:cNvPr id="62" name="object 55">
            <a:extLst>
              <a:ext uri="{FF2B5EF4-FFF2-40B4-BE49-F238E27FC236}">
                <a16:creationId xmlns:a16="http://schemas.microsoft.com/office/drawing/2014/main" id="{FEFBF463-3B01-E277-438F-E20A1232DDBC}"/>
              </a:ext>
            </a:extLst>
          </p:cNvPr>
          <p:cNvSpPr txBox="1"/>
          <p:nvPr/>
        </p:nvSpPr>
        <p:spPr>
          <a:xfrm>
            <a:off x="2698243" y="6166842"/>
            <a:ext cx="874210" cy="190790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marL="4332" defTabSz="311902">
              <a:spcBef>
                <a:spcPts val="48"/>
              </a:spcBef>
              <a:defRPr/>
            </a:pPr>
            <a:r>
              <a:rPr sz="1200" b="1" kern="0">
                <a:solidFill>
                  <a:prstClr val="white"/>
                </a:solidFill>
                <a:latin typeface="Versos" panose="020B0503020204030204" pitchFamily="34" charset="77"/>
                <a:cs typeface="Arial"/>
                <a:sym typeface="Arial"/>
              </a:rPr>
              <a:t>Benchmark</a:t>
            </a:r>
            <a:endParaRPr sz="1200" kern="0">
              <a:solidFill>
                <a:prstClr val="white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sp>
        <p:nvSpPr>
          <p:cNvPr id="63" name="object 56">
            <a:extLst>
              <a:ext uri="{FF2B5EF4-FFF2-40B4-BE49-F238E27FC236}">
                <a16:creationId xmlns:a16="http://schemas.microsoft.com/office/drawing/2014/main" id="{6C5417BD-8166-B492-627E-C9850770BE6C}"/>
              </a:ext>
            </a:extLst>
          </p:cNvPr>
          <p:cNvSpPr/>
          <p:nvPr/>
        </p:nvSpPr>
        <p:spPr>
          <a:xfrm>
            <a:off x="2698242" y="6386358"/>
            <a:ext cx="874209" cy="45719"/>
          </a:xfrm>
          <a:custGeom>
            <a:avLst/>
            <a:gdLst/>
            <a:ahLst/>
            <a:cxnLst/>
            <a:rect l="l" t="t" r="r" b="b"/>
            <a:pathLst>
              <a:path w="1466850">
                <a:moveTo>
                  <a:pt x="0" y="0"/>
                </a:moveTo>
                <a:lnTo>
                  <a:pt x="1466782" y="0"/>
                </a:lnTo>
              </a:path>
            </a:pathLst>
          </a:custGeom>
          <a:ln w="14837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defTabSz="311902">
              <a:defRPr/>
            </a:pPr>
            <a:endParaRPr sz="1200" kern="0">
              <a:solidFill>
                <a:sysClr val="windowText" lastClr="000000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sp>
        <p:nvSpPr>
          <p:cNvPr id="64" name="object 57">
            <a:extLst>
              <a:ext uri="{FF2B5EF4-FFF2-40B4-BE49-F238E27FC236}">
                <a16:creationId xmlns:a16="http://schemas.microsoft.com/office/drawing/2014/main" id="{CE25E92D-BF06-3B66-AF85-53C34304FF41}"/>
              </a:ext>
            </a:extLst>
          </p:cNvPr>
          <p:cNvSpPr txBox="1"/>
          <p:nvPr/>
        </p:nvSpPr>
        <p:spPr>
          <a:xfrm>
            <a:off x="2698243" y="5198637"/>
            <a:ext cx="1822339" cy="190790"/>
          </a:xfrm>
          <a:prstGeom prst="rect">
            <a:avLst/>
          </a:prstGeom>
        </p:spPr>
        <p:txBody>
          <a:bodyPr vert="horz" wrap="square" lIns="0" tIns="6065" rIns="0" bIns="0" rtlCol="0">
            <a:spAutoFit/>
          </a:bodyPr>
          <a:lstStyle/>
          <a:p>
            <a:pPr marL="4332" defTabSz="311902">
              <a:spcBef>
                <a:spcPts val="48"/>
              </a:spcBef>
              <a:defRPr/>
            </a:pPr>
            <a:r>
              <a:rPr sz="1200" b="1" kern="0">
                <a:solidFill>
                  <a:prstClr val="white"/>
                </a:solidFill>
                <a:latin typeface="Versos" panose="020B0503020204030204" pitchFamily="34" charset="77"/>
                <a:cs typeface="Arial"/>
                <a:sym typeface="Arial"/>
              </a:rPr>
              <a:t>Meta </a:t>
            </a:r>
            <a:r>
              <a:rPr lang="pt-BR" sz="1200" b="1" kern="0">
                <a:solidFill>
                  <a:prstClr val="white"/>
                </a:solidFill>
                <a:latin typeface="Versos" panose="020B0503020204030204" pitchFamily="34" charset="77"/>
                <a:cs typeface="Arial"/>
                <a:sym typeface="Arial"/>
              </a:rPr>
              <a:t>de retorno</a:t>
            </a:r>
            <a:endParaRPr sz="1200" kern="0">
              <a:solidFill>
                <a:prstClr val="white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sp>
        <p:nvSpPr>
          <p:cNvPr id="65" name="object 58">
            <a:extLst>
              <a:ext uri="{FF2B5EF4-FFF2-40B4-BE49-F238E27FC236}">
                <a16:creationId xmlns:a16="http://schemas.microsoft.com/office/drawing/2014/main" id="{A3F8281E-AAF6-DE1A-DB64-E9DC3E49DE2B}"/>
              </a:ext>
            </a:extLst>
          </p:cNvPr>
          <p:cNvSpPr/>
          <p:nvPr/>
        </p:nvSpPr>
        <p:spPr>
          <a:xfrm>
            <a:off x="2698243" y="5420873"/>
            <a:ext cx="1502750" cy="0"/>
          </a:xfrm>
          <a:custGeom>
            <a:avLst/>
            <a:gdLst/>
            <a:ahLst/>
            <a:cxnLst/>
            <a:rect l="l" t="t" r="r" b="b"/>
            <a:pathLst>
              <a:path w="2861309">
                <a:moveTo>
                  <a:pt x="0" y="0"/>
                </a:moveTo>
                <a:lnTo>
                  <a:pt x="2860823" y="0"/>
                </a:lnTo>
              </a:path>
            </a:pathLst>
          </a:custGeom>
          <a:ln w="14837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defTabSz="311902">
              <a:defRPr/>
            </a:pPr>
            <a:endParaRPr sz="1200" kern="0">
              <a:solidFill>
                <a:sysClr val="windowText" lastClr="000000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CD4F390-9036-7AD4-26A1-0F0E355D9B3F}"/>
              </a:ext>
            </a:extLst>
          </p:cNvPr>
          <p:cNvGrpSpPr/>
          <p:nvPr/>
        </p:nvGrpSpPr>
        <p:grpSpPr>
          <a:xfrm>
            <a:off x="3252615" y="3586247"/>
            <a:ext cx="1267967" cy="1217260"/>
            <a:chOff x="8239919" y="412511"/>
            <a:chExt cx="1464016" cy="1405469"/>
          </a:xfrm>
        </p:grpSpPr>
        <p:sp>
          <p:nvSpPr>
            <p:cNvPr id="66" name="object 59">
              <a:extLst>
                <a:ext uri="{FF2B5EF4-FFF2-40B4-BE49-F238E27FC236}">
                  <a16:creationId xmlns:a16="http://schemas.microsoft.com/office/drawing/2014/main" id="{74EFE9B7-3788-FEDE-50F9-27EA5214694C}"/>
                </a:ext>
              </a:extLst>
            </p:cNvPr>
            <p:cNvSpPr txBox="1"/>
            <p:nvPr/>
          </p:nvSpPr>
          <p:spPr>
            <a:xfrm>
              <a:off x="8239919" y="412511"/>
              <a:ext cx="1115400" cy="220289"/>
            </a:xfrm>
            <a:prstGeom prst="rect">
              <a:avLst/>
            </a:prstGeom>
          </p:spPr>
          <p:txBody>
            <a:bodyPr vert="horz" wrap="square" lIns="0" tIns="6065" rIns="0" bIns="0" rtlCol="0">
              <a:spAutoFit/>
            </a:bodyPr>
            <a:lstStyle/>
            <a:p>
              <a:pPr marL="4332" defTabSz="311902">
                <a:spcBef>
                  <a:spcPts val="48"/>
                </a:spcBef>
                <a:defRPr/>
              </a:pPr>
              <a:r>
                <a:rPr sz="1200" b="1" kern="0" err="1">
                  <a:solidFill>
                    <a:sysClr val="windowText" lastClr="000000"/>
                  </a:solidFill>
                  <a:latin typeface="Versos" panose="020B0503020204030204" pitchFamily="34" charset="77"/>
                  <a:cs typeface="Arial"/>
                  <a:sym typeface="Arial"/>
                </a:rPr>
                <a:t>Liquidez</a:t>
              </a:r>
              <a:endParaRPr sz="1200" kern="0">
                <a:solidFill>
                  <a:sysClr val="windowText" lastClr="000000"/>
                </a:solidFill>
                <a:latin typeface="Versos" panose="020B0503020204030204" pitchFamily="34" charset="77"/>
                <a:cs typeface="Arial"/>
                <a:sym typeface="Arial"/>
              </a:endParaRPr>
            </a:p>
          </p:txBody>
        </p:sp>
        <p:sp>
          <p:nvSpPr>
            <p:cNvPr id="67" name="object 60">
              <a:extLst>
                <a:ext uri="{FF2B5EF4-FFF2-40B4-BE49-F238E27FC236}">
                  <a16:creationId xmlns:a16="http://schemas.microsoft.com/office/drawing/2014/main" id="{F73FE328-8FEE-51E6-F48A-4701932AD79E}"/>
                </a:ext>
              </a:extLst>
            </p:cNvPr>
            <p:cNvSpPr/>
            <p:nvPr/>
          </p:nvSpPr>
          <p:spPr>
            <a:xfrm>
              <a:off x="8239920" y="629843"/>
              <a:ext cx="1464015" cy="0"/>
            </a:xfrm>
            <a:custGeom>
              <a:avLst/>
              <a:gdLst/>
              <a:ahLst/>
              <a:cxnLst/>
              <a:rect l="l" t="t" r="r" b="b"/>
              <a:pathLst>
                <a:path w="2414269">
                  <a:moveTo>
                    <a:pt x="0" y="0"/>
                  </a:moveTo>
                  <a:lnTo>
                    <a:pt x="2413916" y="0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311902">
                <a:defRPr/>
              </a:pPr>
              <a:endParaRPr sz="1200" kern="0">
                <a:solidFill>
                  <a:sysClr val="windowText" lastClr="000000"/>
                </a:solidFill>
                <a:latin typeface="Versos" panose="020B0503020204030204" pitchFamily="34" charset="77"/>
                <a:cs typeface="Arial"/>
                <a:sym typeface="Arial"/>
              </a:endParaRPr>
            </a:p>
          </p:txBody>
        </p:sp>
        <p:sp>
          <p:nvSpPr>
            <p:cNvPr id="70" name="object 63">
              <a:extLst>
                <a:ext uri="{FF2B5EF4-FFF2-40B4-BE49-F238E27FC236}">
                  <a16:creationId xmlns:a16="http://schemas.microsoft.com/office/drawing/2014/main" id="{3708E920-33D9-48EF-52E5-6436C7264380}"/>
                </a:ext>
              </a:extLst>
            </p:cNvPr>
            <p:cNvSpPr txBox="1"/>
            <p:nvPr/>
          </p:nvSpPr>
          <p:spPr>
            <a:xfrm>
              <a:off x="8239920" y="1386746"/>
              <a:ext cx="1326027" cy="431234"/>
            </a:xfrm>
            <a:prstGeom prst="rect">
              <a:avLst/>
            </a:prstGeom>
          </p:spPr>
          <p:txBody>
            <a:bodyPr vert="horz" wrap="square" lIns="0" tIns="4115" rIns="0" bIns="0" rtlCol="0" anchor="t">
              <a:spAutoFit/>
            </a:bodyPr>
            <a:lstStyle/>
            <a:p>
              <a:pPr marL="4332" marR="1733" defTabSz="311902">
                <a:lnSpc>
                  <a:spcPct val="100499"/>
                </a:lnSpc>
                <a:spcBef>
                  <a:spcPts val="33"/>
                </a:spcBef>
                <a:defRPr/>
              </a:pPr>
              <a:r>
                <a:rPr sz="1200" kern="0">
                  <a:solidFill>
                    <a:sysClr val="windowText" lastClr="000000"/>
                  </a:solidFill>
                  <a:latin typeface="Versos Light" panose="020B0403020204030204" pitchFamily="34" charset="0"/>
                  <a:cs typeface="Arial"/>
                  <a:sym typeface="Arial"/>
                </a:rPr>
                <a:t>Aberto, </a:t>
              </a:r>
              <a:r>
                <a:rPr sz="1200" kern="0" err="1">
                  <a:solidFill>
                    <a:sysClr val="windowText" lastClr="000000"/>
                  </a:solidFill>
                  <a:latin typeface="Versos Light" panose="020B0403020204030204" pitchFamily="34" charset="0"/>
                  <a:cs typeface="Arial"/>
                  <a:sym typeface="Arial"/>
                </a:rPr>
                <a:t>resgate</a:t>
              </a:r>
              <a:r>
                <a:rPr sz="1200" kern="0">
                  <a:solidFill>
                    <a:sysClr val="windowText" lastClr="000000"/>
                  </a:solidFill>
                  <a:latin typeface="Versos Light" panose="020B0403020204030204" pitchFamily="34" charset="0"/>
                  <a:cs typeface="Arial"/>
                  <a:sym typeface="Arial"/>
                </a:rPr>
                <a:t> </a:t>
              </a:r>
              <a:r>
                <a:rPr sz="1200" kern="0" err="1">
                  <a:solidFill>
                    <a:sysClr val="windowText" lastClr="000000"/>
                  </a:solidFill>
                  <a:latin typeface="Versos Light" panose="020B0403020204030204" pitchFamily="34" charset="0"/>
                  <a:cs typeface="Arial"/>
                  <a:sym typeface="Arial"/>
                </a:rPr>
                <a:t>em</a:t>
              </a:r>
              <a:r>
                <a:rPr sz="1200" kern="0">
                  <a:solidFill>
                    <a:sysClr val="windowText" lastClr="000000"/>
                  </a:solidFill>
                  <a:latin typeface="Versos Light" panose="020B0403020204030204" pitchFamily="34" charset="0"/>
                  <a:cs typeface="Arial"/>
                  <a:sym typeface="Arial"/>
                </a:rPr>
                <a:t> </a:t>
              </a:r>
              <a:r>
                <a:rPr sz="1200" b="1" kern="0">
                  <a:solidFill>
                    <a:sysClr val="windowText" lastClr="000000"/>
                  </a:solidFill>
                  <a:latin typeface="Versos"/>
                  <a:cs typeface="Arial"/>
                  <a:sym typeface="Arial"/>
                </a:rPr>
                <a:t>D+</a:t>
              </a:r>
              <a:r>
                <a:rPr lang="pt-BR" sz="1200" b="1" kern="0">
                  <a:solidFill>
                    <a:sysClr val="windowText" lastClr="000000"/>
                  </a:solidFill>
                  <a:latin typeface="Versos"/>
                  <a:cs typeface="Arial"/>
                  <a:sym typeface="Arial"/>
                </a:rPr>
                <a:t>30</a:t>
              </a:r>
              <a:r>
                <a:rPr sz="1200" b="1" kern="0">
                  <a:solidFill>
                    <a:sysClr val="windowText" lastClr="000000"/>
                  </a:solidFill>
                  <a:latin typeface="Versos"/>
                  <a:cs typeface="Arial"/>
                  <a:sym typeface="Arial"/>
                </a:rPr>
                <a:t> </a:t>
              </a:r>
              <a:r>
                <a:rPr sz="1200" kern="0" err="1">
                  <a:solidFill>
                    <a:sysClr val="windowText" lastClr="000000"/>
                  </a:solidFill>
                  <a:latin typeface="Versos Light" panose="020B0403020204030204" pitchFamily="34" charset="0"/>
                  <a:cs typeface="Arial"/>
                  <a:sym typeface="Arial"/>
                </a:rPr>
                <a:t>dias</a:t>
              </a:r>
              <a:endParaRPr sz="1200" kern="0">
                <a:solidFill>
                  <a:sysClr val="windowText" lastClr="000000"/>
                </a:solidFill>
                <a:latin typeface="Versos Light" panose="020B0403020204030204" pitchFamily="34" charset="0"/>
                <a:cs typeface="Arial"/>
                <a:sym typeface="Arial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74BCFF6-6605-569A-C99F-4D7E4D1494DF}"/>
              </a:ext>
            </a:extLst>
          </p:cNvPr>
          <p:cNvGrpSpPr/>
          <p:nvPr/>
        </p:nvGrpSpPr>
        <p:grpSpPr>
          <a:xfrm>
            <a:off x="4998731" y="3578847"/>
            <a:ext cx="1293508" cy="1224660"/>
            <a:chOff x="10160924" y="412511"/>
            <a:chExt cx="1493506" cy="1414013"/>
          </a:xfrm>
        </p:grpSpPr>
        <p:sp>
          <p:nvSpPr>
            <p:cNvPr id="68" name="object 61">
              <a:extLst>
                <a:ext uri="{FF2B5EF4-FFF2-40B4-BE49-F238E27FC236}">
                  <a16:creationId xmlns:a16="http://schemas.microsoft.com/office/drawing/2014/main" id="{6BB3FCF1-0B4D-7A86-380C-1BF87E9D61CE}"/>
                </a:ext>
              </a:extLst>
            </p:cNvPr>
            <p:cNvSpPr txBox="1"/>
            <p:nvPr/>
          </p:nvSpPr>
          <p:spPr>
            <a:xfrm>
              <a:off x="10160924" y="412511"/>
              <a:ext cx="1464015" cy="220289"/>
            </a:xfrm>
            <a:prstGeom prst="rect">
              <a:avLst/>
            </a:prstGeom>
          </p:spPr>
          <p:txBody>
            <a:bodyPr vert="horz" wrap="square" lIns="0" tIns="6065" rIns="0" bIns="0" rtlCol="0">
              <a:spAutoFit/>
            </a:bodyPr>
            <a:lstStyle/>
            <a:p>
              <a:pPr marL="4332" defTabSz="311902">
                <a:spcBef>
                  <a:spcPts val="48"/>
                </a:spcBef>
                <a:defRPr/>
              </a:pPr>
              <a:r>
                <a:rPr sz="1200" b="1" kern="0">
                  <a:solidFill>
                    <a:sysClr val="windowText" lastClr="000000"/>
                  </a:solidFill>
                  <a:latin typeface="Versos" panose="020B0503020204030204" pitchFamily="34" charset="77"/>
                  <a:cs typeface="Arial"/>
                  <a:sym typeface="Arial"/>
                </a:rPr>
                <a:t>Público Alvo</a:t>
              </a:r>
              <a:endParaRPr sz="1200" kern="0">
                <a:solidFill>
                  <a:sysClr val="windowText" lastClr="000000"/>
                </a:solidFill>
                <a:latin typeface="Versos" panose="020B0503020204030204" pitchFamily="34" charset="77"/>
                <a:cs typeface="Arial"/>
                <a:sym typeface="Arial"/>
              </a:endParaRPr>
            </a:p>
          </p:txBody>
        </p:sp>
        <p:sp>
          <p:nvSpPr>
            <p:cNvPr id="69" name="object 62">
              <a:extLst>
                <a:ext uri="{FF2B5EF4-FFF2-40B4-BE49-F238E27FC236}">
                  <a16:creationId xmlns:a16="http://schemas.microsoft.com/office/drawing/2014/main" id="{E33FD1A8-0145-0A77-1475-264A9D49D7AA}"/>
                </a:ext>
              </a:extLst>
            </p:cNvPr>
            <p:cNvSpPr/>
            <p:nvPr/>
          </p:nvSpPr>
          <p:spPr>
            <a:xfrm>
              <a:off x="10160924" y="629843"/>
              <a:ext cx="1464015" cy="0"/>
            </a:xfrm>
            <a:custGeom>
              <a:avLst/>
              <a:gdLst/>
              <a:ahLst/>
              <a:cxnLst/>
              <a:rect l="l" t="t" r="r" b="b"/>
              <a:pathLst>
                <a:path w="2414269">
                  <a:moveTo>
                    <a:pt x="0" y="0"/>
                  </a:moveTo>
                  <a:lnTo>
                    <a:pt x="2413926" y="0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311902">
                <a:defRPr/>
              </a:pPr>
              <a:endParaRPr sz="1200" kern="0">
                <a:solidFill>
                  <a:sysClr val="windowText" lastClr="000000"/>
                </a:solidFill>
                <a:latin typeface="Versos" panose="020B0503020204030204" pitchFamily="34" charset="77"/>
                <a:cs typeface="Arial"/>
                <a:sym typeface="Arial"/>
              </a:endParaRPr>
            </a:p>
          </p:txBody>
        </p:sp>
        <p:sp>
          <p:nvSpPr>
            <p:cNvPr id="73" name="object 66">
              <a:extLst>
                <a:ext uri="{FF2B5EF4-FFF2-40B4-BE49-F238E27FC236}">
                  <a16:creationId xmlns:a16="http://schemas.microsoft.com/office/drawing/2014/main" id="{899CAA8C-127C-51E5-F6D1-B808C045181F}"/>
                </a:ext>
              </a:extLst>
            </p:cNvPr>
            <p:cNvSpPr txBox="1"/>
            <p:nvPr/>
          </p:nvSpPr>
          <p:spPr>
            <a:xfrm>
              <a:off x="10160924" y="1395290"/>
              <a:ext cx="1493506" cy="431234"/>
            </a:xfrm>
            <a:prstGeom prst="rect">
              <a:avLst/>
            </a:prstGeom>
          </p:spPr>
          <p:txBody>
            <a:bodyPr vert="horz" wrap="square" lIns="0" tIns="4115" rIns="0" bIns="0" rtlCol="0">
              <a:spAutoFit/>
            </a:bodyPr>
            <a:lstStyle/>
            <a:p>
              <a:pPr marL="4332" marR="1733" defTabSz="311902">
                <a:lnSpc>
                  <a:spcPct val="100499"/>
                </a:lnSpc>
                <a:spcBef>
                  <a:spcPts val="33"/>
                </a:spcBef>
                <a:defRPr/>
              </a:pPr>
              <a:r>
                <a:rPr sz="1200" kern="0" err="1">
                  <a:solidFill>
                    <a:sysClr val="windowText" lastClr="000000"/>
                  </a:solidFill>
                  <a:latin typeface="Versos Light" panose="020B0403020204030204" pitchFamily="34" charset="0"/>
                  <a:cs typeface="Arial"/>
                  <a:sym typeface="Arial"/>
                </a:rPr>
                <a:t>Investidor</a:t>
              </a:r>
              <a:endParaRPr lang="pt-BR" sz="1200" kern="0">
                <a:solidFill>
                  <a:sysClr val="windowText" lastClr="000000"/>
                </a:solidFill>
                <a:latin typeface="Versos Light" panose="020B0403020204030204" pitchFamily="34" charset="0"/>
                <a:cs typeface="Arial"/>
                <a:sym typeface="Arial"/>
              </a:endParaRPr>
            </a:p>
            <a:p>
              <a:pPr marL="4332" marR="1733" defTabSz="311902">
                <a:lnSpc>
                  <a:spcPct val="100499"/>
                </a:lnSpc>
                <a:spcBef>
                  <a:spcPts val="33"/>
                </a:spcBef>
                <a:defRPr/>
              </a:pPr>
              <a:r>
                <a:rPr lang="pt-BR" sz="1200" kern="0">
                  <a:solidFill>
                    <a:sysClr val="windowText" lastClr="000000"/>
                  </a:solidFill>
                  <a:latin typeface="Versos Light" panose="020B0403020204030204" pitchFamily="34" charset="0"/>
                  <a:cs typeface="Arial"/>
                  <a:sym typeface="Arial"/>
                </a:rPr>
                <a:t>Geral</a:t>
              </a:r>
              <a:endParaRPr sz="1200" kern="0">
                <a:solidFill>
                  <a:sysClr val="windowText" lastClr="000000"/>
                </a:solidFill>
                <a:latin typeface="Versos Light" panose="020B0403020204030204" pitchFamily="34" charset="0"/>
                <a:cs typeface="Arial"/>
                <a:sym typeface="Arial"/>
              </a:endParaRPr>
            </a:p>
          </p:txBody>
        </p:sp>
      </p:grpSp>
      <p:sp>
        <p:nvSpPr>
          <p:cNvPr id="74" name="object 67">
            <a:extLst>
              <a:ext uri="{FF2B5EF4-FFF2-40B4-BE49-F238E27FC236}">
                <a16:creationId xmlns:a16="http://schemas.microsoft.com/office/drawing/2014/main" id="{9F0544F2-187F-1599-7D27-69977B09330D}"/>
              </a:ext>
            </a:extLst>
          </p:cNvPr>
          <p:cNvSpPr txBox="1"/>
          <p:nvPr/>
        </p:nvSpPr>
        <p:spPr>
          <a:xfrm>
            <a:off x="561662" y="5741043"/>
            <a:ext cx="1378021" cy="558154"/>
          </a:xfrm>
          <a:prstGeom prst="rect">
            <a:avLst/>
          </a:prstGeom>
        </p:spPr>
        <p:txBody>
          <a:bodyPr vert="horz" wrap="square" lIns="0" tIns="4115" rIns="0" bIns="0" rtlCol="0" anchor="t">
            <a:spAutoFit/>
          </a:bodyPr>
          <a:lstStyle/>
          <a:p>
            <a:pPr marR="1733" defTabSz="311902">
              <a:spcBef>
                <a:spcPts val="33"/>
              </a:spcBef>
              <a:defRPr/>
            </a:pPr>
            <a:r>
              <a:rPr lang="pt-BR" sz="1200" kern="0" err="1">
                <a:solidFill>
                  <a:srgbClr val="FFFFFF"/>
                </a:solidFill>
                <a:latin typeface="Versos Light" panose="020B0403020204030204" pitchFamily="34" charset="0"/>
                <a:cs typeface="Arial"/>
                <a:sym typeface="Arial"/>
              </a:rPr>
              <a:t>Aplicação</a:t>
            </a:r>
            <a:r>
              <a:rPr lang="pt-BR" sz="1200" kern="0">
                <a:solidFill>
                  <a:srgbClr val="FFFFFF"/>
                </a:solidFill>
                <a:latin typeface="Versos Light" panose="020B0403020204030204" pitchFamily="34" charset="0"/>
                <a:cs typeface="Arial"/>
                <a:sym typeface="Arial"/>
              </a:rPr>
              <a:t> </a:t>
            </a:r>
            <a:r>
              <a:rPr lang="pt-BR" sz="1200" kern="0" err="1">
                <a:solidFill>
                  <a:srgbClr val="FFFFFF"/>
                </a:solidFill>
                <a:latin typeface="Versos Light" panose="020B0403020204030204" pitchFamily="34" charset="0"/>
                <a:cs typeface="Arial"/>
                <a:sym typeface="Arial"/>
              </a:rPr>
              <a:t>diária</a:t>
            </a:r>
            <a:r>
              <a:rPr lang="pt-BR" sz="1200" kern="0">
                <a:solidFill>
                  <a:srgbClr val="FFFFFF"/>
                </a:solidFill>
                <a:latin typeface="Versos Light" panose="020B0403020204030204" pitchFamily="34" charset="0"/>
                <a:cs typeface="Arial"/>
                <a:sym typeface="Arial"/>
              </a:rPr>
              <a:t> com </a:t>
            </a:r>
            <a:r>
              <a:rPr lang="pt-BR" sz="1200" kern="0" err="1">
                <a:solidFill>
                  <a:srgbClr val="FFFFFF"/>
                </a:solidFill>
                <a:latin typeface="Versos Light" panose="020B0403020204030204" pitchFamily="34" charset="0"/>
                <a:cs typeface="Arial"/>
                <a:sym typeface="Arial"/>
              </a:rPr>
              <a:t>integralização</a:t>
            </a:r>
            <a:r>
              <a:rPr lang="pt-BR" sz="1200" kern="0">
                <a:solidFill>
                  <a:srgbClr val="FFFFFF"/>
                </a:solidFill>
                <a:latin typeface="Versos Light" panose="020B0403020204030204" pitchFamily="34" charset="0"/>
                <a:cs typeface="Arial"/>
                <a:sym typeface="Arial"/>
              </a:rPr>
              <a:t> </a:t>
            </a:r>
            <a:r>
              <a:rPr lang="pt-BR" sz="1200" kern="0" err="1">
                <a:solidFill>
                  <a:srgbClr val="FFFFFF"/>
                </a:solidFill>
                <a:latin typeface="Versos Light" panose="020B0403020204030204" pitchFamily="34" charset="0"/>
                <a:cs typeface="Arial"/>
                <a:sym typeface="Arial"/>
              </a:rPr>
              <a:t>em</a:t>
            </a:r>
            <a:r>
              <a:rPr lang="pt-BR" sz="1200" kern="0">
                <a:solidFill>
                  <a:srgbClr val="FFFFFF"/>
                </a:solidFill>
                <a:latin typeface="Versos Light" panose="020B0403020204030204" pitchFamily="34" charset="0"/>
                <a:cs typeface="Arial"/>
                <a:sym typeface="Arial"/>
              </a:rPr>
              <a:t> </a:t>
            </a:r>
            <a:r>
              <a:rPr sz="1200" b="1" kern="0">
                <a:solidFill>
                  <a:srgbClr val="FFFFFF"/>
                </a:solidFill>
                <a:latin typeface="Versos"/>
                <a:cs typeface="Arial"/>
                <a:sym typeface="Arial"/>
              </a:rPr>
              <a:t>D+</a:t>
            </a:r>
            <a:r>
              <a:rPr lang="pt-BR" sz="1200" b="1" kern="0">
                <a:solidFill>
                  <a:srgbClr val="FFFFFF"/>
                </a:solidFill>
                <a:latin typeface="Versos"/>
                <a:cs typeface="Arial"/>
                <a:sym typeface="Arial"/>
              </a:rPr>
              <a:t>1</a:t>
            </a:r>
            <a:r>
              <a:rPr sz="1200" b="1" kern="0">
                <a:solidFill>
                  <a:srgbClr val="FFFFFF"/>
                </a:solidFill>
                <a:latin typeface="Versos"/>
                <a:cs typeface="Arial"/>
                <a:sym typeface="Arial"/>
              </a:rPr>
              <a:t> </a:t>
            </a:r>
            <a:r>
              <a:rPr lang="pt-BR" sz="1200" b="1" kern="0">
                <a:solidFill>
                  <a:srgbClr val="FFFFFF"/>
                </a:solidFill>
                <a:latin typeface="Versos"/>
                <a:cs typeface="Arial"/>
                <a:sym typeface="Arial"/>
              </a:rPr>
              <a:t>dia</a:t>
            </a:r>
            <a:endParaRPr sz="1200" kern="0">
              <a:solidFill>
                <a:sysClr val="windowText" lastClr="000000"/>
              </a:solidFill>
              <a:latin typeface="Versos"/>
              <a:cs typeface="Arial"/>
              <a:sym typeface="Arial"/>
            </a:endParaRPr>
          </a:p>
        </p:txBody>
      </p:sp>
      <p:sp>
        <p:nvSpPr>
          <p:cNvPr id="10" name="object 31">
            <a:extLst>
              <a:ext uri="{FF2B5EF4-FFF2-40B4-BE49-F238E27FC236}">
                <a16:creationId xmlns:a16="http://schemas.microsoft.com/office/drawing/2014/main" id="{CFC98008-C3B3-2D74-E1C5-C69718F1FBCA}"/>
              </a:ext>
            </a:extLst>
          </p:cNvPr>
          <p:cNvSpPr/>
          <p:nvPr/>
        </p:nvSpPr>
        <p:spPr>
          <a:xfrm>
            <a:off x="405825" y="2900768"/>
            <a:ext cx="3528000" cy="413301"/>
          </a:xfrm>
          <a:prstGeom prst="round1Rect">
            <a:avLst>
              <a:gd name="adj" fmla="val 23210"/>
            </a:avLst>
          </a:prstGeom>
          <a:solidFill>
            <a:schemeClr val="tx1"/>
          </a:solidFill>
          <a:ln w="9525"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 anchorCtr="0"/>
          <a:lstStyle/>
          <a:p>
            <a:pPr algn="ctr" defTabSz="311902">
              <a:defRPr/>
            </a:pPr>
            <a:r>
              <a:rPr lang="pt-BR" sz="1200" kern="0">
                <a:solidFill>
                  <a:srgbClr val="FFFFFF"/>
                </a:solidFill>
                <a:latin typeface="Versos Light" panose="020B0403020204030204" pitchFamily="34" charset="0"/>
                <a:cs typeface="Helvetica"/>
                <a:sym typeface="Arial"/>
              </a:rPr>
              <a:t>PRINCIPAIS CARACTERÍSTICAS DO FUNDO</a:t>
            </a:r>
            <a:endParaRPr lang="pt-BR" sz="1200" kern="0">
              <a:solidFill>
                <a:sysClr val="windowText" lastClr="000000"/>
              </a:solidFill>
              <a:latin typeface="Versos Light" panose="020B0403020204030204" pitchFamily="34" charset="0"/>
              <a:cs typeface="Helvetica"/>
              <a:sym typeface="Arial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862EBBF-4D10-FC25-7638-C224B4BE01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5825" y="1376023"/>
            <a:ext cx="4553129" cy="490193"/>
          </a:xfrm>
          <a:prstGeom prst="rect">
            <a:avLst/>
          </a:prstGeom>
        </p:spPr>
      </p:pic>
      <p:grpSp>
        <p:nvGrpSpPr>
          <p:cNvPr id="17" name="Agrupar 43">
            <a:extLst>
              <a:ext uri="{FF2B5EF4-FFF2-40B4-BE49-F238E27FC236}">
                <a16:creationId xmlns:a16="http://schemas.microsoft.com/office/drawing/2014/main" id="{A28AEBF2-56B4-1845-CAF2-FF241154E196}"/>
              </a:ext>
            </a:extLst>
          </p:cNvPr>
          <p:cNvGrpSpPr/>
          <p:nvPr/>
        </p:nvGrpSpPr>
        <p:grpSpPr>
          <a:xfrm>
            <a:off x="2916099" y="9096262"/>
            <a:ext cx="1025803" cy="348185"/>
            <a:chOff x="1141590" y="967425"/>
            <a:chExt cx="1482725" cy="503278"/>
          </a:xfrm>
        </p:grpSpPr>
        <p:sp>
          <p:nvSpPr>
            <p:cNvPr id="18" name="object 38">
              <a:extLst>
                <a:ext uri="{FF2B5EF4-FFF2-40B4-BE49-F238E27FC236}">
                  <a16:creationId xmlns:a16="http://schemas.microsoft.com/office/drawing/2014/main" id="{2F7041DB-A85D-4C95-791C-4E2BED991DF1}"/>
                </a:ext>
              </a:extLst>
            </p:cNvPr>
            <p:cNvSpPr/>
            <p:nvPr/>
          </p:nvSpPr>
          <p:spPr>
            <a:xfrm>
              <a:off x="1141590" y="967425"/>
              <a:ext cx="1482725" cy="323215"/>
            </a:xfrm>
            <a:custGeom>
              <a:avLst/>
              <a:gdLst/>
              <a:ahLst/>
              <a:cxnLst/>
              <a:rect l="l" t="t" r="r" b="b"/>
              <a:pathLst>
                <a:path w="1482725" h="323215">
                  <a:moveTo>
                    <a:pt x="181292" y="49149"/>
                  </a:moveTo>
                  <a:lnTo>
                    <a:pt x="139052" y="12382"/>
                  </a:lnTo>
                  <a:lnTo>
                    <a:pt x="91516" y="1397"/>
                  </a:lnTo>
                  <a:lnTo>
                    <a:pt x="0" y="1397"/>
                  </a:lnTo>
                  <a:lnTo>
                    <a:pt x="0" y="49149"/>
                  </a:lnTo>
                  <a:lnTo>
                    <a:pt x="181292" y="49149"/>
                  </a:lnTo>
                  <a:close/>
                </a:path>
                <a:path w="1482725" h="323215">
                  <a:moveTo>
                    <a:pt x="207949" y="202260"/>
                  </a:moveTo>
                  <a:lnTo>
                    <a:pt x="206565" y="201282"/>
                  </a:lnTo>
                  <a:lnTo>
                    <a:pt x="206565" y="118605"/>
                  </a:lnTo>
                  <a:lnTo>
                    <a:pt x="205130" y="100876"/>
                  </a:lnTo>
                  <a:lnTo>
                    <a:pt x="200863" y="83845"/>
                  </a:lnTo>
                  <a:lnTo>
                    <a:pt x="193840" y="67754"/>
                  </a:lnTo>
                  <a:lnTo>
                    <a:pt x="184137" y="52832"/>
                  </a:lnTo>
                  <a:lnTo>
                    <a:pt x="181292" y="49149"/>
                  </a:lnTo>
                  <a:lnTo>
                    <a:pt x="178447" y="52832"/>
                  </a:lnTo>
                  <a:lnTo>
                    <a:pt x="168744" y="67754"/>
                  </a:lnTo>
                  <a:lnTo>
                    <a:pt x="161721" y="83845"/>
                  </a:lnTo>
                  <a:lnTo>
                    <a:pt x="157454" y="100876"/>
                  </a:lnTo>
                  <a:lnTo>
                    <a:pt x="156019" y="118605"/>
                  </a:lnTo>
                  <a:lnTo>
                    <a:pt x="156019" y="312712"/>
                  </a:lnTo>
                  <a:lnTo>
                    <a:pt x="206603" y="312712"/>
                  </a:lnTo>
                  <a:lnTo>
                    <a:pt x="206565" y="204266"/>
                  </a:lnTo>
                  <a:lnTo>
                    <a:pt x="207949" y="202260"/>
                  </a:lnTo>
                  <a:close/>
                </a:path>
                <a:path w="1482725" h="323215">
                  <a:moveTo>
                    <a:pt x="362572" y="1397"/>
                  </a:moveTo>
                  <a:lnTo>
                    <a:pt x="271068" y="1397"/>
                  </a:lnTo>
                  <a:lnTo>
                    <a:pt x="246456" y="4203"/>
                  </a:lnTo>
                  <a:lnTo>
                    <a:pt x="223545" y="12382"/>
                  </a:lnTo>
                  <a:lnTo>
                    <a:pt x="203073" y="25539"/>
                  </a:lnTo>
                  <a:lnTo>
                    <a:pt x="185775" y="43345"/>
                  </a:lnTo>
                  <a:lnTo>
                    <a:pt x="181292" y="49149"/>
                  </a:lnTo>
                  <a:lnTo>
                    <a:pt x="362572" y="49149"/>
                  </a:lnTo>
                  <a:lnTo>
                    <a:pt x="362572" y="1397"/>
                  </a:lnTo>
                  <a:close/>
                </a:path>
                <a:path w="1482725" h="323215">
                  <a:moveTo>
                    <a:pt x="485813" y="4102"/>
                  </a:moveTo>
                  <a:lnTo>
                    <a:pt x="436664" y="4102"/>
                  </a:lnTo>
                  <a:lnTo>
                    <a:pt x="436664" y="318668"/>
                  </a:lnTo>
                  <a:lnTo>
                    <a:pt x="485813" y="318668"/>
                  </a:lnTo>
                  <a:lnTo>
                    <a:pt x="485813" y="4102"/>
                  </a:lnTo>
                  <a:close/>
                </a:path>
                <a:path w="1482725" h="323215">
                  <a:moveTo>
                    <a:pt x="741222" y="318668"/>
                  </a:moveTo>
                  <a:lnTo>
                    <a:pt x="614705" y="4102"/>
                  </a:lnTo>
                  <a:lnTo>
                    <a:pt x="558063" y="4102"/>
                  </a:lnTo>
                  <a:lnTo>
                    <a:pt x="671436" y="274447"/>
                  </a:lnTo>
                  <a:lnTo>
                    <a:pt x="696810" y="305269"/>
                  </a:lnTo>
                  <a:lnTo>
                    <a:pt x="735876" y="318490"/>
                  </a:lnTo>
                  <a:lnTo>
                    <a:pt x="735799" y="318668"/>
                  </a:lnTo>
                  <a:lnTo>
                    <a:pt x="741222" y="318668"/>
                  </a:lnTo>
                  <a:close/>
                </a:path>
                <a:path w="1482725" h="323215">
                  <a:moveTo>
                    <a:pt x="924369" y="4102"/>
                  </a:moveTo>
                  <a:lnTo>
                    <a:pt x="867727" y="4102"/>
                  </a:lnTo>
                  <a:lnTo>
                    <a:pt x="741286" y="318490"/>
                  </a:lnTo>
                  <a:lnTo>
                    <a:pt x="741222" y="318668"/>
                  </a:lnTo>
                  <a:lnTo>
                    <a:pt x="746633" y="318668"/>
                  </a:lnTo>
                  <a:lnTo>
                    <a:pt x="746556" y="318490"/>
                  </a:lnTo>
                  <a:lnTo>
                    <a:pt x="767321" y="314388"/>
                  </a:lnTo>
                  <a:lnTo>
                    <a:pt x="785622" y="305269"/>
                  </a:lnTo>
                  <a:lnTo>
                    <a:pt x="800506" y="291757"/>
                  </a:lnTo>
                  <a:lnTo>
                    <a:pt x="810996" y="274447"/>
                  </a:lnTo>
                  <a:lnTo>
                    <a:pt x="924369" y="4102"/>
                  </a:lnTo>
                  <a:close/>
                </a:path>
                <a:path w="1482725" h="323215">
                  <a:moveTo>
                    <a:pt x="1045781" y="4102"/>
                  </a:moveTo>
                  <a:lnTo>
                    <a:pt x="996632" y="4102"/>
                  </a:lnTo>
                  <a:lnTo>
                    <a:pt x="996632" y="318668"/>
                  </a:lnTo>
                  <a:lnTo>
                    <a:pt x="1045781" y="318668"/>
                  </a:lnTo>
                  <a:lnTo>
                    <a:pt x="1045781" y="4102"/>
                  </a:lnTo>
                  <a:close/>
                </a:path>
                <a:path w="1482725" h="323215">
                  <a:moveTo>
                    <a:pt x="1482547" y="161391"/>
                  </a:moveTo>
                  <a:lnTo>
                    <a:pt x="1479207" y="127571"/>
                  </a:lnTo>
                  <a:lnTo>
                    <a:pt x="1469415" y="96316"/>
                  </a:lnTo>
                  <a:lnTo>
                    <a:pt x="1453464" y="68338"/>
                  </a:lnTo>
                  <a:lnTo>
                    <a:pt x="1436598" y="49784"/>
                  </a:lnTo>
                  <a:lnTo>
                    <a:pt x="1432026" y="44742"/>
                  </a:lnTo>
                  <a:lnTo>
                    <a:pt x="1432026" y="161391"/>
                  </a:lnTo>
                  <a:lnTo>
                    <a:pt x="1429778" y="184962"/>
                  </a:lnTo>
                  <a:lnTo>
                    <a:pt x="1412227" y="225425"/>
                  </a:lnTo>
                  <a:lnTo>
                    <a:pt x="1377772" y="255257"/>
                  </a:lnTo>
                  <a:lnTo>
                    <a:pt x="1329461" y="270992"/>
                  </a:lnTo>
                  <a:lnTo>
                    <a:pt x="1301203" y="272999"/>
                  </a:lnTo>
                  <a:lnTo>
                    <a:pt x="1272946" y="270992"/>
                  </a:lnTo>
                  <a:lnTo>
                    <a:pt x="1224622" y="255257"/>
                  </a:lnTo>
                  <a:lnTo>
                    <a:pt x="1190167" y="225425"/>
                  </a:lnTo>
                  <a:lnTo>
                    <a:pt x="1172616" y="184962"/>
                  </a:lnTo>
                  <a:lnTo>
                    <a:pt x="1170381" y="161391"/>
                  </a:lnTo>
                  <a:lnTo>
                    <a:pt x="1172616" y="137820"/>
                  </a:lnTo>
                  <a:lnTo>
                    <a:pt x="1190167" y="97358"/>
                  </a:lnTo>
                  <a:lnTo>
                    <a:pt x="1224622" y="67525"/>
                  </a:lnTo>
                  <a:lnTo>
                    <a:pt x="1272946" y="51790"/>
                  </a:lnTo>
                  <a:lnTo>
                    <a:pt x="1329461" y="51790"/>
                  </a:lnTo>
                  <a:lnTo>
                    <a:pt x="1377772" y="67525"/>
                  </a:lnTo>
                  <a:lnTo>
                    <a:pt x="1412227" y="97358"/>
                  </a:lnTo>
                  <a:lnTo>
                    <a:pt x="1429778" y="137820"/>
                  </a:lnTo>
                  <a:lnTo>
                    <a:pt x="1432026" y="161391"/>
                  </a:lnTo>
                  <a:lnTo>
                    <a:pt x="1432026" y="44742"/>
                  </a:lnTo>
                  <a:lnTo>
                    <a:pt x="1373835" y="11303"/>
                  </a:lnTo>
                  <a:lnTo>
                    <a:pt x="1301203" y="0"/>
                  </a:lnTo>
                  <a:lnTo>
                    <a:pt x="1263269" y="2857"/>
                  </a:lnTo>
                  <a:lnTo>
                    <a:pt x="1197571" y="25184"/>
                  </a:lnTo>
                  <a:lnTo>
                    <a:pt x="1148943" y="68338"/>
                  </a:lnTo>
                  <a:lnTo>
                    <a:pt x="1123200" y="127571"/>
                  </a:lnTo>
                  <a:lnTo>
                    <a:pt x="1119860" y="161391"/>
                  </a:lnTo>
                  <a:lnTo>
                    <a:pt x="1123200" y="195211"/>
                  </a:lnTo>
                  <a:lnTo>
                    <a:pt x="1148943" y="254444"/>
                  </a:lnTo>
                  <a:lnTo>
                    <a:pt x="1197571" y="297599"/>
                  </a:lnTo>
                  <a:lnTo>
                    <a:pt x="1263269" y="319925"/>
                  </a:lnTo>
                  <a:lnTo>
                    <a:pt x="1301203" y="322770"/>
                  </a:lnTo>
                  <a:lnTo>
                    <a:pt x="1339138" y="319925"/>
                  </a:lnTo>
                  <a:lnTo>
                    <a:pt x="1373835" y="311480"/>
                  </a:lnTo>
                  <a:lnTo>
                    <a:pt x="1404835" y="297599"/>
                  </a:lnTo>
                  <a:lnTo>
                    <a:pt x="1431683" y="278422"/>
                  </a:lnTo>
                  <a:lnTo>
                    <a:pt x="1436598" y="272999"/>
                  </a:lnTo>
                  <a:lnTo>
                    <a:pt x="1453464" y="254444"/>
                  </a:lnTo>
                  <a:lnTo>
                    <a:pt x="1469415" y="226466"/>
                  </a:lnTo>
                  <a:lnTo>
                    <a:pt x="1479207" y="195211"/>
                  </a:lnTo>
                  <a:lnTo>
                    <a:pt x="1482547" y="161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31190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614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pic>
          <p:nvPicPr>
            <p:cNvPr id="19" name="object 39">
              <a:extLst>
                <a:ext uri="{FF2B5EF4-FFF2-40B4-BE49-F238E27FC236}">
                  <a16:creationId xmlns:a16="http://schemas.microsoft.com/office/drawing/2014/main" id="{B06163F9-9F0C-7FCA-7762-303810506F02}"/>
                </a:ext>
              </a:extLst>
            </p:cNvPr>
            <p:cNvPicPr/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71287" y="1348613"/>
              <a:ext cx="107535" cy="122090"/>
            </a:xfrm>
            <a:prstGeom prst="rect">
              <a:avLst/>
            </a:prstGeom>
          </p:spPr>
        </p:pic>
        <p:pic>
          <p:nvPicPr>
            <p:cNvPr id="38" name="object 40">
              <a:extLst>
                <a:ext uri="{FF2B5EF4-FFF2-40B4-BE49-F238E27FC236}">
                  <a16:creationId xmlns:a16="http://schemas.microsoft.com/office/drawing/2014/main" id="{7FDDFEAC-CA81-2794-E5B7-495197FEFB5E}"/>
                </a:ext>
              </a:extLst>
            </p:cNvPr>
            <p:cNvPicPr/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748609" y="1349641"/>
              <a:ext cx="109064" cy="120038"/>
            </a:xfrm>
            <a:prstGeom prst="rect">
              <a:avLst/>
            </a:prstGeom>
          </p:spPr>
        </p:pic>
        <p:pic>
          <p:nvPicPr>
            <p:cNvPr id="39" name="object 41">
              <a:extLst>
                <a:ext uri="{FF2B5EF4-FFF2-40B4-BE49-F238E27FC236}">
                  <a16:creationId xmlns:a16="http://schemas.microsoft.com/office/drawing/2014/main" id="{D5B1D1C6-DF86-7F82-E56F-51C2744F95F5}"/>
                </a:ext>
              </a:extLst>
            </p:cNvPr>
            <p:cNvPicPr/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936383" y="1349635"/>
              <a:ext cx="85903" cy="120048"/>
            </a:xfrm>
            <a:prstGeom prst="rect">
              <a:avLst/>
            </a:prstGeom>
          </p:spPr>
        </p:pic>
        <p:sp>
          <p:nvSpPr>
            <p:cNvPr id="40" name="object 42">
              <a:extLst>
                <a:ext uri="{FF2B5EF4-FFF2-40B4-BE49-F238E27FC236}">
                  <a16:creationId xmlns:a16="http://schemas.microsoft.com/office/drawing/2014/main" id="{CD53A29D-132D-38FA-A94D-4CBEE3480AEB}"/>
                </a:ext>
              </a:extLst>
            </p:cNvPr>
            <p:cNvSpPr/>
            <p:nvPr/>
          </p:nvSpPr>
          <p:spPr>
            <a:xfrm>
              <a:off x="2103399" y="1349645"/>
              <a:ext cx="189230" cy="120650"/>
            </a:xfrm>
            <a:custGeom>
              <a:avLst/>
              <a:gdLst/>
              <a:ahLst/>
              <a:cxnLst/>
              <a:rect l="l" t="t" r="r" b="b"/>
              <a:pathLst>
                <a:path w="189230" h="120650">
                  <a:moveTo>
                    <a:pt x="14909" y="0"/>
                  </a:moveTo>
                  <a:lnTo>
                    <a:pt x="0" y="0"/>
                  </a:lnTo>
                  <a:lnTo>
                    <a:pt x="0" y="120040"/>
                  </a:lnTo>
                  <a:lnTo>
                    <a:pt x="14909" y="120040"/>
                  </a:lnTo>
                  <a:lnTo>
                    <a:pt x="14909" y="0"/>
                  </a:lnTo>
                  <a:close/>
                </a:path>
                <a:path w="189230" h="120650">
                  <a:moveTo>
                    <a:pt x="188798" y="0"/>
                  </a:moveTo>
                  <a:lnTo>
                    <a:pt x="96024" y="0"/>
                  </a:lnTo>
                  <a:lnTo>
                    <a:pt x="96024" y="13970"/>
                  </a:lnTo>
                  <a:lnTo>
                    <a:pt x="134950" y="13970"/>
                  </a:lnTo>
                  <a:lnTo>
                    <a:pt x="134950" y="120650"/>
                  </a:lnTo>
                  <a:lnTo>
                    <a:pt x="149885" y="120650"/>
                  </a:lnTo>
                  <a:lnTo>
                    <a:pt x="149885" y="13970"/>
                  </a:lnTo>
                  <a:lnTo>
                    <a:pt x="188798" y="13970"/>
                  </a:lnTo>
                  <a:lnTo>
                    <a:pt x="1887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31190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614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pic>
          <p:nvPicPr>
            <p:cNvPr id="41" name="object 43">
              <a:extLst>
                <a:ext uri="{FF2B5EF4-FFF2-40B4-BE49-F238E27FC236}">
                  <a16:creationId xmlns:a16="http://schemas.microsoft.com/office/drawing/2014/main" id="{C501EF24-4C46-065A-3C53-8DF30D600E7E}"/>
                </a:ext>
              </a:extLst>
            </p:cNvPr>
            <p:cNvPicPr/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46400" y="1349641"/>
              <a:ext cx="109064" cy="120038"/>
            </a:xfrm>
            <a:prstGeom prst="rect">
              <a:avLst/>
            </a:prstGeom>
          </p:spPr>
        </p:pic>
        <p:sp>
          <p:nvSpPr>
            <p:cNvPr id="71" name="object 44">
              <a:extLst>
                <a:ext uri="{FF2B5EF4-FFF2-40B4-BE49-F238E27FC236}">
                  <a16:creationId xmlns:a16="http://schemas.microsoft.com/office/drawing/2014/main" id="{AACE4375-C0FD-99A5-650A-AB064C7C5357}"/>
                </a:ext>
              </a:extLst>
            </p:cNvPr>
            <p:cNvSpPr/>
            <p:nvPr/>
          </p:nvSpPr>
          <p:spPr>
            <a:xfrm>
              <a:off x="2534158" y="1349035"/>
              <a:ext cx="69850" cy="120650"/>
            </a:xfrm>
            <a:custGeom>
              <a:avLst/>
              <a:gdLst/>
              <a:ahLst/>
              <a:cxnLst/>
              <a:rect l="l" t="t" r="r" b="b"/>
              <a:pathLst>
                <a:path w="69850" h="120650">
                  <a:moveTo>
                    <a:pt x="69621" y="106680"/>
                  </a:moveTo>
                  <a:lnTo>
                    <a:pt x="14909" y="106680"/>
                  </a:lnTo>
                  <a:lnTo>
                    <a:pt x="14909" y="0"/>
                  </a:lnTo>
                  <a:lnTo>
                    <a:pt x="0" y="0"/>
                  </a:lnTo>
                  <a:lnTo>
                    <a:pt x="0" y="106680"/>
                  </a:lnTo>
                  <a:lnTo>
                    <a:pt x="0" y="120650"/>
                  </a:lnTo>
                  <a:lnTo>
                    <a:pt x="69621" y="120650"/>
                  </a:lnTo>
                  <a:lnTo>
                    <a:pt x="69621" y="1066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31190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614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BFEA490D-A5D0-5C06-E0F5-3CA37E2DC415}"/>
              </a:ext>
            </a:extLst>
          </p:cNvPr>
          <p:cNvSpPr txBox="1"/>
          <p:nvPr/>
        </p:nvSpPr>
        <p:spPr>
          <a:xfrm>
            <a:off x="2536127" y="9624649"/>
            <a:ext cx="178574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Versos Light" panose="020B0403020204030204" pitchFamily="34" charset="0"/>
              </a:rPr>
              <a:t>MATERIAL DE USO INTERNO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5EA35C2-FCD6-D7D9-3E60-6DB0CF0EF3AC}"/>
              </a:ext>
            </a:extLst>
          </p:cNvPr>
          <p:cNvGrpSpPr/>
          <p:nvPr/>
        </p:nvGrpSpPr>
        <p:grpSpPr>
          <a:xfrm>
            <a:off x="425569" y="7424523"/>
            <a:ext cx="6082608" cy="1051560"/>
            <a:chOff x="425569" y="7424523"/>
            <a:chExt cx="4023746" cy="1051560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08C41391-DEE2-78EE-66DD-8711BCABE565}"/>
                </a:ext>
              </a:extLst>
            </p:cNvPr>
            <p:cNvGrpSpPr/>
            <p:nvPr/>
          </p:nvGrpSpPr>
          <p:grpSpPr>
            <a:xfrm>
              <a:off x="425569" y="7424523"/>
              <a:ext cx="1936671" cy="1051560"/>
              <a:chOff x="2651760" y="1280160"/>
              <a:chExt cx="2183130" cy="1051560"/>
            </a:xfrm>
          </p:grpSpPr>
          <p:sp>
            <p:nvSpPr>
              <p:cNvPr id="116" name="Rectangle: Rounded Corners 115">
                <a:extLst>
                  <a:ext uri="{FF2B5EF4-FFF2-40B4-BE49-F238E27FC236}">
                    <a16:creationId xmlns:a16="http://schemas.microsoft.com/office/drawing/2014/main" id="{994C0BDF-269F-8165-F33C-1D26E80D5EC7}"/>
                  </a:ext>
                </a:extLst>
              </p:cNvPr>
              <p:cNvSpPr/>
              <p:nvPr/>
            </p:nvSpPr>
            <p:spPr>
              <a:xfrm>
                <a:off x="2651760" y="1280160"/>
                <a:ext cx="2183130" cy="1051560"/>
              </a:xfrm>
              <a:prstGeom prst="roundRect">
                <a:avLst>
                  <a:gd name="adj" fmla="val 6102"/>
                </a:avLst>
              </a:prstGeom>
              <a:noFill/>
              <a:ln w="1905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Ins="0" rtlCol="0" anchor="t" anchorCtr="0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200" b="0" i="0" u="none" strike="noStrike" kern="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</a:rPr>
                  <a:t>Meta de retorno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2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2400" b="1" i="0" u="none" strike="noStrike" kern="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</a:rPr>
                  <a:t>CDI + 1,0</a:t>
                </a:r>
                <a:r>
                  <a:rPr kumimoji="0" lang="pt-BR" sz="1800" b="1" i="0" u="none" strike="noStrike" kern="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</a:rPr>
                  <a:t>%</a:t>
                </a:r>
              </a:p>
            </p:txBody>
          </p: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EE1AD287-4D81-4ACA-5BEE-F34FE870DB95}"/>
                  </a:ext>
                </a:extLst>
              </p:cNvPr>
              <p:cNvCxnSpPr/>
              <p:nvPr/>
            </p:nvCxnSpPr>
            <p:spPr>
              <a:xfrm>
                <a:off x="2732507" y="1609725"/>
                <a:ext cx="1914525" cy="0"/>
              </a:xfrm>
              <a:prstGeom prst="line">
                <a:avLst/>
              </a:prstGeom>
              <a:noFill/>
              <a:ln w="1905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B3C7BF03-D1A6-2D7A-291B-A5C26D89B617}"/>
                </a:ext>
              </a:extLst>
            </p:cNvPr>
            <p:cNvGrpSpPr/>
            <p:nvPr/>
          </p:nvGrpSpPr>
          <p:grpSpPr>
            <a:xfrm>
              <a:off x="2512644" y="7424523"/>
              <a:ext cx="1936671" cy="1051560"/>
              <a:chOff x="5004434" y="1280160"/>
              <a:chExt cx="2183130" cy="1051560"/>
            </a:xfrm>
          </p:grpSpPr>
          <p:sp>
            <p:nvSpPr>
              <p:cNvPr id="114" name="Rectangle: Rounded Corners 113">
                <a:extLst>
                  <a:ext uri="{FF2B5EF4-FFF2-40B4-BE49-F238E27FC236}">
                    <a16:creationId xmlns:a16="http://schemas.microsoft.com/office/drawing/2014/main" id="{4566322E-64FB-73C9-D0AD-A27ABF46DA39}"/>
                  </a:ext>
                </a:extLst>
              </p:cNvPr>
              <p:cNvSpPr/>
              <p:nvPr/>
            </p:nvSpPr>
            <p:spPr>
              <a:xfrm>
                <a:off x="5004434" y="1280160"/>
                <a:ext cx="2183130" cy="1051560"/>
              </a:xfrm>
              <a:prstGeom prst="roundRect">
                <a:avLst>
                  <a:gd name="adj" fmla="val 5290"/>
                </a:avLst>
              </a:prstGeom>
              <a:noFill/>
              <a:ln w="1905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txBody>
              <a:bodyPr rIns="0" rtlCol="0" anchor="t" anchorCtr="0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200" b="0" i="0" u="none" strike="noStrike" kern="0" cap="none" spc="0" normalizeH="0" baseline="0" noProof="0" err="1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</a:rPr>
                  <a:t>Duration</a:t>
                </a:r>
                <a:endParaRPr kumimoji="0" lang="pt-BR" sz="12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2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sz="2400" b="1" kern="0">
                    <a:solidFill>
                      <a:schemeClr val="bg1"/>
                    </a:solidFill>
                    <a:latin typeface="Versos" panose="020B0503020204030204" pitchFamily="34" charset="0"/>
                  </a:rPr>
                  <a:t>1,64</a:t>
                </a:r>
                <a:r>
                  <a:rPr kumimoji="0" lang="pt-BR" sz="2400" b="1" i="0" u="none" strike="noStrike" kern="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</a:rPr>
                  <a:t> </a:t>
                </a:r>
                <a:r>
                  <a:rPr kumimoji="0" lang="pt-BR" sz="1800" b="1" i="0" u="none" strike="noStrike" kern="0" cap="none" spc="0" normalizeH="0" baseline="0" noProof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</a:rPr>
                  <a:t>anos</a:t>
                </a:r>
              </a:p>
            </p:txBody>
          </p: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3304AE87-C1AA-F647-20EE-FE9EF749EBE9}"/>
                  </a:ext>
                </a:extLst>
              </p:cNvPr>
              <p:cNvCxnSpPr/>
              <p:nvPr/>
            </p:nvCxnSpPr>
            <p:spPr>
              <a:xfrm>
                <a:off x="5075045" y="1609725"/>
                <a:ext cx="1914525" cy="0"/>
              </a:xfrm>
              <a:prstGeom prst="line">
                <a:avLst/>
              </a:prstGeom>
              <a:noFill/>
              <a:ln w="1905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</p:cxnSp>
        </p:grp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5BD223AC-071C-84A7-2AC3-ADFB0CCC7B33}"/>
              </a:ext>
            </a:extLst>
          </p:cNvPr>
          <p:cNvSpPr txBox="1"/>
          <p:nvPr/>
        </p:nvSpPr>
        <p:spPr>
          <a:xfrm>
            <a:off x="5431985" y="8603751"/>
            <a:ext cx="1078821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sos" panose="020B0503020204030204" pitchFamily="34" charset="0"/>
              </a:rPr>
              <a:t>Data base: 30/09/2026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C6ACB66-63DD-241F-A33F-8BDEB0EEE57C}"/>
              </a:ext>
            </a:extLst>
          </p:cNvPr>
          <p:cNvSpPr txBox="1"/>
          <p:nvPr/>
        </p:nvSpPr>
        <p:spPr>
          <a:xfrm>
            <a:off x="441325" y="8570881"/>
            <a:ext cx="1396784" cy="1881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none" lIns="36000" tIns="36000" rIns="36000" bIns="36000" rtlCol="0" anchor="ctr" anchorCtr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sos" panose="020B0503020204030204" pitchFamily="34" charset="0"/>
              </a:rPr>
              <a:t>Taxa de </a:t>
            </a:r>
            <a:r>
              <a:rPr lang="pt-BR" sz="750" kern="0">
                <a:solidFill>
                  <a:schemeClr val="bg1"/>
                </a:solidFill>
                <a:latin typeface="Versos" panose="020B0503020204030204" pitchFamily="34" charset="0"/>
              </a:rPr>
              <a:t>A</a:t>
            </a: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sos" panose="020B0503020204030204" pitchFamily="34" charset="0"/>
              </a:rPr>
              <a:t>dm &amp; Gestão: 0,8%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3293834A-D715-ABE3-5A74-70E0E8F6F8C1}"/>
              </a:ext>
            </a:extLst>
          </p:cNvPr>
          <p:cNvSpPr txBox="1"/>
          <p:nvPr/>
        </p:nvSpPr>
        <p:spPr>
          <a:xfrm>
            <a:off x="1895950" y="8565651"/>
            <a:ext cx="2743306" cy="19581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none" lIns="36000" tIns="36000" rIns="36000" bIns="36000" rtlCol="0" anchor="ctr" anchorCtr="0">
            <a:spAutoFit/>
          </a:bodyPr>
          <a:lstStyle/>
          <a:p>
            <a:pPr lvl="0" defTabSz="914400">
              <a:defRPr/>
            </a:pP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sos" panose="020B0503020204030204" pitchFamily="34" charset="0"/>
              </a:rPr>
              <a:t>Taxa de </a:t>
            </a:r>
            <a:r>
              <a:rPr lang="pt-BR" sz="750" kern="0">
                <a:solidFill>
                  <a:schemeClr val="bg1"/>
                </a:solidFill>
                <a:latin typeface="Versos" panose="020B0503020204030204" pitchFamily="34" charset="0"/>
              </a:rPr>
              <a:t>Performance</a:t>
            </a: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sos" panose="020B0503020204030204" pitchFamily="34" charset="0"/>
              </a:rPr>
              <a:t>: 20%</a:t>
            </a:r>
            <a:r>
              <a:rPr lang="pt-BR" sz="800" kern="0">
                <a:solidFill>
                  <a:srgbClr val="FFFFFF"/>
                </a:solidFill>
                <a:latin typeface="Versos Light" panose="020B0403020204030204" pitchFamily="34" charset="0"/>
                <a:cs typeface="Arial"/>
                <a:sym typeface="Arial"/>
              </a:rPr>
              <a:t> do retorno que exceder o CDI</a:t>
            </a:r>
            <a:endParaRPr kumimoji="0" lang="pt-BR" sz="75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sos" panose="020B0503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601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56A887-F3D3-C01B-A75B-73AB4DCD3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4E3AADFF-C074-F620-AA2F-C8A839834083}"/>
              </a:ext>
            </a:extLst>
          </p:cNvPr>
          <p:cNvSpPr/>
          <p:nvPr/>
        </p:nvSpPr>
        <p:spPr>
          <a:xfrm flipV="1">
            <a:off x="156411" y="-359230"/>
            <a:ext cx="6545179" cy="10008555"/>
          </a:xfrm>
          <a:prstGeom prst="round2SameRect">
            <a:avLst>
              <a:gd name="adj1" fmla="val 2696"/>
              <a:gd name="adj2" fmla="val 0"/>
            </a:avLst>
          </a:prstGeom>
          <a:gradFill>
            <a:gsLst>
              <a:gs pos="0">
                <a:srgbClr val="293A42"/>
              </a:gs>
              <a:gs pos="56000">
                <a:schemeClr val="tx1">
                  <a:lumMod val="95000"/>
                  <a:lumOff val="5000"/>
                </a:schemeClr>
              </a:gs>
            </a:gsLst>
            <a:lin ang="5400000" scaled="1"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4" name="Agrupar 43">
            <a:extLst>
              <a:ext uri="{FF2B5EF4-FFF2-40B4-BE49-F238E27FC236}">
                <a16:creationId xmlns:a16="http://schemas.microsoft.com/office/drawing/2014/main" id="{7EC8EC69-EFA5-92F2-6DC1-AFE8E9305862}"/>
              </a:ext>
            </a:extLst>
          </p:cNvPr>
          <p:cNvGrpSpPr/>
          <p:nvPr/>
        </p:nvGrpSpPr>
        <p:grpSpPr>
          <a:xfrm>
            <a:off x="2916099" y="9096262"/>
            <a:ext cx="1025803" cy="348185"/>
            <a:chOff x="1141590" y="967425"/>
            <a:chExt cx="1482725" cy="503278"/>
          </a:xfrm>
        </p:grpSpPr>
        <p:sp>
          <p:nvSpPr>
            <p:cNvPr id="45" name="object 38">
              <a:extLst>
                <a:ext uri="{FF2B5EF4-FFF2-40B4-BE49-F238E27FC236}">
                  <a16:creationId xmlns:a16="http://schemas.microsoft.com/office/drawing/2014/main" id="{DE102917-4771-2190-2304-0B09E9612A2F}"/>
                </a:ext>
              </a:extLst>
            </p:cNvPr>
            <p:cNvSpPr/>
            <p:nvPr/>
          </p:nvSpPr>
          <p:spPr>
            <a:xfrm>
              <a:off x="1141590" y="967425"/>
              <a:ext cx="1482725" cy="323215"/>
            </a:xfrm>
            <a:custGeom>
              <a:avLst/>
              <a:gdLst/>
              <a:ahLst/>
              <a:cxnLst/>
              <a:rect l="l" t="t" r="r" b="b"/>
              <a:pathLst>
                <a:path w="1482725" h="323215">
                  <a:moveTo>
                    <a:pt x="181292" y="49149"/>
                  </a:moveTo>
                  <a:lnTo>
                    <a:pt x="139052" y="12382"/>
                  </a:lnTo>
                  <a:lnTo>
                    <a:pt x="91516" y="1397"/>
                  </a:lnTo>
                  <a:lnTo>
                    <a:pt x="0" y="1397"/>
                  </a:lnTo>
                  <a:lnTo>
                    <a:pt x="0" y="49149"/>
                  </a:lnTo>
                  <a:lnTo>
                    <a:pt x="181292" y="49149"/>
                  </a:lnTo>
                  <a:close/>
                </a:path>
                <a:path w="1482725" h="323215">
                  <a:moveTo>
                    <a:pt x="207949" y="202260"/>
                  </a:moveTo>
                  <a:lnTo>
                    <a:pt x="206565" y="201282"/>
                  </a:lnTo>
                  <a:lnTo>
                    <a:pt x="206565" y="118605"/>
                  </a:lnTo>
                  <a:lnTo>
                    <a:pt x="205130" y="100876"/>
                  </a:lnTo>
                  <a:lnTo>
                    <a:pt x="200863" y="83845"/>
                  </a:lnTo>
                  <a:lnTo>
                    <a:pt x="193840" y="67754"/>
                  </a:lnTo>
                  <a:lnTo>
                    <a:pt x="184137" y="52832"/>
                  </a:lnTo>
                  <a:lnTo>
                    <a:pt x="181292" y="49149"/>
                  </a:lnTo>
                  <a:lnTo>
                    <a:pt x="178447" y="52832"/>
                  </a:lnTo>
                  <a:lnTo>
                    <a:pt x="168744" y="67754"/>
                  </a:lnTo>
                  <a:lnTo>
                    <a:pt x="161721" y="83845"/>
                  </a:lnTo>
                  <a:lnTo>
                    <a:pt x="157454" y="100876"/>
                  </a:lnTo>
                  <a:lnTo>
                    <a:pt x="156019" y="118605"/>
                  </a:lnTo>
                  <a:lnTo>
                    <a:pt x="156019" y="312712"/>
                  </a:lnTo>
                  <a:lnTo>
                    <a:pt x="206603" y="312712"/>
                  </a:lnTo>
                  <a:lnTo>
                    <a:pt x="206565" y="204266"/>
                  </a:lnTo>
                  <a:lnTo>
                    <a:pt x="207949" y="202260"/>
                  </a:lnTo>
                  <a:close/>
                </a:path>
                <a:path w="1482725" h="323215">
                  <a:moveTo>
                    <a:pt x="362572" y="1397"/>
                  </a:moveTo>
                  <a:lnTo>
                    <a:pt x="271068" y="1397"/>
                  </a:lnTo>
                  <a:lnTo>
                    <a:pt x="246456" y="4203"/>
                  </a:lnTo>
                  <a:lnTo>
                    <a:pt x="223545" y="12382"/>
                  </a:lnTo>
                  <a:lnTo>
                    <a:pt x="203073" y="25539"/>
                  </a:lnTo>
                  <a:lnTo>
                    <a:pt x="185775" y="43345"/>
                  </a:lnTo>
                  <a:lnTo>
                    <a:pt x="181292" y="49149"/>
                  </a:lnTo>
                  <a:lnTo>
                    <a:pt x="362572" y="49149"/>
                  </a:lnTo>
                  <a:lnTo>
                    <a:pt x="362572" y="1397"/>
                  </a:lnTo>
                  <a:close/>
                </a:path>
                <a:path w="1482725" h="323215">
                  <a:moveTo>
                    <a:pt x="485813" y="4102"/>
                  </a:moveTo>
                  <a:lnTo>
                    <a:pt x="436664" y="4102"/>
                  </a:lnTo>
                  <a:lnTo>
                    <a:pt x="436664" y="318668"/>
                  </a:lnTo>
                  <a:lnTo>
                    <a:pt x="485813" y="318668"/>
                  </a:lnTo>
                  <a:lnTo>
                    <a:pt x="485813" y="4102"/>
                  </a:lnTo>
                  <a:close/>
                </a:path>
                <a:path w="1482725" h="323215">
                  <a:moveTo>
                    <a:pt x="741222" y="318668"/>
                  </a:moveTo>
                  <a:lnTo>
                    <a:pt x="614705" y="4102"/>
                  </a:lnTo>
                  <a:lnTo>
                    <a:pt x="558063" y="4102"/>
                  </a:lnTo>
                  <a:lnTo>
                    <a:pt x="671436" y="274447"/>
                  </a:lnTo>
                  <a:lnTo>
                    <a:pt x="696810" y="305269"/>
                  </a:lnTo>
                  <a:lnTo>
                    <a:pt x="735876" y="318490"/>
                  </a:lnTo>
                  <a:lnTo>
                    <a:pt x="735799" y="318668"/>
                  </a:lnTo>
                  <a:lnTo>
                    <a:pt x="741222" y="318668"/>
                  </a:lnTo>
                  <a:close/>
                </a:path>
                <a:path w="1482725" h="323215">
                  <a:moveTo>
                    <a:pt x="924369" y="4102"/>
                  </a:moveTo>
                  <a:lnTo>
                    <a:pt x="867727" y="4102"/>
                  </a:lnTo>
                  <a:lnTo>
                    <a:pt x="741286" y="318490"/>
                  </a:lnTo>
                  <a:lnTo>
                    <a:pt x="741222" y="318668"/>
                  </a:lnTo>
                  <a:lnTo>
                    <a:pt x="746633" y="318668"/>
                  </a:lnTo>
                  <a:lnTo>
                    <a:pt x="746556" y="318490"/>
                  </a:lnTo>
                  <a:lnTo>
                    <a:pt x="767321" y="314388"/>
                  </a:lnTo>
                  <a:lnTo>
                    <a:pt x="785622" y="305269"/>
                  </a:lnTo>
                  <a:lnTo>
                    <a:pt x="800506" y="291757"/>
                  </a:lnTo>
                  <a:lnTo>
                    <a:pt x="810996" y="274447"/>
                  </a:lnTo>
                  <a:lnTo>
                    <a:pt x="924369" y="4102"/>
                  </a:lnTo>
                  <a:close/>
                </a:path>
                <a:path w="1482725" h="323215">
                  <a:moveTo>
                    <a:pt x="1045781" y="4102"/>
                  </a:moveTo>
                  <a:lnTo>
                    <a:pt x="996632" y="4102"/>
                  </a:lnTo>
                  <a:lnTo>
                    <a:pt x="996632" y="318668"/>
                  </a:lnTo>
                  <a:lnTo>
                    <a:pt x="1045781" y="318668"/>
                  </a:lnTo>
                  <a:lnTo>
                    <a:pt x="1045781" y="4102"/>
                  </a:lnTo>
                  <a:close/>
                </a:path>
                <a:path w="1482725" h="323215">
                  <a:moveTo>
                    <a:pt x="1482547" y="161391"/>
                  </a:moveTo>
                  <a:lnTo>
                    <a:pt x="1479207" y="127571"/>
                  </a:lnTo>
                  <a:lnTo>
                    <a:pt x="1469415" y="96316"/>
                  </a:lnTo>
                  <a:lnTo>
                    <a:pt x="1453464" y="68338"/>
                  </a:lnTo>
                  <a:lnTo>
                    <a:pt x="1436598" y="49784"/>
                  </a:lnTo>
                  <a:lnTo>
                    <a:pt x="1432026" y="44742"/>
                  </a:lnTo>
                  <a:lnTo>
                    <a:pt x="1432026" y="161391"/>
                  </a:lnTo>
                  <a:lnTo>
                    <a:pt x="1429778" y="184962"/>
                  </a:lnTo>
                  <a:lnTo>
                    <a:pt x="1412227" y="225425"/>
                  </a:lnTo>
                  <a:lnTo>
                    <a:pt x="1377772" y="255257"/>
                  </a:lnTo>
                  <a:lnTo>
                    <a:pt x="1329461" y="270992"/>
                  </a:lnTo>
                  <a:lnTo>
                    <a:pt x="1301203" y="272999"/>
                  </a:lnTo>
                  <a:lnTo>
                    <a:pt x="1272946" y="270992"/>
                  </a:lnTo>
                  <a:lnTo>
                    <a:pt x="1224622" y="255257"/>
                  </a:lnTo>
                  <a:lnTo>
                    <a:pt x="1190167" y="225425"/>
                  </a:lnTo>
                  <a:lnTo>
                    <a:pt x="1172616" y="184962"/>
                  </a:lnTo>
                  <a:lnTo>
                    <a:pt x="1170381" y="161391"/>
                  </a:lnTo>
                  <a:lnTo>
                    <a:pt x="1172616" y="137820"/>
                  </a:lnTo>
                  <a:lnTo>
                    <a:pt x="1190167" y="97358"/>
                  </a:lnTo>
                  <a:lnTo>
                    <a:pt x="1224622" y="67525"/>
                  </a:lnTo>
                  <a:lnTo>
                    <a:pt x="1272946" y="51790"/>
                  </a:lnTo>
                  <a:lnTo>
                    <a:pt x="1329461" y="51790"/>
                  </a:lnTo>
                  <a:lnTo>
                    <a:pt x="1377772" y="67525"/>
                  </a:lnTo>
                  <a:lnTo>
                    <a:pt x="1412227" y="97358"/>
                  </a:lnTo>
                  <a:lnTo>
                    <a:pt x="1429778" y="137820"/>
                  </a:lnTo>
                  <a:lnTo>
                    <a:pt x="1432026" y="161391"/>
                  </a:lnTo>
                  <a:lnTo>
                    <a:pt x="1432026" y="44742"/>
                  </a:lnTo>
                  <a:lnTo>
                    <a:pt x="1373835" y="11303"/>
                  </a:lnTo>
                  <a:lnTo>
                    <a:pt x="1301203" y="0"/>
                  </a:lnTo>
                  <a:lnTo>
                    <a:pt x="1263269" y="2857"/>
                  </a:lnTo>
                  <a:lnTo>
                    <a:pt x="1197571" y="25184"/>
                  </a:lnTo>
                  <a:lnTo>
                    <a:pt x="1148943" y="68338"/>
                  </a:lnTo>
                  <a:lnTo>
                    <a:pt x="1123200" y="127571"/>
                  </a:lnTo>
                  <a:lnTo>
                    <a:pt x="1119860" y="161391"/>
                  </a:lnTo>
                  <a:lnTo>
                    <a:pt x="1123200" y="195211"/>
                  </a:lnTo>
                  <a:lnTo>
                    <a:pt x="1148943" y="254444"/>
                  </a:lnTo>
                  <a:lnTo>
                    <a:pt x="1197571" y="297599"/>
                  </a:lnTo>
                  <a:lnTo>
                    <a:pt x="1263269" y="319925"/>
                  </a:lnTo>
                  <a:lnTo>
                    <a:pt x="1301203" y="322770"/>
                  </a:lnTo>
                  <a:lnTo>
                    <a:pt x="1339138" y="319925"/>
                  </a:lnTo>
                  <a:lnTo>
                    <a:pt x="1373835" y="311480"/>
                  </a:lnTo>
                  <a:lnTo>
                    <a:pt x="1404835" y="297599"/>
                  </a:lnTo>
                  <a:lnTo>
                    <a:pt x="1431683" y="278422"/>
                  </a:lnTo>
                  <a:lnTo>
                    <a:pt x="1436598" y="272999"/>
                  </a:lnTo>
                  <a:lnTo>
                    <a:pt x="1453464" y="254444"/>
                  </a:lnTo>
                  <a:lnTo>
                    <a:pt x="1469415" y="226466"/>
                  </a:lnTo>
                  <a:lnTo>
                    <a:pt x="1479207" y="195211"/>
                  </a:lnTo>
                  <a:lnTo>
                    <a:pt x="1482547" y="161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31190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614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pic>
          <p:nvPicPr>
            <p:cNvPr id="46" name="object 39">
              <a:extLst>
                <a:ext uri="{FF2B5EF4-FFF2-40B4-BE49-F238E27FC236}">
                  <a16:creationId xmlns:a16="http://schemas.microsoft.com/office/drawing/2014/main" id="{3FB06ECB-0C19-5E99-2176-3CF2E60E9587}"/>
                </a:ext>
              </a:extLst>
            </p:cNvPr>
            <p:cNvPicPr/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71287" y="1348613"/>
              <a:ext cx="107535" cy="122090"/>
            </a:xfrm>
            <a:prstGeom prst="rect">
              <a:avLst/>
            </a:prstGeom>
          </p:spPr>
        </p:pic>
        <p:pic>
          <p:nvPicPr>
            <p:cNvPr id="47" name="object 40">
              <a:extLst>
                <a:ext uri="{FF2B5EF4-FFF2-40B4-BE49-F238E27FC236}">
                  <a16:creationId xmlns:a16="http://schemas.microsoft.com/office/drawing/2014/main" id="{3F93FD8D-47D0-D56B-1918-690F5D51AF23}"/>
                </a:ext>
              </a:extLst>
            </p:cNvPr>
            <p:cNvPicPr/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748609" y="1349641"/>
              <a:ext cx="109064" cy="120038"/>
            </a:xfrm>
            <a:prstGeom prst="rect">
              <a:avLst/>
            </a:prstGeom>
          </p:spPr>
        </p:pic>
        <p:pic>
          <p:nvPicPr>
            <p:cNvPr id="48" name="object 41">
              <a:extLst>
                <a:ext uri="{FF2B5EF4-FFF2-40B4-BE49-F238E27FC236}">
                  <a16:creationId xmlns:a16="http://schemas.microsoft.com/office/drawing/2014/main" id="{C1A4C2F8-0CAD-C5A4-CE98-DA1C132EE572}"/>
                </a:ext>
              </a:extLst>
            </p:cNvPr>
            <p:cNvPicPr/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936383" y="1349635"/>
              <a:ext cx="85903" cy="120048"/>
            </a:xfrm>
            <a:prstGeom prst="rect">
              <a:avLst/>
            </a:prstGeom>
          </p:spPr>
        </p:pic>
        <p:sp>
          <p:nvSpPr>
            <p:cNvPr id="49" name="object 42">
              <a:extLst>
                <a:ext uri="{FF2B5EF4-FFF2-40B4-BE49-F238E27FC236}">
                  <a16:creationId xmlns:a16="http://schemas.microsoft.com/office/drawing/2014/main" id="{E19BA9F0-8F3B-D985-DD6B-E6122972A8C8}"/>
                </a:ext>
              </a:extLst>
            </p:cNvPr>
            <p:cNvSpPr/>
            <p:nvPr/>
          </p:nvSpPr>
          <p:spPr>
            <a:xfrm>
              <a:off x="2103399" y="1349645"/>
              <a:ext cx="189230" cy="120650"/>
            </a:xfrm>
            <a:custGeom>
              <a:avLst/>
              <a:gdLst/>
              <a:ahLst/>
              <a:cxnLst/>
              <a:rect l="l" t="t" r="r" b="b"/>
              <a:pathLst>
                <a:path w="189230" h="120650">
                  <a:moveTo>
                    <a:pt x="14909" y="0"/>
                  </a:moveTo>
                  <a:lnTo>
                    <a:pt x="0" y="0"/>
                  </a:lnTo>
                  <a:lnTo>
                    <a:pt x="0" y="120040"/>
                  </a:lnTo>
                  <a:lnTo>
                    <a:pt x="14909" y="120040"/>
                  </a:lnTo>
                  <a:lnTo>
                    <a:pt x="14909" y="0"/>
                  </a:lnTo>
                  <a:close/>
                </a:path>
                <a:path w="189230" h="120650">
                  <a:moveTo>
                    <a:pt x="188798" y="0"/>
                  </a:moveTo>
                  <a:lnTo>
                    <a:pt x="96024" y="0"/>
                  </a:lnTo>
                  <a:lnTo>
                    <a:pt x="96024" y="13970"/>
                  </a:lnTo>
                  <a:lnTo>
                    <a:pt x="134950" y="13970"/>
                  </a:lnTo>
                  <a:lnTo>
                    <a:pt x="134950" y="120650"/>
                  </a:lnTo>
                  <a:lnTo>
                    <a:pt x="149885" y="120650"/>
                  </a:lnTo>
                  <a:lnTo>
                    <a:pt x="149885" y="13970"/>
                  </a:lnTo>
                  <a:lnTo>
                    <a:pt x="188798" y="13970"/>
                  </a:lnTo>
                  <a:lnTo>
                    <a:pt x="1887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31190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614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pic>
          <p:nvPicPr>
            <p:cNvPr id="50" name="object 43">
              <a:extLst>
                <a:ext uri="{FF2B5EF4-FFF2-40B4-BE49-F238E27FC236}">
                  <a16:creationId xmlns:a16="http://schemas.microsoft.com/office/drawing/2014/main" id="{6F4FB24E-E344-D939-B312-38F89C3EF2BD}"/>
                </a:ext>
              </a:extLst>
            </p:cNvPr>
            <p:cNvPicPr/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46400" y="1349641"/>
              <a:ext cx="109064" cy="120038"/>
            </a:xfrm>
            <a:prstGeom prst="rect">
              <a:avLst/>
            </a:prstGeom>
          </p:spPr>
        </p:pic>
        <p:sp>
          <p:nvSpPr>
            <p:cNvPr id="51" name="object 44">
              <a:extLst>
                <a:ext uri="{FF2B5EF4-FFF2-40B4-BE49-F238E27FC236}">
                  <a16:creationId xmlns:a16="http://schemas.microsoft.com/office/drawing/2014/main" id="{E0EC9DCE-6B76-74F4-0C66-6F39CC434000}"/>
                </a:ext>
              </a:extLst>
            </p:cNvPr>
            <p:cNvSpPr/>
            <p:nvPr/>
          </p:nvSpPr>
          <p:spPr>
            <a:xfrm>
              <a:off x="2534158" y="1349035"/>
              <a:ext cx="69850" cy="120650"/>
            </a:xfrm>
            <a:custGeom>
              <a:avLst/>
              <a:gdLst/>
              <a:ahLst/>
              <a:cxnLst/>
              <a:rect l="l" t="t" r="r" b="b"/>
              <a:pathLst>
                <a:path w="69850" h="120650">
                  <a:moveTo>
                    <a:pt x="69621" y="106680"/>
                  </a:moveTo>
                  <a:lnTo>
                    <a:pt x="14909" y="106680"/>
                  </a:lnTo>
                  <a:lnTo>
                    <a:pt x="14909" y="0"/>
                  </a:lnTo>
                  <a:lnTo>
                    <a:pt x="0" y="0"/>
                  </a:lnTo>
                  <a:lnTo>
                    <a:pt x="0" y="106680"/>
                  </a:lnTo>
                  <a:lnTo>
                    <a:pt x="0" y="120650"/>
                  </a:lnTo>
                  <a:lnTo>
                    <a:pt x="69621" y="120650"/>
                  </a:lnTo>
                  <a:lnTo>
                    <a:pt x="69621" y="1066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31190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614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2E0FE8C8-9468-4938-6D0C-9D00ED4FF16B}"/>
              </a:ext>
            </a:extLst>
          </p:cNvPr>
          <p:cNvGrpSpPr/>
          <p:nvPr/>
        </p:nvGrpSpPr>
        <p:grpSpPr>
          <a:xfrm>
            <a:off x="455007" y="2657831"/>
            <a:ext cx="5961668" cy="2153382"/>
            <a:chOff x="455007" y="2180877"/>
            <a:chExt cx="5961668" cy="2153382"/>
          </a:xfrm>
        </p:grpSpPr>
        <p:sp>
          <p:nvSpPr>
            <p:cNvPr id="11" name="Retângulo: Cantos Arredondados 43">
              <a:extLst>
                <a:ext uri="{FF2B5EF4-FFF2-40B4-BE49-F238E27FC236}">
                  <a16:creationId xmlns:a16="http://schemas.microsoft.com/office/drawing/2014/main" id="{4177DC3D-BCDC-000A-1B2B-D58440F62E89}"/>
                </a:ext>
              </a:extLst>
            </p:cNvPr>
            <p:cNvSpPr/>
            <p:nvPr/>
          </p:nvSpPr>
          <p:spPr>
            <a:xfrm>
              <a:off x="455007" y="2180877"/>
              <a:ext cx="5961668" cy="2153382"/>
            </a:xfrm>
            <a:prstGeom prst="roundRect">
              <a:avLst>
                <a:gd name="adj" fmla="val 3586"/>
              </a:avLst>
            </a:prstGeom>
            <a:solidFill>
              <a:schemeClr val="tx1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5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lang="pt-BR" sz="1698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  <a:sym typeface="Arial"/>
              </a:endParaRPr>
            </a:p>
          </p:txBody>
        </p: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2794C5F8-943A-5C4D-D608-2740C0378F6D}"/>
                </a:ext>
              </a:extLst>
            </p:cNvPr>
            <p:cNvGrpSpPr/>
            <p:nvPr/>
          </p:nvGrpSpPr>
          <p:grpSpPr>
            <a:xfrm>
              <a:off x="829711" y="2518430"/>
              <a:ext cx="5366042" cy="1478276"/>
              <a:chOff x="829711" y="2359105"/>
              <a:chExt cx="5366042" cy="1478276"/>
            </a:xfrm>
          </p:grpSpPr>
          <p:sp>
            <p:nvSpPr>
              <p:cNvPr id="12" name="object 12">
                <a:extLst>
                  <a:ext uri="{FF2B5EF4-FFF2-40B4-BE49-F238E27FC236}">
                    <a16:creationId xmlns:a16="http://schemas.microsoft.com/office/drawing/2014/main" id="{BFBCD0AB-B013-B04B-209C-2D2B70F856D0}"/>
                  </a:ext>
                </a:extLst>
              </p:cNvPr>
              <p:cNvSpPr txBox="1"/>
              <p:nvPr/>
            </p:nvSpPr>
            <p:spPr>
              <a:xfrm>
                <a:off x="1500775" y="2359105"/>
                <a:ext cx="4694978" cy="246221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defTabSz="554492">
                  <a:defRPr/>
                </a:pPr>
                <a:r>
                  <a:rPr lang="pt-BR" sz="1600" b="1" kern="0">
                    <a:solidFill>
                      <a:prstClr val="white"/>
                    </a:solidFill>
                    <a:latin typeface="Versos" panose="020B0503020204030204" pitchFamily="34" charset="0"/>
                    <a:cs typeface="Arial"/>
                    <a:sym typeface="Arial"/>
                  </a:rPr>
                  <a:t>Expertise de Crédito com Gestão Ativa</a:t>
                </a:r>
              </a:p>
            </p:txBody>
          </p:sp>
          <p:sp>
            <p:nvSpPr>
              <p:cNvPr id="13" name="object 12">
                <a:extLst>
                  <a:ext uri="{FF2B5EF4-FFF2-40B4-BE49-F238E27FC236}">
                    <a16:creationId xmlns:a16="http://schemas.microsoft.com/office/drawing/2014/main" id="{16AF20E3-D22A-1FE2-E7EF-0C052CF0D078}"/>
                  </a:ext>
                </a:extLst>
              </p:cNvPr>
              <p:cNvSpPr txBox="1"/>
              <p:nvPr/>
            </p:nvSpPr>
            <p:spPr>
              <a:xfrm>
                <a:off x="829711" y="2814331"/>
                <a:ext cx="5366042" cy="1023050"/>
              </a:xfrm>
              <a:prstGeom prst="rect">
                <a:avLst/>
              </a:prstGeom>
            </p:spPr>
            <p:txBody>
              <a:bodyPr vert="horz" wrap="square" lIns="0" tIns="7316" rIns="0" bIns="0" rtlCol="0" anchor="t">
                <a:spAutoFit/>
              </a:bodyPr>
              <a:lstStyle/>
              <a:p>
                <a:pPr marL="0" marR="110898" lvl="0" indent="0" algn="l" defTabSz="554492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cs typeface="Arial"/>
                    <a:sym typeface="Arial"/>
                  </a:rPr>
                  <a:t>Ampla experiência para aproveitar</a:t>
                </a:r>
                <a:r>
                  <a:rPr lang="pt-BR" sz="1400" kern="0">
                    <a:solidFill>
                      <a:srgbClr val="FFFFFF"/>
                    </a:solidFill>
                    <a:latin typeface="Versos Light" panose="020B0403020204030204" pitchFamily="34" charset="0"/>
                    <a:cs typeface="Arial"/>
                    <a:sym typeface="Arial"/>
                  </a:rPr>
                  <a:t> </a:t>
                </a:r>
                <a:br>
                  <a:rPr lang="pt-BR" sz="1400" kern="0">
                    <a:solidFill>
                      <a:srgbClr val="FFFFFF"/>
                    </a:solidFill>
                    <a:latin typeface="Versos Light" panose="020B0403020204030204" pitchFamily="34" charset="0"/>
                    <a:cs typeface="Arial"/>
                    <a:sym typeface="Arial"/>
                  </a:rPr>
                </a:br>
                <a: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cs typeface="Arial"/>
                    <a:sym typeface="Arial"/>
                  </a:rPr>
                  <a:t>oportunidades no mercado primário e secundário. </a:t>
                </a:r>
              </a:p>
              <a:p>
                <a:pPr marL="0" marR="110898" lvl="0" indent="0" algn="l" defTabSz="554492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1400" b="0" i="0" u="none" strike="noStrike" kern="0" cap="none" spc="0" normalizeH="0" baseline="0" noProof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cs typeface="Arial"/>
                    <a:sym typeface="Arial"/>
                  </a:rPr>
                  <a:t>Asset</a:t>
                </a:r>
                <a: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cs typeface="Arial"/>
                    <a:sym typeface="Arial"/>
                  </a:rPr>
                  <a:t> Independente com Acionistas Robustos.</a:t>
                </a:r>
                <a:endParaRPr lang="pt-BR" sz="1400" kern="0">
                  <a:solidFill>
                    <a:srgbClr val="FFFFFF"/>
                  </a:solidFill>
                  <a:latin typeface="Versos Light" panose="020B0403020204030204" pitchFamily="34" charset="0"/>
                  <a:cs typeface="Arial"/>
                  <a:sym typeface="Arial"/>
                </a:endParaRPr>
              </a:p>
              <a:p>
                <a:pPr marL="0" marR="110898" lvl="0" indent="0" algn="l" defTabSz="554492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cs typeface="Arial"/>
                    <a:sym typeface="Arial"/>
                  </a:rPr>
                  <a:t>Diversificação de emissores e setores.</a:t>
                </a:r>
              </a:p>
            </p:txBody>
          </p:sp>
          <p:grpSp>
            <p:nvGrpSpPr>
              <p:cNvPr id="18" name="Agrupar 17">
                <a:extLst>
                  <a:ext uri="{FF2B5EF4-FFF2-40B4-BE49-F238E27FC236}">
                    <a16:creationId xmlns:a16="http://schemas.microsoft.com/office/drawing/2014/main" id="{A61CC9A6-866C-DC80-BD1D-37CA18A5B0DD}"/>
                  </a:ext>
                </a:extLst>
              </p:cNvPr>
              <p:cNvGrpSpPr/>
              <p:nvPr/>
            </p:nvGrpSpPr>
            <p:grpSpPr>
              <a:xfrm rot="10800000">
                <a:off x="829711" y="2435295"/>
                <a:ext cx="481655" cy="119713"/>
                <a:chOff x="6558860" y="2846873"/>
                <a:chExt cx="1049081" cy="260743"/>
              </a:xfrm>
            </p:grpSpPr>
            <p:sp>
              <p:nvSpPr>
                <p:cNvPr id="19" name="Elipse 1">
                  <a:extLst>
                    <a:ext uri="{FF2B5EF4-FFF2-40B4-BE49-F238E27FC236}">
                      <a16:creationId xmlns:a16="http://schemas.microsoft.com/office/drawing/2014/main" id="{A76DED72-59FA-F3C3-551B-5DD33D42F305}"/>
                    </a:ext>
                  </a:extLst>
                </p:cNvPr>
                <p:cNvSpPr/>
                <p:nvPr/>
              </p:nvSpPr>
              <p:spPr>
                <a:xfrm>
                  <a:off x="6558860" y="2846873"/>
                  <a:ext cx="260743" cy="260743"/>
                </a:xfrm>
                <a:prstGeom prst="ellipse">
                  <a:avLst/>
                </a:prstGeom>
                <a:noFill/>
                <a:ln w="19050">
                  <a:solidFill>
                    <a:srgbClr val="ABC6CD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55449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endParaRPr kumimoji="0" lang="pt-BR" sz="1092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  <a:sym typeface="Arial"/>
                  </a:endParaRPr>
                </a:p>
              </p:txBody>
            </p:sp>
            <p:sp>
              <p:nvSpPr>
                <p:cNvPr id="34" name="Elipse 3">
                  <a:extLst>
                    <a:ext uri="{FF2B5EF4-FFF2-40B4-BE49-F238E27FC236}">
                      <a16:creationId xmlns:a16="http://schemas.microsoft.com/office/drawing/2014/main" id="{CE7840A1-A391-EE21-CD2D-CD0D58875B21}"/>
                    </a:ext>
                  </a:extLst>
                </p:cNvPr>
                <p:cNvSpPr/>
                <p:nvPr/>
              </p:nvSpPr>
              <p:spPr>
                <a:xfrm>
                  <a:off x="6956228" y="2846873"/>
                  <a:ext cx="260743" cy="260743"/>
                </a:xfrm>
                <a:prstGeom prst="ellipse">
                  <a:avLst/>
                </a:prstGeom>
                <a:noFill/>
                <a:ln w="19050">
                  <a:solidFill>
                    <a:srgbClr val="ABC6CD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55449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endParaRPr kumimoji="0" lang="pt-BR" sz="1092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  <a:sym typeface="Arial"/>
                  </a:endParaRPr>
                </a:p>
              </p:txBody>
            </p:sp>
            <p:sp>
              <p:nvSpPr>
                <p:cNvPr id="35" name="Elipse 8">
                  <a:extLst>
                    <a:ext uri="{FF2B5EF4-FFF2-40B4-BE49-F238E27FC236}">
                      <a16:creationId xmlns:a16="http://schemas.microsoft.com/office/drawing/2014/main" id="{C7B89A28-9094-6119-30A1-45B72BC584CA}"/>
                    </a:ext>
                  </a:extLst>
                </p:cNvPr>
                <p:cNvSpPr/>
                <p:nvPr/>
              </p:nvSpPr>
              <p:spPr>
                <a:xfrm>
                  <a:off x="7347198" y="2846873"/>
                  <a:ext cx="260743" cy="260743"/>
                </a:xfrm>
                <a:prstGeom prst="ellipse">
                  <a:avLst/>
                </a:prstGeom>
                <a:solidFill>
                  <a:srgbClr val="ABC6CD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55449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endParaRPr kumimoji="0" lang="pt-BR" sz="1092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  <a:sym typeface="Arial"/>
                  </a:endParaRPr>
                </a:p>
              </p:txBody>
            </p:sp>
          </p:grpSp>
        </p:grp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571F1459-A9A2-1D00-A87D-5CAF989BAC32}"/>
              </a:ext>
            </a:extLst>
          </p:cNvPr>
          <p:cNvGrpSpPr/>
          <p:nvPr/>
        </p:nvGrpSpPr>
        <p:grpSpPr>
          <a:xfrm>
            <a:off x="398206" y="516251"/>
            <a:ext cx="5234508" cy="1081721"/>
            <a:chOff x="300200" y="996099"/>
            <a:chExt cx="5234508" cy="1081721"/>
          </a:xfrm>
        </p:grpSpPr>
        <p:sp>
          <p:nvSpPr>
            <p:cNvPr id="79" name="object 13">
              <a:extLst>
                <a:ext uri="{FF2B5EF4-FFF2-40B4-BE49-F238E27FC236}">
                  <a16:creationId xmlns:a16="http://schemas.microsoft.com/office/drawing/2014/main" id="{8C2A6169-BCE9-0C99-F110-C692F9A14D92}"/>
                </a:ext>
              </a:extLst>
            </p:cNvPr>
            <p:cNvSpPr txBox="1"/>
            <p:nvPr/>
          </p:nvSpPr>
          <p:spPr>
            <a:xfrm>
              <a:off x="300200" y="996099"/>
              <a:ext cx="3886870" cy="438275"/>
            </a:xfrm>
            <a:prstGeom prst="rect">
              <a:avLst/>
            </a:prstGeom>
          </p:spPr>
          <p:txBody>
            <a:bodyPr vert="horz" wrap="square" lIns="0" tIns="7316" rIns="0" bIns="0" rtlCol="0">
              <a:spAutoFit/>
            </a:bodyPr>
            <a:lstStyle/>
            <a:p>
              <a:pPr marL="0" marR="0" lvl="0" indent="0" algn="l" defTabSz="55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2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sos" panose="020B0503020204030204" pitchFamily="34" charset="77"/>
                  <a:cs typeface="Arial"/>
                  <a:sym typeface="Arial"/>
                </a:rPr>
                <a:t>Por que investir no </a:t>
              </a:r>
              <a:endParaRPr kumimoji="0" lang="pt-BR" sz="2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sos" panose="020B0503020204030204" pitchFamily="34" charset="0"/>
                <a:cs typeface="Arial"/>
                <a:sym typeface="Arial"/>
              </a:endParaRPr>
            </a:p>
          </p:txBody>
        </p:sp>
        <p:sp>
          <p:nvSpPr>
            <p:cNvPr id="82" name="object 13">
              <a:extLst>
                <a:ext uri="{FF2B5EF4-FFF2-40B4-BE49-F238E27FC236}">
                  <a16:creationId xmlns:a16="http://schemas.microsoft.com/office/drawing/2014/main" id="{CEEE2C26-2AA5-A442-72F5-6BB4003478F7}"/>
                </a:ext>
              </a:extLst>
            </p:cNvPr>
            <p:cNvSpPr txBox="1"/>
            <p:nvPr/>
          </p:nvSpPr>
          <p:spPr>
            <a:xfrm>
              <a:off x="4963670" y="1350374"/>
              <a:ext cx="571038" cy="727446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0" marR="0" lvl="0" indent="0" algn="l" defTabSz="55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56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sos" panose="020B0503020204030204" pitchFamily="34" charset="77"/>
                  <a:cs typeface="Arial"/>
                  <a:sym typeface="Arial"/>
                </a:rPr>
                <a:t>?</a:t>
              </a:r>
              <a:endParaRPr kumimoji="0" lang="pt-BR" sz="5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sos" panose="020B0503020204030204" pitchFamily="34" charset="0"/>
                <a:cs typeface="Arial"/>
                <a:sym typeface="Arial"/>
              </a:endParaRPr>
            </a:p>
          </p:txBody>
        </p:sp>
      </p:grpSp>
      <p:pic>
        <p:nvPicPr>
          <p:cNvPr id="87" name="Graphic 86">
            <a:extLst>
              <a:ext uri="{FF2B5EF4-FFF2-40B4-BE49-F238E27FC236}">
                <a16:creationId xmlns:a16="http://schemas.microsoft.com/office/drawing/2014/main" id="{1262B3EE-E552-98EE-A27E-802D693E67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5825" y="1107779"/>
            <a:ext cx="4553129" cy="490193"/>
          </a:xfrm>
          <a:prstGeom prst="rect">
            <a:avLst/>
          </a:prstGeom>
        </p:spPr>
      </p:pic>
      <p:grpSp>
        <p:nvGrpSpPr>
          <p:cNvPr id="91" name="Group 90">
            <a:extLst>
              <a:ext uri="{FF2B5EF4-FFF2-40B4-BE49-F238E27FC236}">
                <a16:creationId xmlns:a16="http://schemas.microsoft.com/office/drawing/2014/main" id="{28850080-8342-8E35-5C74-9ED50FE11D68}"/>
              </a:ext>
            </a:extLst>
          </p:cNvPr>
          <p:cNvGrpSpPr/>
          <p:nvPr/>
        </p:nvGrpSpPr>
        <p:grpSpPr>
          <a:xfrm>
            <a:off x="455007" y="4705427"/>
            <a:ext cx="5961668" cy="2153382"/>
            <a:chOff x="455007" y="2180877"/>
            <a:chExt cx="5961668" cy="2153382"/>
          </a:xfrm>
        </p:grpSpPr>
        <p:sp>
          <p:nvSpPr>
            <p:cNvPr id="92" name="Retângulo: Cantos Arredondados 43">
              <a:extLst>
                <a:ext uri="{FF2B5EF4-FFF2-40B4-BE49-F238E27FC236}">
                  <a16:creationId xmlns:a16="http://schemas.microsoft.com/office/drawing/2014/main" id="{0BF67549-3F9B-F495-7AF1-24BDDA16865F}"/>
                </a:ext>
              </a:extLst>
            </p:cNvPr>
            <p:cNvSpPr/>
            <p:nvPr/>
          </p:nvSpPr>
          <p:spPr>
            <a:xfrm>
              <a:off x="455007" y="2180877"/>
              <a:ext cx="5961668" cy="2153382"/>
            </a:xfrm>
            <a:prstGeom prst="roundRect">
              <a:avLst>
                <a:gd name="adj" fmla="val 3586"/>
              </a:avLst>
            </a:prstGeom>
            <a:solidFill>
              <a:srgbClr val="293A42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5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lang="pt-BR" sz="1698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  <a:sym typeface="Arial"/>
              </a:endParaRPr>
            </a:p>
          </p:txBody>
        </p: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6742D6B6-006A-5A06-9BD7-471BCD91124E}"/>
                </a:ext>
              </a:extLst>
            </p:cNvPr>
            <p:cNvGrpSpPr/>
            <p:nvPr/>
          </p:nvGrpSpPr>
          <p:grpSpPr>
            <a:xfrm>
              <a:off x="829711" y="2518430"/>
              <a:ext cx="5366042" cy="893501"/>
              <a:chOff x="829711" y="2359105"/>
              <a:chExt cx="5366042" cy="893501"/>
            </a:xfrm>
          </p:grpSpPr>
          <p:sp>
            <p:nvSpPr>
              <p:cNvPr id="94" name="object 12">
                <a:extLst>
                  <a:ext uri="{FF2B5EF4-FFF2-40B4-BE49-F238E27FC236}">
                    <a16:creationId xmlns:a16="http://schemas.microsoft.com/office/drawing/2014/main" id="{194462AE-10A0-C49D-091F-D2267DA769A6}"/>
                  </a:ext>
                </a:extLst>
              </p:cNvPr>
              <p:cNvSpPr txBox="1"/>
              <p:nvPr/>
            </p:nvSpPr>
            <p:spPr>
              <a:xfrm>
                <a:off x="1500775" y="2359105"/>
                <a:ext cx="4694978" cy="246221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0" marR="0" lvl="0" indent="0" algn="l" defTabSz="55449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1600" b="1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Análise de Crédito Criteriosa </a:t>
                </a:r>
              </a:p>
            </p:txBody>
          </p:sp>
          <p:sp>
            <p:nvSpPr>
              <p:cNvPr id="95" name="object 12">
                <a:extLst>
                  <a:ext uri="{FF2B5EF4-FFF2-40B4-BE49-F238E27FC236}">
                    <a16:creationId xmlns:a16="http://schemas.microsoft.com/office/drawing/2014/main" id="{41591545-ADAB-149D-6FBC-DECE168568D1}"/>
                  </a:ext>
                </a:extLst>
              </p:cNvPr>
              <p:cNvSpPr txBox="1"/>
              <p:nvPr/>
            </p:nvSpPr>
            <p:spPr>
              <a:xfrm>
                <a:off x="829711" y="2814331"/>
                <a:ext cx="5366042" cy="438275"/>
              </a:xfrm>
              <a:prstGeom prst="rect">
                <a:avLst/>
              </a:prstGeom>
            </p:spPr>
            <p:txBody>
              <a:bodyPr vert="horz" wrap="square" lIns="0" tIns="7316" rIns="0" bIns="0" rtlCol="0" anchor="t">
                <a:spAutoFit/>
              </a:bodyPr>
              <a:lstStyle/>
              <a:p>
                <a:pPr marL="0" marR="110898" lvl="0" indent="0" algn="l" defTabSz="554492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cs typeface="Arial"/>
                    <a:sym typeface="Arial"/>
                  </a:rPr>
                  <a:t>Análise independente e acompanhamento da </a:t>
                </a:r>
                <a:b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cs typeface="Arial"/>
                    <a:sym typeface="Arial"/>
                  </a:rPr>
                </a:br>
                <a: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cs typeface="Arial"/>
                    <a:sym typeface="Arial"/>
                  </a:rPr>
                  <a:t>carteira com ferramenta proprietária de rating.</a:t>
                </a:r>
              </a:p>
            </p:txBody>
          </p:sp>
          <p:grpSp>
            <p:nvGrpSpPr>
              <p:cNvPr id="96" name="Agrupar 17">
                <a:extLst>
                  <a:ext uri="{FF2B5EF4-FFF2-40B4-BE49-F238E27FC236}">
                    <a16:creationId xmlns:a16="http://schemas.microsoft.com/office/drawing/2014/main" id="{6C880E4B-3434-DB58-B138-1507C4BACFBD}"/>
                  </a:ext>
                </a:extLst>
              </p:cNvPr>
              <p:cNvGrpSpPr/>
              <p:nvPr/>
            </p:nvGrpSpPr>
            <p:grpSpPr>
              <a:xfrm rot="10800000">
                <a:off x="829711" y="2435295"/>
                <a:ext cx="481655" cy="119713"/>
                <a:chOff x="6558860" y="2846873"/>
                <a:chExt cx="1049081" cy="260743"/>
              </a:xfrm>
            </p:grpSpPr>
            <p:sp>
              <p:nvSpPr>
                <p:cNvPr id="97" name="Elipse 1">
                  <a:extLst>
                    <a:ext uri="{FF2B5EF4-FFF2-40B4-BE49-F238E27FC236}">
                      <a16:creationId xmlns:a16="http://schemas.microsoft.com/office/drawing/2014/main" id="{6DBE5DEC-EA90-11A5-69AF-91FDE279BBDC}"/>
                    </a:ext>
                  </a:extLst>
                </p:cNvPr>
                <p:cNvSpPr/>
                <p:nvPr/>
              </p:nvSpPr>
              <p:spPr>
                <a:xfrm>
                  <a:off x="6558860" y="2846873"/>
                  <a:ext cx="260743" cy="260743"/>
                </a:xfrm>
                <a:prstGeom prst="ellipse">
                  <a:avLst/>
                </a:prstGeom>
                <a:noFill/>
                <a:ln w="19050">
                  <a:solidFill>
                    <a:srgbClr val="ABC6CD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55449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endParaRPr kumimoji="0" lang="pt-BR" sz="1092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  <a:sym typeface="Arial"/>
                  </a:endParaRPr>
                </a:p>
              </p:txBody>
            </p:sp>
            <p:sp>
              <p:nvSpPr>
                <p:cNvPr id="98" name="Elipse 3">
                  <a:extLst>
                    <a:ext uri="{FF2B5EF4-FFF2-40B4-BE49-F238E27FC236}">
                      <a16:creationId xmlns:a16="http://schemas.microsoft.com/office/drawing/2014/main" id="{3CCB5263-5A7B-2D7E-D768-BE3EDC2A5400}"/>
                    </a:ext>
                  </a:extLst>
                </p:cNvPr>
                <p:cNvSpPr/>
                <p:nvPr/>
              </p:nvSpPr>
              <p:spPr>
                <a:xfrm>
                  <a:off x="6956228" y="2846873"/>
                  <a:ext cx="260743" cy="260743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55449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endParaRPr kumimoji="0" lang="pt-BR" sz="1092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  <a:sym typeface="Arial"/>
                  </a:endParaRPr>
                </a:p>
              </p:txBody>
            </p:sp>
            <p:sp>
              <p:nvSpPr>
                <p:cNvPr id="99" name="Elipse 8">
                  <a:extLst>
                    <a:ext uri="{FF2B5EF4-FFF2-40B4-BE49-F238E27FC236}">
                      <a16:creationId xmlns:a16="http://schemas.microsoft.com/office/drawing/2014/main" id="{4A39E5C1-578E-3962-336B-8649BC3999BF}"/>
                    </a:ext>
                  </a:extLst>
                </p:cNvPr>
                <p:cNvSpPr/>
                <p:nvPr/>
              </p:nvSpPr>
              <p:spPr>
                <a:xfrm>
                  <a:off x="7347198" y="2846873"/>
                  <a:ext cx="260743" cy="260743"/>
                </a:xfrm>
                <a:prstGeom prst="ellipse">
                  <a:avLst/>
                </a:prstGeom>
                <a:solidFill>
                  <a:srgbClr val="ABC6CD"/>
                </a:solidFill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55449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endParaRPr kumimoji="0" lang="pt-BR" sz="1092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  <a:sym typeface="Arial"/>
                  </a:endParaRPr>
                </a:p>
              </p:txBody>
            </p:sp>
          </p:grpSp>
        </p:grp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A5AA8559-643C-1FBF-3922-814C6A3DE962}"/>
              </a:ext>
            </a:extLst>
          </p:cNvPr>
          <p:cNvGrpSpPr/>
          <p:nvPr/>
        </p:nvGrpSpPr>
        <p:grpSpPr>
          <a:xfrm>
            <a:off x="455007" y="6669194"/>
            <a:ext cx="6572540" cy="2153382"/>
            <a:chOff x="455007" y="2180877"/>
            <a:chExt cx="6572540" cy="2153382"/>
          </a:xfrm>
        </p:grpSpPr>
        <p:sp>
          <p:nvSpPr>
            <p:cNvPr id="101" name="Retângulo: Cantos Arredondados 43">
              <a:extLst>
                <a:ext uri="{FF2B5EF4-FFF2-40B4-BE49-F238E27FC236}">
                  <a16:creationId xmlns:a16="http://schemas.microsoft.com/office/drawing/2014/main" id="{48242BE2-8C83-7646-5758-205B6174A878}"/>
                </a:ext>
              </a:extLst>
            </p:cNvPr>
            <p:cNvSpPr/>
            <p:nvPr/>
          </p:nvSpPr>
          <p:spPr>
            <a:xfrm>
              <a:off x="455007" y="2180877"/>
              <a:ext cx="5961668" cy="2153382"/>
            </a:xfrm>
            <a:prstGeom prst="roundRect">
              <a:avLst>
                <a:gd name="adj" fmla="val 3586"/>
              </a:avLst>
            </a:prstGeom>
            <a:solidFill>
              <a:srgbClr val="465C69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55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lang="pt-BR" sz="1698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  <a:sym typeface="Arial"/>
              </a:endParaRPr>
            </a:p>
          </p:txBody>
        </p: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F6D4C33D-8EAC-836E-8FA9-571059C54593}"/>
                </a:ext>
              </a:extLst>
            </p:cNvPr>
            <p:cNvGrpSpPr/>
            <p:nvPr/>
          </p:nvGrpSpPr>
          <p:grpSpPr>
            <a:xfrm>
              <a:off x="829711" y="2518430"/>
              <a:ext cx="6197836" cy="678057"/>
              <a:chOff x="829711" y="2359105"/>
              <a:chExt cx="6197836" cy="678057"/>
            </a:xfrm>
          </p:grpSpPr>
          <p:sp>
            <p:nvSpPr>
              <p:cNvPr id="103" name="object 12">
                <a:extLst>
                  <a:ext uri="{FF2B5EF4-FFF2-40B4-BE49-F238E27FC236}">
                    <a16:creationId xmlns:a16="http://schemas.microsoft.com/office/drawing/2014/main" id="{0F72369F-FB4B-17A2-298A-C20AA7B75D1E}"/>
                  </a:ext>
                </a:extLst>
              </p:cNvPr>
              <p:cNvSpPr txBox="1"/>
              <p:nvPr/>
            </p:nvSpPr>
            <p:spPr>
              <a:xfrm>
                <a:off x="1500774" y="2359105"/>
                <a:ext cx="5526773" cy="246221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0" marR="0" lvl="0" indent="0" algn="l" defTabSz="55449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1600" b="1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Originação Proprietária &amp; Crédito Estruturado </a:t>
                </a:r>
              </a:p>
            </p:txBody>
          </p:sp>
          <p:sp>
            <p:nvSpPr>
              <p:cNvPr id="104" name="object 12">
                <a:extLst>
                  <a:ext uri="{FF2B5EF4-FFF2-40B4-BE49-F238E27FC236}">
                    <a16:creationId xmlns:a16="http://schemas.microsoft.com/office/drawing/2014/main" id="{FFC16100-1257-FEFA-3779-58BDBCB9D6B3}"/>
                  </a:ext>
                </a:extLst>
              </p:cNvPr>
              <p:cNvSpPr txBox="1"/>
              <p:nvPr/>
            </p:nvSpPr>
            <p:spPr>
              <a:xfrm>
                <a:off x="829711" y="2814331"/>
                <a:ext cx="5366042" cy="222831"/>
              </a:xfrm>
              <a:prstGeom prst="rect">
                <a:avLst/>
              </a:prstGeom>
            </p:spPr>
            <p:txBody>
              <a:bodyPr vert="horz" wrap="square" lIns="0" tIns="7316" rIns="0" bIns="0" rtlCol="0" anchor="t">
                <a:spAutoFit/>
              </a:bodyPr>
              <a:lstStyle/>
              <a:p>
                <a:pPr marL="0" marR="110898" lvl="0" indent="0" algn="l" defTabSz="554492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cs typeface="Arial"/>
                    <a:sym typeface="Arial"/>
                  </a:rPr>
                  <a:t>Time focado na Originação e Estruturação de ativos de crédito.</a:t>
                </a:r>
              </a:p>
            </p:txBody>
          </p:sp>
          <p:grpSp>
            <p:nvGrpSpPr>
              <p:cNvPr id="105" name="Agrupar 17">
                <a:extLst>
                  <a:ext uri="{FF2B5EF4-FFF2-40B4-BE49-F238E27FC236}">
                    <a16:creationId xmlns:a16="http://schemas.microsoft.com/office/drawing/2014/main" id="{C1B70698-8987-9E86-DC61-7A083D301D5E}"/>
                  </a:ext>
                </a:extLst>
              </p:cNvPr>
              <p:cNvGrpSpPr/>
              <p:nvPr/>
            </p:nvGrpSpPr>
            <p:grpSpPr>
              <a:xfrm rot="10800000">
                <a:off x="829711" y="2435295"/>
                <a:ext cx="481655" cy="119713"/>
                <a:chOff x="6558860" y="2846873"/>
                <a:chExt cx="1049081" cy="260743"/>
              </a:xfrm>
            </p:grpSpPr>
            <p:sp>
              <p:nvSpPr>
                <p:cNvPr id="106" name="Elipse 1">
                  <a:extLst>
                    <a:ext uri="{FF2B5EF4-FFF2-40B4-BE49-F238E27FC236}">
                      <a16:creationId xmlns:a16="http://schemas.microsoft.com/office/drawing/2014/main" id="{FE3A8B54-3119-25D6-0552-1592BE8911FA}"/>
                    </a:ext>
                  </a:extLst>
                </p:cNvPr>
                <p:cNvSpPr/>
                <p:nvPr/>
              </p:nvSpPr>
              <p:spPr>
                <a:xfrm>
                  <a:off x="6558860" y="2846873"/>
                  <a:ext cx="260743" cy="260743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55449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endParaRPr kumimoji="0" lang="pt-BR" sz="1092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  <a:sym typeface="Arial"/>
                  </a:endParaRPr>
                </a:p>
              </p:txBody>
            </p:sp>
            <p:sp>
              <p:nvSpPr>
                <p:cNvPr id="107" name="Elipse 3">
                  <a:extLst>
                    <a:ext uri="{FF2B5EF4-FFF2-40B4-BE49-F238E27FC236}">
                      <a16:creationId xmlns:a16="http://schemas.microsoft.com/office/drawing/2014/main" id="{1010F6A8-3135-7A5D-0DCF-9231BCB4193A}"/>
                    </a:ext>
                  </a:extLst>
                </p:cNvPr>
                <p:cNvSpPr/>
                <p:nvPr/>
              </p:nvSpPr>
              <p:spPr>
                <a:xfrm>
                  <a:off x="6956228" y="2846873"/>
                  <a:ext cx="260743" cy="260743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55449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endParaRPr kumimoji="0" lang="pt-BR" sz="1092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  <a:sym typeface="Arial"/>
                  </a:endParaRPr>
                </a:p>
              </p:txBody>
            </p:sp>
            <p:sp>
              <p:nvSpPr>
                <p:cNvPr id="108" name="Elipse 8">
                  <a:extLst>
                    <a:ext uri="{FF2B5EF4-FFF2-40B4-BE49-F238E27FC236}">
                      <a16:creationId xmlns:a16="http://schemas.microsoft.com/office/drawing/2014/main" id="{CBAC0A77-6F41-B847-D7F0-8E40DB459D74}"/>
                    </a:ext>
                  </a:extLst>
                </p:cNvPr>
                <p:cNvSpPr/>
                <p:nvPr/>
              </p:nvSpPr>
              <p:spPr>
                <a:xfrm>
                  <a:off x="7347198" y="2846873"/>
                  <a:ext cx="260743" cy="260743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 w="190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55449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endParaRPr kumimoji="0" lang="pt-BR" sz="1092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  <a:sym typeface="Arial"/>
                  </a:endParaRPr>
                </a:p>
              </p:txBody>
            </p:sp>
          </p:grpSp>
        </p:grp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6C7AAD6-9D15-723F-25EB-754A18830461}"/>
              </a:ext>
            </a:extLst>
          </p:cNvPr>
          <p:cNvGrpSpPr/>
          <p:nvPr/>
        </p:nvGrpSpPr>
        <p:grpSpPr>
          <a:xfrm>
            <a:off x="455007" y="1860518"/>
            <a:ext cx="3294623" cy="544548"/>
            <a:chOff x="455007" y="1860518"/>
            <a:chExt cx="3294623" cy="544548"/>
          </a:xfrm>
        </p:grpSpPr>
        <p:sp>
          <p:nvSpPr>
            <p:cNvPr id="110" name="Retângulo: Cantos Arredondados 12">
              <a:extLst>
                <a:ext uri="{FF2B5EF4-FFF2-40B4-BE49-F238E27FC236}">
                  <a16:creationId xmlns:a16="http://schemas.microsoft.com/office/drawing/2014/main" id="{CF01FAF7-8280-C5B1-F5B1-9C46D31A1A91}"/>
                </a:ext>
              </a:extLst>
            </p:cNvPr>
            <p:cNvSpPr/>
            <p:nvPr/>
          </p:nvSpPr>
          <p:spPr>
            <a:xfrm>
              <a:off x="455007" y="1860518"/>
              <a:ext cx="3294623" cy="544548"/>
            </a:xfrm>
            <a:prstGeom prst="roundRect">
              <a:avLst/>
            </a:prstGeom>
            <a:gradFill>
              <a:gsLst>
                <a:gs pos="0">
                  <a:srgbClr val="9BB7C7"/>
                </a:gs>
                <a:gs pos="100000">
                  <a:srgbClr val="81A5B9"/>
                </a:gs>
              </a:gsLst>
              <a:lin ang="2700000" scaled="0"/>
            </a:gra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>
                <a:defRPr/>
              </a:pPr>
              <a:r>
                <a:rPr lang="pt-BR" b="1" kern="0">
                  <a:solidFill>
                    <a:srgbClr val="FFFFFF"/>
                  </a:solidFill>
                  <a:latin typeface="Versos" panose="020B0503020204030204" pitchFamily="34" charset="77"/>
                  <a:cs typeface="Arial"/>
                  <a:sym typeface="Arial"/>
                </a:rPr>
                <a:t>EXCLUSIVIDADE</a:t>
              </a:r>
            </a:p>
          </p:txBody>
        </p:sp>
        <p:pic>
          <p:nvPicPr>
            <p:cNvPr id="114" name="Picture 113" descr="A black background with red text&#10;&#10;AI-generated content may be incorrect.">
              <a:extLst>
                <a:ext uri="{FF2B5EF4-FFF2-40B4-BE49-F238E27FC236}">
                  <a16:creationId xmlns:a16="http://schemas.microsoft.com/office/drawing/2014/main" id="{AC975504-EEC9-4E37-504B-FB2C193870B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684263" y="1979422"/>
              <a:ext cx="897250" cy="3445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10882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B6C2C9E6-A1EA-F281-17BD-4FAFB96622D9}"/>
              </a:ext>
            </a:extLst>
          </p:cNvPr>
          <p:cNvGrpSpPr/>
          <p:nvPr/>
        </p:nvGrpSpPr>
        <p:grpSpPr>
          <a:xfrm>
            <a:off x="441325" y="1084619"/>
            <a:ext cx="5975350" cy="303773"/>
            <a:chOff x="441325" y="1195743"/>
            <a:chExt cx="5975350" cy="303773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B90EDC5-4ADC-C158-724E-D6E4E163C5E5}"/>
                </a:ext>
              </a:extLst>
            </p:cNvPr>
            <p:cNvSpPr txBox="1"/>
            <p:nvPr/>
          </p:nvSpPr>
          <p:spPr>
            <a:xfrm>
              <a:off x="456569" y="1195743"/>
              <a:ext cx="3217227" cy="19236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defTabSz="914400">
                <a:defRPr/>
              </a:pPr>
              <a:r>
                <a:rPr lang="pt-BR" sz="1250">
                  <a:solidFill>
                    <a:srgbClr val="000000"/>
                  </a:solidFill>
                  <a:latin typeface="Versos" panose="020B0503020204030204" pitchFamily="34" charset="0"/>
                </a:rPr>
                <a:t>Alocação e Retorno Estimados da Carteira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4387F42-51F7-54FB-600E-B149F11FF7F5}"/>
                </a:ext>
              </a:extLst>
            </p:cNvPr>
            <p:cNvCxnSpPr/>
            <p:nvPr/>
          </p:nvCxnSpPr>
          <p:spPr>
            <a:xfrm>
              <a:off x="441325" y="1499516"/>
              <a:ext cx="597535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9E84DDA-E6BF-F541-5647-15D1F81A5A09}"/>
              </a:ext>
            </a:extLst>
          </p:cNvPr>
          <p:cNvGrpSpPr/>
          <p:nvPr/>
        </p:nvGrpSpPr>
        <p:grpSpPr>
          <a:xfrm>
            <a:off x="441325" y="6917256"/>
            <a:ext cx="2857872" cy="303774"/>
            <a:chOff x="441325" y="1195742"/>
            <a:chExt cx="5975350" cy="303774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6FE27B0-15C9-FB8F-DD57-B848BB4FBDE6}"/>
                </a:ext>
              </a:extLst>
            </p:cNvPr>
            <p:cNvSpPr txBox="1"/>
            <p:nvPr/>
          </p:nvSpPr>
          <p:spPr>
            <a:xfrm>
              <a:off x="441325" y="1195742"/>
              <a:ext cx="3824201" cy="19236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defTabSz="914400">
                <a:defRPr/>
              </a:pPr>
              <a:r>
                <a:rPr lang="pt-BR" sz="1250">
                  <a:solidFill>
                    <a:srgbClr val="000000"/>
                  </a:solidFill>
                  <a:latin typeface="Versos" panose="020B0503020204030204" pitchFamily="34" charset="0"/>
                </a:rPr>
                <a:t>Composição da carteira</a:t>
              </a: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62BE9925-81BF-0FEC-82ED-0947F9A24E11}"/>
                </a:ext>
              </a:extLst>
            </p:cNvPr>
            <p:cNvCxnSpPr/>
            <p:nvPr/>
          </p:nvCxnSpPr>
          <p:spPr>
            <a:xfrm>
              <a:off x="441325" y="1499516"/>
              <a:ext cx="597535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C716CDA-86FA-D525-4DA4-6EA755AF0C42}"/>
              </a:ext>
            </a:extLst>
          </p:cNvPr>
          <p:cNvGrpSpPr/>
          <p:nvPr/>
        </p:nvGrpSpPr>
        <p:grpSpPr>
          <a:xfrm>
            <a:off x="3614573" y="4354904"/>
            <a:ext cx="2786858" cy="306068"/>
            <a:chOff x="456569" y="1193448"/>
            <a:chExt cx="5960106" cy="306068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4197F65-75F1-1130-9BCB-8945A0643080}"/>
                </a:ext>
              </a:extLst>
            </p:cNvPr>
            <p:cNvSpPr txBox="1"/>
            <p:nvPr/>
          </p:nvSpPr>
          <p:spPr>
            <a:xfrm>
              <a:off x="456569" y="1193448"/>
              <a:ext cx="1418658" cy="19236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1250">
                  <a:solidFill>
                    <a:srgbClr val="000000"/>
                  </a:solidFill>
                  <a:latin typeface="Versos" panose="020B0503020204030204" pitchFamily="34" charset="0"/>
                </a:rPr>
                <a:t>Exposição Setorial</a:t>
              </a:r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995FA701-D449-20FF-998B-67634666E122}"/>
                </a:ext>
              </a:extLst>
            </p:cNvPr>
            <p:cNvCxnSpPr>
              <a:cxnSpLocks/>
            </p:cNvCxnSpPr>
            <p:nvPr/>
          </p:nvCxnSpPr>
          <p:spPr>
            <a:xfrm>
              <a:off x="471813" y="1499516"/>
              <a:ext cx="5944862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655594ED-10BB-E738-4622-62B6A03F5C97}"/>
              </a:ext>
            </a:extLst>
          </p:cNvPr>
          <p:cNvGrpSpPr/>
          <p:nvPr/>
        </p:nvGrpSpPr>
        <p:grpSpPr>
          <a:xfrm>
            <a:off x="456569" y="4181737"/>
            <a:ext cx="2845722" cy="487718"/>
            <a:chOff x="441325" y="1004959"/>
            <a:chExt cx="5975350" cy="451683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D6068ED-C329-CE3D-5A92-250FC09960DA}"/>
                </a:ext>
              </a:extLst>
            </p:cNvPr>
            <p:cNvSpPr txBox="1"/>
            <p:nvPr/>
          </p:nvSpPr>
          <p:spPr>
            <a:xfrm>
              <a:off x="456569" y="1004959"/>
              <a:ext cx="5523493" cy="3847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5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</a:rPr>
                <a:t>Distribuição de rating da carteira </a:t>
              </a:r>
              <a:br>
                <a:rPr kumimoji="0" lang="pt-BR" sz="125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</a:rPr>
              </a:br>
              <a:r>
                <a:rPr kumimoji="0" lang="pt-BR" sz="12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</a:rPr>
                <a:t>(Exposição Rating Externo)</a:t>
              </a:r>
            </a:p>
          </p:txBody>
        </p: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494C63E-9E42-F49C-B1AF-7DA4DD5AA00B}"/>
                </a:ext>
              </a:extLst>
            </p:cNvPr>
            <p:cNvCxnSpPr/>
            <p:nvPr/>
          </p:nvCxnSpPr>
          <p:spPr>
            <a:xfrm>
              <a:off x="441325" y="1456642"/>
              <a:ext cx="597535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DDC3D514-2B3C-8D32-75E7-142879979AA7}"/>
              </a:ext>
            </a:extLst>
          </p:cNvPr>
          <p:cNvSpPr txBox="1"/>
          <p:nvPr/>
        </p:nvSpPr>
        <p:spPr>
          <a:xfrm>
            <a:off x="2536127" y="9624649"/>
            <a:ext cx="178574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Versos Light" panose="020B0403020204030204" pitchFamily="34" charset="0"/>
              </a:rPr>
              <a:t>MATERIAL DE USO INTERNO</a:t>
            </a:r>
          </a:p>
        </p:txBody>
      </p:sp>
      <p:grpSp>
        <p:nvGrpSpPr>
          <p:cNvPr id="2" name="Group 42">
            <a:extLst>
              <a:ext uri="{FF2B5EF4-FFF2-40B4-BE49-F238E27FC236}">
                <a16:creationId xmlns:a16="http://schemas.microsoft.com/office/drawing/2014/main" id="{6EC1888F-BECC-54DC-763C-81564BDED283}"/>
              </a:ext>
            </a:extLst>
          </p:cNvPr>
          <p:cNvGrpSpPr/>
          <p:nvPr/>
        </p:nvGrpSpPr>
        <p:grpSpPr>
          <a:xfrm>
            <a:off x="651423" y="1407222"/>
            <a:ext cx="5660478" cy="2490844"/>
            <a:chOff x="2358439" y="3096755"/>
            <a:chExt cx="5207797" cy="3694745"/>
          </a:xfrm>
        </p:grpSpPr>
        <p:sp>
          <p:nvSpPr>
            <p:cNvPr id="4" name="Rectangle 43">
              <a:extLst>
                <a:ext uri="{FF2B5EF4-FFF2-40B4-BE49-F238E27FC236}">
                  <a16:creationId xmlns:a16="http://schemas.microsoft.com/office/drawing/2014/main" id="{0ADAC380-CE62-97C3-4BD1-6E7C849C31AD}"/>
                </a:ext>
              </a:extLst>
            </p:cNvPr>
            <p:cNvSpPr/>
            <p:nvPr/>
          </p:nvSpPr>
          <p:spPr>
            <a:xfrm>
              <a:off x="5124072" y="3096755"/>
              <a:ext cx="2208848" cy="369474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0" b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5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</a:rPr>
                <a:t>Alocação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5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</a:rPr>
                <a:t>da Carteira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700" b="1" i="0" u="none" strike="noStrike" kern="1200" cap="none" spc="0" normalizeH="0" baseline="0" noProof="0">
                  <a:ln>
                    <a:noFill/>
                  </a:ln>
                  <a:solidFill>
                    <a:srgbClr val="FFFFFF">
                      <a:lumMod val="50000"/>
                    </a:srgbClr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</a:rPr>
                <a:t>(% patrimônio líquido)</a:t>
              </a:r>
            </a:p>
          </p:txBody>
        </p:sp>
        <p:grpSp>
          <p:nvGrpSpPr>
            <p:cNvPr id="6" name="Group 44">
              <a:extLst>
                <a:ext uri="{FF2B5EF4-FFF2-40B4-BE49-F238E27FC236}">
                  <a16:creationId xmlns:a16="http://schemas.microsoft.com/office/drawing/2014/main" id="{A20A4895-36EA-A06D-2DE5-995F4FED5CA7}"/>
                </a:ext>
              </a:extLst>
            </p:cNvPr>
            <p:cNvGrpSpPr/>
            <p:nvPr/>
          </p:nvGrpSpPr>
          <p:grpSpPr>
            <a:xfrm>
              <a:off x="2371724" y="3951323"/>
              <a:ext cx="5194512" cy="756000"/>
              <a:chOff x="2371724" y="4096314"/>
              <a:chExt cx="5194512" cy="756000"/>
            </a:xfrm>
          </p:grpSpPr>
          <p:sp>
            <p:nvSpPr>
              <p:cNvPr id="16" name="Rectangle 53">
                <a:extLst>
                  <a:ext uri="{FF2B5EF4-FFF2-40B4-BE49-F238E27FC236}">
                    <a16:creationId xmlns:a16="http://schemas.microsoft.com/office/drawing/2014/main" id="{B0CADD6F-3802-1FE9-3006-87090A50DE53}"/>
                  </a:ext>
                </a:extLst>
              </p:cNvPr>
              <p:cNvSpPr/>
              <p:nvPr/>
            </p:nvSpPr>
            <p:spPr>
              <a:xfrm>
                <a:off x="2371725" y="4138863"/>
                <a:ext cx="5194511" cy="670902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57600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65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</a:rPr>
                  <a:t>Crédito High Grade</a:t>
                </a:r>
              </a:p>
            </p:txBody>
          </p:sp>
          <p:sp>
            <p:nvSpPr>
              <p:cNvPr id="17" name="TextBox 54">
                <a:extLst>
                  <a:ext uri="{FF2B5EF4-FFF2-40B4-BE49-F238E27FC236}">
                    <a16:creationId xmlns:a16="http://schemas.microsoft.com/office/drawing/2014/main" id="{CEDE1CA3-19AC-1F8B-366B-B070C89919B9}"/>
                  </a:ext>
                </a:extLst>
              </p:cNvPr>
              <p:cNvSpPr txBox="1"/>
              <p:nvPr/>
            </p:nvSpPr>
            <p:spPr>
              <a:xfrm>
                <a:off x="5195308" y="4219896"/>
                <a:ext cx="2137611" cy="5478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b="1">
                    <a:solidFill>
                      <a:srgbClr val="FFFFFF"/>
                    </a:solidFill>
                    <a:latin typeface="Versos" panose="020B0503020204030204" pitchFamily="34" charset="0"/>
                  </a:rPr>
                  <a:t>66,5</a:t>
                </a:r>
                <a:r>
                  <a:rPr kumimoji="0" lang="pt-BR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</a:rPr>
                  <a:t>%</a:t>
                </a:r>
              </a:p>
            </p:txBody>
          </p:sp>
          <p:sp>
            <p:nvSpPr>
              <p:cNvPr id="18" name="Rectangle 55">
                <a:extLst>
                  <a:ext uri="{FF2B5EF4-FFF2-40B4-BE49-F238E27FC236}">
                    <a16:creationId xmlns:a16="http://schemas.microsoft.com/office/drawing/2014/main" id="{CE33996B-0441-0C03-9201-3483B0BC216A}"/>
                  </a:ext>
                </a:extLst>
              </p:cNvPr>
              <p:cNvSpPr/>
              <p:nvPr/>
            </p:nvSpPr>
            <p:spPr>
              <a:xfrm>
                <a:off x="2371724" y="4096314"/>
                <a:ext cx="361851" cy="75600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8" name="Group 45">
              <a:extLst>
                <a:ext uri="{FF2B5EF4-FFF2-40B4-BE49-F238E27FC236}">
                  <a16:creationId xmlns:a16="http://schemas.microsoft.com/office/drawing/2014/main" id="{7C6AFE07-B1EC-8463-1F1C-49CC7663F67F}"/>
                </a:ext>
              </a:extLst>
            </p:cNvPr>
            <p:cNvGrpSpPr/>
            <p:nvPr/>
          </p:nvGrpSpPr>
          <p:grpSpPr>
            <a:xfrm>
              <a:off x="2371724" y="4848657"/>
              <a:ext cx="5194512" cy="756000"/>
              <a:chOff x="2371724" y="4927676"/>
              <a:chExt cx="5194512" cy="756000"/>
            </a:xfrm>
          </p:grpSpPr>
          <p:sp>
            <p:nvSpPr>
              <p:cNvPr id="13" name="Rectangle 50">
                <a:extLst>
                  <a:ext uri="{FF2B5EF4-FFF2-40B4-BE49-F238E27FC236}">
                    <a16:creationId xmlns:a16="http://schemas.microsoft.com/office/drawing/2014/main" id="{BA70C061-6FA3-DB3A-F111-573D70544C86}"/>
                  </a:ext>
                </a:extLst>
              </p:cNvPr>
              <p:cNvSpPr/>
              <p:nvPr/>
            </p:nvSpPr>
            <p:spPr>
              <a:xfrm>
                <a:off x="2371725" y="4970225"/>
                <a:ext cx="5194511" cy="670902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57600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65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</a:rPr>
                  <a:t>Crédito High </a:t>
                </a:r>
                <a:r>
                  <a:rPr kumimoji="0" lang="pt-BR" sz="1650" b="1" i="0" u="none" strike="noStrike" kern="1200" cap="none" spc="0" normalizeH="0" baseline="0" noProof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</a:rPr>
                  <a:t>Yield</a:t>
                </a:r>
                <a:endParaRPr kumimoji="0" lang="pt-BR" sz="165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4" name="TextBox 51">
                <a:extLst>
                  <a:ext uri="{FF2B5EF4-FFF2-40B4-BE49-F238E27FC236}">
                    <a16:creationId xmlns:a16="http://schemas.microsoft.com/office/drawing/2014/main" id="{9A239E70-2F28-673E-5D5A-08B4AA6A2BA5}"/>
                  </a:ext>
                </a:extLst>
              </p:cNvPr>
              <p:cNvSpPr txBox="1"/>
              <p:nvPr/>
            </p:nvSpPr>
            <p:spPr>
              <a:xfrm>
                <a:off x="5195308" y="5036085"/>
                <a:ext cx="2137611" cy="5478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b="1">
                    <a:solidFill>
                      <a:srgbClr val="FFFFFF"/>
                    </a:solidFill>
                    <a:latin typeface="Versos" panose="020B0503020204030204" pitchFamily="34" charset="0"/>
                  </a:rPr>
                  <a:t>5,3</a:t>
                </a:r>
                <a:r>
                  <a:rPr kumimoji="0" lang="pt-BR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</a:rPr>
                  <a:t>%</a:t>
                </a:r>
              </a:p>
            </p:txBody>
          </p:sp>
          <p:sp>
            <p:nvSpPr>
              <p:cNvPr id="15" name="Rectangle 52">
                <a:extLst>
                  <a:ext uri="{FF2B5EF4-FFF2-40B4-BE49-F238E27FC236}">
                    <a16:creationId xmlns:a16="http://schemas.microsoft.com/office/drawing/2014/main" id="{3A6323CD-008A-F605-9D3F-644B9CEE493F}"/>
                  </a:ext>
                </a:extLst>
              </p:cNvPr>
              <p:cNvSpPr/>
              <p:nvPr/>
            </p:nvSpPr>
            <p:spPr>
              <a:xfrm>
                <a:off x="2371724" y="4927676"/>
                <a:ext cx="361851" cy="756000"/>
              </a:xfrm>
              <a:prstGeom prst="rect">
                <a:avLst/>
              </a:prstGeom>
              <a:solidFill>
                <a:srgbClr val="92D3AB"/>
              </a:solidFill>
              <a:ln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9" name="Group 46">
              <a:extLst>
                <a:ext uri="{FF2B5EF4-FFF2-40B4-BE49-F238E27FC236}">
                  <a16:creationId xmlns:a16="http://schemas.microsoft.com/office/drawing/2014/main" id="{CFA2CE4F-3828-7CC6-94E3-3C09B5839A0F}"/>
                </a:ext>
              </a:extLst>
            </p:cNvPr>
            <p:cNvGrpSpPr/>
            <p:nvPr/>
          </p:nvGrpSpPr>
          <p:grpSpPr>
            <a:xfrm>
              <a:off x="2358439" y="5745991"/>
              <a:ext cx="5207797" cy="756000"/>
              <a:chOff x="2358439" y="5745991"/>
              <a:chExt cx="5207797" cy="756000"/>
            </a:xfrm>
          </p:grpSpPr>
          <p:sp>
            <p:nvSpPr>
              <p:cNvPr id="10" name="Rectangle 47">
                <a:extLst>
                  <a:ext uri="{FF2B5EF4-FFF2-40B4-BE49-F238E27FC236}">
                    <a16:creationId xmlns:a16="http://schemas.microsoft.com/office/drawing/2014/main" id="{D8D628A7-6ABA-A70D-1661-5026579E3BD9}"/>
                  </a:ext>
                </a:extLst>
              </p:cNvPr>
              <p:cNvSpPr/>
              <p:nvPr/>
            </p:nvSpPr>
            <p:spPr>
              <a:xfrm>
                <a:off x="2371725" y="5788540"/>
                <a:ext cx="5194511" cy="670902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57600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65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</a:rPr>
                  <a:t>Caixa</a:t>
                </a:r>
              </a:p>
            </p:txBody>
          </p:sp>
          <p:sp>
            <p:nvSpPr>
              <p:cNvPr id="11" name="TextBox 48">
                <a:extLst>
                  <a:ext uri="{FF2B5EF4-FFF2-40B4-BE49-F238E27FC236}">
                    <a16:creationId xmlns:a16="http://schemas.microsoft.com/office/drawing/2014/main" id="{FC3BB2EA-E2A1-4A12-FD0A-9A73E63D795B}"/>
                  </a:ext>
                </a:extLst>
              </p:cNvPr>
              <p:cNvSpPr txBox="1"/>
              <p:nvPr/>
            </p:nvSpPr>
            <p:spPr>
              <a:xfrm>
                <a:off x="5195308" y="5840820"/>
                <a:ext cx="2137611" cy="5478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b="1">
                    <a:solidFill>
                      <a:srgbClr val="FFFFFF"/>
                    </a:solidFill>
                    <a:latin typeface="Versos" panose="020B0503020204030204" pitchFamily="34" charset="0"/>
                  </a:rPr>
                  <a:t>28,4</a:t>
                </a:r>
                <a:r>
                  <a:rPr kumimoji="0" lang="pt-BR" sz="18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</a:rPr>
                  <a:t>%</a:t>
                </a:r>
              </a:p>
            </p:txBody>
          </p:sp>
          <p:sp>
            <p:nvSpPr>
              <p:cNvPr id="12" name="Rectangle 49">
                <a:extLst>
                  <a:ext uri="{FF2B5EF4-FFF2-40B4-BE49-F238E27FC236}">
                    <a16:creationId xmlns:a16="http://schemas.microsoft.com/office/drawing/2014/main" id="{5C8CC2DF-BF9C-27C8-ADF3-B804D85281EA}"/>
                  </a:ext>
                </a:extLst>
              </p:cNvPr>
              <p:cNvSpPr/>
              <p:nvPr/>
            </p:nvSpPr>
            <p:spPr>
              <a:xfrm>
                <a:off x="2358439" y="5745991"/>
                <a:ext cx="361851" cy="756000"/>
              </a:xfrm>
              <a:prstGeom prst="rect">
                <a:avLst/>
              </a:prstGeom>
              <a:solidFill>
                <a:srgbClr val="7F7F7F"/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CA162D6F-E976-DFF4-D0B0-D7C0CCAA9F6D}"/>
              </a:ext>
            </a:extLst>
          </p:cNvPr>
          <p:cNvSpPr txBox="1"/>
          <p:nvPr/>
        </p:nvSpPr>
        <p:spPr>
          <a:xfrm>
            <a:off x="3946245" y="3692209"/>
            <a:ext cx="166103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700">
                <a:latin typeface="Versos" panose="020B0503020204030204" pitchFamily="34" charset="0"/>
              </a:rPr>
              <a:t>*baseado em classificação interna</a:t>
            </a:r>
          </a:p>
        </p:txBody>
      </p:sp>
      <p:graphicFrame>
        <p:nvGraphicFramePr>
          <p:cNvPr id="5" name="Chart 10">
            <a:extLst>
              <a:ext uri="{FF2B5EF4-FFF2-40B4-BE49-F238E27FC236}">
                <a16:creationId xmlns:a16="http://schemas.microsoft.com/office/drawing/2014/main" id="{D4B4B3A8-F6BC-44FA-CE0B-B1A9B6CB9E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165084"/>
              </p:ext>
            </p:extLst>
          </p:nvPr>
        </p:nvGraphicFramePr>
        <p:xfrm>
          <a:off x="463830" y="7247722"/>
          <a:ext cx="3040438" cy="20246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9" name="Chart 6">
            <a:extLst>
              <a:ext uri="{FF2B5EF4-FFF2-40B4-BE49-F238E27FC236}">
                <a16:creationId xmlns:a16="http://schemas.microsoft.com/office/drawing/2014/main" id="{94E308F0-9F8A-4757-8175-DAF4DE86B0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66485928"/>
              </p:ext>
            </p:extLst>
          </p:nvPr>
        </p:nvGraphicFramePr>
        <p:xfrm>
          <a:off x="467376" y="4828934"/>
          <a:ext cx="2842628" cy="18902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21" name="Imagem 20">
            <a:extLst>
              <a:ext uri="{FF2B5EF4-FFF2-40B4-BE49-F238E27FC236}">
                <a16:creationId xmlns:a16="http://schemas.microsoft.com/office/drawing/2014/main" id="{ED649092-9C9B-B58A-9068-263530AF38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4715371"/>
            <a:ext cx="3088910" cy="455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377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>
                <a:lumMod val="95000"/>
                <a:lumOff val="5000"/>
              </a:schemeClr>
            </a:gs>
            <a:gs pos="100000">
              <a:schemeClr val="bg2">
                <a:lumMod val="10000"/>
              </a:schemeClr>
            </a:gs>
          </a:gsLst>
          <a:lin ang="27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614D39-3892-2F1E-7645-9A0F0C7DB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9">
            <a:extLst>
              <a:ext uri="{FF2B5EF4-FFF2-40B4-BE49-F238E27FC236}">
                <a16:creationId xmlns:a16="http://schemas.microsoft.com/office/drawing/2014/main" id="{9F02B252-86D5-FEBE-F751-315108B848F9}"/>
              </a:ext>
            </a:extLst>
          </p:cNvPr>
          <p:cNvSpPr txBox="1">
            <a:spLocks/>
          </p:cNvSpPr>
          <p:nvPr/>
        </p:nvSpPr>
        <p:spPr>
          <a:xfrm>
            <a:off x="1128017" y="1494008"/>
            <a:ext cx="5779338" cy="1954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algn="l" defTabSz="7559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3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12">
              <a:lnSpc>
                <a:spcPct val="100000"/>
              </a:lnSpc>
              <a:spcBef>
                <a:spcPts val="0"/>
              </a:spcBef>
              <a:defRPr/>
            </a:pPr>
            <a:r>
              <a:rPr lang="pt-BR" sz="1270" b="1" err="1">
                <a:solidFill>
                  <a:srgbClr val="FFFFFF"/>
                </a:solidFill>
                <a:latin typeface="Versos"/>
              </a:rPr>
              <a:t>Disclaimer</a:t>
            </a:r>
            <a:endParaRPr lang="pt-BR" sz="1270" b="1">
              <a:solidFill>
                <a:srgbClr val="FFFFFF"/>
              </a:solidFill>
              <a:latin typeface="Versos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C128051-C543-2834-162F-BA159BB76B79}"/>
              </a:ext>
            </a:extLst>
          </p:cNvPr>
          <p:cNvGrpSpPr/>
          <p:nvPr/>
        </p:nvGrpSpPr>
        <p:grpSpPr>
          <a:xfrm>
            <a:off x="1128017" y="5541713"/>
            <a:ext cx="5037333" cy="929287"/>
            <a:chOff x="585786" y="9950303"/>
            <a:chExt cx="5552727" cy="1024367"/>
          </a:xfrm>
        </p:grpSpPr>
        <p:sp>
          <p:nvSpPr>
            <p:cNvPr id="50" name="object 4">
              <a:extLst>
                <a:ext uri="{FF2B5EF4-FFF2-40B4-BE49-F238E27FC236}">
                  <a16:creationId xmlns:a16="http://schemas.microsoft.com/office/drawing/2014/main" id="{FA5743DF-5E65-08CD-E7DD-8D6EA2C07117}"/>
                </a:ext>
              </a:extLst>
            </p:cNvPr>
            <p:cNvSpPr txBox="1"/>
            <p:nvPr/>
          </p:nvSpPr>
          <p:spPr>
            <a:xfrm>
              <a:off x="594513" y="9950303"/>
              <a:ext cx="5544000" cy="323293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marR="4399" defTabSz="791832">
                <a:spcBef>
                  <a:spcPts val="260"/>
                </a:spcBef>
                <a:spcAft>
                  <a:spcPts val="260"/>
                </a:spcAft>
                <a:defRPr/>
              </a:pPr>
              <a:r>
                <a:rPr lang="pt-BR" sz="953" b="1" kern="0">
                  <a:solidFill>
                    <a:srgbClr val="FFFFFF"/>
                  </a:solidFill>
                  <a:latin typeface="Versos" panose="020B0503020204030204" pitchFamily="34" charset="0"/>
                  <a:cs typeface="Versos"/>
                </a:rPr>
                <a:t>SAC:  0800 704 8383</a:t>
              </a:r>
              <a:br>
                <a:rPr lang="pt-BR" sz="953" kern="0">
                  <a:solidFill>
                    <a:srgbClr val="FFFFFF"/>
                  </a:solidFill>
                  <a:latin typeface="Versos Light" panose="020B0403020204030204" pitchFamily="34" charset="0"/>
                  <a:cs typeface="Versos"/>
                </a:rPr>
              </a:br>
              <a:r>
                <a:rPr lang="pt-BR" sz="953" kern="0">
                  <a:solidFill>
                    <a:srgbClr val="FFFFFF"/>
                  </a:solidFill>
                  <a:latin typeface="Versos Light" panose="020B0403020204030204" pitchFamily="34" charset="0"/>
                  <a:cs typeface="Versos"/>
                </a:rPr>
                <a:t>Atendimento 24 horas</a:t>
              </a:r>
            </a:p>
          </p:txBody>
        </p:sp>
        <p:sp>
          <p:nvSpPr>
            <p:cNvPr id="51" name="object 4">
              <a:extLst>
                <a:ext uri="{FF2B5EF4-FFF2-40B4-BE49-F238E27FC236}">
                  <a16:creationId xmlns:a16="http://schemas.microsoft.com/office/drawing/2014/main" id="{BB8B1C8A-02B8-F09E-0644-ACB3204A31DB}"/>
                </a:ext>
              </a:extLst>
            </p:cNvPr>
            <p:cNvSpPr txBox="1"/>
            <p:nvPr/>
          </p:nvSpPr>
          <p:spPr>
            <a:xfrm>
              <a:off x="585786" y="10489729"/>
              <a:ext cx="3122824" cy="484941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marR="4399" defTabSz="791832">
                <a:spcBef>
                  <a:spcPts val="260"/>
                </a:spcBef>
                <a:spcAft>
                  <a:spcPts val="260"/>
                </a:spcAft>
                <a:defRPr/>
              </a:pPr>
              <a:r>
                <a:rPr lang="pt-BR" sz="953" kern="0">
                  <a:solidFill>
                    <a:srgbClr val="FFFFFF"/>
                  </a:solidFill>
                  <a:latin typeface="Versos" panose="020B0503020204030204" pitchFamily="34" charset="0"/>
                  <a:cs typeface="Versos"/>
                </a:rPr>
                <a:t>Ouvidoria: 0800 727 9933</a:t>
              </a:r>
              <a:br>
                <a:rPr lang="pt-BR" sz="953" kern="0">
                  <a:solidFill>
                    <a:srgbClr val="FFFFFF"/>
                  </a:solidFill>
                  <a:latin typeface="Versos Light" panose="020B0403020204030204" pitchFamily="34" charset="0"/>
                  <a:cs typeface="Versos"/>
                </a:rPr>
              </a:br>
              <a:r>
                <a:rPr lang="pt-BR" sz="953" kern="0">
                  <a:solidFill>
                    <a:srgbClr val="FFFFFF"/>
                  </a:solidFill>
                  <a:latin typeface="Versos Light" panose="020B0403020204030204" pitchFamily="34" charset="0"/>
                  <a:cs typeface="Versos"/>
                </a:rPr>
                <a:t>Atendimento das 9h às 18h, de </a:t>
              </a:r>
              <a:br>
                <a:rPr lang="pt-BR" sz="953" kern="0">
                  <a:solidFill>
                    <a:srgbClr val="FFFFFF"/>
                  </a:solidFill>
                  <a:latin typeface="Versos Light" panose="020B0403020204030204" pitchFamily="34" charset="0"/>
                  <a:cs typeface="Versos"/>
                </a:rPr>
              </a:br>
              <a:r>
                <a:rPr lang="pt-BR" sz="953" kern="0">
                  <a:solidFill>
                    <a:srgbClr val="FFFFFF"/>
                  </a:solidFill>
                  <a:latin typeface="Versos Light" panose="020B0403020204030204" pitchFamily="34" charset="0"/>
                  <a:cs typeface="Versos"/>
                </a:rPr>
                <a:t>segunda a sexta-feira, exceto feriados nacionais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C59F2723-DE13-BACA-A03E-27D4E5B0A802}"/>
              </a:ext>
            </a:extLst>
          </p:cNvPr>
          <p:cNvGrpSpPr/>
          <p:nvPr/>
        </p:nvGrpSpPr>
        <p:grpSpPr>
          <a:xfrm>
            <a:off x="903633" y="7853048"/>
            <a:ext cx="3388546" cy="631701"/>
            <a:chOff x="594513" y="9022922"/>
            <a:chExt cx="3735245" cy="696333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B3E49AF1-D23A-1DD3-009F-458C796B0504}"/>
                </a:ext>
              </a:extLst>
            </p:cNvPr>
            <p:cNvSpPr/>
            <p:nvPr/>
          </p:nvSpPr>
          <p:spPr>
            <a:xfrm flipH="1">
              <a:off x="2735847" y="9022923"/>
              <a:ext cx="696317" cy="696332"/>
            </a:xfrm>
            <a:prstGeom prst="rect">
              <a:avLst/>
            </a:pr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791832">
                <a:defRPr/>
              </a:pPr>
              <a:endParaRPr lang="pt-BR" sz="1558" kern="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69" name="Holder 4">
              <a:extLst>
                <a:ext uri="{FF2B5EF4-FFF2-40B4-BE49-F238E27FC236}">
                  <a16:creationId xmlns:a16="http://schemas.microsoft.com/office/drawing/2014/main" id="{86F18C45-DAB0-9011-C93E-8509F13F43B1}"/>
                </a:ext>
              </a:extLst>
            </p:cNvPr>
            <p:cNvSpPr txBox="1">
              <a:spLocks/>
            </p:cNvSpPr>
            <p:nvPr/>
          </p:nvSpPr>
          <p:spPr>
            <a:xfrm>
              <a:off x="3511797" y="9205842"/>
              <a:ext cx="817961" cy="330785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defPPr>
                <a:defRPr kern="0"/>
              </a:defPPr>
              <a:lvl1pPr>
                <a:defRPr sz="750" b="0" i="0">
                  <a:solidFill>
                    <a:srgbClr val="4C5D63"/>
                  </a:solidFill>
                  <a:latin typeface="Versos"/>
                  <a:cs typeface="Versos"/>
                </a:defRPr>
              </a:lvl1pPr>
            </a:lstStyle>
            <a:p>
              <a:pPr marR="4399" defTabSz="791832">
                <a:defRPr/>
              </a:pPr>
              <a:r>
                <a:rPr lang="pt-BR" sz="650" kern="0">
                  <a:solidFill>
                    <a:srgbClr val="FFFFFF"/>
                  </a:solidFill>
                </a:rPr>
                <a:t>Leia o QR </a:t>
              </a:r>
              <a:r>
                <a:rPr lang="pt-BR" sz="650" kern="0" err="1">
                  <a:solidFill>
                    <a:srgbClr val="FFFFFF"/>
                  </a:solidFill>
                </a:rPr>
                <a:t>Code</a:t>
              </a:r>
              <a:r>
                <a:rPr lang="pt-BR" sz="650" kern="0">
                  <a:solidFill>
                    <a:srgbClr val="FFFFFF"/>
                  </a:solidFill>
                </a:rPr>
                <a:t> </a:t>
              </a:r>
              <a:br>
                <a:rPr lang="pt-BR" sz="650" kern="0">
                  <a:solidFill>
                    <a:srgbClr val="FFFFFF"/>
                  </a:solidFill>
                </a:rPr>
              </a:br>
              <a:r>
                <a:rPr lang="pt-BR" sz="650" kern="0">
                  <a:solidFill>
                    <a:srgbClr val="FFFFFF"/>
                  </a:solidFill>
                </a:rPr>
                <a:t>e acesse as redes </a:t>
              </a:r>
              <a:br>
                <a:rPr lang="pt-BR" sz="650" kern="0">
                  <a:solidFill>
                    <a:srgbClr val="FFFFFF"/>
                  </a:solidFill>
                </a:rPr>
              </a:br>
              <a:r>
                <a:rPr lang="pt-BR" sz="650" kern="0">
                  <a:solidFill>
                    <a:srgbClr val="FFFFFF"/>
                  </a:solidFill>
                </a:rPr>
                <a:t>da Tivio Capital</a:t>
              </a:r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C294BFF7-5C12-655E-A74F-0E1BF2315BCD}"/>
                </a:ext>
              </a:extLst>
            </p:cNvPr>
            <p:cNvGrpSpPr/>
            <p:nvPr/>
          </p:nvGrpSpPr>
          <p:grpSpPr>
            <a:xfrm>
              <a:off x="594513" y="9022922"/>
              <a:ext cx="1867324" cy="692555"/>
              <a:chOff x="322261" y="9810629"/>
              <a:chExt cx="1956338" cy="725568"/>
            </a:xfrm>
          </p:grpSpPr>
          <p:sp>
            <p:nvSpPr>
              <p:cNvPr id="71" name="object 69">
                <a:hlinkClick r:id="rId4"/>
                <a:extLst>
                  <a:ext uri="{FF2B5EF4-FFF2-40B4-BE49-F238E27FC236}">
                    <a16:creationId xmlns:a16="http://schemas.microsoft.com/office/drawing/2014/main" id="{64DB23EC-F4C1-D818-8447-2A93919DAED3}"/>
                  </a:ext>
                </a:extLst>
              </p:cNvPr>
              <p:cNvSpPr txBox="1"/>
              <p:nvPr/>
            </p:nvSpPr>
            <p:spPr>
              <a:xfrm>
                <a:off x="322261" y="9810629"/>
                <a:ext cx="1956338" cy="725568"/>
              </a:xfrm>
              <a:prstGeom prst="round2DiagRect">
                <a:avLst/>
              </a:prstGeom>
              <a:noFill/>
              <a:ln w="12700">
                <a:solidFill>
                  <a:schemeClr val="bg2">
                    <a:lumMod val="25000"/>
                  </a:schemeClr>
                </a:solidFill>
              </a:ln>
            </p:spPr>
            <p:txBody>
              <a:bodyPr vert="horz" wrap="square" lIns="311726" tIns="0" rIns="0" bIns="0" rtlCol="0" anchor="ctr" anchorCtr="0">
                <a:noAutofit/>
              </a:bodyPr>
              <a:lstStyle/>
              <a:p>
                <a:pPr marL="10997" algn="ctr" defTabSz="791832">
                  <a:spcBef>
                    <a:spcPts val="34"/>
                  </a:spcBef>
                  <a:defRPr/>
                </a:pPr>
                <a:r>
                  <a:rPr sz="1039" b="1" kern="0">
                    <a:solidFill>
                      <a:srgbClr val="FFFFFF"/>
                    </a:solidFill>
                    <a:latin typeface="Versos"/>
                    <a:cs typeface="Versos"/>
                  </a:rPr>
                  <a:t>tivio.com</a:t>
                </a:r>
                <a:r>
                  <a:rPr lang="pt-BR" sz="1039" b="1" kern="0">
                    <a:solidFill>
                      <a:srgbClr val="FFFFFF"/>
                    </a:solidFill>
                    <a:latin typeface="Versos"/>
                    <a:cs typeface="Versos"/>
                  </a:rPr>
                  <a:t>/fundos</a:t>
                </a:r>
                <a:endParaRPr sz="1039" b="1" kern="0">
                  <a:solidFill>
                    <a:srgbClr val="FFFFFF"/>
                  </a:solidFill>
                  <a:latin typeface="Versos"/>
                  <a:cs typeface="Versos"/>
                </a:endParaRPr>
              </a:p>
            </p:txBody>
          </p:sp>
          <p:pic>
            <p:nvPicPr>
              <p:cNvPr id="72" name="Graphic 71">
                <a:extLst>
                  <a:ext uri="{FF2B5EF4-FFF2-40B4-BE49-F238E27FC236}">
                    <a16:creationId xmlns:a16="http://schemas.microsoft.com/office/drawing/2014/main" id="{C2098D6F-6845-1970-9CE3-B9690FEC6E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62668" y="10021013"/>
                <a:ext cx="304800" cy="304800"/>
              </a:xfrm>
              <a:prstGeom prst="rect">
                <a:avLst/>
              </a:prstGeom>
            </p:spPr>
          </p:pic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B11D683-0792-05E1-0C7D-F9E1EFA7EFDA}"/>
              </a:ext>
            </a:extLst>
          </p:cNvPr>
          <p:cNvSpPr txBox="1"/>
          <p:nvPr/>
        </p:nvSpPr>
        <p:spPr>
          <a:xfrm>
            <a:off x="2448413" y="9508123"/>
            <a:ext cx="178574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Versos Light" panose="020B0403020204030204" pitchFamily="34" charset="0"/>
              </a:rPr>
              <a:t>MATERIAL DE USO INTERNO</a:t>
            </a:r>
          </a:p>
        </p:txBody>
      </p:sp>
      <p:sp>
        <p:nvSpPr>
          <p:cNvPr id="27" name="object 4">
            <a:extLst>
              <a:ext uri="{FF2B5EF4-FFF2-40B4-BE49-F238E27FC236}">
                <a16:creationId xmlns:a16="http://schemas.microsoft.com/office/drawing/2014/main" id="{4153306D-595F-6AB8-6725-94AA75C87955}"/>
              </a:ext>
            </a:extLst>
          </p:cNvPr>
          <p:cNvSpPr/>
          <p:nvPr/>
        </p:nvSpPr>
        <p:spPr>
          <a:xfrm rot="10800000">
            <a:off x="-1681069" y="617274"/>
            <a:ext cx="12851396" cy="4548948"/>
          </a:xfrm>
          <a:custGeom>
            <a:avLst/>
            <a:gdLst/>
            <a:ahLst/>
            <a:cxnLst/>
            <a:rect l="l" t="t" r="r" b="b"/>
            <a:pathLst>
              <a:path w="20104100" h="9456420">
                <a:moveTo>
                  <a:pt x="0" y="9456078"/>
                </a:moveTo>
                <a:lnTo>
                  <a:pt x="6945301" y="9456078"/>
                </a:lnTo>
                <a:lnTo>
                  <a:pt x="6995278" y="9455836"/>
                </a:lnTo>
                <a:lnTo>
                  <a:pt x="7045194" y="9455111"/>
                </a:lnTo>
                <a:lnTo>
                  <a:pt x="7095043" y="9453904"/>
                </a:lnTo>
                <a:lnTo>
                  <a:pt x="7144825" y="9452217"/>
                </a:lnTo>
                <a:lnTo>
                  <a:pt x="7194535" y="9450052"/>
                </a:lnTo>
                <a:lnTo>
                  <a:pt x="7244171" y="9447409"/>
                </a:lnTo>
                <a:lnTo>
                  <a:pt x="7293730" y="9444290"/>
                </a:lnTo>
                <a:lnTo>
                  <a:pt x="7343208" y="9440698"/>
                </a:lnTo>
                <a:lnTo>
                  <a:pt x="7392603" y="9436632"/>
                </a:lnTo>
                <a:lnTo>
                  <a:pt x="7441911" y="9432096"/>
                </a:lnTo>
                <a:lnTo>
                  <a:pt x="7491130" y="9427089"/>
                </a:lnTo>
                <a:lnTo>
                  <a:pt x="7540257" y="9421615"/>
                </a:lnTo>
                <a:lnTo>
                  <a:pt x="7589288" y="9415673"/>
                </a:lnTo>
                <a:lnTo>
                  <a:pt x="7638221" y="9409267"/>
                </a:lnTo>
                <a:lnTo>
                  <a:pt x="7687052" y="9402396"/>
                </a:lnTo>
                <a:lnTo>
                  <a:pt x="7735779" y="9395063"/>
                </a:lnTo>
                <a:lnTo>
                  <a:pt x="7784399" y="9387270"/>
                </a:lnTo>
                <a:lnTo>
                  <a:pt x="7832908" y="9379017"/>
                </a:lnTo>
                <a:lnTo>
                  <a:pt x="7881303" y="9370306"/>
                </a:lnTo>
                <a:lnTo>
                  <a:pt x="7929582" y="9361139"/>
                </a:lnTo>
                <a:lnTo>
                  <a:pt x="7977741" y="9351517"/>
                </a:lnTo>
                <a:lnTo>
                  <a:pt x="8025778" y="9341441"/>
                </a:lnTo>
                <a:lnTo>
                  <a:pt x="8073690" y="9330914"/>
                </a:lnTo>
                <a:lnTo>
                  <a:pt x="8121473" y="9319936"/>
                </a:lnTo>
                <a:lnTo>
                  <a:pt x="8169124" y="9308509"/>
                </a:lnTo>
                <a:lnTo>
                  <a:pt x="8216640" y="9296635"/>
                </a:lnTo>
                <a:lnTo>
                  <a:pt x="8264020" y="9284315"/>
                </a:lnTo>
                <a:lnTo>
                  <a:pt x="8311258" y="9271550"/>
                </a:lnTo>
                <a:lnTo>
                  <a:pt x="8358353" y="9258342"/>
                </a:lnTo>
                <a:lnTo>
                  <a:pt x="8405301" y="9244693"/>
                </a:lnTo>
                <a:lnTo>
                  <a:pt x="8452100" y="9230604"/>
                </a:lnTo>
                <a:lnTo>
                  <a:pt x="8498746" y="9216076"/>
                </a:lnTo>
                <a:lnTo>
                  <a:pt x="8545236" y="9201111"/>
                </a:lnTo>
                <a:lnTo>
                  <a:pt x="8591568" y="9185710"/>
                </a:lnTo>
                <a:lnTo>
                  <a:pt x="8637738" y="9169876"/>
                </a:lnTo>
                <a:lnTo>
                  <a:pt x="8683743" y="9153608"/>
                </a:lnTo>
                <a:lnTo>
                  <a:pt x="8729581" y="9136910"/>
                </a:lnTo>
                <a:lnTo>
                  <a:pt x="8775248" y="9119782"/>
                </a:lnTo>
                <a:lnTo>
                  <a:pt x="8820741" y="9102226"/>
                </a:lnTo>
                <a:lnTo>
                  <a:pt x="8866057" y="9084243"/>
                </a:lnTo>
                <a:lnTo>
                  <a:pt x="8911194" y="9065835"/>
                </a:lnTo>
                <a:lnTo>
                  <a:pt x="8956148" y="9047004"/>
                </a:lnTo>
                <a:lnTo>
                  <a:pt x="9000916" y="9027750"/>
                </a:lnTo>
                <a:lnTo>
                  <a:pt x="9045496" y="9008075"/>
                </a:lnTo>
                <a:lnTo>
                  <a:pt x="9089883" y="8987981"/>
                </a:lnTo>
                <a:lnTo>
                  <a:pt x="9134076" y="8967470"/>
                </a:lnTo>
                <a:lnTo>
                  <a:pt x="9178071" y="8946542"/>
                </a:lnTo>
                <a:lnTo>
                  <a:pt x="9221865" y="8925199"/>
                </a:lnTo>
                <a:lnTo>
                  <a:pt x="9265455" y="8903443"/>
                </a:lnTo>
                <a:lnTo>
                  <a:pt x="9308839" y="8881275"/>
                </a:lnTo>
                <a:lnTo>
                  <a:pt x="9352012" y="8858697"/>
                </a:lnTo>
                <a:lnTo>
                  <a:pt x="9394973" y="8835710"/>
                </a:lnTo>
                <a:lnTo>
                  <a:pt x="9437718" y="8812316"/>
                </a:lnTo>
                <a:lnTo>
                  <a:pt x="9480244" y="8788516"/>
                </a:lnTo>
                <a:lnTo>
                  <a:pt x="9522548" y="8764311"/>
                </a:lnTo>
                <a:lnTo>
                  <a:pt x="9564627" y="8739704"/>
                </a:lnTo>
                <a:lnTo>
                  <a:pt x="9606478" y="8714695"/>
                </a:lnTo>
                <a:lnTo>
                  <a:pt x="9648098" y="8689286"/>
                </a:lnTo>
                <a:lnTo>
                  <a:pt x="9689484" y="8663479"/>
                </a:lnTo>
                <a:lnTo>
                  <a:pt x="9730634" y="8637274"/>
                </a:lnTo>
                <a:lnTo>
                  <a:pt x="9771543" y="8610675"/>
                </a:lnTo>
                <a:lnTo>
                  <a:pt x="9812209" y="8583681"/>
                </a:lnTo>
                <a:lnTo>
                  <a:pt x="9852630" y="8556295"/>
                </a:lnTo>
                <a:lnTo>
                  <a:pt x="9892801" y="8528517"/>
                </a:lnTo>
                <a:lnTo>
                  <a:pt x="9932720" y="8500351"/>
                </a:lnTo>
                <a:lnTo>
                  <a:pt x="9972384" y="8471796"/>
                </a:lnTo>
                <a:lnTo>
                  <a:pt x="10011790" y="8442854"/>
                </a:lnTo>
                <a:lnTo>
                  <a:pt x="10050935" y="8413528"/>
                </a:lnTo>
                <a:lnTo>
                  <a:pt x="10089816" y="8383818"/>
                </a:lnTo>
                <a:lnTo>
                  <a:pt x="10128430" y="8353726"/>
                </a:lnTo>
                <a:lnTo>
                  <a:pt x="10166774" y="8323253"/>
                </a:lnTo>
                <a:lnTo>
                  <a:pt x="10204845" y="8292401"/>
                </a:lnTo>
                <a:lnTo>
                  <a:pt x="10242640" y="8261172"/>
                </a:lnTo>
                <a:lnTo>
                  <a:pt x="10280155" y="8229566"/>
                </a:lnTo>
                <a:lnTo>
                  <a:pt x="10317388" y="8197585"/>
                </a:lnTo>
                <a:lnTo>
                  <a:pt x="10354336" y="8165232"/>
                </a:lnTo>
                <a:lnTo>
                  <a:pt x="10390996" y="8132507"/>
                </a:lnTo>
                <a:lnTo>
                  <a:pt x="10427365" y="8099411"/>
                </a:lnTo>
                <a:lnTo>
                  <a:pt x="10463440" y="8065947"/>
                </a:lnTo>
                <a:lnTo>
                  <a:pt x="10499217" y="8032115"/>
                </a:lnTo>
                <a:lnTo>
                  <a:pt x="10534694" y="7997918"/>
                </a:lnTo>
                <a:lnTo>
                  <a:pt x="10569868" y="7963356"/>
                </a:lnTo>
                <a:lnTo>
                  <a:pt x="10604736" y="7928432"/>
                </a:lnTo>
                <a:lnTo>
                  <a:pt x="10639295" y="7893146"/>
                </a:lnTo>
                <a:lnTo>
                  <a:pt x="10673541" y="7857501"/>
                </a:lnTo>
                <a:lnTo>
                  <a:pt x="10707472" y="7821497"/>
                </a:lnTo>
                <a:lnTo>
                  <a:pt x="10741084" y="7785136"/>
                </a:lnTo>
                <a:lnTo>
                  <a:pt x="10774376" y="7748420"/>
                </a:lnTo>
                <a:lnTo>
                  <a:pt x="10807343" y="7711350"/>
                </a:lnTo>
                <a:lnTo>
                  <a:pt x="10839983" y="7673928"/>
                </a:lnTo>
                <a:lnTo>
                  <a:pt x="10872292" y="7636155"/>
                </a:lnTo>
                <a:lnTo>
                  <a:pt x="10904268" y="7598032"/>
                </a:lnTo>
                <a:lnTo>
                  <a:pt x="10935908" y="7559561"/>
                </a:lnTo>
                <a:lnTo>
                  <a:pt x="10967208" y="7520744"/>
                </a:lnTo>
                <a:lnTo>
                  <a:pt x="10998166" y="7481582"/>
                </a:lnTo>
                <a:lnTo>
                  <a:pt x="11028779" y="7442077"/>
                </a:lnTo>
                <a:lnTo>
                  <a:pt x="14967612" y="2307814"/>
                </a:lnTo>
                <a:lnTo>
                  <a:pt x="14998203" y="2268285"/>
                </a:lnTo>
                <a:lnTo>
                  <a:pt x="15029097" y="2229056"/>
                </a:lnTo>
                <a:lnTo>
                  <a:pt x="15060290" y="2190127"/>
                </a:lnTo>
                <a:lnTo>
                  <a:pt x="15091780" y="2151500"/>
                </a:lnTo>
                <a:lnTo>
                  <a:pt x="15123565" y="2113176"/>
                </a:lnTo>
                <a:lnTo>
                  <a:pt x="15155642" y="2075157"/>
                </a:lnTo>
                <a:lnTo>
                  <a:pt x="15188010" y="2037442"/>
                </a:lnTo>
                <a:lnTo>
                  <a:pt x="15220666" y="2000034"/>
                </a:lnTo>
                <a:lnTo>
                  <a:pt x="15253608" y="1962934"/>
                </a:lnTo>
                <a:lnTo>
                  <a:pt x="15286833" y="1926142"/>
                </a:lnTo>
                <a:lnTo>
                  <a:pt x="15320339" y="1889660"/>
                </a:lnTo>
                <a:lnTo>
                  <a:pt x="15354124" y="1853489"/>
                </a:lnTo>
                <a:lnTo>
                  <a:pt x="15388186" y="1817630"/>
                </a:lnTo>
                <a:lnTo>
                  <a:pt x="15422522" y="1782084"/>
                </a:lnTo>
                <a:lnTo>
                  <a:pt x="15457130" y="1746853"/>
                </a:lnTo>
                <a:lnTo>
                  <a:pt x="15492007" y="1711937"/>
                </a:lnTo>
                <a:lnTo>
                  <a:pt x="15527152" y="1677337"/>
                </a:lnTo>
                <a:lnTo>
                  <a:pt x="15562562" y="1643056"/>
                </a:lnTo>
                <a:lnTo>
                  <a:pt x="15598235" y="1609093"/>
                </a:lnTo>
                <a:lnTo>
                  <a:pt x="15634168" y="1575450"/>
                </a:lnTo>
                <a:lnTo>
                  <a:pt x="15670359" y="1542128"/>
                </a:lnTo>
                <a:lnTo>
                  <a:pt x="15706807" y="1509129"/>
                </a:lnTo>
                <a:lnTo>
                  <a:pt x="15743508" y="1476452"/>
                </a:lnTo>
                <a:lnTo>
                  <a:pt x="15780460" y="1444101"/>
                </a:lnTo>
                <a:lnTo>
                  <a:pt x="15817661" y="1412075"/>
                </a:lnTo>
                <a:lnTo>
                  <a:pt x="15855109" y="1380375"/>
                </a:lnTo>
                <a:lnTo>
                  <a:pt x="15892802" y="1349004"/>
                </a:lnTo>
                <a:lnTo>
                  <a:pt x="15930736" y="1317962"/>
                </a:lnTo>
                <a:lnTo>
                  <a:pt x="15968911" y="1287250"/>
                </a:lnTo>
                <a:lnTo>
                  <a:pt x="16007323" y="1256869"/>
                </a:lnTo>
                <a:lnTo>
                  <a:pt x="16045970" y="1226820"/>
                </a:lnTo>
                <a:lnTo>
                  <a:pt x="16084850" y="1197105"/>
                </a:lnTo>
                <a:lnTo>
                  <a:pt x="16123961" y="1167725"/>
                </a:lnTo>
                <a:lnTo>
                  <a:pt x="16163300" y="1138681"/>
                </a:lnTo>
                <a:lnTo>
                  <a:pt x="16202865" y="1109974"/>
                </a:lnTo>
                <a:lnTo>
                  <a:pt x="16242654" y="1081604"/>
                </a:lnTo>
                <a:lnTo>
                  <a:pt x="16282665" y="1053574"/>
                </a:lnTo>
                <a:lnTo>
                  <a:pt x="16322895" y="1025884"/>
                </a:lnTo>
                <a:lnTo>
                  <a:pt x="16363341" y="998536"/>
                </a:lnTo>
                <a:lnTo>
                  <a:pt x="16404003" y="971530"/>
                </a:lnTo>
                <a:lnTo>
                  <a:pt x="16444876" y="944868"/>
                </a:lnTo>
                <a:lnTo>
                  <a:pt x="16485960" y="918551"/>
                </a:lnTo>
                <a:lnTo>
                  <a:pt x="16527251" y="892580"/>
                </a:lnTo>
                <a:lnTo>
                  <a:pt x="16568748" y="866956"/>
                </a:lnTo>
                <a:lnTo>
                  <a:pt x="16610448" y="841681"/>
                </a:lnTo>
                <a:lnTo>
                  <a:pt x="16652349" y="816754"/>
                </a:lnTo>
                <a:lnTo>
                  <a:pt x="16694448" y="792179"/>
                </a:lnTo>
                <a:lnTo>
                  <a:pt x="16736744" y="767955"/>
                </a:lnTo>
                <a:lnTo>
                  <a:pt x="16779233" y="744083"/>
                </a:lnTo>
                <a:lnTo>
                  <a:pt x="16821914" y="720566"/>
                </a:lnTo>
                <a:lnTo>
                  <a:pt x="16864785" y="697404"/>
                </a:lnTo>
                <a:lnTo>
                  <a:pt x="16907843" y="674598"/>
                </a:lnTo>
                <a:lnTo>
                  <a:pt x="16951085" y="652149"/>
                </a:lnTo>
                <a:lnTo>
                  <a:pt x="16994510" y="630059"/>
                </a:lnTo>
                <a:lnTo>
                  <a:pt x="17038115" y="608328"/>
                </a:lnTo>
                <a:lnTo>
                  <a:pt x="17081898" y="586958"/>
                </a:lnTo>
                <a:lnTo>
                  <a:pt x="17125857" y="565950"/>
                </a:lnTo>
                <a:lnTo>
                  <a:pt x="17169989" y="545304"/>
                </a:lnTo>
                <a:lnTo>
                  <a:pt x="17214292" y="525023"/>
                </a:lnTo>
                <a:lnTo>
                  <a:pt x="17258764" y="505107"/>
                </a:lnTo>
                <a:lnTo>
                  <a:pt x="17303402" y="485558"/>
                </a:lnTo>
                <a:lnTo>
                  <a:pt x="17348204" y="466376"/>
                </a:lnTo>
                <a:lnTo>
                  <a:pt x="17393169" y="447563"/>
                </a:lnTo>
                <a:lnTo>
                  <a:pt x="17438292" y="429119"/>
                </a:lnTo>
                <a:lnTo>
                  <a:pt x="17483573" y="411046"/>
                </a:lnTo>
                <a:lnTo>
                  <a:pt x="17529009" y="393346"/>
                </a:lnTo>
                <a:lnTo>
                  <a:pt x="17574598" y="376018"/>
                </a:lnTo>
                <a:lnTo>
                  <a:pt x="17620337" y="359065"/>
                </a:lnTo>
                <a:lnTo>
                  <a:pt x="17666224" y="342487"/>
                </a:lnTo>
                <a:lnTo>
                  <a:pt x="17712257" y="326286"/>
                </a:lnTo>
                <a:lnTo>
                  <a:pt x="17758433" y="310462"/>
                </a:lnTo>
                <a:lnTo>
                  <a:pt x="17804751" y="295018"/>
                </a:lnTo>
                <a:lnTo>
                  <a:pt x="17851208" y="279953"/>
                </a:lnTo>
                <a:lnTo>
                  <a:pt x="17897801" y="265269"/>
                </a:lnTo>
                <a:lnTo>
                  <a:pt x="17944528" y="250968"/>
                </a:lnTo>
                <a:lnTo>
                  <a:pt x="17991388" y="237049"/>
                </a:lnTo>
                <a:lnTo>
                  <a:pt x="18038377" y="223516"/>
                </a:lnTo>
                <a:lnTo>
                  <a:pt x="18085494" y="210368"/>
                </a:lnTo>
                <a:lnTo>
                  <a:pt x="18132735" y="197606"/>
                </a:lnTo>
                <a:lnTo>
                  <a:pt x="18180100" y="185233"/>
                </a:lnTo>
                <a:lnTo>
                  <a:pt x="18227585" y="173248"/>
                </a:lnTo>
                <a:lnTo>
                  <a:pt x="18275189" y="161654"/>
                </a:lnTo>
                <a:lnTo>
                  <a:pt x="18322908" y="150451"/>
                </a:lnTo>
                <a:lnTo>
                  <a:pt x="18370741" y="139640"/>
                </a:lnTo>
                <a:lnTo>
                  <a:pt x="18418686" y="129223"/>
                </a:lnTo>
                <a:lnTo>
                  <a:pt x="18466740" y="119201"/>
                </a:lnTo>
                <a:lnTo>
                  <a:pt x="18514900" y="109574"/>
                </a:lnTo>
                <a:lnTo>
                  <a:pt x="18563165" y="100344"/>
                </a:lnTo>
                <a:lnTo>
                  <a:pt x="18611532" y="91512"/>
                </a:lnTo>
                <a:lnTo>
                  <a:pt x="18659999" y="83080"/>
                </a:lnTo>
                <a:lnTo>
                  <a:pt x="18708564" y="75047"/>
                </a:lnTo>
                <a:lnTo>
                  <a:pt x="18757224" y="67417"/>
                </a:lnTo>
                <a:lnTo>
                  <a:pt x="18805977" y="60188"/>
                </a:lnTo>
                <a:lnTo>
                  <a:pt x="18854820" y="53364"/>
                </a:lnTo>
                <a:lnTo>
                  <a:pt x="18903752" y="46944"/>
                </a:lnTo>
                <a:lnTo>
                  <a:pt x="18952771" y="40931"/>
                </a:lnTo>
                <a:lnTo>
                  <a:pt x="19001873" y="35324"/>
                </a:lnTo>
                <a:lnTo>
                  <a:pt x="19051057" y="30126"/>
                </a:lnTo>
                <a:lnTo>
                  <a:pt x="19100320" y="25337"/>
                </a:lnTo>
                <a:lnTo>
                  <a:pt x="19149660" y="20958"/>
                </a:lnTo>
                <a:lnTo>
                  <a:pt x="19199074" y="16991"/>
                </a:lnTo>
                <a:lnTo>
                  <a:pt x="19248561" y="13437"/>
                </a:lnTo>
                <a:lnTo>
                  <a:pt x="19298119" y="10297"/>
                </a:lnTo>
                <a:lnTo>
                  <a:pt x="19347744" y="7572"/>
                </a:lnTo>
                <a:lnTo>
                  <a:pt x="19397434" y="5263"/>
                </a:lnTo>
                <a:lnTo>
                  <a:pt x="19447188" y="3371"/>
                </a:lnTo>
                <a:lnTo>
                  <a:pt x="19497002" y="1898"/>
                </a:lnTo>
                <a:lnTo>
                  <a:pt x="19546875" y="844"/>
                </a:lnTo>
                <a:lnTo>
                  <a:pt x="19596805" y="211"/>
                </a:lnTo>
                <a:lnTo>
                  <a:pt x="19646788" y="0"/>
                </a:lnTo>
                <a:lnTo>
                  <a:pt x="20104099" y="0"/>
                </a:lnTo>
              </a:path>
            </a:pathLst>
          </a:custGeom>
          <a:ln w="12700">
            <a:solidFill>
              <a:srgbClr val="B8DFC8"/>
            </a:solidFill>
          </a:ln>
        </p:spPr>
        <p:txBody>
          <a:bodyPr wrap="square" lIns="0" tIns="0" rIns="0" bIns="0" rtlCol="0"/>
          <a:lstStyle/>
          <a:p>
            <a:pPr defTabSz="543390">
              <a:buFont typeface="Arial"/>
              <a:buNone/>
              <a:defRPr/>
            </a:pPr>
            <a:endParaRPr sz="1070" kern="0">
              <a:solidFill>
                <a:sysClr val="windowText" lastClr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E37E5EB9-8DC5-72D3-334B-24B7CFED1B04}"/>
              </a:ext>
            </a:extLst>
          </p:cNvPr>
          <p:cNvGrpSpPr/>
          <p:nvPr/>
        </p:nvGrpSpPr>
        <p:grpSpPr>
          <a:xfrm>
            <a:off x="4639813" y="8025984"/>
            <a:ext cx="933293" cy="316767"/>
            <a:chOff x="14606431" y="9437884"/>
            <a:chExt cx="2047571" cy="694964"/>
          </a:xfrm>
        </p:grpSpPr>
        <p:sp>
          <p:nvSpPr>
            <p:cNvPr id="29" name="object 5">
              <a:extLst>
                <a:ext uri="{FF2B5EF4-FFF2-40B4-BE49-F238E27FC236}">
                  <a16:creationId xmlns:a16="http://schemas.microsoft.com/office/drawing/2014/main" id="{C8F1B8ED-DA0D-CA8E-6E50-BE3DEE74C484}"/>
                </a:ext>
              </a:extLst>
            </p:cNvPr>
            <p:cNvSpPr/>
            <p:nvPr/>
          </p:nvSpPr>
          <p:spPr>
            <a:xfrm>
              <a:off x="15209377" y="9437884"/>
              <a:ext cx="1444625" cy="445770"/>
            </a:xfrm>
            <a:custGeom>
              <a:avLst/>
              <a:gdLst/>
              <a:ahLst/>
              <a:cxnLst/>
              <a:rect l="l" t="t" r="r" b="b"/>
              <a:pathLst>
                <a:path w="1444625" h="445770">
                  <a:moveTo>
                    <a:pt x="67856" y="5664"/>
                  </a:moveTo>
                  <a:lnTo>
                    <a:pt x="0" y="5664"/>
                  </a:lnTo>
                  <a:lnTo>
                    <a:pt x="0" y="440042"/>
                  </a:lnTo>
                  <a:lnTo>
                    <a:pt x="67856" y="440042"/>
                  </a:lnTo>
                  <a:lnTo>
                    <a:pt x="67856" y="5664"/>
                  </a:lnTo>
                  <a:close/>
                </a:path>
                <a:path w="1444625" h="445770">
                  <a:moveTo>
                    <a:pt x="420560" y="440042"/>
                  </a:moveTo>
                  <a:lnTo>
                    <a:pt x="245859" y="5664"/>
                  </a:lnTo>
                  <a:lnTo>
                    <a:pt x="167640" y="5664"/>
                  </a:lnTo>
                  <a:lnTo>
                    <a:pt x="324205" y="378980"/>
                  </a:lnTo>
                  <a:lnTo>
                    <a:pt x="359232" y="421525"/>
                  </a:lnTo>
                  <a:lnTo>
                    <a:pt x="413181" y="439788"/>
                  </a:lnTo>
                  <a:lnTo>
                    <a:pt x="413080" y="440042"/>
                  </a:lnTo>
                  <a:lnTo>
                    <a:pt x="420560" y="440042"/>
                  </a:lnTo>
                  <a:close/>
                </a:path>
                <a:path w="1444625" h="445770">
                  <a:moveTo>
                    <a:pt x="673468" y="5664"/>
                  </a:moveTo>
                  <a:lnTo>
                    <a:pt x="595249" y="5664"/>
                  </a:lnTo>
                  <a:lnTo>
                    <a:pt x="420560" y="440042"/>
                  </a:lnTo>
                  <a:lnTo>
                    <a:pt x="428040" y="440042"/>
                  </a:lnTo>
                  <a:lnTo>
                    <a:pt x="427939" y="439788"/>
                  </a:lnTo>
                  <a:lnTo>
                    <a:pt x="456603" y="434124"/>
                  </a:lnTo>
                  <a:lnTo>
                    <a:pt x="481876" y="421525"/>
                  </a:lnTo>
                  <a:lnTo>
                    <a:pt x="502437" y="402869"/>
                  </a:lnTo>
                  <a:lnTo>
                    <a:pt x="516915" y="378980"/>
                  </a:lnTo>
                  <a:lnTo>
                    <a:pt x="673468" y="5664"/>
                  </a:lnTo>
                  <a:close/>
                </a:path>
                <a:path w="1444625" h="445770">
                  <a:moveTo>
                    <a:pt x="841121" y="5664"/>
                  </a:moveTo>
                  <a:lnTo>
                    <a:pt x="773264" y="5664"/>
                  </a:lnTo>
                  <a:lnTo>
                    <a:pt x="773264" y="440042"/>
                  </a:lnTo>
                  <a:lnTo>
                    <a:pt x="841121" y="440042"/>
                  </a:lnTo>
                  <a:lnTo>
                    <a:pt x="841121" y="5664"/>
                  </a:lnTo>
                  <a:close/>
                </a:path>
                <a:path w="1444625" h="445770">
                  <a:moveTo>
                    <a:pt x="1444231" y="222859"/>
                  </a:moveTo>
                  <a:lnTo>
                    <a:pt x="1439633" y="176161"/>
                  </a:lnTo>
                  <a:lnTo>
                    <a:pt x="1426095" y="132994"/>
                  </a:lnTo>
                  <a:lnTo>
                    <a:pt x="1404073" y="94361"/>
                  </a:lnTo>
                  <a:lnTo>
                    <a:pt x="1374482" y="61785"/>
                  </a:lnTo>
                  <a:lnTo>
                    <a:pt x="1374482" y="222859"/>
                  </a:lnTo>
                  <a:lnTo>
                    <a:pt x="1371384" y="255397"/>
                  </a:lnTo>
                  <a:lnTo>
                    <a:pt x="1347139" y="311277"/>
                  </a:lnTo>
                  <a:lnTo>
                    <a:pt x="1299565" y="352475"/>
                  </a:lnTo>
                  <a:lnTo>
                    <a:pt x="1232852" y="374205"/>
                  </a:lnTo>
                  <a:lnTo>
                    <a:pt x="1193825" y="376974"/>
                  </a:lnTo>
                  <a:lnTo>
                    <a:pt x="1154798" y="374205"/>
                  </a:lnTo>
                  <a:lnTo>
                    <a:pt x="1088085" y="352475"/>
                  </a:lnTo>
                  <a:lnTo>
                    <a:pt x="1040511" y="311277"/>
                  </a:lnTo>
                  <a:lnTo>
                    <a:pt x="1016266" y="255397"/>
                  </a:lnTo>
                  <a:lnTo>
                    <a:pt x="1013167" y="222859"/>
                  </a:lnTo>
                  <a:lnTo>
                    <a:pt x="1016266" y="190309"/>
                  </a:lnTo>
                  <a:lnTo>
                    <a:pt x="1040511" y="134442"/>
                  </a:lnTo>
                  <a:lnTo>
                    <a:pt x="1088085" y="93243"/>
                  </a:lnTo>
                  <a:lnTo>
                    <a:pt x="1154798" y="71513"/>
                  </a:lnTo>
                  <a:lnTo>
                    <a:pt x="1193825" y="68745"/>
                  </a:lnTo>
                  <a:lnTo>
                    <a:pt x="1232852" y="71513"/>
                  </a:lnTo>
                  <a:lnTo>
                    <a:pt x="1299565" y="93243"/>
                  </a:lnTo>
                  <a:lnTo>
                    <a:pt x="1347139" y="134442"/>
                  </a:lnTo>
                  <a:lnTo>
                    <a:pt x="1371384" y="190309"/>
                  </a:lnTo>
                  <a:lnTo>
                    <a:pt x="1374482" y="222859"/>
                  </a:lnTo>
                  <a:lnTo>
                    <a:pt x="1374482" y="61785"/>
                  </a:lnTo>
                  <a:lnTo>
                    <a:pt x="1336916" y="34772"/>
                  </a:lnTo>
                  <a:lnTo>
                    <a:pt x="1294104" y="15608"/>
                  </a:lnTo>
                  <a:lnTo>
                    <a:pt x="1246200" y="3937"/>
                  </a:lnTo>
                  <a:lnTo>
                    <a:pt x="1193825" y="0"/>
                  </a:lnTo>
                  <a:lnTo>
                    <a:pt x="1141450" y="3937"/>
                  </a:lnTo>
                  <a:lnTo>
                    <a:pt x="1093546" y="15608"/>
                  </a:lnTo>
                  <a:lnTo>
                    <a:pt x="1050734" y="34772"/>
                  </a:lnTo>
                  <a:lnTo>
                    <a:pt x="1013650" y="61252"/>
                  </a:lnTo>
                  <a:lnTo>
                    <a:pt x="983564" y="94361"/>
                  </a:lnTo>
                  <a:lnTo>
                    <a:pt x="961542" y="132994"/>
                  </a:lnTo>
                  <a:lnTo>
                    <a:pt x="948016" y="176161"/>
                  </a:lnTo>
                  <a:lnTo>
                    <a:pt x="943419" y="222859"/>
                  </a:lnTo>
                  <a:lnTo>
                    <a:pt x="948016" y="269557"/>
                  </a:lnTo>
                  <a:lnTo>
                    <a:pt x="961542" y="312712"/>
                  </a:lnTo>
                  <a:lnTo>
                    <a:pt x="983564" y="351345"/>
                  </a:lnTo>
                  <a:lnTo>
                    <a:pt x="1013650" y="384467"/>
                  </a:lnTo>
                  <a:lnTo>
                    <a:pt x="1050734" y="410933"/>
                  </a:lnTo>
                  <a:lnTo>
                    <a:pt x="1093546" y="430110"/>
                  </a:lnTo>
                  <a:lnTo>
                    <a:pt x="1141450" y="441769"/>
                  </a:lnTo>
                  <a:lnTo>
                    <a:pt x="1193825" y="445706"/>
                  </a:lnTo>
                  <a:lnTo>
                    <a:pt x="1246200" y="441769"/>
                  </a:lnTo>
                  <a:lnTo>
                    <a:pt x="1294104" y="430110"/>
                  </a:lnTo>
                  <a:lnTo>
                    <a:pt x="1336916" y="410933"/>
                  </a:lnTo>
                  <a:lnTo>
                    <a:pt x="1374000" y="384467"/>
                  </a:lnTo>
                  <a:lnTo>
                    <a:pt x="1380794" y="376974"/>
                  </a:lnTo>
                  <a:lnTo>
                    <a:pt x="1404073" y="351345"/>
                  </a:lnTo>
                  <a:lnTo>
                    <a:pt x="1426095" y="312712"/>
                  </a:lnTo>
                  <a:lnTo>
                    <a:pt x="1439633" y="269557"/>
                  </a:lnTo>
                  <a:lnTo>
                    <a:pt x="1444231" y="2228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1475293">
                <a:buFont typeface="Arial"/>
                <a:buNone/>
                <a:defRPr/>
              </a:pPr>
              <a:endParaRPr sz="2904" kern="0">
                <a:solidFill>
                  <a:sysClr val="windowText" lastClr="000000"/>
                </a:solidFill>
                <a:latin typeface="Arial"/>
                <a:cs typeface="Arial"/>
                <a:sym typeface="Arial"/>
              </a:endParaRPr>
            </a:p>
          </p:txBody>
        </p:sp>
        <p:pic>
          <p:nvPicPr>
            <p:cNvPr id="30" name="object 6">
              <a:extLst>
                <a:ext uri="{FF2B5EF4-FFF2-40B4-BE49-F238E27FC236}">
                  <a16:creationId xmlns:a16="http://schemas.microsoft.com/office/drawing/2014/main" id="{5AC35E77-E021-F260-6F3F-03F94F1D70E6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606431" y="9439812"/>
              <a:ext cx="250327" cy="65924"/>
            </a:xfrm>
            <a:prstGeom prst="rect">
              <a:avLst/>
            </a:prstGeom>
          </p:spPr>
        </p:pic>
        <p:sp>
          <p:nvSpPr>
            <p:cNvPr id="31" name="object 7">
              <a:extLst>
                <a:ext uri="{FF2B5EF4-FFF2-40B4-BE49-F238E27FC236}">
                  <a16:creationId xmlns:a16="http://schemas.microsoft.com/office/drawing/2014/main" id="{5B38D3C5-3C6B-C3B5-9747-90810D5ED075}"/>
                </a:ext>
              </a:extLst>
            </p:cNvPr>
            <p:cNvSpPr/>
            <p:nvPr/>
          </p:nvSpPr>
          <p:spPr>
            <a:xfrm>
              <a:off x="14821850" y="9505736"/>
              <a:ext cx="71755" cy="364490"/>
            </a:xfrm>
            <a:custGeom>
              <a:avLst/>
              <a:gdLst/>
              <a:ahLst/>
              <a:cxnLst/>
              <a:rect l="l" t="t" r="r" b="b"/>
              <a:pathLst>
                <a:path w="71755" h="364490">
                  <a:moveTo>
                    <a:pt x="34909" y="0"/>
                  </a:moveTo>
                  <a:lnTo>
                    <a:pt x="7888" y="47916"/>
                  </a:lnTo>
                  <a:lnTo>
                    <a:pt x="0" y="95923"/>
                  </a:lnTo>
                  <a:lnTo>
                    <a:pt x="0" y="363967"/>
                  </a:lnTo>
                  <a:lnTo>
                    <a:pt x="69861" y="363967"/>
                  </a:lnTo>
                  <a:lnTo>
                    <a:pt x="69809" y="214213"/>
                  </a:lnTo>
                  <a:lnTo>
                    <a:pt x="71715" y="211428"/>
                  </a:lnTo>
                  <a:lnTo>
                    <a:pt x="69809" y="210087"/>
                  </a:lnTo>
                  <a:lnTo>
                    <a:pt x="69809" y="95923"/>
                  </a:lnTo>
                  <a:lnTo>
                    <a:pt x="67820" y="71429"/>
                  </a:lnTo>
                  <a:lnTo>
                    <a:pt x="61924" y="47916"/>
                  </a:lnTo>
                  <a:lnTo>
                    <a:pt x="52228" y="25700"/>
                  </a:lnTo>
                  <a:lnTo>
                    <a:pt x="38836" y="5099"/>
                  </a:lnTo>
                  <a:lnTo>
                    <a:pt x="349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1475293">
                <a:buFont typeface="Arial"/>
                <a:buNone/>
                <a:defRPr/>
              </a:pPr>
              <a:endParaRPr sz="2904" kern="0">
                <a:solidFill>
                  <a:sysClr val="windowText" lastClr="000000"/>
                </a:solidFill>
                <a:latin typeface="Arial"/>
                <a:cs typeface="Arial"/>
                <a:sym typeface="Arial"/>
              </a:endParaRPr>
            </a:p>
          </p:txBody>
        </p:sp>
        <p:pic>
          <p:nvPicPr>
            <p:cNvPr id="32" name="object 8">
              <a:extLst>
                <a:ext uri="{FF2B5EF4-FFF2-40B4-BE49-F238E27FC236}">
                  <a16:creationId xmlns:a16="http://schemas.microsoft.com/office/drawing/2014/main" id="{21787A2A-A972-9E7D-CFD9-3408D1E806C0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856761" y="9439812"/>
              <a:ext cx="250327" cy="65924"/>
            </a:xfrm>
            <a:prstGeom prst="rect">
              <a:avLst/>
            </a:prstGeom>
          </p:spPr>
        </p:pic>
        <p:pic>
          <p:nvPicPr>
            <p:cNvPr id="33" name="object 9">
              <a:extLst>
                <a:ext uri="{FF2B5EF4-FFF2-40B4-BE49-F238E27FC236}">
                  <a16:creationId xmlns:a16="http://schemas.microsoft.com/office/drawing/2014/main" id="{841BF599-454D-DEA7-112E-D9FFA0EC075B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199760" y="9964257"/>
              <a:ext cx="148487" cy="168591"/>
            </a:xfrm>
            <a:prstGeom prst="rect">
              <a:avLst/>
            </a:prstGeom>
          </p:spPr>
        </p:pic>
        <p:pic>
          <p:nvPicPr>
            <p:cNvPr id="34" name="object 10">
              <a:extLst>
                <a:ext uri="{FF2B5EF4-FFF2-40B4-BE49-F238E27FC236}">
                  <a16:creationId xmlns:a16="http://schemas.microsoft.com/office/drawing/2014/main" id="{43BAEF43-7AFC-1B24-34A8-39E998363A42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444620" y="9965680"/>
              <a:ext cx="150602" cy="165754"/>
            </a:xfrm>
            <a:prstGeom prst="rect">
              <a:avLst/>
            </a:prstGeom>
          </p:spPr>
        </p:pic>
        <p:pic>
          <p:nvPicPr>
            <p:cNvPr id="35" name="object 11">
              <a:extLst>
                <a:ext uri="{FF2B5EF4-FFF2-40B4-BE49-F238E27FC236}">
                  <a16:creationId xmlns:a16="http://schemas.microsoft.com/office/drawing/2014/main" id="{54778D0A-9716-D4C1-0693-72FD7A4F886C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703906" y="9965671"/>
              <a:ext cx="118635" cy="165764"/>
            </a:xfrm>
            <a:prstGeom prst="rect">
              <a:avLst/>
            </a:prstGeom>
          </p:spPr>
        </p:pic>
        <p:sp>
          <p:nvSpPr>
            <p:cNvPr id="36" name="object 12">
              <a:extLst>
                <a:ext uri="{FF2B5EF4-FFF2-40B4-BE49-F238E27FC236}">
                  <a16:creationId xmlns:a16="http://schemas.microsoft.com/office/drawing/2014/main" id="{90EFC798-79F8-4760-DA1E-6E8015FFF0DB}"/>
                </a:ext>
              </a:extLst>
            </p:cNvPr>
            <p:cNvSpPr/>
            <p:nvPr/>
          </p:nvSpPr>
          <p:spPr>
            <a:xfrm>
              <a:off x="15934547" y="9965683"/>
              <a:ext cx="260985" cy="166370"/>
            </a:xfrm>
            <a:custGeom>
              <a:avLst/>
              <a:gdLst/>
              <a:ahLst/>
              <a:cxnLst/>
              <a:rect l="l" t="t" r="r" b="b"/>
              <a:pathLst>
                <a:path w="260984" h="166370">
                  <a:moveTo>
                    <a:pt x="20599" y="0"/>
                  </a:moveTo>
                  <a:lnTo>
                    <a:pt x="0" y="0"/>
                  </a:lnTo>
                  <a:lnTo>
                    <a:pt x="0" y="165747"/>
                  </a:lnTo>
                  <a:lnTo>
                    <a:pt x="20599" y="165747"/>
                  </a:lnTo>
                  <a:lnTo>
                    <a:pt x="20599" y="0"/>
                  </a:lnTo>
                  <a:close/>
                </a:path>
                <a:path w="260984" h="166370">
                  <a:moveTo>
                    <a:pt x="260705" y="0"/>
                  </a:moveTo>
                  <a:lnTo>
                    <a:pt x="132600" y="0"/>
                  </a:lnTo>
                  <a:lnTo>
                    <a:pt x="132600" y="19050"/>
                  </a:lnTo>
                  <a:lnTo>
                    <a:pt x="186347" y="19050"/>
                  </a:lnTo>
                  <a:lnTo>
                    <a:pt x="186347" y="166370"/>
                  </a:lnTo>
                  <a:lnTo>
                    <a:pt x="206959" y="166370"/>
                  </a:lnTo>
                  <a:lnTo>
                    <a:pt x="206959" y="19050"/>
                  </a:lnTo>
                  <a:lnTo>
                    <a:pt x="260705" y="19050"/>
                  </a:lnTo>
                  <a:lnTo>
                    <a:pt x="26070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1475293">
                <a:buFont typeface="Arial"/>
                <a:buNone/>
                <a:defRPr/>
              </a:pPr>
              <a:endParaRPr sz="2904" kern="0">
                <a:solidFill>
                  <a:sysClr val="windowText" lastClr="000000"/>
                </a:solidFill>
                <a:latin typeface="Arial"/>
                <a:cs typeface="Arial"/>
                <a:sym typeface="Arial"/>
              </a:endParaRPr>
            </a:p>
          </p:txBody>
        </p:sp>
        <p:pic>
          <p:nvPicPr>
            <p:cNvPr id="37" name="object 13">
              <a:extLst>
                <a:ext uri="{FF2B5EF4-FFF2-40B4-BE49-F238E27FC236}">
                  <a16:creationId xmlns:a16="http://schemas.microsoft.com/office/drawing/2014/main" id="{882078A1-D643-CA0A-B0E5-5D9CB193086F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270092" y="9965680"/>
              <a:ext cx="150602" cy="165754"/>
            </a:xfrm>
            <a:prstGeom prst="rect">
              <a:avLst/>
            </a:prstGeom>
          </p:spPr>
        </p:pic>
        <p:sp>
          <p:nvSpPr>
            <p:cNvPr id="38" name="object 14">
              <a:extLst>
                <a:ext uri="{FF2B5EF4-FFF2-40B4-BE49-F238E27FC236}">
                  <a16:creationId xmlns:a16="http://schemas.microsoft.com/office/drawing/2014/main" id="{F972232B-973E-A0CB-329D-B2EF1378BE60}"/>
                </a:ext>
              </a:extLst>
            </p:cNvPr>
            <p:cNvSpPr/>
            <p:nvPr/>
          </p:nvSpPr>
          <p:spPr>
            <a:xfrm>
              <a:off x="16529363" y="9965073"/>
              <a:ext cx="96520" cy="166370"/>
            </a:xfrm>
            <a:custGeom>
              <a:avLst/>
              <a:gdLst/>
              <a:ahLst/>
              <a:cxnLst/>
              <a:rect l="l" t="t" r="r" b="b"/>
              <a:pathLst>
                <a:path w="96519" h="166370">
                  <a:moveTo>
                    <a:pt x="96139" y="147320"/>
                  </a:moveTo>
                  <a:lnTo>
                    <a:pt x="20599" y="147320"/>
                  </a:lnTo>
                  <a:lnTo>
                    <a:pt x="20599" y="0"/>
                  </a:lnTo>
                  <a:lnTo>
                    <a:pt x="0" y="0"/>
                  </a:lnTo>
                  <a:lnTo>
                    <a:pt x="0" y="147320"/>
                  </a:lnTo>
                  <a:lnTo>
                    <a:pt x="0" y="166370"/>
                  </a:lnTo>
                  <a:lnTo>
                    <a:pt x="96139" y="166370"/>
                  </a:lnTo>
                  <a:lnTo>
                    <a:pt x="96139" y="1473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1475293">
                <a:buFont typeface="Arial"/>
                <a:buNone/>
                <a:defRPr/>
              </a:pPr>
              <a:endParaRPr sz="2904" kern="0">
                <a:solidFill>
                  <a:sysClr val="windowText" lastClr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39" name="Retângulo 38">
            <a:extLst>
              <a:ext uri="{FF2B5EF4-FFF2-40B4-BE49-F238E27FC236}">
                <a16:creationId xmlns:a16="http://schemas.microsoft.com/office/drawing/2014/main" id="{F3C1C320-5542-1CDA-63BE-AA325C1DCB68}"/>
              </a:ext>
            </a:extLst>
          </p:cNvPr>
          <p:cNvSpPr/>
          <p:nvPr/>
        </p:nvSpPr>
        <p:spPr>
          <a:xfrm>
            <a:off x="903632" y="1788145"/>
            <a:ext cx="5093063" cy="3666616"/>
          </a:xfrm>
          <a:prstGeom prst="rect">
            <a:avLst/>
          </a:prstGeom>
          <a:solidFill>
            <a:srgbClr val="101417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842E2C4C-8609-1BAE-F872-AA02AE7B23DD}"/>
              </a:ext>
            </a:extLst>
          </p:cNvPr>
          <p:cNvSpPr txBox="1">
            <a:spLocks/>
          </p:cNvSpPr>
          <p:nvPr/>
        </p:nvSpPr>
        <p:spPr>
          <a:xfrm>
            <a:off x="1128017" y="2067032"/>
            <a:ext cx="4699762" cy="3173139"/>
          </a:xfrm>
          <a:prstGeom prst="rect">
            <a:avLst/>
          </a:prstGeom>
        </p:spPr>
        <p:txBody>
          <a:bodyPr lIns="0" tIns="0" rIns="0" bIns="0"/>
          <a:lstStyle>
            <a:lvl1pPr marL="0" indent="0" algn="just" eaLnBrk="1" hangingPunct="1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tx1"/>
                </a:solidFill>
                <a:latin typeface="Versos Light" panose="020B0403020204030204" pitchFamily="34" charset="0"/>
                <a:ea typeface="+mn-ea"/>
                <a:cs typeface="+mn-cs"/>
              </a:defRPr>
            </a:lvl1pPr>
            <a:lvl2pPr marL="265313" eaLnBrk="1" hangingPunct="1">
              <a:defRPr sz="2000">
                <a:latin typeface="Versos" panose="020B0503020204030204" pitchFamily="34" charset="0"/>
                <a:ea typeface="+mn-ea"/>
                <a:cs typeface="+mn-cs"/>
              </a:defRPr>
            </a:lvl2pPr>
            <a:lvl3pPr marL="530626" eaLnBrk="1" hangingPunct="1">
              <a:defRPr sz="2000">
                <a:latin typeface="Versos" panose="020B0503020204030204" pitchFamily="34" charset="0"/>
                <a:ea typeface="+mn-ea"/>
                <a:cs typeface="+mn-cs"/>
              </a:defRPr>
            </a:lvl3pPr>
            <a:lvl4pPr marL="795939" eaLnBrk="1" hangingPunct="1">
              <a:defRPr sz="2000">
                <a:latin typeface="Versos" panose="020B0503020204030204" pitchFamily="34" charset="0"/>
                <a:ea typeface="+mn-ea"/>
                <a:cs typeface="+mn-cs"/>
              </a:defRPr>
            </a:lvl4pPr>
            <a:lvl5pPr marL="1061253" eaLnBrk="1" hangingPunct="1">
              <a:defRPr sz="2000">
                <a:latin typeface="Versos" panose="020B0503020204030204" pitchFamily="34" charset="0"/>
                <a:ea typeface="+mn-ea"/>
                <a:cs typeface="+mn-cs"/>
              </a:defRPr>
            </a:lvl5pPr>
            <a:lvl6pPr marL="1326566" eaLnBrk="1" hangingPunct="1">
              <a:defRPr>
                <a:latin typeface="+mn-lt"/>
                <a:ea typeface="+mn-ea"/>
                <a:cs typeface="+mn-cs"/>
              </a:defRPr>
            </a:lvl6pPr>
            <a:lvl7pPr marL="1591879" eaLnBrk="1" hangingPunct="1">
              <a:defRPr>
                <a:latin typeface="+mn-lt"/>
                <a:ea typeface="+mn-ea"/>
                <a:cs typeface="+mn-cs"/>
              </a:defRPr>
            </a:lvl7pPr>
            <a:lvl8pPr marL="1857192" eaLnBrk="1" hangingPunct="1">
              <a:defRPr>
                <a:latin typeface="+mn-lt"/>
                <a:ea typeface="+mn-ea"/>
                <a:cs typeface="+mn-cs"/>
              </a:defRPr>
            </a:lvl8pPr>
            <a:lvl9pPr marL="2122505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R="4849" defTabSz="872795">
              <a:spcBef>
                <a:spcPts val="100"/>
              </a:spcBef>
              <a:spcAft>
                <a:spcPts val="100"/>
              </a:spcAft>
            </a:pPr>
            <a:r>
              <a:rPr lang="pt-BR" kern="0">
                <a:solidFill>
                  <a:srgbClr val="FFFFFF"/>
                </a:solidFill>
                <a:cs typeface="Versos"/>
                <a:sym typeface="Arial"/>
              </a:rPr>
              <a:t>Este material foi elaborado pela Tivio Capital Distribuidora de Títulos e Valores Mobiliários S.A. e possui caráter meramente informativo. Não constitui oferta, recomendação ou aconselhamento de investimento.</a:t>
            </a:r>
          </a:p>
          <a:p>
            <a:pPr marR="4849" defTabSz="872795">
              <a:spcBef>
                <a:spcPts val="100"/>
              </a:spcBef>
              <a:spcAft>
                <a:spcPts val="100"/>
              </a:spcAft>
            </a:pPr>
            <a:endParaRPr lang="pt-BR" kern="0">
              <a:solidFill>
                <a:srgbClr val="FFFFFF"/>
              </a:solidFill>
              <a:cs typeface="Versos"/>
              <a:sym typeface="Arial"/>
            </a:endParaRPr>
          </a:p>
          <a:p>
            <a:pPr marR="4849" defTabSz="872795">
              <a:spcBef>
                <a:spcPts val="100"/>
              </a:spcBef>
              <a:spcAft>
                <a:spcPts val="100"/>
              </a:spcAft>
            </a:pPr>
            <a:r>
              <a:rPr lang="pt-BR" kern="0">
                <a:solidFill>
                  <a:srgbClr val="FFFFFF"/>
                </a:solidFill>
                <a:cs typeface="Versos"/>
                <a:sym typeface="Arial"/>
              </a:rPr>
              <a:t>Antes de investir, leia a lâmina de informações básicas, se aplicável, o regulamento, o formulário de informações complementares, seus anexos e apêndices. Esses documentos e informações sobre tributação estão disponíveis em tivio.com/fundos/ e tivio.com/documentos/.</a:t>
            </a:r>
          </a:p>
          <a:p>
            <a:pPr marR="4849" defTabSz="872795">
              <a:spcBef>
                <a:spcPts val="100"/>
              </a:spcBef>
              <a:spcAft>
                <a:spcPts val="100"/>
              </a:spcAft>
            </a:pPr>
            <a:endParaRPr lang="pt-BR" kern="0">
              <a:solidFill>
                <a:srgbClr val="FFFFFF"/>
              </a:solidFill>
              <a:cs typeface="Versos"/>
              <a:sym typeface="Arial"/>
            </a:endParaRPr>
          </a:p>
          <a:p>
            <a:pPr marR="4849" defTabSz="872795">
              <a:spcBef>
                <a:spcPts val="100"/>
              </a:spcBef>
              <a:spcAft>
                <a:spcPts val="100"/>
              </a:spcAft>
            </a:pPr>
            <a:r>
              <a:rPr lang="pt-BR" kern="0">
                <a:solidFill>
                  <a:srgbClr val="FFFFFF"/>
                </a:solidFill>
                <a:cs typeface="Versos"/>
                <a:sym typeface="Arial"/>
              </a:rPr>
              <a:t>Os investimentos envolvem riscos. Consulte os documentos do fundo para conhecer sua estratégia, público-alvo, condições e principais fatores de risco.</a:t>
            </a:r>
          </a:p>
          <a:p>
            <a:pPr marR="4849" defTabSz="872795">
              <a:spcBef>
                <a:spcPts val="100"/>
              </a:spcBef>
              <a:spcAft>
                <a:spcPts val="100"/>
              </a:spcAft>
            </a:pPr>
            <a:endParaRPr lang="pt-BR" kern="0">
              <a:solidFill>
                <a:srgbClr val="FFFFFF"/>
              </a:solidFill>
              <a:cs typeface="Versos"/>
              <a:sym typeface="Arial"/>
            </a:endParaRPr>
          </a:p>
          <a:p>
            <a:pPr marR="4849" defTabSz="872795">
              <a:spcBef>
                <a:spcPts val="100"/>
              </a:spcBef>
              <a:spcAft>
                <a:spcPts val="100"/>
              </a:spcAft>
            </a:pPr>
            <a:r>
              <a:rPr lang="pt-BR" kern="0">
                <a:solidFill>
                  <a:srgbClr val="FFFFFF"/>
                </a:solidFill>
                <a:cs typeface="Versos"/>
                <a:sym typeface="Arial"/>
              </a:rPr>
              <a:t>Rentabilidade obtida no passado não representa garantia de resultados futuros. A rentabilidade divulgada não é líquida de impostos. Os investimentos em fundos não são garantidos pelo administrador, pelo gestor, por qualquer mecanismo de seguro ou pelo Fundo Garantidor de Crédito – FGC.</a:t>
            </a:r>
          </a:p>
          <a:p>
            <a:pPr marR="4849" defTabSz="872795">
              <a:spcBef>
                <a:spcPts val="100"/>
              </a:spcBef>
              <a:spcAft>
                <a:spcPts val="100"/>
              </a:spcAft>
            </a:pPr>
            <a:endParaRPr lang="pt-BR" kern="0">
              <a:solidFill>
                <a:srgbClr val="FFFFFF"/>
              </a:solidFill>
              <a:cs typeface="Versos"/>
              <a:sym typeface="Arial"/>
            </a:endParaRPr>
          </a:p>
          <a:p>
            <a:pPr marR="4849" defTabSz="872795">
              <a:spcBef>
                <a:spcPts val="100"/>
              </a:spcBef>
              <a:spcAft>
                <a:spcPts val="100"/>
              </a:spcAft>
            </a:pPr>
            <a:r>
              <a:rPr lang="pt-BR" kern="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A</a:t>
            </a:r>
            <a:r>
              <a:rPr lang="pt-BR" kern="0" spc="-2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 </a:t>
            </a:r>
            <a:r>
              <a:rPr lang="pt-BR" kern="0" spc="-4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Tivio</a:t>
            </a:r>
            <a:r>
              <a:rPr lang="pt-BR" kern="0" spc="-2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 </a:t>
            </a:r>
            <a:r>
              <a:rPr lang="pt-BR" kern="0" spc="-4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Capital</a:t>
            </a:r>
            <a:r>
              <a:rPr lang="pt-BR" kern="0" spc="-18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 </a:t>
            </a:r>
            <a:r>
              <a:rPr lang="pt-BR" kern="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Distribuidora</a:t>
            </a:r>
            <a:r>
              <a:rPr lang="pt-BR" kern="0" spc="-2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 </a:t>
            </a:r>
            <a:r>
              <a:rPr lang="pt-BR" kern="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de</a:t>
            </a:r>
            <a:r>
              <a:rPr lang="pt-BR" kern="0" spc="-2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 </a:t>
            </a:r>
            <a:r>
              <a:rPr lang="pt-BR" kern="0" spc="-4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Títulos</a:t>
            </a:r>
            <a:r>
              <a:rPr lang="pt-BR" kern="0" spc="-18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 </a:t>
            </a:r>
            <a:r>
              <a:rPr lang="pt-BR" kern="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e</a:t>
            </a:r>
            <a:r>
              <a:rPr lang="pt-BR" kern="0" spc="-2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 </a:t>
            </a:r>
            <a:r>
              <a:rPr lang="pt-BR" kern="0" spc="-4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Valores</a:t>
            </a:r>
            <a:r>
              <a:rPr lang="pt-BR" kern="0" spc="-2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 </a:t>
            </a:r>
            <a:r>
              <a:rPr lang="pt-BR" kern="0" spc="-4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Mobiliários</a:t>
            </a:r>
            <a:r>
              <a:rPr lang="pt-BR" kern="0" spc="-18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 </a:t>
            </a:r>
            <a:r>
              <a:rPr lang="pt-BR" kern="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S.A.</a:t>
            </a:r>
            <a:r>
              <a:rPr lang="pt-BR" kern="0" spc="-2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 </a:t>
            </a:r>
            <a:r>
              <a:rPr lang="pt-BR" kern="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integra</a:t>
            </a:r>
            <a:r>
              <a:rPr lang="pt-BR" kern="0" spc="-18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 </a:t>
            </a:r>
            <a:r>
              <a:rPr lang="pt-BR" kern="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o</a:t>
            </a:r>
            <a:r>
              <a:rPr lang="pt-BR" kern="0" spc="-2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 </a:t>
            </a:r>
            <a:r>
              <a:rPr lang="pt-BR" kern="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conglomerado</a:t>
            </a:r>
            <a:r>
              <a:rPr lang="pt-BR" kern="0" spc="-2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 </a:t>
            </a:r>
            <a:r>
              <a:rPr lang="pt-BR" kern="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prudencial</a:t>
            </a:r>
            <a:r>
              <a:rPr lang="pt-BR" kern="0" spc="-18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 </a:t>
            </a:r>
            <a:r>
              <a:rPr lang="pt-BR" kern="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liderado</a:t>
            </a:r>
            <a:r>
              <a:rPr lang="pt-BR" kern="0" spc="-2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 </a:t>
            </a:r>
            <a:r>
              <a:rPr lang="pt-BR" kern="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pelo</a:t>
            </a:r>
            <a:r>
              <a:rPr lang="pt-BR" kern="0" spc="-20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 </a:t>
            </a:r>
            <a:r>
              <a:rPr lang="pt-BR" kern="0" spc="-4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Banco Bradesco</a:t>
            </a:r>
            <a:r>
              <a:rPr lang="pt-BR" kern="0" spc="-6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 </a:t>
            </a:r>
            <a:r>
              <a:rPr lang="pt-BR" kern="0" spc="-8">
                <a:solidFill>
                  <a:srgbClr val="FFFFFF"/>
                </a:solidFill>
                <a:latin typeface="Versos Light"/>
                <a:cs typeface="Versos Light"/>
                <a:sym typeface="Arial"/>
              </a:rPr>
              <a:t>S.A.</a:t>
            </a:r>
            <a:endParaRPr lang="pt-BR" kern="0">
              <a:solidFill>
                <a:prstClr val="black"/>
              </a:solidFill>
              <a:latin typeface="Versos Light"/>
              <a:cs typeface="Versos Light"/>
              <a:sym typeface="Arial"/>
            </a:endParaRPr>
          </a:p>
        </p:txBody>
      </p: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4548288F-14B7-1EE5-7EB4-36D40DC22AA8}"/>
              </a:ext>
            </a:extLst>
          </p:cNvPr>
          <p:cNvGrpSpPr/>
          <p:nvPr/>
        </p:nvGrpSpPr>
        <p:grpSpPr>
          <a:xfrm>
            <a:off x="1073581" y="6772014"/>
            <a:ext cx="3737384" cy="741930"/>
            <a:chOff x="588727" y="7440903"/>
            <a:chExt cx="4096745" cy="813271"/>
          </a:xfrm>
        </p:grpSpPr>
        <p:sp>
          <p:nvSpPr>
            <p:cNvPr id="42" name="Retângulo 41">
              <a:extLst>
                <a:ext uri="{FF2B5EF4-FFF2-40B4-BE49-F238E27FC236}">
                  <a16:creationId xmlns:a16="http://schemas.microsoft.com/office/drawing/2014/main" id="{5E42C381-B173-C888-271E-11805288D6C1}"/>
                </a:ext>
              </a:extLst>
            </p:cNvPr>
            <p:cNvSpPr/>
            <p:nvPr/>
          </p:nvSpPr>
          <p:spPr>
            <a:xfrm>
              <a:off x="645735" y="7545624"/>
              <a:ext cx="1245175" cy="404845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defTabSz="437383">
                <a:defRPr/>
              </a:pPr>
              <a:r>
                <a:rPr lang="pt-BR" sz="800">
                  <a:solidFill>
                    <a:srgbClr val="FFFFFF"/>
                  </a:solidFill>
                  <a:latin typeface="Arial"/>
                  <a:cs typeface="Arial"/>
                  <a:sym typeface="Arial"/>
                </a:rPr>
                <a:t>RATING S&amp;P:</a:t>
              </a:r>
            </a:p>
            <a:p>
              <a:pPr defTabSz="437383">
                <a:defRPr/>
              </a:pPr>
              <a:r>
                <a:rPr lang="pt-BR" sz="1600" b="1">
                  <a:solidFill>
                    <a:srgbClr val="FFFFFF"/>
                  </a:solidFill>
                  <a:latin typeface="Versos" panose="020B0503020204030204" pitchFamily="34" charset="0"/>
                  <a:cs typeface="Arial"/>
                  <a:sym typeface="Arial"/>
                </a:rPr>
                <a:t>brAMP1</a:t>
              </a:r>
              <a:endParaRPr lang="pt-BR" b="1">
                <a:solidFill>
                  <a:srgbClr val="FFFFFF"/>
                </a:solidFill>
                <a:latin typeface="Versos" panose="020B0503020204030204" pitchFamily="34" charset="0"/>
                <a:cs typeface="Arial"/>
                <a:sym typeface="Arial"/>
              </a:endParaRPr>
            </a:p>
          </p:txBody>
        </p:sp>
        <p:pic>
          <p:nvPicPr>
            <p:cNvPr id="43" name="anbima-gestao-de-recursos">
              <a:extLst>
                <a:ext uri="{FF2B5EF4-FFF2-40B4-BE49-F238E27FC236}">
                  <a16:creationId xmlns:a16="http://schemas.microsoft.com/office/drawing/2014/main" id="{A9137145-3A5B-12CC-6CB5-033AE33567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3050585" y="7444812"/>
              <a:ext cx="767017" cy="574974"/>
            </a:xfrm>
            <a:prstGeom prst="rect">
              <a:avLst/>
            </a:prstGeom>
            <a:blipFill dpi="0"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</p:spPr>
        </p:pic>
        <p:pic>
          <p:nvPicPr>
            <p:cNvPr id="44" name="Imagem 3">
              <a:extLst>
                <a:ext uri="{FF2B5EF4-FFF2-40B4-BE49-F238E27FC236}">
                  <a16:creationId xmlns:a16="http://schemas.microsoft.com/office/drawing/2014/main" id="{0949AA27-7342-CC8A-01CC-7A30D19D2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alphaModFix/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rcRect/>
            <a:stretch/>
          </p:blipFill>
          <p:spPr>
            <a:xfrm>
              <a:off x="1744456" y="7513964"/>
              <a:ext cx="1038307" cy="386060"/>
            </a:xfrm>
            <a:prstGeom prst="rect">
              <a:avLst/>
            </a:prstGeom>
          </p:spPr>
        </p:pic>
        <p:pic>
          <p:nvPicPr>
            <p:cNvPr id="45" name="anbima-distribuicao-de-produtos-de-investimento">
              <a:extLst>
                <a:ext uri="{FF2B5EF4-FFF2-40B4-BE49-F238E27FC236}">
                  <a16:creationId xmlns:a16="http://schemas.microsoft.com/office/drawing/2014/main" id="{A6A25484-6DD7-845D-1F0E-E42A5739BA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rcRect/>
            <a:stretch/>
          </p:blipFill>
          <p:spPr>
            <a:xfrm>
              <a:off x="3919023" y="7440903"/>
              <a:ext cx="766449" cy="574976"/>
            </a:xfrm>
            <a:prstGeom prst="rect">
              <a:avLst/>
            </a:prstGeom>
          </p:spPr>
        </p:pic>
        <p:sp>
          <p:nvSpPr>
            <p:cNvPr id="48" name="CaixaDeTexto 47">
              <a:extLst>
                <a:ext uri="{FF2B5EF4-FFF2-40B4-BE49-F238E27FC236}">
                  <a16:creationId xmlns:a16="http://schemas.microsoft.com/office/drawing/2014/main" id="{8C7C5FB7-594D-6210-E296-968B8DE713DB}"/>
                </a:ext>
              </a:extLst>
            </p:cNvPr>
            <p:cNvSpPr txBox="1"/>
            <p:nvPr/>
          </p:nvSpPr>
          <p:spPr>
            <a:xfrm>
              <a:off x="588727" y="7950540"/>
              <a:ext cx="985143" cy="3036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>
                <a:buClr>
                  <a:srgbClr val="000000"/>
                </a:buClr>
                <a:buFont typeface="Arial"/>
                <a:buNone/>
                <a:defRPr/>
              </a:pPr>
              <a:r>
                <a:rPr lang="pt-BR" sz="400" kern="0">
                  <a:solidFill>
                    <a:srgbClr val="FFFFFF"/>
                  </a:solidFill>
                  <a:latin typeface="Versos" panose="020B0503020204030204" pitchFamily="34" charset="0"/>
                  <a:cs typeface="Arial"/>
                  <a:sym typeface="Arial"/>
                </a:rPr>
                <a:t>Informações disponíveis em spglobal.com</a:t>
              </a:r>
            </a:p>
            <a:p>
              <a:pPr defTabSz="914400">
                <a:buClr>
                  <a:srgbClr val="000000"/>
                </a:buClr>
                <a:buFont typeface="Arial"/>
                <a:buNone/>
                <a:defRPr/>
              </a:pPr>
              <a:endParaRPr lang="pt-BR" sz="400" kern="0">
                <a:solidFill>
                  <a:srgbClr val="FFFFFF"/>
                </a:solidFill>
                <a:latin typeface="Versos" panose="020B0503020204030204" pitchFamily="34" charset="0"/>
                <a:cs typeface="Arial"/>
                <a:sym typeface="Arial"/>
              </a:endParaRPr>
            </a:p>
          </p:txBody>
        </p:sp>
      </p:grpSp>
      <p:sp>
        <p:nvSpPr>
          <p:cNvPr id="55" name="CaixaDeTexto 5">
            <a:extLst>
              <a:ext uri="{FF2B5EF4-FFF2-40B4-BE49-F238E27FC236}">
                <a16:creationId xmlns:a16="http://schemas.microsoft.com/office/drawing/2014/main" id="{BB18F513-0F15-B3FA-9913-6EA32318D4A1}"/>
              </a:ext>
            </a:extLst>
          </p:cNvPr>
          <p:cNvSpPr txBox="1"/>
          <p:nvPr/>
        </p:nvSpPr>
        <p:spPr>
          <a:xfrm>
            <a:off x="1339360" y="8993927"/>
            <a:ext cx="400385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14789"/>
            <a:r>
              <a:rPr lang="it-IT" sz="1050" kern="0">
                <a:solidFill>
                  <a:srgbClr val="FFFFFF"/>
                </a:solidFill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Avenida Brigadeiro Faria Lima, 4.300</a:t>
            </a:r>
          </a:p>
          <a:p>
            <a:pPr algn="ctr" defTabSz="414789"/>
            <a:r>
              <a:rPr lang="it-IT" sz="1050" kern="0">
                <a:solidFill>
                  <a:srgbClr val="FFFFFF"/>
                </a:solidFill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7º andar | Vila Olímpia  CEP 04538-132 | São Paulo</a:t>
            </a:r>
          </a:p>
        </p:txBody>
      </p:sp>
    </p:spTree>
    <p:extLst>
      <p:ext uri="{BB962C8B-B14F-4D97-AF65-F5344CB8AC3E}">
        <p14:creationId xmlns:p14="http://schemas.microsoft.com/office/powerpoint/2010/main" val="29355579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ivio Capital">
      <a:dk1>
        <a:srgbClr val="000000"/>
      </a:dk1>
      <a:lt1>
        <a:srgbClr val="FFFFFF"/>
      </a:lt1>
      <a:dk2>
        <a:srgbClr val="637881"/>
      </a:dk2>
      <a:lt2>
        <a:srgbClr val="E6EDF1"/>
      </a:lt2>
      <a:accent1>
        <a:srgbClr val="92D3AB"/>
      </a:accent1>
      <a:accent2>
        <a:srgbClr val="C1F4D4"/>
      </a:accent2>
      <a:accent3>
        <a:srgbClr val="3C4A60"/>
      </a:accent3>
      <a:accent4>
        <a:srgbClr val="759DB4"/>
      </a:accent4>
      <a:accent5>
        <a:srgbClr val="637881"/>
      </a:accent5>
      <a:accent6>
        <a:srgbClr val="ABC6CD"/>
      </a:accent6>
      <a:hlink>
        <a:srgbClr val="E6EDF1"/>
      </a:hlink>
      <a:folHlink>
        <a:srgbClr val="C1F4D4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Tivio - Paleta de Cores">
      <a:dk1>
        <a:srgbClr val="000000"/>
      </a:dk1>
      <a:lt1>
        <a:srgbClr val="FFFFFF"/>
      </a:lt1>
      <a:dk2>
        <a:srgbClr val="637881"/>
      </a:dk2>
      <a:lt2>
        <a:srgbClr val="E6EDF1"/>
      </a:lt2>
      <a:accent1>
        <a:srgbClr val="759DB3"/>
      </a:accent1>
      <a:accent2>
        <a:srgbClr val="C0F4D3"/>
      </a:accent2>
      <a:accent3>
        <a:srgbClr val="92D3AB"/>
      </a:accent3>
      <a:accent4>
        <a:srgbClr val="3C4A60"/>
      </a:accent4>
      <a:accent5>
        <a:srgbClr val="E6EDF1"/>
      </a:accent5>
      <a:accent6>
        <a:srgbClr val="ABC6CD"/>
      </a:accent6>
      <a:hlink>
        <a:srgbClr val="63E392"/>
      </a:hlink>
      <a:folHlink>
        <a:srgbClr val="ACC4D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Tema do Office">
  <a:themeElements>
    <a:clrScheme name="Tivio - Paleta de Cores">
      <a:dk1>
        <a:srgbClr val="000000"/>
      </a:dk1>
      <a:lt1>
        <a:srgbClr val="FFFFFF"/>
      </a:lt1>
      <a:dk2>
        <a:srgbClr val="637881"/>
      </a:dk2>
      <a:lt2>
        <a:srgbClr val="E6EDF1"/>
      </a:lt2>
      <a:accent1>
        <a:srgbClr val="759DB3"/>
      </a:accent1>
      <a:accent2>
        <a:srgbClr val="C0F4D3"/>
      </a:accent2>
      <a:accent3>
        <a:srgbClr val="92D3AB"/>
      </a:accent3>
      <a:accent4>
        <a:srgbClr val="3C4A60"/>
      </a:accent4>
      <a:accent5>
        <a:srgbClr val="E6EDF1"/>
      </a:accent5>
      <a:accent6>
        <a:srgbClr val="ABC6CD"/>
      </a:accent6>
      <a:hlink>
        <a:srgbClr val="63E392"/>
      </a:hlink>
      <a:folHlink>
        <a:srgbClr val="ACC4D1"/>
      </a:folHlink>
    </a:clrScheme>
    <a:fontScheme name="Tivio">
      <a:majorFont>
        <a:latin typeface="Versos"/>
        <a:ea typeface=""/>
        <a:cs typeface=""/>
      </a:majorFont>
      <a:minorFont>
        <a:latin typeface="Versos Light"/>
        <a:ea typeface=""/>
        <a:cs typeface="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1c0b7a1-8647-479a-bc8f-582142d8bc0f">
      <Terms xmlns="http://schemas.microsoft.com/office/infopath/2007/PartnerControls"/>
    </lcf76f155ced4ddcb4097134ff3c332f>
    <TaxCatchAll xmlns="9a684d71-d6fd-4deb-80ab-4273818deab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F9B3E74B8F57042982E3E9D39FC0152" ma:contentTypeVersion="14" ma:contentTypeDescription="Crie um novo documento." ma:contentTypeScope="" ma:versionID="3fd0dc2c73f6478acced112ab3406c62">
  <xsd:schema xmlns:xsd="http://www.w3.org/2001/XMLSchema" xmlns:xs="http://www.w3.org/2001/XMLSchema" xmlns:p="http://schemas.microsoft.com/office/2006/metadata/properties" xmlns:ns2="e1c0b7a1-8647-479a-bc8f-582142d8bc0f" xmlns:ns3="9a684d71-d6fd-4deb-80ab-4273818deab9" targetNamespace="http://schemas.microsoft.com/office/2006/metadata/properties" ma:root="true" ma:fieldsID="73d7f55b3be2760303eeb4385bcb2cf7" ns2:_="" ns3:_="">
    <xsd:import namespace="e1c0b7a1-8647-479a-bc8f-582142d8bc0f"/>
    <xsd:import namespace="9a684d71-d6fd-4deb-80ab-4273818deab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c0b7a1-8647-479a-bc8f-582142d8bc0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c4e30347-7a5e-4e48-9fe7-ea4e92c09b1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684d71-d6fd-4deb-80ab-4273818deab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ab44a9ff-42ad-4979-a12e-387190d0cadf}" ma:internalName="TaxCatchAll" ma:showField="CatchAllData" ma:web="9a684d71-d6fd-4deb-80ab-4273818deab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3CC2841-DC69-4BFA-BD36-A80031A005B0}">
  <ds:schemaRefs>
    <ds:schemaRef ds:uri="http://schemas.microsoft.com/office/2006/documentManagement/types"/>
    <ds:schemaRef ds:uri="http://www.w3.org/XML/1998/namespace"/>
    <ds:schemaRef ds:uri="http://purl.org/dc/elements/1.1/"/>
    <ds:schemaRef ds:uri="9a684d71-d6fd-4deb-80ab-4273818deab9"/>
    <ds:schemaRef ds:uri="http://purl.org/dc/dcmitype/"/>
    <ds:schemaRef ds:uri="http://purl.org/dc/terms/"/>
    <ds:schemaRef ds:uri="http://schemas.microsoft.com/office/2006/metadata/properties"/>
    <ds:schemaRef ds:uri="e1c0b7a1-8647-479a-bc8f-582142d8bc0f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D31AAAAE-36FE-4EE9-A4A4-CD9323852896}">
  <ds:schemaRefs>
    <ds:schemaRef ds:uri="9a684d71-d6fd-4deb-80ab-4273818deab9"/>
    <ds:schemaRef ds:uri="e1c0b7a1-8647-479a-bc8f-582142d8bc0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90B77D0-CAE5-44B4-9820-91BD4DB9A59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b68a0e7-8c4a-4119-a9fe-c55d0d05c305}" enabled="1" method="Standard" siteId="{28bfc1cb-5aa5-436f-9b59-4bbea6096ae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904</Words>
  <Application>Microsoft Office PowerPoint</Application>
  <PresentationFormat>A4 Paper (210x297 mm)</PresentationFormat>
  <Paragraphs>92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Versos</vt:lpstr>
      <vt:lpstr>Versos Light</vt:lpstr>
      <vt:lpstr>Versos-Light</vt:lpstr>
      <vt:lpstr>Tema do Office</vt:lpstr>
      <vt:lpstr>1_Office Theme</vt:lpstr>
      <vt:lpstr>1_Tema do Office</vt:lpstr>
      <vt:lpstr>Palavra do Gestor HGD30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Thais Arias</dc:creator>
  <cp:lastModifiedBy>Renan Chaves</cp:lastModifiedBy>
  <cp:revision>1</cp:revision>
  <dcterms:created xsi:type="dcterms:W3CDTF">2025-11-13T14:17:54Z</dcterms:created>
  <dcterms:modified xsi:type="dcterms:W3CDTF">2026-10-06T13:16:38Z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0x010100CF9B3E74B8F57042982E3E9D39FC0152</vt:lpwstr>
  </property>
  <property fmtid="{D5CDD505-2E9C-101B-9397-08002B2CF9AE}" pid="3" name="MediaServiceImageTags">
    <vt:lpwstr/>
  </property>
</Properties>
</file>