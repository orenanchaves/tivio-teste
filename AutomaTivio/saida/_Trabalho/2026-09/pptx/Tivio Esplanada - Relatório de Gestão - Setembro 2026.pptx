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43640"/>
          </a:xfrm>
          <a:prstGeom prst="rect">
            <a:avLst/>
          </a:prstGeom>
          <a:noFill/>
        </p:spPr>
        <p:txBody>
          <a:bodyPr wrap="none" lIns="0" rIns="0" tIns="0" bIns="0" anchor="t"/>
          <a:lstStyle/>
          <a:p>
            <a:pPr algn="l">
              <a:lnSpc>
                <a:spcPts val="1142"/>
              </a:lnSpc>
            </a:pPr>
            <a:r>
              <a:rPr sz="952" b="0" i="0">
                <a:solidFill>
                  <a:srgbClr val="FFFFFF"/>
                </a:solidFill>
                <a:latin typeface="Versos"/>
              </a:rPr>
              <a:t>TIVIO ESPLANADA RESP LIMITADA FIF FI INFRA RENDA FIXA </a:t>
            </a:r>
            <a:r>
              <a:rPr sz="781" b="0" i="0">
                <a:solidFill>
                  <a:srgbClr val="FFFFFF"/>
                </a:solidFill>
                <a:latin typeface="Versos"/>
              </a:rPr>
              <a:t>/ CNPJ 54.853.793/0001-10</a:t>
            </a:r>
          </a:p>
        </p:txBody>
      </p:sp>
      <p:sp>
        <p:nvSpPr>
          <p:cNvPr id="4" name="TextBox 3"/>
          <p:cNvSpPr txBox="1"/>
          <p:nvPr/>
        </p:nvSpPr>
        <p:spPr>
          <a:xfrm>
            <a:off x="400680" y="111888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 (Bancário e Corporativo). Ele busca superar a variação do IMA-B 5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1,00%</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7,17%</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9,36%</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21,35%</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IMA-B 5</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2,01%</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11,37%</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14,80%</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24,65%</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−4,19%</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−5,44%</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−3,30%</a:t>
            </a:r>
          </a:p>
        </p:txBody>
      </p:sp>
      <p:sp>
        <p:nvSpPr>
          <p:cNvPr id="34" name="TextBox 33"/>
          <p:cNvSpPr txBox="1"/>
          <p:nvPr/>
        </p:nvSpPr>
        <p:spPr>
          <a:xfrm>
            <a:off x="355320" y="408358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35" name="TextBox 34"/>
          <p:cNvSpPr txBox="1"/>
          <p:nvPr/>
        </p:nvSpPr>
        <p:spPr>
          <a:xfrm>
            <a:off x="400680" y="474130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25490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SABESP</a:t>
            </a:r>
          </a:p>
        </p:txBody>
      </p:sp>
      <p:sp>
        <p:nvSpPr>
          <p:cNvPr id="37" name="TextBox 36"/>
          <p:cNvSpPr txBox="1"/>
          <p:nvPr/>
        </p:nvSpPr>
        <p:spPr>
          <a:xfrm>
            <a:off x="2831928" y="5253018"/>
            <a:ext cx="380097" cy="143640"/>
          </a:xfrm>
          <a:prstGeom prst="rect">
            <a:avLst/>
          </a:prstGeom>
          <a:noFill/>
        </p:spPr>
        <p:txBody>
          <a:bodyPr wrap="none" lIns="0" rIns="0" tIns="0" bIns="0" anchor="t"/>
          <a:lstStyle/>
          <a:p>
            <a:pPr algn="l">
              <a:lnSpc>
                <a:spcPts val="1107"/>
              </a:lnSpc>
            </a:pPr>
            <a:r>
              <a:rPr sz="922" b="0" i="0">
                <a:solidFill>
                  <a:srgbClr val="5A82A0"/>
                </a:solidFill>
                <a:latin typeface="Versos"/>
              </a:rPr>
              <a:t>4,22%</a:t>
            </a:r>
          </a:p>
        </p:txBody>
      </p:sp>
      <p:sp>
        <p:nvSpPr>
          <p:cNvPr id="38" name="TextBox 37"/>
          <p:cNvSpPr txBox="1"/>
          <p:nvPr/>
        </p:nvSpPr>
        <p:spPr>
          <a:xfrm>
            <a:off x="400680" y="573874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ENERGISA</a:t>
            </a:r>
          </a:p>
        </p:txBody>
      </p:sp>
      <p:sp>
        <p:nvSpPr>
          <p:cNvPr id="39" name="TextBox 38"/>
          <p:cNvSpPr txBox="1"/>
          <p:nvPr/>
        </p:nvSpPr>
        <p:spPr>
          <a:xfrm>
            <a:off x="2746406" y="5736858"/>
            <a:ext cx="195945" cy="143640"/>
          </a:xfrm>
          <a:prstGeom prst="rect">
            <a:avLst/>
          </a:prstGeom>
          <a:noFill/>
        </p:spPr>
        <p:txBody>
          <a:bodyPr wrap="none" lIns="0" rIns="0" tIns="0" bIns="0" anchor="t"/>
          <a:lstStyle/>
          <a:p>
            <a:pPr algn="l">
              <a:lnSpc>
                <a:spcPts val="1107"/>
              </a:lnSpc>
            </a:pPr>
            <a:r>
              <a:rPr sz="922" b="0" i="0">
                <a:solidFill>
                  <a:srgbClr val="5A82A0"/>
                </a:solidFill>
                <a:latin typeface="Versos"/>
              </a:rPr>
              <a:t>4%</a:t>
            </a:r>
          </a:p>
        </p:txBody>
      </p:sp>
      <p:sp>
        <p:nvSpPr>
          <p:cNvPr id="40" name="TextBox 39"/>
          <p:cNvSpPr txBox="1"/>
          <p:nvPr/>
        </p:nvSpPr>
        <p:spPr>
          <a:xfrm>
            <a:off x="400680" y="622258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AUREN</a:t>
            </a:r>
          </a:p>
        </p:txBody>
      </p:sp>
      <p:sp>
        <p:nvSpPr>
          <p:cNvPr id="41" name="TextBox 40"/>
          <p:cNvSpPr txBox="1"/>
          <p:nvPr/>
        </p:nvSpPr>
        <p:spPr>
          <a:xfrm>
            <a:off x="2708960" y="6220698"/>
            <a:ext cx="343980" cy="143640"/>
          </a:xfrm>
          <a:prstGeom prst="rect">
            <a:avLst/>
          </a:prstGeom>
          <a:noFill/>
        </p:spPr>
        <p:txBody>
          <a:bodyPr wrap="none" lIns="0" rIns="0" tIns="0" bIns="0" anchor="t"/>
          <a:lstStyle/>
          <a:p>
            <a:pPr algn="l">
              <a:lnSpc>
                <a:spcPts val="1107"/>
              </a:lnSpc>
            </a:pPr>
            <a:r>
              <a:rPr sz="922" b="0" i="0">
                <a:solidFill>
                  <a:srgbClr val="5A82A0"/>
                </a:solidFill>
                <a:latin typeface="Versos"/>
              </a:rPr>
              <a:t>3,91%</a:t>
            </a:r>
          </a:p>
        </p:txBody>
      </p:sp>
      <p:sp>
        <p:nvSpPr>
          <p:cNvPr id="42" name="TextBox 41"/>
          <p:cNvSpPr txBox="1"/>
          <p:nvPr/>
        </p:nvSpPr>
        <p:spPr>
          <a:xfrm>
            <a:off x="400680" y="6706428"/>
            <a:ext cx="773340" cy="136080"/>
          </a:xfrm>
          <a:prstGeom prst="rect">
            <a:avLst/>
          </a:prstGeom>
          <a:noFill/>
        </p:spPr>
        <p:txBody>
          <a:bodyPr wrap="none" lIns="0" rIns="0" tIns="0" bIns="0" anchor="t"/>
          <a:lstStyle/>
          <a:p>
            <a:pPr algn="r">
              <a:lnSpc>
                <a:spcPts val="982"/>
              </a:lnSpc>
            </a:pPr>
            <a:r>
              <a:rPr sz="892" b="0" i="0">
                <a:solidFill>
                  <a:srgbClr val="222222"/>
                </a:solidFill>
                <a:latin typeface="Versos"/>
              </a:rPr>
              <a:t>ELETROBRAS</a:t>
            </a:r>
          </a:p>
        </p:txBody>
      </p:sp>
      <p:sp>
        <p:nvSpPr>
          <p:cNvPr id="43" name="TextBox 42"/>
          <p:cNvSpPr txBox="1"/>
          <p:nvPr/>
        </p:nvSpPr>
        <p:spPr>
          <a:xfrm>
            <a:off x="2618476" y="6704538"/>
            <a:ext cx="368918" cy="143640"/>
          </a:xfrm>
          <a:prstGeom prst="rect">
            <a:avLst/>
          </a:prstGeom>
          <a:noFill/>
        </p:spPr>
        <p:txBody>
          <a:bodyPr wrap="none" lIns="0" rIns="0" tIns="0" bIns="0" anchor="t"/>
          <a:lstStyle/>
          <a:p>
            <a:pPr algn="l">
              <a:lnSpc>
                <a:spcPts val="1107"/>
              </a:lnSpc>
            </a:pPr>
            <a:r>
              <a:rPr sz="922" b="0" i="0">
                <a:solidFill>
                  <a:srgbClr val="5A82A0"/>
                </a:solidFill>
                <a:latin typeface="Versos"/>
              </a:rPr>
              <a:t>3,67%</a:t>
            </a:r>
          </a:p>
        </p:txBody>
      </p:sp>
      <p:sp>
        <p:nvSpPr>
          <p:cNvPr id="44" name="TextBox 43"/>
          <p:cNvSpPr txBox="1"/>
          <p:nvPr/>
        </p:nvSpPr>
        <p:spPr>
          <a:xfrm>
            <a:off x="400680" y="7190268"/>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DESKTOP</a:t>
            </a:r>
          </a:p>
        </p:txBody>
      </p:sp>
      <p:sp>
        <p:nvSpPr>
          <p:cNvPr id="45" name="TextBox 44"/>
          <p:cNvSpPr txBox="1"/>
          <p:nvPr/>
        </p:nvSpPr>
        <p:spPr>
          <a:xfrm>
            <a:off x="2522205" y="7188378"/>
            <a:ext cx="383537" cy="143640"/>
          </a:xfrm>
          <a:prstGeom prst="rect">
            <a:avLst/>
          </a:prstGeom>
          <a:noFill/>
        </p:spPr>
        <p:txBody>
          <a:bodyPr wrap="none" lIns="0" rIns="0" tIns="0" bIns="0" anchor="t"/>
          <a:lstStyle/>
          <a:p>
            <a:pPr algn="l">
              <a:lnSpc>
                <a:spcPts val="1107"/>
              </a:lnSpc>
            </a:pPr>
            <a:r>
              <a:rPr sz="922" b="0" i="0">
                <a:solidFill>
                  <a:srgbClr val="5A82A0"/>
                </a:solidFill>
                <a:latin typeface="Versos"/>
              </a:rPr>
              <a:t>3,43%</a:t>
            </a:r>
          </a:p>
        </p:txBody>
      </p:sp>
      <p:sp>
        <p:nvSpPr>
          <p:cNvPr id="46" name="TextBox 45"/>
          <p:cNvSpPr txBox="1"/>
          <p:nvPr/>
        </p:nvSpPr>
        <p:spPr>
          <a:xfrm>
            <a:off x="400680" y="7859683"/>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28446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282570"/>
            <a:ext cx="461547" cy="143640"/>
          </a:xfrm>
          <a:prstGeom prst="rect">
            <a:avLst/>
          </a:prstGeom>
          <a:noFill/>
        </p:spPr>
        <p:txBody>
          <a:bodyPr wrap="none" lIns="0" rIns="0" tIns="0" bIns="0" anchor="t"/>
          <a:lstStyle/>
          <a:p>
            <a:pPr algn="l">
              <a:lnSpc>
                <a:spcPts val="1142"/>
              </a:lnSpc>
            </a:pPr>
            <a:r>
              <a:rPr sz="952" b="0" i="0">
                <a:solidFill>
                  <a:srgbClr val="111111"/>
                </a:solidFill>
                <a:latin typeface="Versos"/>
              </a:rPr>
              <a:t>43,77%</a:t>
            </a:r>
          </a:p>
        </p:txBody>
      </p:sp>
      <p:sp>
        <p:nvSpPr>
          <p:cNvPr id="49" name="TextBox 48"/>
          <p:cNvSpPr txBox="1"/>
          <p:nvPr/>
        </p:nvSpPr>
        <p:spPr>
          <a:xfrm>
            <a:off x="400680" y="85908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1854444" y="8588986"/>
            <a:ext cx="440540" cy="143640"/>
          </a:xfrm>
          <a:prstGeom prst="rect">
            <a:avLst/>
          </a:prstGeom>
          <a:noFill/>
        </p:spPr>
        <p:txBody>
          <a:bodyPr wrap="none" lIns="0" rIns="0" tIns="0" bIns="0" anchor="t"/>
          <a:lstStyle/>
          <a:p>
            <a:pPr algn="l">
              <a:lnSpc>
                <a:spcPts val="1142"/>
              </a:lnSpc>
            </a:pPr>
            <a:r>
              <a:rPr sz="952" b="0" i="0">
                <a:solidFill>
                  <a:srgbClr val="111111"/>
                </a:solidFill>
                <a:latin typeface="Versos"/>
              </a:rPr>
              <a:t>18,52%</a:t>
            </a:r>
          </a:p>
        </p:txBody>
      </p:sp>
      <p:sp>
        <p:nvSpPr>
          <p:cNvPr id="51" name="TextBox 50"/>
          <p:cNvSpPr txBox="1"/>
          <p:nvPr/>
        </p:nvSpPr>
        <p:spPr>
          <a:xfrm>
            <a:off x="400680" y="889729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1260630" y="8895403"/>
            <a:ext cx="399631" cy="143640"/>
          </a:xfrm>
          <a:prstGeom prst="rect">
            <a:avLst/>
          </a:prstGeom>
          <a:noFill/>
        </p:spPr>
        <p:txBody>
          <a:bodyPr wrap="none" lIns="0" rIns="0" tIns="0" bIns="0" anchor="t"/>
          <a:lstStyle/>
          <a:p>
            <a:pPr algn="l">
              <a:lnSpc>
                <a:spcPts val="1142"/>
              </a:lnSpc>
            </a:pPr>
            <a:r>
              <a:rPr sz="952" b="0" i="0">
                <a:solidFill>
                  <a:srgbClr val="111111"/>
                </a:solidFill>
                <a:latin typeface="Versos"/>
              </a:rPr>
              <a:t>4,96%</a:t>
            </a:r>
          </a:p>
        </p:txBody>
      </p:sp>
      <p:sp>
        <p:nvSpPr>
          <p:cNvPr id="53" name="TextBox 52"/>
          <p:cNvSpPr txBox="1"/>
          <p:nvPr/>
        </p:nvSpPr>
        <p:spPr>
          <a:xfrm>
            <a:off x="400680" y="920370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238304" y="9201819"/>
            <a:ext cx="401228" cy="143640"/>
          </a:xfrm>
          <a:prstGeom prst="rect">
            <a:avLst/>
          </a:prstGeom>
          <a:noFill/>
        </p:spPr>
        <p:txBody>
          <a:bodyPr wrap="none" lIns="0" rIns="0" tIns="0" bIns="0" anchor="t"/>
          <a:lstStyle/>
          <a:p>
            <a:pPr algn="l">
              <a:lnSpc>
                <a:spcPts val="1142"/>
              </a:lnSpc>
            </a:pPr>
            <a:r>
              <a:rPr sz="952" b="0" i="0">
                <a:solidFill>
                  <a:srgbClr val="111111"/>
                </a:solidFill>
                <a:latin typeface="Versos"/>
              </a:rPr>
              <a:t>4,46%</a:t>
            </a:r>
          </a:p>
        </p:txBody>
      </p:sp>
      <p:sp>
        <p:nvSpPr>
          <p:cNvPr id="55" name="TextBox 54"/>
          <p:cNvSpPr txBox="1"/>
          <p:nvPr/>
        </p:nvSpPr>
        <p:spPr>
          <a:xfrm>
            <a:off x="400680" y="9510125"/>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193298" y="9508235"/>
            <a:ext cx="395945" cy="143640"/>
          </a:xfrm>
          <a:prstGeom prst="rect">
            <a:avLst/>
          </a:prstGeom>
          <a:noFill/>
        </p:spPr>
        <p:txBody>
          <a:bodyPr wrap="none" lIns="0" rIns="0" tIns="0" bIns="0" anchor="t"/>
          <a:lstStyle/>
          <a:p>
            <a:pPr algn="l">
              <a:lnSpc>
                <a:spcPts val="1142"/>
              </a:lnSpc>
            </a:pPr>
            <a:r>
              <a:rPr sz="952" b="0" i="0">
                <a:solidFill>
                  <a:srgbClr val="111111"/>
                </a:solidFill>
                <a:latin typeface="Versos"/>
              </a:rPr>
              <a:t>3,43%</a:t>
            </a:r>
          </a:p>
        </p:txBody>
      </p:sp>
      <p:sp>
        <p:nvSpPr>
          <p:cNvPr id="57" name="TextBox 56"/>
          <p:cNvSpPr txBox="1"/>
          <p:nvPr/>
        </p:nvSpPr>
        <p:spPr>
          <a:xfrm>
            <a:off x="400680" y="981654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21124" y="9814651"/>
            <a:ext cx="353439" cy="143640"/>
          </a:xfrm>
          <a:prstGeom prst="rect">
            <a:avLst/>
          </a:prstGeom>
          <a:noFill/>
        </p:spPr>
        <p:txBody>
          <a:bodyPr wrap="none" lIns="0" rIns="0" tIns="0" bIns="0" anchor="t"/>
          <a:lstStyle/>
          <a:p>
            <a:pPr algn="l">
              <a:lnSpc>
                <a:spcPts val="1142"/>
              </a:lnSpc>
            </a:pPr>
            <a:r>
              <a:rPr sz="952" b="0" i="0">
                <a:solidFill>
                  <a:srgbClr val="111111"/>
                </a:solidFill>
                <a:latin typeface="Versos"/>
              </a:rPr>
              <a:t>1,78%</a:t>
            </a:r>
          </a:p>
        </p:txBody>
      </p:sp>
      <p:sp>
        <p:nvSpPr>
          <p:cNvPr id="59" name="TextBox 58"/>
          <p:cNvSpPr txBox="1"/>
          <p:nvPr/>
        </p:nvSpPr>
        <p:spPr>
          <a:xfrm>
            <a:off x="3802680" y="474130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25313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245458"/>
            <a:ext cx="478255" cy="143640"/>
          </a:xfrm>
          <a:prstGeom prst="rect">
            <a:avLst/>
          </a:prstGeom>
          <a:noFill/>
        </p:spPr>
        <p:txBody>
          <a:bodyPr wrap="none" lIns="0" rIns="0" tIns="0" bIns="0" anchor="t"/>
          <a:lstStyle/>
          <a:p>
            <a:pPr algn="l">
              <a:lnSpc>
                <a:spcPts val="1142"/>
              </a:lnSpc>
            </a:pPr>
            <a:r>
              <a:rPr sz="952" b="0" i="0">
                <a:solidFill>
                  <a:srgbClr val="111111"/>
                </a:solidFill>
                <a:latin typeface="Versos"/>
              </a:rPr>
              <a:t>40,93%</a:t>
            </a:r>
          </a:p>
        </p:txBody>
      </p:sp>
      <p:sp>
        <p:nvSpPr>
          <p:cNvPr id="62" name="TextBox 61"/>
          <p:cNvSpPr txBox="1"/>
          <p:nvPr/>
        </p:nvSpPr>
        <p:spPr>
          <a:xfrm>
            <a:off x="3802680" y="57218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3" name="TextBox 62"/>
          <p:cNvSpPr txBox="1"/>
          <p:nvPr/>
        </p:nvSpPr>
        <p:spPr>
          <a:xfrm>
            <a:off x="6053315" y="5714178"/>
            <a:ext cx="441768" cy="143640"/>
          </a:xfrm>
          <a:prstGeom prst="rect">
            <a:avLst/>
          </a:prstGeom>
          <a:noFill/>
        </p:spPr>
        <p:txBody>
          <a:bodyPr wrap="none" lIns="0" rIns="0" tIns="0" bIns="0" anchor="t"/>
          <a:lstStyle/>
          <a:p>
            <a:pPr algn="l">
              <a:lnSpc>
                <a:spcPts val="1142"/>
              </a:lnSpc>
            </a:pPr>
            <a:r>
              <a:rPr sz="952" b="0" i="0">
                <a:solidFill>
                  <a:srgbClr val="111111"/>
                </a:solidFill>
                <a:latin typeface="Versos"/>
              </a:rPr>
              <a:t>18,29%</a:t>
            </a:r>
          </a:p>
        </p:txBody>
      </p:sp>
      <p:sp>
        <p:nvSpPr>
          <p:cNvPr id="64" name="TextBox 63"/>
          <p:cNvSpPr txBox="1"/>
          <p:nvPr/>
        </p:nvSpPr>
        <p:spPr>
          <a:xfrm>
            <a:off x="3802680" y="61905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5" name="TextBox 64"/>
          <p:cNvSpPr txBox="1"/>
          <p:nvPr/>
        </p:nvSpPr>
        <p:spPr>
          <a:xfrm>
            <a:off x="5934718" y="6182898"/>
            <a:ext cx="442505" cy="143640"/>
          </a:xfrm>
          <a:prstGeom prst="rect">
            <a:avLst/>
          </a:prstGeom>
          <a:noFill/>
        </p:spPr>
        <p:txBody>
          <a:bodyPr wrap="none" lIns="0" rIns="0" tIns="0" bIns="0" anchor="t"/>
          <a:lstStyle/>
          <a:p>
            <a:pPr algn="l">
              <a:lnSpc>
                <a:spcPts val="1142"/>
              </a:lnSpc>
            </a:pPr>
            <a:r>
              <a:rPr sz="952" b="0" i="0">
                <a:solidFill>
                  <a:srgbClr val="111111"/>
                </a:solidFill>
                <a:latin typeface="Versos"/>
              </a:rPr>
              <a:t>14,45%</a:t>
            </a:r>
          </a:p>
        </p:txBody>
      </p:sp>
      <p:sp>
        <p:nvSpPr>
          <p:cNvPr id="66" name="TextBox 65"/>
          <p:cNvSpPr txBox="1"/>
          <p:nvPr/>
        </p:nvSpPr>
        <p:spPr>
          <a:xfrm>
            <a:off x="3802680" y="66592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67" name="TextBox 66"/>
          <p:cNvSpPr txBox="1"/>
          <p:nvPr/>
        </p:nvSpPr>
        <p:spPr>
          <a:xfrm>
            <a:off x="5777493" y="6651618"/>
            <a:ext cx="396436" cy="143640"/>
          </a:xfrm>
          <a:prstGeom prst="rect">
            <a:avLst/>
          </a:prstGeom>
          <a:noFill/>
        </p:spPr>
        <p:txBody>
          <a:bodyPr wrap="none" lIns="0" rIns="0" tIns="0" bIns="0" anchor="t"/>
          <a:lstStyle/>
          <a:p>
            <a:pPr algn="l">
              <a:lnSpc>
                <a:spcPts val="1142"/>
              </a:lnSpc>
            </a:pPr>
            <a:r>
              <a:rPr sz="952" b="0" i="0">
                <a:solidFill>
                  <a:srgbClr val="111111"/>
                </a:solidFill>
                <a:latin typeface="Versos"/>
              </a:rPr>
              <a:t>9,36%</a:t>
            </a:r>
          </a:p>
        </p:txBody>
      </p:sp>
      <p:sp>
        <p:nvSpPr>
          <p:cNvPr id="68" name="TextBox 67"/>
          <p:cNvSpPr txBox="1"/>
          <p:nvPr/>
        </p:nvSpPr>
        <p:spPr>
          <a:xfrm>
            <a:off x="3802680" y="712801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69" name="TextBox 68"/>
          <p:cNvSpPr txBox="1"/>
          <p:nvPr/>
        </p:nvSpPr>
        <p:spPr>
          <a:xfrm>
            <a:off x="5708272" y="7120338"/>
            <a:ext cx="332923" cy="143640"/>
          </a:xfrm>
          <a:prstGeom prst="rect">
            <a:avLst/>
          </a:prstGeom>
          <a:noFill/>
        </p:spPr>
        <p:txBody>
          <a:bodyPr wrap="none" lIns="0" rIns="0" tIns="0" bIns="0" anchor="t"/>
          <a:lstStyle/>
          <a:p>
            <a:pPr algn="l">
              <a:lnSpc>
                <a:spcPts val="1142"/>
              </a:lnSpc>
            </a:pPr>
            <a:r>
              <a:rPr sz="952" b="0" i="0">
                <a:solidFill>
                  <a:srgbClr val="111111"/>
                </a:solidFill>
                <a:latin typeface="Versos"/>
              </a:rPr>
              <a:t>7,12%</a:t>
            </a:r>
          </a:p>
        </p:txBody>
      </p:sp>
      <p:sp>
        <p:nvSpPr>
          <p:cNvPr id="70" name="TextBox 69"/>
          <p:cNvSpPr txBox="1"/>
          <p:nvPr/>
        </p:nvSpPr>
        <p:spPr>
          <a:xfrm>
            <a:off x="3802680" y="759673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71" name="TextBox 70"/>
          <p:cNvSpPr txBox="1"/>
          <p:nvPr/>
        </p:nvSpPr>
        <p:spPr>
          <a:xfrm>
            <a:off x="5625348" y="7589058"/>
            <a:ext cx="399753" cy="143640"/>
          </a:xfrm>
          <a:prstGeom prst="rect">
            <a:avLst/>
          </a:prstGeom>
          <a:noFill/>
        </p:spPr>
        <p:txBody>
          <a:bodyPr wrap="none" lIns="0" rIns="0" tIns="0" bIns="0" anchor="t"/>
          <a:lstStyle/>
          <a:p>
            <a:pPr algn="l">
              <a:lnSpc>
                <a:spcPts val="1142"/>
              </a:lnSpc>
            </a:pPr>
            <a:r>
              <a:rPr sz="952" b="0" i="0">
                <a:solidFill>
                  <a:srgbClr val="111111"/>
                </a:solidFill>
                <a:latin typeface="Versos"/>
              </a:rPr>
              <a:t>4,43%</a:t>
            </a:r>
          </a:p>
        </p:txBody>
      </p:sp>
      <p:sp>
        <p:nvSpPr>
          <p:cNvPr id="72" name="TextBox 71"/>
          <p:cNvSpPr txBox="1"/>
          <p:nvPr/>
        </p:nvSpPr>
        <p:spPr>
          <a:xfrm>
            <a:off x="3802680" y="80654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3" name="TextBox 72"/>
          <p:cNvSpPr txBox="1"/>
          <p:nvPr/>
        </p:nvSpPr>
        <p:spPr>
          <a:xfrm>
            <a:off x="5548213" y="8057778"/>
            <a:ext cx="362038" cy="143640"/>
          </a:xfrm>
          <a:prstGeom prst="rect">
            <a:avLst/>
          </a:prstGeom>
          <a:noFill/>
        </p:spPr>
        <p:txBody>
          <a:bodyPr wrap="none" lIns="0" rIns="0" tIns="0" bIns="0" anchor="t"/>
          <a:lstStyle/>
          <a:p>
            <a:pPr algn="l">
              <a:lnSpc>
                <a:spcPts val="1142"/>
              </a:lnSpc>
            </a:pPr>
            <a:r>
              <a:rPr sz="952" b="0" i="0">
                <a:solidFill>
                  <a:srgbClr val="111111"/>
                </a:solidFill>
                <a:latin typeface="Versos"/>
              </a:rPr>
              <a:t>1,93%</a:t>
            </a:r>
          </a:p>
        </p:txBody>
      </p:sp>
      <p:sp>
        <p:nvSpPr>
          <p:cNvPr id="74" name="TextBox 73"/>
          <p:cNvSpPr txBox="1"/>
          <p:nvPr/>
        </p:nvSpPr>
        <p:spPr>
          <a:xfrm>
            <a:off x="3802680" y="85341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5" name="TextBox 74"/>
          <p:cNvSpPr txBox="1"/>
          <p:nvPr/>
        </p:nvSpPr>
        <p:spPr>
          <a:xfrm>
            <a:off x="5544551" y="8526498"/>
            <a:ext cx="360933" cy="143640"/>
          </a:xfrm>
          <a:prstGeom prst="rect">
            <a:avLst/>
          </a:prstGeom>
          <a:noFill/>
        </p:spPr>
        <p:txBody>
          <a:bodyPr wrap="none" lIns="0" rIns="0" tIns="0" bIns="0" anchor="t"/>
          <a:lstStyle/>
          <a:p>
            <a:pPr algn="l">
              <a:lnSpc>
                <a:spcPts val="1142"/>
              </a:lnSpc>
            </a:pPr>
            <a:r>
              <a:rPr sz="952" b="0" i="0">
                <a:solidFill>
                  <a:srgbClr val="111111"/>
                </a:solidFill>
                <a:latin typeface="Versos"/>
              </a:rPr>
              <a:t>1,82%</a:t>
            </a:r>
          </a:p>
        </p:txBody>
      </p:sp>
      <p:sp>
        <p:nvSpPr>
          <p:cNvPr id="76" name="TextBox 75"/>
          <p:cNvSpPr txBox="1"/>
          <p:nvPr/>
        </p:nvSpPr>
        <p:spPr>
          <a:xfrm>
            <a:off x="3802680" y="900289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Outras Concessões</a:t>
            </a:r>
          </a:p>
        </p:txBody>
      </p:sp>
      <p:sp>
        <p:nvSpPr>
          <p:cNvPr id="77" name="TextBox 76"/>
          <p:cNvSpPr txBox="1"/>
          <p:nvPr/>
        </p:nvSpPr>
        <p:spPr>
          <a:xfrm>
            <a:off x="5541598" y="8995218"/>
            <a:ext cx="349262" cy="143640"/>
          </a:xfrm>
          <a:prstGeom prst="rect">
            <a:avLst/>
          </a:prstGeom>
          <a:noFill/>
        </p:spPr>
        <p:txBody>
          <a:bodyPr wrap="none" lIns="0" rIns="0" tIns="0" bIns="0" anchor="t"/>
          <a:lstStyle/>
          <a:p>
            <a:pPr algn="l">
              <a:lnSpc>
                <a:spcPts val="1142"/>
              </a:lnSpc>
            </a:pPr>
            <a:r>
              <a:rPr sz="952" b="0" i="0">
                <a:solidFill>
                  <a:srgbClr val="111111"/>
                </a:solidFill>
                <a:latin typeface="Versos"/>
              </a:rPr>
              <a:t>1,72%</a:t>
            </a:r>
          </a:p>
        </p:txBody>
      </p:sp>
      <p:sp>
        <p:nvSpPr>
          <p:cNvPr id="78" name="TextBox 77"/>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1130574"/>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incentivado foi marcado por uma reprecificação relevante dos ativos. Os spreads médios dos títulos indexados ao IPCA registraram abertura próxima de 45 bps, refletindo um ambiente técnico menos favorável e o aumento da pressão vendedora no mercado secundário. Apesar disso, o forte fechamento da curva real de juros mitigou parte desse movimento, fazendo com que as taxas finais dos ativos apresentassem abertura mais moderada, de aproximadamente 5 bps no período.</a:t>
            </a:r>
          </a:p>
        </p:txBody>
      </p:sp>
      <p:sp>
        <p:nvSpPr>
          <p:cNvPr id="7" name="TextBox 6"/>
          <p:cNvSpPr txBox="1"/>
          <p:nvPr/>
        </p:nvSpPr>
        <p:spPr>
          <a:xfrm>
            <a:off x="529200" y="6465690"/>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observou-se predominância de fluxos vendedores, em um contexto de resgates líquidos próximos de R$ 7 bilhões nos fundos de infraestrutura. Esse movimento contribuiu para a ampliação dos spreads e para uma maior seletividade na formação dos preços.</a:t>
            </a:r>
          </a:p>
        </p:txBody>
      </p:sp>
      <p:sp>
        <p:nvSpPr>
          <p:cNvPr id="8" name="TextBox 7"/>
          <p:cNvSpPr txBox="1"/>
          <p:nvPr/>
        </p:nvSpPr>
        <p:spPr>
          <a:xfrm>
            <a:off x="529200" y="7335208"/>
            <a:ext cx="6501600" cy="561093"/>
          </a:xfrm>
          <a:prstGeom prst="rect">
            <a:avLst/>
          </a:prstGeom>
          <a:noFill/>
        </p:spPr>
        <p:txBody>
          <a:bodyPr wrap="square" lIns="0" rIns="0" tIns="0" bIns="0" anchor="t"/>
          <a:lstStyle/>
          <a:p>
            <a:pPr algn="just">
              <a:lnSpc>
                <a:spcPts val="1494"/>
              </a:lnSpc>
            </a:pPr>
            <a:r>
              <a:rPr sz="1205" b="0" i="0">
                <a:solidFill>
                  <a:srgbClr val="F1F1F1"/>
                </a:solidFill>
                <a:latin typeface="Versos"/>
              </a:rPr>
              <a:t>Já no mercado primário, a atividade permaneceu limitada, com pipeline bastante reduzido de emissões corporativas incentivadas, restringindo as oportunidades de alocação e mantendo a oferta de ativos em níveis baixos.</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Sob a ótica da gestão, seguimos adotando uma postura cautelosa e seletiva. Embora a recente abertura dos spreads tenha tornado algumas oportunidades mais atrativas, entendemos que a volatilidade dos fluxos e a baixa liquidez do mercado secundário ainda justificam uma abordagem disciplinada na alocação dos recursos, priorizando operações com adequada relação entre risco e retorno.</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Esplanada apresentou rentabilidade, isenta de imposto de renda, de 1,00% no mês, acumulando 7,17% no ano. Na atribuição de performance, pode-se destacar as debêntures de de Engie e Localiza, enquanto as de Sabesp foram as maiores detratoras.</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043090"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6" name="TextBox 5"/>
          <p:cNvSpPr txBox="1"/>
          <p:nvPr/>
        </p:nvSpPr>
        <p:spPr>
          <a:xfrm>
            <a:off x="2603947"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7" name="TextBox 6"/>
          <p:cNvSpPr txBox="1"/>
          <p:nvPr/>
        </p:nvSpPr>
        <p:spPr>
          <a:xfrm>
            <a:off x="3164805"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8" name="TextBox 7"/>
          <p:cNvSpPr txBox="1"/>
          <p:nvPr/>
        </p:nvSpPr>
        <p:spPr>
          <a:xfrm>
            <a:off x="3725662"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9" name="TextBox 8"/>
          <p:cNvSpPr txBox="1"/>
          <p:nvPr/>
        </p:nvSpPr>
        <p:spPr>
          <a:xfrm>
            <a:off x="4286520"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0" name="TextBox 9"/>
          <p:cNvSpPr txBox="1"/>
          <p:nvPr/>
        </p:nvSpPr>
        <p:spPr>
          <a:xfrm>
            <a:off x="4847377"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11" name="TextBox 10"/>
          <p:cNvSpPr txBox="1"/>
          <p:nvPr/>
        </p:nvSpPr>
        <p:spPr>
          <a:xfrm>
            <a:off x="5408235" y="1755337"/>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12" name="TextBox 11"/>
          <p:cNvSpPr txBox="1"/>
          <p:nvPr/>
        </p:nvSpPr>
        <p:spPr>
          <a:xfrm>
            <a:off x="5969092"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3" name="TextBox 12"/>
          <p:cNvSpPr txBox="1"/>
          <p:nvPr/>
        </p:nvSpPr>
        <p:spPr>
          <a:xfrm>
            <a:off x="6529950" y="1859641"/>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14" name="TextBox 13"/>
          <p:cNvSpPr txBox="1"/>
          <p:nvPr/>
        </p:nvSpPr>
        <p:spPr>
          <a:xfrm>
            <a:off x="2043090" y="2201259"/>
            <a:ext cx="505036" cy="143640"/>
          </a:xfrm>
          <a:prstGeom prst="rect">
            <a:avLst/>
          </a:prstGeom>
          <a:noFill/>
        </p:spPr>
        <p:txBody>
          <a:bodyPr wrap="none" lIns="0" rIns="0" tIns="0" bIns="0" anchor="t"/>
          <a:lstStyle/>
          <a:p>
            <a:pPr algn="ctr">
              <a:lnSpc>
                <a:spcPts val="1061"/>
              </a:lnSpc>
            </a:pPr>
            <a:r>
              <a:rPr sz="922" b="1" i="0">
                <a:solidFill>
                  <a:srgbClr val="FFFFFF"/>
                </a:solidFill>
                <a:latin typeface="Versos"/>
              </a:rPr>
              <a:t>392.485</a:t>
            </a:r>
          </a:p>
        </p:txBody>
      </p:sp>
      <p:sp>
        <p:nvSpPr>
          <p:cNvPr id="15" name="TextBox 14"/>
          <p:cNvSpPr txBox="1"/>
          <p:nvPr/>
        </p:nvSpPr>
        <p:spPr>
          <a:xfrm>
            <a:off x="260394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100%</a:t>
            </a:r>
          </a:p>
        </p:txBody>
      </p:sp>
      <p:sp>
        <p:nvSpPr>
          <p:cNvPr id="16" name="TextBox 15"/>
          <p:cNvSpPr txBox="1"/>
          <p:nvPr/>
        </p:nvSpPr>
        <p:spPr>
          <a:xfrm>
            <a:off x="316480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8,30%</a:t>
            </a:r>
          </a:p>
        </p:txBody>
      </p:sp>
      <p:sp>
        <p:nvSpPr>
          <p:cNvPr id="17" name="TextBox 16"/>
          <p:cNvSpPr txBox="1"/>
          <p:nvPr/>
        </p:nvSpPr>
        <p:spPr>
          <a:xfrm>
            <a:off x="372566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8,47%</a:t>
            </a:r>
          </a:p>
        </p:txBody>
      </p:sp>
      <p:sp>
        <p:nvSpPr>
          <p:cNvPr id="18" name="TextBox 17"/>
          <p:cNvSpPr txBox="1"/>
          <p:nvPr/>
        </p:nvSpPr>
        <p:spPr>
          <a:xfrm>
            <a:off x="4286520"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19" name="TextBox 18"/>
          <p:cNvSpPr txBox="1"/>
          <p:nvPr/>
        </p:nvSpPr>
        <p:spPr>
          <a:xfrm>
            <a:off x="484737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0,34%</a:t>
            </a:r>
          </a:p>
        </p:txBody>
      </p:sp>
      <p:sp>
        <p:nvSpPr>
          <p:cNvPr id="20" name="TextBox 19"/>
          <p:cNvSpPr txBox="1"/>
          <p:nvPr/>
        </p:nvSpPr>
        <p:spPr>
          <a:xfrm>
            <a:off x="540823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0,29%</a:t>
            </a:r>
          </a:p>
        </p:txBody>
      </p:sp>
      <p:sp>
        <p:nvSpPr>
          <p:cNvPr id="21" name="TextBox 20"/>
          <p:cNvSpPr txBox="1"/>
          <p:nvPr/>
        </p:nvSpPr>
        <p:spPr>
          <a:xfrm>
            <a:off x="596909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22" name="TextBox 21"/>
          <p:cNvSpPr txBox="1"/>
          <p:nvPr/>
        </p:nvSpPr>
        <p:spPr>
          <a:xfrm>
            <a:off x="6529950" y="2201259"/>
            <a:ext cx="489434" cy="143640"/>
          </a:xfrm>
          <a:prstGeom prst="rect">
            <a:avLst/>
          </a:prstGeom>
          <a:noFill/>
        </p:spPr>
        <p:txBody>
          <a:bodyPr wrap="none" lIns="0" rIns="0" tIns="0" bIns="0" anchor="t"/>
          <a:lstStyle/>
          <a:p>
            <a:pPr algn="ctr">
              <a:lnSpc>
                <a:spcPts val="1061"/>
              </a:lnSpc>
            </a:pPr>
            <a:r>
              <a:rPr sz="922" b="1" i="0">
                <a:solidFill>
                  <a:srgbClr val="FFFFFF"/>
                </a:solidFill>
                <a:latin typeface="Versos"/>
              </a:rPr>
              <a:t>5,38</a:t>
            </a:r>
          </a:p>
        </p:txBody>
      </p:sp>
      <p:sp>
        <p:nvSpPr>
          <p:cNvPr id="23" name="TextBox 22"/>
          <p:cNvSpPr txBox="1"/>
          <p:nvPr/>
        </p:nvSpPr>
        <p:spPr>
          <a:xfrm>
            <a:off x="559440" y="2739555"/>
            <a:ext cx="1448647" cy="105840"/>
          </a:xfrm>
          <a:prstGeom prst="rect">
            <a:avLst/>
          </a:prstGeom>
          <a:noFill/>
        </p:spPr>
        <p:txBody>
          <a:bodyPr wrap="none" lIns="0" rIns="0" tIns="0" bIns="0" anchor="t"/>
          <a:lstStyle/>
          <a:p>
            <a:pPr algn="ctr">
              <a:lnSpc>
                <a:spcPts val="821"/>
              </a:lnSpc>
            </a:pPr>
            <a:r>
              <a:rPr sz="714" b="1" i="0">
                <a:solidFill>
                  <a:srgbClr val="FFFFFF"/>
                </a:solidFill>
                <a:latin typeface="Versos"/>
              </a:rPr>
              <a:t>Setor</a:t>
            </a:r>
          </a:p>
        </p:txBody>
      </p:sp>
      <p:sp>
        <p:nvSpPr>
          <p:cNvPr id="24" name="TextBox 23"/>
          <p:cNvSpPr txBox="1"/>
          <p:nvPr/>
        </p:nvSpPr>
        <p:spPr>
          <a:xfrm>
            <a:off x="2043090"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25" name="TextBox 24"/>
          <p:cNvSpPr txBox="1"/>
          <p:nvPr/>
        </p:nvSpPr>
        <p:spPr>
          <a:xfrm>
            <a:off x="2603947"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26" name="TextBox 25"/>
          <p:cNvSpPr txBox="1"/>
          <p:nvPr/>
        </p:nvSpPr>
        <p:spPr>
          <a:xfrm>
            <a:off x="3164805"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27" name="TextBox 26"/>
          <p:cNvSpPr txBox="1"/>
          <p:nvPr/>
        </p:nvSpPr>
        <p:spPr>
          <a:xfrm>
            <a:off x="3725662"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28" name="TextBox 27"/>
          <p:cNvSpPr txBox="1"/>
          <p:nvPr/>
        </p:nvSpPr>
        <p:spPr>
          <a:xfrm>
            <a:off x="4286520"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29" name="TextBox 28"/>
          <p:cNvSpPr txBox="1"/>
          <p:nvPr/>
        </p:nvSpPr>
        <p:spPr>
          <a:xfrm>
            <a:off x="4847377"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30" name="TextBox 29"/>
          <p:cNvSpPr txBox="1"/>
          <p:nvPr/>
        </p:nvSpPr>
        <p:spPr>
          <a:xfrm>
            <a:off x="5408235" y="2635250"/>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31" name="TextBox 30"/>
          <p:cNvSpPr txBox="1"/>
          <p:nvPr/>
        </p:nvSpPr>
        <p:spPr>
          <a:xfrm>
            <a:off x="5969092"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32" name="TextBox 31"/>
          <p:cNvSpPr txBox="1"/>
          <p:nvPr/>
        </p:nvSpPr>
        <p:spPr>
          <a:xfrm>
            <a:off x="6529950" y="2739555"/>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33" name="TextBox 32"/>
          <p:cNvSpPr txBox="1"/>
          <p:nvPr/>
        </p:nvSpPr>
        <p:spPr>
          <a:xfrm>
            <a:off x="604800" y="321689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Energia elétrica</a:t>
            </a:r>
          </a:p>
        </p:txBody>
      </p:sp>
      <p:sp>
        <p:nvSpPr>
          <p:cNvPr id="34" name="TextBox 33"/>
          <p:cNvSpPr txBox="1"/>
          <p:nvPr/>
        </p:nvSpPr>
        <p:spPr>
          <a:xfrm>
            <a:off x="2043090" y="321902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191.166</a:t>
            </a:r>
          </a:p>
        </p:txBody>
      </p:sp>
      <p:sp>
        <p:nvSpPr>
          <p:cNvPr id="35" name="TextBox 34"/>
          <p:cNvSpPr txBox="1"/>
          <p:nvPr/>
        </p:nvSpPr>
        <p:spPr>
          <a:xfrm>
            <a:off x="260394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48,7%</a:t>
            </a:r>
          </a:p>
        </p:txBody>
      </p:sp>
      <p:sp>
        <p:nvSpPr>
          <p:cNvPr id="36" name="TextBox 35"/>
          <p:cNvSpPr txBox="1"/>
          <p:nvPr/>
        </p:nvSpPr>
        <p:spPr>
          <a:xfrm>
            <a:off x="316480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7,93%</a:t>
            </a:r>
          </a:p>
        </p:txBody>
      </p:sp>
      <p:sp>
        <p:nvSpPr>
          <p:cNvPr id="37" name="TextBox 36"/>
          <p:cNvSpPr txBox="1"/>
          <p:nvPr/>
        </p:nvSpPr>
        <p:spPr>
          <a:xfrm>
            <a:off x="372566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8,13%</a:t>
            </a:r>
          </a:p>
        </p:txBody>
      </p:sp>
      <p:sp>
        <p:nvSpPr>
          <p:cNvPr id="38" name="TextBox 37"/>
          <p:cNvSpPr txBox="1"/>
          <p:nvPr/>
        </p:nvSpPr>
        <p:spPr>
          <a:xfrm>
            <a:off x="4286520"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39" name="TextBox 38"/>
          <p:cNvSpPr txBox="1"/>
          <p:nvPr/>
        </p:nvSpPr>
        <p:spPr>
          <a:xfrm>
            <a:off x="484737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0" name="TextBox 39"/>
          <p:cNvSpPr txBox="1"/>
          <p:nvPr/>
        </p:nvSpPr>
        <p:spPr>
          <a:xfrm>
            <a:off x="540823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41" name="TextBox 40"/>
          <p:cNvSpPr txBox="1"/>
          <p:nvPr/>
        </p:nvSpPr>
        <p:spPr>
          <a:xfrm>
            <a:off x="596909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2" name="TextBox 41"/>
          <p:cNvSpPr txBox="1"/>
          <p:nvPr/>
        </p:nvSpPr>
        <p:spPr>
          <a:xfrm>
            <a:off x="6529950" y="321902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5,3</a:t>
            </a:r>
          </a:p>
        </p:txBody>
      </p:sp>
      <p:sp>
        <p:nvSpPr>
          <p:cNvPr id="43" name="TextBox 42"/>
          <p:cNvSpPr txBox="1"/>
          <p:nvPr/>
        </p:nvSpPr>
        <p:spPr>
          <a:xfrm>
            <a:off x="604800" y="379830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Transporte e logística</a:t>
            </a:r>
          </a:p>
        </p:txBody>
      </p:sp>
      <p:sp>
        <p:nvSpPr>
          <p:cNvPr id="44" name="TextBox 43"/>
          <p:cNvSpPr txBox="1"/>
          <p:nvPr/>
        </p:nvSpPr>
        <p:spPr>
          <a:xfrm>
            <a:off x="2043090" y="380043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89.369</a:t>
            </a:r>
          </a:p>
        </p:txBody>
      </p:sp>
      <p:sp>
        <p:nvSpPr>
          <p:cNvPr id="45" name="TextBox 44"/>
          <p:cNvSpPr txBox="1"/>
          <p:nvPr/>
        </p:nvSpPr>
        <p:spPr>
          <a:xfrm>
            <a:off x="260394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22,8%</a:t>
            </a:r>
          </a:p>
        </p:txBody>
      </p:sp>
      <p:sp>
        <p:nvSpPr>
          <p:cNvPr id="46" name="TextBox 45"/>
          <p:cNvSpPr txBox="1"/>
          <p:nvPr/>
        </p:nvSpPr>
        <p:spPr>
          <a:xfrm>
            <a:off x="316480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8,32%</a:t>
            </a:r>
          </a:p>
        </p:txBody>
      </p:sp>
      <p:sp>
        <p:nvSpPr>
          <p:cNvPr id="47" name="TextBox 46"/>
          <p:cNvSpPr txBox="1"/>
          <p:nvPr/>
        </p:nvSpPr>
        <p:spPr>
          <a:xfrm>
            <a:off x="372566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8,48%</a:t>
            </a:r>
          </a:p>
        </p:txBody>
      </p:sp>
      <p:sp>
        <p:nvSpPr>
          <p:cNvPr id="48" name="TextBox 47"/>
          <p:cNvSpPr txBox="1"/>
          <p:nvPr/>
        </p:nvSpPr>
        <p:spPr>
          <a:xfrm>
            <a:off x="4286520"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-0,15%</a:t>
            </a:r>
          </a:p>
        </p:txBody>
      </p:sp>
      <p:sp>
        <p:nvSpPr>
          <p:cNvPr id="49" name="TextBox 48"/>
          <p:cNvSpPr txBox="1"/>
          <p:nvPr/>
        </p:nvSpPr>
        <p:spPr>
          <a:xfrm>
            <a:off x="484737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0,36%</a:t>
            </a:r>
          </a:p>
        </p:txBody>
      </p:sp>
      <p:sp>
        <p:nvSpPr>
          <p:cNvPr id="50" name="TextBox 49"/>
          <p:cNvSpPr txBox="1"/>
          <p:nvPr/>
        </p:nvSpPr>
        <p:spPr>
          <a:xfrm>
            <a:off x="540823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51" name="TextBox 50"/>
          <p:cNvSpPr txBox="1"/>
          <p:nvPr/>
        </p:nvSpPr>
        <p:spPr>
          <a:xfrm>
            <a:off x="596909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0,06%</a:t>
            </a:r>
          </a:p>
        </p:txBody>
      </p:sp>
      <p:sp>
        <p:nvSpPr>
          <p:cNvPr id="52" name="TextBox 51"/>
          <p:cNvSpPr txBox="1"/>
          <p:nvPr/>
        </p:nvSpPr>
        <p:spPr>
          <a:xfrm>
            <a:off x="6529950" y="380043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53" name="TextBox 52"/>
          <p:cNvSpPr txBox="1"/>
          <p:nvPr/>
        </p:nvSpPr>
        <p:spPr>
          <a:xfrm>
            <a:off x="604800" y="4379720"/>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Saneamento</a:t>
            </a:r>
          </a:p>
        </p:txBody>
      </p:sp>
      <p:sp>
        <p:nvSpPr>
          <p:cNvPr id="54" name="TextBox 53"/>
          <p:cNvSpPr txBox="1"/>
          <p:nvPr/>
        </p:nvSpPr>
        <p:spPr>
          <a:xfrm>
            <a:off x="2043090" y="4381846"/>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35.248</a:t>
            </a:r>
          </a:p>
        </p:txBody>
      </p:sp>
      <p:sp>
        <p:nvSpPr>
          <p:cNvPr id="55" name="TextBox 54"/>
          <p:cNvSpPr txBox="1"/>
          <p:nvPr/>
        </p:nvSpPr>
        <p:spPr>
          <a:xfrm>
            <a:off x="260394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a:t>
            </a:r>
          </a:p>
        </p:txBody>
      </p:sp>
      <p:sp>
        <p:nvSpPr>
          <p:cNvPr id="56" name="TextBox 55"/>
          <p:cNvSpPr txBox="1"/>
          <p:nvPr/>
        </p:nvSpPr>
        <p:spPr>
          <a:xfrm>
            <a:off x="316480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9,69%</a:t>
            </a:r>
          </a:p>
        </p:txBody>
      </p:sp>
      <p:sp>
        <p:nvSpPr>
          <p:cNvPr id="57" name="TextBox 56"/>
          <p:cNvSpPr txBox="1"/>
          <p:nvPr/>
        </p:nvSpPr>
        <p:spPr>
          <a:xfrm>
            <a:off x="372566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9,75%</a:t>
            </a:r>
          </a:p>
        </p:txBody>
      </p:sp>
      <p:sp>
        <p:nvSpPr>
          <p:cNvPr id="58" name="TextBox 57"/>
          <p:cNvSpPr txBox="1"/>
          <p:nvPr/>
        </p:nvSpPr>
        <p:spPr>
          <a:xfrm>
            <a:off x="4286520"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-0,05%</a:t>
            </a:r>
          </a:p>
        </p:txBody>
      </p:sp>
      <p:sp>
        <p:nvSpPr>
          <p:cNvPr id="59" name="TextBox 58"/>
          <p:cNvSpPr txBox="1"/>
          <p:nvPr/>
        </p:nvSpPr>
        <p:spPr>
          <a:xfrm>
            <a:off x="484737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60" name="TextBox 59"/>
          <p:cNvSpPr txBox="1"/>
          <p:nvPr/>
        </p:nvSpPr>
        <p:spPr>
          <a:xfrm>
            <a:off x="540823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1,51%</a:t>
            </a:r>
          </a:p>
        </p:txBody>
      </p:sp>
      <p:sp>
        <p:nvSpPr>
          <p:cNvPr id="61" name="TextBox 60"/>
          <p:cNvSpPr txBox="1"/>
          <p:nvPr/>
        </p:nvSpPr>
        <p:spPr>
          <a:xfrm>
            <a:off x="596909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0,17%</a:t>
            </a:r>
          </a:p>
        </p:txBody>
      </p:sp>
      <p:sp>
        <p:nvSpPr>
          <p:cNvPr id="62" name="TextBox 61"/>
          <p:cNvSpPr txBox="1"/>
          <p:nvPr/>
        </p:nvSpPr>
        <p:spPr>
          <a:xfrm>
            <a:off x="6529950" y="4381846"/>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6,2</a:t>
            </a:r>
          </a:p>
        </p:txBody>
      </p:sp>
      <p:sp>
        <p:nvSpPr>
          <p:cNvPr id="63" name="TextBox 62"/>
          <p:cNvSpPr txBox="1"/>
          <p:nvPr/>
        </p:nvSpPr>
        <p:spPr>
          <a:xfrm>
            <a:off x="604800" y="496113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Petróleo e gás</a:t>
            </a:r>
          </a:p>
        </p:txBody>
      </p:sp>
      <p:sp>
        <p:nvSpPr>
          <p:cNvPr id="64" name="TextBox 63"/>
          <p:cNvSpPr txBox="1"/>
          <p:nvPr/>
        </p:nvSpPr>
        <p:spPr>
          <a:xfrm>
            <a:off x="2043090" y="4963258"/>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26.236</a:t>
            </a:r>
          </a:p>
        </p:txBody>
      </p:sp>
      <p:sp>
        <p:nvSpPr>
          <p:cNvPr id="65" name="TextBox 64"/>
          <p:cNvSpPr txBox="1"/>
          <p:nvPr/>
        </p:nvSpPr>
        <p:spPr>
          <a:xfrm>
            <a:off x="260394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6,7%</a:t>
            </a:r>
          </a:p>
        </p:txBody>
      </p:sp>
      <p:sp>
        <p:nvSpPr>
          <p:cNvPr id="66" name="TextBox 65"/>
          <p:cNvSpPr txBox="1"/>
          <p:nvPr/>
        </p:nvSpPr>
        <p:spPr>
          <a:xfrm>
            <a:off x="316480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7,91%</a:t>
            </a:r>
          </a:p>
        </p:txBody>
      </p:sp>
      <p:sp>
        <p:nvSpPr>
          <p:cNvPr id="67" name="TextBox 66"/>
          <p:cNvSpPr txBox="1"/>
          <p:nvPr/>
        </p:nvSpPr>
        <p:spPr>
          <a:xfrm>
            <a:off x="372566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8,08%</a:t>
            </a:r>
          </a:p>
        </p:txBody>
      </p:sp>
      <p:sp>
        <p:nvSpPr>
          <p:cNvPr id="68" name="TextBox 67"/>
          <p:cNvSpPr txBox="1"/>
          <p:nvPr/>
        </p:nvSpPr>
        <p:spPr>
          <a:xfrm>
            <a:off x="4286520"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69" name="TextBox 68"/>
          <p:cNvSpPr txBox="1"/>
          <p:nvPr/>
        </p:nvSpPr>
        <p:spPr>
          <a:xfrm>
            <a:off x="484737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70" name="TextBox 69"/>
          <p:cNvSpPr txBox="1"/>
          <p:nvPr/>
        </p:nvSpPr>
        <p:spPr>
          <a:xfrm>
            <a:off x="540823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-0,07%</a:t>
            </a:r>
          </a:p>
        </p:txBody>
      </p:sp>
      <p:sp>
        <p:nvSpPr>
          <p:cNvPr id="71" name="TextBox 70"/>
          <p:cNvSpPr txBox="1"/>
          <p:nvPr/>
        </p:nvSpPr>
        <p:spPr>
          <a:xfrm>
            <a:off x="596909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72" name="TextBox 71"/>
          <p:cNvSpPr txBox="1"/>
          <p:nvPr/>
        </p:nvSpPr>
        <p:spPr>
          <a:xfrm>
            <a:off x="6529950" y="4963258"/>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73" name="TextBox 72"/>
          <p:cNvSpPr txBox="1"/>
          <p:nvPr/>
        </p:nvSpPr>
        <p:spPr>
          <a:xfrm>
            <a:off x="604800" y="5542543"/>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TI e Telecomunicações</a:t>
            </a:r>
          </a:p>
        </p:txBody>
      </p:sp>
      <p:sp>
        <p:nvSpPr>
          <p:cNvPr id="74" name="TextBox 73"/>
          <p:cNvSpPr txBox="1"/>
          <p:nvPr/>
        </p:nvSpPr>
        <p:spPr>
          <a:xfrm>
            <a:off x="2043090" y="5544669"/>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16.942</a:t>
            </a:r>
          </a:p>
        </p:txBody>
      </p:sp>
      <p:sp>
        <p:nvSpPr>
          <p:cNvPr id="75" name="TextBox 74"/>
          <p:cNvSpPr txBox="1"/>
          <p:nvPr/>
        </p:nvSpPr>
        <p:spPr>
          <a:xfrm>
            <a:off x="260394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4,3%</a:t>
            </a:r>
          </a:p>
        </p:txBody>
      </p:sp>
      <p:sp>
        <p:nvSpPr>
          <p:cNvPr id="76" name="TextBox 75"/>
          <p:cNvSpPr txBox="1"/>
          <p:nvPr/>
        </p:nvSpPr>
        <p:spPr>
          <a:xfrm>
            <a:off x="316480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9,41%</a:t>
            </a:r>
          </a:p>
        </p:txBody>
      </p:sp>
      <p:sp>
        <p:nvSpPr>
          <p:cNvPr id="77" name="TextBox 76"/>
          <p:cNvSpPr txBox="1"/>
          <p:nvPr/>
        </p:nvSpPr>
        <p:spPr>
          <a:xfrm>
            <a:off x="372566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9,53%</a:t>
            </a:r>
          </a:p>
        </p:txBody>
      </p:sp>
      <p:sp>
        <p:nvSpPr>
          <p:cNvPr id="78" name="TextBox 77"/>
          <p:cNvSpPr txBox="1"/>
          <p:nvPr/>
        </p:nvSpPr>
        <p:spPr>
          <a:xfrm>
            <a:off x="4286520"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79" name="TextBox 78"/>
          <p:cNvSpPr txBox="1"/>
          <p:nvPr/>
        </p:nvSpPr>
        <p:spPr>
          <a:xfrm>
            <a:off x="484737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1,41%</a:t>
            </a:r>
          </a:p>
        </p:txBody>
      </p:sp>
      <p:sp>
        <p:nvSpPr>
          <p:cNvPr id="80" name="TextBox 79"/>
          <p:cNvSpPr txBox="1"/>
          <p:nvPr/>
        </p:nvSpPr>
        <p:spPr>
          <a:xfrm>
            <a:off x="540823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1,21%</a:t>
            </a:r>
          </a:p>
        </p:txBody>
      </p:sp>
      <p:sp>
        <p:nvSpPr>
          <p:cNvPr id="81" name="TextBox 80"/>
          <p:cNvSpPr txBox="1"/>
          <p:nvPr/>
        </p:nvSpPr>
        <p:spPr>
          <a:xfrm>
            <a:off x="596909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2" name="TextBox 81"/>
          <p:cNvSpPr txBox="1"/>
          <p:nvPr/>
        </p:nvSpPr>
        <p:spPr>
          <a:xfrm>
            <a:off x="6529950" y="5544669"/>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3,9</a:t>
            </a:r>
          </a:p>
        </p:txBody>
      </p:sp>
      <p:sp>
        <p:nvSpPr>
          <p:cNvPr id="83" name="TextBox 82"/>
          <p:cNvSpPr txBox="1"/>
          <p:nvPr/>
        </p:nvSpPr>
        <p:spPr>
          <a:xfrm>
            <a:off x="604800" y="6123954"/>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Mineração</a:t>
            </a:r>
          </a:p>
        </p:txBody>
      </p:sp>
      <p:sp>
        <p:nvSpPr>
          <p:cNvPr id="84" name="TextBox 83"/>
          <p:cNvSpPr txBox="1"/>
          <p:nvPr/>
        </p:nvSpPr>
        <p:spPr>
          <a:xfrm>
            <a:off x="2043090" y="6126080"/>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14.839</a:t>
            </a:r>
          </a:p>
        </p:txBody>
      </p:sp>
      <p:sp>
        <p:nvSpPr>
          <p:cNvPr id="85" name="TextBox 84"/>
          <p:cNvSpPr txBox="1"/>
          <p:nvPr/>
        </p:nvSpPr>
        <p:spPr>
          <a:xfrm>
            <a:off x="260394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3,8%</a:t>
            </a:r>
          </a:p>
        </p:txBody>
      </p:sp>
      <p:sp>
        <p:nvSpPr>
          <p:cNvPr id="86" name="TextBox 85"/>
          <p:cNvSpPr txBox="1"/>
          <p:nvPr/>
        </p:nvSpPr>
        <p:spPr>
          <a:xfrm>
            <a:off x="316480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87" name="TextBox 86"/>
          <p:cNvSpPr txBox="1"/>
          <p:nvPr/>
        </p:nvSpPr>
        <p:spPr>
          <a:xfrm>
            <a:off x="372566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8,30%</a:t>
            </a:r>
          </a:p>
        </p:txBody>
      </p:sp>
      <p:sp>
        <p:nvSpPr>
          <p:cNvPr id="88" name="TextBox 87"/>
          <p:cNvSpPr txBox="1"/>
          <p:nvPr/>
        </p:nvSpPr>
        <p:spPr>
          <a:xfrm>
            <a:off x="4286520"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9" name="TextBox 88"/>
          <p:cNvSpPr txBox="1"/>
          <p:nvPr/>
        </p:nvSpPr>
        <p:spPr>
          <a:xfrm>
            <a:off x="484737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0,18%</a:t>
            </a:r>
          </a:p>
        </p:txBody>
      </p:sp>
      <p:sp>
        <p:nvSpPr>
          <p:cNvPr id="90" name="TextBox 89"/>
          <p:cNvSpPr txBox="1"/>
          <p:nvPr/>
        </p:nvSpPr>
        <p:spPr>
          <a:xfrm>
            <a:off x="540823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0,21%</a:t>
            </a:r>
          </a:p>
        </p:txBody>
      </p:sp>
      <p:sp>
        <p:nvSpPr>
          <p:cNvPr id="91" name="TextBox 90"/>
          <p:cNvSpPr txBox="1"/>
          <p:nvPr/>
        </p:nvSpPr>
        <p:spPr>
          <a:xfrm>
            <a:off x="596909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92" name="TextBox 91"/>
          <p:cNvSpPr txBox="1"/>
          <p:nvPr/>
        </p:nvSpPr>
        <p:spPr>
          <a:xfrm>
            <a:off x="6529950" y="6126080"/>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6,5</a:t>
            </a:r>
          </a:p>
        </p:txBody>
      </p:sp>
      <p:sp>
        <p:nvSpPr>
          <p:cNvPr id="93" name="TextBox 92"/>
          <p:cNvSpPr txBox="1"/>
          <p:nvPr/>
        </p:nvSpPr>
        <p:spPr>
          <a:xfrm>
            <a:off x="604800" y="6705365"/>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Bioenergia</a:t>
            </a:r>
          </a:p>
        </p:txBody>
      </p:sp>
      <p:sp>
        <p:nvSpPr>
          <p:cNvPr id="94" name="TextBox 93"/>
          <p:cNvSpPr txBox="1"/>
          <p:nvPr/>
        </p:nvSpPr>
        <p:spPr>
          <a:xfrm>
            <a:off x="2043090" y="6707491"/>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6.924</a:t>
            </a:r>
          </a:p>
        </p:txBody>
      </p:sp>
      <p:sp>
        <p:nvSpPr>
          <p:cNvPr id="95" name="TextBox 94"/>
          <p:cNvSpPr txBox="1"/>
          <p:nvPr/>
        </p:nvSpPr>
        <p:spPr>
          <a:xfrm>
            <a:off x="260394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96" name="TextBox 95"/>
          <p:cNvSpPr txBox="1"/>
          <p:nvPr/>
        </p:nvSpPr>
        <p:spPr>
          <a:xfrm>
            <a:off x="316480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8,96%</a:t>
            </a:r>
          </a:p>
        </p:txBody>
      </p:sp>
      <p:sp>
        <p:nvSpPr>
          <p:cNvPr id="97" name="TextBox 96"/>
          <p:cNvSpPr txBox="1"/>
          <p:nvPr/>
        </p:nvSpPr>
        <p:spPr>
          <a:xfrm>
            <a:off x="372566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9,07%</a:t>
            </a:r>
          </a:p>
        </p:txBody>
      </p:sp>
      <p:sp>
        <p:nvSpPr>
          <p:cNvPr id="98" name="TextBox 97"/>
          <p:cNvSpPr txBox="1"/>
          <p:nvPr/>
        </p:nvSpPr>
        <p:spPr>
          <a:xfrm>
            <a:off x="4286520"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99" name="TextBox 98"/>
          <p:cNvSpPr txBox="1"/>
          <p:nvPr/>
        </p:nvSpPr>
        <p:spPr>
          <a:xfrm>
            <a:off x="484737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0,86%</a:t>
            </a:r>
          </a:p>
        </p:txBody>
      </p:sp>
      <p:sp>
        <p:nvSpPr>
          <p:cNvPr id="100" name="TextBox 99"/>
          <p:cNvSpPr txBox="1"/>
          <p:nvPr/>
        </p:nvSpPr>
        <p:spPr>
          <a:xfrm>
            <a:off x="540823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0,76%</a:t>
            </a:r>
          </a:p>
        </p:txBody>
      </p:sp>
      <p:sp>
        <p:nvSpPr>
          <p:cNvPr id="101" name="TextBox 100"/>
          <p:cNvSpPr txBox="1"/>
          <p:nvPr/>
        </p:nvSpPr>
        <p:spPr>
          <a:xfrm>
            <a:off x="596909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0,10%</a:t>
            </a:r>
          </a:p>
        </p:txBody>
      </p:sp>
      <p:sp>
        <p:nvSpPr>
          <p:cNvPr id="102" name="TextBox 101"/>
          <p:cNvSpPr txBox="1"/>
          <p:nvPr/>
        </p:nvSpPr>
        <p:spPr>
          <a:xfrm>
            <a:off x="6529950" y="6707491"/>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4,4</a:t>
            </a:r>
          </a:p>
        </p:txBody>
      </p:sp>
      <p:sp>
        <p:nvSpPr>
          <p:cNvPr id="103" name="TextBox 102"/>
          <p:cNvSpPr txBox="1"/>
          <p:nvPr/>
        </p:nvSpPr>
        <p:spPr>
          <a:xfrm>
            <a:off x="604800" y="7286776"/>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Papel e celulose</a:t>
            </a:r>
          </a:p>
        </p:txBody>
      </p:sp>
      <p:sp>
        <p:nvSpPr>
          <p:cNvPr id="104" name="TextBox 103"/>
          <p:cNvSpPr txBox="1"/>
          <p:nvPr/>
        </p:nvSpPr>
        <p:spPr>
          <a:xfrm>
            <a:off x="2043090" y="7288903"/>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7.223</a:t>
            </a:r>
          </a:p>
        </p:txBody>
      </p:sp>
      <p:sp>
        <p:nvSpPr>
          <p:cNvPr id="105" name="TextBox 104"/>
          <p:cNvSpPr txBox="1"/>
          <p:nvPr/>
        </p:nvSpPr>
        <p:spPr>
          <a:xfrm>
            <a:off x="260394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106" name="TextBox 105"/>
          <p:cNvSpPr txBox="1"/>
          <p:nvPr/>
        </p:nvSpPr>
        <p:spPr>
          <a:xfrm>
            <a:off x="316480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7,65%</a:t>
            </a:r>
          </a:p>
        </p:txBody>
      </p:sp>
      <p:sp>
        <p:nvSpPr>
          <p:cNvPr id="107" name="TextBox 106"/>
          <p:cNvSpPr txBox="1"/>
          <p:nvPr/>
        </p:nvSpPr>
        <p:spPr>
          <a:xfrm>
            <a:off x="372566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7,87%</a:t>
            </a:r>
          </a:p>
        </p:txBody>
      </p:sp>
      <p:sp>
        <p:nvSpPr>
          <p:cNvPr id="108" name="TextBox 107"/>
          <p:cNvSpPr txBox="1"/>
          <p:nvPr/>
        </p:nvSpPr>
        <p:spPr>
          <a:xfrm>
            <a:off x="4286520"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09" name="TextBox 108"/>
          <p:cNvSpPr txBox="1"/>
          <p:nvPr/>
        </p:nvSpPr>
        <p:spPr>
          <a:xfrm>
            <a:off x="484737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0" name="TextBox 109"/>
          <p:cNvSpPr txBox="1"/>
          <p:nvPr/>
        </p:nvSpPr>
        <p:spPr>
          <a:xfrm>
            <a:off x="540823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11" name="TextBox 110"/>
          <p:cNvSpPr txBox="1"/>
          <p:nvPr/>
        </p:nvSpPr>
        <p:spPr>
          <a:xfrm>
            <a:off x="596909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112" name="TextBox 111"/>
          <p:cNvSpPr txBox="1"/>
          <p:nvPr/>
        </p:nvSpPr>
        <p:spPr>
          <a:xfrm>
            <a:off x="6529950" y="7288903"/>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6,9</a:t>
            </a:r>
          </a:p>
        </p:txBody>
      </p:sp>
      <p:sp>
        <p:nvSpPr>
          <p:cNvPr id="113" name="TextBox 112"/>
          <p:cNvSpPr txBox="1"/>
          <p:nvPr/>
        </p:nvSpPr>
        <p:spPr>
          <a:xfrm>
            <a:off x="604800" y="786818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Outros serviços</a:t>
            </a:r>
          </a:p>
        </p:txBody>
      </p:sp>
      <p:sp>
        <p:nvSpPr>
          <p:cNvPr id="114" name="TextBox 113"/>
          <p:cNvSpPr txBox="1"/>
          <p:nvPr/>
        </p:nvSpPr>
        <p:spPr>
          <a:xfrm>
            <a:off x="2043090" y="787031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1.671</a:t>
            </a:r>
          </a:p>
        </p:txBody>
      </p:sp>
      <p:sp>
        <p:nvSpPr>
          <p:cNvPr id="115" name="TextBox 114"/>
          <p:cNvSpPr txBox="1"/>
          <p:nvPr/>
        </p:nvSpPr>
        <p:spPr>
          <a:xfrm>
            <a:off x="260394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0,4%</a:t>
            </a:r>
          </a:p>
        </p:txBody>
      </p:sp>
      <p:sp>
        <p:nvSpPr>
          <p:cNvPr id="116" name="TextBox 115"/>
          <p:cNvSpPr txBox="1"/>
          <p:nvPr/>
        </p:nvSpPr>
        <p:spPr>
          <a:xfrm>
            <a:off x="316480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7,71%</a:t>
            </a:r>
          </a:p>
        </p:txBody>
      </p:sp>
      <p:sp>
        <p:nvSpPr>
          <p:cNvPr id="117" name="TextBox 116"/>
          <p:cNvSpPr txBox="1"/>
          <p:nvPr/>
        </p:nvSpPr>
        <p:spPr>
          <a:xfrm>
            <a:off x="372566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18" name="TextBox 117"/>
          <p:cNvSpPr txBox="1"/>
          <p:nvPr/>
        </p:nvSpPr>
        <p:spPr>
          <a:xfrm>
            <a:off x="4286520"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9" name="TextBox 118"/>
          <p:cNvSpPr txBox="1"/>
          <p:nvPr/>
        </p:nvSpPr>
        <p:spPr>
          <a:xfrm>
            <a:off x="484737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120" name="TextBox 119"/>
          <p:cNvSpPr txBox="1"/>
          <p:nvPr/>
        </p:nvSpPr>
        <p:spPr>
          <a:xfrm>
            <a:off x="540823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-0,27%</a:t>
            </a:r>
          </a:p>
        </p:txBody>
      </p:sp>
      <p:sp>
        <p:nvSpPr>
          <p:cNvPr id="121" name="TextBox 120"/>
          <p:cNvSpPr txBox="1"/>
          <p:nvPr/>
        </p:nvSpPr>
        <p:spPr>
          <a:xfrm>
            <a:off x="596909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122" name="TextBox 121"/>
          <p:cNvSpPr txBox="1"/>
          <p:nvPr/>
        </p:nvSpPr>
        <p:spPr>
          <a:xfrm>
            <a:off x="6529950" y="787031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3,3</a:t>
            </a:r>
          </a:p>
        </p:txBody>
      </p:sp>
      <p:sp>
        <p:nvSpPr>
          <p:cNvPr id="123" name="TextBox 122"/>
          <p:cNvSpPr txBox="1"/>
          <p:nvPr/>
        </p:nvSpPr>
        <p:spPr>
          <a:xfrm>
            <a:off x="604800" y="844959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Comunicação</a:t>
            </a:r>
          </a:p>
        </p:txBody>
      </p:sp>
      <p:sp>
        <p:nvSpPr>
          <p:cNvPr id="124" name="TextBox 123"/>
          <p:cNvSpPr txBox="1"/>
          <p:nvPr/>
        </p:nvSpPr>
        <p:spPr>
          <a:xfrm>
            <a:off x="2043090" y="845172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1.747</a:t>
            </a:r>
          </a:p>
        </p:txBody>
      </p:sp>
      <p:sp>
        <p:nvSpPr>
          <p:cNvPr id="125" name="TextBox 124"/>
          <p:cNvSpPr txBox="1"/>
          <p:nvPr/>
        </p:nvSpPr>
        <p:spPr>
          <a:xfrm>
            <a:off x="260394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0,5%</a:t>
            </a:r>
          </a:p>
        </p:txBody>
      </p:sp>
      <p:sp>
        <p:nvSpPr>
          <p:cNvPr id="126" name="TextBox 125"/>
          <p:cNvSpPr txBox="1"/>
          <p:nvPr/>
        </p:nvSpPr>
        <p:spPr>
          <a:xfrm>
            <a:off x="316480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27" name="TextBox 126"/>
          <p:cNvSpPr txBox="1"/>
          <p:nvPr/>
        </p:nvSpPr>
        <p:spPr>
          <a:xfrm>
            <a:off x="372566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128" name="TextBox 127"/>
          <p:cNvSpPr txBox="1"/>
          <p:nvPr/>
        </p:nvSpPr>
        <p:spPr>
          <a:xfrm>
            <a:off x="4286520"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-0,13%</a:t>
            </a:r>
          </a:p>
        </p:txBody>
      </p:sp>
      <p:sp>
        <p:nvSpPr>
          <p:cNvPr id="129" name="TextBox 128"/>
          <p:cNvSpPr txBox="1"/>
          <p:nvPr/>
        </p:nvSpPr>
        <p:spPr>
          <a:xfrm>
            <a:off x="484737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-0,14%</a:t>
            </a:r>
          </a:p>
        </p:txBody>
      </p:sp>
      <p:sp>
        <p:nvSpPr>
          <p:cNvPr id="130" name="TextBox 129"/>
          <p:cNvSpPr txBox="1"/>
          <p:nvPr/>
        </p:nvSpPr>
        <p:spPr>
          <a:xfrm>
            <a:off x="540823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131" name="TextBox 130"/>
          <p:cNvSpPr txBox="1"/>
          <p:nvPr/>
        </p:nvSpPr>
        <p:spPr>
          <a:xfrm>
            <a:off x="596909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132" name="TextBox 131"/>
          <p:cNvSpPr txBox="1"/>
          <p:nvPr/>
        </p:nvSpPr>
        <p:spPr>
          <a:xfrm>
            <a:off x="6529950" y="845172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4,2</a:t>
            </a:r>
          </a:p>
        </p:txBody>
      </p:sp>
      <p:sp>
        <p:nvSpPr>
          <p:cNvPr id="133" name="TextBox 132"/>
          <p:cNvSpPr txBox="1"/>
          <p:nvPr/>
        </p:nvSpPr>
        <p:spPr>
          <a:xfrm>
            <a:off x="604800" y="903160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Metalurgia e siderurgia</a:t>
            </a:r>
          </a:p>
        </p:txBody>
      </p:sp>
      <p:sp>
        <p:nvSpPr>
          <p:cNvPr id="134" name="TextBox 133"/>
          <p:cNvSpPr txBox="1"/>
          <p:nvPr/>
        </p:nvSpPr>
        <p:spPr>
          <a:xfrm>
            <a:off x="2043090" y="9033727"/>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1.120</a:t>
            </a:r>
          </a:p>
        </p:txBody>
      </p:sp>
      <p:sp>
        <p:nvSpPr>
          <p:cNvPr id="135" name="TextBox 134"/>
          <p:cNvSpPr txBox="1"/>
          <p:nvPr/>
        </p:nvSpPr>
        <p:spPr>
          <a:xfrm>
            <a:off x="260394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a:t>
            </a:r>
          </a:p>
        </p:txBody>
      </p:sp>
      <p:sp>
        <p:nvSpPr>
          <p:cNvPr id="136" name="TextBox 135"/>
          <p:cNvSpPr txBox="1"/>
          <p:nvPr/>
        </p:nvSpPr>
        <p:spPr>
          <a:xfrm>
            <a:off x="316480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23,57%</a:t>
            </a:r>
          </a:p>
        </p:txBody>
      </p:sp>
      <p:sp>
        <p:nvSpPr>
          <p:cNvPr id="137" name="TextBox 136"/>
          <p:cNvSpPr txBox="1"/>
          <p:nvPr/>
        </p:nvSpPr>
        <p:spPr>
          <a:xfrm>
            <a:off x="372566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21,71%</a:t>
            </a:r>
          </a:p>
        </p:txBody>
      </p:sp>
      <p:sp>
        <p:nvSpPr>
          <p:cNvPr id="138" name="TextBox 137"/>
          <p:cNvSpPr txBox="1"/>
          <p:nvPr/>
        </p:nvSpPr>
        <p:spPr>
          <a:xfrm>
            <a:off x="4286520"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1,53%</a:t>
            </a:r>
          </a:p>
        </p:txBody>
      </p:sp>
      <p:sp>
        <p:nvSpPr>
          <p:cNvPr id="139" name="TextBox 138"/>
          <p:cNvSpPr txBox="1"/>
          <p:nvPr/>
        </p:nvSpPr>
        <p:spPr>
          <a:xfrm>
            <a:off x="484737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14,35%</a:t>
            </a:r>
          </a:p>
        </p:txBody>
      </p:sp>
      <p:sp>
        <p:nvSpPr>
          <p:cNvPr id="140" name="TextBox 139"/>
          <p:cNvSpPr txBox="1"/>
          <p:nvPr/>
        </p:nvSpPr>
        <p:spPr>
          <a:xfrm>
            <a:off x="540823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12,46%</a:t>
            </a:r>
          </a:p>
        </p:txBody>
      </p:sp>
      <p:sp>
        <p:nvSpPr>
          <p:cNvPr id="141" name="TextBox 140"/>
          <p:cNvSpPr txBox="1"/>
          <p:nvPr/>
        </p:nvSpPr>
        <p:spPr>
          <a:xfrm>
            <a:off x="596909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142" name="TextBox 141"/>
          <p:cNvSpPr txBox="1"/>
          <p:nvPr/>
        </p:nvSpPr>
        <p:spPr>
          <a:xfrm>
            <a:off x="6529950" y="9033727"/>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4,9</a:t>
            </a:r>
          </a:p>
        </p:txBody>
      </p:sp>
      <p:sp>
        <p:nvSpPr>
          <p:cNvPr id="143" name="TextBox 142"/>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144" name="TextBox 143"/>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 profissional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21/10/2024</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0,475%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D+9 DU</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D+10 DU</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09228"/>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098228"/>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R$ 119.778.245,91</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R$ 124.848.435,62</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