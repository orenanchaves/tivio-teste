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43640"/>
          </a:xfrm>
          <a:prstGeom prst="rect">
            <a:avLst/>
          </a:prstGeom>
          <a:noFill/>
        </p:spPr>
        <p:txBody>
          <a:bodyPr wrap="none" lIns="0" rIns="0" tIns="0" bIns="0" anchor="t"/>
          <a:lstStyle/>
          <a:p>
            <a:pPr algn="l">
              <a:lnSpc>
                <a:spcPts val="1157"/>
              </a:lnSpc>
            </a:pPr>
            <a:r>
              <a:rPr sz="964" b="0" i="0">
                <a:solidFill>
                  <a:srgbClr val="FFFFFF"/>
                </a:solidFill>
                <a:latin typeface="Versos"/>
              </a:rPr>
              <a:t>BV ICATU SEG LEGACY PREV FIF - CIC RF CRED PRIV – RL </a:t>
            </a:r>
            <a:r>
              <a:rPr sz="790" b="0" i="0">
                <a:solidFill>
                  <a:srgbClr val="FFFFFF"/>
                </a:solidFill>
                <a:latin typeface="Versos"/>
              </a:rPr>
              <a:t>/ CNPJ 09.166.056/0001-95</a:t>
            </a:r>
          </a:p>
        </p:txBody>
      </p:sp>
      <p:sp>
        <p:nvSpPr>
          <p:cNvPr id="4" name="TextBox 3"/>
          <p:cNvSpPr txBox="1"/>
          <p:nvPr/>
        </p:nvSpPr>
        <p:spPr>
          <a:xfrm>
            <a:off x="400680" y="111888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1,03%</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10,03%</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13,94%</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28,88%</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46,31%</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440,93%</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10,51%</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14,48%</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29,81%</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44,25%</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460,48%</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−0,06%</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−0,48%</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−0,54%</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−0,92%</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2,06%</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−19,55%</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94,77%</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95,41%</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96,30%</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96,90%</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104,66%</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95,75%</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011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4" name="TextBox 43"/>
          <p:cNvSpPr txBox="1"/>
          <p:nvPr/>
        </p:nvSpPr>
        <p:spPr>
          <a:xfrm>
            <a:off x="2831928" y="5638224"/>
            <a:ext cx="426535" cy="143640"/>
          </a:xfrm>
          <a:prstGeom prst="rect">
            <a:avLst/>
          </a:prstGeom>
          <a:noFill/>
        </p:spPr>
        <p:txBody>
          <a:bodyPr wrap="none" lIns="0" rIns="0" tIns="0" bIns="0" anchor="t"/>
          <a:lstStyle/>
          <a:p>
            <a:pPr algn="l">
              <a:lnSpc>
                <a:spcPts val="1107"/>
              </a:lnSpc>
            </a:pPr>
            <a:r>
              <a:rPr sz="922" b="0" i="0">
                <a:solidFill>
                  <a:srgbClr val="5A82A0"/>
                </a:solidFill>
                <a:latin typeface="Versos"/>
              </a:rPr>
              <a:t>49,01%</a:t>
            </a:r>
          </a:p>
        </p:txBody>
      </p:sp>
      <p:sp>
        <p:nvSpPr>
          <p:cNvPr id="45" name="TextBox 44"/>
          <p:cNvSpPr txBox="1"/>
          <p:nvPr/>
        </p:nvSpPr>
        <p:spPr>
          <a:xfrm>
            <a:off x="400680" y="610812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46" name="TextBox 45"/>
          <p:cNvSpPr txBox="1"/>
          <p:nvPr/>
        </p:nvSpPr>
        <p:spPr>
          <a:xfrm>
            <a:off x="2394748" y="6106235"/>
            <a:ext cx="461056" cy="143640"/>
          </a:xfrm>
          <a:prstGeom prst="rect">
            <a:avLst/>
          </a:prstGeom>
          <a:noFill/>
        </p:spPr>
        <p:txBody>
          <a:bodyPr wrap="none" lIns="0" rIns="0" tIns="0" bIns="0" anchor="t"/>
          <a:lstStyle/>
          <a:p>
            <a:pPr algn="l">
              <a:lnSpc>
                <a:spcPts val="1107"/>
              </a:lnSpc>
            </a:pPr>
            <a:r>
              <a:rPr sz="922" b="0" i="0">
                <a:solidFill>
                  <a:srgbClr val="5A82A0"/>
                </a:solidFill>
                <a:latin typeface="Versos"/>
              </a:rPr>
              <a:t>35,99%</a:t>
            </a:r>
          </a:p>
        </p:txBody>
      </p:sp>
      <p:sp>
        <p:nvSpPr>
          <p:cNvPr id="47" name="TextBox 46"/>
          <p:cNvSpPr txBox="1"/>
          <p:nvPr/>
        </p:nvSpPr>
        <p:spPr>
          <a:xfrm>
            <a:off x="400680" y="657625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48" name="TextBox 47"/>
          <p:cNvSpPr txBox="1"/>
          <p:nvPr/>
        </p:nvSpPr>
        <p:spPr>
          <a:xfrm>
            <a:off x="2355058" y="6574365"/>
            <a:ext cx="427886" cy="143640"/>
          </a:xfrm>
          <a:prstGeom prst="rect">
            <a:avLst/>
          </a:prstGeom>
          <a:noFill/>
        </p:spPr>
        <p:txBody>
          <a:bodyPr wrap="none" lIns="0" rIns="0" tIns="0" bIns="0" anchor="t"/>
          <a:lstStyle/>
          <a:p>
            <a:pPr algn="l">
              <a:lnSpc>
                <a:spcPts val="1107"/>
              </a:lnSpc>
            </a:pPr>
            <a:r>
              <a:rPr sz="922" b="0" i="0">
                <a:solidFill>
                  <a:srgbClr val="5A82A0"/>
                </a:solidFill>
                <a:latin typeface="Versos"/>
              </a:rPr>
              <a:t>34,81%</a:t>
            </a:r>
          </a:p>
        </p:txBody>
      </p:sp>
      <p:sp>
        <p:nvSpPr>
          <p:cNvPr id="49" name="TextBox 48"/>
          <p:cNvSpPr txBox="1"/>
          <p:nvPr/>
        </p:nvSpPr>
        <p:spPr>
          <a:xfrm>
            <a:off x="400680" y="704426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50" name="TextBox 49"/>
          <p:cNvSpPr txBox="1"/>
          <p:nvPr/>
        </p:nvSpPr>
        <p:spPr>
          <a:xfrm>
            <a:off x="2248745" y="7042376"/>
            <a:ext cx="423218" cy="143640"/>
          </a:xfrm>
          <a:prstGeom prst="rect">
            <a:avLst/>
          </a:prstGeom>
          <a:noFill/>
        </p:spPr>
        <p:txBody>
          <a:bodyPr wrap="none" lIns="0" rIns="0" tIns="0" bIns="0" anchor="t"/>
          <a:lstStyle/>
          <a:p>
            <a:pPr algn="l">
              <a:lnSpc>
                <a:spcPts val="1107"/>
              </a:lnSpc>
            </a:pPr>
            <a:r>
              <a:rPr sz="922" b="0" i="0">
                <a:solidFill>
                  <a:srgbClr val="5A82A0"/>
                </a:solidFill>
                <a:latin typeface="Versos"/>
              </a:rPr>
              <a:t>31,64%</a:t>
            </a:r>
          </a:p>
        </p:txBody>
      </p:sp>
      <p:sp>
        <p:nvSpPr>
          <p:cNvPr id="51" name="TextBox 50"/>
          <p:cNvSpPr txBox="1"/>
          <p:nvPr/>
        </p:nvSpPr>
        <p:spPr>
          <a:xfrm>
            <a:off x="400680" y="751239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C6</a:t>
            </a:r>
          </a:p>
        </p:txBody>
      </p:sp>
      <p:sp>
        <p:nvSpPr>
          <p:cNvPr id="52" name="TextBox 51"/>
          <p:cNvSpPr txBox="1"/>
          <p:nvPr/>
        </p:nvSpPr>
        <p:spPr>
          <a:xfrm>
            <a:off x="2077700" y="7510505"/>
            <a:ext cx="450245" cy="143640"/>
          </a:xfrm>
          <a:prstGeom prst="rect">
            <a:avLst/>
          </a:prstGeom>
          <a:noFill/>
        </p:spPr>
        <p:txBody>
          <a:bodyPr wrap="none" lIns="0" rIns="0" tIns="0" bIns="0" anchor="t"/>
          <a:lstStyle/>
          <a:p>
            <a:pPr algn="l">
              <a:lnSpc>
                <a:spcPts val="1107"/>
              </a:lnSpc>
            </a:pPr>
            <a:r>
              <a:rPr sz="922" b="0" i="0">
                <a:solidFill>
                  <a:srgbClr val="5A82A0"/>
                </a:solidFill>
                <a:latin typeface="Versos"/>
              </a:rPr>
              <a:t>26,54%</a:t>
            </a:r>
          </a:p>
        </p:txBody>
      </p:sp>
      <p:sp>
        <p:nvSpPr>
          <p:cNvPr id="53" name="TextBox 52"/>
          <p:cNvSpPr txBox="1"/>
          <p:nvPr/>
        </p:nvSpPr>
        <p:spPr>
          <a:xfrm>
            <a:off x="400680" y="8028129"/>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43896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437078"/>
            <a:ext cx="530589" cy="143640"/>
          </a:xfrm>
          <a:prstGeom prst="rect">
            <a:avLst/>
          </a:prstGeom>
          <a:noFill/>
        </p:spPr>
        <p:txBody>
          <a:bodyPr wrap="none" lIns="0" rIns="0" tIns="0" bIns="0" anchor="t"/>
          <a:lstStyle/>
          <a:p>
            <a:pPr algn="l">
              <a:lnSpc>
                <a:spcPts val="1142"/>
              </a:lnSpc>
            </a:pPr>
            <a:r>
              <a:rPr sz="952" b="0" i="0">
                <a:solidFill>
                  <a:srgbClr val="111111"/>
                </a:solidFill>
                <a:latin typeface="Versos"/>
              </a:rPr>
              <a:t>357,20%</a:t>
            </a:r>
          </a:p>
        </p:txBody>
      </p:sp>
      <p:sp>
        <p:nvSpPr>
          <p:cNvPr id="56" name="TextBox 55"/>
          <p:cNvSpPr txBox="1"/>
          <p:nvPr/>
        </p:nvSpPr>
        <p:spPr>
          <a:xfrm>
            <a:off x="400680" y="871727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456599" y="8715380"/>
            <a:ext cx="447665" cy="143640"/>
          </a:xfrm>
          <a:prstGeom prst="rect">
            <a:avLst/>
          </a:prstGeom>
          <a:noFill/>
        </p:spPr>
        <p:txBody>
          <a:bodyPr wrap="none" lIns="0" rIns="0" tIns="0" bIns="0" anchor="t"/>
          <a:lstStyle/>
          <a:p>
            <a:pPr algn="l">
              <a:lnSpc>
                <a:spcPts val="1142"/>
              </a:lnSpc>
            </a:pPr>
            <a:r>
              <a:rPr sz="952" b="0" i="0">
                <a:solidFill>
                  <a:srgbClr val="111111"/>
                </a:solidFill>
                <a:latin typeface="Versos"/>
              </a:rPr>
              <a:t>77,02%</a:t>
            </a:r>
          </a:p>
        </p:txBody>
      </p:sp>
      <p:sp>
        <p:nvSpPr>
          <p:cNvPr id="58" name="TextBox 57"/>
          <p:cNvSpPr txBox="1"/>
          <p:nvPr/>
        </p:nvSpPr>
        <p:spPr>
          <a:xfrm>
            <a:off x="400680" y="899569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9" name="TextBox 58"/>
          <p:cNvSpPr txBox="1"/>
          <p:nvPr/>
        </p:nvSpPr>
        <p:spPr>
          <a:xfrm>
            <a:off x="1239485" y="8993801"/>
            <a:ext cx="474692" cy="143640"/>
          </a:xfrm>
          <a:prstGeom prst="rect">
            <a:avLst/>
          </a:prstGeom>
          <a:noFill/>
        </p:spPr>
        <p:txBody>
          <a:bodyPr wrap="none" lIns="0" rIns="0" tIns="0" bIns="0" anchor="t"/>
          <a:lstStyle/>
          <a:p>
            <a:pPr algn="l">
              <a:lnSpc>
                <a:spcPts val="1142"/>
              </a:lnSpc>
            </a:pPr>
            <a:r>
              <a:rPr sz="952" b="0" i="0">
                <a:solidFill>
                  <a:srgbClr val="111111"/>
                </a:solidFill>
                <a:latin typeface="Versos"/>
              </a:rPr>
              <a:t>36,59%</a:t>
            </a:r>
          </a:p>
        </p:txBody>
      </p:sp>
      <p:sp>
        <p:nvSpPr>
          <p:cNvPr id="60" name="TextBox 59"/>
          <p:cNvSpPr txBox="1"/>
          <p:nvPr/>
        </p:nvSpPr>
        <p:spPr>
          <a:xfrm>
            <a:off x="400680" y="92739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1" name="TextBox 60"/>
          <p:cNvSpPr txBox="1"/>
          <p:nvPr/>
        </p:nvSpPr>
        <p:spPr>
          <a:xfrm>
            <a:off x="1210072" y="9272103"/>
            <a:ext cx="430957" cy="143640"/>
          </a:xfrm>
          <a:prstGeom prst="rect">
            <a:avLst/>
          </a:prstGeom>
          <a:noFill/>
        </p:spPr>
        <p:txBody>
          <a:bodyPr wrap="none" lIns="0" rIns="0" tIns="0" bIns="0" anchor="t"/>
          <a:lstStyle/>
          <a:p>
            <a:pPr algn="l">
              <a:lnSpc>
                <a:spcPts val="1142"/>
              </a:lnSpc>
            </a:pPr>
            <a:r>
              <a:rPr sz="952" b="0" i="0">
                <a:solidFill>
                  <a:srgbClr val="111111"/>
                </a:solidFill>
                <a:latin typeface="Versos"/>
              </a:rPr>
              <a:t>31,07%</a:t>
            </a:r>
          </a:p>
        </p:txBody>
      </p:sp>
      <p:sp>
        <p:nvSpPr>
          <p:cNvPr id="62" name="TextBox 61"/>
          <p:cNvSpPr txBox="1"/>
          <p:nvPr/>
        </p:nvSpPr>
        <p:spPr>
          <a:xfrm>
            <a:off x="400680" y="955229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3" name="TextBox 62"/>
          <p:cNvSpPr txBox="1"/>
          <p:nvPr/>
        </p:nvSpPr>
        <p:spPr>
          <a:xfrm>
            <a:off x="1189873" y="9550406"/>
            <a:ext cx="448648" cy="143640"/>
          </a:xfrm>
          <a:prstGeom prst="rect">
            <a:avLst/>
          </a:prstGeom>
          <a:noFill/>
        </p:spPr>
        <p:txBody>
          <a:bodyPr wrap="none" lIns="0" rIns="0" tIns="0" bIns="0" anchor="t"/>
          <a:lstStyle/>
          <a:p>
            <a:pPr algn="l">
              <a:lnSpc>
                <a:spcPts val="1142"/>
              </a:lnSpc>
            </a:pPr>
            <a:r>
              <a:rPr sz="952" b="0" i="0">
                <a:solidFill>
                  <a:srgbClr val="111111"/>
                </a:solidFill>
                <a:latin typeface="Versos"/>
              </a:rPr>
              <a:t>27,32%</a:t>
            </a:r>
          </a:p>
        </p:txBody>
      </p:sp>
      <p:sp>
        <p:nvSpPr>
          <p:cNvPr id="64" name="TextBox 63"/>
          <p:cNvSpPr txBox="1"/>
          <p:nvPr/>
        </p:nvSpPr>
        <p:spPr>
          <a:xfrm>
            <a:off x="400680" y="983059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5" name="TextBox 64"/>
          <p:cNvSpPr txBox="1"/>
          <p:nvPr/>
        </p:nvSpPr>
        <p:spPr>
          <a:xfrm>
            <a:off x="1146048" y="9828708"/>
            <a:ext cx="395331" cy="143640"/>
          </a:xfrm>
          <a:prstGeom prst="rect">
            <a:avLst/>
          </a:prstGeom>
          <a:noFill/>
        </p:spPr>
        <p:txBody>
          <a:bodyPr wrap="none" lIns="0" rIns="0" tIns="0" bIns="0" anchor="t"/>
          <a:lstStyle/>
          <a:p>
            <a:pPr algn="l">
              <a:lnSpc>
                <a:spcPts val="1142"/>
              </a:lnSpc>
            </a:pPr>
            <a:r>
              <a:rPr sz="952" b="0" i="0">
                <a:solidFill>
                  <a:srgbClr val="111111"/>
                </a:solidFill>
                <a:latin typeface="Versos"/>
              </a:rPr>
              <a:t>19,15%</a:t>
            </a:r>
          </a:p>
        </p:txBody>
      </p:sp>
      <p:sp>
        <p:nvSpPr>
          <p:cNvPr id="66" name="TextBox 65"/>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7" name="TextBox 66"/>
          <p:cNvSpPr txBox="1"/>
          <p:nvPr/>
        </p:nvSpPr>
        <p:spPr>
          <a:xfrm>
            <a:off x="3802680" y="553203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68" name="TextBox 67"/>
          <p:cNvSpPr txBox="1"/>
          <p:nvPr/>
        </p:nvSpPr>
        <p:spPr>
          <a:xfrm>
            <a:off x="6752497" y="5524233"/>
            <a:ext cx="561055" cy="143640"/>
          </a:xfrm>
          <a:prstGeom prst="rect">
            <a:avLst/>
          </a:prstGeom>
          <a:noFill/>
        </p:spPr>
        <p:txBody>
          <a:bodyPr wrap="none" lIns="0" rIns="0" tIns="0" bIns="0" anchor="t"/>
          <a:lstStyle/>
          <a:p>
            <a:pPr algn="l">
              <a:lnSpc>
                <a:spcPts val="1142"/>
              </a:lnSpc>
            </a:pPr>
            <a:r>
              <a:rPr sz="952" b="0" i="0">
                <a:solidFill>
                  <a:srgbClr val="111111"/>
                </a:solidFill>
                <a:latin typeface="Versos"/>
              </a:rPr>
              <a:t>430,20%</a:t>
            </a:r>
          </a:p>
        </p:txBody>
      </p:sp>
      <p:sp>
        <p:nvSpPr>
          <p:cNvPr id="69" name="TextBox 68"/>
          <p:cNvSpPr txBox="1"/>
          <p:nvPr/>
        </p:nvSpPr>
        <p:spPr>
          <a:xfrm>
            <a:off x="3802680" y="577217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70" name="TextBox 69"/>
          <p:cNvSpPr txBox="1"/>
          <p:nvPr/>
        </p:nvSpPr>
        <p:spPr>
          <a:xfrm>
            <a:off x="6523453" y="5764500"/>
            <a:ext cx="549139" cy="143640"/>
          </a:xfrm>
          <a:prstGeom prst="rect">
            <a:avLst/>
          </a:prstGeom>
          <a:noFill/>
        </p:spPr>
        <p:txBody>
          <a:bodyPr wrap="none" lIns="0" rIns="0" tIns="0" bIns="0" anchor="t"/>
          <a:lstStyle/>
          <a:p>
            <a:pPr algn="l">
              <a:lnSpc>
                <a:spcPts val="1142"/>
              </a:lnSpc>
            </a:pPr>
            <a:r>
              <a:rPr sz="952" b="0" i="0">
                <a:solidFill>
                  <a:srgbClr val="111111"/>
                </a:solidFill>
                <a:latin typeface="Versos"/>
              </a:rPr>
              <a:t>352,23%</a:t>
            </a:r>
          </a:p>
        </p:txBody>
      </p:sp>
      <p:sp>
        <p:nvSpPr>
          <p:cNvPr id="71" name="TextBox 70"/>
          <p:cNvSpPr txBox="1"/>
          <p:nvPr/>
        </p:nvSpPr>
        <p:spPr>
          <a:xfrm>
            <a:off x="3802680" y="601244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2" name="TextBox 71"/>
          <p:cNvSpPr txBox="1"/>
          <p:nvPr/>
        </p:nvSpPr>
        <p:spPr>
          <a:xfrm>
            <a:off x="5623104" y="6004648"/>
            <a:ext cx="483414" cy="143640"/>
          </a:xfrm>
          <a:prstGeom prst="rect">
            <a:avLst/>
          </a:prstGeom>
          <a:noFill/>
        </p:spPr>
        <p:txBody>
          <a:bodyPr wrap="none" lIns="0" rIns="0" tIns="0" bIns="0" anchor="t"/>
          <a:lstStyle/>
          <a:p>
            <a:pPr algn="l">
              <a:lnSpc>
                <a:spcPts val="1142"/>
              </a:lnSpc>
            </a:pPr>
            <a:r>
              <a:rPr sz="952" b="0" i="0">
                <a:solidFill>
                  <a:srgbClr val="111111"/>
                </a:solidFill>
                <a:latin typeface="Versos"/>
              </a:rPr>
              <a:t>45,80%</a:t>
            </a:r>
          </a:p>
        </p:txBody>
      </p:sp>
      <p:sp>
        <p:nvSpPr>
          <p:cNvPr id="73" name="TextBox 72"/>
          <p:cNvSpPr txBox="1"/>
          <p:nvPr/>
        </p:nvSpPr>
        <p:spPr>
          <a:xfrm>
            <a:off x="3802680" y="625259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74" name="TextBox 73"/>
          <p:cNvSpPr txBox="1"/>
          <p:nvPr/>
        </p:nvSpPr>
        <p:spPr>
          <a:xfrm>
            <a:off x="5566758" y="6244914"/>
            <a:ext cx="430589" cy="143640"/>
          </a:xfrm>
          <a:prstGeom prst="rect">
            <a:avLst/>
          </a:prstGeom>
          <a:noFill/>
        </p:spPr>
        <p:txBody>
          <a:bodyPr wrap="none" lIns="0" rIns="0" tIns="0" bIns="0" anchor="t"/>
          <a:lstStyle/>
          <a:p>
            <a:pPr algn="l">
              <a:lnSpc>
                <a:spcPts val="1142"/>
              </a:lnSpc>
            </a:pPr>
            <a:r>
              <a:rPr sz="952" b="0" i="0">
                <a:solidFill>
                  <a:srgbClr val="111111"/>
                </a:solidFill>
                <a:latin typeface="Versos"/>
              </a:rPr>
              <a:t>26,61%</a:t>
            </a:r>
          </a:p>
        </p:txBody>
      </p:sp>
      <p:sp>
        <p:nvSpPr>
          <p:cNvPr id="75" name="TextBox 74"/>
          <p:cNvSpPr txBox="1"/>
          <p:nvPr/>
        </p:nvSpPr>
        <p:spPr>
          <a:xfrm>
            <a:off x="3802680" y="649285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6" name="TextBox 75"/>
          <p:cNvSpPr txBox="1"/>
          <p:nvPr/>
        </p:nvSpPr>
        <p:spPr>
          <a:xfrm>
            <a:off x="5558844" y="6485062"/>
            <a:ext cx="464250" cy="143640"/>
          </a:xfrm>
          <a:prstGeom prst="rect">
            <a:avLst/>
          </a:prstGeom>
          <a:noFill/>
        </p:spPr>
        <p:txBody>
          <a:bodyPr wrap="none" lIns="0" rIns="0" tIns="0" bIns="0" anchor="t"/>
          <a:lstStyle/>
          <a:p>
            <a:pPr algn="l">
              <a:lnSpc>
                <a:spcPts val="1142"/>
              </a:lnSpc>
            </a:pPr>
            <a:r>
              <a:rPr sz="952" b="0" i="0">
                <a:solidFill>
                  <a:srgbClr val="111111"/>
                </a:solidFill>
                <a:latin typeface="Versos"/>
              </a:rPr>
              <a:t>23,92%</a:t>
            </a:r>
          </a:p>
        </p:txBody>
      </p:sp>
      <p:sp>
        <p:nvSpPr>
          <p:cNvPr id="77" name="TextBox 76"/>
          <p:cNvSpPr txBox="1"/>
          <p:nvPr/>
        </p:nvSpPr>
        <p:spPr>
          <a:xfrm>
            <a:off x="3802680" y="673300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8" name="TextBox 77"/>
          <p:cNvSpPr txBox="1"/>
          <p:nvPr/>
        </p:nvSpPr>
        <p:spPr>
          <a:xfrm>
            <a:off x="5548685" y="6725328"/>
            <a:ext cx="475429" cy="143640"/>
          </a:xfrm>
          <a:prstGeom prst="rect">
            <a:avLst/>
          </a:prstGeom>
          <a:noFill/>
        </p:spPr>
        <p:txBody>
          <a:bodyPr wrap="none" lIns="0" rIns="0" tIns="0" bIns="0" anchor="t"/>
          <a:lstStyle/>
          <a:p>
            <a:pPr algn="l">
              <a:lnSpc>
                <a:spcPts val="1142"/>
              </a:lnSpc>
            </a:pPr>
            <a:r>
              <a:rPr sz="952" b="0" i="0">
                <a:solidFill>
                  <a:srgbClr val="111111"/>
                </a:solidFill>
                <a:latin typeface="Versos"/>
              </a:rPr>
              <a:t>20,49%</a:t>
            </a:r>
          </a:p>
        </p:txBody>
      </p:sp>
      <p:sp>
        <p:nvSpPr>
          <p:cNvPr id="79" name="TextBox 78"/>
          <p:cNvSpPr txBox="1"/>
          <p:nvPr/>
        </p:nvSpPr>
        <p:spPr>
          <a:xfrm>
            <a:off x="3802680" y="697327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0" name="TextBox 79"/>
          <p:cNvSpPr txBox="1"/>
          <p:nvPr/>
        </p:nvSpPr>
        <p:spPr>
          <a:xfrm>
            <a:off x="5538645" y="6965476"/>
            <a:ext cx="421498" cy="143640"/>
          </a:xfrm>
          <a:prstGeom prst="rect">
            <a:avLst/>
          </a:prstGeom>
          <a:noFill/>
        </p:spPr>
        <p:txBody>
          <a:bodyPr wrap="none" lIns="0" rIns="0" tIns="0" bIns="0" anchor="t"/>
          <a:lstStyle/>
          <a:p>
            <a:pPr algn="l">
              <a:lnSpc>
                <a:spcPts val="1142"/>
              </a:lnSpc>
            </a:pPr>
            <a:r>
              <a:rPr sz="952" b="0" i="0">
                <a:solidFill>
                  <a:srgbClr val="111111"/>
                </a:solidFill>
                <a:latin typeface="Versos"/>
              </a:rPr>
              <a:t>17,04%</a:t>
            </a:r>
          </a:p>
        </p:txBody>
      </p:sp>
      <p:sp>
        <p:nvSpPr>
          <p:cNvPr id="81" name="TextBox 80"/>
          <p:cNvSpPr txBox="1"/>
          <p:nvPr/>
        </p:nvSpPr>
        <p:spPr>
          <a:xfrm>
            <a:off x="3802680" y="7156957"/>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2" name="TextBox 81"/>
          <p:cNvSpPr txBox="1"/>
          <p:nvPr/>
        </p:nvSpPr>
        <p:spPr>
          <a:xfrm>
            <a:off x="5533801" y="7205743"/>
            <a:ext cx="438083" cy="143640"/>
          </a:xfrm>
          <a:prstGeom prst="rect">
            <a:avLst/>
          </a:prstGeom>
          <a:noFill/>
        </p:spPr>
        <p:txBody>
          <a:bodyPr wrap="none" lIns="0" rIns="0" tIns="0" bIns="0" anchor="t"/>
          <a:lstStyle/>
          <a:p>
            <a:pPr algn="l">
              <a:lnSpc>
                <a:spcPts val="1142"/>
              </a:lnSpc>
            </a:pPr>
            <a:r>
              <a:rPr sz="952" b="0" i="0">
                <a:solidFill>
                  <a:srgbClr val="111111"/>
                </a:solidFill>
                <a:latin typeface="Versos"/>
              </a:rPr>
              <a:t>15,44%</a:t>
            </a:r>
          </a:p>
        </p:txBody>
      </p:sp>
      <p:sp>
        <p:nvSpPr>
          <p:cNvPr id="83" name="TextBox 82"/>
          <p:cNvSpPr txBox="1"/>
          <p:nvPr/>
        </p:nvSpPr>
        <p:spPr>
          <a:xfrm>
            <a:off x="3802680" y="745368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84" name="TextBox 83"/>
          <p:cNvSpPr txBox="1"/>
          <p:nvPr/>
        </p:nvSpPr>
        <p:spPr>
          <a:xfrm>
            <a:off x="5520926" y="7445891"/>
            <a:ext cx="373464" cy="143640"/>
          </a:xfrm>
          <a:prstGeom prst="rect">
            <a:avLst/>
          </a:prstGeom>
          <a:noFill/>
        </p:spPr>
        <p:txBody>
          <a:bodyPr wrap="none" lIns="0" rIns="0" tIns="0" bIns="0" anchor="t"/>
          <a:lstStyle/>
          <a:p>
            <a:pPr algn="l">
              <a:lnSpc>
                <a:spcPts val="1142"/>
              </a:lnSpc>
            </a:pPr>
            <a:r>
              <a:rPr sz="952" b="0" i="0">
                <a:solidFill>
                  <a:srgbClr val="111111"/>
                </a:solidFill>
                <a:latin typeface="Versos"/>
              </a:rPr>
              <a:t>11,01%</a:t>
            </a:r>
          </a:p>
        </p:txBody>
      </p:sp>
      <p:sp>
        <p:nvSpPr>
          <p:cNvPr id="85" name="TextBox 84"/>
          <p:cNvSpPr txBox="1"/>
          <p:nvPr/>
        </p:nvSpPr>
        <p:spPr>
          <a:xfrm>
            <a:off x="3802680" y="769383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86" name="TextBox 85"/>
          <p:cNvSpPr txBox="1"/>
          <p:nvPr/>
        </p:nvSpPr>
        <p:spPr>
          <a:xfrm>
            <a:off x="5518327" y="7686157"/>
            <a:ext cx="405282" cy="143640"/>
          </a:xfrm>
          <a:prstGeom prst="rect">
            <a:avLst/>
          </a:prstGeom>
          <a:noFill/>
        </p:spPr>
        <p:txBody>
          <a:bodyPr wrap="none" lIns="0" rIns="0" tIns="0" bIns="0" anchor="t"/>
          <a:lstStyle/>
          <a:p>
            <a:pPr algn="l">
              <a:lnSpc>
                <a:spcPts val="1142"/>
              </a:lnSpc>
            </a:pPr>
            <a:r>
              <a:rPr sz="952" b="0" i="0">
                <a:solidFill>
                  <a:srgbClr val="111111"/>
                </a:solidFill>
                <a:latin typeface="Versos"/>
              </a:rPr>
              <a:t>10,18%</a:t>
            </a:r>
          </a:p>
        </p:txBody>
      </p:sp>
      <p:sp>
        <p:nvSpPr>
          <p:cNvPr id="87" name="TextBox 86"/>
          <p:cNvSpPr txBox="1"/>
          <p:nvPr/>
        </p:nvSpPr>
        <p:spPr>
          <a:xfrm>
            <a:off x="3802680" y="793410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8" name="TextBox 87"/>
          <p:cNvSpPr txBox="1"/>
          <p:nvPr/>
        </p:nvSpPr>
        <p:spPr>
          <a:xfrm>
            <a:off x="5515256" y="7926305"/>
            <a:ext cx="398525" cy="143640"/>
          </a:xfrm>
          <a:prstGeom prst="rect">
            <a:avLst/>
          </a:prstGeom>
          <a:noFill/>
        </p:spPr>
        <p:txBody>
          <a:bodyPr wrap="none" lIns="0" rIns="0" tIns="0" bIns="0" anchor="t"/>
          <a:lstStyle/>
          <a:p>
            <a:pPr algn="l">
              <a:lnSpc>
                <a:spcPts val="1142"/>
              </a:lnSpc>
            </a:pPr>
            <a:r>
              <a:rPr sz="952" b="0" i="0">
                <a:solidFill>
                  <a:srgbClr val="111111"/>
                </a:solidFill>
                <a:latin typeface="Versos"/>
              </a:rPr>
              <a:t>9,08%</a:t>
            </a:r>
          </a:p>
        </p:txBody>
      </p:sp>
      <p:sp>
        <p:nvSpPr>
          <p:cNvPr id="89" name="TextBox 88"/>
          <p:cNvSpPr txBox="1"/>
          <p:nvPr/>
        </p:nvSpPr>
        <p:spPr>
          <a:xfrm>
            <a:off x="3802680" y="817425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90" name="TextBox 89"/>
          <p:cNvSpPr txBox="1"/>
          <p:nvPr/>
        </p:nvSpPr>
        <p:spPr>
          <a:xfrm>
            <a:off x="5514783" y="8166571"/>
            <a:ext cx="358353" cy="143640"/>
          </a:xfrm>
          <a:prstGeom prst="rect">
            <a:avLst/>
          </a:prstGeom>
          <a:noFill/>
        </p:spPr>
        <p:txBody>
          <a:bodyPr wrap="none" lIns="0" rIns="0" tIns="0" bIns="0" anchor="t"/>
          <a:lstStyle/>
          <a:p>
            <a:pPr algn="l">
              <a:lnSpc>
                <a:spcPts val="1142"/>
              </a:lnSpc>
            </a:pPr>
            <a:r>
              <a:rPr sz="952" b="0" i="0">
                <a:solidFill>
                  <a:srgbClr val="111111"/>
                </a:solidFill>
                <a:latin typeface="Versos"/>
              </a:rPr>
              <a:t>8,91%</a:t>
            </a:r>
          </a:p>
        </p:txBody>
      </p:sp>
      <p:sp>
        <p:nvSpPr>
          <p:cNvPr id="91" name="TextBox 90"/>
          <p:cNvSpPr txBox="1"/>
          <p:nvPr/>
        </p:nvSpPr>
        <p:spPr>
          <a:xfrm>
            <a:off x="3802680" y="841451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2" name="TextBox 91"/>
          <p:cNvSpPr txBox="1"/>
          <p:nvPr/>
        </p:nvSpPr>
        <p:spPr>
          <a:xfrm>
            <a:off x="5509822" y="8406720"/>
            <a:ext cx="365847" cy="143640"/>
          </a:xfrm>
          <a:prstGeom prst="rect">
            <a:avLst/>
          </a:prstGeom>
          <a:noFill/>
        </p:spPr>
        <p:txBody>
          <a:bodyPr wrap="none" lIns="0" rIns="0" tIns="0" bIns="0" anchor="t"/>
          <a:lstStyle/>
          <a:p>
            <a:pPr algn="l">
              <a:lnSpc>
                <a:spcPts val="1142"/>
              </a:lnSpc>
            </a:pPr>
            <a:r>
              <a:rPr sz="952" b="0" i="0">
                <a:solidFill>
                  <a:srgbClr val="111111"/>
                </a:solidFill>
                <a:latin typeface="Versos"/>
              </a:rPr>
              <a:t>7,24%</a:t>
            </a:r>
          </a:p>
        </p:txBody>
      </p:sp>
      <p:sp>
        <p:nvSpPr>
          <p:cNvPr id="93" name="TextBox 92"/>
          <p:cNvSpPr txBox="1"/>
          <p:nvPr/>
        </p:nvSpPr>
        <p:spPr>
          <a:xfrm>
            <a:off x="3802680" y="865466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Serviços Imobiliários</a:t>
            </a:r>
          </a:p>
        </p:txBody>
      </p:sp>
      <p:sp>
        <p:nvSpPr>
          <p:cNvPr id="94" name="TextBox 93"/>
          <p:cNvSpPr txBox="1"/>
          <p:nvPr/>
        </p:nvSpPr>
        <p:spPr>
          <a:xfrm>
            <a:off x="5500136" y="8646986"/>
            <a:ext cx="395822" cy="143640"/>
          </a:xfrm>
          <a:prstGeom prst="rect">
            <a:avLst/>
          </a:prstGeom>
          <a:noFill/>
        </p:spPr>
        <p:txBody>
          <a:bodyPr wrap="none" lIns="0" rIns="0" tIns="0" bIns="0" anchor="t"/>
          <a:lstStyle/>
          <a:p>
            <a:pPr algn="l">
              <a:lnSpc>
                <a:spcPts val="1142"/>
              </a:lnSpc>
            </a:pPr>
            <a:r>
              <a:rPr sz="952" b="0" i="0">
                <a:solidFill>
                  <a:srgbClr val="111111"/>
                </a:solidFill>
                <a:latin typeface="Versos"/>
              </a:rPr>
              <a:t>3,99%</a:t>
            </a:r>
          </a:p>
        </p:txBody>
      </p:sp>
      <p:sp>
        <p:nvSpPr>
          <p:cNvPr id="95" name="TextBox 94"/>
          <p:cNvSpPr txBox="1"/>
          <p:nvPr/>
        </p:nvSpPr>
        <p:spPr>
          <a:xfrm>
            <a:off x="3802680" y="889493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96" name="TextBox 95"/>
          <p:cNvSpPr txBox="1"/>
          <p:nvPr/>
        </p:nvSpPr>
        <p:spPr>
          <a:xfrm>
            <a:off x="5498482" y="8887134"/>
            <a:ext cx="399999" cy="143640"/>
          </a:xfrm>
          <a:prstGeom prst="rect">
            <a:avLst/>
          </a:prstGeom>
          <a:noFill/>
        </p:spPr>
        <p:txBody>
          <a:bodyPr wrap="none" lIns="0" rIns="0" tIns="0" bIns="0" anchor="t"/>
          <a:lstStyle/>
          <a:p>
            <a:pPr algn="l">
              <a:lnSpc>
                <a:spcPts val="1142"/>
              </a:lnSpc>
            </a:pPr>
            <a:r>
              <a:rPr sz="952" b="0" i="0">
                <a:solidFill>
                  <a:srgbClr val="111111"/>
                </a:solidFill>
                <a:latin typeface="Versos"/>
              </a:rPr>
              <a:t>3,40%</a:t>
            </a:r>
          </a:p>
        </p:txBody>
      </p:sp>
      <p:sp>
        <p:nvSpPr>
          <p:cNvPr id="97" name="TextBox 96"/>
          <p:cNvSpPr txBox="1"/>
          <p:nvPr/>
        </p:nvSpPr>
        <p:spPr>
          <a:xfrm>
            <a:off x="3802680" y="913507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a:t>
            </a:r>
          </a:p>
        </p:txBody>
      </p:sp>
      <p:sp>
        <p:nvSpPr>
          <p:cNvPr id="98" name="TextBox 97"/>
          <p:cNvSpPr txBox="1"/>
          <p:nvPr/>
        </p:nvSpPr>
        <p:spPr>
          <a:xfrm>
            <a:off x="5498010" y="9127282"/>
            <a:ext cx="382923" cy="143640"/>
          </a:xfrm>
          <a:prstGeom prst="rect">
            <a:avLst/>
          </a:prstGeom>
          <a:noFill/>
        </p:spPr>
        <p:txBody>
          <a:bodyPr wrap="none" lIns="0" rIns="0" tIns="0" bIns="0" anchor="t"/>
          <a:lstStyle/>
          <a:p>
            <a:pPr algn="l">
              <a:lnSpc>
                <a:spcPts val="1142"/>
              </a:lnSpc>
            </a:pPr>
            <a:r>
              <a:rPr sz="952" b="0" i="0">
                <a:solidFill>
                  <a:srgbClr val="111111"/>
                </a:solidFill>
                <a:latin typeface="Versos"/>
              </a:rPr>
              <a:t>2,47%</a:t>
            </a:r>
          </a:p>
        </p:txBody>
      </p:sp>
      <p:sp>
        <p:nvSpPr>
          <p:cNvPr id="99" name="TextBox 98"/>
          <p:cNvSpPr txBox="1"/>
          <p:nvPr/>
        </p:nvSpPr>
        <p:spPr>
          <a:xfrm>
            <a:off x="3802680" y="937522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100" name="TextBox 99"/>
          <p:cNvSpPr txBox="1"/>
          <p:nvPr/>
        </p:nvSpPr>
        <p:spPr>
          <a:xfrm>
            <a:off x="5498010" y="9367430"/>
            <a:ext cx="352948" cy="143640"/>
          </a:xfrm>
          <a:prstGeom prst="rect">
            <a:avLst/>
          </a:prstGeom>
          <a:noFill/>
        </p:spPr>
        <p:txBody>
          <a:bodyPr wrap="none" lIns="0" rIns="0" tIns="0" bIns="0" anchor="t"/>
          <a:lstStyle/>
          <a:p>
            <a:pPr algn="l">
              <a:lnSpc>
                <a:spcPts val="1142"/>
              </a:lnSpc>
            </a:pPr>
            <a:r>
              <a:rPr sz="952" b="0" i="0">
                <a:solidFill>
                  <a:srgbClr val="111111"/>
                </a:solidFill>
                <a:latin typeface="Versos"/>
              </a:rPr>
              <a:t>1,79%</a:t>
            </a:r>
          </a:p>
        </p:txBody>
      </p:sp>
      <p:sp>
        <p:nvSpPr>
          <p:cNvPr id="101" name="TextBox 100"/>
          <p:cNvSpPr txBox="1"/>
          <p:nvPr/>
        </p:nvSpPr>
        <p:spPr>
          <a:xfrm>
            <a:off x="3802680" y="961537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Distribuição</a:t>
            </a:r>
          </a:p>
        </p:txBody>
      </p:sp>
      <p:sp>
        <p:nvSpPr>
          <p:cNvPr id="102" name="TextBox 101"/>
          <p:cNvSpPr txBox="1"/>
          <p:nvPr/>
        </p:nvSpPr>
        <p:spPr>
          <a:xfrm>
            <a:off x="5498010" y="9607578"/>
            <a:ext cx="360441" cy="143640"/>
          </a:xfrm>
          <a:prstGeom prst="rect">
            <a:avLst/>
          </a:prstGeom>
          <a:noFill/>
        </p:spPr>
        <p:txBody>
          <a:bodyPr wrap="none" lIns="0" rIns="0" tIns="0" bIns="0" anchor="t"/>
          <a:lstStyle/>
          <a:p>
            <a:pPr algn="l">
              <a:lnSpc>
                <a:spcPts val="1142"/>
              </a:lnSpc>
            </a:pPr>
            <a:r>
              <a:rPr sz="952" b="0" i="0">
                <a:solidFill>
                  <a:srgbClr val="111111"/>
                </a:solidFill>
                <a:latin typeface="Versos"/>
              </a:rPr>
              <a:t>1,26%</a:t>
            </a:r>
          </a:p>
        </p:txBody>
      </p:sp>
      <p:sp>
        <p:nvSpPr>
          <p:cNvPr id="103" name="TextBox 102"/>
          <p:cNvSpPr txBox="1"/>
          <p:nvPr/>
        </p:nvSpPr>
        <p:spPr>
          <a:xfrm>
            <a:off x="3802680" y="985552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Alimentos e bebidas</a:t>
            </a:r>
          </a:p>
        </p:txBody>
      </p:sp>
      <p:sp>
        <p:nvSpPr>
          <p:cNvPr id="104" name="TextBox 103"/>
          <p:cNvSpPr txBox="1"/>
          <p:nvPr/>
        </p:nvSpPr>
        <p:spPr>
          <a:xfrm>
            <a:off x="5498010" y="9847726"/>
            <a:ext cx="401473" cy="143640"/>
          </a:xfrm>
          <a:prstGeom prst="rect">
            <a:avLst/>
          </a:prstGeom>
          <a:noFill/>
        </p:spPr>
        <p:txBody>
          <a:bodyPr wrap="none" lIns="0" rIns="0" tIns="0" bIns="0" anchor="t"/>
          <a:lstStyle/>
          <a:p>
            <a:pPr algn="l">
              <a:lnSpc>
                <a:spcPts val="1142"/>
              </a:lnSpc>
            </a:pPr>
            <a:r>
              <a:rPr sz="952" b="0" i="0">
                <a:solidFill>
                  <a:srgbClr val="111111"/>
                </a:solidFill>
                <a:latin typeface="Versos"/>
              </a:rPr>
              <a:t>0,88%</a:t>
            </a:r>
          </a:p>
        </p:txBody>
      </p:sp>
      <p:sp>
        <p:nvSpPr>
          <p:cNvPr id="105" name="TextBox 104"/>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p:txBody>
      </p:sp>
      <p:sp>
        <p:nvSpPr>
          <p:cNvPr id="7" name="TextBox 6"/>
          <p:cNvSpPr txBox="1"/>
          <p:nvPr/>
        </p:nvSpPr>
        <p:spPr>
          <a:xfrm>
            <a:off x="529200" y="6086036"/>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p:txBody>
      </p:sp>
      <p:sp>
        <p:nvSpPr>
          <p:cNvPr id="8" name="TextBox 7"/>
          <p:cNvSpPr txBox="1"/>
          <p:nvPr/>
        </p:nvSpPr>
        <p:spPr>
          <a:xfrm>
            <a:off x="529200" y="7145381"/>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p:txBody>
      </p:sp>
      <p:sp>
        <p:nvSpPr>
          <p:cNvPr id="9" name="TextBox 8"/>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p:txBody>
      </p:sp>
      <p:sp>
        <p:nvSpPr>
          <p:cNvPr id="10" name="TextBox 9"/>
          <p:cNvSpPr txBox="1"/>
          <p:nvPr/>
        </p:nvSpPr>
        <p:spPr>
          <a:xfrm>
            <a:off x="529200" y="9074244"/>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Tivio Legacy Prev apresentou rentabilidade de 1,03% no mês (94,77% do CDI) , acumulando 10,03% (95,41% do CDI) no ano. Na parcela de corporativos, os maiores atribuidores de resultado foram para Tupy e Randon, enquanto Hapvida foi o maior detrator.</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14/08/2008</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0,50%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D+2</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R$ 15.699.384,45</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R$ 18.780.228,29</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