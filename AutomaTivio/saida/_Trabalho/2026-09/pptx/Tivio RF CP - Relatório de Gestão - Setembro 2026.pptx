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192"/>
              </a:lnSpc>
            </a:pPr>
            <a:r>
              <a:rPr sz="994" b="0" i="0">
                <a:solidFill>
                  <a:srgbClr val="FFFFFF"/>
                </a:solidFill>
                <a:latin typeface="Versos"/>
              </a:rPr>
              <a:t>RF CP - TIVIO FI FINANCEIRO - CI RF CRED PRIV - RL </a:t>
            </a:r>
            <a:r>
              <a:rPr sz="815" b="0" i="0">
                <a:solidFill>
                  <a:srgbClr val="FFFFFF"/>
                </a:solidFill>
                <a:latin typeface="Versos"/>
              </a:rPr>
              <a:t>/ CNPJ 14.491.665/0001-50</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e Corporativo).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1,07%</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9,74%</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13,85%</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28,55%</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46,32%</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157,35%</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1,08%</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10,51%</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14,48%</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29,81%</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44,25%</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157,81%</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−0,01%</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−0,77%</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−0,63%</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−1,26%</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2,07%</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−0,45%</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99%</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93%</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96%</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96%</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30/09/2026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4011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BRADESCO</a:t>
            </a:r>
          </a:p>
        </p:txBody>
      </p:sp>
      <p:sp>
        <p:nvSpPr>
          <p:cNvPr id="44" name="TextBox 43"/>
          <p:cNvSpPr txBox="1"/>
          <p:nvPr/>
        </p:nvSpPr>
        <p:spPr>
          <a:xfrm>
            <a:off x="2831928" y="5638224"/>
            <a:ext cx="355036" cy="143640"/>
          </a:xfrm>
          <a:prstGeom prst="rect">
            <a:avLst/>
          </a:prstGeom>
          <a:noFill/>
        </p:spPr>
        <p:txBody>
          <a:bodyPr wrap="none" lIns="0" rIns="0" tIns="0" bIns="0" anchor="t"/>
          <a:lstStyle/>
          <a:p>
            <a:pPr algn="l">
              <a:lnSpc>
                <a:spcPts val="1107"/>
              </a:lnSpc>
            </a:pPr>
            <a:r>
              <a:rPr sz="922" b="0" i="0">
                <a:solidFill>
                  <a:srgbClr val="5A82A0"/>
                </a:solidFill>
                <a:latin typeface="Versos"/>
              </a:rPr>
              <a:t>7,47%</a:t>
            </a:r>
          </a:p>
        </p:txBody>
      </p:sp>
      <p:sp>
        <p:nvSpPr>
          <p:cNvPr id="45" name="TextBox 44"/>
          <p:cNvSpPr txBox="1"/>
          <p:nvPr/>
        </p:nvSpPr>
        <p:spPr>
          <a:xfrm>
            <a:off x="400680" y="610812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46" name="TextBox 45"/>
          <p:cNvSpPr txBox="1"/>
          <p:nvPr/>
        </p:nvSpPr>
        <p:spPr>
          <a:xfrm>
            <a:off x="2737074" y="6106235"/>
            <a:ext cx="362898" cy="143640"/>
          </a:xfrm>
          <a:prstGeom prst="rect">
            <a:avLst/>
          </a:prstGeom>
          <a:noFill/>
        </p:spPr>
        <p:txBody>
          <a:bodyPr wrap="none" lIns="0" rIns="0" tIns="0" bIns="0" anchor="t"/>
          <a:lstStyle/>
          <a:p>
            <a:pPr algn="l">
              <a:lnSpc>
                <a:spcPts val="1107"/>
              </a:lnSpc>
            </a:pPr>
            <a:r>
              <a:rPr sz="922" b="0" i="0">
                <a:solidFill>
                  <a:srgbClr val="5A82A0"/>
                </a:solidFill>
                <a:latin typeface="Versos"/>
              </a:rPr>
              <a:t>7,04%</a:t>
            </a:r>
          </a:p>
        </p:txBody>
      </p:sp>
      <p:sp>
        <p:nvSpPr>
          <p:cNvPr id="47" name="TextBox 46"/>
          <p:cNvSpPr txBox="1"/>
          <p:nvPr/>
        </p:nvSpPr>
        <p:spPr>
          <a:xfrm>
            <a:off x="400680" y="657625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48" name="TextBox 47"/>
          <p:cNvSpPr txBox="1"/>
          <p:nvPr/>
        </p:nvSpPr>
        <p:spPr>
          <a:xfrm>
            <a:off x="2692541" y="6574365"/>
            <a:ext cx="380343" cy="143640"/>
          </a:xfrm>
          <a:prstGeom prst="rect">
            <a:avLst/>
          </a:prstGeom>
          <a:noFill/>
        </p:spPr>
        <p:txBody>
          <a:bodyPr wrap="none" lIns="0" rIns="0" tIns="0" bIns="0" anchor="t"/>
          <a:lstStyle/>
          <a:p>
            <a:pPr algn="l">
              <a:lnSpc>
                <a:spcPts val="1107"/>
              </a:lnSpc>
            </a:pPr>
            <a:r>
              <a:rPr sz="922" b="0" i="0">
                <a:solidFill>
                  <a:srgbClr val="5A82A0"/>
                </a:solidFill>
                <a:latin typeface="Versos"/>
              </a:rPr>
              <a:t>6,84%</a:t>
            </a:r>
          </a:p>
        </p:txBody>
      </p:sp>
      <p:sp>
        <p:nvSpPr>
          <p:cNvPr id="49" name="TextBox 48"/>
          <p:cNvSpPr txBox="1"/>
          <p:nvPr/>
        </p:nvSpPr>
        <p:spPr>
          <a:xfrm>
            <a:off x="400680" y="7044266"/>
            <a:ext cx="712407" cy="136080"/>
          </a:xfrm>
          <a:prstGeom prst="rect">
            <a:avLst/>
          </a:prstGeom>
          <a:noFill/>
        </p:spPr>
        <p:txBody>
          <a:bodyPr wrap="none" lIns="0" rIns="0" tIns="0" bIns="0" anchor="t"/>
          <a:lstStyle/>
          <a:p>
            <a:pPr algn="r">
              <a:lnSpc>
                <a:spcPts val="982"/>
              </a:lnSpc>
            </a:pPr>
            <a:r>
              <a:rPr sz="892" b="0" i="0">
                <a:solidFill>
                  <a:srgbClr val="222222"/>
                </a:solidFill>
                <a:latin typeface="Versos"/>
              </a:rPr>
              <a:t>SANTANDER</a:t>
            </a:r>
          </a:p>
        </p:txBody>
      </p:sp>
      <p:sp>
        <p:nvSpPr>
          <p:cNvPr id="50" name="TextBox 49"/>
          <p:cNvSpPr txBox="1"/>
          <p:nvPr/>
        </p:nvSpPr>
        <p:spPr>
          <a:xfrm>
            <a:off x="1791365" y="7042376"/>
            <a:ext cx="356879" cy="143640"/>
          </a:xfrm>
          <a:prstGeom prst="rect">
            <a:avLst/>
          </a:prstGeom>
          <a:noFill/>
        </p:spPr>
        <p:txBody>
          <a:bodyPr wrap="none" lIns="0" rIns="0" tIns="0" bIns="0" anchor="t"/>
          <a:lstStyle/>
          <a:p>
            <a:pPr algn="l">
              <a:lnSpc>
                <a:spcPts val="1107"/>
              </a:lnSpc>
            </a:pPr>
            <a:r>
              <a:rPr sz="922" b="0" i="0">
                <a:solidFill>
                  <a:srgbClr val="5A82A0"/>
                </a:solidFill>
                <a:latin typeface="Versos"/>
              </a:rPr>
              <a:t>2,74%</a:t>
            </a:r>
          </a:p>
        </p:txBody>
      </p:sp>
      <p:sp>
        <p:nvSpPr>
          <p:cNvPr id="51" name="TextBox 50"/>
          <p:cNvSpPr txBox="1"/>
          <p:nvPr/>
        </p:nvSpPr>
        <p:spPr>
          <a:xfrm>
            <a:off x="400680" y="751239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C6</a:t>
            </a:r>
          </a:p>
        </p:txBody>
      </p:sp>
      <p:sp>
        <p:nvSpPr>
          <p:cNvPr id="52" name="TextBox 51"/>
          <p:cNvSpPr txBox="1"/>
          <p:nvPr/>
        </p:nvSpPr>
        <p:spPr>
          <a:xfrm>
            <a:off x="1786050" y="7510505"/>
            <a:ext cx="367567" cy="143640"/>
          </a:xfrm>
          <a:prstGeom prst="rect">
            <a:avLst/>
          </a:prstGeom>
          <a:noFill/>
        </p:spPr>
        <p:txBody>
          <a:bodyPr wrap="none" lIns="0" rIns="0" tIns="0" bIns="0" anchor="t"/>
          <a:lstStyle/>
          <a:p>
            <a:pPr algn="l">
              <a:lnSpc>
                <a:spcPts val="1107"/>
              </a:lnSpc>
            </a:pPr>
            <a:r>
              <a:rPr sz="922" b="0" i="0">
                <a:solidFill>
                  <a:srgbClr val="5A82A0"/>
                </a:solidFill>
                <a:latin typeface="Versos"/>
              </a:rPr>
              <a:t>2,72%</a:t>
            </a:r>
          </a:p>
        </p:txBody>
      </p:sp>
      <p:sp>
        <p:nvSpPr>
          <p:cNvPr id="53" name="TextBox 52"/>
          <p:cNvSpPr txBox="1"/>
          <p:nvPr/>
        </p:nvSpPr>
        <p:spPr>
          <a:xfrm>
            <a:off x="400680" y="8028129"/>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43896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437078"/>
            <a:ext cx="435380" cy="143640"/>
          </a:xfrm>
          <a:prstGeom prst="rect">
            <a:avLst/>
          </a:prstGeom>
          <a:noFill/>
        </p:spPr>
        <p:txBody>
          <a:bodyPr wrap="none" lIns="0" rIns="0" tIns="0" bIns="0" anchor="t"/>
          <a:lstStyle/>
          <a:p>
            <a:pPr algn="l">
              <a:lnSpc>
                <a:spcPts val="1142"/>
              </a:lnSpc>
            </a:pPr>
            <a:r>
              <a:rPr sz="952" b="0" i="0">
                <a:solidFill>
                  <a:srgbClr val="111111"/>
                </a:solidFill>
                <a:latin typeface="Versos"/>
              </a:rPr>
              <a:t>42,51%</a:t>
            </a:r>
          </a:p>
        </p:txBody>
      </p:sp>
      <p:sp>
        <p:nvSpPr>
          <p:cNvPr id="56" name="TextBox 55"/>
          <p:cNvSpPr txBox="1"/>
          <p:nvPr/>
        </p:nvSpPr>
        <p:spPr>
          <a:xfrm>
            <a:off x="400680" y="8717270"/>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196133" y="8715380"/>
            <a:ext cx="396191" cy="143640"/>
          </a:xfrm>
          <a:prstGeom prst="rect">
            <a:avLst/>
          </a:prstGeom>
          <a:noFill/>
        </p:spPr>
        <p:txBody>
          <a:bodyPr wrap="none" lIns="0" rIns="0" tIns="0" bIns="0" anchor="t"/>
          <a:lstStyle/>
          <a:p>
            <a:pPr algn="l">
              <a:lnSpc>
                <a:spcPts val="1142"/>
              </a:lnSpc>
            </a:pPr>
            <a:r>
              <a:rPr sz="952" b="0" i="0">
                <a:solidFill>
                  <a:srgbClr val="111111"/>
                </a:solidFill>
                <a:latin typeface="Versos"/>
              </a:rPr>
              <a:t>3,39%</a:t>
            </a:r>
          </a:p>
        </p:txBody>
      </p:sp>
      <p:sp>
        <p:nvSpPr>
          <p:cNvPr id="58" name="TextBox 57"/>
          <p:cNvSpPr txBox="1"/>
          <p:nvPr/>
        </p:nvSpPr>
        <p:spPr>
          <a:xfrm>
            <a:off x="400680" y="899569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9" name="TextBox 58"/>
          <p:cNvSpPr txBox="1"/>
          <p:nvPr/>
        </p:nvSpPr>
        <p:spPr>
          <a:xfrm>
            <a:off x="1187983" y="8993801"/>
            <a:ext cx="356387" cy="143640"/>
          </a:xfrm>
          <a:prstGeom prst="rect">
            <a:avLst/>
          </a:prstGeom>
          <a:noFill/>
        </p:spPr>
        <p:txBody>
          <a:bodyPr wrap="none" lIns="0" rIns="0" tIns="0" bIns="0" anchor="t"/>
          <a:lstStyle/>
          <a:p>
            <a:pPr algn="l">
              <a:lnSpc>
                <a:spcPts val="1142"/>
              </a:lnSpc>
            </a:pPr>
            <a:r>
              <a:rPr sz="952" b="0" i="0">
                <a:solidFill>
                  <a:srgbClr val="111111"/>
                </a:solidFill>
                <a:latin typeface="Versos"/>
              </a:rPr>
              <a:t>3,21%</a:t>
            </a:r>
          </a:p>
        </p:txBody>
      </p:sp>
      <p:sp>
        <p:nvSpPr>
          <p:cNvPr id="60" name="TextBox 59"/>
          <p:cNvSpPr txBox="1"/>
          <p:nvPr/>
        </p:nvSpPr>
        <p:spPr>
          <a:xfrm>
            <a:off x="400680" y="927399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1" name="TextBox 60"/>
          <p:cNvSpPr txBox="1"/>
          <p:nvPr/>
        </p:nvSpPr>
        <p:spPr>
          <a:xfrm>
            <a:off x="1175934" y="9272103"/>
            <a:ext cx="388451" cy="143640"/>
          </a:xfrm>
          <a:prstGeom prst="rect">
            <a:avLst/>
          </a:prstGeom>
          <a:noFill/>
        </p:spPr>
        <p:txBody>
          <a:bodyPr wrap="none" lIns="0" rIns="0" tIns="0" bIns="0" anchor="t"/>
          <a:lstStyle/>
          <a:p>
            <a:pPr algn="l">
              <a:lnSpc>
                <a:spcPts val="1142"/>
              </a:lnSpc>
            </a:pPr>
            <a:r>
              <a:rPr sz="952" b="0" i="0">
                <a:solidFill>
                  <a:srgbClr val="111111"/>
                </a:solidFill>
                <a:latin typeface="Versos"/>
              </a:rPr>
              <a:t>2,94%</a:t>
            </a:r>
          </a:p>
        </p:txBody>
      </p:sp>
      <p:sp>
        <p:nvSpPr>
          <p:cNvPr id="62" name="TextBox 61"/>
          <p:cNvSpPr txBox="1"/>
          <p:nvPr/>
        </p:nvSpPr>
        <p:spPr>
          <a:xfrm>
            <a:off x="400680" y="955229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3" name="TextBox 62"/>
          <p:cNvSpPr txBox="1"/>
          <p:nvPr/>
        </p:nvSpPr>
        <p:spPr>
          <a:xfrm>
            <a:off x="1137898" y="9550406"/>
            <a:ext cx="356756" cy="143640"/>
          </a:xfrm>
          <a:prstGeom prst="rect">
            <a:avLst/>
          </a:prstGeom>
          <a:noFill/>
        </p:spPr>
        <p:txBody>
          <a:bodyPr wrap="none" lIns="0" rIns="0" tIns="0" bIns="0" anchor="t"/>
          <a:lstStyle/>
          <a:p>
            <a:pPr algn="l">
              <a:lnSpc>
                <a:spcPts val="1142"/>
              </a:lnSpc>
            </a:pPr>
            <a:r>
              <a:rPr sz="952" b="0" i="0">
                <a:solidFill>
                  <a:srgbClr val="111111"/>
                </a:solidFill>
                <a:latin typeface="Versos"/>
              </a:rPr>
              <a:t>2,10%</a:t>
            </a:r>
          </a:p>
        </p:txBody>
      </p:sp>
      <p:sp>
        <p:nvSpPr>
          <p:cNvPr id="64" name="TextBox 63"/>
          <p:cNvSpPr txBox="1"/>
          <p:nvPr/>
        </p:nvSpPr>
        <p:spPr>
          <a:xfrm>
            <a:off x="400680" y="983059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5" name="TextBox 64"/>
          <p:cNvSpPr txBox="1"/>
          <p:nvPr/>
        </p:nvSpPr>
        <p:spPr>
          <a:xfrm>
            <a:off x="1103641" y="9828708"/>
            <a:ext cx="359213" cy="143640"/>
          </a:xfrm>
          <a:prstGeom prst="rect">
            <a:avLst/>
          </a:prstGeom>
          <a:noFill/>
        </p:spPr>
        <p:txBody>
          <a:bodyPr wrap="none" lIns="0" rIns="0" tIns="0" bIns="0" anchor="t"/>
          <a:lstStyle/>
          <a:p>
            <a:pPr algn="l">
              <a:lnSpc>
                <a:spcPts val="1142"/>
              </a:lnSpc>
            </a:pPr>
            <a:r>
              <a:rPr sz="952" b="0" i="0">
                <a:solidFill>
                  <a:srgbClr val="111111"/>
                </a:solidFill>
                <a:latin typeface="Versos"/>
              </a:rPr>
              <a:t>1,34%</a:t>
            </a:r>
          </a:p>
        </p:txBody>
      </p:sp>
      <p:sp>
        <p:nvSpPr>
          <p:cNvPr id="66" name="TextBox 65"/>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7" name="TextBox 66"/>
          <p:cNvSpPr txBox="1"/>
          <p:nvPr/>
        </p:nvSpPr>
        <p:spPr>
          <a:xfrm>
            <a:off x="3802680" y="555447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68" name="TextBox 67"/>
          <p:cNvSpPr txBox="1"/>
          <p:nvPr/>
        </p:nvSpPr>
        <p:spPr>
          <a:xfrm>
            <a:off x="6752497" y="5546795"/>
            <a:ext cx="465478" cy="143640"/>
          </a:xfrm>
          <a:prstGeom prst="rect">
            <a:avLst/>
          </a:prstGeom>
          <a:noFill/>
        </p:spPr>
        <p:txBody>
          <a:bodyPr wrap="none" lIns="0" rIns="0" tIns="0" bIns="0" anchor="t"/>
          <a:lstStyle/>
          <a:p>
            <a:pPr algn="l">
              <a:lnSpc>
                <a:spcPts val="1142"/>
              </a:lnSpc>
            </a:pPr>
            <a:r>
              <a:rPr sz="952" b="0" i="0">
                <a:solidFill>
                  <a:srgbClr val="111111"/>
                </a:solidFill>
                <a:latin typeface="Versos"/>
              </a:rPr>
              <a:t>42,76%</a:t>
            </a:r>
          </a:p>
        </p:txBody>
      </p:sp>
      <p:sp>
        <p:nvSpPr>
          <p:cNvPr id="69" name="TextBox 68"/>
          <p:cNvSpPr txBox="1"/>
          <p:nvPr/>
        </p:nvSpPr>
        <p:spPr>
          <a:xfrm>
            <a:off x="3802680" y="583974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70" name="TextBox 69"/>
          <p:cNvSpPr txBox="1"/>
          <p:nvPr/>
        </p:nvSpPr>
        <p:spPr>
          <a:xfrm>
            <a:off x="6550976" y="5831949"/>
            <a:ext cx="469409" cy="143640"/>
          </a:xfrm>
          <a:prstGeom prst="rect">
            <a:avLst/>
          </a:prstGeom>
          <a:noFill/>
        </p:spPr>
        <p:txBody>
          <a:bodyPr wrap="none" lIns="0" rIns="0" tIns="0" bIns="0" anchor="t"/>
          <a:lstStyle/>
          <a:p>
            <a:pPr algn="l">
              <a:lnSpc>
                <a:spcPts val="1142"/>
              </a:lnSpc>
            </a:pPr>
            <a:r>
              <a:rPr sz="952" b="0" i="0">
                <a:solidFill>
                  <a:srgbClr val="111111"/>
                </a:solidFill>
                <a:latin typeface="Versos"/>
              </a:rPr>
              <a:t>35,94%</a:t>
            </a:r>
          </a:p>
        </p:txBody>
      </p:sp>
      <p:sp>
        <p:nvSpPr>
          <p:cNvPr id="71" name="TextBox 70"/>
          <p:cNvSpPr txBox="1"/>
          <p:nvPr/>
        </p:nvSpPr>
        <p:spPr>
          <a:xfrm>
            <a:off x="3802680" y="612489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2" name="TextBox 71"/>
          <p:cNvSpPr txBox="1"/>
          <p:nvPr/>
        </p:nvSpPr>
        <p:spPr>
          <a:xfrm>
            <a:off x="5677441" y="6117221"/>
            <a:ext cx="396436" cy="143640"/>
          </a:xfrm>
          <a:prstGeom prst="rect">
            <a:avLst/>
          </a:prstGeom>
          <a:noFill/>
        </p:spPr>
        <p:txBody>
          <a:bodyPr wrap="none" lIns="0" rIns="0" tIns="0" bIns="0" anchor="t"/>
          <a:lstStyle/>
          <a:p>
            <a:pPr algn="l">
              <a:lnSpc>
                <a:spcPts val="1142"/>
              </a:lnSpc>
            </a:pPr>
            <a:r>
              <a:rPr sz="952" b="0" i="0">
                <a:solidFill>
                  <a:srgbClr val="111111"/>
                </a:solidFill>
                <a:latin typeface="Versos"/>
              </a:rPr>
              <a:t>6,39%</a:t>
            </a:r>
          </a:p>
        </p:txBody>
      </p:sp>
      <p:sp>
        <p:nvSpPr>
          <p:cNvPr id="73" name="TextBox 72"/>
          <p:cNvSpPr txBox="1"/>
          <p:nvPr/>
        </p:nvSpPr>
        <p:spPr>
          <a:xfrm>
            <a:off x="3802680" y="641017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74" name="TextBox 73"/>
          <p:cNvSpPr txBox="1"/>
          <p:nvPr/>
        </p:nvSpPr>
        <p:spPr>
          <a:xfrm>
            <a:off x="5571956" y="6402375"/>
            <a:ext cx="391154" cy="143640"/>
          </a:xfrm>
          <a:prstGeom prst="rect">
            <a:avLst/>
          </a:prstGeom>
          <a:noFill/>
        </p:spPr>
        <p:txBody>
          <a:bodyPr wrap="none" lIns="0" rIns="0" tIns="0" bIns="0" anchor="t"/>
          <a:lstStyle/>
          <a:p>
            <a:pPr algn="l">
              <a:lnSpc>
                <a:spcPts val="1142"/>
              </a:lnSpc>
            </a:pPr>
            <a:r>
              <a:rPr sz="952" b="0" i="0">
                <a:solidFill>
                  <a:srgbClr val="111111"/>
                </a:solidFill>
                <a:latin typeface="Versos"/>
              </a:rPr>
              <a:t>2,82%</a:t>
            </a:r>
          </a:p>
        </p:txBody>
      </p:sp>
      <p:sp>
        <p:nvSpPr>
          <p:cNvPr id="75" name="TextBox 74"/>
          <p:cNvSpPr txBox="1"/>
          <p:nvPr/>
        </p:nvSpPr>
        <p:spPr>
          <a:xfrm>
            <a:off x="3802680" y="6638861"/>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76" name="TextBox 75"/>
          <p:cNvSpPr txBox="1"/>
          <p:nvPr/>
        </p:nvSpPr>
        <p:spPr>
          <a:xfrm>
            <a:off x="5544787" y="6687646"/>
            <a:ext cx="323955" cy="143640"/>
          </a:xfrm>
          <a:prstGeom prst="rect">
            <a:avLst/>
          </a:prstGeom>
          <a:noFill/>
        </p:spPr>
        <p:txBody>
          <a:bodyPr wrap="none" lIns="0" rIns="0" tIns="0" bIns="0" anchor="t"/>
          <a:lstStyle/>
          <a:p>
            <a:pPr algn="l">
              <a:lnSpc>
                <a:spcPts val="1142"/>
              </a:lnSpc>
            </a:pPr>
            <a:r>
              <a:rPr sz="952" b="0" i="0">
                <a:solidFill>
                  <a:srgbClr val="111111"/>
                </a:solidFill>
                <a:latin typeface="Versos"/>
              </a:rPr>
              <a:t>1,91%</a:t>
            </a:r>
          </a:p>
        </p:txBody>
      </p:sp>
      <p:sp>
        <p:nvSpPr>
          <p:cNvPr id="77" name="TextBox 76"/>
          <p:cNvSpPr txBox="1"/>
          <p:nvPr/>
        </p:nvSpPr>
        <p:spPr>
          <a:xfrm>
            <a:off x="3802680" y="69805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8" name="TextBox 77"/>
          <p:cNvSpPr txBox="1"/>
          <p:nvPr/>
        </p:nvSpPr>
        <p:spPr>
          <a:xfrm>
            <a:off x="5540771" y="6972800"/>
            <a:ext cx="346805" cy="143640"/>
          </a:xfrm>
          <a:prstGeom prst="rect">
            <a:avLst/>
          </a:prstGeom>
          <a:noFill/>
        </p:spPr>
        <p:txBody>
          <a:bodyPr wrap="none" lIns="0" rIns="0" tIns="0" bIns="0" anchor="t"/>
          <a:lstStyle/>
          <a:p>
            <a:pPr algn="l">
              <a:lnSpc>
                <a:spcPts val="1142"/>
              </a:lnSpc>
            </a:pPr>
            <a:r>
              <a:rPr sz="952" b="0" i="0">
                <a:solidFill>
                  <a:srgbClr val="111111"/>
                </a:solidFill>
                <a:latin typeface="Versos"/>
              </a:rPr>
              <a:t>1,77%</a:t>
            </a:r>
          </a:p>
        </p:txBody>
      </p:sp>
      <p:sp>
        <p:nvSpPr>
          <p:cNvPr id="79" name="TextBox 78"/>
          <p:cNvSpPr txBox="1"/>
          <p:nvPr/>
        </p:nvSpPr>
        <p:spPr>
          <a:xfrm>
            <a:off x="3802680" y="726575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Assistência médica</a:t>
            </a:r>
          </a:p>
        </p:txBody>
      </p:sp>
      <p:sp>
        <p:nvSpPr>
          <p:cNvPr id="80" name="TextBox 79"/>
          <p:cNvSpPr txBox="1"/>
          <p:nvPr/>
        </p:nvSpPr>
        <p:spPr>
          <a:xfrm>
            <a:off x="5538645" y="7258072"/>
            <a:ext cx="364741" cy="143640"/>
          </a:xfrm>
          <a:prstGeom prst="rect">
            <a:avLst/>
          </a:prstGeom>
          <a:noFill/>
        </p:spPr>
        <p:txBody>
          <a:bodyPr wrap="none" lIns="0" rIns="0" tIns="0" bIns="0" anchor="t"/>
          <a:lstStyle/>
          <a:p>
            <a:pPr algn="l">
              <a:lnSpc>
                <a:spcPts val="1142"/>
              </a:lnSpc>
            </a:pPr>
            <a:r>
              <a:rPr sz="952" b="0" i="0">
                <a:solidFill>
                  <a:srgbClr val="111111"/>
                </a:solidFill>
                <a:latin typeface="Versos"/>
              </a:rPr>
              <a:t>1,69%</a:t>
            </a:r>
          </a:p>
        </p:txBody>
      </p:sp>
      <p:sp>
        <p:nvSpPr>
          <p:cNvPr id="81" name="TextBox 80"/>
          <p:cNvSpPr txBox="1"/>
          <p:nvPr/>
        </p:nvSpPr>
        <p:spPr>
          <a:xfrm>
            <a:off x="3802680" y="755102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82" name="TextBox 81"/>
          <p:cNvSpPr txBox="1"/>
          <p:nvPr/>
        </p:nvSpPr>
        <p:spPr>
          <a:xfrm>
            <a:off x="5537936" y="7543226"/>
            <a:ext cx="364618" cy="143640"/>
          </a:xfrm>
          <a:prstGeom prst="rect">
            <a:avLst/>
          </a:prstGeom>
          <a:noFill/>
        </p:spPr>
        <p:txBody>
          <a:bodyPr wrap="none" lIns="0" rIns="0" tIns="0" bIns="0" anchor="t"/>
          <a:lstStyle/>
          <a:p>
            <a:pPr algn="l">
              <a:lnSpc>
                <a:spcPts val="1142"/>
              </a:lnSpc>
            </a:pPr>
            <a:r>
              <a:rPr sz="952" b="0" i="0">
                <a:solidFill>
                  <a:srgbClr val="111111"/>
                </a:solidFill>
                <a:latin typeface="Versos"/>
              </a:rPr>
              <a:t>1,68%</a:t>
            </a:r>
          </a:p>
        </p:txBody>
      </p:sp>
      <p:sp>
        <p:nvSpPr>
          <p:cNvPr id="83" name="TextBox 82"/>
          <p:cNvSpPr txBox="1"/>
          <p:nvPr/>
        </p:nvSpPr>
        <p:spPr>
          <a:xfrm>
            <a:off x="3802680" y="783617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84" name="TextBox 83"/>
          <p:cNvSpPr txBox="1"/>
          <p:nvPr/>
        </p:nvSpPr>
        <p:spPr>
          <a:xfrm>
            <a:off x="5528013" y="7828498"/>
            <a:ext cx="359213" cy="143640"/>
          </a:xfrm>
          <a:prstGeom prst="rect">
            <a:avLst/>
          </a:prstGeom>
          <a:noFill/>
        </p:spPr>
        <p:txBody>
          <a:bodyPr wrap="none" lIns="0" rIns="0" tIns="0" bIns="0" anchor="t"/>
          <a:lstStyle/>
          <a:p>
            <a:pPr algn="l">
              <a:lnSpc>
                <a:spcPts val="1142"/>
              </a:lnSpc>
            </a:pPr>
            <a:r>
              <a:rPr sz="952" b="0" i="0">
                <a:solidFill>
                  <a:srgbClr val="111111"/>
                </a:solidFill>
                <a:latin typeface="Versos"/>
              </a:rPr>
              <a:t>1,34%</a:t>
            </a:r>
          </a:p>
        </p:txBody>
      </p:sp>
      <p:sp>
        <p:nvSpPr>
          <p:cNvPr id="85" name="TextBox 84"/>
          <p:cNvSpPr txBox="1"/>
          <p:nvPr/>
        </p:nvSpPr>
        <p:spPr>
          <a:xfrm>
            <a:off x="3802680" y="812144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Distribuição</a:t>
            </a:r>
          </a:p>
        </p:txBody>
      </p:sp>
      <p:sp>
        <p:nvSpPr>
          <p:cNvPr id="86" name="TextBox 85"/>
          <p:cNvSpPr txBox="1"/>
          <p:nvPr/>
        </p:nvSpPr>
        <p:spPr>
          <a:xfrm>
            <a:off x="5512775" y="8113651"/>
            <a:ext cx="394839" cy="143640"/>
          </a:xfrm>
          <a:prstGeom prst="rect">
            <a:avLst/>
          </a:prstGeom>
          <a:noFill/>
        </p:spPr>
        <p:txBody>
          <a:bodyPr wrap="none" lIns="0" rIns="0" tIns="0" bIns="0" anchor="t"/>
          <a:lstStyle/>
          <a:p>
            <a:pPr algn="l">
              <a:lnSpc>
                <a:spcPts val="1142"/>
              </a:lnSpc>
            </a:pPr>
            <a:r>
              <a:rPr sz="952" b="0" i="0">
                <a:solidFill>
                  <a:srgbClr val="111111"/>
                </a:solidFill>
                <a:latin typeface="Versos"/>
              </a:rPr>
              <a:t>0,82%</a:t>
            </a:r>
          </a:p>
        </p:txBody>
      </p:sp>
      <p:sp>
        <p:nvSpPr>
          <p:cNvPr id="87" name="TextBox 86"/>
          <p:cNvSpPr txBox="1"/>
          <p:nvPr/>
        </p:nvSpPr>
        <p:spPr>
          <a:xfrm>
            <a:off x="3802680" y="840660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88" name="TextBox 87"/>
          <p:cNvSpPr txBox="1"/>
          <p:nvPr/>
        </p:nvSpPr>
        <p:spPr>
          <a:xfrm>
            <a:off x="5511830" y="8398923"/>
            <a:ext cx="386731" cy="143640"/>
          </a:xfrm>
          <a:prstGeom prst="rect">
            <a:avLst/>
          </a:prstGeom>
          <a:noFill/>
        </p:spPr>
        <p:txBody>
          <a:bodyPr wrap="none" lIns="0" rIns="0" tIns="0" bIns="0" anchor="t"/>
          <a:lstStyle/>
          <a:p>
            <a:pPr algn="l">
              <a:lnSpc>
                <a:spcPts val="1142"/>
              </a:lnSpc>
            </a:pPr>
            <a:r>
              <a:rPr sz="952" b="0" i="0">
                <a:solidFill>
                  <a:srgbClr val="111111"/>
                </a:solidFill>
                <a:latin typeface="Versos"/>
              </a:rPr>
              <a:t>0,79%</a:t>
            </a:r>
          </a:p>
        </p:txBody>
      </p:sp>
      <p:sp>
        <p:nvSpPr>
          <p:cNvPr id="89" name="TextBox 88"/>
          <p:cNvSpPr txBox="1"/>
          <p:nvPr/>
        </p:nvSpPr>
        <p:spPr>
          <a:xfrm>
            <a:off x="3802680" y="869187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90" name="TextBox 89"/>
          <p:cNvSpPr txBox="1"/>
          <p:nvPr/>
        </p:nvSpPr>
        <p:spPr>
          <a:xfrm>
            <a:off x="5509468" y="8684077"/>
            <a:ext cx="354176" cy="143640"/>
          </a:xfrm>
          <a:prstGeom prst="rect">
            <a:avLst/>
          </a:prstGeom>
          <a:noFill/>
        </p:spPr>
        <p:txBody>
          <a:bodyPr wrap="none" lIns="0" rIns="0" tIns="0" bIns="0" anchor="t"/>
          <a:lstStyle/>
          <a:p>
            <a:pPr algn="l">
              <a:lnSpc>
                <a:spcPts val="1142"/>
              </a:lnSpc>
            </a:pPr>
            <a:r>
              <a:rPr sz="952" b="0" i="0">
                <a:solidFill>
                  <a:srgbClr val="111111"/>
                </a:solidFill>
                <a:latin typeface="Versos"/>
              </a:rPr>
              <a:t>0,71%</a:t>
            </a:r>
          </a:p>
        </p:txBody>
      </p:sp>
      <p:sp>
        <p:nvSpPr>
          <p:cNvPr id="91" name="TextBox 90"/>
          <p:cNvSpPr txBox="1"/>
          <p:nvPr/>
        </p:nvSpPr>
        <p:spPr>
          <a:xfrm>
            <a:off x="3802680" y="897714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92" name="TextBox 91"/>
          <p:cNvSpPr txBox="1"/>
          <p:nvPr/>
        </p:nvSpPr>
        <p:spPr>
          <a:xfrm>
            <a:off x="5509231" y="8969349"/>
            <a:ext cx="389311" cy="143640"/>
          </a:xfrm>
          <a:prstGeom prst="rect">
            <a:avLst/>
          </a:prstGeom>
          <a:noFill/>
        </p:spPr>
        <p:txBody>
          <a:bodyPr wrap="none" lIns="0" rIns="0" tIns="0" bIns="0" anchor="t"/>
          <a:lstStyle/>
          <a:p>
            <a:pPr algn="l">
              <a:lnSpc>
                <a:spcPts val="1142"/>
              </a:lnSpc>
            </a:pPr>
            <a:r>
              <a:rPr sz="952" b="0" i="0">
                <a:solidFill>
                  <a:srgbClr val="111111"/>
                </a:solidFill>
                <a:latin typeface="Versos"/>
              </a:rPr>
              <a:t>0,70%</a:t>
            </a:r>
          </a:p>
        </p:txBody>
      </p:sp>
      <p:sp>
        <p:nvSpPr>
          <p:cNvPr id="93" name="TextBox 92"/>
          <p:cNvSpPr txBox="1"/>
          <p:nvPr/>
        </p:nvSpPr>
        <p:spPr>
          <a:xfrm>
            <a:off x="3802680" y="926241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 Corp</a:t>
            </a:r>
          </a:p>
        </p:txBody>
      </p:sp>
      <p:sp>
        <p:nvSpPr>
          <p:cNvPr id="94" name="TextBox 93"/>
          <p:cNvSpPr txBox="1"/>
          <p:nvPr/>
        </p:nvSpPr>
        <p:spPr>
          <a:xfrm>
            <a:off x="5499900" y="9254621"/>
            <a:ext cx="399508" cy="143640"/>
          </a:xfrm>
          <a:prstGeom prst="rect">
            <a:avLst/>
          </a:prstGeom>
          <a:noFill/>
        </p:spPr>
        <p:txBody>
          <a:bodyPr wrap="none" lIns="0" rIns="0" tIns="0" bIns="0" anchor="t"/>
          <a:lstStyle/>
          <a:p>
            <a:pPr algn="l">
              <a:lnSpc>
                <a:spcPts val="1142"/>
              </a:lnSpc>
            </a:pPr>
            <a:r>
              <a:rPr sz="952" b="0" i="0">
                <a:solidFill>
                  <a:srgbClr val="111111"/>
                </a:solidFill>
                <a:latin typeface="Versos"/>
              </a:rPr>
              <a:t>0,38%</a:t>
            </a:r>
          </a:p>
        </p:txBody>
      </p:sp>
      <p:sp>
        <p:nvSpPr>
          <p:cNvPr id="95" name="TextBox 94"/>
          <p:cNvSpPr txBox="1"/>
          <p:nvPr/>
        </p:nvSpPr>
        <p:spPr>
          <a:xfrm>
            <a:off x="3802680" y="954768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Metalurgia e Siderurgia</a:t>
            </a:r>
          </a:p>
        </p:txBody>
      </p:sp>
      <p:sp>
        <p:nvSpPr>
          <p:cNvPr id="96" name="TextBox 95"/>
          <p:cNvSpPr txBox="1"/>
          <p:nvPr/>
        </p:nvSpPr>
        <p:spPr>
          <a:xfrm>
            <a:off x="5498010" y="9539893"/>
            <a:ext cx="394348" cy="143640"/>
          </a:xfrm>
          <a:prstGeom prst="rect">
            <a:avLst/>
          </a:prstGeom>
          <a:noFill/>
        </p:spPr>
        <p:txBody>
          <a:bodyPr wrap="none" lIns="0" rIns="0" tIns="0" bIns="0" anchor="t"/>
          <a:lstStyle/>
          <a:p>
            <a:pPr algn="l">
              <a:lnSpc>
                <a:spcPts val="1142"/>
              </a:lnSpc>
            </a:pPr>
            <a:r>
              <a:rPr sz="952" b="0" i="0">
                <a:solidFill>
                  <a:srgbClr val="111111"/>
                </a:solidFill>
                <a:latin typeface="Versos"/>
              </a:rPr>
              <a:t>0,29%</a:t>
            </a:r>
          </a:p>
        </p:txBody>
      </p:sp>
      <p:sp>
        <p:nvSpPr>
          <p:cNvPr id="97" name="TextBox 96"/>
          <p:cNvSpPr txBox="1"/>
          <p:nvPr/>
        </p:nvSpPr>
        <p:spPr>
          <a:xfrm>
            <a:off x="3802680" y="983296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Alimentos e bebidas</a:t>
            </a:r>
          </a:p>
        </p:txBody>
      </p:sp>
      <p:sp>
        <p:nvSpPr>
          <p:cNvPr id="98" name="TextBox 97"/>
          <p:cNvSpPr txBox="1"/>
          <p:nvPr/>
        </p:nvSpPr>
        <p:spPr>
          <a:xfrm>
            <a:off x="5498010" y="9825165"/>
            <a:ext cx="386117" cy="143640"/>
          </a:xfrm>
          <a:prstGeom prst="rect">
            <a:avLst/>
          </a:prstGeom>
          <a:noFill/>
        </p:spPr>
        <p:txBody>
          <a:bodyPr wrap="none" lIns="0" rIns="0" tIns="0" bIns="0" anchor="t"/>
          <a:lstStyle/>
          <a:p>
            <a:pPr algn="l">
              <a:lnSpc>
                <a:spcPts val="1142"/>
              </a:lnSpc>
            </a:pPr>
            <a:r>
              <a:rPr sz="952" b="0" i="0">
                <a:solidFill>
                  <a:srgbClr val="111111"/>
                </a:solidFill>
                <a:latin typeface="Versos"/>
              </a:rPr>
              <a:t>0,07%</a:t>
            </a:r>
          </a:p>
        </p:txBody>
      </p:sp>
      <p:sp>
        <p:nvSpPr>
          <p:cNvPr id="99" name="TextBox 98"/>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setembro, o mercado de crédito apresentou reabertura dos spreads e liquidez reduzida no mercado secundário. Os spreads médios dos títulos corporativos indexados ao CDI avançaram cerca de 5 bps, passando de CDI + 1,23% para CDI + 1,28% ao ano, interrompendo parcialmente o movimento de compressão observado nos últimos meses.</a:t>
            </a:r>
          </a:p>
        </p:txBody>
      </p:sp>
      <p:sp>
        <p:nvSpPr>
          <p:cNvPr id="7" name="TextBox 6"/>
          <p:cNvSpPr txBox="1"/>
          <p:nvPr/>
        </p:nvSpPr>
        <p:spPr>
          <a:xfrm>
            <a:off x="529200" y="6086036"/>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No mercado secundário, a liquidez permaneceu limitada, especialmente em ativos corporativos, resultando em uma formação de preços mais seletiva. No mercado primário, as emissões bancárias seguiram registrando demanda consistente, embora com menor intensidade em comparação aos meses anteriores. Já o pipeline de emissões corporativas permaneceu restrito, mantendo a oferta de ativos em níveis reduzidos.</a:t>
            </a:r>
          </a:p>
        </p:txBody>
      </p:sp>
      <p:sp>
        <p:nvSpPr>
          <p:cNvPr id="8" name="TextBox 7"/>
          <p:cNvSpPr txBox="1"/>
          <p:nvPr/>
        </p:nvSpPr>
        <p:spPr>
          <a:xfrm>
            <a:off x="529200" y="7145381"/>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relação aos fluxos, os fundos com alocação mínima de 15% em crédito e ao menos 1% em debêntures registraram resgates líquidos próximos de R$ 10 bilhões no período, movimento que contribuiu para a reabertura dos spreads e para uma piora da dinâmica técnica da classe.</a:t>
            </a:r>
          </a:p>
        </p:txBody>
      </p:sp>
      <p:sp>
        <p:nvSpPr>
          <p:cNvPr id="9" name="TextBox 8"/>
          <p:cNvSpPr txBox="1"/>
          <p:nvPr/>
        </p:nvSpPr>
        <p:spPr>
          <a:xfrm>
            <a:off x="529200" y="8014899"/>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Apesar desse cenário, os fundamentos corporativos permanecem resilientes e os níveis de inadimplência seguem controlados. Sob a ótica da gestão, mantemos uma postura disciplinada e seletiva na alocação dos recursos, buscando capturar oportunidades geradas pela recente abertura dos spreads sem abrir mão da qualidade de crédito das carteiras.</a:t>
            </a:r>
          </a:p>
        </p:txBody>
      </p:sp>
      <p:sp>
        <p:nvSpPr>
          <p:cNvPr id="10" name="TextBox 9"/>
          <p:cNvSpPr txBox="1"/>
          <p:nvPr/>
        </p:nvSpPr>
        <p:spPr>
          <a:xfrm>
            <a:off x="529200" y="9074244"/>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Nesse cenário, o Tivio RF CP apresentou rentabilidade de 1,07% no mês (99% do CDI), acumulando 9,74% (93% do CDI) no ano. Na parcela de corporativos, os maiores atribuidores de resultado foram para Tupy e YDUQS , enquanto Hapvida foi o maior detrator.</a:t>
            </a:r>
          </a:p>
        </p:txBody>
      </p:sp>
      <p:sp>
        <p:nvSpPr>
          <p:cNvPr id="11" name="TextBox 10"/>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09/05/2016</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0,40%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20% do que exceder 100% CDI</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R$ 40.355.883,45</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R$ 40.856.666,16</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