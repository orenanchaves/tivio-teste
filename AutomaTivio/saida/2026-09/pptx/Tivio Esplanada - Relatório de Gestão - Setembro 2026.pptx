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7,17%</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21,35%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2,01%</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11,37%</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14,80%</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24,65%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−4,19%</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−5,44%</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−3,30%</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0097" cy="143640"/>
          </a:xfrm>
          <a:prstGeom prst="rect">
            <a:avLst/>
          </a:prstGeom>
          <a:noFill/>
        </p:spPr>
        <p:txBody>
          <a:bodyPr wrap="none" lIns="0" rIns="0" tIns="0" bIns="0" anchor="t"/>
          <a:lstStyle/>
          <a:p>
            <a:pPr algn="l">
              <a:lnSpc>
                <a:spcPts val="1107"/>
              </a:lnSpc>
            </a:pPr>
            <a:r>
              <a:rPr sz="922" b="0" i="0">
                <a:solidFill>
                  <a:srgbClr val="5A82A0"/>
                </a:solidFill>
                <a:latin typeface="Versos"/>
              </a:rPr>
              <a:t>4,22%</a:t>
            </a:r>
          </a:p>
        </p:txBody>
      </p:sp>
      <p:sp>
        <p:nvSpPr>
          <p:cNvPr id="38" name="TextBox 37"/>
          <p:cNvSpPr txBox="1"/>
          <p:nvPr/>
        </p:nvSpPr>
        <p:spPr>
          <a:xfrm>
            <a:off x="400680" y="57387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39" name="TextBox 38"/>
          <p:cNvSpPr txBox="1"/>
          <p:nvPr/>
        </p:nvSpPr>
        <p:spPr>
          <a:xfrm>
            <a:off x="2746406" y="5736858"/>
            <a:ext cx="195945" cy="143640"/>
          </a:xfrm>
          <a:prstGeom prst="rect">
            <a:avLst/>
          </a:prstGeom>
          <a:noFill/>
        </p:spPr>
        <p:txBody>
          <a:bodyPr wrap="none" lIns="0" rIns="0" tIns="0" bIns="0" anchor="t"/>
          <a:lstStyle/>
          <a:p>
            <a:pPr algn="l">
              <a:lnSpc>
                <a:spcPts val="1107"/>
              </a:lnSpc>
            </a:pPr>
            <a:r>
              <a:rPr sz="922" b="0" i="0">
                <a:solidFill>
                  <a:srgbClr val="5A82A0"/>
                </a:solidFill>
                <a:latin typeface="Versos"/>
              </a:rPr>
              <a:t>4%</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1" name="TextBox 40"/>
          <p:cNvSpPr txBox="1"/>
          <p:nvPr/>
        </p:nvSpPr>
        <p:spPr>
          <a:xfrm>
            <a:off x="2708960" y="6220698"/>
            <a:ext cx="343980" cy="143640"/>
          </a:xfrm>
          <a:prstGeom prst="rect">
            <a:avLst/>
          </a:prstGeom>
          <a:noFill/>
        </p:spPr>
        <p:txBody>
          <a:bodyPr wrap="none" lIns="0" rIns="0" tIns="0" bIns="0" anchor="t"/>
          <a:lstStyle/>
          <a:p>
            <a:pPr algn="l">
              <a:lnSpc>
                <a:spcPts val="1107"/>
              </a:lnSpc>
            </a:pPr>
            <a:r>
              <a:rPr sz="922" b="0" i="0">
                <a:solidFill>
                  <a:srgbClr val="5A82A0"/>
                </a:solidFill>
                <a:latin typeface="Versos"/>
              </a:rPr>
              <a:t>3,91%</a:t>
            </a:r>
          </a:p>
        </p:txBody>
      </p:sp>
      <p:sp>
        <p:nvSpPr>
          <p:cNvPr id="42" name="TextBox 41"/>
          <p:cNvSpPr txBox="1"/>
          <p:nvPr/>
        </p:nvSpPr>
        <p:spPr>
          <a:xfrm>
            <a:off x="400680" y="670642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3" name="TextBox 42"/>
          <p:cNvSpPr txBox="1"/>
          <p:nvPr/>
        </p:nvSpPr>
        <p:spPr>
          <a:xfrm>
            <a:off x="2618476" y="6704538"/>
            <a:ext cx="368918" cy="143640"/>
          </a:xfrm>
          <a:prstGeom prst="rect">
            <a:avLst/>
          </a:prstGeom>
          <a:noFill/>
        </p:spPr>
        <p:txBody>
          <a:bodyPr wrap="none" lIns="0" rIns="0" tIns="0" bIns="0" anchor="t"/>
          <a:lstStyle/>
          <a:p>
            <a:pPr algn="l">
              <a:lnSpc>
                <a:spcPts val="1107"/>
              </a:lnSpc>
            </a:pPr>
            <a:r>
              <a:rPr sz="922" b="0" i="0">
                <a:solidFill>
                  <a:srgbClr val="5A82A0"/>
                </a:solidFill>
                <a:latin typeface="Versos"/>
              </a:rPr>
              <a:t>3,67%</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522205" y="7188378"/>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61547" cy="143640"/>
          </a:xfrm>
          <a:prstGeom prst="rect">
            <a:avLst/>
          </a:prstGeom>
          <a:noFill/>
        </p:spPr>
        <p:txBody>
          <a:bodyPr wrap="none" lIns="0" rIns="0" tIns="0" bIns="0" anchor="t"/>
          <a:lstStyle/>
          <a:p>
            <a:pPr algn="l">
              <a:lnSpc>
                <a:spcPts val="1142"/>
              </a:lnSpc>
            </a:pPr>
            <a:r>
              <a:rPr sz="952" b="0" i="0">
                <a:solidFill>
                  <a:srgbClr val="111111"/>
                </a:solidFill>
                <a:latin typeface="Versos"/>
              </a:rPr>
              <a:t>43,77%</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854444" y="8588986"/>
            <a:ext cx="440540" cy="143640"/>
          </a:xfrm>
          <a:prstGeom prst="rect">
            <a:avLst/>
          </a:prstGeom>
          <a:noFill/>
        </p:spPr>
        <p:txBody>
          <a:bodyPr wrap="none" lIns="0" rIns="0" tIns="0" bIns="0" anchor="t"/>
          <a:lstStyle/>
          <a:p>
            <a:pPr algn="l">
              <a:lnSpc>
                <a:spcPts val="1142"/>
              </a:lnSpc>
            </a:pPr>
            <a:r>
              <a:rPr sz="952" b="0" i="0">
                <a:solidFill>
                  <a:srgbClr val="111111"/>
                </a:solidFill>
                <a:latin typeface="Versos"/>
              </a:rPr>
              <a:t>18,52%</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60630" y="8895403"/>
            <a:ext cx="399631" cy="143640"/>
          </a:xfrm>
          <a:prstGeom prst="rect">
            <a:avLst/>
          </a:prstGeom>
          <a:noFill/>
        </p:spPr>
        <p:txBody>
          <a:bodyPr wrap="none" lIns="0" rIns="0" tIns="0" bIns="0" anchor="t"/>
          <a:lstStyle/>
          <a:p>
            <a:pPr algn="l">
              <a:lnSpc>
                <a:spcPts val="1142"/>
              </a:lnSpc>
            </a:pPr>
            <a:r>
              <a:rPr sz="952" b="0" i="0">
                <a:solidFill>
                  <a:srgbClr val="111111"/>
                </a:solidFill>
                <a:latin typeface="Versos"/>
              </a:rPr>
              <a:t>4,96%</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38304" y="9201819"/>
            <a:ext cx="401228" cy="143640"/>
          </a:xfrm>
          <a:prstGeom prst="rect">
            <a:avLst/>
          </a:prstGeom>
          <a:noFill/>
        </p:spPr>
        <p:txBody>
          <a:bodyPr wrap="none" lIns="0" rIns="0" tIns="0" bIns="0" anchor="t"/>
          <a:lstStyle/>
          <a:p>
            <a:pPr algn="l">
              <a:lnSpc>
                <a:spcPts val="1142"/>
              </a:lnSpc>
            </a:pPr>
            <a:r>
              <a:rPr sz="952" b="0" i="0">
                <a:solidFill>
                  <a:srgbClr val="111111"/>
                </a:solidFill>
                <a:latin typeface="Versos"/>
              </a:rPr>
              <a:t>4,46%</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193298" y="9508235"/>
            <a:ext cx="395945" cy="143640"/>
          </a:xfrm>
          <a:prstGeom prst="rect">
            <a:avLst/>
          </a:prstGeom>
          <a:noFill/>
        </p:spPr>
        <p:txBody>
          <a:bodyPr wrap="none" lIns="0" rIns="0" tIns="0" bIns="0" anchor="t"/>
          <a:lstStyle/>
          <a:p>
            <a:pPr algn="l">
              <a:lnSpc>
                <a:spcPts val="1142"/>
              </a:lnSpc>
            </a:pPr>
            <a:r>
              <a:rPr sz="952" b="0" i="0">
                <a:solidFill>
                  <a:srgbClr val="111111"/>
                </a:solidFill>
                <a:latin typeface="Versos"/>
              </a:rPr>
              <a:t>3,43%</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21124" y="9814651"/>
            <a:ext cx="353439" cy="143640"/>
          </a:xfrm>
          <a:prstGeom prst="rect">
            <a:avLst/>
          </a:prstGeom>
          <a:noFill/>
        </p:spPr>
        <p:txBody>
          <a:bodyPr wrap="none" lIns="0" rIns="0" tIns="0" bIns="0" anchor="t"/>
          <a:lstStyle/>
          <a:p>
            <a:pPr algn="l">
              <a:lnSpc>
                <a:spcPts val="1142"/>
              </a:lnSpc>
            </a:pPr>
            <a:r>
              <a:rPr sz="952" b="0" i="0">
                <a:solidFill>
                  <a:srgbClr val="111111"/>
                </a:solidFill>
                <a:latin typeface="Versos"/>
              </a:rPr>
              <a:t>1,78%</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78255" cy="143640"/>
          </a:xfrm>
          <a:prstGeom prst="rect">
            <a:avLst/>
          </a:prstGeom>
          <a:noFill/>
        </p:spPr>
        <p:txBody>
          <a:bodyPr wrap="none" lIns="0" rIns="0" tIns="0" bIns="0" anchor="t"/>
          <a:lstStyle/>
          <a:p>
            <a:pPr algn="l">
              <a:lnSpc>
                <a:spcPts val="1142"/>
              </a:lnSpc>
            </a:pPr>
            <a:r>
              <a:rPr sz="952" b="0" i="0">
                <a:solidFill>
                  <a:srgbClr val="111111"/>
                </a:solidFill>
                <a:latin typeface="Versos"/>
              </a:rPr>
              <a:t>40,93%</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053315" y="5714178"/>
            <a:ext cx="441768" cy="143640"/>
          </a:xfrm>
          <a:prstGeom prst="rect">
            <a:avLst/>
          </a:prstGeom>
          <a:noFill/>
        </p:spPr>
        <p:txBody>
          <a:bodyPr wrap="none" lIns="0" rIns="0" tIns="0" bIns="0" anchor="t"/>
          <a:lstStyle/>
          <a:p>
            <a:pPr algn="l">
              <a:lnSpc>
                <a:spcPts val="1142"/>
              </a:lnSpc>
            </a:pPr>
            <a:r>
              <a:rPr sz="952" b="0" i="0">
                <a:solidFill>
                  <a:srgbClr val="111111"/>
                </a:solidFill>
                <a:latin typeface="Versos"/>
              </a:rPr>
              <a:t>18,29%</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93471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14,45%</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777493" y="6651618"/>
            <a:ext cx="396436" cy="143640"/>
          </a:xfrm>
          <a:prstGeom prst="rect">
            <a:avLst/>
          </a:prstGeom>
          <a:noFill/>
        </p:spPr>
        <p:txBody>
          <a:bodyPr wrap="none" lIns="0" rIns="0" tIns="0" bIns="0" anchor="t"/>
          <a:lstStyle/>
          <a:p>
            <a:pPr algn="l">
              <a:lnSpc>
                <a:spcPts val="1142"/>
              </a:lnSpc>
            </a:pPr>
            <a:r>
              <a:rPr sz="952" b="0" i="0">
                <a:solidFill>
                  <a:srgbClr val="111111"/>
                </a:solidFill>
                <a:latin typeface="Versos"/>
              </a:rPr>
              <a:t>9,36%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08272" y="7120338"/>
            <a:ext cx="332923" cy="143640"/>
          </a:xfrm>
          <a:prstGeom prst="rect">
            <a:avLst/>
          </a:prstGeom>
          <a:noFill/>
        </p:spPr>
        <p:txBody>
          <a:bodyPr wrap="none" lIns="0" rIns="0" tIns="0" bIns="0" anchor="t"/>
          <a:lstStyle/>
          <a:p>
            <a:pPr algn="l">
              <a:lnSpc>
                <a:spcPts val="1142"/>
              </a:lnSpc>
            </a:pPr>
            <a:r>
              <a:rPr sz="952" b="0" i="0">
                <a:solidFill>
                  <a:srgbClr val="111111"/>
                </a:solidFill>
                <a:latin typeface="Versos"/>
              </a:rPr>
              <a:t>7,12%</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1" name="TextBox 70"/>
          <p:cNvSpPr txBox="1"/>
          <p:nvPr/>
        </p:nvSpPr>
        <p:spPr>
          <a:xfrm>
            <a:off x="5625348" y="7589058"/>
            <a:ext cx="399753" cy="143640"/>
          </a:xfrm>
          <a:prstGeom prst="rect">
            <a:avLst/>
          </a:prstGeom>
          <a:noFill/>
        </p:spPr>
        <p:txBody>
          <a:bodyPr wrap="none" lIns="0" rIns="0" tIns="0" bIns="0" anchor="t"/>
          <a:lstStyle/>
          <a:p>
            <a:pPr algn="l">
              <a:lnSpc>
                <a:spcPts val="1142"/>
              </a:lnSpc>
            </a:pPr>
            <a:r>
              <a:rPr sz="952" b="0" i="0">
                <a:solidFill>
                  <a:srgbClr val="111111"/>
                </a:solidFill>
                <a:latin typeface="Versos"/>
              </a:rPr>
              <a:t>4,43%</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3" name="TextBox 72"/>
          <p:cNvSpPr txBox="1"/>
          <p:nvPr/>
        </p:nvSpPr>
        <p:spPr>
          <a:xfrm>
            <a:off x="5548213" y="8057778"/>
            <a:ext cx="362038" cy="143640"/>
          </a:xfrm>
          <a:prstGeom prst="rect">
            <a:avLst/>
          </a:prstGeom>
          <a:noFill/>
        </p:spPr>
        <p:txBody>
          <a:bodyPr wrap="none" lIns="0" rIns="0" tIns="0" bIns="0" anchor="t"/>
          <a:lstStyle/>
          <a:p>
            <a:pPr algn="l">
              <a:lnSpc>
                <a:spcPts val="1142"/>
              </a:lnSpc>
            </a:pPr>
            <a:r>
              <a:rPr sz="952" b="0" i="0">
                <a:solidFill>
                  <a:srgbClr val="111111"/>
                </a:solidFill>
                <a:latin typeface="Versos"/>
              </a:rPr>
              <a:t>1,93%</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44551" y="8526498"/>
            <a:ext cx="360933" cy="143640"/>
          </a:xfrm>
          <a:prstGeom prst="rect">
            <a:avLst/>
          </a:prstGeom>
          <a:noFill/>
        </p:spPr>
        <p:txBody>
          <a:bodyPr wrap="none" lIns="0" rIns="0" tIns="0" bIns="0" anchor="t"/>
          <a:lstStyle/>
          <a:p>
            <a:pPr algn="l">
              <a:lnSpc>
                <a:spcPts val="1142"/>
              </a:lnSpc>
            </a:pPr>
            <a:r>
              <a:rPr sz="952" b="0" i="0">
                <a:solidFill>
                  <a:srgbClr val="111111"/>
                </a:solidFill>
                <a:latin typeface="Versos"/>
              </a:rPr>
              <a:t>1,82%</a:t>
            </a:r>
          </a:p>
        </p:txBody>
      </p:sp>
      <p:sp>
        <p:nvSpPr>
          <p:cNvPr id="76" name="TextBox 75"/>
          <p:cNvSpPr txBox="1"/>
          <p:nvPr/>
        </p:nvSpPr>
        <p:spPr>
          <a:xfrm>
            <a:off x="3802680" y="900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Outras Concessões</a:t>
            </a:r>
          </a:p>
        </p:txBody>
      </p:sp>
      <p:sp>
        <p:nvSpPr>
          <p:cNvPr id="77" name="TextBox 76"/>
          <p:cNvSpPr txBox="1"/>
          <p:nvPr/>
        </p:nvSpPr>
        <p:spPr>
          <a:xfrm>
            <a:off x="5541598" y="8995218"/>
            <a:ext cx="349262" cy="143640"/>
          </a:xfrm>
          <a:prstGeom prst="rect">
            <a:avLst/>
          </a:prstGeom>
          <a:noFill/>
        </p:spPr>
        <p:txBody>
          <a:bodyPr wrap="none" lIns="0" rIns="0" tIns="0" bIns="0" anchor="t"/>
          <a:lstStyle/>
          <a:p>
            <a:pPr algn="l">
              <a:lnSpc>
                <a:spcPts val="1142"/>
              </a:lnSpc>
            </a:pPr>
            <a:r>
              <a:rPr sz="952" b="0" i="0">
                <a:solidFill>
                  <a:srgbClr val="111111"/>
                </a:solidFill>
                <a:latin typeface="Versos"/>
              </a:rPr>
              <a:t>1,72%</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130574"/>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incentivado foi marcado por uma reprecificação relevante dos ativos. Os spreads médios dos títulos indexados ao IPCA registraram abertura próxima de 45 bps, refletindo um ambiente técnico menos favorável e o aumento da pressão vendedora no mercado secundário. Apesar disso, o forte fechamento da curva real de juros mitigou parte desse movimento, fazendo com que as taxas finais dos ativos apresentassem abertura mais moderada, de aproximadamente 5 bps no período.</a:t>
            </a:r>
          </a:p>
        </p:txBody>
      </p:sp>
      <p:sp>
        <p:nvSpPr>
          <p:cNvPr id="7" name="TextBox 6"/>
          <p:cNvSpPr txBox="1"/>
          <p:nvPr/>
        </p:nvSpPr>
        <p:spPr>
          <a:xfrm>
            <a:off x="529200" y="6465690"/>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observou-se predominância de fluxos vendedores, em um contexto de resgates líquidos próximos de R$ 7 bilhões nos fundos de infraestrutura. Esse movimento contribuiu para a ampliação dos spreads e para uma maior seletividade na formação dos preços.</a:t>
            </a:r>
          </a:p>
        </p:txBody>
      </p:sp>
      <p:sp>
        <p:nvSpPr>
          <p:cNvPr id="8" name="TextBox 7"/>
          <p:cNvSpPr txBox="1"/>
          <p:nvPr/>
        </p:nvSpPr>
        <p:spPr>
          <a:xfrm>
            <a:off x="529200" y="7335208"/>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Já no mercado primário, a atividade permaneceu limitada, com pipeline bastante reduzido de emissões corporativas incentivadas, restringindo as oportunidades de alocação e mantendo a oferta de ativos em níveis baixos.</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Sob a ótica da gestão, seguimos adotando uma postura cautelosa e seletiva. Embora a recente abertura dos spreads tenha tornado algumas oportunidades mais atrativas, entendemos que a volatilidade dos fluxos e a baixa liquidez do mercado secundário ainda justificam uma abordagem disciplinada na alocação dos recursos, priorizando operações com adequada relação entre risco e retorno.</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Esplanada apresentou rentabilidade, isenta de imposto de renda, de 1,00% no mês, acumulando 7,17% no ano. Na atribuição de performance, pode-se destacar as debêntures de de Engie e Localiza, enquanto as de Sabesp foram as maiores detratoras.</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R$ 119.778.245,91</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R$ 124.848.435,62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