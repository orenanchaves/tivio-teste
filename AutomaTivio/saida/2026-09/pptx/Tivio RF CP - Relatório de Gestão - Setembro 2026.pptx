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9,74%</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13,85%</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28,55%</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46,32%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157,35%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157,81%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−0,63%</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−1,26%</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2,07%</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4" name="TextBox 43"/>
          <p:cNvSpPr txBox="1"/>
          <p:nvPr/>
        </p:nvSpPr>
        <p:spPr>
          <a:xfrm>
            <a:off x="2831928" y="5638224"/>
            <a:ext cx="355036" cy="143640"/>
          </a:xfrm>
          <a:prstGeom prst="rect">
            <a:avLst/>
          </a:prstGeom>
          <a:noFill/>
        </p:spPr>
        <p:txBody>
          <a:bodyPr wrap="none" lIns="0" rIns="0" tIns="0" bIns="0" anchor="t"/>
          <a:lstStyle/>
          <a:p>
            <a:pPr algn="l">
              <a:lnSpc>
                <a:spcPts val="1107"/>
              </a:lnSpc>
            </a:pPr>
            <a:r>
              <a:rPr sz="922" b="0" i="0">
                <a:solidFill>
                  <a:srgbClr val="5A82A0"/>
                </a:solidFill>
                <a:latin typeface="Versos"/>
              </a:rPr>
              <a:t>7,47%</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6" name="TextBox 45"/>
          <p:cNvSpPr txBox="1"/>
          <p:nvPr/>
        </p:nvSpPr>
        <p:spPr>
          <a:xfrm>
            <a:off x="2737074" y="6106235"/>
            <a:ext cx="362898" cy="143640"/>
          </a:xfrm>
          <a:prstGeom prst="rect">
            <a:avLst/>
          </a:prstGeom>
          <a:noFill/>
        </p:spPr>
        <p:txBody>
          <a:bodyPr wrap="none" lIns="0" rIns="0" tIns="0" bIns="0" anchor="t"/>
          <a:lstStyle/>
          <a:p>
            <a:pPr algn="l">
              <a:lnSpc>
                <a:spcPts val="1107"/>
              </a:lnSpc>
            </a:pPr>
            <a:r>
              <a:rPr sz="922" b="0" i="0">
                <a:solidFill>
                  <a:srgbClr val="5A82A0"/>
                </a:solidFill>
                <a:latin typeface="Versos"/>
              </a:rPr>
              <a:t>7,04%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692541" y="6574365"/>
            <a:ext cx="380343" cy="143640"/>
          </a:xfrm>
          <a:prstGeom prst="rect">
            <a:avLst/>
          </a:prstGeom>
          <a:noFill/>
        </p:spPr>
        <p:txBody>
          <a:bodyPr wrap="none" lIns="0" rIns="0" tIns="0" bIns="0" anchor="t"/>
          <a:lstStyle/>
          <a:p>
            <a:pPr algn="l">
              <a:lnSpc>
                <a:spcPts val="1107"/>
              </a:lnSpc>
            </a:pPr>
            <a:r>
              <a:rPr sz="922" b="0" i="0">
                <a:solidFill>
                  <a:srgbClr val="5A82A0"/>
                </a:solidFill>
                <a:latin typeface="Versos"/>
              </a:rPr>
              <a:t>6,84%</a:t>
            </a:r>
          </a:p>
        </p:txBody>
      </p:sp>
      <p:sp>
        <p:nvSpPr>
          <p:cNvPr id="49" name="TextBox 48"/>
          <p:cNvSpPr txBox="1"/>
          <p:nvPr/>
        </p:nvSpPr>
        <p:spPr>
          <a:xfrm>
            <a:off x="400680" y="7044266"/>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0" name="TextBox 49"/>
          <p:cNvSpPr txBox="1"/>
          <p:nvPr/>
        </p:nvSpPr>
        <p:spPr>
          <a:xfrm>
            <a:off x="1791365" y="7042376"/>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52" name="TextBox 51"/>
          <p:cNvSpPr txBox="1"/>
          <p:nvPr/>
        </p:nvSpPr>
        <p:spPr>
          <a:xfrm>
            <a:off x="1786050" y="7510505"/>
            <a:ext cx="367567" cy="143640"/>
          </a:xfrm>
          <a:prstGeom prst="rect">
            <a:avLst/>
          </a:prstGeom>
          <a:noFill/>
        </p:spPr>
        <p:txBody>
          <a:bodyPr wrap="none" lIns="0" rIns="0" tIns="0" bIns="0" anchor="t"/>
          <a:lstStyle/>
          <a:p>
            <a:pPr algn="l">
              <a:lnSpc>
                <a:spcPts val="1107"/>
              </a:lnSpc>
            </a:pPr>
            <a:r>
              <a:rPr sz="922" b="0" i="0">
                <a:solidFill>
                  <a:srgbClr val="5A82A0"/>
                </a:solidFill>
                <a:latin typeface="Versos"/>
              </a:rPr>
              <a:t>2,72%</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35503" cy="143640"/>
          </a:xfrm>
          <a:prstGeom prst="rect">
            <a:avLst/>
          </a:prstGeom>
          <a:noFill/>
        </p:spPr>
        <p:txBody>
          <a:bodyPr wrap="none" lIns="0" rIns="0" tIns="0" bIns="0" anchor="t"/>
          <a:lstStyle/>
          <a:p>
            <a:pPr algn="l">
              <a:lnSpc>
                <a:spcPts val="1142"/>
              </a:lnSpc>
            </a:pPr>
            <a:r>
              <a:rPr sz="952" b="0" i="0">
                <a:solidFill>
                  <a:srgbClr val="111111"/>
                </a:solidFill>
                <a:latin typeface="Versos"/>
              </a:rPr>
              <a:t>41,22%</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190345" y="8715380"/>
            <a:ext cx="355036" cy="143640"/>
          </a:xfrm>
          <a:prstGeom prst="rect">
            <a:avLst/>
          </a:prstGeom>
          <a:noFill/>
        </p:spPr>
        <p:txBody>
          <a:bodyPr wrap="none" lIns="0" rIns="0" tIns="0" bIns="0" anchor="t"/>
          <a:lstStyle/>
          <a:p>
            <a:pPr algn="l">
              <a:lnSpc>
                <a:spcPts val="1142"/>
              </a:lnSpc>
            </a:pPr>
            <a:r>
              <a:rPr sz="952" b="0" i="0">
                <a:solidFill>
                  <a:srgbClr val="111111"/>
                </a:solidFill>
                <a:latin typeface="Versos"/>
              </a:rPr>
              <a:t>3,16%</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80068" y="8993801"/>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0028" y="9272103"/>
            <a:ext cx="381572" cy="143640"/>
          </a:xfrm>
          <a:prstGeom prst="rect">
            <a:avLst/>
          </a:prstGeom>
          <a:noFill/>
        </p:spPr>
        <p:txBody>
          <a:bodyPr wrap="none" lIns="0" rIns="0" tIns="0" bIns="0" anchor="t"/>
          <a:lstStyle/>
          <a:p>
            <a:pPr algn="l">
              <a:lnSpc>
                <a:spcPts val="1142"/>
              </a:lnSpc>
            </a:pPr>
            <a:r>
              <a:rPr sz="952" b="0" i="0">
                <a:solidFill>
                  <a:srgbClr val="111111"/>
                </a:solidFill>
                <a:latin typeface="Versos"/>
              </a:rPr>
              <a:t>2,73%</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40969" y="9550406"/>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2,10%</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5531" y="9828708"/>
            <a:ext cx="359213" cy="143640"/>
          </a:xfrm>
          <a:prstGeom prst="rect">
            <a:avLst/>
          </a:prstGeom>
          <a:noFill/>
        </p:spPr>
        <p:txBody>
          <a:bodyPr wrap="none" lIns="0" rIns="0" tIns="0" bIns="0" anchor="t"/>
          <a:lstStyle/>
          <a:p>
            <a:pPr algn="l">
              <a:lnSpc>
                <a:spcPts val="1142"/>
              </a:lnSpc>
            </a:pPr>
            <a:r>
              <a:rPr sz="952" b="0" i="0">
                <a:solidFill>
                  <a:srgbClr val="111111"/>
                </a:solidFill>
                <a:latin typeface="Versos"/>
              </a:rPr>
              <a:t>1,34%</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640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56245"/>
            <a:ext cx="465478" cy="143640"/>
          </a:xfrm>
          <a:prstGeom prst="rect">
            <a:avLst/>
          </a:prstGeom>
          <a:noFill/>
        </p:spPr>
        <p:txBody>
          <a:bodyPr wrap="none" lIns="0" rIns="0" tIns="0" bIns="0" anchor="t"/>
          <a:lstStyle/>
          <a:p>
            <a:pPr algn="l">
              <a:lnSpc>
                <a:spcPts val="1142"/>
              </a:lnSpc>
            </a:pPr>
            <a:r>
              <a:rPr sz="952" b="0" i="0">
                <a:solidFill>
                  <a:srgbClr val="111111"/>
                </a:solidFill>
                <a:latin typeface="Versos"/>
              </a:rPr>
              <a:t>42,76%</a:t>
            </a:r>
          </a:p>
        </p:txBody>
      </p:sp>
      <p:sp>
        <p:nvSpPr>
          <p:cNvPr id="69" name="TextBox 68"/>
          <p:cNvSpPr txBox="1"/>
          <p:nvPr/>
        </p:nvSpPr>
        <p:spPr>
          <a:xfrm>
            <a:off x="3802680" y="586821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550976" y="5860535"/>
            <a:ext cx="469409" cy="143640"/>
          </a:xfrm>
          <a:prstGeom prst="rect">
            <a:avLst/>
          </a:prstGeom>
          <a:noFill/>
        </p:spPr>
        <p:txBody>
          <a:bodyPr wrap="none" lIns="0" rIns="0" tIns="0" bIns="0" anchor="t"/>
          <a:lstStyle/>
          <a:p>
            <a:pPr algn="l">
              <a:lnSpc>
                <a:spcPts val="1142"/>
              </a:lnSpc>
            </a:pPr>
            <a:r>
              <a:rPr sz="952" b="0" i="0">
                <a:solidFill>
                  <a:srgbClr val="111111"/>
                </a:solidFill>
                <a:latin typeface="Versos"/>
              </a:rPr>
              <a:t>35,94%</a:t>
            </a:r>
          </a:p>
        </p:txBody>
      </p:sp>
      <p:sp>
        <p:nvSpPr>
          <p:cNvPr id="71" name="TextBox 70"/>
          <p:cNvSpPr txBox="1"/>
          <p:nvPr/>
        </p:nvSpPr>
        <p:spPr>
          <a:xfrm>
            <a:off x="3802680" y="617250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68346" y="6164707"/>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6,09%</a:t>
            </a:r>
          </a:p>
        </p:txBody>
      </p:sp>
      <p:sp>
        <p:nvSpPr>
          <p:cNvPr id="73" name="TextBox 72"/>
          <p:cNvSpPr txBox="1"/>
          <p:nvPr/>
        </p:nvSpPr>
        <p:spPr>
          <a:xfrm>
            <a:off x="3802680" y="64766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4" name="TextBox 73"/>
          <p:cNvSpPr txBox="1"/>
          <p:nvPr/>
        </p:nvSpPr>
        <p:spPr>
          <a:xfrm>
            <a:off x="5571956" y="6468997"/>
            <a:ext cx="391154" cy="143640"/>
          </a:xfrm>
          <a:prstGeom prst="rect">
            <a:avLst/>
          </a:prstGeom>
          <a:noFill/>
        </p:spPr>
        <p:txBody>
          <a:bodyPr wrap="none" lIns="0" rIns="0" tIns="0" bIns="0" anchor="t"/>
          <a:lstStyle/>
          <a:p>
            <a:pPr algn="l">
              <a:lnSpc>
                <a:spcPts val="1142"/>
              </a:lnSpc>
            </a:pPr>
            <a:r>
              <a:rPr sz="952" b="0" i="0">
                <a:solidFill>
                  <a:srgbClr val="111111"/>
                </a:solidFill>
                <a:latin typeface="Versos"/>
              </a:rPr>
              <a:t>2,82%</a:t>
            </a:r>
          </a:p>
        </p:txBody>
      </p:sp>
      <p:sp>
        <p:nvSpPr>
          <p:cNvPr id="75" name="TextBox 74"/>
          <p:cNvSpPr txBox="1"/>
          <p:nvPr/>
        </p:nvSpPr>
        <p:spPr>
          <a:xfrm>
            <a:off x="3802680" y="6780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6" name="TextBox 75"/>
          <p:cNvSpPr txBox="1"/>
          <p:nvPr/>
        </p:nvSpPr>
        <p:spPr>
          <a:xfrm>
            <a:off x="5540771" y="6773169"/>
            <a:ext cx="346805" cy="143640"/>
          </a:xfrm>
          <a:prstGeom prst="rect">
            <a:avLst/>
          </a:prstGeom>
          <a:noFill/>
        </p:spPr>
        <p:txBody>
          <a:bodyPr wrap="none" lIns="0" rIns="0" tIns="0" bIns="0" anchor="t"/>
          <a:lstStyle/>
          <a:p>
            <a:pPr algn="l">
              <a:lnSpc>
                <a:spcPts val="1142"/>
              </a:lnSpc>
            </a:pPr>
            <a:r>
              <a:rPr sz="952" b="0" i="0">
                <a:solidFill>
                  <a:srgbClr val="111111"/>
                </a:solidFill>
                <a:latin typeface="Versos"/>
              </a:rPr>
              <a:t>1,77%</a:t>
            </a:r>
          </a:p>
        </p:txBody>
      </p:sp>
      <p:sp>
        <p:nvSpPr>
          <p:cNvPr id="77" name="TextBox 76"/>
          <p:cNvSpPr txBox="1"/>
          <p:nvPr/>
        </p:nvSpPr>
        <p:spPr>
          <a:xfrm>
            <a:off x="3802680" y="70851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78" name="TextBox 77"/>
          <p:cNvSpPr txBox="1"/>
          <p:nvPr/>
        </p:nvSpPr>
        <p:spPr>
          <a:xfrm>
            <a:off x="5538645" y="7077459"/>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1,69%</a:t>
            </a:r>
          </a:p>
        </p:txBody>
      </p:sp>
      <p:sp>
        <p:nvSpPr>
          <p:cNvPr id="79" name="TextBox 78"/>
          <p:cNvSpPr txBox="1"/>
          <p:nvPr/>
        </p:nvSpPr>
        <p:spPr>
          <a:xfrm>
            <a:off x="3802680" y="738942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0" name="TextBox 79"/>
          <p:cNvSpPr txBox="1"/>
          <p:nvPr/>
        </p:nvSpPr>
        <p:spPr>
          <a:xfrm>
            <a:off x="5537936" y="7381631"/>
            <a:ext cx="364618" cy="143640"/>
          </a:xfrm>
          <a:prstGeom prst="rect">
            <a:avLst/>
          </a:prstGeom>
          <a:noFill/>
        </p:spPr>
        <p:txBody>
          <a:bodyPr wrap="none" lIns="0" rIns="0" tIns="0" bIns="0" anchor="t"/>
          <a:lstStyle/>
          <a:p>
            <a:pPr algn="l">
              <a:lnSpc>
                <a:spcPts val="1142"/>
              </a:lnSpc>
            </a:pPr>
            <a:r>
              <a:rPr sz="952" b="0" i="0">
                <a:solidFill>
                  <a:srgbClr val="111111"/>
                </a:solidFill>
                <a:latin typeface="Versos"/>
              </a:rPr>
              <a:t>1,68%</a:t>
            </a:r>
          </a:p>
        </p:txBody>
      </p:sp>
      <p:sp>
        <p:nvSpPr>
          <p:cNvPr id="81" name="TextBox 80"/>
          <p:cNvSpPr txBox="1"/>
          <p:nvPr/>
        </p:nvSpPr>
        <p:spPr>
          <a:xfrm>
            <a:off x="3802680" y="763713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528486" y="7685921"/>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1,35%</a:t>
            </a:r>
          </a:p>
        </p:txBody>
      </p:sp>
      <p:sp>
        <p:nvSpPr>
          <p:cNvPr id="83" name="TextBox 82"/>
          <p:cNvSpPr txBox="1"/>
          <p:nvPr/>
        </p:nvSpPr>
        <p:spPr>
          <a:xfrm>
            <a:off x="3802680" y="79978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4" name="TextBox 83"/>
          <p:cNvSpPr txBox="1"/>
          <p:nvPr/>
        </p:nvSpPr>
        <p:spPr>
          <a:xfrm>
            <a:off x="5528013" y="7990093"/>
            <a:ext cx="359213" cy="143640"/>
          </a:xfrm>
          <a:prstGeom prst="rect">
            <a:avLst/>
          </a:prstGeom>
          <a:noFill/>
        </p:spPr>
        <p:txBody>
          <a:bodyPr wrap="none" lIns="0" rIns="0" tIns="0" bIns="0" anchor="t"/>
          <a:lstStyle/>
          <a:p>
            <a:pPr algn="l">
              <a:lnSpc>
                <a:spcPts val="1142"/>
              </a:lnSpc>
            </a:pPr>
            <a:r>
              <a:rPr sz="952" b="0" i="0">
                <a:solidFill>
                  <a:srgbClr val="111111"/>
                </a:solidFill>
                <a:latin typeface="Versos"/>
              </a:rPr>
              <a:t>1,34%</a:t>
            </a:r>
          </a:p>
        </p:txBody>
      </p:sp>
      <p:sp>
        <p:nvSpPr>
          <p:cNvPr id="85" name="TextBox 84"/>
          <p:cNvSpPr txBox="1"/>
          <p:nvPr/>
        </p:nvSpPr>
        <p:spPr>
          <a:xfrm>
            <a:off x="3802680" y="830206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86" name="TextBox 85"/>
          <p:cNvSpPr txBox="1"/>
          <p:nvPr/>
        </p:nvSpPr>
        <p:spPr>
          <a:xfrm>
            <a:off x="5512775" y="8294383"/>
            <a:ext cx="394839" cy="143640"/>
          </a:xfrm>
          <a:prstGeom prst="rect">
            <a:avLst/>
          </a:prstGeom>
          <a:noFill/>
        </p:spPr>
        <p:txBody>
          <a:bodyPr wrap="none" lIns="0" rIns="0" tIns="0" bIns="0" anchor="t"/>
          <a:lstStyle/>
          <a:p>
            <a:pPr algn="l">
              <a:lnSpc>
                <a:spcPts val="1142"/>
              </a:lnSpc>
            </a:pPr>
            <a:r>
              <a:rPr sz="952" b="0" i="0">
                <a:solidFill>
                  <a:srgbClr val="111111"/>
                </a:solidFill>
                <a:latin typeface="Versos"/>
              </a:rPr>
              <a:t>0,82%</a:t>
            </a:r>
          </a:p>
        </p:txBody>
      </p:sp>
      <p:sp>
        <p:nvSpPr>
          <p:cNvPr id="87" name="TextBox 86"/>
          <p:cNvSpPr txBox="1"/>
          <p:nvPr/>
        </p:nvSpPr>
        <p:spPr>
          <a:xfrm>
            <a:off x="3802680" y="8606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09231" y="8598555"/>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0,70%</a:t>
            </a:r>
          </a:p>
        </p:txBody>
      </p:sp>
      <p:sp>
        <p:nvSpPr>
          <p:cNvPr id="89" name="TextBox 88"/>
          <p:cNvSpPr txBox="1"/>
          <p:nvPr/>
        </p:nvSpPr>
        <p:spPr>
          <a:xfrm>
            <a:off x="3802680" y="891052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0" name="TextBox 89"/>
          <p:cNvSpPr txBox="1"/>
          <p:nvPr/>
        </p:nvSpPr>
        <p:spPr>
          <a:xfrm>
            <a:off x="5506396" y="8902845"/>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0,60%</a:t>
            </a:r>
          </a:p>
        </p:txBody>
      </p:sp>
      <p:sp>
        <p:nvSpPr>
          <p:cNvPr id="91" name="TextBox 90"/>
          <p:cNvSpPr txBox="1"/>
          <p:nvPr/>
        </p:nvSpPr>
        <p:spPr>
          <a:xfrm>
            <a:off x="3802680" y="921481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9900" y="9207135"/>
            <a:ext cx="399508" cy="143640"/>
          </a:xfrm>
          <a:prstGeom prst="rect">
            <a:avLst/>
          </a:prstGeom>
          <a:noFill/>
        </p:spPr>
        <p:txBody>
          <a:bodyPr wrap="none" lIns="0" rIns="0" tIns="0" bIns="0" anchor="t"/>
          <a:lstStyle/>
          <a:p>
            <a:pPr algn="l">
              <a:lnSpc>
                <a:spcPts val="1142"/>
              </a:lnSpc>
            </a:pPr>
            <a:r>
              <a:rPr sz="952" b="0" i="0">
                <a:solidFill>
                  <a:srgbClr val="111111"/>
                </a:solidFill>
                <a:latin typeface="Versos"/>
              </a:rPr>
              <a:t>0,38%</a:t>
            </a:r>
          </a:p>
        </p:txBody>
      </p:sp>
      <p:sp>
        <p:nvSpPr>
          <p:cNvPr id="93" name="TextBox 92"/>
          <p:cNvSpPr txBox="1"/>
          <p:nvPr/>
        </p:nvSpPr>
        <p:spPr>
          <a:xfrm>
            <a:off x="3802680" y="951910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94" name="TextBox 93"/>
          <p:cNvSpPr txBox="1"/>
          <p:nvPr/>
        </p:nvSpPr>
        <p:spPr>
          <a:xfrm>
            <a:off x="5498010" y="9511425"/>
            <a:ext cx="386117" cy="143640"/>
          </a:xfrm>
          <a:prstGeom prst="rect">
            <a:avLst/>
          </a:prstGeom>
          <a:noFill/>
        </p:spPr>
        <p:txBody>
          <a:bodyPr wrap="none" lIns="0" rIns="0" tIns="0" bIns="0" anchor="t"/>
          <a:lstStyle/>
          <a:p>
            <a:pPr algn="l">
              <a:lnSpc>
                <a:spcPts val="1142"/>
              </a:lnSpc>
            </a:pPr>
            <a:r>
              <a:rPr sz="952" b="0" i="0">
                <a:solidFill>
                  <a:srgbClr val="111111"/>
                </a:solidFill>
                <a:latin typeface="Versos"/>
              </a:rPr>
              <a:t>0,07%</a:t>
            </a:r>
          </a:p>
        </p:txBody>
      </p:sp>
      <p:sp>
        <p:nvSpPr>
          <p:cNvPr id="95" name="TextBox 94"/>
          <p:cNvSpPr txBox="1"/>
          <p:nvPr/>
        </p:nvSpPr>
        <p:spPr>
          <a:xfrm>
            <a:off x="3802680" y="982339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6" name="TextBox 95"/>
          <p:cNvSpPr txBox="1"/>
          <p:nvPr/>
        </p:nvSpPr>
        <p:spPr>
          <a:xfrm>
            <a:off x="5498010" y="9815715"/>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0,05%</a:t>
            </a:r>
          </a:p>
        </p:txBody>
      </p:sp>
      <p:sp>
        <p:nvSpPr>
          <p:cNvPr id="97" name="TextBox 9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RF CP apresentou rentabilidade de 1,07% no mês (99% do CDI), acumulando 9,74% (93% do CDI) no ano. Na parcela de corporativos, os maiores atribuidores de resultado foram para Tupy e YDUQS ,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R$ 40.355.883,45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R$ 40.856.666,16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