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77868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BVP RF CP FIFE RL </a:t>
            </a:r>
            <a:r>
              <a:rPr sz="829" b="0" i="0">
                <a:solidFill>
                  <a:srgbClr val="FFFFFF"/>
                </a:solidFill>
                <a:latin typeface="Versos"/>
              </a:rPr>
              <a:t>/ CNPJ 55.726.312/0001-79</a:t>
            </a:r>
          </a:p>
        </p:txBody>
      </p:sp>
      <p:sp>
        <p:nvSpPr>
          <p:cNvPr id="5" name="TextBox 4"/>
          <p:cNvSpPr txBox="1"/>
          <p:nvPr/>
        </p:nvSpPr>
        <p:spPr>
          <a:xfrm>
            <a:off x="400680" y="11566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6" name="TextBox 5"/>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7" name="TextBox 6"/>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8" name="TextBox 7"/>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9" name="TextBox 8"/>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10" name="TextBox 9"/>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1" name="TextBox 10"/>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2" name="TextBox 11"/>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3" name="TextBox 12"/>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4" name="TextBox 13"/>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5" name="TextBox 14"/>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1,06%</a:t>
            </a:r>
          </a:p>
        </p:txBody>
      </p:sp>
      <p:sp>
        <p:nvSpPr>
          <p:cNvPr id="16" name="TextBox 15"/>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10,55%</a:t>
            </a:r>
          </a:p>
        </p:txBody>
      </p:sp>
      <p:sp>
        <p:nvSpPr>
          <p:cNvPr id="17" name="TextBox 16"/>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14,54%</a:t>
            </a:r>
          </a:p>
        </p:txBody>
      </p:sp>
      <p:sp>
        <p:nvSpPr>
          <p:cNvPr id="18" name="TextBox 17"/>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30,42%</a:t>
            </a:r>
          </a:p>
        </p:txBody>
      </p:sp>
      <p:sp>
        <p:nvSpPr>
          <p:cNvPr id="19" name="TextBox 18"/>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20" name="TextBox 19"/>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33,50%</a:t>
            </a:r>
          </a:p>
        </p:txBody>
      </p:sp>
      <p:sp>
        <p:nvSpPr>
          <p:cNvPr id="21" name="TextBox 20"/>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2" name="TextBox 21"/>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23" name="TextBox 22"/>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10,51%</a:t>
            </a:r>
          </a:p>
        </p:txBody>
      </p:sp>
      <p:sp>
        <p:nvSpPr>
          <p:cNvPr id="24" name="TextBox 23"/>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14,48%</a:t>
            </a:r>
          </a:p>
        </p:txBody>
      </p:sp>
      <p:sp>
        <p:nvSpPr>
          <p:cNvPr id="25" name="TextBox 24"/>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29,81%</a:t>
            </a:r>
          </a:p>
        </p:txBody>
      </p:sp>
      <p:sp>
        <p:nvSpPr>
          <p:cNvPr id="26" name="TextBox 25"/>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7" name="TextBox 26"/>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32,75%</a:t>
            </a:r>
          </a:p>
        </p:txBody>
      </p:sp>
      <p:sp>
        <p:nvSpPr>
          <p:cNvPr id="28" name="TextBox 27"/>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9" name="TextBox 28"/>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30" name="TextBox 29"/>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0,04%</a:t>
            </a:r>
          </a:p>
        </p:txBody>
      </p:sp>
      <p:sp>
        <p:nvSpPr>
          <p:cNvPr id="31" name="TextBox 30"/>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2" name="TextBox 31"/>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0,62%</a:t>
            </a:r>
          </a:p>
        </p:txBody>
      </p:sp>
      <p:sp>
        <p:nvSpPr>
          <p:cNvPr id="33" name="TextBox 32"/>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4" name="TextBox 33"/>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0,75%</a:t>
            </a:r>
          </a:p>
        </p:txBody>
      </p:sp>
      <p:sp>
        <p:nvSpPr>
          <p:cNvPr id="35" name="TextBox 34"/>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6" name="TextBox 35"/>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98%</a:t>
            </a:r>
          </a:p>
        </p:txBody>
      </p:sp>
      <p:sp>
        <p:nvSpPr>
          <p:cNvPr id="37" name="TextBox 36"/>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8" name="TextBox 37"/>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9" name="TextBox 38"/>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0" name="TextBox 39"/>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1" name="TextBox 40"/>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2" name="TextBox 41"/>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30/09/2026</a:t>
            </a:r>
          </a:p>
        </p:txBody>
      </p:sp>
      <p:sp>
        <p:nvSpPr>
          <p:cNvPr id="43" name="TextBox 42"/>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4" name="TextBox 43"/>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5" name="TextBox 44"/>
          <p:cNvSpPr txBox="1"/>
          <p:nvPr/>
        </p:nvSpPr>
        <p:spPr>
          <a:xfrm>
            <a:off x="2831928" y="5620269"/>
            <a:ext cx="383414" cy="143640"/>
          </a:xfrm>
          <a:prstGeom prst="rect">
            <a:avLst/>
          </a:prstGeom>
          <a:noFill/>
        </p:spPr>
        <p:txBody>
          <a:bodyPr wrap="none" lIns="0" rIns="0" tIns="0" bIns="0" anchor="t"/>
          <a:lstStyle/>
          <a:p>
            <a:pPr algn="l">
              <a:lnSpc>
                <a:spcPts val="1107"/>
              </a:lnSpc>
            </a:pPr>
            <a:r>
              <a:rPr sz="922" b="0" i="0">
                <a:solidFill>
                  <a:srgbClr val="5A82A0"/>
                </a:solidFill>
                <a:latin typeface="Versos"/>
              </a:rPr>
              <a:t>4,82%</a:t>
            </a:r>
          </a:p>
        </p:txBody>
      </p:sp>
      <p:sp>
        <p:nvSpPr>
          <p:cNvPr id="46" name="TextBox 45"/>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7" name="TextBox 46"/>
          <p:cNvSpPr txBox="1"/>
          <p:nvPr/>
        </p:nvSpPr>
        <p:spPr>
          <a:xfrm>
            <a:off x="2681201" y="6052606"/>
            <a:ext cx="387960" cy="143640"/>
          </a:xfrm>
          <a:prstGeom prst="rect">
            <a:avLst/>
          </a:prstGeom>
          <a:noFill/>
        </p:spPr>
        <p:txBody>
          <a:bodyPr wrap="none" lIns="0" rIns="0" tIns="0" bIns="0" anchor="t"/>
          <a:lstStyle/>
          <a:p>
            <a:pPr algn="l">
              <a:lnSpc>
                <a:spcPts val="1107"/>
              </a:lnSpc>
            </a:pPr>
            <a:r>
              <a:rPr sz="922" b="0" i="0">
                <a:solidFill>
                  <a:srgbClr val="5A82A0"/>
                </a:solidFill>
                <a:latin typeface="Versos"/>
              </a:rPr>
              <a:t>4,38%</a:t>
            </a:r>
          </a:p>
        </p:txBody>
      </p:sp>
      <p:sp>
        <p:nvSpPr>
          <p:cNvPr id="48" name="TextBox 47"/>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49" name="TextBox 48"/>
          <p:cNvSpPr txBox="1"/>
          <p:nvPr/>
        </p:nvSpPr>
        <p:spPr>
          <a:xfrm>
            <a:off x="2507793" y="6484944"/>
            <a:ext cx="371866" cy="143640"/>
          </a:xfrm>
          <a:prstGeom prst="rect">
            <a:avLst/>
          </a:prstGeom>
          <a:noFill/>
        </p:spPr>
        <p:txBody>
          <a:bodyPr wrap="none" lIns="0" rIns="0" tIns="0" bIns="0" anchor="t"/>
          <a:lstStyle/>
          <a:p>
            <a:pPr algn="l">
              <a:lnSpc>
                <a:spcPts val="1107"/>
              </a:lnSpc>
            </a:pPr>
            <a:r>
              <a:rPr sz="922" b="0" i="0">
                <a:solidFill>
                  <a:srgbClr val="5A82A0"/>
                </a:solidFill>
                <a:latin typeface="Versos"/>
              </a:rPr>
              <a:t>3,87%</a:t>
            </a:r>
          </a:p>
        </p:txBody>
      </p:sp>
      <p:sp>
        <p:nvSpPr>
          <p:cNvPr id="50" name="TextBox 49"/>
          <p:cNvSpPr txBox="1"/>
          <p:nvPr/>
        </p:nvSpPr>
        <p:spPr>
          <a:xfrm>
            <a:off x="400680" y="6919171"/>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1" name="TextBox 50"/>
          <p:cNvSpPr txBox="1"/>
          <p:nvPr/>
        </p:nvSpPr>
        <p:spPr>
          <a:xfrm>
            <a:off x="2361436" y="6917281"/>
            <a:ext cx="379360" cy="143640"/>
          </a:xfrm>
          <a:prstGeom prst="rect">
            <a:avLst/>
          </a:prstGeom>
          <a:noFill/>
        </p:spPr>
        <p:txBody>
          <a:bodyPr wrap="none" lIns="0" rIns="0" tIns="0" bIns="0" anchor="t"/>
          <a:lstStyle/>
          <a:p>
            <a:pPr algn="l">
              <a:lnSpc>
                <a:spcPts val="1107"/>
              </a:lnSpc>
            </a:pPr>
            <a:r>
              <a:rPr sz="922" b="0" i="0">
                <a:solidFill>
                  <a:srgbClr val="5A82A0"/>
                </a:solidFill>
                <a:latin typeface="Versos"/>
              </a:rPr>
              <a:t>3,44%</a:t>
            </a:r>
          </a:p>
        </p:txBody>
      </p:sp>
      <p:sp>
        <p:nvSpPr>
          <p:cNvPr id="52" name="TextBox 51"/>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SAFRA</a:t>
            </a:r>
          </a:p>
        </p:txBody>
      </p:sp>
      <p:sp>
        <p:nvSpPr>
          <p:cNvPr id="53" name="TextBox 52"/>
          <p:cNvSpPr txBox="1"/>
          <p:nvPr/>
        </p:nvSpPr>
        <p:spPr>
          <a:xfrm>
            <a:off x="2347852" y="7349619"/>
            <a:ext cx="387468" cy="143640"/>
          </a:xfrm>
          <a:prstGeom prst="rect">
            <a:avLst/>
          </a:prstGeom>
          <a:noFill/>
        </p:spPr>
        <p:txBody>
          <a:bodyPr wrap="none" lIns="0" rIns="0" tIns="0" bIns="0" anchor="t"/>
          <a:lstStyle/>
          <a:p>
            <a:pPr algn="l">
              <a:lnSpc>
                <a:spcPts val="1107"/>
              </a:lnSpc>
            </a:pPr>
            <a:r>
              <a:rPr sz="922" b="0" i="0">
                <a:solidFill>
                  <a:srgbClr val="5A82A0"/>
                </a:solidFill>
                <a:latin typeface="Versos"/>
              </a:rPr>
              <a:t>3,40%</a:t>
            </a:r>
          </a:p>
        </p:txBody>
      </p:sp>
      <p:sp>
        <p:nvSpPr>
          <p:cNvPr id="54" name="TextBox 53"/>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5" name="TextBox 54"/>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6" name="TextBox 55"/>
          <p:cNvSpPr txBox="1"/>
          <p:nvPr/>
        </p:nvSpPr>
        <p:spPr>
          <a:xfrm>
            <a:off x="2960448" y="8251031"/>
            <a:ext cx="482923" cy="143640"/>
          </a:xfrm>
          <a:prstGeom prst="rect">
            <a:avLst/>
          </a:prstGeom>
          <a:noFill/>
        </p:spPr>
        <p:txBody>
          <a:bodyPr wrap="none" lIns="0" rIns="0" tIns="0" bIns="0" anchor="t"/>
          <a:lstStyle/>
          <a:p>
            <a:pPr algn="l">
              <a:lnSpc>
                <a:spcPts val="1142"/>
              </a:lnSpc>
            </a:pPr>
            <a:r>
              <a:rPr sz="952" b="0" i="0">
                <a:solidFill>
                  <a:srgbClr val="111111"/>
                </a:solidFill>
                <a:latin typeface="Versos"/>
              </a:rPr>
              <a:t>43,48%</a:t>
            </a:r>
          </a:p>
        </p:txBody>
      </p:sp>
      <p:sp>
        <p:nvSpPr>
          <p:cNvPr id="57" name="TextBox 56"/>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8" name="TextBox 57"/>
          <p:cNvSpPr txBox="1"/>
          <p:nvPr/>
        </p:nvSpPr>
        <p:spPr>
          <a:xfrm>
            <a:off x="1545075" y="8515158"/>
            <a:ext cx="412530" cy="143640"/>
          </a:xfrm>
          <a:prstGeom prst="rect">
            <a:avLst/>
          </a:prstGeom>
          <a:noFill/>
        </p:spPr>
        <p:txBody>
          <a:bodyPr wrap="none" lIns="0" rIns="0" tIns="0" bIns="0" anchor="t"/>
          <a:lstStyle/>
          <a:p>
            <a:pPr algn="l">
              <a:lnSpc>
                <a:spcPts val="1142"/>
              </a:lnSpc>
            </a:pPr>
            <a:r>
              <a:rPr sz="952" b="0" i="0">
                <a:solidFill>
                  <a:srgbClr val="111111"/>
                </a:solidFill>
                <a:latin typeface="Versos"/>
              </a:rPr>
              <a:t>11,38%</a:t>
            </a:r>
          </a:p>
        </p:txBody>
      </p:sp>
      <p:sp>
        <p:nvSpPr>
          <p:cNvPr id="59" name="TextBox 58"/>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0" name="TextBox 59"/>
          <p:cNvSpPr txBox="1"/>
          <p:nvPr/>
        </p:nvSpPr>
        <p:spPr>
          <a:xfrm>
            <a:off x="1201449" y="8779286"/>
            <a:ext cx="393979" cy="143640"/>
          </a:xfrm>
          <a:prstGeom prst="rect">
            <a:avLst/>
          </a:prstGeom>
          <a:noFill/>
        </p:spPr>
        <p:txBody>
          <a:bodyPr wrap="none" lIns="0" rIns="0" tIns="0" bIns="0" anchor="t"/>
          <a:lstStyle/>
          <a:p>
            <a:pPr algn="l">
              <a:lnSpc>
                <a:spcPts val="1142"/>
              </a:lnSpc>
            </a:pPr>
            <a:r>
              <a:rPr sz="952" b="0" i="0">
                <a:solidFill>
                  <a:srgbClr val="111111"/>
                </a:solidFill>
                <a:latin typeface="Versos"/>
              </a:rPr>
              <a:t>3,59%</a:t>
            </a:r>
          </a:p>
        </p:txBody>
      </p:sp>
      <p:sp>
        <p:nvSpPr>
          <p:cNvPr id="61" name="TextBox 60"/>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2" name="TextBox 61"/>
          <p:cNvSpPr txBox="1"/>
          <p:nvPr/>
        </p:nvSpPr>
        <p:spPr>
          <a:xfrm>
            <a:off x="1179832" y="9043413"/>
            <a:ext cx="357616" cy="143640"/>
          </a:xfrm>
          <a:prstGeom prst="rect">
            <a:avLst/>
          </a:prstGeom>
          <a:noFill/>
        </p:spPr>
        <p:txBody>
          <a:bodyPr wrap="none" lIns="0" rIns="0" tIns="0" bIns="0" anchor="t"/>
          <a:lstStyle/>
          <a:p>
            <a:pPr algn="l">
              <a:lnSpc>
                <a:spcPts val="1142"/>
              </a:lnSpc>
            </a:pPr>
            <a:r>
              <a:rPr sz="952" b="0" i="0">
                <a:solidFill>
                  <a:srgbClr val="111111"/>
                </a:solidFill>
                <a:latin typeface="Versos"/>
              </a:rPr>
              <a:t>3,10%</a:t>
            </a:r>
          </a:p>
        </p:txBody>
      </p:sp>
      <p:sp>
        <p:nvSpPr>
          <p:cNvPr id="63" name="TextBox 62"/>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4" name="TextBox 63"/>
          <p:cNvSpPr txBox="1"/>
          <p:nvPr/>
        </p:nvSpPr>
        <p:spPr>
          <a:xfrm>
            <a:off x="1142623" y="9307541"/>
            <a:ext cx="385626" cy="143640"/>
          </a:xfrm>
          <a:prstGeom prst="rect">
            <a:avLst/>
          </a:prstGeom>
          <a:noFill/>
        </p:spPr>
        <p:txBody>
          <a:bodyPr wrap="none" lIns="0" rIns="0" tIns="0" bIns="0" anchor="t"/>
          <a:lstStyle/>
          <a:p>
            <a:pPr algn="l">
              <a:lnSpc>
                <a:spcPts val="1142"/>
              </a:lnSpc>
            </a:pPr>
            <a:r>
              <a:rPr sz="952" b="0" i="0">
                <a:solidFill>
                  <a:srgbClr val="111111"/>
                </a:solidFill>
                <a:latin typeface="Versos"/>
              </a:rPr>
              <a:t>2,25%</a:t>
            </a:r>
          </a:p>
        </p:txBody>
      </p:sp>
      <p:sp>
        <p:nvSpPr>
          <p:cNvPr id="65" name="TextBox 64"/>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6" name="TextBox 65"/>
          <p:cNvSpPr txBox="1"/>
          <p:nvPr/>
        </p:nvSpPr>
        <p:spPr>
          <a:xfrm>
            <a:off x="1142150" y="9571668"/>
            <a:ext cx="382186" cy="143640"/>
          </a:xfrm>
          <a:prstGeom prst="rect">
            <a:avLst/>
          </a:prstGeom>
          <a:noFill/>
        </p:spPr>
        <p:txBody>
          <a:bodyPr wrap="none" lIns="0" rIns="0" tIns="0" bIns="0" anchor="t"/>
          <a:lstStyle/>
          <a:p>
            <a:pPr algn="l">
              <a:lnSpc>
                <a:spcPts val="1142"/>
              </a:lnSpc>
            </a:pPr>
            <a:r>
              <a:rPr sz="952" b="0" i="0">
                <a:solidFill>
                  <a:srgbClr val="111111"/>
                </a:solidFill>
                <a:latin typeface="Versos"/>
              </a:rPr>
              <a:t>2,24%</a:t>
            </a:r>
          </a:p>
        </p:txBody>
      </p:sp>
      <p:sp>
        <p:nvSpPr>
          <p:cNvPr id="67" name="TextBox 66"/>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8" name="TextBox 67"/>
          <p:cNvSpPr txBox="1"/>
          <p:nvPr/>
        </p:nvSpPr>
        <p:spPr>
          <a:xfrm>
            <a:off x="1068913" y="9835796"/>
            <a:ext cx="397788" cy="143640"/>
          </a:xfrm>
          <a:prstGeom prst="rect">
            <a:avLst/>
          </a:prstGeom>
          <a:noFill/>
        </p:spPr>
        <p:txBody>
          <a:bodyPr wrap="none" lIns="0" rIns="0" tIns="0" bIns="0" anchor="t"/>
          <a:lstStyle/>
          <a:p>
            <a:pPr algn="l">
              <a:lnSpc>
                <a:spcPts val="1142"/>
              </a:lnSpc>
            </a:pPr>
            <a:r>
              <a:rPr sz="952" b="0" i="0">
                <a:solidFill>
                  <a:srgbClr val="111111"/>
                </a:solidFill>
                <a:latin typeface="Versos"/>
              </a:rPr>
              <a:t>0,58%</a:t>
            </a:r>
          </a:p>
        </p:txBody>
      </p:sp>
      <p:sp>
        <p:nvSpPr>
          <p:cNvPr id="69" name="TextBox 68"/>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70" name="TextBox 69"/>
          <p:cNvSpPr txBox="1"/>
          <p:nvPr/>
        </p:nvSpPr>
        <p:spPr>
          <a:xfrm>
            <a:off x="3802680" y="553203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1" name="TextBox 70"/>
          <p:cNvSpPr txBox="1"/>
          <p:nvPr/>
        </p:nvSpPr>
        <p:spPr>
          <a:xfrm>
            <a:off x="6752497" y="5524233"/>
            <a:ext cx="474692" cy="143640"/>
          </a:xfrm>
          <a:prstGeom prst="rect">
            <a:avLst/>
          </a:prstGeom>
          <a:noFill/>
        </p:spPr>
        <p:txBody>
          <a:bodyPr wrap="none" lIns="0" rIns="0" tIns="0" bIns="0" anchor="t"/>
          <a:lstStyle/>
          <a:p>
            <a:pPr algn="l">
              <a:lnSpc>
                <a:spcPts val="1142"/>
              </a:lnSpc>
            </a:pPr>
            <a:r>
              <a:rPr sz="952" b="0" i="0">
                <a:solidFill>
                  <a:srgbClr val="111111"/>
                </a:solidFill>
                <a:latin typeface="Versos"/>
              </a:rPr>
              <a:t>45,05%</a:t>
            </a:r>
          </a:p>
        </p:txBody>
      </p:sp>
      <p:sp>
        <p:nvSpPr>
          <p:cNvPr id="72" name="TextBox 71"/>
          <p:cNvSpPr txBox="1"/>
          <p:nvPr/>
        </p:nvSpPr>
        <p:spPr>
          <a:xfrm>
            <a:off x="3802680" y="57721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3" name="TextBox 72"/>
          <p:cNvSpPr txBox="1"/>
          <p:nvPr/>
        </p:nvSpPr>
        <p:spPr>
          <a:xfrm>
            <a:off x="6314962" y="5764500"/>
            <a:ext cx="472972" cy="143640"/>
          </a:xfrm>
          <a:prstGeom prst="rect">
            <a:avLst/>
          </a:prstGeom>
          <a:noFill/>
        </p:spPr>
        <p:txBody>
          <a:bodyPr wrap="none" lIns="0" rIns="0" tIns="0" bIns="0" anchor="t"/>
          <a:lstStyle/>
          <a:p>
            <a:pPr algn="l">
              <a:lnSpc>
                <a:spcPts val="1142"/>
              </a:lnSpc>
            </a:pPr>
            <a:r>
              <a:rPr sz="952" b="0" i="0">
                <a:solidFill>
                  <a:srgbClr val="111111"/>
                </a:solidFill>
                <a:latin typeface="Versos"/>
              </a:rPr>
              <a:t>29,46%</a:t>
            </a:r>
          </a:p>
        </p:txBody>
      </p:sp>
      <p:sp>
        <p:nvSpPr>
          <p:cNvPr id="74" name="TextBox 73"/>
          <p:cNvSpPr txBox="1"/>
          <p:nvPr/>
        </p:nvSpPr>
        <p:spPr>
          <a:xfrm>
            <a:off x="3802680" y="601244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5" name="TextBox 74"/>
          <p:cNvSpPr txBox="1"/>
          <p:nvPr/>
        </p:nvSpPr>
        <p:spPr>
          <a:xfrm>
            <a:off x="5656415" y="6004648"/>
            <a:ext cx="395454" cy="143640"/>
          </a:xfrm>
          <a:prstGeom prst="rect">
            <a:avLst/>
          </a:prstGeom>
          <a:noFill/>
        </p:spPr>
        <p:txBody>
          <a:bodyPr wrap="none" lIns="0" rIns="0" tIns="0" bIns="0" anchor="t"/>
          <a:lstStyle/>
          <a:p>
            <a:pPr algn="l">
              <a:lnSpc>
                <a:spcPts val="1142"/>
              </a:lnSpc>
            </a:pPr>
            <a:r>
              <a:rPr sz="952" b="0" i="0">
                <a:solidFill>
                  <a:srgbClr val="111111"/>
                </a:solidFill>
                <a:latin typeface="Versos"/>
              </a:rPr>
              <a:t>5,99%</a:t>
            </a:r>
          </a:p>
        </p:txBody>
      </p:sp>
      <p:sp>
        <p:nvSpPr>
          <p:cNvPr id="76" name="TextBox 75"/>
          <p:cNvSpPr txBox="1"/>
          <p:nvPr/>
        </p:nvSpPr>
        <p:spPr>
          <a:xfrm>
            <a:off x="3802680" y="625259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7" name="TextBox 76"/>
          <p:cNvSpPr txBox="1"/>
          <p:nvPr/>
        </p:nvSpPr>
        <p:spPr>
          <a:xfrm>
            <a:off x="5645193" y="6244914"/>
            <a:ext cx="394717" cy="143640"/>
          </a:xfrm>
          <a:prstGeom prst="rect">
            <a:avLst/>
          </a:prstGeom>
          <a:noFill/>
        </p:spPr>
        <p:txBody>
          <a:bodyPr wrap="none" lIns="0" rIns="0" tIns="0" bIns="0" anchor="t"/>
          <a:lstStyle/>
          <a:p>
            <a:pPr algn="l">
              <a:lnSpc>
                <a:spcPts val="1142"/>
              </a:lnSpc>
            </a:pPr>
            <a:r>
              <a:rPr sz="952" b="0" i="0">
                <a:solidFill>
                  <a:srgbClr val="111111"/>
                </a:solidFill>
                <a:latin typeface="Versos"/>
              </a:rPr>
              <a:t>5,58%</a:t>
            </a:r>
          </a:p>
        </p:txBody>
      </p:sp>
      <p:sp>
        <p:nvSpPr>
          <p:cNvPr id="78" name="TextBox 77"/>
          <p:cNvSpPr txBox="1"/>
          <p:nvPr/>
        </p:nvSpPr>
        <p:spPr>
          <a:xfrm>
            <a:off x="3802680" y="649285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9" name="TextBox 78"/>
          <p:cNvSpPr txBox="1"/>
          <p:nvPr/>
        </p:nvSpPr>
        <p:spPr>
          <a:xfrm>
            <a:off x="5566995" y="6485062"/>
            <a:ext cx="399262" cy="143640"/>
          </a:xfrm>
          <a:prstGeom prst="rect">
            <a:avLst/>
          </a:prstGeom>
          <a:noFill/>
        </p:spPr>
        <p:txBody>
          <a:bodyPr wrap="none" lIns="0" rIns="0" tIns="0" bIns="0" anchor="t"/>
          <a:lstStyle/>
          <a:p>
            <a:pPr algn="l">
              <a:lnSpc>
                <a:spcPts val="1142"/>
              </a:lnSpc>
            </a:pPr>
            <a:r>
              <a:rPr sz="952" b="0" i="0">
                <a:solidFill>
                  <a:srgbClr val="111111"/>
                </a:solidFill>
                <a:latin typeface="Versos"/>
              </a:rPr>
              <a:t>2,80%</a:t>
            </a:r>
          </a:p>
        </p:txBody>
      </p:sp>
      <p:sp>
        <p:nvSpPr>
          <p:cNvPr id="80" name="TextBox 79"/>
          <p:cNvSpPr txBox="1"/>
          <p:nvPr/>
        </p:nvSpPr>
        <p:spPr>
          <a:xfrm>
            <a:off x="3802680" y="67330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1" name="TextBox 80"/>
          <p:cNvSpPr txBox="1"/>
          <p:nvPr/>
        </p:nvSpPr>
        <p:spPr>
          <a:xfrm>
            <a:off x="5548095" y="6725328"/>
            <a:ext cx="349262" cy="143640"/>
          </a:xfrm>
          <a:prstGeom prst="rect">
            <a:avLst/>
          </a:prstGeom>
          <a:noFill/>
        </p:spPr>
        <p:txBody>
          <a:bodyPr wrap="none" lIns="0" rIns="0" tIns="0" bIns="0" anchor="t"/>
          <a:lstStyle/>
          <a:p>
            <a:pPr algn="l">
              <a:lnSpc>
                <a:spcPts val="1142"/>
              </a:lnSpc>
            </a:pPr>
            <a:r>
              <a:rPr sz="952" b="0" i="0">
                <a:solidFill>
                  <a:srgbClr val="111111"/>
                </a:solidFill>
                <a:latin typeface="Versos"/>
              </a:rPr>
              <a:t>2,12%</a:t>
            </a:r>
          </a:p>
        </p:txBody>
      </p:sp>
      <p:sp>
        <p:nvSpPr>
          <p:cNvPr id="82" name="TextBox 81"/>
          <p:cNvSpPr txBox="1"/>
          <p:nvPr/>
        </p:nvSpPr>
        <p:spPr>
          <a:xfrm>
            <a:off x="3802680" y="6973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3" name="TextBox 82"/>
          <p:cNvSpPr txBox="1"/>
          <p:nvPr/>
        </p:nvSpPr>
        <p:spPr>
          <a:xfrm>
            <a:off x="5535455" y="6965476"/>
            <a:ext cx="364618" cy="143640"/>
          </a:xfrm>
          <a:prstGeom prst="rect">
            <a:avLst/>
          </a:prstGeom>
          <a:noFill/>
        </p:spPr>
        <p:txBody>
          <a:bodyPr wrap="none" lIns="0" rIns="0" tIns="0" bIns="0" anchor="t"/>
          <a:lstStyle/>
          <a:p>
            <a:pPr algn="l">
              <a:lnSpc>
                <a:spcPts val="1142"/>
              </a:lnSpc>
            </a:pPr>
            <a:r>
              <a:rPr sz="952" b="0" i="0">
                <a:solidFill>
                  <a:srgbClr val="111111"/>
                </a:solidFill>
                <a:latin typeface="Versos"/>
              </a:rPr>
              <a:t>1,68%</a:t>
            </a:r>
          </a:p>
        </p:txBody>
      </p:sp>
      <p:sp>
        <p:nvSpPr>
          <p:cNvPr id="84" name="TextBox 83"/>
          <p:cNvSpPr txBox="1"/>
          <p:nvPr/>
        </p:nvSpPr>
        <p:spPr>
          <a:xfrm>
            <a:off x="3802680" y="7156957"/>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5" name="TextBox 84"/>
          <p:cNvSpPr txBox="1"/>
          <p:nvPr/>
        </p:nvSpPr>
        <p:spPr>
          <a:xfrm>
            <a:off x="5523406" y="7205743"/>
            <a:ext cx="352088" cy="143640"/>
          </a:xfrm>
          <a:prstGeom prst="rect">
            <a:avLst/>
          </a:prstGeom>
          <a:noFill/>
        </p:spPr>
        <p:txBody>
          <a:bodyPr wrap="none" lIns="0" rIns="0" tIns="0" bIns="0" anchor="t"/>
          <a:lstStyle/>
          <a:p>
            <a:pPr algn="l">
              <a:lnSpc>
                <a:spcPts val="1142"/>
              </a:lnSpc>
            </a:pPr>
            <a:r>
              <a:rPr sz="952" b="0" i="0">
                <a:solidFill>
                  <a:srgbClr val="111111"/>
                </a:solidFill>
                <a:latin typeface="Versos"/>
              </a:rPr>
              <a:t>1,24%</a:t>
            </a:r>
          </a:p>
        </p:txBody>
      </p:sp>
      <p:sp>
        <p:nvSpPr>
          <p:cNvPr id="86" name="TextBox 85"/>
          <p:cNvSpPr txBox="1"/>
          <p:nvPr/>
        </p:nvSpPr>
        <p:spPr>
          <a:xfrm>
            <a:off x="3802680" y="745368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7" name="TextBox 86"/>
          <p:cNvSpPr txBox="1"/>
          <p:nvPr/>
        </p:nvSpPr>
        <p:spPr>
          <a:xfrm>
            <a:off x="5519272" y="7445891"/>
            <a:ext cx="326535" cy="143640"/>
          </a:xfrm>
          <a:prstGeom prst="rect">
            <a:avLst/>
          </a:prstGeom>
          <a:noFill/>
        </p:spPr>
        <p:txBody>
          <a:bodyPr wrap="none" lIns="0" rIns="0" tIns="0" bIns="0" anchor="t"/>
          <a:lstStyle/>
          <a:p>
            <a:pPr algn="l">
              <a:lnSpc>
                <a:spcPts val="1142"/>
              </a:lnSpc>
            </a:pPr>
            <a:r>
              <a:rPr sz="952" b="0" i="0">
                <a:solidFill>
                  <a:srgbClr val="111111"/>
                </a:solidFill>
                <a:latin typeface="Versos"/>
              </a:rPr>
              <a:t>1,10%</a:t>
            </a:r>
          </a:p>
        </p:txBody>
      </p:sp>
      <p:sp>
        <p:nvSpPr>
          <p:cNvPr id="88" name="TextBox 87"/>
          <p:cNvSpPr txBox="1"/>
          <p:nvPr/>
        </p:nvSpPr>
        <p:spPr>
          <a:xfrm>
            <a:off x="3802680" y="769383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9" name="TextBox 88"/>
          <p:cNvSpPr txBox="1"/>
          <p:nvPr/>
        </p:nvSpPr>
        <p:spPr>
          <a:xfrm>
            <a:off x="5519036" y="7686157"/>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1,09%</a:t>
            </a:r>
          </a:p>
        </p:txBody>
      </p:sp>
      <p:sp>
        <p:nvSpPr>
          <p:cNvPr id="90" name="TextBox 89"/>
          <p:cNvSpPr txBox="1"/>
          <p:nvPr/>
        </p:nvSpPr>
        <p:spPr>
          <a:xfrm>
            <a:off x="3802680" y="793410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91" name="TextBox 90"/>
          <p:cNvSpPr txBox="1"/>
          <p:nvPr/>
        </p:nvSpPr>
        <p:spPr>
          <a:xfrm>
            <a:off x="5518800" y="7926305"/>
            <a:ext cx="367198" cy="143640"/>
          </a:xfrm>
          <a:prstGeom prst="rect">
            <a:avLst/>
          </a:prstGeom>
          <a:noFill/>
        </p:spPr>
        <p:txBody>
          <a:bodyPr wrap="none" lIns="0" rIns="0" tIns="0" bIns="0" anchor="t"/>
          <a:lstStyle/>
          <a:p>
            <a:pPr algn="l">
              <a:lnSpc>
                <a:spcPts val="1142"/>
              </a:lnSpc>
            </a:pPr>
            <a:r>
              <a:rPr sz="952" b="0" i="0">
                <a:solidFill>
                  <a:srgbClr val="111111"/>
                </a:solidFill>
                <a:latin typeface="Versos"/>
              </a:rPr>
              <a:t>1,08%</a:t>
            </a:r>
          </a:p>
        </p:txBody>
      </p:sp>
      <p:sp>
        <p:nvSpPr>
          <p:cNvPr id="92" name="TextBox 91"/>
          <p:cNvSpPr txBox="1"/>
          <p:nvPr/>
        </p:nvSpPr>
        <p:spPr>
          <a:xfrm>
            <a:off x="3802680" y="81742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3" name="TextBox 92"/>
          <p:cNvSpPr txBox="1"/>
          <p:nvPr/>
        </p:nvSpPr>
        <p:spPr>
          <a:xfrm>
            <a:off x="5508523" y="8166571"/>
            <a:ext cx="383169" cy="143640"/>
          </a:xfrm>
          <a:prstGeom prst="rect">
            <a:avLst/>
          </a:prstGeom>
          <a:noFill/>
        </p:spPr>
        <p:txBody>
          <a:bodyPr wrap="none" lIns="0" rIns="0" tIns="0" bIns="0" anchor="t"/>
          <a:lstStyle/>
          <a:p>
            <a:pPr algn="l">
              <a:lnSpc>
                <a:spcPts val="1142"/>
              </a:lnSpc>
            </a:pPr>
            <a:r>
              <a:rPr sz="952" b="0" i="0">
                <a:solidFill>
                  <a:srgbClr val="111111"/>
                </a:solidFill>
                <a:latin typeface="Versos"/>
              </a:rPr>
              <a:t>0,72%</a:t>
            </a:r>
          </a:p>
        </p:txBody>
      </p:sp>
      <p:sp>
        <p:nvSpPr>
          <p:cNvPr id="94" name="TextBox 93"/>
          <p:cNvSpPr txBox="1"/>
          <p:nvPr/>
        </p:nvSpPr>
        <p:spPr>
          <a:xfrm>
            <a:off x="3802680" y="84145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5" name="TextBox 94"/>
          <p:cNvSpPr txBox="1"/>
          <p:nvPr/>
        </p:nvSpPr>
        <p:spPr>
          <a:xfrm>
            <a:off x="5507814" y="8406720"/>
            <a:ext cx="398648" cy="143640"/>
          </a:xfrm>
          <a:prstGeom prst="rect">
            <a:avLst/>
          </a:prstGeom>
          <a:noFill/>
        </p:spPr>
        <p:txBody>
          <a:bodyPr wrap="none" lIns="0" rIns="0" tIns="0" bIns="0" anchor="t"/>
          <a:lstStyle/>
          <a:p>
            <a:pPr algn="l">
              <a:lnSpc>
                <a:spcPts val="1142"/>
              </a:lnSpc>
            </a:pPr>
            <a:r>
              <a:rPr sz="952" b="0" i="0">
                <a:solidFill>
                  <a:srgbClr val="111111"/>
                </a:solidFill>
                <a:latin typeface="Versos"/>
              </a:rPr>
              <a:t>0,69%</a:t>
            </a:r>
          </a:p>
        </p:txBody>
      </p:sp>
      <p:sp>
        <p:nvSpPr>
          <p:cNvPr id="96" name="TextBox 95"/>
          <p:cNvSpPr txBox="1"/>
          <p:nvPr/>
        </p:nvSpPr>
        <p:spPr>
          <a:xfrm>
            <a:off x="3802680" y="865466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a:t>
            </a:r>
          </a:p>
        </p:txBody>
      </p:sp>
      <p:sp>
        <p:nvSpPr>
          <p:cNvPr id="97" name="TextBox 96"/>
          <p:cNvSpPr txBox="1"/>
          <p:nvPr/>
        </p:nvSpPr>
        <p:spPr>
          <a:xfrm>
            <a:off x="5501199" y="8646986"/>
            <a:ext cx="394594" cy="143640"/>
          </a:xfrm>
          <a:prstGeom prst="rect">
            <a:avLst/>
          </a:prstGeom>
          <a:noFill/>
        </p:spPr>
        <p:txBody>
          <a:bodyPr wrap="none" lIns="0" rIns="0" tIns="0" bIns="0" anchor="t"/>
          <a:lstStyle/>
          <a:p>
            <a:pPr algn="l">
              <a:lnSpc>
                <a:spcPts val="1142"/>
              </a:lnSpc>
            </a:pPr>
            <a:r>
              <a:rPr sz="952" b="0" i="0">
                <a:solidFill>
                  <a:srgbClr val="111111"/>
                </a:solidFill>
                <a:latin typeface="Versos"/>
              </a:rPr>
              <a:t>0,45%</a:t>
            </a:r>
          </a:p>
        </p:txBody>
      </p:sp>
      <p:sp>
        <p:nvSpPr>
          <p:cNvPr id="98" name="TextBox 97"/>
          <p:cNvSpPr txBox="1"/>
          <p:nvPr/>
        </p:nvSpPr>
        <p:spPr>
          <a:xfrm>
            <a:off x="3802680" y="8838348"/>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99" name="TextBox 98"/>
          <p:cNvSpPr txBox="1"/>
          <p:nvPr/>
        </p:nvSpPr>
        <p:spPr>
          <a:xfrm>
            <a:off x="5500372" y="8887134"/>
            <a:ext cx="395331" cy="143640"/>
          </a:xfrm>
          <a:prstGeom prst="rect">
            <a:avLst/>
          </a:prstGeom>
          <a:noFill/>
        </p:spPr>
        <p:txBody>
          <a:bodyPr wrap="none" lIns="0" rIns="0" tIns="0" bIns="0" anchor="t"/>
          <a:lstStyle/>
          <a:p>
            <a:pPr algn="l">
              <a:lnSpc>
                <a:spcPts val="1142"/>
              </a:lnSpc>
            </a:pPr>
            <a:r>
              <a:rPr sz="952" b="0" i="0">
                <a:solidFill>
                  <a:srgbClr val="111111"/>
                </a:solidFill>
                <a:latin typeface="Versos"/>
              </a:rPr>
              <a:t>0,42%</a:t>
            </a:r>
          </a:p>
        </p:txBody>
      </p:sp>
      <p:sp>
        <p:nvSpPr>
          <p:cNvPr id="100" name="TextBox 99"/>
          <p:cNvSpPr txBox="1"/>
          <p:nvPr/>
        </p:nvSpPr>
        <p:spPr>
          <a:xfrm>
            <a:off x="3802680" y="91350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1" name="TextBox 100"/>
          <p:cNvSpPr txBox="1"/>
          <p:nvPr/>
        </p:nvSpPr>
        <p:spPr>
          <a:xfrm>
            <a:off x="5498010" y="9127282"/>
            <a:ext cx="401473" cy="143640"/>
          </a:xfrm>
          <a:prstGeom prst="rect">
            <a:avLst/>
          </a:prstGeom>
          <a:noFill/>
        </p:spPr>
        <p:txBody>
          <a:bodyPr wrap="none" lIns="0" rIns="0" tIns="0" bIns="0" anchor="t"/>
          <a:lstStyle/>
          <a:p>
            <a:pPr algn="l">
              <a:lnSpc>
                <a:spcPts val="1142"/>
              </a:lnSpc>
            </a:pPr>
            <a:r>
              <a:rPr sz="952" b="0" i="0">
                <a:solidFill>
                  <a:srgbClr val="111111"/>
                </a:solidFill>
                <a:latin typeface="Versos"/>
              </a:rPr>
              <a:t>0,30%</a:t>
            </a:r>
          </a:p>
        </p:txBody>
      </p:sp>
      <p:sp>
        <p:nvSpPr>
          <p:cNvPr id="102" name="TextBox 101"/>
          <p:cNvSpPr txBox="1"/>
          <p:nvPr/>
        </p:nvSpPr>
        <p:spPr>
          <a:xfrm>
            <a:off x="3802680" y="937522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3" name="TextBox 102"/>
          <p:cNvSpPr txBox="1"/>
          <p:nvPr/>
        </p:nvSpPr>
        <p:spPr>
          <a:xfrm>
            <a:off x="5498010" y="9367430"/>
            <a:ext cx="350859" cy="143640"/>
          </a:xfrm>
          <a:prstGeom prst="rect">
            <a:avLst/>
          </a:prstGeom>
          <a:noFill/>
        </p:spPr>
        <p:txBody>
          <a:bodyPr wrap="none" lIns="0" rIns="0" tIns="0" bIns="0" anchor="t"/>
          <a:lstStyle/>
          <a:p>
            <a:pPr algn="l">
              <a:lnSpc>
                <a:spcPts val="1142"/>
              </a:lnSpc>
            </a:pPr>
            <a:r>
              <a:rPr sz="952" b="0" i="0">
                <a:solidFill>
                  <a:srgbClr val="111111"/>
                </a:solidFill>
                <a:latin typeface="Versos"/>
              </a:rPr>
              <a:t>0,15%</a:t>
            </a:r>
          </a:p>
        </p:txBody>
      </p:sp>
      <p:sp>
        <p:nvSpPr>
          <p:cNvPr id="104" name="TextBox 103"/>
          <p:cNvSpPr txBox="1"/>
          <p:nvPr/>
        </p:nvSpPr>
        <p:spPr>
          <a:xfrm>
            <a:off x="3802680" y="96153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5" name="TextBox 104"/>
          <p:cNvSpPr txBox="1"/>
          <p:nvPr/>
        </p:nvSpPr>
        <p:spPr>
          <a:xfrm>
            <a:off x="5498010" y="9607578"/>
            <a:ext cx="321498" cy="143640"/>
          </a:xfrm>
          <a:prstGeom prst="rect">
            <a:avLst/>
          </a:prstGeom>
          <a:noFill/>
        </p:spPr>
        <p:txBody>
          <a:bodyPr wrap="none" lIns="0" rIns="0" tIns="0" bIns="0" anchor="t"/>
          <a:lstStyle/>
          <a:p>
            <a:pPr algn="l">
              <a:lnSpc>
                <a:spcPts val="1142"/>
              </a:lnSpc>
            </a:pPr>
            <a:r>
              <a:rPr sz="952" b="0" i="0">
                <a:solidFill>
                  <a:srgbClr val="111111"/>
                </a:solidFill>
                <a:latin typeface="Versos"/>
              </a:rPr>
              <a:t>0,11%</a:t>
            </a:r>
          </a:p>
        </p:txBody>
      </p:sp>
      <p:sp>
        <p:nvSpPr>
          <p:cNvPr id="106" name="TextBox 105"/>
          <p:cNvSpPr txBox="1"/>
          <p:nvPr/>
        </p:nvSpPr>
        <p:spPr>
          <a:xfrm>
            <a:off x="3802680" y="985552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7" name="TextBox 106"/>
          <p:cNvSpPr txBox="1"/>
          <p:nvPr/>
        </p:nvSpPr>
        <p:spPr>
          <a:xfrm>
            <a:off x="5498010" y="9847726"/>
            <a:ext cx="403562" cy="143640"/>
          </a:xfrm>
          <a:prstGeom prst="rect">
            <a:avLst/>
          </a:prstGeom>
          <a:noFill/>
        </p:spPr>
        <p:txBody>
          <a:bodyPr wrap="none" lIns="0" rIns="0" tIns="0" bIns="0" anchor="t"/>
          <a:lstStyle/>
          <a:p>
            <a:pPr algn="l">
              <a:lnSpc>
                <a:spcPts val="1142"/>
              </a:lnSpc>
            </a:pPr>
            <a:r>
              <a:rPr sz="952" b="0" i="0">
                <a:solidFill>
                  <a:srgbClr val="111111"/>
                </a:solidFill>
                <a:latin typeface="Versos"/>
              </a:rPr>
              <a:t>0,00%</a:t>
            </a:r>
          </a:p>
        </p:txBody>
      </p:sp>
      <p:sp>
        <p:nvSpPr>
          <p:cNvPr id="108" name="TextBox 107"/>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6" name="TextBox 5"/>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7" name="TextBox 6"/>
          <p:cNvSpPr txBox="1"/>
          <p:nvPr/>
        </p:nvSpPr>
        <p:spPr>
          <a:xfrm>
            <a:off x="529200" y="5216518"/>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p:txBody>
      </p:sp>
      <p:sp>
        <p:nvSpPr>
          <p:cNvPr id="8" name="TextBox 7"/>
          <p:cNvSpPr txBox="1"/>
          <p:nvPr/>
        </p:nvSpPr>
        <p:spPr>
          <a:xfrm>
            <a:off x="529200" y="6086036"/>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p:txBody>
      </p:sp>
      <p:sp>
        <p:nvSpPr>
          <p:cNvPr id="9" name="TextBox 8"/>
          <p:cNvSpPr txBox="1"/>
          <p:nvPr/>
        </p:nvSpPr>
        <p:spPr>
          <a:xfrm>
            <a:off x="529200" y="7145381"/>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p:txBody>
      </p:sp>
      <p:sp>
        <p:nvSpPr>
          <p:cNvPr id="10" name="TextBox 9"/>
          <p:cNvSpPr txBox="1"/>
          <p:nvPr/>
        </p:nvSpPr>
        <p:spPr>
          <a:xfrm>
            <a:off x="529200" y="8014899"/>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p:txBody>
      </p:sp>
      <p:sp>
        <p:nvSpPr>
          <p:cNvPr id="11" name="TextBox 10"/>
          <p:cNvSpPr txBox="1"/>
          <p:nvPr/>
        </p:nvSpPr>
        <p:spPr>
          <a:xfrm>
            <a:off x="529200" y="9074244"/>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Nesse cenário, o Tivio BVP apresentou rentabilidade de 1,06% no mês (98% do CDI), acumulando 10,55% (100% do CDI) no ano. Na parcela de corporativos, os maiores atribuidores de resultado foram para Tupy e Randon, enquanto Hapvida foi o maior detrator.</a:t>
            </a:r>
          </a:p>
        </p:txBody>
      </p:sp>
      <p:sp>
        <p:nvSpPr>
          <p:cNvPr id="12" name="TextBox 11"/>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6" name="TextBox 5"/>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7" name="TextBox 6"/>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8" name="TextBox 7"/>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9" name="TextBox 8"/>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10" name="TextBox 9"/>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1" name="TextBox 10"/>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2" name="TextBox 11"/>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3" name="TextBox 12"/>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4" name="TextBox 13"/>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5" name="TextBox 14"/>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6" name="TextBox 15"/>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7" name="TextBox 16"/>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8" name="TextBox 17"/>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9" name="TextBox 18"/>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20" name="TextBox 19"/>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1" name="TextBox 20"/>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2" name="TextBox 21"/>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3" name="TextBox 22"/>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4" name="TextBox 23"/>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5" name="TextBox 24"/>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6" name="TextBox 25"/>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7" name="TextBox 26"/>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8" name="TextBox 27"/>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30" name="TextBox 29"/>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1" name="TextBox 30"/>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2" name="TextBox 31"/>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3" name="TextBox 32"/>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4" name="TextBox 33"/>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5" name="TextBox 34"/>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6" name="TextBox 35"/>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7" name="TextBox 36"/>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8" name="TextBox 37"/>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9" name="TextBox 38"/>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40" name="TextBox 39"/>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1" name="TextBox 40"/>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2" name="TextBox 41"/>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3" name="TextBox 42"/>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4" name="TextBox 43"/>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5" name="TextBox 44"/>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6" name="TextBox 45"/>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7" name="TextBox 46"/>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8" name="TextBox 47"/>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9" name="TextBox 48"/>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50" name="TextBox 49"/>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1" name="TextBox 50"/>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2" name="TextBox 51"/>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3" name="TextBox 52"/>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4" name="TextBox 53"/>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5" name="TextBox 54"/>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6" name="TextBox 55"/>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7" name="TextBox 56"/>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8" name="TextBox 57"/>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9" name="TextBox 58"/>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60" name="TextBox 59"/>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1" name="TextBox 60"/>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2" name="TextBox 61"/>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3" name="TextBox 62"/>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4" name="TextBox 63"/>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5" name="TextBox 64"/>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6" name="TextBox 65"/>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7" name="TextBox 66"/>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8" name="TextBox 67"/>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9" name="TextBox 68"/>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70" name="TextBox 69"/>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1" name="TextBox 70"/>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2" name="TextBox 71"/>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3" name="TextBox 72"/>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4" name="TextBox 73"/>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5" name="TextBox 74"/>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6" name="TextBox 75"/>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7" name="TextBox 76"/>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8" name="TextBox 77"/>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9" name="TextBox 78"/>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80" name="TextBox 79"/>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1" name="TextBox 80"/>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2" name="TextBox 81"/>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3" name="TextBox 82"/>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4" name="TextBox 83"/>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6" name="TextBox 85"/>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7" name="TextBox 86"/>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8" name="TextBox 87"/>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9" name="TextBox 88"/>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90" name="TextBox 89"/>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1" name="TextBox 90"/>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3" name="TextBox 92"/>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4" name="TextBox 93"/>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5" name="TextBox 94"/>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6" name="TextBox 95"/>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7" name="TextBox 96"/>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8" name="TextBox 97"/>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9" name="TextBox 98"/>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100" name="TextBox 99"/>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1" name="TextBox 100"/>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2" name="TextBox 101"/>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3" name="TextBox 102"/>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4" name="TextBox 103"/>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5" name="TextBox 104"/>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6" name="TextBox 105"/>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7" name="TextBox 106"/>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8" name="TextBox 107"/>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9" name="TextBox 108"/>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10" name="TextBox 109"/>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1" name="TextBox 110"/>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2" name="TextBox 111"/>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3" name="TextBox 112"/>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4" name="TextBox 113"/>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5" name="TextBox 114"/>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6" name="TextBox 115"/>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7" name="TextBox 116"/>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8" name="TextBox 117"/>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9" name="TextBox 118"/>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20" name="TextBox 119"/>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1" name="TextBox 120"/>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2" name="TextBox 121"/>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3" name="TextBox 122"/>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4" name="TextBox 123"/>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5" name="TextBox 124"/>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6" name="TextBox 125"/>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7" name="TextBox 126"/>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8" name="TextBox 127"/>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9" name="TextBox 128"/>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30" name="TextBox 129"/>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1" name="TextBox 130"/>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2" name="TextBox 131"/>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3" name="TextBox 132"/>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5" name="TextBox 134"/>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6" name="TextBox 135"/>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7" name="TextBox 136"/>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8" name="TextBox 137"/>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9" name="TextBox 138"/>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40" name="TextBox 139"/>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1" name="TextBox 140"/>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2" name="TextBox 141"/>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3" name="TextBox 142"/>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4" name="TextBox 143"/>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5" name="TextBox 144"/>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6" name="TextBox 145"/>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7" name="TextBox 146"/>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8" name="TextBox 147"/>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9" name="TextBox 148"/>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50" name="TextBox 149"/>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1" name="TextBox 150"/>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2" name="TextBox 151"/>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3" name="TextBox 152"/>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4" name="TextBox 153"/>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6" name="TextBox 155"/>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7" name="TextBox 156"/>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8" name="TextBox 157"/>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9" name="TextBox 158"/>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60" name="TextBox 159"/>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1" name="TextBox 160"/>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2" name="TextBox 161"/>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3" name="TextBox 162"/>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4" name="TextBox 163"/>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5" name="TextBox 164"/>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6" name="TextBox 165"/>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7" name="TextBox 166"/>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8" name="TextBox 167"/>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9" name="TextBox 168"/>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70" name="TextBox 169"/>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1" name="TextBox 170"/>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2" name="TextBox 171"/>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3" name="TextBox 172"/>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4" name="TextBox 173"/>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5" name="TextBox 174"/>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6" name="TextBox 175"/>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7" name="TextBox 176"/>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8" name="TextBox 177"/>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9" name="TextBox 178"/>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80" name="TextBox 179"/>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1" name="TextBox 180"/>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2" name="TextBox 181"/>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3" name="TextBox 182"/>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4" name="TextBox 183"/>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5" name="TextBox 184"/>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6" name="TextBox 185"/>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7" name="TextBox 186"/>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6" name="TextBox 5"/>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7" name="TextBox 6"/>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8" name="TextBox 7"/>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9" name="TextBox 8"/>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10" name="TextBox 9"/>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1" name="TextBox 10"/>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09/07/2024</a:t>
            </a:r>
          </a:p>
        </p:txBody>
      </p:sp>
      <p:sp>
        <p:nvSpPr>
          <p:cNvPr id="12" name="TextBox 11"/>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3" name="TextBox 12"/>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0,29% a.a.</a:t>
            </a:r>
          </a:p>
        </p:txBody>
      </p:sp>
      <p:sp>
        <p:nvSpPr>
          <p:cNvPr id="14" name="TextBox 13"/>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5" name="TextBox 14"/>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6" name="TextBox 15"/>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7" name="TextBox 16"/>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8" name="TextBox 17"/>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9" name="TextBox 18"/>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R$ 757.096.159,09</a:t>
            </a:r>
          </a:p>
        </p:txBody>
      </p:sp>
      <p:sp>
        <p:nvSpPr>
          <p:cNvPr id="20" name="TextBox 19"/>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1" name="TextBox 20"/>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R$ 761.262.918,15</a:t>
            </a:r>
          </a:p>
        </p:txBody>
      </p:sp>
      <p:sp>
        <p:nvSpPr>
          <p:cNvPr id="22" name="TextBox 21"/>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3" name="TextBox 22"/>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4" name="TextBox 23"/>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5" name="TextBox 24"/>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6" name="TextBox 25"/>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7" name="TextBox 26"/>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8" name="TextBox 27"/>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9" name="TextBox 28"/>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30" name="TextBox 29"/>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1" name="TextBox 30"/>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2" name="TextBox 31"/>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3" name="TextBox 32"/>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4" name="TextBox 33"/>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