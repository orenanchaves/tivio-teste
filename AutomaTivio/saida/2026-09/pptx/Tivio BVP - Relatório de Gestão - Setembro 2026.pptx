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1,06%</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10,55%</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14,54%</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30,42%</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33,50%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32,75%</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0,04%</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0,62%</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0,75%</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5" name="TextBox 44"/>
          <p:cNvSpPr txBox="1"/>
          <p:nvPr/>
        </p:nvSpPr>
        <p:spPr>
          <a:xfrm>
            <a:off x="2831928" y="562026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4,82%</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7" name="TextBox 46"/>
          <p:cNvSpPr txBox="1"/>
          <p:nvPr/>
        </p:nvSpPr>
        <p:spPr>
          <a:xfrm>
            <a:off x="2667616" y="6052606"/>
            <a:ext cx="381694" cy="143640"/>
          </a:xfrm>
          <a:prstGeom prst="rect">
            <a:avLst/>
          </a:prstGeom>
          <a:noFill/>
        </p:spPr>
        <p:txBody>
          <a:bodyPr wrap="none" lIns="0" rIns="0" tIns="0" bIns="0" anchor="t"/>
          <a:lstStyle/>
          <a:p>
            <a:pPr algn="l">
              <a:lnSpc>
                <a:spcPts val="1107"/>
              </a:lnSpc>
            </a:pPr>
            <a:r>
              <a:rPr sz="922" b="0" i="0">
                <a:solidFill>
                  <a:srgbClr val="5A82A0"/>
                </a:solidFill>
                <a:latin typeface="Versos"/>
              </a:rPr>
              <a:t>4,34%</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7793" y="6484944"/>
            <a:ext cx="371866" cy="143640"/>
          </a:xfrm>
          <a:prstGeom prst="rect">
            <a:avLst/>
          </a:prstGeom>
          <a:noFill/>
        </p:spPr>
        <p:txBody>
          <a:bodyPr wrap="none" lIns="0" rIns="0" tIns="0" bIns="0" anchor="t"/>
          <a:lstStyle/>
          <a:p>
            <a:pPr algn="l">
              <a:lnSpc>
                <a:spcPts val="1107"/>
              </a:lnSpc>
            </a:pPr>
            <a:r>
              <a:rPr sz="922" b="0" i="0">
                <a:solidFill>
                  <a:srgbClr val="5A82A0"/>
                </a:solidFill>
                <a:latin typeface="Versos"/>
              </a:rPr>
              <a:t>3,87%</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361436" y="6917281"/>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3" name="TextBox 52"/>
          <p:cNvSpPr txBox="1"/>
          <p:nvPr/>
        </p:nvSpPr>
        <p:spPr>
          <a:xfrm>
            <a:off x="2347852" y="7349619"/>
            <a:ext cx="387468" cy="143640"/>
          </a:xfrm>
          <a:prstGeom prst="rect">
            <a:avLst/>
          </a:prstGeom>
          <a:noFill/>
        </p:spPr>
        <p:txBody>
          <a:bodyPr wrap="none" lIns="0" rIns="0" tIns="0" bIns="0" anchor="t"/>
          <a:lstStyle/>
          <a:p>
            <a:pPr algn="l">
              <a:lnSpc>
                <a:spcPts val="1107"/>
              </a:lnSpc>
            </a:pPr>
            <a:r>
              <a:rPr sz="922" b="0" i="0">
                <a:solidFill>
                  <a:srgbClr val="5A82A0"/>
                </a:solidFill>
                <a:latin typeface="Versos"/>
              </a:rPr>
              <a:t>3,40%</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81449" cy="143640"/>
          </a:xfrm>
          <a:prstGeom prst="rect">
            <a:avLst/>
          </a:prstGeom>
          <a:noFill/>
        </p:spPr>
        <p:txBody>
          <a:bodyPr wrap="none" lIns="0" rIns="0" tIns="0" bIns="0" anchor="t"/>
          <a:lstStyle/>
          <a:p>
            <a:pPr algn="l">
              <a:lnSpc>
                <a:spcPts val="1142"/>
              </a:lnSpc>
            </a:pPr>
            <a:r>
              <a:rPr sz="952" b="0" i="0">
                <a:solidFill>
                  <a:srgbClr val="111111"/>
                </a:solidFill>
                <a:latin typeface="Versos"/>
              </a:rPr>
              <a:t>42,40%</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551571" y="8515158"/>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11,24%</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0" name="TextBox 59"/>
          <p:cNvSpPr txBox="1"/>
          <p:nvPr/>
        </p:nvSpPr>
        <p:spPr>
          <a:xfrm>
            <a:off x="1205229" y="8779286"/>
            <a:ext cx="393979" cy="143640"/>
          </a:xfrm>
          <a:prstGeom prst="rect">
            <a:avLst/>
          </a:prstGeom>
          <a:noFill/>
        </p:spPr>
        <p:txBody>
          <a:bodyPr wrap="none" lIns="0" rIns="0" tIns="0" bIns="0" anchor="t"/>
          <a:lstStyle/>
          <a:p>
            <a:pPr algn="l">
              <a:lnSpc>
                <a:spcPts val="1142"/>
              </a:lnSpc>
            </a:pPr>
            <a:r>
              <a:rPr sz="952" b="0" i="0">
                <a:solidFill>
                  <a:srgbClr val="111111"/>
                </a:solidFill>
                <a:latin typeface="Versos"/>
              </a:rPr>
              <a:t>3,59%</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2" name="TextBox 61"/>
          <p:cNvSpPr txBox="1"/>
          <p:nvPr/>
        </p:nvSpPr>
        <p:spPr>
          <a:xfrm>
            <a:off x="1170736" y="9043413"/>
            <a:ext cx="391154" cy="143640"/>
          </a:xfrm>
          <a:prstGeom prst="rect">
            <a:avLst/>
          </a:prstGeom>
          <a:noFill/>
        </p:spPr>
        <p:txBody>
          <a:bodyPr wrap="none" lIns="0" rIns="0" tIns="0" bIns="0" anchor="t"/>
          <a:lstStyle/>
          <a:p>
            <a:pPr algn="l">
              <a:lnSpc>
                <a:spcPts val="1142"/>
              </a:lnSpc>
            </a:pPr>
            <a:r>
              <a:rPr sz="952" b="0" i="0">
                <a:solidFill>
                  <a:srgbClr val="111111"/>
                </a:solidFill>
                <a:latin typeface="Versos"/>
              </a:rPr>
              <a:t>2,82%</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45103" y="9307541"/>
            <a:ext cx="385626" cy="143640"/>
          </a:xfrm>
          <a:prstGeom prst="rect">
            <a:avLst/>
          </a:prstGeom>
          <a:noFill/>
        </p:spPr>
        <p:txBody>
          <a:bodyPr wrap="none" lIns="0" rIns="0" tIns="0" bIns="0" anchor="t"/>
          <a:lstStyle/>
          <a:p>
            <a:pPr algn="l">
              <a:lnSpc>
                <a:spcPts val="1142"/>
              </a:lnSpc>
            </a:pPr>
            <a:r>
              <a:rPr sz="952" b="0" i="0">
                <a:solidFill>
                  <a:srgbClr val="111111"/>
                </a:solidFill>
                <a:latin typeface="Versos"/>
              </a:rPr>
              <a:t>2,25%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44867" y="9571668"/>
            <a:ext cx="382186" cy="143640"/>
          </a:xfrm>
          <a:prstGeom prst="rect">
            <a:avLst/>
          </a:prstGeom>
          <a:noFill/>
        </p:spPr>
        <p:txBody>
          <a:bodyPr wrap="none" lIns="0" rIns="0" tIns="0" bIns="0" anchor="t"/>
          <a:lstStyle/>
          <a:p>
            <a:pPr algn="l">
              <a:lnSpc>
                <a:spcPts val="1142"/>
              </a:lnSpc>
            </a:pPr>
            <a:r>
              <a:rPr sz="952" b="0" i="0">
                <a:solidFill>
                  <a:srgbClr val="111111"/>
                </a:solidFill>
                <a:latin typeface="Versos"/>
              </a:rPr>
              <a:t>2,24%</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69385"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3203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24233"/>
            <a:ext cx="485380" cy="143640"/>
          </a:xfrm>
          <a:prstGeom prst="rect">
            <a:avLst/>
          </a:prstGeom>
          <a:noFill/>
        </p:spPr>
        <p:txBody>
          <a:bodyPr wrap="none" lIns="0" rIns="0" tIns="0" bIns="0" anchor="t"/>
          <a:lstStyle/>
          <a:p>
            <a:pPr algn="l">
              <a:lnSpc>
                <a:spcPts val="1142"/>
              </a:lnSpc>
            </a:pPr>
            <a:r>
              <a:rPr sz="952" b="0" i="0">
                <a:solidFill>
                  <a:srgbClr val="111111"/>
                </a:solidFill>
                <a:latin typeface="Versos"/>
              </a:rPr>
              <a:t>44,48%</a:t>
            </a:r>
          </a:p>
        </p:txBody>
      </p:sp>
      <p:sp>
        <p:nvSpPr>
          <p:cNvPr id="72" name="TextBox 71"/>
          <p:cNvSpPr txBox="1"/>
          <p:nvPr/>
        </p:nvSpPr>
        <p:spPr>
          <a:xfrm>
            <a:off x="3802680" y="5772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325593" y="5764500"/>
            <a:ext cx="472972" cy="143640"/>
          </a:xfrm>
          <a:prstGeom prst="rect">
            <a:avLst/>
          </a:prstGeom>
          <a:noFill/>
        </p:spPr>
        <p:txBody>
          <a:bodyPr wrap="none" lIns="0" rIns="0" tIns="0" bIns="0" anchor="t"/>
          <a:lstStyle/>
          <a:p>
            <a:pPr algn="l">
              <a:lnSpc>
                <a:spcPts val="1142"/>
              </a:lnSpc>
            </a:pPr>
            <a:r>
              <a:rPr sz="952" b="0" i="0">
                <a:solidFill>
                  <a:srgbClr val="111111"/>
                </a:solidFill>
                <a:latin typeface="Versos"/>
              </a:rPr>
              <a:t>29,46%</a:t>
            </a:r>
          </a:p>
        </p:txBody>
      </p:sp>
      <p:sp>
        <p:nvSpPr>
          <p:cNvPr id="74" name="TextBox 73"/>
          <p:cNvSpPr txBox="1"/>
          <p:nvPr/>
        </p:nvSpPr>
        <p:spPr>
          <a:xfrm>
            <a:off x="3802680" y="601244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5" name="TextBox 74"/>
          <p:cNvSpPr txBox="1"/>
          <p:nvPr/>
        </p:nvSpPr>
        <p:spPr>
          <a:xfrm>
            <a:off x="5658660" y="6004648"/>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5,99%</a:t>
            </a:r>
          </a:p>
        </p:txBody>
      </p:sp>
      <p:sp>
        <p:nvSpPr>
          <p:cNvPr id="76" name="TextBox 75"/>
          <p:cNvSpPr txBox="1"/>
          <p:nvPr/>
        </p:nvSpPr>
        <p:spPr>
          <a:xfrm>
            <a:off x="3802680" y="625259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7" name="TextBox 76"/>
          <p:cNvSpPr txBox="1"/>
          <p:nvPr/>
        </p:nvSpPr>
        <p:spPr>
          <a:xfrm>
            <a:off x="5647083" y="6244914"/>
            <a:ext cx="394717" cy="143640"/>
          </a:xfrm>
          <a:prstGeom prst="rect">
            <a:avLst/>
          </a:prstGeom>
          <a:noFill/>
        </p:spPr>
        <p:txBody>
          <a:bodyPr wrap="none" lIns="0" rIns="0" tIns="0" bIns="0" anchor="t"/>
          <a:lstStyle/>
          <a:p>
            <a:pPr algn="l">
              <a:lnSpc>
                <a:spcPts val="1142"/>
              </a:lnSpc>
            </a:pPr>
            <a:r>
              <a:rPr sz="952" b="0" i="0">
                <a:solidFill>
                  <a:srgbClr val="111111"/>
                </a:solidFill>
                <a:latin typeface="Versos"/>
              </a:rPr>
              <a:t>5,58%</a:t>
            </a:r>
          </a:p>
        </p:txBody>
      </p:sp>
      <p:sp>
        <p:nvSpPr>
          <p:cNvPr id="78" name="TextBox 77"/>
          <p:cNvSpPr txBox="1"/>
          <p:nvPr/>
        </p:nvSpPr>
        <p:spPr>
          <a:xfrm>
            <a:off x="3802680" y="64928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68176" y="6485062"/>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2,80%</a:t>
            </a:r>
          </a:p>
        </p:txBody>
      </p:sp>
      <p:sp>
        <p:nvSpPr>
          <p:cNvPr id="80" name="TextBox 79"/>
          <p:cNvSpPr txBox="1"/>
          <p:nvPr/>
        </p:nvSpPr>
        <p:spPr>
          <a:xfrm>
            <a:off x="3802680" y="67330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40771" y="6725328"/>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82" name="TextBox 81"/>
          <p:cNvSpPr txBox="1"/>
          <p:nvPr/>
        </p:nvSpPr>
        <p:spPr>
          <a:xfrm>
            <a:off x="3802680" y="6916691"/>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3" name="TextBox 82"/>
          <p:cNvSpPr txBox="1"/>
          <p:nvPr/>
        </p:nvSpPr>
        <p:spPr>
          <a:xfrm>
            <a:off x="5523761" y="6965476"/>
            <a:ext cx="352088" cy="143640"/>
          </a:xfrm>
          <a:prstGeom prst="rect">
            <a:avLst/>
          </a:prstGeom>
          <a:noFill/>
        </p:spPr>
        <p:txBody>
          <a:bodyPr wrap="none" lIns="0" rIns="0" tIns="0" bIns="0" anchor="t"/>
          <a:lstStyle/>
          <a:p>
            <a:pPr algn="l">
              <a:lnSpc>
                <a:spcPts val="1142"/>
              </a:lnSpc>
            </a:pPr>
            <a:r>
              <a:rPr sz="952" b="0" i="0">
                <a:solidFill>
                  <a:srgbClr val="111111"/>
                </a:solidFill>
                <a:latin typeface="Versos"/>
              </a:rPr>
              <a:t>1,24%</a:t>
            </a:r>
          </a:p>
        </p:txBody>
      </p:sp>
      <p:sp>
        <p:nvSpPr>
          <p:cNvPr id="84" name="TextBox 83"/>
          <p:cNvSpPr txBox="1"/>
          <p:nvPr/>
        </p:nvSpPr>
        <p:spPr>
          <a:xfrm>
            <a:off x="3802680" y="7213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5" name="TextBox 84"/>
          <p:cNvSpPr txBox="1"/>
          <p:nvPr/>
        </p:nvSpPr>
        <p:spPr>
          <a:xfrm>
            <a:off x="5519745" y="720574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1,10%</a:t>
            </a:r>
          </a:p>
        </p:txBody>
      </p:sp>
      <p:sp>
        <p:nvSpPr>
          <p:cNvPr id="86" name="TextBox 85"/>
          <p:cNvSpPr txBox="1"/>
          <p:nvPr/>
        </p:nvSpPr>
        <p:spPr>
          <a:xfrm>
            <a:off x="3802680" y="745368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7" name="TextBox 86"/>
          <p:cNvSpPr txBox="1"/>
          <p:nvPr/>
        </p:nvSpPr>
        <p:spPr>
          <a:xfrm>
            <a:off x="5519154" y="7445891"/>
            <a:ext cx="367198" cy="143640"/>
          </a:xfrm>
          <a:prstGeom prst="rect">
            <a:avLst/>
          </a:prstGeom>
          <a:noFill/>
        </p:spPr>
        <p:txBody>
          <a:bodyPr wrap="none" lIns="0" rIns="0" tIns="0" bIns="0" anchor="t"/>
          <a:lstStyle/>
          <a:p>
            <a:pPr algn="l">
              <a:lnSpc>
                <a:spcPts val="1142"/>
              </a:lnSpc>
            </a:pPr>
            <a:r>
              <a:rPr sz="952" b="0" i="0">
                <a:solidFill>
                  <a:srgbClr val="111111"/>
                </a:solidFill>
                <a:latin typeface="Versos"/>
              </a:rPr>
              <a:t>1,08%</a:t>
            </a:r>
          </a:p>
        </p:txBody>
      </p:sp>
      <p:sp>
        <p:nvSpPr>
          <p:cNvPr id="88" name="TextBox 87"/>
          <p:cNvSpPr txBox="1"/>
          <p:nvPr/>
        </p:nvSpPr>
        <p:spPr>
          <a:xfrm>
            <a:off x="3802680" y="769383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9" name="TextBox 88"/>
          <p:cNvSpPr txBox="1"/>
          <p:nvPr/>
        </p:nvSpPr>
        <p:spPr>
          <a:xfrm>
            <a:off x="5517382" y="7686157"/>
            <a:ext cx="359827" cy="143640"/>
          </a:xfrm>
          <a:prstGeom prst="rect">
            <a:avLst/>
          </a:prstGeom>
          <a:noFill/>
        </p:spPr>
        <p:txBody>
          <a:bodyPr wrap="none" lIns="0" rIns="0" tIns="0" bIns="0" anchor="t"/>
          <a:lstStyle/>
          <a:p>
            <a:pPr algn="l">
              <a:lnSpc>
                <a:spcPts val="1142"/>
              </a:lnSpc>
            </a:pPr>
            <a:r>
              <a:rPr sz="952" b="0" i="0">
                <a:solidFill>
                  <a:srgbClr val="111111"/>
                </a:solidFill>
                <a:latin typeface="Versos"/>
              </a:rPr>
              <a:t>1,02%</a:t>
            </a:r>
          </a:p>
        </p:txBody>
      </p:sp>
      <p:sp>
        <p:nvSpPr>
          <p:cNvPr id="90" name="TextBox 89"/>
          <p:cNvSpPr txBox="1"/>
          <p:nvPr/>
        </p:nvSpPr>
        <p:spPr>
          <a:xfrm>
            <a:off x="3802680" y="793410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1" name="TextBox 90"/>
          <p:cNvSpPr txBox="1"/>
          <p:nvPr/>
        </p:nvSpPr>
        <p:spPr>
          <a:xfrm>
            <a:off x="5515256" y="7926305"/>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0,94%</a:t>
            </a:r>
          </a:p>
        </p:txBody>
      </p:sp>
      <p:sp>
        <p:nvSpPr>
          <p:cNvPr id="92" name="TextBox 91"/>
          <p:cNvSpPr txBox="1"/>
          <p:nvPr/>
        </p:nvSpPr>
        <p:spPr>
          <a:xfrm>
            <a:off x="3802680" y="81742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3" name="TextBox 92"/>
          <p:cNvSpPr txBox="1"/>
          <p:nvPr/>
        </p:nvSpPr>
        <p:spPr>
          <a:xfrm>
            <a:off x="5508877" y="8166571"/>
            <a:ext cx="383169" cy="143640"/>
          </a:xfrm>
          <a:prstGeom prst="rect">
            <a:avLst/>
          </a:prstGeom>
          <a:noFill/>
        </p:spPr>
        <p:txBody>
          <a:bodyPr wrap="none" lIns="0" rIns="0" tIns="0" bIns="0" anchor="t"/>
          <a:lstStyle/>
          <a:p>
            <a:pPr algn="l">
              <a:lnSpc>
                <a:spcPts val="1142"/>
              </a:lnSpc>
            </a:pPr>
            <a:r>
              <a:rPr sz="952" b="0" i="0">
                <a:solidFill>
                  <a:srgbClr val="111111"/>
                </a:solidFill>
                <a:latin typeface="Versos"/>
              </a:rPr>
              <a:t>0,72%</a:t>
            </a:r>
          </a:p>
        </p:txBody>
      </p:sp>
      <p:sp>
        <p:nvSpPr>
          <p:cNvPr id="94" name="TextBox 93"/>
          <p:cNvSpPr txBox="1"/>
          <p:nvPr/>
        </p:nvSpPr>
        <p:spPr>
          <a:xfrm>
            <a:off x="3802680" y="84145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5" name="TextBox 94"/>
          <p:cNvSpPr txBox="1"/>
          <p:nvPr/>
        </p:nvSpPr>
        <p:spPr>
          <a:xfrm>
            <a:off x="5508050" y="8406720"/>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0,69%</a:t>
            </a:r>
          </a:p>
        </p:txBody>
      </p:sp>
      <p:sp>
        <p:nvSpPr>
          <p:cNvPr id="96" name="TextBox 95"/>
          <p:cNvSpPr txBox="1"/>
          <p:nvPr/>
        </p:nvSpPr>
        <p:spPr>
          <a:xfrm>
            <a:off x="3802680" y="865466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97" name="TextBox 96"/>
          <p:cNvSpPr txBox="1"/>
          <p:nvPr/>
        </p:nvSpPr>
        <p:spPr>
          <a:xfrm>
            <a:off x="5501317" y="8646986"/>
            <a:ext cx="394594" cy="143640"/>
          </a:xfrm>
          <a:prstGeom prst="rect">
            <a:avLst/>
          </a:prstGeom>
          <a:noFill/>
        </p:spPr>
        <p:txBody>
          <a:bodyPr wrap="none" lIns="0" rIns="0" tIns="0" bIns="0" anchor="t"/>
          <a:lstStyle/>
          <a:p>
            <a:pPr algn="l">
              <a:lnSpc>
                <a:spcPts val="1142"/>
              </a:lnSpc>
            </a:pPr>
            <a:r>
              <a:rPr sz="952" b="0" i="0">
                <a:solidFill>
                  <a:srgbClr val="111111"/>
                </a:solidFill>
                <a:latin typeface="Versos"/>
              </a:rPr>
              <a:t>0,45%</a:t>
            </a:r>
          </a:p>
        </p:txBody>
      </p:sp>
      <p:sp>
        <p:nvSpPr>
          <p:cNvPr id="98" name="TextBox 97"/>
          <p:cNvSpPr txBox="1"/>
          <p:nvPr/>
        </p:nvSpPr>
        <p:spPr>
          <a:xfrm>
            <a:off x="3802680" y="8838348"/>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99" name="TextBox 98"/>
          <p:cNvSpPr txBox="1"/>
          <p:nvPr/>
        </p:nvSpPr>
        <p:spPr>
          <a:xfrm>
            <a:off x="5500490" y="8887134"/>
            <a:ext cx="395331" cy="143640"/>
          </a:xfrm>
          <a:prstGeom prst="rect">
            <a:avLst/>
          </a:prstGeom>
          <a:noFill/>
        </p:spPr>
        <p:txBody>
          <a:bodyPr wrap="none" lIns="0" rIns="0" tIns="0" bIns="0" anchor="t"/>
          <a:lstStyle/>
          <a:p>
            <a:pPr algn="l">
              <a:lnSpc>
                <a:spcPts val="1142"/>
              </a:lnSpc>
            </a:pPr>
            <a:r>
              <a:rPr sz="952" b="0" i="0">
                <a:solidFill>
                  <a:srgbClr val="111111"/>
                </a:solidFill>
                <a:latin typeface="Versos"/>
              </a:rPr>
              <a:t>0,42%</a:t>
            </a:r>
          </a:p>
        </p:txBody>
      </p:sp>
      <p:sp>
        <p:nvSpPr>
          <p:cNvPr id="100" name="TextBox 99"/>
          <p:cNvSpPr txBox="1"/>
          <p:nvPr/>
        </p:nvSpPr>
        <p:spPr>
          <a:xfrm>
            <a:off x="3802680" y="91350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1" name="TextBox 100"/>
          <p:cNvSpPr txBox="1"/>
          <p:nvPr/>
        </p:nvSpPr>
        <p:spPr>
          <a:xfrm>
            <a:off x="5498010" y="9127282"/>
            <a:ext cx="401473" cy="143640"/>
          </a:xfrm>
          <a:prstGeom prst="rect">
            <a:avLst/>
          </a:prstGeom>
          <a:noFill/>
        </p:spPr>
        <p:txBody>
          <a:bodyPr wrap="none" lIns="0" rIns="0" tIns="0" bIns="0" anchor="t"/>
          <a:lstStyle/>
          <a:p>
            <a:pPr algn="l">
              <a:lnSpc>
                <a:spcPts val="1142"/>
              </a:lnSpc>
            </a:pPr>
            <a:r>
              <a:rPr sz="952" b="0" i="0">
                <a:solidFill>
                  <a:srgbClr val="111111"/>
                </a:solidFill>
                <a:latin typeface="Versos"/>
              </a:rPr>
              <a:t>0,30%</a:t>
            </a:r>
          </a:p>
        </p:txBody>
      </p:sp>
      <p:sp>
        <p:nvSpPr>
          <p:cNvPr id="102" name="TextBox 101"/>
          <p:cNvSpPr txBox="1"/>
          <p:nvPr/>
        </p:nvSpPr>
        <p:spPr>
          <a:xfrm>
            <a:off x="3802680" y="937522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3" name="TextBox 102"/>
          <p:cNvSpPr txBox="1"/>
          <p:nvPr/>
        </p:nvSpPr>
        <p:spPr>
          <a:xfrm>
            <a:off x="5498010" y="9367430"/>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4" name="TextBox 103"/>
          <p:cNvSpPr txBox="1"/>
          <p:nvPr/>
        </p:nvSpPr>
        <p:spPr>
          <a:xfrm>
            <a:off x="3802680" y="96153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5" name="TextBox 104"/>
          <p:cNvSpPr txBox="1"/>
          <p:nvPr/>
        </p:nvSpPr>
        <p:spPr>
          <a:xfrm>
            <a:off x="5498010" y="9607578"/>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106" name="TextBox 105"/>
          <p:cNvSpPr txBox="1"/>
          <p:nvPr/>
        </p:nvSpPr>
        <p:spPr>
          <a:xfrm>
            <a:off x="3802680" y="985552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7" name="TextBox 106"/>
          <p:cNvSpPr txBox="1"/>
          <p:nvPr/>
        </p:nvSpPr>
        <p:spPr>
          <a:xfrm>
            <a:off x="5498010" y="9847726"/>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8" name="TextBox 10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8" name="TextBox 7"/>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9" name="TextBox 8"/>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10" name="TextBox 9"/>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1" name="TextBox 10"/>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BVP apresentou rentabilidade de 1,06% no mês (98% do CDI), acumulando 10,55% (100% do CDI) no ano. Na parcela de corporativos, os maiores atribuidores de resultado foram para Tupy e Randon, enquanto Hapvida foi o maior detrator.</a:t>
            </a:r>
          </a:p>
        </p:txBody>
      </p:sp>
      <p:sp>
        <p:nvSpPr>
          <p:cNvPr id="12" name="TextBox 11"/>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7" name="TextBox 16"/>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8" name="TextBox 17"/>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9" name="TextBox 18"/>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R$ 757.096.159,09</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R$ 761.262.918,15</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3" name="TextBox 22"/>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30" name="TextBox 29"/>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