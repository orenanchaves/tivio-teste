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36080"/>
          </a:xfrm>
          <a:prstGeom prst="rect">
            <a:avLst/>
          </a:prstGeom>
          <a:noFill/>
        </p:spPr>
        <p:txBody>
          <a:bodyPr wrap="none" lIns="0" rIns="0" tIns="0" bIns="0" anchor="t"/>
          <a:lstStyle/>
          <a:p>
            <a:pPr algn="l">
              <a:lnSpc>
                <a:spcPts val="1078"/>
              </a:lnSpc>
            </a:pPr>
            <a:r>
              <a:rPr sz="898" b="0" i="0">
                <a:solidFill>
                  <a:srgbClr val="FFFFFF"/>
                </a:solidFill>
                <a:latin typeface="Versos"/>
              </a:rPr>
              <a:t>TIVIO INSTITUCIONAL 30 FIF CLASSE INVESTIMENTO RF CP LP RL </a:t>
            </a:r>
            <a:r>
              <a:rPr sz="737" b="0" i="0">
                <a:solidFill>
                  <a:srgbClr val="FFFFFF"/>
                </a:solidFill>
                <a:latin typeface="Versos"/>
              </a:rPr>
              <a:t>/ CNPJ 58.290.160/0001-00</a:t>
            </a:r>
          </a:p>
        </p:txBody>
      </p:sp>
      <p:sp>
        <p:nvSpPr>
          <p:cNvPr id="4" name="TextBox 3"/>
          <p:cNvSpPr txBox="1"/>
          <p:nvPr/>
        </p:nvSpPr>
        <p:spPr>
          <a:xfrm>
            <a:off x="400680" y="111132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10,65%</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14,53%</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27,31%</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10,51%</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14,48%</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27,07%</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0,14%</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0,05%</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0,24%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370147" cy="143640"/>
          </a:xfrm>
          <a:prstGeom prst="rect">
            <a:avLst/>
          </a:prstGeom>
          <a:noFill/>
        </p:spPr>
        <p:txBody>
          <a:bodyPr wrap="none" lIns="0" rIns="0" tIns="0" bIns="0" anchor="t"/>
          <a:lstStyle/>
          <a:p>
            <a:pPr algn="l">
              <a:lnSpc>
                <a:spcPts val="1107"/>
              </a:lnSpc>
            </a:pPr>
            <a:r>
              <a:rPr sz="922" b="0" i="0">
                <a:solidFill>
                  <a:srgbClr val="5A82A0"/>
                </a:solidFill>
                <a:latin typeface="Versos"/>
              </a:rPr>
              <a:t>5,73%</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51580" y="6052606"/>
            <a:ext cx="340417" cy="143640"/>
          </a:xfrm>
          <a:prstGeom prst="rect">
            <a:avLst/>
          </a:prstGeom>
          <a:noFill/>
        </p:spPr>
        <p:txBody>
          <a:bodyPr wrap="none" lIns="0" rIns="0" tIns="0" bIns="0" anchor="t"/>
          <a:lstStyle/>
          <a:p>
            <a:pPr algn="l">
              <a:lnSpc>
                <a:spcPts val="1107"/>
              </a:lnSpc>
            </a:pPr>
            <a:r>
              <a:rPr sz="922" b="0" i="0">
                <a:solidFill>
                  <a:srgbClr val="5A82A0"/>
                </a:solidFill>
                <a:latin typeface="Versos"/>
              </a:rPr>
              <a:t>3,71%</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202440" y="6484944"/>
            <a:ext cx="377149" cy="143640"/>
          </a:xfrm>
          <a:prstGeom prst="rect">
            <a:avLst/>
          </a:prstGeom>
          <a:noFill/>
        </p:spPr>
        <p:txBody>
          <a:bodyPr wrap="none" lIns="0" rIns="0" tIns="0" bIns="0" anchor="t"/>
          <a:lstStyle/>
          <a:p>
            <a:pPr algn="l">
              <a:lnSpc>
                <a:spcPts val="1107"/>
              </a:lnSpc>
            </a:pPr>
            <a:r>
              <a:rPr sz="922" b="0" i="0">
                <a:solidFill>
                  <a:srgbClr val="5A82A0"/>
                </a:solidFill>
                <a:latin typeface="Versos"/>
              </a:rPr>
              <a:t>3,54%</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63577" y="6917281"/>
            <a:ext cx="387468" cy="143640"/>
          </a:xfrm>
          <a:prstGeom prst="rect">
            <a:avLst/>
          </a:prstGeom>
          <a:noFill/>
        </p:spPr>
        <p:txBody>
          <a:bodyPr wrap="none" lIns="0" rIns="0" tIns="0" bIns="0" anchor="t"/>
          <a:lstStyle/>
          <a:p>
            <a:pPr algn="l">
              <a:lnSpc>
                <a:spcPts val="1107"/>
              </a:lnSpc>
            </a:pPr>
            <a:r>
              <a:rPr sz="922" b="0" i="0">
                <a:solidFill>
                  <a:srgbClr val="5A82A0"/>
                </a:solidFill>
                <a:latin typeface="Versos"/>
              </a:rPr>
              <a:t>3,40%</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973986" y="7349619"/>
            <a:ext cx="356879" cy="143640"/>
          </a:xfrm>
          <a:prstGeom prst="rect">
            <a:avLst/>
          </a:prstGeom>
          <a:noFill/>
        </p:spPr>
        <p:txBody>
          <a:bodyPr wrap="none" lIns="0" rIns="0" tIns="0" bIns="0" anchor="t"/>
          <a:lstStyle/>
          <a:p>
            <a:pPr algn="l">
              <a:lnSpc>
                <a:spcPts val="1107"/>
              </a:lnSpc>
            </a:pPr>
            <a:r>
              <a:rPr sz="922" b="0" i="0">
                <a:solidFill>
                  <a:srgbClr val="5A82A0"/>
                </a:solidFill>
                <a:latin typeface="Versos"/>
              </a:rPr>
              <a:t>2,74%</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68549" cy="143640"/>
          </a:xfrm>
          <a:prstGeom prst="rect">
            <a:avLst/>
          </a:prstGeom>
          <a:noFill/>
        </p:spPr>
        <p:txBody>
          <a:bodyPr wrap="none" lIns="0" rIns="0" tIns="0" bIns="0" anchor="t"/>
          <a:lstStyle/>
          <a:p>
            <a:pPr algn="l">
              <a:lnSpc>
                <a:spcPts val="1142"/>
              </a:lnSpc>
            </a:pPr>
            <a:r>
              <a:rPr sz="952" b="0" i="0">
                <a:solidFill>
                  <a:srgbClr val="111111"/>
                </a:solidFill>
                <a:latin typeface="Versos"/>
              </a:rPr>
              <a:t>35,92%</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66167" y="8515158"/>
            <a:ext cx="371129" cy="143640"/>
          </a:xfrm>
          <a:prstGeom prst="rect">
            <a:avLst/>
          </a:prstGeom>
          <a:noFill/>
        </p:spPr>
        <p:txBody>
          <a:bodyPr wrap="none" lIns="0" rIns="0" tIns="0" bIns="0" anchor="t"/>
          <a:lstStyle/>
          <a:p>
            <a:pPr algn="l">
              <a:lnSpc>
                <a:spcPts val="1142"/>
              </a:lnSpc>
            </a:pPr>
            <a:r>
              <a:rPr sz="952" b="0" i="0">
                <a:solidFill>
                  <a:srgbClr val="111111"/>
                </a:solidFill>
                <a:latin typeface="Versos"/>
              </a:rPr>
              <a:t>7,92%</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390213" y="8779286"/>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6,50%</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35403" y="9043413"/>
            <a:ext cx="383414" cy="143640"/>
          </a:xfrm>
          <a:prstGeom prst="rect">
            <a:avLst/>
          </a:prstGeom>
          <a:noFill/>
        </p:spPr>
        <p:txBody>
          <a:bodyPr wrap="none" lIns="0" rIns="0" tIns="0" bIns="0" anchor="t"/>
          <a:lstStyle/>
          <a:p>
            <a:pPr algn="l">
              <a:lnSpc>
                <a:spcPts val="1142"/>
              </a:lnSpc>
            </a:pPr>
            <a:r>
              <a:rPr sz="952" b="0" i="0">
                <a:solidFill>
                  <a:srgbClr val="111111"/>
                </a:solidFill>
                <a:latin typeface="Versos"/>
              </a:rPr>
              <a:t>5,47%</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84255" y="9307541"/>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4,52%</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58858" y="9571668"/>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4,04%</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2497" y="9835796"/>
            <a:ext cx="371989" cy="143640"/>
          </a:xfrm>
          <a:prstGeom prst="rect">
            <a:avLst/>
          </a:prstGeom>
          <a:noFill/>
        </p:spPr>
        <p:txBody>
          <a:bodyPr wrap="none" lIns="0" rIns="0" tIns="0" bIns="0" anchor="t"/>
          <a:lstStyle/>
          <a:p>
            <a:pPr algn="l">
              <a:lnSpc>
                <a:spcPts val="1142"/>
              </a:lnSpc>
            </a:pPr>
            <a:r>
              <a:rPr sz="952" b="0" i="0">
                <a:solidFill>
                  <a:srgbClr val="111111"/>
                </a:solidFill>
                <a:latin typeface="Versos"/>
              </a:rPr>
              <a:t>0,74%</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72603" cy="143640"/>
          </a:xfrm>
          <a:prstGeom prst="rect">
            <a:avLst/>
          </a:prstGeom>
          <a:noFill/>
        </p:spPr>
        <p:txBody>
          <a:bodyPr wrap="none" lIns="0" rIns="0" tIns="0" bIns="0" anchor="t"/>
          <a:lstStyle/>
          <a:p>
            <a:pPr algn="l">
              <a:lnSpc>
                <a:spcPts val="1142"/>
              </a:lnSpc>
            </a:pPr>
            <a:r>
              <a:rPr sz="952" b="0" i="0">
                <a:solidFill>
                  <a:srgbClr val="111111"/>
                </a:solidFill>
                <a:latin typeface="Versos"/>
              </a:rPr>
              <a:t>30,94%</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367646" y="5746426"/>
            <a:ext cx="435748" cy="143640"/>
          </a:xfrm>
          <a:prstGeom prst="rect">
            <a:avLst/>
          </a:prstGeom>
          <a:noFill/>
        </p:spPr>
        <p:txBody>
          <a:bodyPr wrap="none" lIns="0" rIns="0" tIns="0" bIns="0" anchor="t"/>
          <a:lstStyle/>
          <a:p>
            <a:pPr algn="l">
              <a:lnSpc>
                <a:spcPts val="1142"/>
              </a:lnSpc>
            </a:pPr>
            <a:r>
              <a:rPr sz="952" b="0" i="0">
                <a:solidFill>
                  <a:srgbClr val="111111"/>
                </a:solidFill>
                <a:latin typeface="Versos"/>
              </a:rPr>
              <a:t>21,52%</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82965" y="5974526"/>
            <a:ext cx="438943" cy="143640"/>
          </a:xfrm>
          <a:prstGeom prst="rect">
            <a:avLst/>
          </a:prstGeom>
          <a:noFill/>
        </p:spPr>
        <p:txBody>
          <a:bodyPr wrap="none" lIns="0" rIns="0" tIns="0" bIns="0" anchor="t"/>
          <a:lstStyle/>
          <a:p>
            <a:pPr algn="l">
              <a:lnSpc>
                <a:spcPts val="1142"/>
              </a:lnSpc>
            </a:pPr>
            <a:r>
              <a:rPr sz="952" b="0" i="0">
                <a:solidFill>
                  <a:srgbClr val="111111"/>
                </a:solidFill>
                <a:latin typeface="Versos"/>
              </a:rPr>
              <a:t>14,55%</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2181" y="6202743"/>
            <a:ext cx="378500" cy="143640"/>
          </a:xfrm>
          <a:prstGeom prst="rect">
            <a:avLst/>
          </a:prstGeom>
          <a:noFill/>
        </p:spPr>
        <p:txBody>
          <a:bodyPr wrap="none" lIns="0" rIns="0" tIns="0" bIns="0" anchor="t"/>
          <a:lstStyle/>
          <a:p>
            <a:pPr algn="l">
              <a:lnSpc>
                <a:spcPts val="1142"/>
              </a:lnSpc>
            </a:pPr>
            <a:r>
              <a:rPr sz="952" b="0" i="0">
                <a:solidFill>
                  <a:srgbClr val="111111"/>
                </a:solidFill>
                <a:latin typeface="Versos"/>
              </a:rPr>
              <a:t>7,68%</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637870" y="6430843"/>
            <a:ext cx="395822" cy="143640"/>
          </a:xfrm>
          <a:prstGeom prst="rect">
            <a:avLst/>
          </a:prstGeom>
          <a:noFill/>
        </p:spPr>
        <p:txBody>
          <a:bodyPr wrap="none" lIns="0" rIns="0" tIns="0" bIns="0" anchor="t"/>
          <a:lstStyle/>
          <a:p>
            <a:pPr algn="l">
              <a:lnSpc>
                <a:spcPts val="1142"/>
              </a:lnSpc>
            </a:pPr>
            <a:r>
              <a:rPr sz="952" b="0" i="0">
                <a:solidFill>
                  <a:srgbClr val="111111"/>
                </a:solidFill>
                <a:latin typeface="Versos"/>
              </a:rPr>
              <a:t>3,66%</a:t>
            </a:r>
          </a:p>
        </p:txBody>
      </p:sp>
      <p:sp>
        <p:nvSpPr>
          <p:cNvPr id="79" name="TextBox 78"/>
          <p:cNvSpPr txBox="1"/>
          <p:nvPr/>
        </p:nvSpPr>
        <p:spPr>
          <a:xfrm>
            <a:off x="3802680" y="661027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631963" y="6659060"/>
            <a:ext cx="353808" cy="143640"/>
          </a:xfrm>
          <a:prstGeom prst="rect">
            <a:avLst/>
          </a:prstGeom>
          <a:noFill/>
        </p:spPr>
        <p:txBody>
          <a:bodyPr wrap="none" lIns="0" rIns="0" tIns="0" bIns="0" anchor="t"/>
          <a:lstStyle/>
          <a:p>
            <a:pPr algn="l">
              <a:lnSpc>
                <a:spcPts val="1142"/>
              </a:lnSpc>
            </a:pPr>
            <a:r>
              <a:rPr sz="952" b="0" i="0">
                <a:solidFill>
                  <a:srgbClr val="111111"/>
                </a:solidFill>
                <a:latin typeface="Versos"/>
              </a:rPr>
              <a:t>3,51%</a:t>
            </a:r>
          </a:p>
        </p:txBody>
      </p:sp>
      <p:sp>
        <p:nvSpPr>
          <p:cNvPr id="81" name="TextBox 80"/>
          <p:cNvSpPr txBox="1"/>
          <p:nvPr/>
        </p:nvSpPr>
        <p:spPr>
          <a:xfrm>
            <a:off x="3802680" y="68949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2" name="TextBox 81"/>
          <p:cNvSpPr txBox="1"/>
          <p:nvPr/>
        </p:nvSpPr>
        <p:spPr>
          <a:xfrm>
            <a:off x="5614953" y="6887160"/>
            <a:ext cx="357616" cy="143640"/>
          </a:xfrm>
          <a:prstGeom prst="rect">
            <a:avLst/>
          </a:prstGeom>
          <a:noFill/>
        </p:spPr>
        <p:txBody>
          <a:bodyPr wrap="none" lIns="0" rIns="0" tIns="0" bIns="0" anchor="t"/>
          <a:lstStyle/>
          <a:p>
            <a:pPr algn="l">
              <a:lnSpc>
                <a:spcPts val="1142"/>
              </a:lnSpc>
            </a:pPr>
            <a:r>
              <a:rPr sz="952" b="0" i="0">
                <a:solidFill>
                  <a:srgbClr val="111111"/>
                </a:solidFill>
                <a:latin typeface="Versos"/>
              </a:rPr>
              <a:t>3,10%</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594518" y="7115377"/>
            <a:ext cx="392997" cy="143640"/>
          </a:xfrm>
          <a:prstGeom prst="rect">
            <a:avLst/>
          </a:prstGeom>
          <a:noFill/>
        </p:spPr>
        <p:txBody>
          <a:bodyPr wrap="none" lIns="0" rIns="0" tIns="0" bIns="0" anchor="t"/>
          <a:lstStyle/>
          <a:p>
            <a:pPr algn="l">
              <a:lnSpc>
                <a:spcPts val="1142"/>
              </a:lnSpc>
            </a:pPr>
            <a:r>
              <a:rPr sz="952" b="0" i="0">
                <a:solidFill>
                  <a:srgbClr val="111111"/>
                </a:solidFill>
                <a:latin typeface="Versos"/>
              </a:rPr>
              <a:t>2,59%</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83768" y="7343476"/>
            <a:ext cx="392505" cy="143640"/>
          </a:xfrm>
          <a:prstGeom prst="rect">
            <a:avLst/>
          </a:prstGeom>
          <a:noFill/>
        </p:spPr>
        <p:txBody>
          <a:bodyPr wrap="none" lIns="0" rIns="0" tIns="0" bIns="0" anchor="t"/>
          <a:lstStyle/>
          <a:p>
            <a:pPr algn="l">
              <a:lnSpc>
                <a:spcPts val="1142"/>
              </a:lnSpc>
            </a:pPr>
            <a:r>
              <a:rPr sz="952" b="0" i="0">
                <a:solidFill>
                  <a:srgbClr val="111111"/>
                </a:solidFill>
                <a:latin typeface="Versos"/>
              </a:rPr>
              <a:t>2,33%</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3846" y="7571694"/>
            <a:ext cx="397419" cy="143640"/>
          </a:xfrm>
          <a:prstGeom prst="rect">
            <a:avLst/>
          </a:prstGeom>
          <a:noFill/>
        </p:spPr>
        <p:txBody>
          <a:bodyPr wrap="none" lIns="0" rIns="0" tIns="0" bIns="0" anchor="t"/>
          <a:lstStyle/>
          <a:p>
            <a:pPr algn="l">
              <a:lnSpc>
                <a:spcPts val="1142"/>
              </a:lnSpc>
            </a:pPr>
            <a:r>
              <a:rPr sz="952" b="0" i="0">
                <a:solidFill>
                  <a:srgbClr val="111111"/>
                </a:solidFill>
                <a:latin typeface="Versos"/>
              </a:rPr>
              <a:t>2,09%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60498" y="7799793"/>
            <a:ext cx="346805" cy="143640"/>
          </a:xfrm>
          <a:prstGeom prst="rect">
            <a:avLst/>
          </a:prstGeom>
          <a:noFill/>
        </p:spPr>
        <p:txBody>
          <a:bodyPr wrap="none" lIns="0" rIns="0" tIns="0" bIns="0" anchor="t"/>
          <a:lstStyle/>
          <a:p>
            <a:pPr algn="l">
              <a:lnSpc>
                <a:spcPts val="1142"/>
              </a:lnSpc>
            </a:pPr>
            <a:r>
              <a:rPr sz="952" b="0" i="0">
                <a:solidFill>
                  <a:srgbClr val="111111"/>
                </a:solidFill>
                <a:latin typeface="Versos"/>
              </a:rPr>
              <a:t>1,77%</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0771" y="8028011"/>
            <a:ext cx="361547" cy="143640"/>
          </a:xfrm>
          <a:prstGeom prst="rect">
            <a:avLst/>
          </a:prstGeom>
          <a:noFill/>
        </p:spPr>
        <p:txBody>
          <a:bodyPr wrap="none" lIns="0" rIns="0" tIns="0" bIns="0" anchor="t"/>
          <a:lstStyle/>
          <a:p>
            <a:pPr algn="l">
              <a:lnSpc>
                <a:spcPts val="1142"/>
              </a:lnSpc>
            </a:pPr>
            <a:r>
              <a:rPr sz="952" b="0" i="0">
                <a:solidFill>
                  <a:srgbClr val="111111"/>
                </a:solidFill>
                <a:latin typeface="Versos"/>
              </a:rPr>
              <a:t>1,28%</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4510" y="8256228"/>
            <a:ext cx="321252" cy="143640"/>
          </a:xfrm>
          <a:prstGeom prst="rect">
            <a:avLst/>
          </a:prstGeom>
          <a:noFill/>
        </p:spPr>
        <p:txBody>
          <a:bodyPr wrap="none" lIns="0" rIns="0" tIns="0" bIns="0" anchor="t"/>
          <a:lstStyle/>
          <a:p>
            <a:pPr algn="l">
              <a:lnSpc>
                <a:spcPts val="1142"/>
              </a:lnSpc>
            </a:pPr>
            <a:r>
              <a:rPr sz="952" b="0" i="0">
                <a:solidFill>
                  <a:srgbClr val="111111"/>
                </a:solidFill>
                <a:latin typeface="Versos"/>
              </a:rPr>
              <a:t>1,13%</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9076" y="8484446"/>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0,99%</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Agrícola</a:t>
            </a:r>
          </a:p>
        </p:txBody>
      </p:sp>
      <p:sp>
        <p:nvSpPr>
          <p:cNvPr id="98" name="TextBox 97"/>
          <p:cNvSpPr txBox="1"/>
          <p:nvPr/>
        </p:nvSpPr>
        <p:spPr>
          <a:xfrm>
            <a:off x="5515492" y="8712663"/>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0,66%</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a:t>
            </a:r>
          </a:p>
        </p:txBody>
      </p:sp>
      <p:sp>
        <p:nvSpPr>
          <p:cNvPr id="100" name="TextBox 99"/>
          <p:cNvSpPr txBox="1"/>
          <p:nvPr/>
        </p:nvSpPr>
        <p:spPr>
          <a:xfrm>
            <a:off x="5513602" y="8940881"/>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0,61%</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09350" y="9169098"/>
            <a:ext cx="356633" cy="143640"/>
          </a:xfrm>
          <a:prstGeom prst="rect">
            <a:avLst/>
          </a:prstGeom>
          <a:noFill/>
        </p:spPr>
        <p:txBody>
          <a:bodyPr wrap="none" lIns="0" rIns="0" tIns="0" bIns="0" anchor="t"/>
          <a:lstStyle/>
          <a:p>
            <a:pPr algn="l">
              <a:lnSpc>
                <a:spcPts val="1142"/>
              </a:lnSpc>
            </a:pPr>
            <a:r>
              <a:rPr sz="952" b="0" i="0">
                <a:solidFill>
                  <a:srgbClr val="111111"/>
                </a:solidFill>
                <a:latin typeface="Versos"/>
              </a:rPr>
              <a:t>0,51%</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4" name="TextBox 103"/>
          <p:cNvSpPr txBox="1"/>
          <p:nvPr/>
        </p:nvSpPr>
        <p:spPr>
          <a:xfrm>
            <a:off x="5507578" y="9397316"/>
            <a:ext cx="386486" cy="143640"/>
          </a:xfrm>
          <a:prstGeom prst="rect">
            <a:avLst/>
          </a:prstGeom>
          <a:noFill/>
        </p:spPr>
        <p:txBody>
          <a:bodyPr wrap="none" lIns="0" rIns="0" tIns="0" bIns="0" anchor="t"/>
          <a:lstStyle/>
          <a:p>
            <a:pPr algn="l">
              <a:lnSpc>
                <a:spcPts val="1142"/>
              </a:lnSpc>
            </a:pPr>
            <a:r>
              <a:rPr sz="952" b="0" i="0">
                <a:solidFill>
                  <a:srgbClr val="111111"/>
                </a:solidFill>
                <a:latin typeface="Versos"/>
              </a:rPr>
              <a:t>0,47%</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6" name="TextBox 105"/>
          <p:cNvSpPr txBox="1"/>
          <p:nvPr/>
        </p:nvSpPr>
        <p:spPr>
          <a:xfrm>
            <a:off x="5499073" y="9625533"/>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107" name="TextBox 106"/>
          <p:cNvSpPr txBox="1"/>
          <p:nvPr/>
        </p:nvSpPr>
        <p:spPr>
          <a:xfrm>
            <a:off x="3802680" y="986142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Distribuição</a:t>
            </a:r>
          </a:p>
        </p:txBody>
      </p:sp>
      <p:sp>
        <p:nvSpPr>
          <p:cNvPr id="108" name="TextBox 107"/>
          <p:cNvSpPr txBox="1"/>
          <p:nvPr/>
        </p:nvSpPr>
        <p:spPr>
          <a:xfrm>
            <a:off x="5498010" y="9853751"/>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0,16%</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7" name="TextBox 6"/>
          <p:cNvSpPr txBox="1"/>
          <p:nvPr/>
        </p:nvSpPr>
        <p:spPr>
          <a:xfrm>
            <a:off x="529200" y="6086036"/>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8" name="TextBox 7"/>
          <p:cNvSpPr txBox="1"/>
          <p:nvPr/>
        </p:nvSpPr>
        <p:spPr>
          <a:xfrm>
            <a:off x="529200" y="7145381"/>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9" name="TextBox 8"/>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10" name="TextBox 9"/>
          <p:cNvSpPr txBox="1"/>
          <p:nvPr/>
        </p:nvSpPr>
        <p:spPr>
          <a:xfrm>
            <a:off x="529200" y="9074244"/>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Tivio Institucional 30 apresentou rentabilidade de 1,10% no mês (102% do CDI), acumulando 10,65% (101% do CDI) no ano. Na parcela de corporativos, os maiores atribuidores de resultado foram para Tupy e Randon, enquanto Hapvida foi o maior detrator.</a:t>
            </a:r>
          </a:p>
        </p:txBody>
      </p:sp>
      <p:sp>
        <p:nvSpPr>
          <p:cNvPr id="11" name="TextBox 1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11/12/2024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R$ 138.199.759,13</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R$ 162.868.029,59</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