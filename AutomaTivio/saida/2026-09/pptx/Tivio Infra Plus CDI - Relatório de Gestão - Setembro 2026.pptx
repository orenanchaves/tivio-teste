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INFRA PLUS CDI 30 FIF CIC RF RL </a:t>
            </a:r>
            <a:r>
              <a:rPr sz="829" b="0" i="0">
                <a:solidFill>
                  <a:srgbClr val="FFFFFF"/>
                </a:solidFill>
                <a:latin typeface="Versos"/>
              </a:rPr>
              <a:t>/ CNPJ 62.791.756/0001-53</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668941"/>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entregar retornos acima do CDI, buscando oportunidades em debêntures incentivadas de diversos setores de infraestrutura por meio de uma gestão ativa e diversificada. A estratégia combina o benefício da isenção de Imposto de Renda para pessoas físicas com a busca por retorno superior ao CDI.</a:t>
            </a:r>
          </a:p>
        </p:txBody>
      </p:sp>
      <p:sp>
        <p:nvSpPr>
          <p:cNvPr id="7" name="TextBox 6"/>
          <p:cNvSpPr txBox="1"/>
          <p:nvPr/>
        </p:nvSpPr>
        <p:spPr>
          <a:xfrm>
            <a:off x="1126440" y="2920522"/>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920522"/>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920522"/>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920522"/>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920522"/>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920522"/>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3296632"/>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3292852"/>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−0,15%</a:t>
            </a:r>
          </a:p>
        </p:txBody>
      </p:sp>
      <p:sp>
        <p:nvSpPr>
          <p:cNvPr id="15" name="TextBox 14"/>
          <p:cNvSpPr txBox="1"/>
          <p:nvPr/>
        </p:nvSpPr>
        <p:spPr>
          <a:xfrm>
            <a:off x="2136881" y="3292852"/>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8,64%</a:t>
            </a:r>
          </a:p>
        </p:txBody>
      </p:sp>
      <p:sp>
        <p:nvSpPr>
          <p:cNvPr id="16" name="TextBox 15"/>
          <p:cNvSpPr txBox="1"/>
          <p:nvPr/>
        </p:nvSpPr>
        <p:spPr>
          <a:xfrm>
            <a:off x="3147322" y="3292852"/>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7" name="TextBox 16"/>
          <p:cNvSpPr txBox="1"/>
          <p:nvPr/>
        </p:nvSpPr>
        <p:spPr>
          <a:xfrm>
            <a:off x="4157763" y="3292852"/>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8" name="TextBox 17"/>
          <p:cNvSpPr txBox="1"/>
          <p:nvPr/>
        </p:nvSpPr>
        <p:spPr>
          <a:xfrm>
            <a:off x="5168205" y="3292852"/>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9" name="TextBox 18"/>
          <p:cNvSpPr txBox="1"/>
          <p:nvPr/>
        </p:nvSpPr>
        <p:spPr>
          <a:xfrm>
            <a:off x="6178646" y="3292852"/>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11,94%</a:t>
            </a:r>
          </a:p>
        </p:txBody>
      </p:sp>
      <p:sp>
        <p:nvSpPr>
          <p:cNvPr id="20" name="TextBox 19"/>
          <p:cNvSpPr txBox="1"/>
          <p:nvPr/>
        </p:nvSpPr>
        <p:spPr>
          <a:xfrm>
            <a:off x="340200" y="3687862"/>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68408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1,08%</a:t>
            </a:r>
          </a:p>
        </p:txBody>
      </p:sp>
      <p:sp>
        <p:nvSpPr>
          <p:cNvPr id="22" name="TextBox 21"/>
          <p:cNvSpPr txBox="1"/>
          <p:nvPr/>
        </p:nvSpPr>
        <p:spPr>
          <a:xfrm>
            <a:off x="2136881" y="368408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10,51%</a:t>
            </a:r>
          </a:p>
        </p:txBody>
      </p:sp>
      <p:sp>
        <p:nvSpPr>
          <p:cNvPr id="23" name="TextBox 22"/>
          <p:cNvSpPr txBox="1"/>
          <p:nvPr/>
        </p:nvSpPr>
        <p:spPr>
          <a:xfrm>
            <a:off x="3147322" y="368408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4" name="TextBox 23"/>
          <p:cNvSpPr txBox="1"/>
          <p:nvPr/>
        </p:nvSpPr>
        <p:spPr>
          <a:xfrm>
            <a:off x="4157763" y="368408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5" name="TextBox 24"/>
          <p:cNvSpPr txBox="1"/>
          <p:nvPr/>
        </p:nvSpPr>
        <p:spPr>
          <a:xfrm>
            <a:off x="5168205" y="368408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6" name="TextBox 25"/>
          <p:cNvSpPr txBox="1"/>
          <p:nvPr/>
        </p:nvSpPr>
        <p:spPr>
          <a:xfrm>
            <a:off x="6178646" y="3684082"/>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13,60%</a:t>
            </a:r>
          </a:p>
        </p:txBody>
      </p:sp>
      <p:sp>
        <p:nvSpPr>
          <p:cNvPr id="27" name="TextBox 26"/>
          <p:cNvSpPr txBox="1"/>
          <p:nvPr/>
        </p:nvSpPr>
        <p:spPr>
          <a:xfrm>
            <a:off x="340200" y="4080982"/>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28" name="TextBox 27"/>
          <p:cNvSpPr txBox="1"/>
          <p:nvPr/>
        </p:nvSpPr>
        <p:spPr>
          <a:xfrm>
            <a:off x="1126440" y="407720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a:t>
            </a:r>
          </a:p>
        </p:txBody>
      </p:sp>
      <p:sp>
        <p:nvSpPr>
          <p:cNvPr id="29" name="TextBox 28"/>
          <p:cNvSpPr txBox="1"/>
          <p:nvPr/>
        </p:nvSpPr>
        <p:spPr>
          <a:xfrm>
            <a:off x="2136881" y="407720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82%</a:t>
            </a:r>
          </a:p>
        </p:txBody>
      </p:sp>
      <p:sp>
        <p:nvSpPr>
          <p:cNvPr id="30" name="TextBox 29"/>
          <p:cNvSpPr txBox="1"/>
          <p:nvPr/>
        </p:nvSpPr>
        <p:spPr>
          <a:xfrm>
            <a:off x="3147322" y="407720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1" name="TextBox 30"/>
          <p:cNvSpPr txBox="1"/>
          <p:nvPr/>
        </p:nvSpPr>
        <p:spPr>
          <a:xfrm>
            <a:off x="4157763" y="407720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2" name="TextBox 31"/>
          <p:cNvSpPr txBox="1"/>
          <p:nvPr/>
        </p:nvSpPr>
        <p:spPr>
          <a:xfrm>
            <a:off x="5168205" y="407720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3" name="TextBox 32"/>
          <p:cNvSpPr txBox="1"/>
          <p:nvPr/>
        </p:nvSpPr>
        <p:spPr>
          <a:xfrm>
            <a:off x="6178646" y="4077202"/>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88%</a:t>
            </a:r>
          </a:p>
        </p:txBody>
      </p:sp>
      <p:sp>
        <p:nvSpPr>
          <p:cNvPr id="34" name="TextBox 33"/>
          <p:cNvSpPr txBox="1"/>
          <p:nvPr/>
        </p:nvSpPr>
        <p:spPr>
          <a:xfrm>
            <a:off x="355320" y="4413622"/>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30/09/2026</a:t>
            </a:r>
          </a:p>
        </p:txBody>
      </p:sp>
      <p:sp>
        <p:nvSpPr>
          <p:cNvPr id="35" name="TextBox 34"/>
          <p:cNvSpPr txBox="1"/>
          <p:nvPr/>
        </p:nvSpPr>
        <p:spPr>
          <a:xfrm>
            <a:off x="400680" y="5071342"/>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36" name="TextBox 35"/>
          <p:cNvSpPr txBox="1"/>
          <p:nvPr/>
        </p:nvSpPr>
        <p:spPr>
          <a:xfrm>
            <a:off x="400680" y="558057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CEMIG</a:t>
            </a:r>
          </a:p>
        </p:txBody>
      </p:sp>
      <p:sp>
        <p:nvSpPr>
          <p:cNvPr id="37" name="TextBox 36"/>
          <p:cNvSpPr txBox="1"/>
          <p:nvPr/>
        </p:nvSpPr>
        <p:spPr>
          <a:xfrm>
            <a:off x="2831928" y="5578689"/>
            <a:ext cx="383046" cy="143640"/>
          </a:xfrm>
          <a:prstGeom prst="rect">
            <a:avLst/>
          </a:prstGeom>
          <a:noFill/>
        </p:spPr>
        <p:txBody>
          <a:bodyPr wrap="none" lIns="0" rIns="0" tIns="0" bIns="0" anchor="t"/>
          <a:lstStyle/>
          <a:p>
            <a:pPr algn="l">
              <a:lnSpc>
                <a:spcPts val="1107"/>
              </a:lnSpc>
            </a:pPr>
            <a:r>
              <a:rPr sz="922" b="0" i="0">
                <a:solidFill>
                  <a:srgbClr val="5A82A0"/>
                </a:solidFill>
                <a:latin typeface="Versos"/>
              </a:rPr>
              <a:t>3,83%</a:t>
            </a:r>
          </a:p>
        </p:txBody>
      </p:sp>
      <p:sp>
        <p:nvSpPr>
          <p:cNvPr id="38" name="TextBox 37"/>
          <p:cNvSpPr txBox="1"/>
          <p:nvPr/>
        </p:nvSpPr>
        <p:spPr>
          <a:xfrm>
            <a:off x="400680" y="6055914"/>
            <a:ext cx="762898" cy="136080"/>
          </a:xfrm>
          <a:prstGeom prst="rect">
            <a:avLst/>
          </a:prstGeom>
          <a:noFill/>
        </p:spPr>
        <p:txBody>
          <a:bodyPr wrap="none" lIns="0" rIns="0" tIns="0" bIns="0" anchor="t"/>
          <a:lstStyle/>
          <a:p>
            <a:pPr algn="r">
              <a:lnSpc>
                <a:spcPts val="982"/>
              </a:lnSpc>
            </a:pPr>
            <a:r>
              <a:rPr sz="892" b="0" i="0">
                <a:solidFill>
                  <a:srgbClr val="222222"/>
                </a:solidFill>
                <a:latin typeface="Versos"/>
              </a:rPr>
              <a:t>EQUATORIAL</a:t>
            </a:r>
          </a:p>
        </p:txBody>
      </p:sp>
      <p:sp>
        <p:nvSpPr>
          <p:cNvPr id="39" name="TextBox 38"/>
          <p:cNvSpPr txBox="1"/>
          <p:nvPr/>
        </p:nvSpPr>
        <p:spPr>
          <a:xfrm>
            <a:off x="2802043" y="6054024"/>
            <a:ext cx="365970" cy="143640"/>
          </a:xfrm>
          <a:prstGeom prst="rect">
            <a:avLst/>
          </a:prstGeom>
          <a:noFill/>
        </p:spPr>
        <p:txBody>
          <a:bodyPr wrap="none" lIns="0" rIns="0" tIns="0" bIns="0" anchor="t"/>
          <a:lstStyle/>
          <a:p>
            <a:pPr algn="l">
              <a:lnSpc>
                <a:spcPts val="1107"/>
              </a:lnSpc>
            </a:pPr>
            <a:r>
              <a:rPr sz="922" b="0" i="0">
                <a:solidFill>
                  <a:srgbClr val="5A82A0"/>
                </a:solidFill>
                <a:latin typeface="Versos"/>
              </a:rPr>
              <a:t>3,77%</a:t>
            </a:r>
          </a:p>
        </p:txBody>
      </p:sp>
      <p:sp>
        <p:nvSpPr>
          <p:cNvPr id="40" name="TextBox 39"/>
          <p:cNvSpPr txBox="1"/>
          <p:nvPr/>
        </p:nvSpPr>
        <p:spPr>
          <a:xfrm>
            <a:off x="400680" y="6531131"/>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COPEL</a:t>
            </a:r>
          </a:p>
        </p:txBody>
      </p:sp>
      <p:sp>
        <p:nvSpPr>
          <p:cNvPr id="41" name="TextBox 40"/>
          <p:cNvSpPr txBox="1"/>
          <p:nvPr/>
        </p:nvSpPr>
        <p:spPr>
          <a:xfrm>
            <a:off x="2480743" y="6529241"/>
            <a:ext cx="378746" cy="143640"/>
          </a:xfrm>
          <a:prstGeom prst="rect">
            <a:avLst/>
          </a:prstGeom>
          <a:noFill/>
        </p:spPr>
        <p:txBody>
          <a:bodyPr wrap="none" lIns="0" rIns="0" tIns="0" bIns="0" anchor="t"/>
          <a:lstStyle/>
          <a:p>
            <a:pPr algn="l">
              <a:lnSpc>
                <a:spcPts val="1107"/>
              </a:lnSpc>
            </a:pPr>
            <a:r>
              <a:rPr sz="922" b="0" i="0">
                <a:solidFill>
                  <a:srgbClr val="5A82A0"/>
                </a:solidFill>
                <a:latin typeface="Versos"/>
              </a:rPr>
              <a:t>3,02%</a:t>
            </a:r>
          </a:p>
        </p:txBody>
      </p:sp>
      <p:sp>
        <p:nvSpPr>
          <p:cNvPr id="42" name="TextBox 41"/>
          <p:cNvSpPr txBox="1"/>
          <p:nvPr/>
        </p:nvSpPr>
        <p:spPr>
          <a:xfrm>
            <a:off x="400680" y="700646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SABESP</a:t>
            </a:r>
          </a:p>
        </p:txBody>
      </p:sp>
      <p:sp>
        <p:nvSpPr>
          <p:cNvPr id="43" name="TextBox 42"/>
          <p:cNvSpPr txBox="1"/>
          <p:nvPr/>
        </p:nvSpPr>
        <p:spPr>
          <a:xfrm>
            <a:off x="2468576" y="7004576"/>
            <a:ext cx="382554" cy="143640"/>
          </a:xfrm>
          <a:prstGeom prst="rect">
            <a:avLst/>
          </a:prstGeom>
          <a:noFill/>
        </p:spPr>
        <p:txBody>
          <a:bodyPr wrap="none" lIns="0" rIns="0" tIns="0" bIns="0" anchor="t"/>
          <a:lstStyle/>
          <a:p>
            <a:pPr algn="l">
              <a:lnSpc>
                <a:spcPts val="1107"/>
              </a:lnSpc>
            </a:pPr>
            <a:r>
              <a:rPr sz="922" b="0" i="0">
                <a:solidFill>
                  <a:srgbClr val="5A82A0"/>
                </a:solidFill>
                <a:latin typeface="Versos"/>
              </a:rPr>
              <a:t>2,99%</a:t>
            </a:r>
          </a:p>
        </p:txBody>
      </p:sp>
      <p:sp>
        <p:nvSpPr>
          <p:cNvPr id="44" name="TextBox 43"/>
          <p:cNvSpPr txBox="1"/>
          <p:nvPr/>
        </p:nvSpPr>
        <p:spPr>
          <a:xfrm>
            <a:off x="400680" y="7481801"/>
            <a:ext cx="773340" cy="136080"/>
          </a:xfrm>
          <a:prstGeom prst="rect">
            <a:avLst/>
          </a:prstGeom>
          <a:noFill/>
        </p:spPr>
        <p:txBody>
          <a:bodyPr wrap="none" lIns="0" rIns="0" tIns="0" bIns="0" anchor="t"/>
          <a:lstStyle/>
          <a:p>
            <a:pPr algn="r">
              <a:lnSpc>
                <a:spcPts val="982"/>
              </a:lnSpc>
            </a:pPr>
            <a:r>
              <a:rPr sz="892" b="0" i="0">
                <a:solidFill>
                  <a:srgbClr val="222222"/>
                </a:solidFill>
                <a:latin typeface="Versos"/>
              </a:rPr>
              <a:t>ELETROBRAS</a:t>
            </a:r>
          </a:p>
        </p:txBody>
      </p:sp>
      <p:sp>
        <p:nvSpPr>
          <p:cNvPr id="45" name="TextBox 44"/>
          <p:cNvSpPr txBox="1"/>
          <p:nvPr/>
        </p:nvSpPr>
        <p:spPr>
          <a:xfrm>
            <a:off x="2407033" y="7479911"/>
            <a:ext cx="379237" cy="143640"/>
          </a:xfrm>
          <a:prstGeom prst="rect">
            <a:avLst/>
          </a:prstGeom>
          <a:noFill/>
        </p:spPr>
        <p:txBody>
          <a:bodyPr wrap="none" lIns="0" rIns="0" tIns="0" bIns="0" anchor="t"/>
          <a:lstStyle/>
          <a:p>
            <a:pPr algn="l">
              <a:lnSpc>
                <a:spcPts val="1107"/>
              </a:lnSpc>
            </a:pPr>
            <a:r>
              <a:rPr sz="922" b="0" i="0">
                <a:solidFill>
                  <a:srgbClr val="5A82A0"/>
                </a:solidFill>
                <a:latin typeface="Versos"/>
              </a:rPr>
              <a:t>2,84%</a:t>
            </a:r>
          </a:p>
        </p:txBody>
      </p:sp>
      <p:sp>
        <p:nvSpPr>
          <p:cNvPr id="46" name="TextBox 45"/>
          <p:cNvSpPr txBox="1"/>
          <p:nvPr/>
        </p:nvSpPr>
        <p:spPr>
          <a:xfrm>
            <a:off x="400680" y="8001078"/>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47" name="TextBox 46"/>
          <p:cNvSpPr txBox="1"/>
          <p:nvPr/>
        </p:nvSpPr>
        <p:spPr>
          <a:xfrm>
            <a:off x="400680" y="841416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48" name="TextBox 47"/>
          <p:cNvSpPr txBox="1"/>
          <p:nvPr/>
        </p:nvSpPr>
        <p:spPr>
          <a:xfrm>
            <a:off x="2960448" y="8412271"/>
            <a:ext cx="433414" cy="143640"/>
          </a:xfrm>
          <a:prstGeom prst="rect">
            <a:avLst/>
          </a:prstGeom>
          <a:noFill/>
        </p:spPr>
        <p:txBody>
          <a:bodyPr wrap="none" lIns="0" rIns="0" tIns="0" bIns="0" anchor="t"/>
          <a:lstStyle/>
          <a:p>
            <a:pPr algn="l">
              <a:lnSpc>
                <a:spcPts val="1142"/>
              </a:lnSpc>
            </a:pPr>
            <a:r>
              <a:rPr sz="952" b="0" i="0">
                <a:solidFill>
                  <a:srgbClr val="111111"/>
                </a:solidFill>
                <a:latin typeface="Versos"/>
              </a:rPr>
              <a:t>32,91%</a:t>
            </a:r>
          </a:p>
        </p:txBody>
      </p:sp>
      <p:sp>
        <p:nvSpPr>
          <p:cNvPr id="49" name="TextBox 48"/>
          <p:cNvSpPr txBox="1"/>
          <p:nvPr/>
        </p:nvSpPr>
        <p:spPr>
          <a:xfrm>
            <a:off x="400680" y="869695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0" name="TextBox 49"/>
          <p:cNvSpPr txBox="1"/>
          <p:nvPr/>
        </p:nvSpPr>
        <p:spPr>
          <a:xfrm>
            <a:off x="2096482" y="8695063"/>
            <a:ext cx="448402" cy="143640"/>
          </a:xfrm>
          <a:prstGeom prst="rect">
            <a:avLst/>
          </a:prstGeom>
          <a:noFill/>
        </p:spPr>
        <p:txBody>
          <a:bodyPr wrap="none" lIns="0" rIns="0" tIns="0" bIns="0" anchor="t"/>
          <a:lstStyle/>
          <a:p>
            <a:pPr algn="l">
              <a:lnSpc>
                <a:spcPts val="1142"/>
              </a:lnSpc>
            </a:pPr>
            <a:r>
              <a:rPr sz="952" b="0" i="0">
                <a:solidFill>
                  <a:srgbClr val="111111"/>
                </a:solidFill>
                <a:latin typeface="Versos"/>
              </a:rPr>
              <a:t>18,08%</a:t>
            </a:r>
          </a:p>
        </p:txBody>
      </p:sp>
      <p:sp>
        <p:nvSpPr>
          <p:cNvPr id="51" name="TextBox 50"/>
          <p:cNvSpPr txBox="1"/>
          <p:nvPr/>
        </p:nvSpPr>
        <p:spPr>
          <a:xfrm>
            <a:off x="400680" y="8979862"/>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2" name="TextBox 51"/>
          <p:cNvSpPr txBox="1"/>
          <p:nvPr/>
        </p:nvSpPr>
        <p:spPr>
          <a:xfrm>
            <a:off x="1938549" y="8977972"/>
            <a:ext cx="430343" cy="143640"/>
          </a:xfrm>
          <a:prstGeom prst="rect">
            <a:avLst/>
          </a:prstGeom>
          <a:noFill/>
        </p:spPr>
        <p:txBody>
          <a:bodyPr wrap="none" lIns="0" rIns="0" tIns="0" bIns="0" anchor="t"/>
          <a:lstStyle/>
          <a:p>
            <a:pPr algn="l">
              <a:lnSpc>
                <a:spcPts val="1142"/>
              </a:lnSpc>
            </a:pPr>
            <a:r>
              <a:rPr sz="952" b="0" i="0">
                <a:solidFill>
                  <a:srgbClr val="111111"/>
                </a:solidFill>
                <a:latin typeface="Versos"/>
              </a:rPr>
              <a:t>15,37%</a:t>
            </a:r>
          </a:p>
        </p:txBody>
      </p:sp>
      <p:sp>
        <p:nvSpPr>
          <p:cNvPr id="53" name="TextBox 52"/>
          <p:cNvSpPr txBox="1"/>
          <p:nvPr/>
        </p:nvSpPr>
        <p:spPr>
          <a:xfrm>
            <a:off x="400680" y="926265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4" name="TextBox 53"/>
          <p:cNvSpPr txBox="1"/>
          <p:nvPr/>
        </p:nvSpPr>
        <p:spPr>
          <a:xfrm>
            <a:off x="1729113" y="9260763"/>
            <a:ext cx="393734" cy="143640"/>
          </a:xfrm>
          <a:prstGeom prst="rect">
            <a:avLst/>
          </a:prstGeom>
          <a:noFill/>
        </p:spPr>
        <p:txBody>
          <a:bodyPr wrap="none" lIns="0" rIns="0" tIns="0" bIns="0" anchor="t"/>
          <a:lstStyle/>
          <a:p>
            <a:pPr algn="l">
              <a:lnSpc>
                <a:spcPts val="1142"/>
              </a:lnSpc>
            </a:pPr>
            <a:r>
              <a:rPr sz="952" b="0" i="0">
                <a:solidFill>
                  <a:srgbClr val="111111"/>
                </a:solidFill>
                <a:latin typeface="Versos"/>
              </a:rPr>
              <a:t>11,77%</a:t>
            </a:r>
          </a:p>
        </p:txBody>
      </p:sp>
      <p:sp>
        <p:nvSpPr>
          <p:cNvPr id="55" name="TextBox 54"/>
          <p:cNvSpPr txBox="1"/>
          <p:nvPr/>
        </p:nvSpPr>
        <p:spPr>
          <a:xfrm>
            <a:off x="400680" y="954556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6" name="TextBox 55"/>
          <p:cNvSpPr txBox="1"/>
          <p:nvPr/>
        </p:nvSpPr>
        <p:spPr>
          <a:xfrm>
            <a:off x="1484949" y="9543673"/>
            <a:ext cx="377886" cy="143640"/>
          </a:xfrm>
          <a:prstGeom prst="rect">
            <a:avLst/>
          </a:prstGeom>
          <a:noFill/>
        </p:spPr>
        <p:txBody>
          <a:bodyPr wrap="none" lIns="0" rIns="0" tIns="0" bIns="0" anchor="t"/>
          <a:lstStyle/>
          <a:p>
            <a:pPr algn="l">
              <a:lnSpc>
                <a:spcPts val="1142"/>
              </a:lnSpc>
            </a:pPr>
            <a:r>
              <a:rPr sz="952" b="0" i="0">
                <a:solidFill>
                  <a:srgbClr val="111111"/>
                </a:solidFill>
                <a:latin typeface="Versos"/>
              </a:rPr>
              <a:t>7,58%</a:t>
            </a:r>
          </a:p>
        </p:txBody>
      </p:sp>
      <p:sp>
        <p:nvSpPr>
          <p:cNvPr id="57" name="TextBox 56"/>
          <p:cNvSpPr txBox="1"/>
          <p:nvPr/>
        </p:nvSpPr>
        <p:spPr>
          <a:xfrm>
            <a:off x="400680" y="9828354"/>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8" name="TextBox 57"/>
          <p:cNvSpPr txBox="1"/>
          <p:nvPr/>
        </p:nvSpPr>
        <p:spPr>
          <a:xfrm>
            <a:off x="1151836" y="9826464"/>
            <a:ext cx="366461" cy="143640"/>
          </a:xfrm>
          <a:prstGeom prst="rect">
            <a:avLst/>
          </a:prstGeom>
          <a:noFill/>
        </p:spPr>
        <p:txBody>
          <a:bodyPr wrap="none" lIns="0" rIns="0" tIns="0" bIns="0" anchor="t"/>
          <a:lstStyle/>
          <a:p>
            <a:pPr algn="l">
              <a:lnSpc>
                <a:spcPts val="1142"/>
              </a:lnSpc>
            </a:pPr>
            <a:r>
              <a:rPr sz="952" b="0" i="0">
                <a:solidFill>
                  <a:srgbClr val="111111"/>
                </a:solidFill>
                <a:latin typeface="Versos"/>
              </a:rPr>
              <a:t>1,86%</a:t>
            </a:r>
          </a:p>
        </p:txBody>
      </p:sp>
      <p:sp>
        <p:nvSpPr>
          <p:cNvPr id="59" name="TextBox 58"/>
          <p:cNvSpPr txBox="1"/>
          <p:nvPr/>
        </p:nvSpPr>
        <p:spPr>
          <a:xfrm>
            <a:off x="3802680" y="5071342"/>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0" name="TextBox 59"/>
          <p:cNvSpPr txBox="1"/>
          <p:nvPr/>
        </p:nvSpPr>
        <p:spPr>
          <a:xfrm>
            <a:off x="3802680" y="558010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61" name="TextBox 60"/>
          <p:cNvSpPr txBox="1"/>
          <p:nvPr/>
        </p:nvSpPr>
        <p:spPr>
          <a:xfrm>
            <a:off x="6752497" y="5572428"/>
            <a:ext cx="440540" cy="143640"/>
          </a:xfrm>
          <a:prstGeom prst="rect">
            <a:avLst/>
          </a:prstGeom>
          <a:noFill/>
        </p:spPr>
        <p:txBody>
          <a:bodyPr wrap="none" lIns="0" rIns="0" tIns="0" bIns="0" anchor="t"/>
          <a:lstStyle/>
          <a:p>
            <a:pPr algn="l">
              <a:lnSpc>
                <a:spcPts val="1142"/>
              </a:lnSpc>
            </a:pPr>
            <a:r>
              <a:rPr sz="952" b="0" i="0">
                <a:solidFill>
                  <a:srgbClr val="111111"/>
                </a:solidFill>
                <a:latin typeface="Versos"/>
              </a:rPr>
              <a:t>38,41%</a:t>
            </a:r>
          </a:p>
        </p:txBody>
      </p:sp>
      <p:sp>
        <p:nvSpPr>
          <p:cNvPr id="62" name="TextBox 61"/>
          <p:cNvSpPr txBox="1"/>
          <p:nvPr/>
        </p:nvSpPr>
        <p:spPr>
          <a:xfrm>
            <a:off x="3802680" y="604280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63" name="TextBox 62"/>
          <p:cNvSpPr txBox="1"/>
          <p:nvPr/>
        </p:nvSpPr>
        <p:spPr>
          <a:xfrm>
            <a:off x="6198727" y="6035006"/>
            <a:ext cx="440540" cy="143640"/>
          </a:xfrm>
          <a:prstGeom prst="rect">
            <a:avLst/>
          </a:prstGeom>
          <a:noFill/>
        </p:spPr>
        <p:txBody>
          <a:bodyPr wrap="none" lIns="0" rIns="0" tIns="0" bIns="0" anchor="t"/>
          <a:lstStyle/>
          <a:p>
            <a:pPr algn="l">
              <a:lnSpc>
                <a:spcPts val="1142"/>
              </a:lnSpc>
            </a:pPr>
            <a:r>
              <a:rPr sz="952" b="0" i="0">
                <a:solidFill>
                  <a:srgbClr val="111111"/>
                </a:solidFill>
                <a:latin typeface="Versos"/>
              </a:rPr>
              <a:t>21,58%</a:t>
            </a:r>
          </a:p>
        </p:txBody>
      </p:sp>
      <p:sp>
        <p:nvSpPr>
          <p:cNvPr id="64" name="TextBox 63"/>
          <p:cNvSpPr txBox="1"/>
          <p:nvPr/>
        </p:nvSpPr>
        <p:spPr>
          <a:xfrm>
            <a:off x="3802680" y="650538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65" name="TextBox 64"/>
          <p:cNvSpPr txBox="1"/>
          <p:nvPr/>
        </p:nvSpPr>
        <p:spPr>
          <a:xfrm>
            <a:off x="5855810" y="6497701"/>
            <a:ext cx="370884" cy="143640"/>
          </a:xfrm>
          <a:prstGeom prst="rect">
            <a:avLst/>
          </a:prstGeom>
          <a:noFill/>
        </p:spPr>
        <p:txBody>
          <a:bodyPr wrap="none" lIns="0" rIns="0" tIns="0" bIns="0" anchor="t"/>
          <a:lstStyle/>
          <a:p>
            <a:pPr algn="l">
              <a:lnSpc>
                <a:spcPts val="1142"/>
              </a:lnSpc>
            </a:pPr>
            <a:r>
              <a:rPr sz="952" b="0" i="0">
                <a:solidFill>
                  <a:srgbClr val="111111"/>
                </a:solidFill>
                <a:latin typeface="Versos"/>
              </a:rPr>
              <a:t>11,16%</a:t>
            </a:r>
          </a:p>
        </p:txBody>
      </p:sp>
      <p:sp>
        <p:nvSpPr>
          <p:cNvPr id="66" name="TextBox 65"/>
          <p:cNvSpPr txBox="1"/>
          <p:nvPr/>
        </p:nvSpPr>
        <p:spPr>
          <a:xfrm>
            <a:off x="3802680" y="696807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67" name="TextBox 66"/>
          <p:cNvSpPr txBox="1"/>
          <p:nvPr/>
        </p:nvSpPr>
        <p:spPr>
          <a:xfrm>
            <a:off x="5763082" y="6960279"/>
            <a:ext cx="392505" cy="143640"/>
          </a:xfrm>
          <a:prstGeom prst="rect">
            <a:avLst/>
          </a:prstGeom>
          <a:noFill/>
        </p:spPr>
        <p:txBody>
          <a:bodyPr wrap="none" lIns="0" rIns="0" tIns="0" bIns="0" anchor="t"/>
          <a:lstStyle/>
          <a:p>
            <a:pPr algn="l">
              <a:lnSpc>
                <a:spcPts val="1142"/>
              </a:lnSpc>
            </a:pPr>
            <a:r>
              <a:rPr sz="952" b="0" i="0">
                <a:solidFill>
                  <a:srgbClr val="111111"/>
                </a:solidFill>
                <a:latin typeface="Versos"/>
              </a:rPr>
              <a:t>8,35%</a:t>
            </a:r>
          </a:p>
        </p:txBody>
      </p:sp>
      <p:sp>
        <p:nvSpPr>
          <p:cNvPr id="68" name="TextBox 67"/>
          <p:cNvSpPr txBox="1"/>
          <p:nvPr/>
        </p:nvSpPr>
        <p:spPr>
          <a:xfrm>
            <a:off x="3802680" y="743077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69" name="TextBox 68"/>
          <p:cNvSpPr txBox="1"/>
          <p:nvPr/>
        </p:nvSpPr>
        <p:spPr>
          <a:xfrm>
            <a:off x="5726109" y="7422975"/>
            <a:ext cx="371252" cy="143640"/>
          </a:xfrm>
          <a:prstGeom prst="rect">
            <a:avLst/>
          </a:prstGeom>
          <a:noFill/>
        </p:spPr>
        <p:txBody>
          <a:bodyPr wrap="none" lIns="0" rIns="0" tIns="0" bIns="0" anchor="t"/>
          <a:lstStyle/>
          <a:p>
            <a:pPr algn="l">
              <a:lnSpc>
                <a:spcPts val="1142"/>
              </a:lnSpc>
            </a:pPr>
            <a:r>
              <a:rPr sz="952" b="0" i="0">
                <a:solidFill>
                  <a:srgbClr val="111111"/>
                </a:solidFill>
                <a:latin typeface="Versos"/>
              </a:rPr>
              <a:t>7,22%</a:t>
            </a:r>
          </a:p>
        </p:txBody>
      </p:sp>
      <p:sp>
        <p:nvSpPr>
          <p:cNvPr id="70" name="TextBox 69"/>
          <p:cNvSpPr txBox="1"/>
          <p:nvPr/>
        </p:nvSpPr>
        <p:spPr>
          <a:xfrm>
            <a:off x="3802680" y="789346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1" name="TextBox 70"/>
          <p:cNvSpPr txBox="1"/>
          <p:nvPr/>
        </p:nvSpPr>
        <p:spPr>
          <a:xfrm>
            <a:off x="5704965" y="7885670"/>
            <a:ext cx="395331" cy="143640"/>
          </a:xfrm>
          <a:prstGeom prst="rect">
            <a:avLst/>
          </a:prstGeom>
          <a:noFill/>
        </p:spPr>
        <p:txBody>
          <a:bodyPr wrap="none" lIns="0" rIns="0" tIns="0" bIns="0" anchor="t"/>
          <a:lstStyle/>
          <a:p>
            <a:pPr algn="l">
              <a:lnSpc>
                <a:spcPts val="1142"/>
              </a:lnSpc>
            </a:pPr>
            <a:r>
              <a:rPr sz="952" b="0" i="0">
                <a:solidFill>
                  <a:srgbClr val="111111"/>
                </a:solidFill>
                <a:latin typeface="Versos"/>
              </a:rPr>
              <a:t>6,58%</a:t>
            </a:r>
          </a:p>
        </p:txBody>
      </p:sp>
      <p:sp>
        <p:nvSpPr>
          <p:cNvPr id="72" name="TextBox 71"/>
          <p:cNvSpPr txBox="1"/>
          <p:nvPr/>
        </p:nvSpPr>
        <p:spPr>
          <a:xfrm>
            <a:off x="3802680" y="835616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73" name="TextBox 72"/>
          <p:cNvSpPr txBox="1"/>
          <p:nvPr/>
        </p:nvSpPr>
        <p:spPr>
          <a:xfrm>
            <a:off x="5604204" y="8348366"/>
            <a:ext cx="390294" cy="143640"/>
          </a:xfrm>
          <a:prstGeom prst="rect">
            <a:avLst/>
          </a:prstGeom>
          <a:noFill/>
        </p:spPr>
        <p:txBody>
          <a:bodyPr wrap="none" lIns="0" rIns="0" tIns="0" bIns="0" anchor="t"/>
          <a:lstStyle/>
          <a:p>
            <a:pPr algn="l">
              <a:lnSpc>
                <a:spcPts val="1142"/>
              </a:lnSpc>
            </a:pPr>
            <a:r>
              <a:rPr sz="952" b="0" i="0">
                <a:solidFill>
                  <a:srgbClr val="111111"/>
                </a:solidFill>
                <a:latin typeface="Versos"/>
              </a:rPr>
              <a:t>3,52%</a:t>
            </a:r>
          </a:p>
        </p:txBody>
      </p:sp>
      <p:sp>
        <p:nvSpPr>
          <p:cNvPr id="74" name="TextBox 73"/>
          <p:cNvSpPr txBox="1"/>
          <p:nvPr/>
        </p:nvSpPr>
        <p:spPr>
          <a:xfrm>
            <a:off x="3802680" y="881885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75" name="TextBox 74"/>
          <p:cNvSpPr txBox="1"/>
          <p:nvPr/>
        </p:nvSpPr>
        <p:spPr>
          <a:xfrm>
            <a:off x="5539117" y="8811061"/>
            <a:ext cx="358230" cy="143640"/>
          </a:xfrm>
          <a:prstGeom prst="rect">
            <a:avLst/>
          </a:prstGeom>
          <a:noFill/>
        </p:spPr>
        <p:txBody>
          <a:bodyPr wrap="none" lIns="0" rIns="0" tIns="0" bIns="0" anchor="t"/>
          <a:lstStyle/>
          <a:p>
            <a:pPr algn="l">
              <a:lnSpc>
                <a:spcPts val="1142"/>
              </a:lnSpc>
            </a:pPr>
            <a:r>
              <a:rPr sz="952" b="0" i="0">
                <a:solidFill>
                  <a:srgbClr val="111111"/>
                </a:solidFill>
                <a:latin typeface="Versos"/>
              </a:rPr>
              <a:t>1,54%</a:t>
            </a:r>
          </a:p>
        </p:txBody>
      </p:sp>
      <p:sp>
        <p:nvSpPr>
          <p:cNvPr id="76" name="TextBox 75"/>
          <p:cNvSpPr txBox="1"/>
          <p:nvPr/>
        </p:nvSpPr>
        <p:spPr>
          <a:xfrm>
            <a:off x="3802680" y="928155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Outras Concessões</a:t>
            </a:r>
          </a:p>
        </p:txBody>
      </p:sp>
      <p:sp>
        <p:nvSpPr>
          <p:cNvPr id="77" name="TextBox 76"/>
          <p:cNvSpPr txBox="1"/>
          <p:nvPr/>
        </p:nvSpPr>
        <p:spPr>
          <a:xfrm>
            <a:off x="5518800" y="9273757"/>
            <a:ext cx="391154" cy="143640"/>
          </a:xfrm>
          <a:prstGeom prst="rect">
            <a:avLst/>
          </a:prstGeom>
          <a:noFill/>
        </p:spPr>
        <p:txBody>
          <a:bodyPr wrap="none" lIns="0" rIns="0" tIns="0" bIns="0" anchor="t"/>
          <a:lstStyle/>
          <a:p>
            <a:pPr algn="l">
              <a:lnSpc>
                <a:spcPts val="1142"/>
              </a:lnSpc>
            </a:pPr>
            <a:r>
              <a:rPr sz="952" b="0" i="0">
                <a:solidFill>
                  <a:srgbClr val="111111"/>
                </a:solidFill>
                <a:latin typeface="Versos"/>
              </a:rPr>
              <a:t>0,92%</a:t>
            </a:r>
          </a:p>
        </p:txBody>
      </p:sp>
      <p:sp>
        <p:nvSpPr>
          <p:cNvPr id="78" name="TextBox 77"/>
          <p:cNvSpPr txBox="1"/>
          <p:nvPr/>
        </p:nvSpPr>
        <p:spPr>
          <a:xfrm>
            <a:off x="3802680" y="974424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Transmissão</a:t>
            </a:r>
          </a:p>
        </p:txBody>
      </p:sp>
      <p:sp>
        <p:nvSpPr>
          <p:cNvPr id="79" name="TextBox 78"/>
          <p:cNvSpPr txBox="1"/>
          <p:nvPr/>
        </p:nvSpPr>
        <p:spPr>
          <a:xfrm>
            <a:off x="5512185" y="9736453"/>
            <a:ext cx="383169" cy="143640"/>
          </a:xfrm>
          <a:prstGeom prst="rect">
            <a:avLst/>
          </a:prstGeom>
          <a:noFill/>
        </p:spPr>
        <p:txBody>
          <a:bodyPr wrap="none" lIns="0" rIns="0" tIns="0" bIns="0" anchor="t"/>
          <a:lstStyle/>
          <a:p>
            <a:pPr algn="l">
              <a:lnSpc>
                <a:spcPts val="1142"/>
              </a:lnSpc>
            </a:pPr>
            <a:r>
              <a:rPr sz="952" b="0" i="0">
                <a:solidFill>
                  <a:srgbClr val="111111"/>
                </a:solidFill>
                <a:latin typeface="Versos"/>
              </a:rPr>
              <a:t>0,72%</a:t>
            </a:r>
          </a:p>
        </p:txBody>
      </p:sp>
      <p:sp>
        <p:nvSpPr>
          <p:cNvPr id="80" name="TextBox 79"/>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1130574"/>
          </a:xfrm>
          <a:prstGeom prst="rect">
            <a:avLst/>
          </a:prstGeom>
          <a:noFill/>
        </p:spPr>
        <p:txBody>
          <a:bodyPr wrap="square" lIns="0" rIns="0" tIns="0" bIns="0" anchor="t"/>
          <a:lstStyle/>
          <a:p>
            <a:pPr algn="just">
              <a:lnSpc>
                <a:spcPts val="1494"/>
              </a:lnSpc>
            </a:pPr>
            <a:r>
              <a:rPr sz="1205" b="0" i="0">
                <a:solidFill>
                  <a:srgbClr val="F1F1F1"/>
                </a:solidFill>
                <a:latin typeface="Versos"/>
              </a:rPr>
              <a:t>Em setembro, o mercado de crédito incentivado foi marcado por uma reprecificação relevante dos ativos. Os spreads médios dos títulos indexados ao IPCA registraram abertura próxima de 45 bps, refletindo um ambiente técnico menos favorável e o aumento da pressão vendedora no mercado secundário. Apesar disso, o forte fechamento da curva real de juros mitigou parte desse movimento, fazendo com que as taxas finais dos ativos apresentassem abertura mais moderada, de aproximadamente 5 bps no período.</a:t>
            </a:r>
          </a:p>
        </p:txBody>
      </p:sp>
      <p:sp>
        <p:nvSpPr>
          <p:cNvPr id="7" name="TextBox 6"/>
          <p:cNvSpPr txBox="1"/>
          <p:nvPr/>
        </p:nvSpPr>
        <p:spPr>
          <a:xfrm>
            <a:off x="529200" y="6465690"/>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No mercado secundário, observou-se predominância de fluxos vendedores, em um contexto de resgates líquidos próximos de R$ 7 bilhões nos fundos de infraestrutura. Esse movimento contribuiu para a ampliação dos spreads e para uma maior seletividade na formação dos preços.</a:t>
            </a:r>
          </a:p>
        </p:txBody>
      </p:sp>
      <p:sp>
        <p:nvSpPr>
          <p:cNvPr id="8" name="TextBox 7"/>
          <p:cNvSpPr txBox="1"/>
          <p:nvPr/>
        </p:nvSpPr>
        <p:spPr>
          <a:xfrm>
            <a:off x="529200" y="7335208"/>
            <a:ext cx="6501600" cy="561093"/>
          </a:xfrm>
          <a:prstGeom prst="rect">
            <a:avLst/>
          </a:prstGeom>
          <a:noFill/>
        </p:spPr>
        <p:txBody>
          <a:bodyPr wrap="square" lIns="0" rIns="0" tIns="0" bIns="0" anchor="t"/>
          <a:lstStyle/>
          <a:p>
            <a:pPr algn="just">
              <a:lnSpc>
                <a:spcPts val="1494"/>
              </a:lnSpc>
            </a:pPr>
            <a:r>
              <a:rPr sz="1205" b="0" i="0">
                <a:solidFill>
                  <a:srgbClr val="F1F1F1"/>
                </a:solidFill>
                <a:latin typeface="Versos"/>
              </a:rPr>
              <a:t>Já no mercado primário, a atividade permaneceu limitada, com pipeline bastante reduzido de emissões corporativas incentivadas, restringindo as oportunidades de alocação e mantendo a oferta de ativos em níveis baixos.</a:t>
            </a:r>
          </a:p>
        </p:txBody>
      </p:sp>
      <p:sp>
        <p:nvSpPr>
          <p:cNvPr id="9" name="TextBox 8"/>
          <p:cNvSpPr txBox="1"/>
          <p:nvPr/>
        </p:nvSpPr>
        <p:spPr>
          <a:xfrm>
            <a:off x="529200" y="8014899"/>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Sob a ótica da gestão, seguimos adotando uma postura cautelosa e seletiva. Embora a recente abertura dos spreads tenha tornado algumas oportunidades mais atrativas, entendemos que a volatilidade dos fluxos e a baixa liquidez do mercado secundário ainda justificam uma abordagem disciplinada na alocação dos recursos, priorizando operações com adequada relação entre risco e retorno.</a:t>
            </a:r>
          </a:p>
        </p:txBody>
      </p:sp>
      <p:sp>
        <p:nvSpPr>
          <p:cNvPr id="10" name="TextBox 9"/>
          <p:cNvSpPr txBox="1"/>
          <p:nvPr/>
        </p:nvSpPr>
        <p:spPr>
          <a:xfrm>
            <a:off x="529200" y="9074244"/>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Nesse cenário, o Infra Plus CDI apresentou rentabilidade, isenta de imposto de renda, de −0,15% no mês (−14% do CDI), acumulando 8,64% (82% do CDI) no ano. Na atribuição de performance, pode-se destacar as debêntures de Unifique e Urbia, enquanto as de COpel foram as maiores detratoras.</a:t>
            </a:r>
          </a:p>
        </p:txBody>
      </p:sp>
      <p:sp>
        <p:nvSpPr>
          <p:cNvPr id="11" name="TextBox 1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20/10/2025</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0,75%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D+30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Não há</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R$ 44.023.801,59</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R$ 37.965.174,74</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