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1,17%</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11,69%</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16,25%</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22,67%</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14,48%</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19,70%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108,27%</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111,24%</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112,21%</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115,11%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1,07%</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1,88%</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4952863"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387609"/>
            <a:ext cx="5150977" cy="189000"/>
          </a:xfrm>
          <a:prstGeom prst="rect">
            <a:avLst/>
          </a:prstGeom>
          <a:noFill/>
        </p:spPr>
        <p:txBody>
          <a:bodyPr wrap="none" lIns="0" rIns="0" tIns="0" bIns="0" anchor="t"/>
          <a:lstStyle/>
          <a:p>
            <a:pPr algn="l">
              <a:lnSpc>
                <a:spcPts val="1375"/>
              </a:lnSpc>
            </a:pPr>
            <a:r>
              <a:rPr sz="1250" b="1" i="0">
                <a:solidFill>
                  <a:srgbClr val="FFFFFF"/>
                </a:solidFill>
                <a:latin typeface="Versos"/>
              </a:rPr>
              <a:t>76,7%</a:t>
            </a:r>
          </a:p>
        </p:txBody>
      </p:sp>
      <p:sp>
        <p:nvSpPr>
          <p:cNvPr id="45" name="TextBox 44"/>
          <p:cNvSpPr txBox="1"/>
          <p:nvPr/>
        </p:nvSpPr>
        <p:spPr>
          <a:xfrm>
            <a:off x="5633971" y="6245623"/>
            <a:ext cx="922234" cy="151200"/>
          </a:xfrm>
          <a:prstGeom prst="rect">
            <a:avLst/>
          </a:prstGeom>
          <a:noFill/>
        </p:spPr>
        <p:txBody>
          <a:bodyPr wrap="none" lIns="0" rIns="0" tIns="0" bIns="0" anchor="t"/>
          <a:lstStyle/>
          <a:p>
            <a:pPr algn="l">
              <a:lnSpc>
                <a:spcPts val="1113"/>
              </a:lnSpc>
            </a:pPr>
            <a:r>
              <a:rPr sz="1012" b="0" i="0">
                <a:solidFill>
                  <a:srgbClr val="2B3744"/>
                </a:solidFill>
                <a:latin typeface="Versos"/>
              </a:rPr>
              <a:t>Liquidez</a:t>
            </a:r>
          </a:p>
        </p:txBody>
      </p:sp>
      <p:sp>
        <p:nvSpPr>
          <p:cNvPr id="46" name="TextBox 45"/>
          <p:cNvSpPr txBox="1"/>
          <p:nvPr/>
        </p:nvSpPr>
        <p:spPr>
          <a:xfrm>
            <a:off x="5633971" y="6402020"/>
            <a:ext cx="922234" cy="189000"/>
          </a:xfrm>
          <a:prstGeom prst="rect">
            <a:avLst/>
          </a:prstGeom>
          <a:noFill/>
        </p:spPr>
        <p:txBody>
          <a:bodyPr wrap="none" lIns="0" rIns="0" tIns="0" bIns="0" anchor="t"/>
          <a:lstStyle/>
          <a:p>
            <a:pPr algn="l">
              <a:lnSpc>
                <a:spcPts val="1375"/>
              </a:lnSpc>
            </a:pPr>
            <a:r>
              <a:rPr sz="1250" b="1" i="0">
                <a:solidFill>
                  <a:srgbClr val="2B3744"/>
                </a:solidFill>
                <a:latin typeface="Versos"/>
              </a:rPr>
              <a:t>15,7%</a:t>
            </a:r>
          </a:p>
        </p:txBody>
      </p:sp>
      <p:sp>
        <p:nvSpPr>
          <p:cNvPr id="47" name="TextBox 46"/>
          <p:cNvSpPr txBox="1"/>
          <p:nvPr/>
        </p:nvSpPr>
        <p:spPr>
          <a:xfrm>
            <a:off x="6649256" y="5550575"/>
            <a:ext cx="465412" cy="183802"/>
          </a:xfrm>
          <a:prstGeom prst="rect">
            <a:avLst/>
          </a:prstGeom>
          <a:noFill/>
        </p:spPr>
        <p:txBody>
          <a:bodyPr wrap="square" lIns="0" rIns="0" tIns="0" bIns="0" anchor="t"/>
          <a:lstStyle/>
          <a:p>
            <a:pPr algn="l">
              <a:lnSpc>
                <a:spcPts val="674"/>
              </a:lnSpc>
            </a:pPr>
            <a:r>
              <a:rPr sz="613" b="0" i="0">
                <a:solidFill>
                  <a:srgbClr val="FFFFFF"/>
                </a:solidFill>
                <a:latin typeface="Versos"/>
              </a:rPr>
              <a:t>Crédito</a:t>
            </a:r>
          </a:p>
          <a:p>
            <a:pPr algn="l">
              <a:lnSpc>
                <a:spcPts val="674"/>
              </a:lnSpc>
            </a:pPr>
            <a:r>
              <a:rPr sz="613" b="1" i="0">
                <a:solidFill>
                  <a:srgbClr val="FFFFFF"/>
                </a:solidFill>
                <a:latin typeface="Versos"/>
              </a:rPr>
              <a:t>Privado</a:t>
            </a:r>
          </a:p>
        </p:txBody>
      </p:sp>
      <p:sp>
        <p:nvSpPr>
          <p:cNvPr id="48" name="TextBox 47"/>
          <p:cNvSpPr txBox="1"/>
          <p:nvPr/>
        </p:nvSpPr>
        <p:spPr>
          <a:xfrm>
            <a:off x="6649256" y="5736740"/>
            <a:ext cx="484029" cy="143640"/>
          </a:xfrm>
          <a:prstGeom prst="rect">
            <a:avLst/>
          </a:prstGeom>
          <a:noFill/>
        </p:spPr>
        <p:txBody>
          <a:bodyPr wrap="none" lIns="0" rIns="0" tIns="0" bIns="0" anchor="t"/>
          <a:lstStyle/>
          <a:p>
            <a:pPr algn="l">
              <a:lnSpc>
                <a:spcPts val="1034"/>
              </a:lnSpc>
            </a:pPr>
            <a:r>
              <a:rPr sz="940" b="1" i="0">
                <a:solidFill>
                  <a:srgbClr val="FFFFFF"/>
                </a:solidFill>
                <a:latin typeface="Versos"/>
              </a:rPr>
              <a:t>3,5%</a:t>
            </a:r>
          </a:p>
        </p:txBody>
      </p:sp>
      <p:sp>
        <p:nvSpPr>
          <p:cNvPr id="49" name="TextBox 48"/>
          <p:cNvSpPr txBox="1"/>
          <p:nvPr/>
        </p:nvSpPr>
        <p:spPr>
          <a:xfrm>
            <a:off x="6649256" y="5945703"/>
            <a:ext cx="465412" cy="183802"/>
          </a:xfrm>
          <a:prstGeom prst="rect">
            <a:avLst/>
          </a:prstGeom>
          <a:noFill/>
        </p:spPr>
        <p:txBody>
          <a:bodyPr wrap="square" lIns="0" rIns="0" tIns="0" bIns="0" anchor="t"/>
          <a:lstStyle/>
          <a:p>
            <a:pPr algn="l">
              <a:lnSpc>
                <a:spcPts val="674"/>
              </a:lnSpc>
            </a:pPr>
            <a:r>
              <a:rPr sz="613" b="0" i="0">
                <a:solidFill>
                  <a:srgbClr val="2B3744"/>
                </a:solidFill>
                <a:latin typeface="Versos"/>
              </a:rPr>
              <a:t>Crédito</a:t>
            </a:r>
          </a:p>
          <a:p>
            <a:pPr algn="l">
              <a:lnSpc>
                <a:spcPts val="674"/>
              </a:lnSpc>
            </a:pPr>
            <a:r>
              <a:rPr sz="613" b="1" i="0">
                <a:solidFill>
                  <a:srgbClr val="2B3744"/>
                </a:solidFill>
                <a:latin typeface="Versos"/>
              </a:rPr>
              <a:t>Estruturado</a:t>
            </a:r>
          </a:p>
        </p:txBody>
      </p:sp>
      <p:sp>
        <p:nvSpPr>
          <p:cNvPr id="50" name="TextBox 49"/>
          <p:cNvSpPr txBox="1"/>
          <p:nvPr/>
        </p:nvSpPr>
        <p:spPr>
          <a:xfrm>
            <a:off x="6649256" y="6131868"/>
            <a:ext cx="484029" cy="143640"/>
          </a:xfrm>
          <a:prstGeom prst="rect">
            <a:avLst/>
          </a:prstGeom>
          <a:noFill/>
        </p:spPr>
        <p:txBody>
          <a:bodyPr wrap="none" lIns="0" rIns="0" tIns="0" bIns="0" anchor="t"/>
          <a:lstStyle/>
          <a:p>
            <a:pPr algn="l">
              <a:lnSpc>
                <a:spcPts val="1034"/>
              </a:lnSpc>
            </a:pPr>
            <a:r>
              <a:rPr sz="940" b="1" i="0">
                <a:solidFill>
                  <a:srgbClr val="2B3744"/>
                </a:solidFill>
                <a:latin typeface="Versos"/>
              </a:rPr>
              <a:t>2,8%</a:t>
            </a:r>
          </a:p>
        </p:txBody>
      </p:sp>
      <p:sp>
        <p:nvSpPr>
          <p:cNvPr id="51" name="TextBox 50"/>
          <p:cNvSpPr txBox="1"/>
          <p:nvPr/>
        </p:nvSpPr>
        <p:spPr>
          <a:xfrm>
            <a:off x="6657643" y="6379222"/>
            <a:ext cx="247542" cy="98280"/>
          </a:xfrm>
          <a:prstGeom prst="rect">
            <a:avLst/>
          </a:prstGeom>
          <a:noFill/>
        </p:spPr>
        <p:txBody>
          <a:bodyPr wrap="none" lIns="0" rIns="0" tIns="0" bIns="0" anchor="t"/>
          <a:lstStyle/>
          <a:p>
            <a:pPr algn="l">
              <a:lnSpc>
                <a:spcPts val="694"/>
              </a:lnSpc>
            </a:pPr>
            <a:r>
              <a:rPr sz="631" b="0" i="0">
                <a:solidFill>
                  <a:srgbClr val="2B3744"/>
                </a:solidFill>
                <a:latin typeface="Versos"/>
              </a:rPr>
              <a:t>Fiagro</a:t>
            </a:r>
          </a:p>
        </p:txBody>
      </p:sp>
      <p:sp>
        <p:nvSpPr>
          <p:cNvPr id="52" name="TextBox 51"/>
          <p:cNvSpPr txBox="1"/>
          <p:nvPr/>
        </p:nvSpPr>
        <p:spPr>
          <a:xfrm>
            <a:off x="6923660" y="6375678"/>
            <a:ext cx="186854" cy="98280"/>
          </a:xfrm>
          <a:prstGeom prst="rect">
            <a:avLst/>
          </a:prstGeom>
          <a:noFill/>
        </p:spPr>
        <p:txBody>
          <a:bodyPr wrap="none" lIns="0" rIns="0" tIns="0" bIns="0" anchor="t"/>
          <a:lstStyle/>
          <a:p>
            <a:pPr algn="l">
              <a:lnSpc>
                <a:spcPts val="631"/>
              </a:lnSpc>
            </a:pPr>
            <a:r>
              <a:rPr sz="631" b="1" i="0">
                <a:solidFill>
                  <a:srgbClr val="2B3744"/>
                </a:solidFill>
                <a:latin typeface="Versos"/>
              </a:rPr>
              <a:t>1,5%</a:t>
            </a:r>
          </a:p>
        </p:txBody>
      </p:sp>
      <p:sp>
        <p:nvSpPr>
          <p:cNvPr id="53" name="TextBox 52"/>
          <p:cNvSpPr txBox="1"/>
          <p:nvPr/>
        </p:nvSpPr>
        <p:spPr>
          <a:xfrm>
            <a:off x="6657643" y="6572593"/>
            <a:ext cx="533291" cy="60480"/>
          </a:xfrm>
          <a:prstGeom prst="rect">
            <a:avLst/>
          </a:prstGeom>
          <a:noFill/>
        </p:spPr>
        <p:txBody>
          <a:bodyPr wrap="none" lIns="0" rIns="0" tIns="0" bIns="0" anchor="t"/>
          <a:lstStyle/>
          <a:p>
            <a:pPr algn="l">
              <a:lnSpc>
                <a:spcPts val="425"/>
              </a:lnSpc>
            </a:pPr>
            <a:r>
              <a:rPr sz="386" b="0" i="0">
                <a:solidFill>
                  <a:srgbClr val="2B3744"/>
                </a:solidFill>
                <a:latin typeface="Versos"/>
              </a:rPr>
              <a:t>FIDCs Cota Mezanino</a:t>
            </a:r>
          </a:p>
        </p:txBody>
      </p:sp>
      <p:sp>
        <p:nvSpPr>
          <p:cNvPr id="54" name="TextBox 53"/>
          <p:cNvSpPr txBox="1"/>
          <p:nvPr/>
        </p:nvSpPr>
        <p:spPr>
          <a:xfrm>
            <a:off x="7187551" y="6574955"/>
            <a:ext cx="128255" cy="60480"/>
          </a:xfrm>
          <a:prstGeom prst="rect">
            <a:avLst/>
          </a:prstGeom>
          <a:noFill/>
        </p:spPr>
        <p:txBody>
          <a:bodyPr wrap="none" lIns="0" rIns="0" tIns="0" bIns="0" anchor="t"/>
          <a:lstStyle/>
          <a:p>
            <a:pPr algn="l">
              <a:lnSpc>
                <a:spcPts val="386"/>
              </a:lnSpc>
            </a:pPr>
            <a:r>
              <a:rPr sz="386" b="1" i="0">
                <a:solidFill>
                  <a:srgbClr val="2B3744"/>
                </a:solidFill>
                <a:latin typeface="Versos"/>
              </a:rPr>
              <a:t>0,5%</a:t>
            </a:r>
          </a:p>
        </p:txBody>
      </p:sp>
      <p:sp>
        <p:nvSpPr>
          <p:cNvPr id="55" name="TextBox 54"/>
          <p:cNvSpPr txBox="1"/>
          <p:nvPr/>
        </p:nvSpPr>
        <p:spPr>
          <a:xfrm>
            <a:off x="529200" y="6743638"/>
            <a:ext cx="1221129"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76,7%</a:t>
            </a:r>
          </a:p>
        </p:txBody>
      </p:sp>
      <p:sp>
        <p:nvSpPr>
          <p:cNvPr id="56" name="TextBox 55"/>
          <p:cNvSpPr txBox="1"/>
          <p:nvPr/>
        </p:nvSpPr>
        <p:spPr>
          <a:xfrm>
            <a:off x="1967962" y="6743638"/>
            <a:ext cx="720146"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15,7%</a:t>
            </a:r>
          </a:p>
        </p:txBody>
      </p:sp>
      <p:sp>
        <p:nvSpPr>
          <p:cNvPr id="57" name="TextBox 56"/>
          <p:cNvSpPr txBox="1"/>
          <p:nvPr/>
        </p:nvSpPr>
        <p:spPr>
          <a:xfrm>
            <a:off x="2925011" y="6743638"/>
            <a:ext cx="1018180"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3,5%</a:t>
            </a:r>
          </a:p>
        </p:txBody>
      </p:sp>
      <p:sp>
        <p:nvSpPr>
          <p:cNvPr id="58" name="TextBox 57"/>
          <p:cNvSpPr txBox="1"/>
          <p:nvPr/>
        </p:nvSpPr>
        <p:spPr>
          <a:xfrm>
            <a:off x="4168631" y="6743638"/>
            <a:ext cx="1222111"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2,8%</a:t>
            </a:r>
          </a:p>
        </p:txBody>
      </p:sp>
      <p:sp>
        <p:nvSpPr>
          <p:cNvPr id="59" name="TextBox 58"/>
          <p:cNvSpPr txBox="1"/>
          <p:nvPr/>
        </p:nvSpPr>
        <p:spPr>
          <a:xfrm>
            <a:off x="5608338" y="6743638"/>
            <a:ext cx="55945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1,5%</a:t>
            </a:r>
          </a:p>
        </p:txBody>
      </p:sp>
      <p:sp>
        <p:nvSpPr>
          <p:cNvPr id="60" name="TextBox 59"/>
          <p:cNvSpPr txBox="1"/>
          <p:nvPr/>
        </p:nvSpPr>
        <p:spPr>
          <a:xfrm>
            <a:off x="529200" y="6902398"/>
            <a:ext cx="1319409"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0,5%</a:t>
            </a:r>
          </a:p>
        </p:txBody>
      </p:sp>
      <p:sp>
        <p:nvSpPr>
          <p:cNvPr id="61" name="TextBox 60"/>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2" name="TextBox 61"/>
          <p:cNvSpPr txBox="1"/>
          <p:nvPr/>
        </p:nvSpPr>
        <p:spPr>
          <a:xfrm>
            <a:off x="415800" y="7998598"/>
            <a:ext cx="6728400" cy="267553"/>
          </a:xfrm>
          <a:prstGeom prst="rect">
            <a:avLst/>
          </a:prstGeom>
          <a:noFill/>
        </p:spPr>
        <p:txBody>
          <a:bodyPr wrap="square" lIns="0" rIns="0" tIns="0" bIns="0" anchor="t"/>
          <a:lstStyle/>
          <a:p>
            <a:pPr algn="just">
              <a:lnSpc>
                <a:spcPts val="1036"/>
              </a:lnSpc>
            </a:pPr>
            <a:r>
              <a:rPr sz="878" b="0" i="0">
                <a:solidFill>
                  <a:srgbClr val="222222"/>
                </a:solidFill>
                <a:latin typeface="Versos"/>
              </a:rPr>
              <a:t>O Tivio ALT 90 registrou rentabilidade de 1,17% no mês, equivalente a 108,27% do CDI no período. Desde o início da estratégia, o fundo acumula retorno de 22,67%, frente a 19,70% do CDI, o que corresponde a um desempenho anualizado de 115% do CDI.</a:t>
            </a:r>
          </a:p>
        </p:txBody>
      </p:sp>
      <p:sp>
        <p:nvSpPr>
          <p:cNvPr id="63" name="TextBox 62"/>
          <p:cNvSpPr txBox="1"/>
          <p:nvPr/>
        </p:nvSpPr>
        <p:spPr>
          <a:xfrm>
            <a:off x="415800" y="8328403"/>
            <a:ext cx="6728400" cy="793445"/>
          </a:xfrm>
          <a:prstGeom prst="rect">
            <a:avLst/>
          </a:prstGeom>
          <a:noFill/>
        </p:spPr>
        <p:txBody>
          <a:bodyPr wrap="square" lIns="0" rIns="0" tIns="0" bIns="0" anchor="t"/>
          <a:lstStyle/>
          <a:p>
            <a:pPr algn="just">
              <a:lnSpc>
                <a:spcPts val="1036"/>
              </a:lnSpc>
            </a:pPr>
            <a:r>
              <a:rPr sz="878"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4" name="TextBox 63"/>
          <p:cNvSpPr txBox="1"/>
          <p:nvPr/>
        </p:nvSpPr>
        <p:spPr>
          <a:xfrm>
            <a:off x="415800" y="9184100"/>
            <a:ext cx="6728400" cy="661972"/>
          </a:xfrm>
          <a:prstGeom prst="rect">
            <a:avLst/>
          </a:prstGeom>
          <a:noFill/>
        </p:spPr>
        <p:txBody>
          <a:bodyPr wrap="square" lIns="0" rIns="0" tIns="0" bIns="0" anchor="t"/>
          <a:lstStyle/>
          <a:p>
            <a:pPr algn="just">
              <a:lnSpc>
                <a:spcPts val="1036"/>
              </a:lnSpc>
            </a:pPr>
            <a:r>
              <a:rPr sz="878"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5" name="TextBox 6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9213" cy="143640"/>
          </a:xfrm>
          <a:prstGeom prst="rect">
            <a:avLst/>
          </a:prstGeom>
          <a:noFill/>
        </p:spPr>
        <p:txBody>
          <a:bodyPr wrap="none" lIns="0" rIns="0" tIns="0" bIns="0" anchor="t"/>
          <a:lstStyle/>
          <a:p>
            <a:pPr algn="l">
              <a:lnSpc>
                <a:spcPts val="1107"/>
              </a:lnSpc>
            </a:pPr>
            <a:r>
              <a:rPr sz="922" b="1" i="0">
                <a:solidFill>
                  <a:srgbClr val="111111"/>
                </a:solidFill>
                <a:latin typeface="Versos"/>
              </a:rPr>
              <a:t>35,62%</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62551" y="1880077"/>
            <a:ext cx="430957" cy="143640"/>
          </a:xfrm>
          <a:prstGeom prst="rect">
            <a:avLst/>
          </a:prstGeom>
          <a:noFill/>
        </p:spPr>
        <p:txBody>
          <a:bodyPr wrap="none" lIns="0" rIns="0" tIns="0" bIns="0" anchor="t"/>
          <a:lstStyle/>
          <a:p>
            <a:pPr algn="l">
              <a:lnSpc>
                <a:spcPts val="1107"/>
              </a:lnSpc>
            </a:pPr>
            <a:r>
              <a:rPr sz="922" b="1" i="0">
                <a:solidFill>
                  <a:srgbClr val="111111"/>
                </a:solidFill>
                <a:latin typeface="Versos"/>
              </a:rPr>
              <a:t>13,05%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34740" y="213711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9,23%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93751" y="2394157"/>
            <a:ext cx="355773" cy="143640"/>
          </a:xfrm>
          <a:prstGeom prst="rect">
            <a:avLst/>
          </a:prstGeom>
          <a:noFill/>
        </p:spPr>
        <p:txBody>
          <a:bodyPr wrap="none" lIns="0" rIns="0" tIns="0" bIns="0" anchor="t"/>
          <a:lstStyle/>
          <a:p>
            <a:pPr algn="l">
              <a:lnSpc>
                <a:spcPts val="1107"/>
              </a:lnSpc>
            </a:pPr>
            <a:r>
              <a:rPr sz="922" b="1" i="0">
                <a:solidFill>
                  <a:srgbClr val="111111"/>
                </a:solidFill>
                <a:latin typeface="Versos"/>
              </a:rPr>
              <a:t>8,01%</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4" name="TextBox 13"/>
          <p:cNvSpPr txBox="1"/>
          <p:nvPr/>
        </p:nvSpPr>
        <p:spPr>
          <a:xfrm>
            <a:off x="2283710" y="2651197"/>
            <a:ext cx="362776" cy="143640"/>
          </a:xfrm>
          <a:prstGeom prst="rect">
            <a:avLst/>
          </a:prstGeom>
          <a:noFill/>
        </p:spPr>
        <p:txBody>
          <a:bodyPr wrap="none" lIns="0" rIns="0" tIns="0" bIns="0" anchor="t"/>
          <a:lstStyle/>
          <a:p>
            <a:pPr algn="l">
              <a:lnSpc>
                <a:spcPts val="1107"/>
              </a:lnSpc>
            </a:pPr>
            <a:r>
              <a:rPr sz="922" b="1" i="0">
                <a:solidFill>
                  <a:srgbClr val="111111"/>
                </a:solidFill>
                <a:latin typeface="Versos"/>
              </a:rPr>
              <a:t>7,70%</a:t>
            </a:r>
          </a:p>
        </p:txBody>
      </p:sp>
      <p:sp>
        <p:nvSpPr>
          <p:cNvPr id="15" name="TextBox 14"/>
          <p:cNvSpPr txBox="1"/>
          <p:nvPr/>
        </p:nvSpPr>
        <p:spPr>
          <a:xfrm>
            <a:off x="400680" y="285945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6" name="TextBox 15"/>
          <p:cNvSpPr txBox="1"/>
          <p:nvPr/>
        </p:nvSpPr>
        <p:spPr>
          <a:xfrm>
            <a:off x="2165821" y="2908237"/>
            <a:ext cx="353316" cy="143640"/>
          </a:xfrm>
          <a:prstGeom prst="rect">
            <a:avLst/>
          </a:prstGeom>
          <a:noFill/>
        </p:spPr>
        <p:txBody>
          <a:bodyPr wrap="none" lIns="0" rIns="0" tIns="0" bIns="0" anchor="t"/>
          <a:lstStyle/>
          <a:p>
            <a:pPr algn="l">
              <a:lnSpc>
                <a:spcPts val="1107"/>
              </a:lnSpc>
            </a:pPr>
            <a:r>
              <a:rPr sz="922" b="1" i="0">
                <a:solidFill>
                  <a:srgbClr val="111111"/>
                </a:solidFill>
                <a:latin typeface="Versos"/>
              </a:rPr>
              <a:t>4,18%</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8" name="TextBox 17"/>
          <p:cNvSpPr txBox="1"/>
          <p:nvPr/>
        </p:nvSpPr>
        <p:spPr>
          <a:xfrm>
            <a:off x="2154245" y="316527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3,83%</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0" name="TextBox 19"/>
          <p:cNvSpPr txBox="1"/>
          <p:nvPr/>
        </p:nvSpPr>
        <p:spPr>
          <a:xfrm>
            <a:off x="2144441" y="342231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3,54%</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43023" y="3679357"/>
            <a:ext cx="388943" cy="143640"/>
          </a:xfrm>
          <a:prstGeom prst="rect">
            <a:avLst/>
          </a:prstGeom>
          <a:noFill/>
        </p:spPr>
        <p:txBody>
          <a:bodyPr wrap="none" lIns="0" rIns="0" tIns="0" bIns="0" anchor="t"/>
          <a:lstStyle/>
          <a:p>
            <a:pPr algn="l">
              <a:lnSpc>
                <a:spcPts val="1107"/>
              </a:lnSpc>
            </a:pPr>
            <a:r>
              <a:rPr sz="922" b="1" i="0">
                <a:solidFill>
                  <a:srgbClr val="111111"/>
                </a:solidFill>
                <a:latin typeface="Versos"/>
              </a:rPr>
              <a:t>3,50%</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24" name="TextBox 23"/>
          <p:cNvSpPr txBox="1"/>
          <p:nvPr/>
        </p:nvSpPr>
        <p:spPr>
          <a:xfrm>
            <a:off x="2141133" y="3936397"/>
            <a:ext cx="385749" cy="143640"/>
          </a:xfrm>
          <a:prstGeom prst="rect">
            <a:avLst/>
          </a:prstGeom>
          <a:noFill/>
        </p:spPr>
        <p:txBody>
          <a:bodyPr wrap="none" lIns="0" rIns="0" tIns="0" bIns="0" anchor="t"/>
          <a:lstStyle/>
          <a:p>
            <a:pPr algn="l">
              <a:lnSpc>
                <a:spcPts val="1107"/>
              </a:lnSpc>
            </a:pPr>
            <a:r>
              <a:rPr sz="922" b="1" i="0">
                <a:solidFill>
                  <a:srgbClr val="111111"/>
                </a:solidFill>
                <a:latin typeface="Versos"/>
              </a:rPr>
              <a:t>3,44%</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6" name="TextBox 25"/>
          <p:cNvSpPr txBox="1"/>
          <p:nvPr/>
        </p:nvSpPr>
        <p:spPr>
          <a:xfrm>
            <a:off x="2118217" y="4193437"/>
            <a:ext cx="376658" cy="143640"/>
          </a:xfrm>
          <a:prstGeom prst="rect">
            <a:avLst/>
          </a:prstGeom>
          <a:noFill/>
        </p:spPr>
        <p:txBody>
          <a:bodyPr wrap="none" lIns="0" rIns="0" tIns="0" bIns="0" anchor="t"/>
          <a:lstStyle/>
          <a:p>
            <a:pPr algn="l">
              <a:lnSpc>
                <a:spcPts val="1107"/>
              </a:lnSpc>
            </a:pPr>
            <a:r>
              <a:rPr sz="922" b="1" i="0">
                <a:solidFill>
                  <a:srgbClr val="111111"/>
                </a:solidFill>
                <a:latin typeface="Versos"/>
              </a:rPr>
              <a:t>2,76%</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Varejo Eletrodoméstico</a:t>
            </a:r>
          </a:p>
        </p:txBody>
      </p:sp>
      <p:sp>
        <p:nvSpPr>
          <p:cNvPr id="28" name="TextBox 27"/>
          <p:cNvSpPr txBox="1"/>
          <p:nvPr/>
        </p:nvSpPr>
        <p:spPr>
          <a:xfrm>
            <a:off x="2097900" y="4450477"/>
            <a:ext cx="341523" cy="143640"/>
          </a:xfrm>
          <a:prstGeom prst="rect">
            <a:avLst/>
          </a:prstGeom>
          <a:noFill/>
        </p:spPr>
        <p:txBody>
          <a:bodyPr wrap="none" lIns="0" rIns="0" tIns="0" bIns="0" anchor="t"/>
          <a:lstStyle/>
          <a:p>
            <a:pPr algn="l">
              <a:lnSpc>
                <a:spcPts val="1107"/>
              </a:lnSpc>
            </a:pPr>
            <a:r>
              <a:rPr sz="922" b="1" i="0">
                <a:solidFill>
                  <a:srgbClr val="111111"/>
                </a:solidFill>
                <a:latin typeface="Versos"/>
              </a:rPr>
              <a:t>2,15%</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1,88%</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1,07%</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R$ 20.954.147,09</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R$ 16.917.619,85</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