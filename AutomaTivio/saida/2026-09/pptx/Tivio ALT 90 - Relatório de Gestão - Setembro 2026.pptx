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HY 90 FIDC RL </a:t>
            </a:r>
            <a:r>
              <a:rPr sz="903" b="0" i="0">
                <a:solidFill>
                  <a:srgbClr val="FFFFFF"/>
                </a:solidFill>
                <a:latin typeface="Versos"/>
              </a:rPr>
              <a:t>/ CNPJ 61.020.441/0001-40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90</a:t>
            </a:r>
            <a:r>
              <a:rPr sz="1220" b="0" i="0">
                <a:solidFill>
                  <a:srgbClr val="FFFFFF"/>
                </a:solidFill>
                <a:latin typeface="Versos"/>
              </a:rPr>
              <a:t> busca retorno superior ao CDI com baixa volatilidade, por meio de FIDCs em cotas sênior, garantindo diversificação, segurança e relação risco-retorno atrativa.</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1,17%</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11,69%</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16,25%</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22,67%</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1,08%</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10,51%</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14,48%</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19,70%</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108,27%</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111,24%</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112,21%</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115,11%</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1,07%</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1,44%</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1,55%</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1,88%</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30/09/2026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089934"/>
            <a:ext cx="4818318"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 Sênior</a:t>
            </a:r>
          </a:p>
        </p:txBody>
      </p:sp>
      <p:sp>
        <p:nvSpPr>
          <p:cNvPr id="44" name="TextBox 43"/>
          <p:cNvSpPr txBox="1"/>
          <p:nvPr/>
        </p:nvSpPr>
        <p:spPr>
          <a:xfrm>
            <a:off x="498960" y="6387609"/>
            <a:ext cx="5011051" cy="189000"/>
          </a:xfrm>
          <a:prstGeom prst="rect">
            <a:avLst/>
          </a:prstGeom>
          <a:noFill/>
        </p:spPr>
        <p:txBody>
          <a:bodyPr wrap="none" lIns="0" rIns="0" tIns="0" bIns="0" anchor="t"/>
          <a:lstStyle/>
          <a:p>
            <a:pPr algn="l">
              <a:lnSpc>
                <a:spcPts val="1375"/>
              </a:lnSpc>
            </a:pPr>
            <a:r>
              <a:rPr sz="1250" b="1" i="0">
                <a:solidFill>
                  <a:srgbClr val="FFFFFF"/>
                </a:solidFill>
                <a:latin typeface="Versos"/>
              </a:rPr>
              <a:t>74,2%</a:t>
            </a:r>
          </a:p>
        </p:txBody>
      </p:sp>
      <p:sp>
        <p:nvSpPr>
          <p:cNvPr id="45" name="TextBox 44"/>
          <p:cNvSpPr txBox="1"/>
          <p:nvPr/>
        </p:nvSpPr>
        <p:spPr>
          <a:xfrm>
            <a:off x="5505451" y="6239598"/>
            <a:ext cx="981202" cy="151200"/>
          </a:xfrm>
          <a:prstGeom prst="rect">
            <a:avLst/>
          </a:prstGeom>
          <a:noFill/>
        </p:spPr>
        <p:txBody>
          <a:bodyPr wrap="none" lIns="0" rIns="0" tIns="0" bIns="0" anchor="t"/>
          <a:lstStyle/>
          <a:p>
            <a:pPr algn="l">
              <a:lnSpc>
                <a:spcPts val="1113"/>
              </a:lnSpc>
            </a:pPr>
            <a:r>
              <a:rPr sz="1012" b="0" i="0">
                <a:solidFill>
                  <a:srgbClr val="2B3744"/>
                </a:solidFill>
                <a:latin typeface="Versos"/>
              </a:rPr>
              <a:t>Liquidez</a:t>
            </a:r>
          </a:p>
        </p:txBody>
      </p:sp>
      <p:sp>
        <p:nvSpPr>
          <p:cNvPr id="46" name="TextBox 45"/>
          <p:cNvSpPr txBox="1"/>
          <p:nvPr/>
        </p:nvSpPr>
        <p:spPr>
          <a:xfrm>
            <a:off x="5505451" y="6395996"/>
            <a:ext cx="981202" cy="189000"/>
          </a:xfrm>
          <a:prstGeom prst="rect">
            <a:avLst/>
          </a:prstGeom>
          <a:noFill/>
        </p:spPr>
        <p:txBody>
          <a:bodyPr wrap="none" lIns="0" rIns="0" tIns="0" bIns="0" anchor="t"/>
          <a:lstStyle/>
          <a:p>
            <a:pPr algn="l">
              <a:lnSpc>
                <a:spcPts val="1375"/>
              </a:lnSpc>
            </a:pPr>
            <a:r>
              <a:rPr sz="1250" b="1" i="0">
                <a:solidFill>
                  <a:srgbClr val="2B3744"/>
                </a:solidFill>
                <a:latin typeface="Versos"/>
              </a:rPr>
              <a:t>16,6%</a:t>
            </a:r>
          </a:p>
        </p:txBody>
      </p:sp>
      <p:sp>
        <p:nvSpPr>
          <p:cNvPr id="47" name="TextBox 46"/>
          <p:cNvSpPr txBox="1"/>
          <p:nvPr/>
        </p:nvSpPr>
        <p:spPr>
          <a:xfrm>
            <a:off x="6588658" y="5509350"/>
            <a:ext cx="520695" cy="201403"/>
          </a:xfrm>
          <a:prstGeom prst="rect">
            <a:avLst/>
          </a:prstGeom>
          <a:noFill/>
        </p:spPr>
        <p:txBody>
          <a:bodyPr wrap="square" lIns="0" rIns="0" tIns="0" bIns="0" anchor="t"/>
          <a:lstStyle/>
          <a:p>
            <a:pPr algn="l">
              <a:lnSpc>
                <a:spcPts val="753"/>
              </a:lnSpc>
            </a:pPr>
            <a:r>
              <a:rPr sz="684" b="0" i="0">
                <a:solidFill>
                  <a:srgbClr val="FFFFFF"/>
                </a:solidFill>
                <a:latin typeface="Versos"/>
              </a:rPr>
              <a:t>Crédito</a:t>
            </a:r>
          </a:p>
          <a:p>
            <a:pPr algn="l">
              <a:lnSpc>
                <a:spcPts val="753"/>
              </a:lnSpc>
            </a:pPr>
            <a:r>
              <a:rPr sz="684" b="1" i="0">
                <a:solidFill>
                  <a:srgbClr val="FFFFFF"/>
                </a:solidFill>
                <a:latin typeface="Versos"/>
              </a:rPr>
              <a:t>Privado</a:t>
            </a:r>
          </a:p>
        </p:txBody>
      </p:sp>
      <p:sp>
        <p:nvSpPr>
          <p:cNvPr id="48" name="TextBox 47"/>
          <p:cNvSpPr txBox="1"/>
          <p:nvPr/>
        </p:nvSpPr>
        <p:spPr>
          <a:xfrm>
            <a:off x="6588658" y="5715596"/>
            <a:ext cx="541522" cy="158760"/>
          </a:xfrm>
          <a:prstGeom prst="rect">
            <a:avLst/>
          </a:prstGeom>
          <a:noFill/>
        </p:spPr>
        <p:txBody>
          <a:bodyPr wrap="none" lIns="0" rIns="0" tIns="0" bIns="0" anchor="t"/>
          <a:lstStyle/>
          <a:p>
            <a:pPr algn="l">
              <a:lnSpc>
                <a:spcPts val="1159"/>
              </a:lnSpc>
            </a:pPr>
            <a:r>
              <a:rPr sz="1053" b="1" i="0">
                <a:solidFill>
                  <a:srgbClr val="FFFFFF"/>
                </a:solidFill>
                <a:latin typeface="Versos"/>
              </a:rPr>
              <a:t>3,9%</a:t>
            </a:r>
          </a:p>
        </p:txBody>
      </p:sp>
      <p:sp>
        <p:nvSpPr>
          <p:cNvPr id="49" name="TextBox 48"/>
          <p:cNvSpPr txBox="1"/>
          <p:nvPr/>
        </p:nvSpPr>
        <p:spPr>
          <a:xfrm>
            <a:off x="6588658" y="6038668"/>
            <a:ext cx="541522" cy="68040"/>
          </a:xfrm>
          <a:prstGeom prst="rect">
            <a:avLst/>
          </a:prstGeom>
          <a:noFill/>
        </p:spPr>
        <p:txBody>
          <a:bodyPr wrap="none" lIns="0" rIns="0" tIns="0" bIns="0" anchor="t"/>
          <a:lstStyle/>
          <a:p>
            <a:pPr algn="l">
              <a:lnSpc>
                <a:spcPts val="451"/>
              </a:lnSpc>
            </a:pPr>
            <a:r>
              <a:rPr sz="410" b="0" i="0">
                <a:solidFill>
                  <a:srgbClr val="2B3744"/>
                </a:solidFill>
                <a:latin typeface="Versos"/>
              </a:rPr>
              <a:t>Crédito Estruturado</a:t>
            </a:r>
          </a:p>
        </p:txBody>
      </p:sp>
      <p:sp>
        <p:nvSpPr>
          <p:cNvPr id="50" name="TextBox 49"/>
          <p:cNvSpPr txBox="1"/>
          <p:nvPr/>
        </p:nvSpPr>
        <p:spPr>
          <a:xfrm>
            <a:off x="6588658" y="6111196"/>
            <a:ext cx="541522" cy="158760"/>
          </a:xfrm>
          <a:prstGeom prst="rect">
            <a:avLst/>
          </a:prstGeom>
          <a:noFill/>
        </p:spPr>
        <p:txBody>
          <a:bodyPr wrap="none" lIns="0" rIns="0" tIns="0" bIns="0" anchor="t"/>
          <a:lstStyle/>
          <a:p>
            <a:pPr algn="l">
              <a:lnSpc>
                <a:spcPts val="1159"/>
              </a:lnSpc>
            </a:pPr>
            <a:r>
              <a:rPr sz="1053" b="1" i="0">
                <a:solidFill>
                  <a:srgbClr val="2B3744"/>
                </a:solidFill>
                <a:latin typeface="Versos"/>
              </a:rPr>
              <a:t>3,1%</a:t>
            </a:r>
          </a:p>
        </p:txBody>
      </p:sp>
      <p:sp>
        <p:nvSpPr>
          <p:cNvPr id="51" name="TextBox 50"/>
          <p:cNvSpPr txBox="1"/>
          <p:nvPr/>
        </p:nvSpPr>
        <p:spPr>
          <a:xfrm>
            <a:off x="6591729" y="6373670"/>
            <a:ext cx="280220" cy="105840"/>
          </a:xfrm>
          <a:prstGeom prst="rect">
            <a:avLst/>
          </a:prstGeom>
          <a:noFill/>
        </p:spPr>
        <p:txBody>
          <a:bodyPr wrap="none" lIns="0" rIns="0" tIns="0" bIns="0" anchor="t"/>
          <a:lstStyle/>
          <a:p>
            <a:pPr algn="l">
              <a:lnSpc>
                <a:spcPts val="785"/>
              </a:lnSpc>
            </a:pPr>
            <a:r>
              <a:rPr sz="714" b="0" i="0">
                <a:solidFill>
                  <a:srgbClr val="2B3744"/>
                </a:solidFill>
                <a:latin typeface="Versos"/>
              </a:rPr>
              <a:t>Fiagro</a:t>
            </a:r>
          </a:p>
        </p:txBody>
      </p:sp>
      <p:sp>
        <p:nvSpPr>
          <p:cNvPr id="52" name="TextBox 51"/>
          <p:cNvSpPr txBox="1"/>
          <p:nvPr/>
        </p:nvSpPr>
        <p:spPr>
          <a:xfrm>
            <a:off x="6892830" y="6378159"/>
            <a:ext cx="214741" cy="105840"/>
          </a:xfrm>
          <a:prstGeom prst="rect">
            <a:avLst/>
          </a:prstGeom>
          <a:noFill/>
        </p:spPr>
        <p:txBody>
          <a:bodyPr wrap="none" lIns="0" rIns="0" tIns="0" bIns="0" anchor="t"/>
          <a:lstStyle/>
          <a:p>
            <a:pPr algn="l">
              <a:lnSpc>
                <a:spcPts val="714"/>
              </a:lnSpc>
            </a:pPr>
            <a:r>
              <a:rPr sz="714" b="1" i="0">
                <a:solidFill>
                  <a:srgbClr val="2B3744"/>
                </a:solidFill>
                <a:latin typeface="Versos"/>
              </a:rPr>
              <a:t>1,6%</a:t>
            </a:r>
          </a:p>
        </p:txBody>
      </p:sp>
      <p:sp>
        <p:nvSpPr>
          <p:cNvPr id="53" name="TextBox 52"/>
          <p:cNvSpPr txBox="1"/>
          <p:nvPr/>
        </p:nvSpPr>
        <p:spPr>
          <a:xfrm>
            <a:off x="6591729" y="6572593"/>
            <a:ext cx="533291" cy="60480"/>
          </a:xfrm>
          <a:prstGeom prst="rect">
            <a:avLst/>
          </a:prstGeom>
          <a:noFill/>
        </p:spPr>
        <p:txBody>
          <a:bodyPr wrap="none" lIns="0" rIns="0" tIns="0" bIns="0" anchor="t"/>
          <a:lstStyle/>
          <a:p>
            <a:pPr algn="l">
              <a:lnSpc>
                <a:spcPts val="425"/>
              </a:lnSpc>
            </a:pPr>
            <a:r>
              <a:rPr sz="386" b="0" i="0">
                <a:solidFill>
                  <a:srgbClr val="2B3744"/>
                </a:solidFill>
                <a:latin typeface="Versos"/>
              </a:rPr>
              <a:t>FIDCs Cota Mezanino</a:t>
            </a:r>
          </a:p>
        </p:txBody>
      </p:sp>
      <p:sp>
        <p:nvSpPr>
          <p:cNvPr id="54" name="TextBox 53"/>
          <p:cNvSpPr txBox="1"/>
          <p:nvPr/>
        </p:nvSpPr>
        <p:spPr>
          <a:xfrm>
            <a:off x="7121638" y="6574955"/>
            <a:ext cx="129975" cy="60480"/>
          </a:xfrm>
          <a:prstGeom prst="rect">
            <a:avLst/>
          </a:prstGeom>
          <a:noFill/>
        </p:spPr>
        <p:txBody>
          <a:bodyPr wrap="none" lIns="0" rIns="0" tIns="0" bIns="0" anchor="t"/>
          <a:lstStyle/>
          <a:p>
            <a:pPr algn="l">
              <a:lnSpc>
                <a:spcPts val="386"/>
              </a:lnSpc>
            </a:pPr>
            <a:r>
              <a:rPr sz="386" b="1" i="0">
                <a:solidFill>
                  <a:srgbClr val="2B3744"/>
                </a:solidFill>
                <a:latin typeface="Versos"/>
              </a:rPr>
              <a:t>0,6%</a:t>
            </a:r>
          </a:p>
        </p:txBody>
      </p:sp>
      <p:sp>
        <p:nvSpPr>
          <p:cNvPr id="55" name="TextBox 54"/>
          <p:cNvSpPr txBox="1"/>
          <p:nvPr/>
        </p:nvSpPr>
        <p:spPr>
          <a:xfrm>
            <a:off x="529200" y="6743638"/>
            <a:ext cx="1223463"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Sênior </a:t>
            </a:r>
            <a:r>
              <a:rPr sz="744" b="1" i="0">
                <a:solidFill>
                  <a:srgbClr val="111111"/>
                </a:solidFill>
                <a:latin typeface="Versos"/>
              </a:rPr>
              <a:t>74,2%</a:t>
            </a:r>
          </a:p>
        </p:txBody>
      </p:sp>
      <p:sp>
        <p:nvSpPr>
          <p:cNvPr id="56" name="TextBox 55"/>
          <p:cNvSpPr txBox="1"/>
          <p:nvPr/>
        </p:nvSpPr>
        <p:spPr>
          <a:xfrm>
            <a:off x="1970206" y="6743638"/>
            <a:ext cx="727272"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16,6%</a:t>
            </a:r>
          </a:p>
        </p:txBody>
      </p:sp>
      <p:sp>
        <p:nvSpPr>
          <p:cNvPr id="57" name="TextBox 56"/>
          <p:cNvSpPr txBox="1"/>
          <p:nvPr/>
        </p:nvSpPr>
        <p:spPr>
          <a:xfrm>
            <a:off x="2934106" y="6743638"/>
            <a:ext cx="1021374"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3,9%</a:t>
            </a:r>
          </a:p>
        </p:txBody>
      </p:sp>
      <p:sp>
        <p:nvSpPr>
          <p:cNvPr id="58" name="TextBox 57"/>
          <p:cNvSpPr txBox="1"/>
          <p:nvPr/>
        </p:nvSpPr>
        <p:spPr>
          <a:xfrm>
            <a:off x="4180798" y="6743638"/>
            <a:ext cx="1189802"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3,1%</a:t>
            </a:r>
          </a:p>
        </p:txBody>
      </p:sp>
      <p:sp>
        <p:nvSpPr>
          <p:cNvPr id="59" name="TextBox 58"/>
          <p:cNvSpPr txBox="1"/>
          <p:nvPr/>
        </p:nvSpPr>
        <p:spPr>
          <a:xfrm>
            <a:off x="5589438" y="6743638"/>
            <a:ext cx="562653"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1,6%</a:t>
            </a:r>
          </a:p>
        </p:txBody>
      </p:sp>
      <p:sp>
        <p:nvSpPr>
          <p:cNvPr id="60" name="TextBox 59"/>
          <p:cNvSpPr txBox="1"/>
          <p:nvPr/>
        </p:nvSpPr>
        <p:spPr>
          <a:xfrm>
            <a:off x="529200" y="6902398"/>
            <a:ext cx="1322603"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Mezanino </a:t>
            </a:r>
            <a:r>
              <a:rPr sz="744" b="1" i="0">
                <a:solidFill>
                  <a:srgbClr val="111111"/>
                </a:solidFill>
                <a:latin typeface="Versos"/>
              </a:rPr>
              <a:t>0,6%</a:t>
            </a:r>
          </a:p>
        </p:txBody>
      </p:sp>
      <p:sp>
        <p:nvSpPr>
          <p:cNvPr id="61" name="TextBox 60"/>
          <p:cNvSpPr txBox="1"/>
          <p:nvPr/>
        </p:nvSpPr>
        <p:spPr>
          <a:xfrm>
            <a:off x="415800" y="749963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2" name="TextBox 61"/>
          <p:cNvSpPr txBox="1"/>
          <p:nvPr/>
        </p:nvSpPr>
        <p:spPr>
          <a:xfrm>
            <a:off x="415800" y="7998598"/>
            <a:ext cx="6728400" cy="267553"/>
          </a:xfrm>
          <a:prstGeom prst="rect">
            <a:avLst/>
          </a:prstGeom>
          <a:noFill/>
        </p:spPr>
        <p:txBody>
          <a:bodyPr wrap="square" lIns="0" rIns="0" tIns="0" bIns="0" anchor="t"/>
          <a:lstStyle/>
          <a:p>
            <a:pPr algn="just">
              <a:lnSpc>
                <a:spcPts val="1036"/>
              </a:lnSpc>
            </a:pPr>
            <a:r>
              <a:rPr sz="878" b="0" i="0">
                <a:solidFill>
                  <a:srgbClr val="222222"/>
                </a:solidFill>
                <a:latin typeface="Versos"/>
              </a:rPr>
              <a:t>O Tivio ALT 90 registrou rentabilidade de 1,17% no mês, equivalente a 108,27% do CDI no período. Desde o início da estratégia, o fundo acumula retorno de 22,67%, frente a 19,70% do CDI, o que corresponde a um desempenho anualizado de 115% do CDI.</a:t>
            </a:r>
          </a:p>
        </p:txBody>
      </p:sp>
      <p:sp>
        <p:nvSpPr>
          <p:cNvPr id="63" name="TextBox 62"/>
          <p:cNvSpPr txBox="1"/>
          <p:nvPr/>
        </p:nvSpPr>
        <p:spPr>
          <a:xfrm>
            <a:off x="415800" y="8328403"/>
            <a:ext cx="6728400" cy="793445"/>
          </a:xfrm>
          <a:prstGeom prst="rect">
            <a:avLst/>
          </a:prstGeom>
          <a:noFill/>
        </p:spPr>
        <p:txBody>
          <a:bodyPr wrap="square" lIns="0" rIns="0" tIns="0" bIns="0" anchor="t"/>
          <a:lstStyle/>
          <a:p>
            <a:pPr algn="just">
              <a:lnSpc>
                <a:spcPts val="1036"/>
              </a:lnSpc>
            </a:pPr>
            <a:r>
              <a:rPr sz="878"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4" name="TextBox 63"/>
          <p:cNvSpPr txBox="1"/>
          <p:nvPr/>
        </p:nvSpPr>
        <p:spPr>
          <a:xfrm>
            <a:off x="415800" y="9184100"/>
            <a:ext cx="6728400" cy="661972"/>
          </a:xfrm>
          <a:prstGeom prst="rect">
            <a:avLst/>
          </a:prstGeom>
          <a:noFill/>
        </p:spPr>
        <p:txBody>
          <a:bodyPr wrap="square" lIns="0" rIns="0" tIns="0" bIns="0" anchor="t"/>
          <a:lstStyle/>
          <a:p>
            <a:pPr algn="just">
              <a:lnSpc>
                <a:spcPts val="1036"/>
              </a:lnSpc>
            </a:pPr>
            <a:r>
              <a:rPr sz="878"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5" name="TextBox 6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65232" cy="143640"/>
          </a:xfrm>
          <a:prstGeom prst="rect">
            <a:avLst/>
          </a:prstGeom>
          <a:noFill/>
        </p:spPr>
        <p:txBody>
          <a:bodyPr wrap="none" lIns="0" rIns="0" tIns="0" bIns="0" anchor="t"/>
          <a:lstStyle/>
          <a:p>
            <a:pPr algn="l">
              <a:lnSpc>
                <a:spcPts val="1107"/>
              </a:lnSpc>
            </a:pPr>
            <a:r>
              <a:rPr sz="922" b="1" i="0">
                <a:solidFill>
                  <a:srgbClr val="111111"/>
                </a:solidFill>
                <a:latin typeface="Versos"/>
              </a:rPr>
              <a:t>29,30%</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556461" y="1880077"/>
            <a:ext cx="430957" cy="143640"/>
          </a:xfrm>
          <a:prstGeom prst="rect">
            <a:avLst/>
          </a:prstGeom>
          <a:noFill/>
        </p:spPr>
        <p:txBody>
          <a:bodyPr wrap="none" lIns="0" rIns="0" tIns="0" bIns="0" anchor="t"/>
          <a:lstStyle/>
          <a:p>
            <a:pPr algn="l">
              <a:lnSpc>
                <a:spcPts val="1107"/>
              </a:lnSpc>
            </a:pPr>
            <a:r>
              <a:rPr sz="922" b="1" i="0">
                <a:solidFill>
                  <a:srgbClr val="111111"/>
                </a:solidFill>
                <a:latin typeface="Versos"/>
              </a:rPr>
              <a:t>13,05%</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0" name="TextBox 9"/>
          <p:cNvSpPr txBox="1"/>
          <p:nvPr/>
        </p:nvSpPr>
        <p:spPr>
          <a:xfrm>
            <a:off x="2351632" y="2137117"/>
            <a:ext cx="355773" cy="143640"/>
          </a:xfrm>
          <a:prstGeom prst="rect">
            <a:avLst/>
          </a:prstGeom>
          <a:noFill/>
        </p:spPr>
        <p:txBody>
          <a:bodyPr wrap="none" lIns="0" rIns="0" tIns="0" bIns="0" anchor="t"/>
          <a:lstStyle/>
          <a:p>
            <a:pPr algn="l">
              <a:lnSpc>
                <a:spcPts val="1107"/>
              </a:lnSpc>
            </a:pPr>
            <a:r>
              <a:rPr sz="922" b="1" i="0">
                <a:solidFill>
                  <a:srgbClr val="111111"/>
                </a:solidFill>
                <a:latin typeface="Versos"/>
              </a:rPr>
              <a:t>8,01%</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2" name="TextBox 11"/>
          <p:cNvSpPr txBox="1"/>
          <p:nvPr/>
        </p:nvSpPr>
        <p:spPr>
          <a:xfrm>
            <a:off x="2307926" y="2394157"/>
            <a:ext cx="385749" cy="143640"/>
          </a:xfrm>
          <a:prstGeom prst="rect">
            <a:avLst/>
          </a:prstGeom>
          <a:noFill/>
        </p:spPr>
        <p:txBody>
          <a:bodyPr wrap="none" lIns="0" rIns="0" tIns="0" bIns="0" anchor="t"/>
          <a:lstStyle/>
          <a:p>
            <a:pPr algn="l">
              <a:lnSpc>
                <a:spcPts val="1107"/>
              </a:lnSpc>
            </a:pPr>
            <a:r>
              <a:rPr sz="922" b="1" i="0">
                <a:solidFill>
                  <a:srgbClr val="111111"/>
                </a:solidFill>
                <a:latin typeface="Versos"/>
              </a:rPr>
              <a:t>6,93%</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4" name="TextBox 13"/>
          <p:cNvSpPr txBox="1"/>
          <p:nvPr/>
        </p:nvSpPr>
        <p:spPr>
          <a:xfrm>
            <a:off x="2251108" y="2651197"/>
            <a:ext cx="381940" cy="143640"/>
          </a:xfrm>
          <a:prstGeom prst="rect">
            <a:avLst/>
          </a:prstGeom>
          <a:noFill/>
        </p:spPr>
        <p:txBody>
          <a:bodyPr wrap="none" lIns="0" rIns="0" tIns="0" bIns="0" anchor="t"/>
          <a:lstStyle/>
          <a:p>
            <a:pPr algn="l">
              <a:lnSpc>
                <a:spcPts val="1107"/>
              </a:lnSpc>
            </a:pPr>
            <a:r>
              <a:rPr sz="922" b="1" i="0">
                <a:solidFill>
                  <a:srgbClr val="111111"/>
                </a:solidFill>
                <a:latin typeface="Versos"/>
              </a:rPr>
              <a:t>5,54%</a:t>
            </a:r>
          </a:p>
        </p:txBody>
      </p:sp>
      <p:sp>
        <p:nvSpPr>
          <p:cNvPr id="15" name="TextBox 14"/>
          <p:cNvSpPr txBox="1"/>
          <p:nvPr/>
        </p:nvSpPr>
        <p:spPr>
          <a:xfrm>
            <a:off x="400680" y="285945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6" name="TextBox 15"/>
          <p:cNvSpPr txBox="1"/>
          <p:nvPr/>
        </p:nvSpPr>
        <p:spPr>
          <a:xfrm>
            <a:off x="2195943" y="2908237"/>
            <a:ext cx="353316" cy="143640"/>
          </a:xfrm>
          <a:prstGeom prst="rect">
            <a:avLst/>
          </a:prstGeom>
          <a:noFill/>
        </p:spPr>
        <p:txBody>
          <a:bodyPr wrap="none" lIns="0" rIns="0" tIns="0" bIns="0" anchor="t"/>
          <a:lstStyle/>
          <a:p>
            <a:pPr algn="l">
              <a:lnSpc>
                <a:spcPts val="1107"/>
              </a:lnSpc>
            </a:pPr>
            <a:r>
              <a:rPr sz="922" b="1" i="0">
                <a:solidFill>
                  <a:srgbClr val="111111"/>
                </a:solidFill>
                <a:latin typeface="Versos"/>
              </a:rPr>
              <a:t>4,18%</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8" name="TextBox 17"/>
          <p:cNvSpPr txBox="1"/>
          <p:nvPr/>
        </p:nvSpPr>
        <p:spPr>
          <a:xfrm>
            <a:off x="2181768" y="3165277"/>
            <a:ext cx="387223" cy="143640"/>
          </a:xfrm>
          <a:prstGeom prst="rect">
            <a:avLst/>
          </a:prstGeom>
          <a:noFill/>
        </p:spPr>
        <p:txBody>
          <a:bodyPr wrap="none" lIns="0" rIns="0" tIns="0" bIns="0" anchor="t"/>
          <a:lstStyle/>
          <a:p>
            <a:pPr algn="l">
              <a:lnSpc>
                <a:spcPts val="1107"/>
              </a:lnSpc>
            </a:pPr>
            <a:r>
              <a:rPr sz="922" b="1" i="0">
                <a:solidFill>
                  <a:srgbClr val="111111"/>
                </a:solidFill>
                <a:latin typeface="Versos"/>
              </a:rPr>
              <a:t>3,83%</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20" name="TextBox 19"/>
          <p:cNvSpPr txBox="1"/>
          <p:nvPr/>
        </p:nvSpPr>
        <p:spPr>
          <a:xfrm>
            <a:off x="2170074" y="3422317"/>
            <a:ext cx="382432" cy="143640"/>
          </a:xfrm>
          <a:prstGeom prst="rect">
            <a:avLst/>
          </a:prstGeom>
          <a:noFill/>
        </p:spPr>
        <p:txBody>
          <a:bodyPr wrap="none" lIns="0" rIns="0" tIns="0" bIns="0" anchor="t"/>
          <a:lstStyle/>
          <a:p>
            <a:pPr algn="l">
              <a:lnSpc>
                <a:spcPts val="1107"/>
              </a:lnSpc>
            </a:pPr>
            <a:r>
              <a:rPr sz="922" b="1" i="0">
                <a:solidFill>
                  <a:srgbClr val="111111"/>
                </a:solidFill>
                <a:latin typeface="Versos"/>
              </a:rPr>
              <a:t>3,54%</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2" name="TextBox 21"/>
          <p:cNvSpPr txBox="1"/>
          <p:nvPr/>
        </p:nvSpPr>
        <p:spPr>
          <a:xfrm>
            <a:off x="2168302" y="3679357"/>
            <a:ext cx="388943" cy="143640"/>
          </a:xfrm>
          <a:prstGeom prst="rect">
            <a:avLst/>
          </a:prstGeom>
          <a:noFill/>
        </p:spPr>
        <p:txBody>
          <a:bodyPr wrap="none" lIns="0" rIns="0" tIns="0" bIns="0" anchor="t"/>
          <a:lstStyle/>
          <a:p>
            <a:pPr algn="l">
              <a:lnSpc>
                <a:spcPts val="1107"/>
              </a:lnSpc>
            </a:pPr>
            <a:r>
              <a:rPr sz="922" b="1" i="0">
                <a:solidFill>
                  <a:srgbClr val="111111"/>
                </a:solidFill>
                <a:latin typeface="Versos"/>
              </a:rPr>
              <a:t>3,50%</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24" name="TextBox 23"/>
          <p:cNvSpPr txBox="1"/>
          <p:nvPr/>
        </p:nvSpPr>
        <p:spPr>
          <a:xfrm>
            <a:off x="2165821" y="3936397"/>
            <a:ext cx="385749" cy="143640"/>
          </a:xfrm>
          <a:prstGeom prst="rect">
            <a:avLst/>
          </a:prstGeom>
          <a:noFill/>
        </p:spPr>
        <p:txBody>
          <a:bodyPr wrap="none" lIns="0" rIns="0" tIns="0" bIns="0" anchor="t"/>
          <a:lstStyle/>
          <a:p>
            <a:pPr algn="l">
              <a:lnSpc>
                <a:spcPts val="1107"/>
              </a:lnSpc>
            </a:pPr>
            <a:r>
              <a:rPr sz="922" b="1" i="0">
                <a:solidFill>
                  <a:srgbClr val="111111"/>
                </a:solidFill>
                <a:latin typeface="Versos"/>
              </a:rPr>
              <a:t>3,44%</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26" name="TextBox 25"/>
          <p:cNvSpPr txBox="1"/>
          <p:nvPr/>
        </p:nvSpPr>
        <p:spPr>
          <a:xfrm>
            <a:off x="2138180" y="4193437"/>
            <a:ext cx="376658" cy="143640"/>
          </a:xfrm>
          <a:prstGeom prst="rect">
            <a:avLst/>
          </a:prstGeom>
          <a:noFill/>
        </p:spPr>
        <p:txBody>
          <a:bodyPr wrap="none" lIns="0" rIns="0" tIns="0" bIns="0" anchor="t"/>
          <a:lstStyle/>
          <a:p>
            <a:pPr algn="l">
              <a:lnSpc>
                <a:spcPts val="1107"/>
              </a:lnSpc>
            </a:pPr>
            <a:r>
              <a:rPr sz="922" b="1" i="0">
                <a:solidFill>
                  <a:srgbClr val="111111"/>
                </a:solidFill>
                <a:latin typeface="Versos"/>
              </a:rPr>
              <a:t>2,76%</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Varejo Eletrodoméstico</a:t>
            </a:r>
          </a:p>
        </p:txBody>
      </p:sp>
      <p:sp>
        <p:nvSpPr>
          <p:cNvPr id="28" name="TextBox 27"/>
          <p:cNvSpPr txBox="1"/>
          <p:nvPr/>
        </p:nvSpPr>
        <p:spPr>
          <a:xfrm>
            <a:off x="2113492" y="4450477"/>
            <a:ext cx="341523" cy="143640"/>
          </a:xfrm>
          <a:prstGeom prst="rect">
            <a:avLst/>
          </a:prstGeom>
          <a:noFill/>
        </p:spPr>
        <p:txBody>
          <a:bodyPr wrap="none" lIns="0" rIns="0" tIns="0" bIns="0" anchor="t"/>
          <a:lstStyle/>
          <a:p>
            <a:pPr algn="l">
              <a:lnSpc>
                <a:spcPts val="1107"/>
              </a:lnSpc>
            </a:pPr>
            <a:r>
              <a:rPr sz="922" b="1" i="0">
                <a:solidFill>
                  <a:srgbClr val="111111"/>
                </a:solidFill>
                <a:latin typeface="Versos"/>
              </a:rPr>
              <a:t>2,15%</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1,88%</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1,55%</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1,07%</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06/06/2025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R$ 20.954.147,09</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R$ 16.917.619,85</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