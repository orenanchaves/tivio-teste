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CRÉDITO HIGH YIELD 180 FIDC – RL </a:t>
            </a:r>
            <a:r>
              <a:rPr sz="903" b="0" i="0">
                <a:solidFill>
                  <a:srgbClr val="FFFFFF"/>
                </a:solidFill>
                <a:latin typeface="Versos"/>
              </a:rPr>
              <a:t>/ CNPJ 58.038.938/0001-80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553297"/>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180</a:t>
            </a:r>
            <a:r>
              <a:rPr sz="1220" b="0" i="0">
                <a:solidFill>
                  <a:srgbClr val="FFFFFF"/>
                </a:solidFill>
                <a:latin typeface="Versos"/>
              </a:rPr>
              <a:t> se destaca por buscar créditos </a:t>
            </a:r>
            <a:r>
              <a:rPr sz="1220" b="0" i="1">
                <a:solidFill>
                  <a:srgbClr val="FFFFFF"/>
                </a:solidFill>
                <a:latin typeface="Versos"/>
              </a:rPr>
              <a:t>high yield</a:t>
            </a:r>
            <a:r>
              <a:rPr sz="1220" b="0" i="0">
                <a:solidFill>
                  <a:srgbClr val="FFFFFF"/>
                </a:solidFill>
                <a:latin typeface="Versos"/>
              </a:rPr>
              <a:t> com ênfase em garantias reais, avais e recebíveis. O fundo oferece uma alternativa de investimento de alto valor agregado, descorrelacionado das classes de ativos tradicionais.</a:t>
            </a:r>
          </a:p>
        </p:txBody>
      </p:sp>
      <p:sp>
        <p:nvSpPr>
          <p:cNvPr id="7" name="TextBox 6"/>
          <p:cNvSpPr txBox="1"/>
          <p:nvPr/>
        </p:nvSpPr>
        <p:spPr>
          <a:xfrm>
            <a:off x="11566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20756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1,29%</a:t>
            </a:r>
          </a:p>
        </p:txBody>
      </p:sp>
      <p:sp>
        <p:nvSpPr>
          <p:cNvPr id="15" name="TextBox 14"/>
          <p:cNvSpPr txBox="1"/>
          <p:nvPr/>
        </p:nvSpPr>
        <p:spPr>
          <a:xfrm>
            <a:off x="216216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12,62%</a:t>
            </a:r>
          </a:p>
        </p:txBody>
      </p:sp>
      <p:sp>
        <p:nvSpPr>
          <p:cNvPr id="16" name="TextBox 15"/>
          <p:cNvSpPr txBox="1"/>
          <p:nvPr/>
        </p:nvSpPr>
        <p:spPr>
          <a:xfrm>
            <a:off x="316764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17,85%</a:t>
            </a:r>
          </a:p>
        </p:txBody>
      </p:sp>
      <p:sp>
        <p:nvSpPr>
          <p:cNvPr id="17" name="TextBox 16"/>
          <p:cNvSpPr txBox="1"/>
          <p:nvPr/>
        </p:nvSpPr>
        <p:spPr>
          <a:xfrm>
            <a:off x="417312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34,87%</a:t>
            </a:r>
          </a:p>
        </p:txBody>
      </p:sp>
      <p:sp>
        <p:nvSpPr>
          <p:cNvPr id="20" name="TextBox 19"/>
          <p:cNvSpPr txBox="1"/>
          <p:nvPr/>
        </p:nvSpPr>
        <p:spPr>
          <a:xfrm>
            <a:off x="370440" y="359312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1,08%</a:t>
            </a:r>
          </a:p>
        </p:txBody>
      </p:sp>
      <p:sp>
        <p:nvSpPr>
          <p:cNvPr id="22" name="TextBox 21"/>
          <p:cNvSpPr txBox="1"/>
          <p:nvPr/>
        </p:nvSpPr>
        <p:spPr>
          <a:xfrm>
            <a:off x="216216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10,51%</a:t>
            </a:r>
          </a:p>
        </p:txBody>
      </p:sp>
      <p:sp>
        <p:nvSpPr>
          <p:cNvPr id="23" name="TextBox 22"/>
          <p:cNvSpPr txBox="1"/>
          <p:nvPr/>
        </p:nvSpPr>
        <p:spPr>
          <a:xfrm>
            <a:off x="316764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14,48%</a:t>
            </a:r>
          </a:p>
        </p:txBody>
      </p:sp>
      <p:sp>
        <p:nvSpPr>
          <p:cNvPr id="24" name="TextBox 23"/>
          <p:cNvSpPr txBox="1"/>
          <p:nvPr/>
        </p:nvSpPr>
        <p:spPr>
          <a:xfrm>
            <a:off x="417312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26,79%</a:t>
            </a:r>
          </a:p>
        </p:txBody>
      </p:sp>
      <p:sp>
        <p:nvSpPr>
          <p:cNvPr id="27" name="TextBox 26"/>
          <p:cNvSpPr txBox="1"/>
          <p:nvPr/>
        </p:nvSpPr>
        <p:spPr>
          <a:xfrm>
            <a:off x="370440" y="397868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119,45%</a:t>
            </a:r>
          </a:p>
        </p:txBody>
      </p:sp>
      <p:sp>
        <p:nvSpPr>
          <p:cNvPr id="29" name="TextBox 28"/>
          <p:cNvSpPr txBox="1"/>
          <p:nvPr/>
        </p:nvSpPr>
        <p:spPr>
          <a:xfrm>
            <a:off x="216216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120,09%</a:t>
            </a:r>
          </a:p>
        </p:txBody>
      </p:sp>
      <p:sp>
        <p:nvSpPr>
          <p:cNvPr id="30" name="TextBox 29"/>
          <p:cNvSpPr txBox="1"/>
          <p:nvPr/>
        </p:nvSpPr>
        <p:spPr>
          <a:xfrm>
            <a:off x="316764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123,25%</a:t>
            </a:r>
          </a:p>
        </p:txBody>
      </p:sp>
      <p:sp>
        <p:nvSpPr>
          <p:cNvPr id="31" name="TextBox 30"/>
          <p:cNvSpPr txBox="1"/>
          <p:nvPr/>
        </p:nvSpPr>
        <p:spPr>
          <a:xfrm>
            <a:off x="417312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130,15%</a:t>
            </a:r>
          </a:p>
        </p:txBody>
      </p:sp>
      <p:sp>
        <p:nvSpPr>
          <p:cNvPr id="34" name="TextBox 33"/>
          <p:cNvSpPr txBox="1"/>
          <p:nvPr/>
        </p:nvSpPr>
        <p:spPr>
          <a:xfrm>
            <a:off x="370440" y="436424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2,53%</a:t>
            </a:r>
          </a:p>
        </p:txBody>
      </p:sp>
      <p:sp>
        <p:nvSpPr>
          <p:cNvPr id="36" name="TextBox 35"/>
          <p:cNvSpPr txBox="1"/>
          <p:nvPr/>
        </p:nvSpPr>
        <p:spPr>
          <a:xfrm>
            <a:off x="216216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2,58%</a:t>
            </a:r>
          </a:p>
        </p:txBody>
      </p:sp>
      <p:sp>
        <p:nvSpPr>
          <p:cNvPr id="37" name="TextBox 36"/>
          <p:cNvSpPr txBox="1"/>
          <p:nvPr/>
        </p:nvSpPr>
        <p:spPr>
          <a:xfrm>
            <a:off x="316764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2,95%</a:t>
            </a:r>
          </a:p>
        </p:txBody>
      </p:sp>
      <p:sp>
        <p:nvSpPr>
          <p:cNvPr id="38" name="TextBox 37"/>
          <p:cNvSpPr txBox="1"/>
          <p:nvPr/>
        </p:nvSpPr>
        <p:spPr>
          <a:xfrm>
            <a:off x="417312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3,55%</a:t>
            </a:r>
          </a:p>
        </p:txBody>
      </p:sp>
      <p:sp>
        <p:nvSpPr>
          <p:cNvPr id="41" name="TextBox 40"/>
          <p:cNvSpPr txBox="1"/>
          <p:nvPr/>
        </p:nvSpPr>
        <p:spPr>
          <a:xfrm>
            <a:off x="385560" y="4708226"/>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30/09/2026</a:t>
            </a:r>
          </a:p>
        </p:txBody>
      </p:sp>
      <p:sp>
        <p:nvSpPr>
          <p:cNvPr id="42" name="TextBox 41"/>
          <p:cNvSpPr txBox="1"/>
          <p:nvPr/>
        </p:nvSpPr>
        <p:spPr>
          <a:xfrm>
            <a:off x="400680" y="5214746"/>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75863"/>
            <a:ext cx="3758501"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 Sênior</a:t>
            </a:r>
          </a:p>
        </p:txBody>
      </p:sp>
      <p:sp>
        <p:nvSpPr>
          <p:cNvPr id="44" name="TextBox 43"/>
          <p:cNvSpPr txBox="1"/>
          <p:nvPr/>
        </p:nvSpPr>
        <p:spPr>
          <a:xfrm>
            <a:off x="498960" y="6573538"/>
            <a:ext cx="3908841" cy="189000"/>
          </a:xfrm>
          <a:prstGeom prst="rect">
            <a:avLst/>
          </a:prstGeom>
          <a:noFill/>
        </p:spPr>
        <p:txBody>
          <a:bodyPr wrap="none" lIns="0" rIns="0" tIns="0" bIns="0" anchor="t"/>
          <a:lstStyle/>
          <a:p>
            <a:pPr algn="l">
              <a:lnSpc>
                <a:spcPts val="1375"/>
              </a:lnSpc>
            </a:pPr>
            <a:r>
              <a:rPr sz="1250" b="1" i="0">
                <a:solidFill>
                  <a:srgbClr val="FFFFFF"/>
                </a:solidFill>
                <a:latin typeface="Versos"/>
              </a:rPr>
              <a:t>58,5%</a:t>
            </a:r>
          </a:p>
        </p:txBody>
      </p:sp>
      <p:sp>
        <p:nvSpPr>
          <p:cNvPr id="45" name="TextBox 44"/>
          <p:cNvSpPr txBox="1"/>
          <p:nvPr/>
        </p:nvSpPr>
        <p:spPr>
          <a:xfrm>
            <a:off x="4454021" y="6275863"/>
            <a:ext cx="1196960" cy="292477"/>
          </a:xfrm>
          <a:prstGeom prst="rect">
            <a:avLst/>
          </a:prstGeom>
          <a:noFill/>
        </p:spPr>
        <p:txBody>
          <a:bodyPr wrap="square" lIns="0" rIns="0" tIns="0" bIns="0" anchor="t"/>
          <a:lstStyle/>
          <a:p>
            <a:pPr algn="l">
              <a:lnSpc>
                <a:spcPts val="1113"/>
              </a:lnSpc>
            </a:pPr>
            <a:r>
              <a:rPr sz="1012" b="0" i="0">
                <a:solidFill>
                  <a:srgbClr val="2B3744"/>
                </a:solidFill>
                <a:latin typeface="Versos"/>
              </a:rPr>
              <a:t>FIDCs</a:t>
            </a:r>
          </a:p>
          <a:p>
            <a:pPr algn="l">
              <a:lnSpc>
                <a:spcPts val="1113"/>
              </a:lnSpc>
            </a:pPr>
            <a:r>
              <a:rPr sz="1012" b="1" i="0">
                <a:solidFill>
                  <a:srgbClr val="2B3744"/>
                </a:solidFill>
                <a:latin typeface="Versos"/>
              </a:rPr>
              <a:t>Cota Mezanino</a:t>
            </a:r>
          </a:p>
        </p:txBody>
      </p:sp>
      <p:sp>
        <p:nvSpPr>
          <p:cNvPr id="46" name="TextBox 45"/>
          <p:cNvSpPr txBox="1"/>
          <p:nvPr/>
        </p:nvSpPr>
        <p:spPr>
          <a:xfrm>
            <a:off x="4454021" y="6573538"/>
            <a:ext cx="1244839" cy="189000"/>
          </a:xfrm>
          <a:prstGeom prst="rect">
            <a:avLst/>
          </a:prstGeom>
          <a:noFill/>
        </p:spPr>
        <p:txBody>
          <a:bodyPr wrap="none" lIns="0" rIns="0" tIns="0" bIns="0" anchor="t"/>
          <a:lstStyle/>
          <a:p>
            <a:pPr algn="l">
              <a:lnSpc>
                <a:spcPts val="1375"/>
              </a:lnSpc>
            </a:pPr>
            <a:r>
              <a:rPr sz="1250" b="1" i="0">
                <a:solidFill>
                  <a:srgbClr val="2B3744"/>
                </a:solidFill>
                <a:latin typeface="Versos"/>
              </a:rPr>
              <a:t>20,6%</a:t>
            </a:r>
          </a:p>
        </p:txBody>
      </p:sp>
      <p:sp>
        <p:nvSpPr>
          <p:cNvPr id="47" name="TextBox 46"/>
          <p:cNvSpPr txBox="1"/>
          <p:nvPr/>
        </p:nvSpPr>
        <p:spPr>
          <a:xfrm>
            <a:off x="5803008" y="6514121"/>
            <a:ext cx="588451" cy="113400"/>
          </a:xfrm>
          <a:prstGeom prst="rect">
            <a:avLst/>
          </a:prstGeom>
          <a:noFill/>
        </p:spPr>
        <p:txBody>
          <a:bodyPr wrap="none" lIns="0" rIns="0" tIns="0" bIns="0" anchor="t"/>
          <a:lstStyle/>
          <a:p>
            <a:pPr algn="l">
              <a:lnSpc>
                <a:spcPts val="818"/>
              </a:lnSpc>
            </a:pPr>
            <a:r>
              <a:rPr sz="744" b="0" i="0">
                <a:solidFill>
                  <a:srgbClr val="FFFFFF"/>
                </a:solidFill>
                <a:latin typeface="Versos"/>
              </a:rPr>
              <a:t>Liquidez</a:t>
            </a:r>
          </a:p>
        </p:txBody>
      </p:sp>
      <p:sp>
        <p:nvSpPr>
          <p:cNvPr id="48" name="TextBox 47"/>
          <p:cNvSpPr txBox="1"/>
          <p:nvPr/>
        </p:nvSpPr>
        <p:spPr>
          <a:xfrm>
            <a:off x="5803008" y="6633191"/>
            <a:ext cx="588451" cy="173880"/>
          </a:xfrm>
          <a:prstGeom prst="rect">
            <a:avLst/>
          </a:prstGeom>
          <a:noFill/>
        </p:spPr>
        <p:txBody>
          <a:bodyPr wrap="none" lIns="0" rIns="0" tIns="0" bIns="0" anchor="t"/>
          <a:lstStyle/>
          <a:p>
            <a:pPr algn="l">
              <a:lnSpc>
                <a:spcPts val="1257"/>
              </a:lnSpc>
            </a:pPr>
            <a:r>
              <a:rPr sz="1142" b="1" i="0">
                <a:solidFill>
                  <a:srgbClr val="FFFFFF"/>
                </a:solidFill>
                <a:latin typeface="Versos"/>
              </a:rPr>
              <a:t>10,0%</a:t>
            </a:r>
          </a:p>
        </p:txBody>
      </p:sp>
      <p:sp>
        <p:nvSpPr>
          <p:cNvPr id="49" name="TextBox 48"/>
          <p:cNvSpPr txBox="1"/>
          <p:nvPr/>
        </p:nvSpPr>
        <p:spPr>
          <a:xfrm>
            <a:off x="6481518" y="5579988"/>
            <a:ext cx="618738" cy="234005"/>
          </a:xfrm>
          <a:prstGeom prst="rect">
            <a:avLst/>
          </a:prstGeom>
          <a:noFill/>
        </p:spPr>
        <p:txBody>
          <a:bodyPr wrap="square" lIns="0" rIns="0" tIns="0" bIns="0" anchor="t"/>
          <a:lstStyle/>
          <a:p>
            <a:pPr algn="l">
              <a:lnSpc>
                <a:spcPts val="890"/>
              </a:lnSpc>
            </a:pPr>
            <a:r>
              <a:rPr sz="809" b="0" i="0">
                <a:solidFill>
                  <a:srgbClr val="2B3744"/>
                </a:solidFill>
                <a:latin typeface="Versos"/>
              </a:rPr>
              <a:t>Crédito</a:t>
            </a:r>
          </a:p>
          <a:p>
            <a:pPr algn="l">
              <a:lnSpc>
                <a:spcPts val="890"/>
              </a:lnSpc>
            </a:pPr>
            <a:r>
              <a:rPr sz="809" b="1" i="0">
                <a:solidFill>
                  <a:srgbClr val="2B3744"/>
                </a:solidFill>
                <a:latin typeface="Versos"/>
              </a:rPr>
              <a:t>Privado</a:t>
            </a:r>
          </a:p>
        </p:txBody>
      </p:sp>
      <p:sp>
        <p:nvSpPr>
          <p:cNvPr id="50" name="TextBox 49"/>
          <p:cNvSpPr txBox="1"/>
          <p:nvPr/>
        </p:nvSpPr>
        <p:spPr>
          <a:xfrm>
            <a:off x="6481518" y="5821200"/>
            <a:ext cx="643488" cy="189000"/>
          </a:xfrm>
          <a:prstGeom prst="rect">
            <a:avLst/>
          </a:prstGeom>
          <a:noFill/>
        </p:spPr>
        <p:txBody>
          <a:bodyPr wrap="none" lIns="0" rIns="0" tIns="0" bIns="0" anchor="t"/>
          <a:lstStyle/>
          <a:p>
            <a:pPr algn="l">
              <a:lnSpc>
                <a:spcPts val="1375"/>
              </a:lnSpc>
            </a:pPr>
            <a:r>
              <a:rPr sz="1250" b="1" i="0">
                <a:solidFill>
                  <a:srgbClr val="2B3744"/>
                </a:solidFill>
                <a:latin typeface="Versos"/>
              </a:rPr>
              <a:t>4,2%</a:t>
            </a:r>
          </a:p>
        </p:txBody>
      </p:sp>
      <p:sp>
        <p:nvSpPr>
          <p:cNvPr id="51" name="TextBox 50"/>
          <p:cNvSpPr txBox="1"/>
          <p:nvPr/>
        </p:nvSpPr>
        <p:spPr>
          <a:xfrm>
            <a:off x="6481518" y="6162108"/>
            <a:ext cx="643488" cy="120960"/>
          </a:xfrm>
          <a:prstGeom prst="rect">
            <a:avLst/>
          </a:prstGeom>
          <a:noFill/>
        </p:spPr>
        <p:txBody>
          <a:bodyPr wrap="none" lIns="0" rIns="0" tIns="0" bIns="0" anchor="t"/>
          <a:lstStyle/>
          <a:p>
            <a:pPr algn="l">
              <a:lnSpc>
                <a:spcPts val="870"/>
              </a:lnSpc>
            </a:pPr>
            <a:r>
              <a:rPr sz="791" b="0" i="0">
                <a:solidFill>
                  <a:srgbClr val="2B3744"/>
                </a:solidFill>
                <a:latin typeface="Versos"/>
              </a:rPr>
              <a:t>Fiagro</a:t>
            </a:r>
          </a:p>
        </p:txBody>
      </p:sp>
      <p:sp>
        <p:nvSpPr>
          <p:cNvPr id="52" name="TextBox 51"/>
          <p:cNvSpPr txBox="1"/>
          <p:nvPr/>
        </p:nvSpPr>
        <p:spPr>
          <a:xfrm>
            <a:off x="6481518" y="6287793"/>
            <a:ext cx="643488" cy="189000"/>
          </a:xfrm>
          <a:prstGeom prst="rect">
            <a:avLst/>
          </a:prstGeom>
          <a:noFill/>
        </p:spPr>
        <p:txBody>
          <a:bodyPr wrap="none" lIns="0" rIns="0" tIns="0" bIns="0" anchor="t"/>
          <a:lstStyle/>
          <a:p>
            <a:pPr algn="l">
              <a:lnSpc>
                <a:spcPts val="1375"/>
              </a:lnSpc>
            </a:pPr>
            <a:r>
              <a:rPr sz="1250" b="1" i="0">
                <a:solidFill>
                  <a:srgbClr val="2B3744"/>
                </a:solidFill>
                <a:latin typeface="Versos"/>
              </a:rPr>
              <a:t>3,9%</a:t>
            </a:r>
          </a:p>
        </p:txBody>
      </p:sp>
      <p:sp>
        <p:nvSpPr>
          <p:cNvPr id="53" name="TextBox 52"/>
          <p:cNvSpPr txBox="1"/>
          <p:nvPr/>
        </p:nvSpPr>
        <p:spPr>
          <a:xfrm>
            <a:off x="6481518" y="6571057"/>
            <a:ext cx="643488" cy="83160"/>
          </a:xfrm>
          <a:prstGeom prst="rect">
            <a:avLst/>
          </a:prstGeom>
          <a:noFill/>
        </p:spPr>
        <p:txBody>
          <a:bodyPr wrap="none" lIns="0" rIns="0" tIns="0" bIns="0" anchor="t"/>
          <a:lstStyle/>
          <a:p>
            <a:pPr algn="l">
              <a:lnSpc>
                <a:spcPts val="602"/>
              </a:lnSpc>
            </a:pPr>
            <a:r>
              <a:rPr sz="547" b="0" i="0">
                <a:solidFill>
                  <a:srgbClr val="2B3744"/>
                </a:solidFill>
                <a:latin typeface="Versos"/>
              </a:rPr>
              <a:t>Precatório</a:t>
            </a:r>
          </a:p>
        </p:txBody>
      </p:sp>
      <p:sp>
        <p:nvSpPr>
          <p:cNvPr id="54" name="TextBox 53"/>
          <p:cNvSpPr txBox="1"/>
          <p:nvPr/>
        </p:nvSpPr>
        <p:spPr>
          <a:xfrm>
            <a:off x="6481518" y="6662604"/>
            <a:ext cx="643488" cy="136080"/>
          </a:xfrm>
          <a:prstGeom prst="rect">
            <a:avLst/>
          </a:prstGeom>
          <a:noFill/>
        </p:spPr>
        <p:txBody>
          <a:bodyPr wrap="none" lIns="0" rIns="0" tIns="0" bIns="0" anchor="t"/>
          <a:lstStyle/>
          <a:p>
            <a:pPr algn="l">
              <a:lnSpc>
                <a:spcPts val="982"/>
              </a:lnSpc>
            </a:pPr>
            <a:r>
              <a:rPr sz="892" b="1" i="0">
                <a:solidFill>
                  <a:srgbClr val="2B3744"/>
                </a:solidFill>
                <a:latin typeface="Versos"/>
              </a:rPr>
              <a:t>2,7%</a:t>
            </a:r>
          </a:p>
        </p:txBody>
      </p:sp>
      <p:sp>
        <p:nvSpPr>
          <p:cNvPr id="55" name="TextBox 54"/>
          <p:cNvSpPr txBox="1"/>
          <p:nvPr/>
        </p:nvSpPr>
        <p:spPr>
          <a:xfrm>
            <a:off x="529200" y="6929566"/>
            <a:ext cx="1231325"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Sênior </a:t>
            </a:r>
            <a:r>
              <a:rPr sz="744" b="1" i="0">
                <a:solidFill>
                  <a:srgbClr val="111111"/>
                </a:solidFill>
                <a:latin typeface="Versos"/>
              </a:rPr>
              <a:t>58,5%</a:t>
            </a:r>
          </a:p>
        </p:txBody>
      </p:sp>
      <p:sp>
        <p:nvSpPr>
          <p:cNvPr id="56" name="TextBox 55"/>
          <p:cNvSpPr txBox="1"/>
          <p:nvPr/>
        </p:nvSpPr>
        <p:spPr>
          <a:xfrm>
            <a:off x="1977766" y="6929566"/>
            <a:ext cx="1382185"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Mezanino </a:t>
            </a:r>
            <a:r>
              <a:rPr sz="744" b="1" i="0">
                <a:solidFill>
                  <a:srgbClr val="111111"/>
                </a:solidFill>
                <a:latin typeface="Versos"/>
              </a:rPr>
              <a:t>20,6%</a:t>
            </a:r>
          </a:p>
        </p:txBody>
      </p:sp>
      <p:sp>
        <p:nvSpPr>
          <p:cNvPr id="57" name="TextBox 56"/>
          <p:cNvSpPr txBox="1"/>
          <p:nvPr/>
        </p:nvSpPr>
        <p:spPr>
          <a:xfrm>
            <a:off x="3571391" y="6929566"/>
            <a:ext cx="731694"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10,0%</a:t>
            </a:r>
          </a:p>
        </p:txBody>
      </p:sp>
      <p:sp>
        <p:nvSpPr>
          <p:cNvPr id="58" name="TextBox 57"/>
          <p:cNvSpPr txBox="1"/>
          <p:nvPr/>
        </p:nvSpPr>
        <p:spPr>
          <a:xfrm>
            <a:off x="4539543" y="6929566"/>
            <a:ext cx="1024077"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4,2%</a:t>
            </a:r>
          </a:p>
        </p:txBody>
      </p:sp>
      <p:sp>
        <p:nvSpPr>
          <p:cNvPr id="59" name="TextBox 58"/>
          <p:cNvSpPr txBox="1"/>
          <p:nvPr/>
        </p:nvSpPr>
        <p:spPr>
          <a:xfrm>
            <a:off x="5788833" y="6929566"/>
            <a:ext cx="586363"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3,9%</a:t>
            </a:r>
          </a:p>
        </p:txBody>
      </p:sp>
      <p:sp>
        <p:nvSpPr>
          <p:cNvPr id="60" name="TextBox 59"/>
          <p:cNvSpPr txBox="1"/>
          <p:nvPr/>
        </p:nvSpPr>
        <p:spPr>
          <a:xfrm>
            <a:off x="529200" y="7088326"/>
            <a:ext cx="776657" cy="113400"/>
          </a:xfrm>
          <a:prstGeom prst="rect">
            <a:avLst/>
          </a:prstGeom>
          <a:noFill/>
        </p:spPr>
        <p:txBody>
          <a:bodyPr wrap="none" lIns="0" rIns="0" tIns="0" bIns="0" anchor="t"/>
          <a:lstStyle/>
          <a:p>
            <a:pPr algn="l">
              <a:lnSpc>
                <a:spcPts val="892"/>
              </a:lnSpc>
            </a:pPr>
            <a:r>
              <a:rPr sz="744" b="0" i="0">
                <a:solidFill>
                  <a:srgbClr val="333333"/>
                </a:solidFill>
                <a:latin typeface="Versos"/>
              </a:rPr>
              <a:t>Precatório </a:t>
            </a:r>
            <a:r>
              <a:rPr sz="744" b="1" i="0">
                <a:solidFill>
                  <a:srgbClr val="111111"/>
                </a:solidFill>
                <a:latin typeface="Versos"/>
              </a:rPr>
              <a:t>2,7%</a:t>
            </a:r>
          </a:p>
        </p:txBody>
      </p:sp>
      <p:sp>
        <p:nvSpPr>
          <p:cNvPr id="61" name="TextBox 60"/>
          <p:cNvSpPr txBox="1"/>
          <p:nvPr/>
        </p:nvSpPr>
        <p:spPr>
          <a:xfrm>
            <a:off x="415800" y="7685566"/>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62" name="TextBox 61"/>
          <p:cNvSpPr txBox="1"/>
          <p:nvPr/>
        </p:nvSpPr>
        <p:spPr>
          <a:xfrm>
            <a:off x="415800" y="8184526"/>
            <a:ext cx="6728400" cy="253378"/>
          </a:xfrm>
          <a:prstGeom prst="rect">
            <a:avLst/>
          </a:prstGeom>
          <a:noFill/>
        </p:spPr>
        <p:txBody>
          <a:bodyPr wrap="square" lIns="0" rIns="0" tIns="0" bIns="0" anchor="t"/>
          <a:lstStyle/>
          <a:p>
            <a:pPr algn="just">
              <a:lnSpc>
                <a:spcPts val="983"/>
              </a:lnSpc>
            </a:pPr>
            <a:r>
              <a:rPr sz="833" b="0" i="0">
                <a:solidFill>
                  <a:srgbClr val="222222"/>
                </a:solidFill>
                <a:latin typeface="Versos"/>
              </a:rPr>
              <a:t>O Tivio ALT 180 registrou rentabilidade de 1,29% no mês, equivalente a 119,45% do CDI no período. Desde o início da estratégia, o fundo acumula retorno de 34,87%, frente a 26,79% do CDI, o que corresponde a um desempenho anualizado de 128% do CDI.</a:t>
            </a:r>
          </a:p>
        </p:txBody>
      </p:sp>
      <p:sp>
        <p:nvSpPr>
          <p:cNvPr id="63" name="TextBox 62"/>
          <p:cNvSpPr txBox="1"/>
          <p:nvPr/>
        </p:nvSpPr>
        <p:spPr>
          <a:xfrm>
            <a:off x="415800" y="8497676"/>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4" name="TextBox 63"/>
          <p:cNvSpPr txBox="1"/>
          <p:nvPr/>
        </p:nvSpPr>
        <p:spPr>
          <a:xfrm>
            <a:off x="415800" y="9185400"/>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5" name="TextBox 64"/>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67567" cy="143640"/>
          </a:xfrm>
          <a:prstGeom prst="rect">
            <a:avLst/>
          </a:prstGeom>
          <a:noFill/>
        </p:spPr>
        <p:txBody>
          <a:bodyPr wrap="none" lIns="0" rIns="0" tIns="0" bIns="0" anchor="t"/>
          <a:lstStyle/>
          <a:p>
            <a:pPr algn="l">
              <a:lnSpc>
                <a:spcPts val="1107"/>
              </a:lnSpc>
            </a:pPr>
            <a:r>
              <a:rPr sz="922" b="1" i="0">
                <a:solidFill>
                  <a:srgbClr val="111111"/>
                </a:solidFill>
                <a:latin typeface="Versos"/>
              </a:rPr>
              <a:t>20,90%</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893708" y="1880077"/>
            <a:ext cx="427640" cy="143640"/>
          </a:xfrm>
          <a:prstGeom prst="rect">
            <a:avLst/>
          </a:prstGeom>
          <a:noFill/>
        </p:spPr>
        <p:txBody>
          <a:bodyPr wrap="none" lIns="0" rIns="0" tIns="0" bIns="0" anchor="t"/>
          <a:lstStyle/>
          <a:p>
            <a:pPr algn="l">
              <a:lnSpc>
                <a:spcPts val="1107"/>
              </a:lnSpc>
            </a:pPr>
            <a:r>
              <a:rPr sz="922" b="1" i="0">
                <a:solidFill>
                  <a:srgbClr val="111111"/>
                </a:solidFill>
                <a:latin typeface="Versos"/>
              </a:rPr>
              <a:t>15,22%</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0" name="TextBox 9"/>
          <p:cNvSpPr txBox="1"/>
          <p:nvPr/>
        </p:nvSpPr>
        <p:spPr>
          <a:xfrm>
            <a:off x="2386006" y="2137117"/>
            <a:ext cx="353070" cy="143640"/>
          </a:xfrm>
          <a:prstGeom prst="rect">
            <a:avLst/>
          </a:prstGeom>
          <a:noFill/>
        </p:spPr>
        <p:txBody>
          <a:bodyPr wrap="none" lIns="0" rIns="0" tIns="0" bIns="0" anchor="t"/>
          <a:lstStyle/>
          <a:p>
            <a:pPr algn="l">
              <a:lnSpc>
                <a:spcPts val="1107"/>
              </a:lnSpc>
            </a:pPr>
            <a:r>
              <a:rPr sz="922" b="1" i="0">
                <a:solidFill>
                  <a:srgbClr val="111111"/>
                </a:solidFill>
                <a:latin typeface="Versos"/>
              </a:rPr>
              <a:t>6,31%</a:t>
            </a:r>
          </a:p>
        </p:txBody>
      </p:sp>
      <p:sp>
        <p:nvSpPr>
          <p:cNvPr id="11" name="TextBox 10"/>
          <p:cNvSpPr txBox="1"/>
          <p:nvPr/>
        </p:nvSpPr>
        <p:spPr>
          <a:xfrm>
            <a:off x="400680" y="24018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2" name="TextBox 11"/>
          <p:cNvSpPr txBox="1"/>
          <p:nvPr/>
        </p:nvSpPr>
        <p:spPr>
          <a:xfrm>
            <a:off x="2374785" y="2394157"/>
            <a:ext cx="344839" cy="143640"/>
          </a:xfrm>
          <a:prstGeom prst="rect">
            <a:avLst/>
          </a:prstGeom>
          <a:noFill/>
        </p:spPr>
        <p:txBody>
          <a:bodyPr wrap="none" lIns="0" rIns="0" tIns="0" bIns="0" anchor="t"/>
          <a:lstStyle/>
          <a:p>
            <a:pPr algn="l">
              <a:lnSpc>
                <a:spcPts val="1107"/>
              </a:lnSpc>
            </a:pPr>
            <a:r>
              <a:rPr sz="922" b="1" i="0">
                <a:solidFill>
                  <a:srgbClr val="111111"/>
                </a:solidFill>
                <a:latin typeface="Versos"/>
              </a:rPr>
              <a:t>6,12%</a:t>
            </a:r>
          </a:p>
        </p:txBody>
      </p:sp>
      <p:sp>
        <p:nvSpPr>
          <p:cNvPr id="13" name="TextBox 12"/>
          <p:cNvSpPr txBox="1"/>
          <p:nvPr/>
        </p:nvSpPr>
        <p:spPr>
          <a:xfrm>
            <a:off x="400680" y="26588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Varejo Eletrodoméstico</a:t>
            </a:r>
          </a:p>
        </p:txBody>
      </p:sp>
      <p:sp>
        <p:nvSpPr>
          <p:cNvPr id="14" name="TextBox 13"/>
          <p:cNvSpPr txBox="1"/>
          <p:nvPr/>
        </p:nvSpPr>
        <p:spPr>
          <a:xfrm>
            <a:off x="2346671" y="2651197"/>
            <a:ext cx="380712" cy="143640"/>
          </a:xfrm>
          <a:prstGeom prst="rect">
            <a:avLst/>
          </a:prstGeom>
          <a:noFill/>
        </p:spPr>
        <p:txBody>
          <a:bodyPr wrap="none" lIns="0" rIns="0" tIns="0" bIns="0" anchor="t"/>
          <a:lstStyle/>
          <a:p>
            <a:pPr algn="l">
              <a:lnSpc>
                <a:spcPts val="1107"/>
              </a:lnSpc>
            </a:pPr>
            <a:r>
              <a:rPr sz="922" b="1" i="0">
                <a:solidFill>
                  <a:srgbClr val="111111"/>
                </a:solidFill>
                <a:latin typeface="Versos"/>
              </a:rPr>
              <a:t>5,62%</a:t>
            </a:r>
          </a:p>
        </p:txBody>
      </p:sp>
      <p:sp>
        <p:nvSpPr>
          <p:cNvPr id="15" name="TextBox 14"/>
          <p:cNvSpPr txBox="1"/>
          <p:nvPr/>
        </p:nvSpPr>
        <p:spPr>
          <a:xfrm>
            <a:off x="400680" y="285945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6" name="TextBox 15"/>
          <p:cNvSpPr txBox="1"/>
          <p:nvPr/>
        </p:nvSpPr>
        <p:spPr>
          <a:xfrm>
            <a:off x="2294696" y="2908237"/>
            <a:ext cx="350982" cy="143640"/>
          </a:xfrm>
          <a:prstGeom prst="rect">
            <a:avLst/>
          </a:prstGeom>
          <a:noFill/>
        </p:spPr>
        <p:txBody>
          <a:bodyPr wrap="none" lIns="0" rIns="0" tIns="0" bIns="0" anchor="t"/>
          <a:lstStyle/>
          <a:p>
            <a:pPr algn="l">
              <a:lnSpc>
                <a:spcPts val="1107"/>
              </a:lnSpc>
            </a:pPr>
            <a:r>
              <a:rPr sz="922" b="1" i="0">
                <a:solidFill>
                  <a:srgbClr val="111111"/>
                </a:solidFill>
                <a:latin typeface="Versos"/>
              </a:rPr>
              <a:t>4,71%</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18" name="TextBox 17"/>
          <p:cNvSpPr txBox="1"/>
          <p:nvPr/>
        </p:nvSpPr>
        <p:spPr>
          <a:xfrm>
            <a:off x="2262684" y="3165277"/>
            <a:ext cx="346805" cy="143640"/>
          </a:xfrm>
          <a:prstGeom prst="rect">
            <a:avLst/>
          </a:prstGeom>
          <a:noFill/>
        </p:spPr>
        <p:txBody>
          <a:bodyPr wrap="none" lIns="0" rIns="0" tIns="0" bIns="0" anchor="t"/>
          <a:lstStyle/>
          <a:p>
            <a:pPr algn="l">
              <a:lnSpc>
                <a:spcPts val="1107"/>
              </a:lnSpc>
            </a:pPr>
            <a:r>
              <a:rPr sz="922" b="1" i="0">
                <a:solidFill>
                  <a:srgbClr val="111111"/>
                </a:solidFill>
                <a:latin typeface="Versos"/>
              </a:rPr>
              <a:t>4,15%</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20" name="TextBox 19"/>
          <p:cNvSpPr txBox="1"/>
          <p:nvPr/>
        </p:nvSpPr>
        <p:spPr>
          <a:xfrm>
            <a:off x="2225829" y="3422317"/>
            <a:ext cx="348894" cy="143640"/>
          </a:xfrm>
          <a:prstGeom prst="rect">
            <a:avLst/>
          </a:prstGeom>
          <a:noFill/>
        </p:spPr>
        <p:txBody>
          <a:bodyPr wrap="none" lIns="0" rIns="0" tIns="0" bIns="0" anchor="t"/>
          <a:lstStyle/>
          <a:p>
            <a:pPr algn="l">
              <a:lnSpc>
                <a:spcPts val="1107"/>
              </a:lnSpc>
            </a:pPr>
            <a:r>
              <a:rPr sz="922" b="1" i="0">
                <a:solidFill>
                  <a:srgbClr val="111111"/>
                </a:solidFill>
                <a:latin typeface="Versos"/>
              </a:rPr>
              <a:t>3,51%</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2" name="TextBox 21"/>
          <p:cNvSpPr txBox="1"/>
          <p:nvPr/>
        </p:nvSpPr>
        <p:spPr>
          <a:xfrm>
            <a:off x="2222167" y="3679357"/>
            <a:ext cx="385749" cy="143640"/>
          </a:xfrm>
          <a:prstGeom prst="rect">
            <a:avLst/>
          </a:prstGeom>
          <a:noFill/>
        </p:spPr>
        <p:txBody>
          <a:bodyPr wrap="none" lIns="0" rIns="0" tIns="0" bIns="0" anchor="t"/>
          <a:lstStyle/>
          <a:p>
            <a:pPr algn="l">
              <a:lnSpc>
                <a:spcPts val="1107"/>
              </a:lnSpc>
            </a:pPr>
            <a:r>
              <a:rPr sz="922" b="1" i="0">
                <a:solidFill>
                  <a:srgbClr val="111111"/>
                </a:solidFill>
                <a:latin typeface="Versos"/>
              </a:rPr>
              <a:t>3,44%</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Agrícola</a:t>
            </a:r>
          </a:p>
        </p:txBody>
      </p:sp>
      <p:sp>
        <p:nvSpPr>
          <p:cNvPr id="24" name="TextBox 23"/>
          <p:cNvSpPr txBox="1"/>
          <p:nvPr/>
        </p:nvSpPr>
        <p:spPr>
          <a:xfrm>
            <a:off x="2206811" y="3936397"/>
            <a:ext cx="341031" cy="143640"/>
          </a:xfrm>
          <a:prstGeom prst="rect">
            <a:avLst/>
          </a:prstGeom>
          <a:noFill/>
        </p:spPr>
        <p:txBody>
          <a:bodyPr wrap="none" lIns="0" rIns="0" tIns="0" bIns="0" anchor="t"/>
          <a:lstStyle/>
          <a:p>
            <a:pPr algn="l">
              <a:lnSpc>
                <a:spcPts val="1107"/>
              </a:lnSpc>
            </a:pPr>
            <a:r>
              <a:rPr sz="922" b="1" i="0">
                <a:solidFill>
                  <a:srgbClr val="111111"/>
                </a:solidFill>
                <a:latin typeface="Versos"/>
              </a:rPr>
              <a:t>3,17%</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26" name="TextBox 25"/>
          <p:cNvSpPr txBox="1"/>
          <p:nvPr/>
        </p:nvSpPr>
        <p:spPr>
          <a:xfrm>
            <a:off x="2175390" y="4193437"/>
            <a:ext cx="380343" cy="143640"/>
          </a:xfrm>
          <a:prstGeom prst="rect">
            <a:avLst/>
          </a:prstGeom>
          <a:noFill/>
        </p:spPr>
        <p:txBody>
          <a:bodyPr wrap="none" lIns="0" rIns="0" tIns="0" bIns="0" anchor="t"/>
          <a:lstStyle/>
          <a:p>
            <a:pPr algn="l">
              <a:lnSpc>
                <a:spcPts val="1107"/>
              </a:lnSpc>
            </a:pPr>
            <a:r>
              <a:rPr sz="922" b="1" i="0">
                <a:solidFill>
                  <a:srgbClr val="111111"/>
                </a:solidFill>
                <a:latin typeface="Versos"/>
              </a:rPr>
              <a:t>2,62%</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28" name="TextBox 27"/>
          <p:cNvSpPr txBox="1"/>
          <p:nvPr/>
        </p:nvSpPr>
        <p:spPr>
          <a:xfrm>
            <a:off x="2166058" y="4450477"/>
            <a:ext cx="389557" cy="143640"/>
          </a:xfrm>
          <a:prstGeom prst="rect">
            <a:avLst/>
          </a:prstGeom>
          <a:noFill/>
        </p:spPr>
        <p:txBody>
          <a:bodyPr wrap="none" lIns="0" rIns="0" tIns="0" bIns="0" anchor="t"/>
          <a:lstStyle/>
          <a:p>
            <a:pPr algn="l">
              <a:lnSpc>
                <a:spcPts val="1107"/>
              </a:lnSpc>
            </a:pPr>
            <a:r>
              <a:rPr sz="922" b="1" i="0">
                <a:solidFill>
                  <a:srgbClr val="111111"/>
                </a:solidFill>
                <a:latin typeface="Versos"/>
              </a:rPr>
              <a:t>2,46%</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3,55%</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2,95%</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2,53%</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880360" cy="350713"/>
          </a:xfrm>
          <a:prstGeom prst="rect">
            <a:avLst/>
          </a:prstGeom>
          <a:noFill/>
        </p:spPr>
        <p:txBody>
          <a:bodyPr wrap="square" lIns="0" rIns="0" tIns="0" bIns="0" anchor="t"/>
          <a:lstStyle/>
          <a:p>
            <a:pPr algn="l">
              <a:lnSpc>
                <a:spcPts val="1333"/>
              </a:lnSpc>
            </a:pPr>
            <a:r>
              <a:rPr sz="1190" b="0" i="0">
                <a:solidFill>
                  <a:srgbClr val="222222"/>
                </a:solidFill>
                <a:latin typeface="Versos"/>
              </a:rPr>
              <a:t>Investidores qualificados, Family Offices e Multi Family</a:t>
            </a:r>
          </a:p>
        </p:txBody>
      </p:sp>
      <p:sp>
        <p:nvSpPr>
          <p:cNvPr id="9" name="TextBox 8"/>
          <p:cNvSpPr txBox="1"/>
          <p:nvPr/>
        </p:nvSpPr>
        <p:spPr>
          <a:xfrm>
            <a:off x="400680" y="324595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43495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18/12/2024</a:t>
            </a:r>
          </a:p>
        </p:txBody>
      </p:sp>
      <p:sp>
        <p:nvSpPr>
          <p:cNvPr id="11" name="TextBox 10"/>
          <p:cNvSpPr txBox="1"/>
          <p:nvPr/>
        </p:nvSpPr>
        <p:spPr>
          <a:xfrm>
            <a:off x="400680" y="39368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41258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6277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8167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D+180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368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12587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R$ 153.589.286,51</a:t>
            </a:r>
          </a:p>
        </p:txBody>
      </p:sp>
      <p:sp>
        <p:nvSpPr>
          <p:cNvPr id="19" name="TextBox 18"/>
          <p:cNvSpPr txBox="1"/>
          <p:nvPr/>
        </p:nvSpPr>
        <p:spPr>
          <a:xfrm>
            <a:off x="3878280" y="4627783"/>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816783"/>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R$ 104.590.801,56</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