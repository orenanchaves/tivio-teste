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13400"/>
          </a:xfrm>
          <a:prstGeom prst="rect">
            <a:avLst/>
          </a:prstGeom>
          <a:noFill/>
        </p:spPr>
        <p:txBody>
          <a:bodyPr wrap="none" lIns="0" rIns="0" tIns="0" bIns="0" anchor="t"/>
          <a:lstStyle/>
          <a:p>
            <a:pPr algn="l">
              <a:lnSpc>
                <a:spcPts val="921"/>
              </a:lnSpc>
            </a:pPr>
            <a:r>
              <a:rPr sz="767" b="0" i="0">
                <a:solidFill>
                  <a:srgbClr val="FFFFFF"/>
                </a:solidFill>
                <a:latin typeface="Versos"/>
              </a:rPr>
              <a:t>TIVIO PLUS RF FUNDO INCENTIVADO DE INVESTIMENTO FINANCEIRO EM INFRA – RL </a:t>
            </a:r>
            <a:r>
              <a:rPr sz="629" b="0" i="0">
                <a:solidFill>
                  <a:srgbClr val="FFFFFF"/>
                </a:solidFill>
                <a:latin typeface="Versos"/>
              </a:rPr>
              <a:t>/ CNPJ 32.485.590/0001-86</a:t>
            </a:r>
          </a:p>
        </p:txBody>
      </p:sp>
      <p:sp>
        <p:nvSpPr>
          <p:cNvPr id="4" name="TextBox 3"/>
          <p:cNvSpPr txBox="1"/>
          <p:nvPr/>
        </p:nvSpPr>
        <p:spPr>
          <a:xfrm>
            <a:off x="400680" y="10886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503921"/>
          </a:xfrm>
          <a:prstGeom prst="rect">
            <a:avLst/>
          </a:prstGeom>
          <a:noFill/>
        </p:spPr>
        <p:txBody>
          <a:bodyPr wrap="square" lIns="0" rIns="0" tIns="0" bIns="0" anchor="t"/>
          <a:lstStyle/>
          <a:p>
            <a:pPr algn="l">
              <a:lnSpc>
                <a:spcPts val="1299"/>
              </a:lnSpc>
            </a:pPr>
            <a:r>
              <a:rPr sz="1101" b="0" i="0">
                <a:solidFill>
                  <a:srgbClr val="1E1E1E"/>
                </a:solidFill>
                <a:latin typeface="Versos"/>
              </a:rPr>
              <a:t>O fundo busca promover o investimento em debêntures de infraestrutura (Lei 12.431/11) que oferece benefício fiscal para o cotista pessoa física. O fundo busca superar o retorno de ativos indexados à inflação.</a:t>
            </a:r>
          </a:p>
        </p:txBody>
      </p:sp>
      <p:sp>
        <p:nvSpPr>
          <p:cNvPr id="7" name="TextBox 6"/>
          <p:cNvSpPr txBox="1"/>
          <p:nvPr/>
        </p:nvSpPr>
        <p:spPr>
          <a:xfrm>
            <a:off x="1126440"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75550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75550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313161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1,01%</a:t>
            </a:r>
          </a:p>
        </p:txBody>
      </p:sp>
      <p:sp>
        <p:nvSpPr>
          <p:cNvPr id="15" name="TextBox 14"/>
          <p:cNvSpPr txBox="1"/>
          <p:nvPr/>
        </p:nvSpPr>
        <p:spPr>
          <a:xfrm>
            <a:off x="2136881"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7,05%</a:t>
            </a:r>
          </a:p>
        </p:txBody>
      </p:sp>
      <p:sp>
        <p:nvSpPr>
          <p:cNvPr id="16" name="TextBox 15"/>
          <p:cNvSpPr txBox="1"/>
          <p:nvPr/>
        </p:nvSpPr>
        <p:spPr>
          <a:xfrm>
            <a:off x="3147322"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9,10%</a:t>
            </a:r>
          </a:p>
        </p:txBody>
      </p:sp>
      <p:sp>
        <p:nvSpPr>
          <p:cNvPr id="17" name="TextBox 16"/>
          <p:cNvSpPr txBox="1"/>
          <p:nvPr/>
        </p:nvSpPr>
        <p:spPr>
          <a:xfrm>
            <a:off x="4157763"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20,79%</a:t>
            </a:r>
          </a:p>
        </p:txBody>
      </p:sp>
      <p:sp>
        <p:nvSpPr>
          <p:cNvPr id="18" name="TextBox 17"/>
          <p:cNvSpPr txBox="1"/>
          <p:nvPr/>
        </p:nvSpPr>
        <p:spPr>
          <a:xfrm>
            <a:off x="5168205" y="312783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32,41%</a:t>
            </a:r>
          </a:p>
        </p:txBody>
      </p:sp>
      <p:sp>
        <p:nvSpPr>
          <p:cNvPr id="19" name="TextBox 18"/>
          <p:cNvSpPr txBox="1"/>
          <p:nvPr/>
        </p:nvSpPr>
        <p:spPr>
          <a:xfrm>
            <a:off x="6178646" y="312783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79,20%</a:t>
            </a:r>
          </a:p>
        </p:txBody>
      </p:sp>
      <p:sp>
        <p:nvSpPr>
          <p:cNvPr id="20" name="TextBox 19"/>
          <p:cNvSpPr txBox="1"/>
          <p:nvPr/>
        </p:nvSpPr>
        <p:spPr>
          <a:xfrm>
            <a:off x="340200" y="35228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IMA-B 5</a:t>
            </a:r>
          </a:p>
        </p:txBody>
      </p:sp>
      <p:sp>
        <p:nvSpPr>
          <p:cNvPr id="21" name="TextBox 20"/>
          <p:cNvSpPr txBox="1"/>
          <p:nvPr/>
        </p:nvSpPr>
        <p:spPr>
          <a:xfrm>
            <a:off x="1126440"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2,01%</a:t>
            </a:r>
          </a:p>
        </p:txBody>
      </p:sp>
      <p:sp>
        <p:nvSpPr>
          <p:cNvPr id="22" name="TextBox 21"/>
          <p:cNvSpPr txBox="1"/>
          <p:nvPr/>
        </p:nvSpPr>
        <p:spPr>
          <a:xfrm>
            <a:off x="2136881"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11,37%</a:t>
            </a:r>
          </a:p>
        </p:txBody>
      </p:sp>
      <p:sp>
        <p:nvSpPr>
          <p:cNvPr id="23" name="TextBox 22"/>
          <p:cNvSpPr txBox="1"/>
          <p:nvPr/>
        </p:nvSpPr>
        <p:spPr>
          <a:xfrm>
            <a:off x="3147322"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14,80%</a:t>
            </a:r>
          </a:p>
        </p:txBody>
      </p:sp>
      <p:sp>
        <p:nvSpPr>
          <p:cNvPr id="24" name="TextBox 23"/>
          <p:cNvSpPr txBox="1"/>
          <p:nvPr/>
        </p:nvSpPr>
        <p:spPr>
          <a:xfrm>
            <a:off x="4157763"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25,30%</a:t>
            </a:r>
          </a:p>
        </p:txBody>
      </p:sp>
      <p:sp>
        <p:nvSpPr>
          <p:cNvPr id="25" name="TextBox 24"/>
          <p:cNvSpPr txBox="1"/>
          <p:nvPr/>
        </p:nvSpPr>
        <p:spPr>
          <a:xfrm>
            <a:off x="5168205" y="35190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36,15%</a:t>
            </a:r>
          </a:p>
        </p:txBody>
      </p:sp>
      <p:sp>
        <p:nvSpPr>
          <p:cNvPr id="26" name="TextBox 25"/>
          <p:cNvSpPr txBox="1"/>
          <p:nvPr/>
        </p:nvSpPr>
        <p:spPr>
          <a:xfrm>
            <a:off x="6178646" y="35190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91,68%</a:t>
            </a:r>
          </a:p>
        </p:txBody>
      </p:sp>
      <p:sp>
        <p:nvSpPr>
          <p:cNvPr id="27" name="TextBox 26"/>
          <p:cNvSpPr txBox="1"/>
          <p:nvPr/>
        </p:nvSpPr>
        <p:spPr>
          <a:xfrm>
            <a:off x="340200" y="39159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−1,00%</a:t>
            </a:r>
          </a:p>
        </p:txBody>
      </p:sp>
      <p:sp>
        <p:nvSpPr>
          <p:cNvPr id="29" name="TextBox 28"/>
          <p:cNvSpPr txBox="1"/>
          <p:nvPr/>
        </p:nvSpPr>
        <p:spPr>
          <a:xfrm>
            <a:off x="2136881"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−4,32%</a:t>
            </a:r>
          </a:p>
        </p:txBody>
      </p:sp>
      <p:sp>
        <p:nvSpPr>
          <p:cNvPr id="30" name="TextBox 29"/>
          <p:cNvSpPr txBox="1"/>
          <p:nvPr/>
        </p:nvSpPr>
        <p:spPr>
          <a:xfrm>
            <a:off x="3147322"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−5,70%</a:t>
            </a:r>
          </a:p>
        </p:txBody>
      </p:sp>
      <p:sp>
        <p:nvSpPr>
          <p:cNvPr id="31" name="TextBox 30"/>
          <p:cNvSpPr txBox="1"/>
          <p:nvPr/>
        </p:nvSpPr>
        <p:spPr>
          <a:xfrm>
            <a:off x="4157763"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−4,50%</a:t>
            </a:r>
          </a:p>
        </p:txBody>
      </p:sp>
      <p:sp>
        <p:nvSpPr>
          <p:cNvPr id="32" name="TextBox 31"/>
          <p:cNvSpPr txBox="1"/>
          <p:nvPr/>
        </p:nvSpPr>
        <p:spPr>
          <a:xfrm>
            <a:off x="5168205" y="39121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−3,74%</a:t>
            </a:r>
          </a:p>
        </p:txBody>
      </p:sp>
      <p:sp>
        <p:nvSpPr>
          <p:cNvPr id="33" name="TextBox 32"/>
          <p:cNvSpPr txBox="1"/>
          <p:nvPr/>
        </p:nvSpPr>
        <p:spPr>
          <a:xfrm>
            <a:off x="6178646" y="39121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−12,48%</a:t>
            </a:r>
          </a:p>
        </p:txBody>
      </p:sp>
      <p:sp>
        <p:nvSpPr>
          <p:cNvPr id="34" name="TextBox 33"/>
          <p:cNvSpPr txBox="1"/>
          <p:nvPr/>
        </p:nvSpPr>
        <p:spPr>
          <a:xfrm>
            <a:off x="355320" y="42486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30/09/2026</a:t>
            </a:r>
          </a:p>
        </p:txBody>
      </p:sp>
      <p:sp>
        <p:nvSpPr>
          <p:cNvPr id="35" name="TextBox 34"/>
          <p:cNvSpPr txBox="1"/>
          <p:nvPr/>
        </p:nvSpPr>
        <p:spPr>
          <a:xfrm>
            <a:off x="400680" y="49063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36" name="TextBox 35"/>
          <p:cNvSpPr txBox="1"/>
          <p:nvPr/>
        </p:nvSpPr>
        <p:spPr>
          <a:xfrm>
            <a:off x="400680" y="541992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AUREN</a:t>
            </a:r>
          </a:p>
        </p:txBody>
      </p:sp>
      <p:sp>
        <p:nvSpPr>
          <p:cNvPr id="37" name="TextBox 36"/>
          <p:cNvSpPr txBox="1"/>
          <p:nvPr/>
        </p:nvSpPr>
        <p:spPr>
          <a:xfrm>
            <a:off x="2831928" y="5418039"/>
            <a:ext cx="362898" cy="143640"/>
          </a:xfrm>
          <a:prstGeom prst="rect">
            <a:avLst/>
          </a:prstGeom>
          <a:noFill/>
        </p:spPr>
        <p:txBody>
          <a:bodyPr wrap="none" lIns="0" rIns="0" tIns="0" bIns="0" anchor="t"/>
          <a:lstStyle/>
          <a:p>
            <a:pPr algn="l">
              <a:lnSpc>
                <a:spcPts val="1107"/>
              </a:lnSpc>
            </a:pPr>
            <a:r>
              <a:rPr sz="922" b="0" i="0">
                <a:solidFill>
                  <a:srgbClr val="5A82A0"/>
                </a:solidFill>
                <a:latin typeface="Versos"/>
              </a:rPr>
              <a:t>7,45%</a:t>
            </a:r>
          </a:p>
        </p:txBody>
      </p:sp>
      <p:sp>
        <p:nvSpPr>
          <p:cNvPr id="38" name="TextBox 37"/>
          <p:cNvSpPr txBox="1"/>
          <p:nvPr/>
        </p:nvSpPr>
        <p:spPr>
          <a:xfrm>
            <a:off x="400680" y="590376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EDF</a:t>
            </a:r>
          </a:p>
        </p:txBody>
      </p:sp>
      <p:sp>
        <p:nvSpPr>
          <p:cNvPr id="39" name="TextBox 38"/>
          <p:cNvSpPr txBox="1"/>
          <p:nvPr/>
        </p:nvSpPr>
        <p:spPr>
          <a:xfrm>
            <a:off x="2617059" y="5901879"/>
            <a:ext cx="386977" cy="143640"/>
          </a:xfrm>
          <a:prstGeom prst="rect">
            <a:avLst/>
          </a:prstGeom>
          <a:noFill/>
        </p:spPr>
        <p:txBody>
          <a:bodyPr wrap="none" lIns="0" rIns="0" tIns="0" bIns="0" anchor="t"/>
          <a:lstStyle/>
          <a:p>
            <a:pPr algn="l">
              <a:lnSpc>
                <a:spcPts val="1107"/>
              </a:lnSpc>
            </a:pPr>
            <a:r>
              <a:rPr sz="922" b="0" i="0">
                <a:solidFill>
                  <a:srgbClr val="5A82A0"/>
                </a:solidFill>
                <a:latin typeface="Versos"/>
              </a:rPr>
              <a:t>6,48%</a:t>
            </a:r>
          </a:p>
        </p:txBody>
      </p:sp>
      <p:sp>
        <p:nvSpPr>
          <p:cNvPr id="40" name="TextBox 39"/>
          <p:cNvSpPr txBox="1"/>
          <p:nvPr/>
        </p:nvSpPr>
        <p:spPr>
          <a:xfrm>
            <a:off x="400680" y="6387609"/>
            <a:ext cx="762898" cy="136080"/>
          </a:xfrm>
          <a:prstGeom prst="rect">
            <a:avLst/>
          </a:prstGeom>
          <a:noFill/>
        </p:spPr>
        <p:txBody>
          <a:bodyPr wrap="none" lIns="0" rIns="0" tIns="0" bIns="0" anchor="t"/>
          <a:lstStyle/>
          <a:p>
            <a:pPr algn="r">
              <a:lnSpc>
                <a:spcPts val="982"/>
              </a:lnSpc>
            </a:pPr>
            <a:r>
              <a:rPr sz="892" b="0" i="0">
                <a:solidFill>
                  <a:srgbClr val="222222"/>
                </a:solidFill>
                <a:latin typeface="Versos"/>
              </a:rPr>
              <a:t>EQUATORIAL</a:t>
            </a:r>
          </a:p>
        </p:txBody>
      </p:sp>
      <p:sp>
        <p:nvSpPr>
          <p:cNvPr id="41" name="TextBox 40"/>
          <p:cNvSpPr txBox="1"/>
          <p:nvPr/>
        </p:nvSpPr>
        <p:spPr>
          <a:xfrm>
            <a:off x="2375848" y="6385719"/>
            <a:ext cx="383906" cy="143640"/>
          </a:xfrm>
          <a:prstGeom prst="rect">
            <a:avLst/>
          </a:prstGeom>
          <a:noFill/>
        </p:spPr>
        <p:txBody>
          <a:bodyPr wrap="none" lIns="0" rIns="0" tIns="0" bIns="0" anchor="t"/>
          <a:lstStyle/>
          <a:p>
            <a:pPr algn="l">
              <a:lnSpc>
                <a:spcPts val="1107"/>
              </a:lnSpc>
            </a:pPr>
            <a:r>
              <a:rPr sz="922" b="0" i="0">
                <a:solidFill>
                  <a:srgbClr val="5A82A0"/>
                </a:solidFill>
                <a:latin typeface="Versos"/>
              </a:rPr>
              <a:t>5,38%</a:t>
            </a:r>
          </a:p>
        </p:txBody>
      </p:sp>
      <p:sp>
        <p:nvSpPr>
          <p:cNvPr id="42" name="TextBox 41"/>
          <p:cNvSpPr txBox="1"/>
          <p:nvPr/>
        </p:nvSpPr>
        <p:spPr>
          <a:xfrm>
            <a:off x="400680" y="687144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SABESP</a:t>
            </a:r>
          </a:p>
        </p:txBody>
      </p:sp>
      <p:sp>
        <p:nvSpPr>
          <p:cNvPr id="43" name="TextBox 42"/>
          <p:cNvSpPr txBox="1"/>
          <p:nvPr/>
        </p:nvSpPr>
        <p:spPr>
          <a:xfrm>
            <a:off x="2017811" y="6869559"/>
            <a:ext cx="371989" cy="143640"/>
          </a:xfrm>
          <a:prstGeom prst="rect">
            <a:avLst/>
          </a:prstGeom>
          <a:noFill/>
        </p:spPr>
        <p:txBody>
          <a:bodyPr wrap="none" lIns="0" rIns="0" tIns="0" bIns="0" anchor="t"/>
          <a:lstStyle/>
          <a:p>
            <a:pPr algn="l">
              <a:lnSpc>
                <a:spcPts val="1107"/>
              </a:lnSpc>
            </a:pPr>
            <a:r>
              <a:rPr sz="922" b="0" i="0">
                <a:solidFill>
                  <a:srgbClr val="5A82A0"/>
                </a:solidFill>
                <a:latin typeface="Versos"/>
              </a:rPr>
              <a:t>3,76%</a:t>
            </a:r>
          </a:p>
        </p:txBody>
      </p:sp>
      <p:sp>
        <p:nvSpPr>
          <p:cNvPr id="44" name="TextBox 43"/>
          <p:cNvSpPr txBox="1"/>
          <p:nvPr/>
        </p:nvSpPr>
        <p:spPr>
          <a:xfrm>
            <a:off x="400680" y="735528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ENERGISA</a:t>
            </a:r>
          </a:p>
        </p:txBody>
      </p:sp>
      <p:sp>
        <p:nvSpPr>
          <p:cNvPr id="45" name="TextBox 44"/>
          <p:cNvSpPr txBox="1"/>
          <p:nvPr/>
        </p:nvSpPr>
        <p:spPr>
          <a:xfrm>
            <a:off x="1960048" y="7353399"/>
            <a:ext cx="384029" cy="143640"/>
          </a:xfrm>
          <a:prstGeom prst="rect">
            <a:avLst/>
          </a:prstGeom>
          <a:noFill/>
        </p:spPr>
        <p:txBody>
          <a:bodyPr wrap="none" lIns="0" rIns="0" tIns="0" bIns="0" anchor="t"/>
          <a:lstStyle/>
          <a:p>
            <a:pPr algn="l">
              <a:lnSpc>
                <a:spcPts val="1107"/>
              </a:lnSpc>
            </a:pPr>
            <a:r>
              <a:rPr sz="922" b="0" i="0">
                <a:solidFill>
                  <a:srgbClr val="5A82A0"/>
                </a:solidFill>
                <a:latin typeface="Versos"/>
              </a:rPr>
              <a:t>3,50%</a:t>
            </a:r>
          </a:p>
        </p:txBody>
      </p:sp>
      <p:sp>
        <p:nvSpPr>
          <p:cNvPr id="46" name="TextBox 45"/>
          <p:cNvSpPr txBox="1"/>
          <p:nvPr/>
        </p:nvSpPr>
        <p:spPr>
          <a:xfrm>
            <a:off x="400680" y="7930440"/>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47" name="TextBox 46"/>
          <p:cNvSpPr txBox="1"/>
          <p:nvPr/>
        </p:nvSpPr>
        <p:spPr>
          <a:xfrm>
            <a:off x="400680" y="8349429"/>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48" name="TextBox 47"/>
          <p:cNvSpPr txBox="1"/>
          <p:nvPr/>
        </p:nvSpPr>
        <p:spPr>
          <a:xfrm>
            <a:off x="2960448" y="8347539"/>
            <a:ext cx="473832" cy="143640"/>
          </a:xfrm>
          <a:prstGeom prst="rect">
            <a:avLst/>
          </a:prstGeom>
          <a:noFill/>
        </p:spPr>
        <p:txBody>
          <a:bodyPr wrap="none" lIns="0" rIns="0" tIns="0" bIns="0" anchor="t"/>
          <a:lstStyle/>
          <a:p>
            <a:pPr algn="l">
              <a:lnSpc>
                <a:spcPts val="1142"/>
              </a:lnSpc>
            </a:pPr>
            <a:r>
              <a:rPr sz="952" b="0" i="0">
                <a:solidFill>
                  <a:srgbClr val="111111"/>
                </a:solidFill>
                <a:latin typeface="Versos"/>
              </a:rPr>
              <a:t>38,32%</a:t>
            </a:r>
          </a:p>
        </p:txBody>
      </p:sp>
      <p:sp>
        <p:nvSpPr>
          <p:cNvPr id="49" name="TextBox 48"/>
          <p:cNvSpPr txBox="1"/>
          <p:nvPr/>
        </p:nvSpPr>
        <p:spPr>
          <a:xfrm>
            <a:off x="400680" y="864403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0" name="TextBox 49"/>
          <p:cNvSpPr txBox="1"/>
          <p:nvPr/>
        </p:nvSpPr>
        <p:spPr>
          <a:xfrm>
            <a:off x="2249572" y="8642143"/>
            <a:ext cx="395208" cy="143640"/>
          </a:xfrm>
          <a:prstGeom prst="rect">
            <a:avLst/>
          </a:prstGeom>
          <a:noFill/>
        </p:spPr>
        <p:txBody>
          <a:bodyPr wrap="none" lIns="0" rIns="0" tIns="0" bIns="0" anchor="t"/>
          <a:lstStyle/>
          <a:p>
            <a:pPr algn="l">
              <a:lnSpc>
                <a:spcPts val="1142"/>
              </a:lnSpc>
            </a:pPr>
            <a:r>
              <a:rPr sz="952" b="0" i="0">
                <a:solidFill>
                  <a:srgbClr val="111111"/>
                </a:solidFill>
                <a:latin typeface="Versos"/>
              </a:rPr>
              <a:t>24,11%</a:t>
            </a:r>
          </a:p>
        </p:txBody>
      </p:sp>
      <p:sp>
        <p:nvSpPr>
          <p:cNvPr id="51" name="TextBox 50"/>
          <p:cNvSpPr txBox="1"/>
          <p:nvPr/>
        </p:nvSpPr>
        <p:spPr>
          <a:xfrm>
            <a:off x="400680" y="893863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2" name="TextBox 51"/>
          <p:cNvSpPr txBox="1"/>
          <p:nvPr/>
        </p:nvSpPr>
        <p:spPr>
          <a:xfrm>
            <a:off x="1618430" y="8936746"/>
            <a:ext cx="412284" cy="143640"/>
          </a:xfrm>
          <a:prstGeom prst="rect">
            <a:avLst/>
          </a:prstGeom>
          <a:noFill/>
        </p:spPr>
        <p:txBody>
          <a:bodyPr wrap="none" lIns="0" rIns="0" tIns="0" bIns="0" anchor="t"/>
          <a:lstStyle/>
          <a:p>
            <a:pPr algn="l">
              <a:lnSpc>
                <a:spcPts val="1142"/>
              </a:lnSpc>
            </a:pPr>
            <a:r>
              <a:rPr sz="952" b="0" i="0">
                <a:solidFill>
                  <a:srgbClr val="111111"/>
                </a:solidFill>
                <a:latin typeface="Versos"/>
              </a:rPr>
              <a:t>11,50%</a:t>
            </a:r>
          </a:p>
        </p:txBody>
      </p:sp>
      <p:sp>
        <p:nvSpPr>
          <p:cNvPr id="53" name="TextBox 52"/>
          <p:cNvSpPr txBox="1"/>
          <p:nvPr/>
        </p:nvSpPr>
        <p:spPr>
          <a:xfrm>
            <a:off x="400680" y="9233240"/>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4" name="TextBox 53"/>
          <p:cNvSpPr txBox="1"/>
          <p:nvPr/>
        </p:nvSpPr>
        <p:spPr>
          <a:xfrm>
            <a:off x="1478216" y="9231350"/>
            <a:ext cx="399139" cy="143640"/>
          </a:xfrm>
          <a:prstGeom prst="rect">
            <a:avLst/>
          </a:prstGeom>
          <a:noFill/>
        </p:spPr>
        <p:txBody>
          <a:bodyPr wrap="none" lIns="0" rIns="0" tIns="0" bIns="0" anchor="t"/>
          <a:lstStyle/>
          <a:p>
            <a:pPr algn="l">
              <a:lnSpc>
                <a:spcPts val="1142"/>
              </a:lnSpc>
            </a:pPr>
            <a:r>
              <a:rPr sz="952" b="0" i="0">
                <a:solidFill>
                  <a:srgbClr val="111111"/>
                </a:solidFill>
                <a:latin typeface="Versos"/>
              </a:rPr>
              <a:t>8,69%</a:t>
            </a:r>
          </a:p>
        </p:txBody>
      </p:sp>
      <p:sp>
        <p:nvSpPr>
          <p:cNvPr id="55" name="TextBox 54"/>
          <p:cNvSpPr txBox="1"/>
          <p:nvPr/>
        </p:nvSpPr>
        <p:spPr>
          <a:xfrm>
            <a:off x="400680" y="9527844"/>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6" name="TextBox 55"/>
          <p:cNvSpPr txBox="1"/>
          <p:nvPr/>
        </p:nvSpPr>
        <p:spPr>
          <a:xfrm>
            <a:off x="1338238" y="9525954"/>
            <a:ext cx="397911" cy="143640"/>
          </a:xfrm>
          <a:prstGeom prst="rect">
            <a:avLst/>
          </a:prstGeom>
          <a:noFill/>
        </p:spPr>
        <p:txBody>
          <a:bodyPr wrap="none" lIns="0" rIns="0" tIns="0" bIns="0" anchor="t"/>
          <a:lstStyle/>
          <a:p>
            <a:pPr algn="l">
              <a:lnSpc>
                <a:spcPts val="1142"/>
              </a:lnSpc>
            </a:pPr>
            <a:r>
              <a:rPr sz="952" b="0" i="0">
                <a:solidFill>
                  <a:srgbClr val="111111"/>
                </a:solidFill>
                <a:latin typeface="Versos"/>
              </a:rPr>
              <a:t>5,90%</a:t>
            </a:r>
          </a:p>
        </p:txBody>
      </p:sp>
      <p:sp>
        <p:nvSpPr>
          <p:cNvPr id="57" name="TextBox 56"/>
          <p:cNvSpPr txBox="1"/>
          <p:nvPr/>
        </p:nvSpPr>
        <p:spPr>
          <a:xfrm>
            <a:off x="400680" y="982244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8" name="TextBox 57"/>
          <p:cNvSpPr txBox="1"/>
          <p:nvPr/>
        </p:nvSpPr>
        <p:spPr>
          <a:xfrm>
            <a:off x="1115100" y="9820558"/>
            <a:ext cx="360441" cy="143640"/>
          </a:xfrm>
          <a:prstGeom prst="rect">
            <a:avLst/>
          </a:prstGeom>
          <a:noFill/>
        </p:spPr>
        <p:txBody>
          <a:bodyPr wrap="none" lIns="0" rIns="0" tIns="0" bIns="0" anchor="t"/>
          <a:lstStyle/>
          <a:p>
            <a:pPr algn="l">
              <a:lnSpc>
                <a:spcPts val="1142"/>
              </a:lnSpc>
            </a:pPr>
            <a:r>
              <a:rPr sz="952" b="0" i="0">
                <a:solidFill>
                  <a:srgbClr val="111111"/>
                </a:solidFill>
                <a:latin typeface="Versos"/>
              </a:rPr>
              <a:t>1,44%</a:t>
            </a:r>
          </a:p>
        </p:txBody>
      </p:sp>
      <p:sp>
        <p:nvSpPr>
          <p:cNvPr id="59" name="TextBox 58"/>
          <p:cNvSpPr txBox="1"/>
          <p:nvPr/>
        </p:nvSpPr>
        <p:spPr>
          <a:xfrm>
            <a:off x="3802680" y="49063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0" name="TextBox 59"/>
          <p:cNvSpPr txBox="1"/>
          <p:nvPr/>
        </p:nvSpPr>
        <p:spPr>
          <a:xfrm>
            <a:off x="3802680" y="541815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61" name="TextBox 60"/>
          <p:cNvSpPr txBox="1"/>
          <p:nvPr/>
        </p:nvSpPr>
        <p:spPr>
          <a:xfrm>
            <a:off x="6752497" y="5410479"/>
            <a:ext cx="476289" cy="143640"/>
          </a:xfrm>
          <a:prstGeom prst="rect">
            <a:avLst/>
          </a:prstGeom>
          <a:noFill/>
        </p:spPr>
        <p:txBody>
          <a:bodyPr wrap="none" lIns="0" rIns="0" tIns="0" bIns="0" anchor="t"/>
          <a:lstStyle/>
          <a:p>
            <a:pPr algn="l">
              <a:lnSpc>
                <a:spcPts val="1142"/>
              </a:lnSpc>
            </a:pPr>
            <a:r>
              <a:rPr sz="952" b="0" i="0">
                <a:solidFill>
                  <a:srgbClr val="111111"/>
                </a:solidFill>
                <a:latin typeface="Versos"/>
              </a:rPr>
              <a:t>53,39%</a:t>
            </a:r>
          </a:p>
        </p:txBody>
      </p:sp>
      <p:sp>
        <p:nvSpPr>
          <p:cNvPr id="62" name="TextBox 61"/>
          <p:cNvSpPr txBox="1"/>
          <p:nvPr/>
        </p:nvSpPr>
        <p:spPr>
          <a:xfrm>
            <a:off x="3802680" y="588687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63" name="TextBox 62"/>
          <p:cNvSpPr txBox="1"/>
          <p:nvPr/>
        </p:nvSpPr>
        <p:spPr>
          <a:xfrm>
            <a:off x="5810214" y="5879199"/>
            <a:ext cx="440908" cy="143640"/>
          </a:xfrm>
          <a:prstGeom prst="rect">
            <a:avLst/>
          </a:prstGeom>
          <a:noFill/>
        </p:spPr>
        <p:txBody>
          <a:bodyPr wrap="none" lIns="0" rIns="0" tIns="0" bIns="0" anchor="t"/>
          <a:lstStyle/>
          <a:p>
            <a:pPr algn="l">
              <a:lnSpc>
                <a:spcPts val="1142"/>
              </a:lnSpc>
            </a:pPr>
            <a:r>
              <a:rPr sz="952" b="0" i="0">
                <a:solidFill>
                  <a:srgbClr val="111111"/>
                </a:solidFill>
                <a:latin typeface="Versos"/>
              </a:rPr>
              <a:t>13,59%</a:t>
            </a:r>
          </a:p>
        </p:txBody>
      </p:sp>
      <p:sp>
        <p:nvSpPr>
          <p:cNvPr id="64" name="TextBox 63"/>
          <p:cNvSpPr txBox="1"/>
          <p:nvPr/>
        </p:nvSpPr>
        <p:spPr>
          <a:xfrm>
            <a:off x="3802680" y="635559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65" name="TextBox 64"/>
          <p:cNvSpPr txBox="1"/>
          <p:nvPr/>
        </p:nvSpPr>
        <p:spPr>
          <a:xfrm>
            <a:off x="5681103" y="6347919"/>
            <a:ext cx="355527" cy="143640"/>
          </a:xfrm>
          <a:prstGeom prst="rect">
            <a:avLst/>
          </a:prstGeom>
          <a:noFill/>
        </p:spPr>
        <p:txBody>
          <a:bodyPr wrap="none" lIns="0" rIns="0" tIns="0" bIns="0" anchor="t"/>
          <a:lstStyle/>
          <a:p>
            <a:pPr algn="l">
              <a:lnSpc>
                <a:spcPts val="1142"/>
              </a:lnSpc>
            </a:pPr>
            <a:r>
              <a:rPr sz="952" b="0" i="0">
                <a:solidFill>
                  <a:srgbClr val="111111"/>
                </a:solidFill>
                <a:latin typeface="Versos"/>
              </a:rPr>
              <a:t>8,13%</a:t>
            </a:r>
          </a:p>
        </p:txBody>
      </p:sp>
      <p:sp>
        <p:nvSpPr>
          <p:cNvPr id="66" name="TextBox 65"/>
          <p:cNvSpPr txBox="1"/>
          <p:nvPr/>
        </p:nvSpPr>
        <p:spPr>
          <a:xfrm>
            <a:off x="3802680" y="682431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67" name="TextBox 66"/>
          <p:cNvSpPr txBox="1"/>
          <p:nvPr/>
        </p:nvSpPr>
        <p:spPr>
          <a:xfrm>
            <a:off x="5675551" y="6816639"/>
            <a:ext cx="381080" cy="143640"/>
          </a:xfrm>
          <a:prstGeom prst="rect">
            <a:avLst/>
          </a:prstGeom>
          <a:noFill/>
        </p:spPr>
        <p:txBody>
          <a:bodyPr wrap="none" lIns="0" rIns="0" tIns="0" bIns="0" anchor="t"/>
          <a:lstStyle/>
          <a:p>
            <a:pPr algn="l">
              <a:lnSpc>
                <a:spcPts val="1142"/>
              </a:lnSpc>
            </a:pPr>
            <a:r>
              <a:rPr sz="952" b="0" i="0">
                <a:solidFill>
                  <a:srgbClr val="111111"/>
                </a:solidFill>
                <a:latin typeface="Versos"/>
              </a:rPr>
              <a:t>7,90%</a:t>
            </a:r>
          </a:p>
        </p:txBody>
      </p:sp>
      <p:sp>
        <p:nvSpPr>
          <p:cNvPr id="68" name="TextBox 67"/>
          <p:cNvSpPr txBox="1"/>
          <p:nvPr/>
        </p:nvSpPr>
        <p:spPr>
          <a:xfrm>
            <a:off x="3802680" y="729303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69" name="TextBox 68"/>
          <p:cNvSpPr txBox="1"/>
          <p:nvPr/>
        </p:nvSpPr>
        <p:spPr>
          <a:xfrm>
            <a:off x="5600188" y="7285359"/>
            <a:ext cx="384151" cy="143640"/>
          </a:xfrm>
          <a:prstGeom prst="rect">
            <a:avLst/>
          </a:prstGeom>
          <a:noFill/>
        </p:spPr>
        <p:txBody>
          <a:bodyPr wrap="none" lIns="0" rIns="0" tIns="0" bIns="0" anchor="t"/>
          <a:lstStyle/>
          <a:p>
            <a:pPr algn="l">
              <a:lnSpc>
                <a:spcPts val="1142"/>
              </a:lnSpc>
            </a:pPr>
            <a:r>
              <a:rPr sz="952" b="0" i="0">
                <a:solidFill>
                  <a:srgbClr val="111111"/>
                </a:solidFill>
                <a:latin typeface="Versos"/>
              </a:rPr>
              <a:t>4,72%</a:t>
            </a:r>
          </a:p>
        </p:txBody>
      </p:sp>
      <p:sp>
        <p:nvSpPr>
          <p:cNvPr id="70" name="TextBox 69"/>
          <p:cNvSpPr txBox="1"/>
          <p:nvPr/>
        </p:nvSpPr>
        <p:spPr>
          <a:xfrm>
            <a:off x="3802680" y="776175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Açúcar, Álcool e Cana</a:t>
            </a:r>
          </a:p>
        </p:txBody>
      </p:sp>
      <p:sp>
        <p:nvSpPr>
          <p:cNvPr id="71" name="TextBox 70"/>
          <p:cNvSpPr txBox="1"/>
          <p:nvPr/>
        </p:nvSpPr>
        <p:spPr>
          <a:xfrm>
            <a:off x="5591210" y="7754079"/>
            <a:ext cx="397174" cy="143640"/>
          </a:xfrm>
          <a:prstGeom prst="rect">
            <a:avLst/>
          </a:prstGeom>
          <a:noFill/>
        </p:spPr>
        <p:txBody>
          <a:bodyPr wrap="none" lIns="0" rIns="0" tIns="0" bIns="0" anchor="t"/>
          <a:lstStyle/>
          <a:p>
            <a:pPr algn="l">
              <a:lnSpc>
                <a:spcPts val="1142"/>
              </a:lnSpc>
            </a:pPr>
            <a:r>
              <a:rPr sz="952" b="0" i="0">
                <a:solidFill>
                  <a:srgbClr val="111111"/>
                </a:solidFill>
                <a:latin typeface="Versos"/>
              </a:rPr>
              <a:t>4,33%</a:t>
            </a:r>
          </a:p>
        </p:txBody>
      </p:sp>
      <p:sp>
        <p:nvSpPr>
          <p:cNvPr id="72" name="TextBox 71"/>
          <p:cNvSpPr txBox="1"/>
          <p:nvPr/>
        </p:nvSpPr>
        <p:spPr>
          <a:xfrm>
            <a:off x="3802680" y="823047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3" name="TextBox 72"/>
          <p:cNvSpPr txBox="1"/>
          <p:nvPr/>
        </p:nvSpPr>
        <p:spPr>
          <a:xfrm>
            <a:off x="5569830" y="8222799"/>
            <a:ext cx="391522" cy="143640"/>
          </a:xfrm>
          <a:prstGeom prst="rect">
            <a:avLst/>
          </a:prstGeom>
          <a:noFill/>
        </p:spPr>
        <p:txBody>
          <a:bodyPr wrap="none" lIns="0" rIns="0" tIns="0" bIns="0" anchor="t"/>
          <a:lstStyle/>
          <a:p>
            <a:pPr algn="l">
              <a:lnSpc>
                <a:spcPts val="1142"/>
              </a:lnSpc>
            </a:pPr>
            <a:r>
              <a:rPr sz="952" b="0" i="0">
                <a:solidFill>
                  <a:srgbClr val="111111"/>
                </a:solidFill>
                <a:latin typeface="Versos"/>
              </a:rPr>
              <a:t>3,44%</a:t>
            </a:r>
          </a:p>
        </p:txBody>
      </p:sp>
      <p:sp>
        <p:nvSpPr>
          <p:cNvPr id="74" name="TextBox 73"/>
          <p:cNvSpPr txBox="1"/>
          <p:nvPr/>
        </p:nvSpPr>
        <p:spPr>
          <a:xfrm>
            <a:off x="3802680" y="869919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75" name="TextBox 74"/>
          <p:cNvSpPr txBox="1"/>
          <p:nvPr/>
        </p:nvSpPr>
        <p:spPr>
          <a:xfrm>
            <a:off x="5539590" y="8691519"/>
            <a:ext cx="354176" cy="143640"/>
          </a:xfrm>
          <a:prstGeom prst="rect">
            <a:avLst/>
          </a:prstGeom>
          <a:noFill/>
        </p:spPr>
        <p:txBody>
          <a:bodyPr wrap="none" lIns="0" rIns="0" tIns="0" bIns="0" anchor="t"/>
          <a:lstStyle/>
          <a:p>
            <a:pPr algn="l">
              <a:lnSpc>
                <a:spcPts val="1142"/>
              </a:lnSpc>
            </a:pPr>
            <a:r>
              <a:rPr sz="952" b="0" i="0">
                <a:solidFill>
                  <a:srgbClr val="111111"/>
                </a:solidFill>
                <a:latin typeface="Versos"/>
              </a:rPr>
              <a:t>2,16%</a:t>
            </a:r>
          </a:p>
        </p:txBody>
      </p:sp>
      <p:sp>
        <p:nvSpPr>
          <p:cNvPr id="76" name="TextBox 75"/>
          <p:cNvSpPr txBox="1"/>
          <p:nvPr/>
        </p:nvSpPr>
        <p:spPr>
          <a:xfrm>
            <a:off x="3802680" y="916791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77" name="TextBox 76"/>
          <p:cNvSpPr txBox="1"/>
          <p:nvPr/>
        </p:nvSpPr>
        <p:spPr>
          <a:xfrm>
            <a:off x="5521635" y="9160239"/>
            <a:ext cx="368918" cy="143640"/>
          </a:xfrm>
          <a:prstGeom prst="rect">
            <a:avLst/>
          </a:prstGeom>
          <a:noFill/>
        </p:spPr>
        <p:txBody>
          <a:bodyPr wrap="none" lIns="0" rIns="0" tIns="0" bIns="0" anchor="t"/>
          <a:lstStyle/>
          <a:p>
            <a:pPr algn="l">
              <a:lnSpc>
                <a:spcPts val="1142"/>
              </a:lnSpc>
            </a:pPr>
            <a:r>
              <a:rPr sz="952" b="0" i="0">
                <a:solidFill>
                  <a:srgbClr val="111111"/>
                </a:solidFill>
                <a:latin typeface="Versos"/>
              </a:rPr>
              <a:t>1,40%</a:t>
            </a:r>
          </a:p>
        </p:txBody>
      </p:sp>
      <p:sp>
        <p:nvSpPr>
          <p:cNvPr id="78" name="TextBox 77"/>
          <p:cNvSpPr txBox="1"/>
          <p:nvPr/>
        </p:nvSpPr>
        <p:spPr>
          <a:xfrm>
            <a:off x="3802680" y="9636637"/>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Outras Concessões</a:t>
            </a:r>
          </a:p>
        </p:txBody>
      </p:sp>
      <p:sp>
        <p:nvSpPr>
          <p:cNvPr id="79" name="TextBox 78"/>
          <p:cNvSpPr txBox="1"/>
          <p:nvPr/>
        </p:nvSpPr>
        <p:spPr>
          <a:xfrm>
            <a:off x="5512539" y="9628959"/>
            <a:ext cx="326535" cy="143640"/>
          </a:xfrm>
          <a:prstGeom prst="rect">
            <a:avLst/>
          </a:prstGeom>
          <a:noFill/>
        </p:spPr>
        <p:txBody>
          <a:bodyPr wrap="none" lIns="0" rIns="0" tIns="0" bIns="0" anchor="t"/>
          <a:lstStyle/>
          <a:p>
            <a:pPr algn="l">
              <a:lnSpc>
                <a:spcPts val="1142"/>
              </a:lnSpc>
            </a:pPr>
            <a:r>
              <a:rPr sz="952" b="0" i="0">
                <a:solidFill>
                  <a:srgbClr val="111111"/>
                </a:solidFill>
                <a:latin typeface="Versos"/>
              </a:rPr>
              <a:t>1,01%</a:t>
            </a:r>
          </a:p>
        </p:txBody>
      </p:sp>
      <p:sp>
        <p:nvSpPr>
          <p:cNvPr id="80" name="TextBox 79"/>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1130574"/>
          </a:xfrm>
          <a:prstGeom prst="rect">
            <a:avLst/>
          </a:prstGeom>
          <a:noFill/>
        </p:spPr>
        <p:txBody>
          <a:bodyPr wrap="square" lIns="0" rIns="0" tIns="0" bIns="0" anchor="t"/>
          <a:lstStyle/>
          <a:p>
            <a:pPr algn="just">
              <a:lnSpc>
                <a:spcPts val="1494"/>
              </a:lnSpc>
            </a:pPr>
            <a:r>
              <a:rPr sz="1205" b="0" i="0">
                <a:solidFill>
                  <a:srgbClr val="F1F1F1"/>
                </a:solidFill>
                <a:latin typeface="Versos"/>
              </a:rPr>
              <a:t>Em setembro, o mercado de crédito incentivado foi marcado por uma reprecificação relevante dos ativos. Os spreads médios dos títulos indexados ao IPCA registraram abertura próxima de 45 bps, refletindo um ambiente técnico menos favorável e o aumento da pressão vendedora no mercado secundário. Apesar disso, o forte fechamento da curva real de juros mitigou parte desse movimento, fazendo com que as taxas finais dos ativos apresentassem abertura mais moderada, de aproximadamente 5 bps no período.</a:t>
            </a:r>
          </a:p>
        </p:txBody>
      </p:sp>
      <p:sp>
        <p:nvSpPr>
          <p:cNvPr id="7" name="TextBox 6"/>
          <p:cNvSpPr txBox="1"/>
          <p:nvPr/>
        </p:nvSpPr>
        <p:spPr>
          <a:xfrm>
            <a:off x="529200" y="6465690"/>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No mercado secundário, observou-se predominância de fluxos vendedores, em um contexto de resgates líquidos próximos de R$ 7 bilhões nos fundos de infraestrutura. Esse movimento contribuiu para a ampliação dos spreads e para uma maior seletividade na formação dos preços.</a:t>
            </a:r>
          </a:p>
        </p:txBody>
      </p:sp>
      <p:sp>
        <p:nvSpPr>
          <p:cNvPr id="8" name="TextBox 7"/>
          <p:cNvSpPr txBox="1"/>
          <p:nvPr/>
        </p:nvSpPr>
        <p:spPr>
          <a:xfrm>
            <a:off x="529200" y="7335208"/>
            <a:ext cx="6501600" cy="561093"/>
          </a:xfrm>
          <a:prstGeom prst="rect">
            <a:avLst/>
          </a:prstGeom>
          <a:noFill/>
        </p:spPr>
        <p:txBody>
          <a:bodyPr wrap="square" lIns="0" rIns="0" tIns="0" bIns="0" anchor="t"/>
          <a:lstStyle/>
          <a:p>
            <a:pPr algn="just">
              <a:lnSpc>
                <a:spcPts val="1494"/>
              </a:lnSpc>
            </a:pPr>
            <a:r>
              <a:rPr sz="1205" b="0" i="0">
                <a:solidFill>
                  <a:srgbClr val="F1F1F1"/>
                </a:solidFill>
                <a:latin typeface="Versos"/>
              </a:rPr>
              <a:t>Já no mercado primário, a atividade permaneceu limitada, com pipeline bastante reduzido de emissões corporativas incentivadas, restringindo as oportunidades de alocação e mantendo a oferta de ativos em níveis baixos.</a:t>
            </a:r>
          </a:p>
        </p:txBody>
      </p:sp>
      <p:sp>
        <p:nvSpPr>
          <p:cNvPr id="9" name="TextBox 8"/>
          <p:cNvSpPr txBox="1"/>
          <p:nvPr/>
        </p:nvSpPr>
        <p:spPr>
          <a:xfrm>
            <a:off x="529200" y="8014899"/>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Sob a ótica da gestão, seguimos adotando uma postura cautelosa e seletiva. Embora a recente abertura dos spreads tenha tornado algumas oportunidades mais atrativas, entendemos que a volatilidade dos fluxos e a baixa liquidez do mercado secundário ainda justificam uma abordagem disciplinada na alocação dos recursos, priorizando operações com adequada relação entre risco e retorno.</a:t>
            </a:r>
          </a:p>
        </p:txBody>
      </p:sp>
      <p:sp>
        <p:nvSpPr>
          <p:cNvPr id="10" name="TextBox 9"/>
          <p:cNvSpPr txBox="1"/>
          <p:nvPr/>
        </p:nvSpPr>
        <p:spPr>
          <a:xfrm>
            <a:off x="529200" y="9074244"/>
            <a:ext cx="6501600" cy="561093"/>
          </a:xfrm>
          <a:prstGeom prst="rect">
            <a:avLst/>
          </a:prstGeom>
          <a:noFill/>
        </p:spPr>
        <p:txBody>
          <a:bodyPr wrap="square" lIns="0" rIns="0" tIns="0" bIns="0" anchor="t"/>
          <a:lstStyle/>
          <a:p>
            <a:pPr algn="just">
              <a:lnSpc>
                <a:spcPts val="1494"/>
              </a:lnSpc>
            </a:pPr>
            <a:r>
              <a:rPr sz="1205" b="0" i="0">
                <a:solidFill>
                  <a:srgbClr val="F1F1F1"/>
                </a:solidFill>
                <a:latin typeface="Versos"/>
              </a:rPr>
              <a:t>Nesse cenário, o Tivio Infra Plus apresentou rentabilidade, isenta de imposto de renda de 1,01% no mês, acumulando 7,05% no ano. Na atribuição de performance, pode-se destacar as debêntures de Localiza e Urbia, enquanto as de Rumo foram as maiores detratoras.</a:t>
            </a:r>
          </a:p>
        </p:txBody>
      </p:sp>
      <p:sp>
        <p:nvSpPr>
          <p:cNvPr id="11" name="TextBox 1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043090"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Volume (R$ MM)</a:t>
            </a:r>
          </a:p>
        </p:txBody>
      </p:sp>
      <p:sp>
        <p:nvSpPr>
          <p:cNvPr id="6" name="TextBox 5"/>
          <p:cNvSpPr txBox="1"/>
          <p:nvPr/>
        </p:nvSpPr>
        <p:spPr>
          <a:xfrm>
            <a:off x="2603947"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a:t>
            </a:r>
          </a:p>
        </p:txBody>
      </p:sp>
      <p:sp>
        <p:nvSpPr>
          <p:cNvPr id="7" name="TextBox 6"/>
          <p:cNvSpPr txBox="1"/>
          <p:nvPr/>
        </p:nvSpPr>
        <p:spPr>
          <a:xfrm>
            <a:off x="3164805"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Taxa Atual</a:t>
            </a:r>
          </a:p>
        </p:txBody>
      </p:sp>
      <p:sp>
        <p:nvSpPr>
          <p:cNvPr id="8" name="TextBox 7"/>
          <p:cNvSpPr txBox="1"/>
          <p:nvPr/>
        </p:nvSpPr>
        <p:spPr>
          <a:xfrm>
            <a:off x="3725662"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Taxa mês anterior</a:t>
            </a:r>
          </a:p>
        </p:txBody>
      </p:sp>
      <p:sp>
        <p:nvSpPr>
          <p:cNvPr id="9" name="TextBox 8"/>
          <p:cNvSpPr txBox="1"/>
          <p:nvPr/>
        </p:nvSpPr>
        <p:spPr>
          <a:xfrm>
            <a:off x="4286520"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10" name="TextBox 9"/>
          <p:cNvSpPr txBox="1"/>
          <p:nvPr/>
        </p:nvSpPr>
        <p:spPr>
          <a:xfrm>
            <a:off x="4847377" y="1807430"/>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Spread Atual</a:t>
            </a:r>
          </a:p>
        </p:txBody>
      </p:sp>
      <p:sp>
        <p:nvSpPr>
          <p:cNvPr id="11" name="TextBox 10"/>
          <p:cNvSpPr txBox="1"/>
          <p:nvPr/>
        </p:nvSpPr>
        <p:spPr>
          <a:xfrm>
            <a:off x="5408235" y="1755337"/>
            <a:ext cx="470137" cy="314448"/>
          </a:xfrm>
          <a:prstGeom prst="rect">
            <a:avLst/>
          </a:prstGeom>
          <a:noFill/>
        </p:spPr>
        <p:txBody>
          <a:bodyPr wrap="square" lIns="0" rIns="0" tIns="0" bIns="0" anchor="t"/>
          <a:lstStyle/>
          <a:p>
            <a:pPr algn="ctr">
              <a:lnSpc>
                <a:spcPts val="821"/>
              </a:lnSpc>
            </a:pPr>
            <a:r>
              <a:rPr sz="714" b="1" i="0">
                <a:solidFill>
                  <a:srgbClr val="FFFFFF"/>
                </a:solidFill>
                <a:latin typeface="Versos"/>
              </a:rPr>
              <a:t>Spread mês anterior</a:t>
            </a:r>
          </a:p>
        </p:txBody>
      </p:sp>
      <p:sp>
        <p:nvSpPr>
          <p:cNvPr id="12" name="TextBox 11"/>
          <p:cNvSpPr txBox="1"/>
          <p:nvPr/>
        </p:nvSpPr>
        <p:spPr>
          <a:xfrm>
            <a:off x="5969092" y="1859641"/>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13" name="TextBox 12"/>
          <p:cNvSpPr txBox="1"/>
          <p:nvPr/>
        </p:nvSpPr>
        <p:spPr>
          <a:xfrm>
            <a:off x="6529950" y="1859641"/>
            <a:ext cx="489434" cy="105840"/>
          </a:xfrm>
          <a:prstGeom prst="rect">
            <a:avLst/>
          </a:prstGeom>
          <a:noFill/>
        </p:spPr>
        <p:txBody>
          <a:bodyPr wrap="none" lIns="0" rIns="0" tIns="0" bIns="0" anchor="t"/>
          <a:lstStyle/>
          <a:p>
            <a:pPr algn="ctr">
              <a:lnSpc>
                <a:spcPts val="821"/>
              </a:lnSpc>
            </a:pPr>
            <a:r>
              <a:rPr sz="714" b="1" i="0">
                <a:solidFill>
                  <a:srgbClr val="FFFFFF"/>
                </a:solidFill>
                <a:latin typeface="Versos"/>
              </a:rPr>
              <a:t>Duration</a:t>
            </a:r>
          </a:p>
        </p:txBody>
      </p:sp>
      <p:sp>
        <p:nvSpPr>
          <p:cNvPr id="14" name="TextBox 13"/>
          <p:cNvSpPr txBox="1"/>
          <p:nvPr/>
        </p:nvSpPr>
        <p:spPr>
          <a:xfrm>
            <a:off x="2043090" y="2201259"/>
            <a:ext cx="505036" cy="143640"/>
          </a:xfrm>
          <a:prstGeom prst="rect">
            <a:avLst/>
          </a:prstGeom>
          <a:noFill/>
        </p:spPr>
        <p:txBody>
          <a:bodyPr wrap="none" lIns="0" rIns="0" tIns="0" bIns="0" anchor="t"/>
          <a:lstStyle/>
          <a:p>
            <a:pPr algn="ctr">
              <a:lnSpc>
                <a:spcPts val="1061"/>
              </a:lnSpc>
            </a:pPr>
            <a:r>
              <a:rPr sz="922" b="1" i="0">
                <a:solidFill>
                  <a:srgbClr val="FFFFFF"/>
                </a:solidFill>
                <a:latin typeface="Versos"/>
              </a:rPr>
              <a:t>392.485</a:t>
            </a:r>
          </a:p>
        </p:txBody>
      </p:sp>
      <p:sp>
        <p:nvSpPr>
          <p:cNvPr id="15" name="TextBox 14"/>
          <p:cNvSpPr txBox="1"/>
          <p:nvPr/>
        </p:nvSpPr>
        <p:spPr>
          <a:xfrm>
            <a:off x="2603947"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100%</a:t>
            </a:r>
          </a:p>
        </p:txBody>
      </p:sp>
      <p:sp>
        <p:nvSpPr>
          <p:cNvPr id="16" name="TextBox 15"/>
          <p:cNvSpPr txBox="1"/>
          <p:nvPr/>
        </p:nvSpPr>
        <p:spPr>
          <a:xfrm>
            <a:off x="3164805"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8,30%</a:t>
            </a:r>
          </a:p>
        </p:txBody>
      </p:sp>
      <p:sp>
        <p:nvSpPr>
          <p:cNvPr id="17" name="TextBox 16"/>
          <p:cNvSpPr txBox="1"/>
          <p:nvPr/>
        </p:nvSpPr>
        <p:spPr>
          <a:xfrm>
            <a:off x="3725662"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8,47%</a:t>
            </a:r>
          </a:p>
        </p:txBody>
      </p:sp>
      <p:sp>
        <p:nvSpPr>
          <p:cNvPr id="18" name="TextBox 17"/>
          <p:cNvSpPr txBox="1"/>
          <p:nvPr/>
        </p:nvSpPr>
        <p:spPr>
          <a:xfrm>
            <a:off x="4286520"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0,05%</a:t>
            </a:r>
          </a:p>
        </p:txBody>
      </p:sp>
      <p:sp>
        <p:nvSpPr>
          <p:cNvPr id="19" name="TextBox 18"/>
          <p:cNvSpPr txBox="1"/>
          <p:nvPr/>
        </p:nvSpPr>
        <p:spPr>
          <a:xfrm>
            <a:off x="4847377"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0,34%</a:t>
            </a:r>
          </a:p>
        </p:txBody>
      </p:sp>
      <p:sp>
        <p:nvSpPr>
          <p:cNvPr id="20" name="TextBox 19"/>
          <p:cNvSpPr txBox="1"/>
          <p:nvPr/>
        </p:nvSpPr>
        <p:spPr>
          <a:xfrm>
            <a:off x="5408235"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0,29%</a:t>
            </a:r>
          </a:p>
        </p:txBody>
      </p:sp>
      <p:sp>
        <p:nvSpPr>
          <p:cNvPr id="21" name="TextBox 20"/>
          <p:cNvSpPr txBox="1"/>
          <p:nvPr/>
        </p:nvSpPr>
        <p:spPr>
          <a:xfrm>
            <a:off x="5969092" y="2201259"/>
            <a:ext cx="488943" cy="143640"/>
          </a:xfrm>
          <a:prstGeom prst="rect">
            <a:avLst/>
          </a:prstGeom>
          <a:noFill/>
        </p:spPr>
        <p:txBody>
          <a:bodyPr wrap="none" lIns="0" rIns="0" tIns="0" bIns="0" anchor="t"/>
          <a:lstStyle/>
          <a:p>
            <a:pPr algn="ctr">
              <a:lnSpc>
                <a:spcPts val="1061"/>
              </a:lnSpc>
            </a:pPr>
            <a:r>
              <a:rPr sz="922" b="1" i="0">
                <a:solidFill>
                  <a:srgbClr val="FFFFFF"/>
                </a:solidFill>
                <a:latin typeface="Versos"/>
              </a:rPr>
              <a:t>0,05%</a:t>
            </a:r>
          </a:p>
        </p:txBody>
      </p:sp>
      <p:sp>
        <p:nvSpPr>
          <p:cNvPr id="22" name="TextBox 21"/>
          <p:cNvSpPr txBox="1"/>
          <p:nvPr/>
        </p:nvSpPr>
        <p:spPr>
          <a:xfrm>
            <a:off x="6529950" y="2201259"/>
            <a:ext cx="489434" cy="143640"/>
          </a:xfrm>
          <a:prstGeom prst="rect">
            <a:avLst/>
          </a:prstGeom>
          <a:noFill/>
        </p:spPr>
        <p:txBody>
          <a:bodyPr wrap="none" lIns="0" rIns="0" tIns="0" bIns="0" anchor="t"/>
          <a:lstStyle/>
          <a:p>
            <a:pPr algn="ctr">
              <a:lnSpc>
                <a:spcPts val="1061"/>
              </a:lnSpc>
            </a:pPr>
            <a:r>
              <a:rPr sz="922" b="1" i="0">
                <a:solidFill>
                  <a:srgbClr val="FFFFFF"/>
                </a:solidFill>
                <a:latin typeface="Versos"/>
              </a:rPr>
              <a:t>5,38</a:t>
            </a:r>
          </a:p>
        </p:txBody>
      </p:sp>
      <p:sp>
        <p:nvSpPr>
          <p:cNvPr id="23" name="TextBox 22"/>
          <p:cNvSpPr txBox="1"/>
          <p:nvPr/>
        </p:nvSpPr>
        <p:spPr>
          <a:xfrm>
            <a:off x="559440" y="2739555"/>
            <a:ext cx="1448647" cy="105840"/>
          </a:xfrm>
          <a:prstGeom prst="rect">
            <a:avLst/>
          </a:prstGeom>
          <a:noFill/>
        </p:spPr>
        <p:txBody>
          <a:bodyPr wrap="none" lIns="0" rIns="0" tIns="0" bIns="0" anchor="t"/>
          <a:lstStyle/>
          <a:p>
            <a:pPr algn="ctr">
              <a:lnSpc>
                <a:spcPts val="821"/>
              </a:lnSpc>
            </a:pPr>
            <a:r>
              <a:rPr sz="714" b="1" i="0">
                <a:solidFill>
                  <a:srgbClr val="FFFFFF"/>
                </a:solidFill>
                <a:latin typeface="Versos"/>
              </a:rPr>
              <a:t>Setor</a:t>
            </a:r>
          </a:p>
        </p:txBody>
      </p:sp>
      <p:sp>
        <p:nvSpPr>
          <p:cNvPr id="24" name="TextBox 23"/>
          <p:cNvSpPr txBox="1"/>
          <p:nvPr/>
        </p:nvSpPr>
        <p:spPr>
          <a:xfrm>
            <a:off x="2043090"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Volume (R$ MM)</a:t>
            </a:r>
          </a:p>
        </p:txBody>
      </p:sp>
      <p:sp>
        <p:nvSpPr>
          <p:cNvPr id="25" name="TextBox 24"/>
          <p:cNvSpPr txBox="1"/>
          <p:nvPr/>
        </p:nvSpPr>
        <p:spPr>
          <a:xfrm>
            <a:off x="2603947"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a:t>
            </a:r>
          </a:p>
        </p:txBody>
      </p:sp>
      <p:sp>
        <p:nvSpPr>
          <p:cNvPr id="26" name="TextBox 25"/>
          <p:cNvSpPr txBox="1"/>
          <p:nvPr/>
        </p:nvSpPr>
        <p:spPr>
          <a:xfrm>
            <a:off x="3164805"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Taxa Atual</a:t>
            </a:r>
          </a:p>
        </p:txBody>
      </p:sp>
      <p:sp>
        <p:nvSpPr>
          <p:cNvPr id="27" name="TextBox 26"/>
          <p:cNvSpPr txBox="1"/>
          <p:nvPr/>
        </p:nvSpPr>
        <p:spPr>
          <a:xfrm>
            <a:off x="3725662"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Taxa mês anterior</a:t>
            </a:r>
          </a:p>
        </p:txBody>
      </p:sp>
      <p:sp>
        <p:nvSpPr>
          <p:cNvPr id="28" name="TextBox 27"/>
          <p:cNvSpPr txBox="1"/>
          <p:nvPr/>
        </p:nvSpPr>
        <p:spPr>
          <a:xfrm>
            <a:off x="4286520"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29" name="TextBox 28"/>
          <p:cNvSpPr txBox="1"/>
          <p:nvPr/>
        </p:nvSpPr>
        <p:spPr>
          <a:xfrm>
            <a:off x="4847377" y="2687343"/>
            <a:ext cx="470137" cy="210144"/>
          </a:xfrm>
          <a:prstGeom prst="rect">
            <a:avLst/>
          </a:prstGeom>
          <a:noFill/>
        </p:spPr>
        <p:txBody>
          <a:bodyPr wrap="square" lIns="0" rIns="0" tIns="0" bIns="0" anchor="t"/>
          <a:lstStyle/>
          <a:p>
            <a:pPr algn="ctr">
              <a:lnSpc>
                <a:spcPts val="821"/>
              </a:lnSpc>
            </a:pPr>
            <a:r>
              <a:rPr sz="714" b="1" i="0">
                <a:solidFill>
                  <a:srgbClr val="FFFFFF"/>
                </a:solidFill>
                <a:latin typeface="Versos"/>
              </a:rPr>
              <a:t>Spread Atual</a:t>
            </a:r>
          </a:p>
        </p:txBody>
      </p:sp>
      <p:sp>
        <p:nvSpPr>
          <p:cNvPr id="30" name="TextBox 29"/>
          <p:cNvSpPr txBox="1"/>
          <p:nvPr/>
        </p:nvSpPr>
        <p:spPr>
          <a:xfrm>
            <a:off x="5408235" y="2635250"/>
            <a:ext cx="470137" cy="314448"/>
          </a:xfrm>
          <a:prstGeom prst="rect">
            <a:avLst/>
          </a:prstGeom>
          <a:noFill/>
        </p:spPr>
        <p:txBody>
          <a:bodyPr wrap="square" lIns="0" rIns="0" tIns="0" bIns="0" anchor="t"/>
          <a:lstStyle/>
          <a:p>
            <a:pPr algn="ctr">
              <a:lnSpc>
                <a:spcPts val="821"/>
              </a:lnSpc>
            </a:pPr>
            <a:r>
              <a:rPr sz="714" b="1" i="0">
                <a:solidFill>
                  <a:srgbClr val="FFFFFF"/>
                </a:solidFill>
                <a:latin typeface="Versos"/>
              </a:rPr>
              <a:t>Spread mês anterior</a:t>
            </a:r>
          </a:p>
        </p:txBody>
      </p:sp>
      <p:sp>
        <p:nvSpPr>
          <p:cNvPr id="31" name="TextBox 30"/>
          <p:cNvSpPr txBox="1"/>
          <p:nvPr/>
        </p:nvSpPr>
        <p:spPr>
          <a:xfrm>
            <a:off x="5969092" y="2739555"/>
            <a:ext cx="488943" cy="105840"/>
          </a:xfrm>
          <a:prstGeom prst="rect">
            <a:avLst/>
          </a:prstGeom>
          <a:noFill/>
        </p:spPr>
        <p:txBody>
          <a:bodyPr wrap="none" lIns="0" rIns="0" tIns="0" bIns="0" anchor="t"/>
          <a:lstStyle/>
          <a:p>
            <a:pPr algn="ctr">
              <a:lnSpc>
                <a:spcPts val="821"/>
              </a:lnSpc>
            </a:pPr>
            <a:r>
              <a:rPr sz="714" b="1" i="0">
                <a:solidFill>
                  <a:srgbClr val="FFFFFF"/>
                </a:solidFill>
                <a:latin typeface="Versos"/>
              </a:rPr>
              <a:t>Variação</a:t>
            </a:r>
          </a:p>
        </p:txBody>
      </p:sp>
      <p:sp>
        <p:nvSpPr>
          <p:cNvPr id="32" name="TextBox 31"/>
          <p:cNvSpPr txBox="1"/>
          <p:nvPr/>
        </p:nvSpPr>
        <p:spPr>
          <a:xfrm>
            <a:off x="6529950" y="2739555"/>
            <a:ext cx="489434" cy="105840"/>
          </a:xfrm>
          <a:prstGeom prst="rect">
            <a:avLst/>
          </a:prstGeom>
          <a:noFill/>
        </p:spPr>
        <p:txBody>
          <a:bodyPr wrap="none" lIns="0" rIns="0" tIns="0" bIns="0" anchor="t"/>
          <a:lstStyle/>
          <a:p>
            <a:pPr algn="ctr">
              <a:lnSpc>
                <a:spcPts val="821"/>
              </a:lnSpc>
            </a:pPr>
            <a:r>
              <a:rPr sz="714" b="1" i="0">
                <a:solidFill>
                  <a:srgbClr val="FFFFFF"/>
                </a:solidFill>
                <a:latin typeface="Versos"/>
              </a:rPr>
              <a:t>Duration</a:t>
            </a:r>
          </a:p>
        </p:txBody>
      </p:sp>
      <p:sp>
        <p:nvSpPr>
          <p:cNvPr id="33" name="TextBox 32"/>
          <p:cNvSpPr txBox="1"/>
          <p:nvPr/>
        </p:nvSpPr>
        <p:spPr>
          <a:xfrm>
            <a:off x="604800" y="3216898"/>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Energia elétrica</a:t>
            </a:r>
          </a:p>
        </p:txBody>
      </p:sp>
      <p:sp>
        <p:nvSpPr>
          <p:cNvPr id="34" name="TextBox 33"/>
          <p:cNvSpPr txBox="1"/>
          <p:nvPr/>
        </p:nvSpPr>
        <p:spPr>
          <a:xfrm>
            <a:off x="2043090" y="3219024"/>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191.166</a:t>
            </a:r>
          </a:p>
        </p:txBody>
      </p:sp>
      <p:sp>
        <p:nvSpPr>
          <p:cNvPr id="35" name="TextBox 34"/>
          <p:cNvSpPr txBox="1"/>
          <p:nvPr/>
        </p:nvSpPr>
        <p:spPr>
          <a:xfrm>
            <a:off x="2603947"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48,7%</a:t>
            </a:r>
          </a:p>
        </p:txBody>
      </p:sp>
      <p:sp>
        <p:nvSpPr>
          <p:cNvPr id="36" name="TextBox 35"/>
          <p:cNvSpPr txBox="1"/>
          <p:nvPr/>
        </p:nvSpPr>
        <p:spPr>
          <a:xfrm>
            <a:off x="3164805"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7,93%</a:t>
            </a:r>
          </a:p>
        </p:txBody>
      </p:sp>
      <p:sp>
        <p:nvSpPr>
          <p:cNvPr id="37" name="TextBox 36"/>
          <p:cNvSpPr txBox="1"/>
          <p:nvPr/>
        </p:nvSpPr>
        <p:spPr>
          <a:xfrm>
            <a:off x="3725662"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8,13%</a:t>
            </a:r>
          </a:p>
        </p:txBody>
      </p:sp>
      <p:sp>
        <p:nvSpPr>
          <p:cNvPr id="38" name="TextBox 37"/>
          <p:cNvSpPr txBox="1"/>
          <p:nvPr/>
        </p:nvSpPr>
        <p:spPr>
          <a:xfrm>
            <a:off x="4286520"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39" name="TextBox 38"/>
          <p:cNvSpPr txBox="1"/>
          <p:nvPr/>
        </p:nvSpPr>
        <p:spPr>
          <a:xfrm>
            <a:off x="4847377"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40" name="TextBox 39"/>
          <p:cNvSpPr txBox="1"/>
          <p:nvPr/>
        </p:nvSpPr>
        <p:spPr>
          <a:xfrm>
            <a:off x="5408235"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41" name="TextBox 40"/>
          <p:cNvSpPr txBox="1"/>
          <p:nvPr/>
        </p:nvSpPr>
        <p:spPr>
          <a:xfrm>
            <a:off x="5969092" y="321902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42" name="TextBox 41"/>
          <p:cNvSpPr txBox="1"/>
          <p:nvPr/>
        </p:nvSpPr>
        <p:spPr>
          <a:xfrm>
            <a:off x="6529950" y="3219024"/>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5,3</a:t>
            </a:r>
          </a:p>
        </p:txBody>
      </p:sp>
      <p:sp>
        <p:nvSpPr>
          <p:cNvPr id="43" name="TextBox 42"/>
          <p:cNvSpPr txBox="1"/>
          <p:nvPr/>
        </p:nvSpPr>
        <p:spPr>
          <a:xfrm>
            <a:off x="604800" y="3798309"/>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Transporte e logística</a:t>
            </a:r>
          </a:p>
        </p:txBody>
      </p:sp>
      <p:sp>
        <p:nvSpPr>
          <p:cNvPr id="44" name="TextBox 43"/>
          <p:cNvSpPr txBox="1"/>
          <p:nvPr/>
        </p:nvSpPr>
        <p:spPr>
          <a:xfrm>
            <a:off x="2043090" y="3800435"/>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89.369</a:t>
            </a:r>
          </a:p>
        </p:txBody>
      </p:sp>
      <p:sp>
        <p:nvSpPr>
          <p:cNvPr id="45" name="TextBox 44"/>
          <p:cNvSpPr txBox="1"/>
          <p:nvPr/>
        </p:nvSpPr>
        <p:spPr>
          <a:xfrm>
            <a:off x="2603947"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22,8%</a:t>
            </a:r>
          </a:p>
        </p:txBody>
      </p:sp>
      <p:sp>
        <p:nvSpPr>
          <p:cNvPr id="46" name="TextBox 45"/>
          <p:cNvSpPr txBox="1"/>
          <p:nvPr/>
        </p:nvSpPr>
        <p:spPr>
          <a:xfrm>
            <a:off x="3164805"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8,32%</a:t>
            </a:r>
          </a:p>
        </p:txBody>
      </p:sp>
      <p:sp>
        <p:nvSpPr>
          <p:cNvPr id="47" name="TextBox 46"/>
          <p:cNvSpPr txBox="1"/>
          <p:nvPr/>
        </p:nvSpPr>
        <p:spPr>
          <a:xfrm>
            <a:off x="3725662"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8,48%</a:t>
            </a:r>
          </a:p>
        </p:txBody>
      </p:sp>
      <p:sp>
        <p:nvSpPr>
          <p:cNvPr id="48" name="TextBox 47"/>
          <p:cNvSpPr txBox="1"/>
          <p:nvPr/>
        </p:nvSpPr>
        <p:spPr>
          <a:xfrm>
            <a:off x="4286520"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-0,15%</a:t>
            </a:r>
          </a:p>
        </p:txBody>
      </p:sp>
      <p:sp>
        <p:nvSpPr>
          <p:cNvPr id="49" name="TextBox 48"/>
          <p:cNvSpPr txBox="1"/>
          <p:nvPr/>
        </p:nvSpPr>
        <p:spPr>
          <a:xfrm>
            <a:off x="4847377"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0,36%</a:t>
            </a:r>
          </a:p>
        </p:txBody>
      </p:sp>
      <p:sp>
        <p:nvSpPr>
          <p:cNvPr id="50" name="TextBox 49"/>
          <p:cNvSpPr txBox="1"/>
          <p:nvPr/>
        </p:nvSpPr>
        <p:spPr>
          <a:xfrm>
            <a:off x="5408235"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0,30%</a:t>
            </a:r>
          </a:p>
        </p:txBody>
      </p:sp>
      <p:sp>
        <p:nvSpPr>
          <p:cNvPr id="51" name="TextBox 50"/>
          <p:cNvSpPr txBox="1"/>
          <p:nvPr/>
        </p:nvSpPr>
        <p:spPr>
          <a:xfrm>
            <a:off x="5969092" y="380043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0,06%</a:t>
            </a:r>
          </a:p>
        </p:txBody>
      </p:sp>
      <p:sp>
        <p:nvSpPr>
          <p:cNvPr id="52" name="TextBox 51"/>
          <p:cNvSpPr txBox="1"/>
          <p:nvPr/>
        </p:nvSpPr>
        <p:spPr>
          <a:xfrm>
            <a:off x="6529950" y="3800435"/>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5,2</a:t>
            </a:r>
          </a:p>
        </p:txBody>
      </p:sp>
      <p:sp>
        <p:nvSpPr>
          <p:cNvPr id="53" name="TextBox 52"/>
          <p:cNvSpPr txBox="1"/>
          <p:nvPr/>
        </p:nvSpPr>
        <p:spPr>
          <a:xfrm>
            <a:off x="604800" y="4379720"/>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Saneamento</a:t>
            </a:r>
          </a:p>
        </p:txBody>
      </p:sp>
      <p:sp>
        <p:nvSpPr>
          <p:cNvPr id="54" name="TextBox 53"/>
          <p:cNvSpPr txBox="1"/>
          <p:nvPr/>
        </p:nvSpPr>
        <p:spPr>
          <a:xfrm>
            <a:off x="2043090" y="4381846"/>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35.248</a:t>
            </a:r>
          </a:p>
        </p:txBody>
      </p:sp>
      <p:sp>
        <p:nvSpPr>
          <p:cNvPr id="55" name="TextBox 54"/>
          <p:cNvSpPr txBox="1"/>
          <p:nvPr/>
        </p:nvSpPr>
        <p:spPr>
          <a:xfrm>
            <a:off x="2603947"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9,0%</a:t>
            </a:r>
          </a:p>
        </p:txBody>
      </p:sp>
      <p:sp>
        <p:nvSpPr>
          <p:cNvPr id="56" name="TextBox 55"/>
          <p:cNvSpPr txBox="1"/>
          <p:nvPr/>
        </p:nvSpPr>
        <p:spPr>
          <a:xfrm>
            <a:off x="3164805"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9,69%</a:t>
            </a:r>
          </a:p>
        </p:txBody>
      </p:sp>
      <p:sp>
        <p:nvSpPr>
          <p:cNvPr id="57" name="TextBox 56"/>
          <p:cNvSpPr txBox="1"/>
          <p:nvPr/>
        </p:nvSpPr>
        <p:spPr>
          <a:xfrm>
            <a:off x="3725662"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9,75%</a:t>
            </a:r>
          </a:p>
        </p:txBody>
      </p:sp>
      <p:sp>
        <p:nvSpPr>
          <p:cNvPr id="58" name="TextBox 57"/>
          <p:cNvSpPr txBox="1"/>
          <p:nvPr/>
        </p:nvSpPr>
        <p:spPr>
          <a:xfrm>
            <a:off x="4286520"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-0,05%</a:t>
            </a:r>
          </a:p>
        </p:txBody>
      </p:sp>
      <p:sp>
        <p:nvSpPr>
          <p:cNvPr id="59" name="TextBox 58"/>
          <p:cNvSpPr txBox="1"/>
          <p:nvPr/>
        </p:nvSpPr>
        <p:spPr>
          <a:xfrm>
            <a:off x="4847377"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1,68%</a:t>
            </a:r>
          </a:p>
        </p:txBody>
      </p:sp>
      <p:sp>
        <p:nvSpPr>
          <p:cNvPr id="60" name="TextBox 59"/>
          <p:cNvSpPr txBox="1"/>
          <p:nvPr/>
        </p:nvSpPr>
        <p:spPr>
          <a:xfrm>
            <a:off x="5408235"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1,51%</a:t>
            </a:r>
          </a:p>
        </p:txBody>
      </p:sp>
      <p:sp>
        <p:nvSpPr>
          <p:cNvPr id="61" name="TextBox 60"/>
          <p:cNvSpPr txBox="1"/>
          <p:nvPr/>
        </p:nvSpPr>
        <p:spPr>
          <a:xfrm>
            <a:off x="5969092" y="4381846"/>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0,17%</a:t>
            </a:r>
          </a:p>
        </p:txBody>
      </p:sp>
      <p:sp>
        <p:nvSpPr>
          <p:cNvPr id="62" name="TextBox 61"/>
          <p:cNvSpPr txBox="1"/>
          <p:nvPr/>
        </p:nvSpPr>
        <p:spPr>
          <a:xfrm>
            <a:off x="6529950" y="4381846"/>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6,2</a:t>
            </a:r>
          </a:p>
        </p:txBody>
      </p:sp>
      <p:sp>
        <p:nvSpPr>
          <p:cNvPr id="63" name="TextBox 62"/>
          <p:cNvSpPr txBox="1"/>
          <p:nvPr/>
        </p:nvSpPr>
        <p:spPr>
          <a:xfrm>
            <a:off x="604800" y="4961131"/>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Petróleo e gás</a:t>
            </a:r>
          </a:p>
        </p:txBody>
      </p:sp>
      <p:sp>
        <p:nvSpPr>
          <p:cNvPr id="64" name="TextBox 63"/>
          <p:cNvSpPr txBox="1"/>
          <p:nvPr/>
        </p:nvSpPr>
        <p:spPr>
          <a:xfrm>
            <a:off x="2043090" y="4963258"/>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26.236</a:t>
            </a:r>
          </a:p>
        </p:txBody>
      </p:sp>
      <p:sp>
        <p:nvSpPr>
          <p:cNvPr id="65" name="TextBox 64"/>
          <p:cNvSpPr txBox="1"/>
          <p:nvPr/>
        </p:nvSpPr>
        <p:spPr>
          <a:xfrm>
            <a:off x="2603947"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6,7%</a:t>
            </a:r>
          </a:p>
        </p:txBody>
      </p:sp>
      <p:sp>
        <p:nvSpPr>
          <p:cNvPr id="66" name="TextBox 65"/>
          <p:cNvSpPr txBox="1"/>
          <p:nvPr/>
        </p:nvSpPr>
        <p:spPr>
          <a:xfrm>
            <a:off x="3164805"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7,91%</a:t>
            </a:r>
          </a:p>
        </p:txBody>
      </p:sp>
      <p:sp>
        <p:nvSpPr>
          <p:cNvPr id="67" name="TextBox 66"/>
          <p:cNvSpPr txBox="1"/>
          <p:nvPr/>
        </p:nvSpPr>
        <p:spPr>
          <a:xfrm>
            <a:off x="3725662"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8,08%</a:t>
            </a:r>
          </a:p>
        </p:txBody>
      </p:sp>
      <p:sp>
        <p:nvSpPr>
          <p:cNvPr id="68" name="TextBox 67"/>
          <p:cNvSpPr txBox="1"/>
          <p:nvPr/>
        </p:nvSpPr>
        <p:spPr>
          <a:xfrm>
            <a:off x="4286520"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-0,16%</a:t>
            </a:r>
          </a:p>
        </p:txBody>
      </p:sp>
      <p:sp>
        <p:nvSpPr>
          <p:cNvPr id="69" name="TextBox 68"/>
          <p:cNvSpPr txBox="1"/>
          <p:nvPr/>
        </p:nvSpPr>
        <p:spPr>
          <a:xfrm>
            <a:off x="4847377"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70" name="TextBox 69"/>
          <p:cNvSpPr txBox="1"/>
          <p:nvPr/>
        </p:nvSpPr>
        <p:spPr>
          <a:xfrm>
            <a:off x="5408235"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-0,07%</a:t>
            </a:r>
          </a:p>
        </p:txBody>
      </p:sp>
      <p:sp>
        <p:nvSpPr>
          <p:cNvPr id="71" name="TextBox 70"/>
          <p:cNvSpPr txBox="1"/>
          <p:nvPr/>
        </p:nvSpPr>
        <p:spPr>
          <a:xfrm>
            <a:off x="5969092" y="4963258"/>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72" name="TextBox 71"/>
          <p:cNvSpPr txBox="1"/>
          <p:nvPr/>
        </p:nvSpPr>
        <p:spPr>
          <a:xfrm>
            <a:off x="6529950" y="4963258"/>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5,2</a:t>
            </a:r>
          </a:p>
        </p:txBody>
      </p:sp>
      <p:sp>
        <p:nvSpPr>
          <p:cNvPr id="73" name="TextBox 72"/>
          <p:cNvSpPr txBox="1"/>
          <p:nvPr/>
        </p:nvSpPr>
        <p:spPr>
          <a:xfrm>
            <a:off x="604800" y="5542543"/>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TI e Telecomunicações</a:t>
            </a:r>
          </a:p>
        </p:txBody>
      </p:sp>
      <p:sp>
        <p:nvSpPr>
          <p:cNvPr id="74" name="TextBox 73"/>
          <p:cNvSpPr txBox="1"/>
          <p:nvPr/>
        </p:nvSpPr>
        <p:spPr>
          <a:xfrm>
            <a:off x="2043090" y="5544669"/>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16.942</a:t>
            </a:r>
          </a:p>
        </p:txBody>
      </p:sp>
      <p:sp>
        <p:nvSpPr>
          <p:cNvPr id="75" name="TextBox 74"/>
          <p:cNvSpPr txBox="1"/>
          <p:nvPr/>
        </p:nvSpPr>
        <p:spPr>
          <a:xfrm>
            <a:off x="2603947"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4,3%</a:t>
            </a:r>
          </a:p>
        </p:txBody>
      </p:sp>
      <p:sp>
        <p:nvSpPr>
          <p:cNvPr id="76" name="TextBox 75"/>
          <p:cNvSpPr txBox="1"/>
          <p:nvPr/>
        </p:nvSpPr>
        <p:spPr>
          <a:xfrm>
            <a:off x="3164805"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9,41%</a:t>
            </a:r>
          </a:p>
        </p:txBody>
      </p:sp>
      <p:sp>
        <p:nvSpPr>
          <p:cNvPr id="77" name="TextBox 76"/>
          <p:cNvSpPr txBox="1"/>
          <p:nvPr/>
        </p:nvSpPr>
        <p:spPr>
          <a:xfrm>
            <a:off x="3725662"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9,53%</a:t>
            </a:r>
          </a:p>
        </p:txBody>
      </p:sp>
      <p:sp>
        <p:nvSpPr>
          <p:cNvPr id="78" name="TextBox 77"/>
          <p:cNvSpPr txBox="1"/>
          <p:nvPr/>
        </p:nvSpPr>
        <p:spPr>
          <a:xfrm>
            <a:off x="4286520"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-0,11%</a:t>
            </a:r>
          </a:p>
        </p:txBody>
      </p:sp>
      <p:sp>
        <p:nvSpPr>
          <p:cNvPr id="79" name="TextBox 78"/>
          <p:cNvSpPr txBox="1"/>
          <p:nvPr/>
        </p:nvSpPr>
        <p:spPr>
          <a:xfrm>
            <a:off x="4847377"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1,41%</a:t>
            </a:r>
          </a:p>
        </p:txBody>
      </p:sp>
      <p:sp>
        <p:nvSpPr>
          <p:cNvPr id="80" name="TextBox 79"/>
          <p:cNvSpPr txBox="1"/>
          <p:nvPr/>
        </p:nvSpPr>
        <p:spPr>
          <a:xfrm>
            <a:off x="5408235"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1,21%</a:t>
            </a:r>
          </a:p>
        </p:txBody>
      </p:sp>
      <p:sp>
        <p:nvSpPr>
          <p:cNvPr id="81" name="TextBox 80"/>
          <p:cNvSpPr txBox="1"/>
          <p:nvPr/>
        </p:nvSpPr>
        <p:spPr>
          <a:xfrm>
            <a:off x="5969092" y="5544669"/>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82" name="TextBox 81"/>
          <p:cNvSpPr txBox="1"/>
          <p:nvPr/>
        </p:nvSpPr>
        <p:spPr>
          <a:xfrm>
            <a:off x="6529950" y="5544669"/>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3,9</a:t>
            </a:r>
          </a:p>
        </p:txBody>
      </p:sp>
      <p:sp>
        <p:nvSpPr>
          <p:cNvPr id="83" name="TextBox 82"/>
          <p:cNvSpPr txBox="1"/>
          <p:nvPr/>
        </p:nvSpPr>
        <p:spPr>
          <a:xfrm>
            <a:off x="604800" y="6123954"/>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Mineração</a:t>
            </a:r>
          </a:p>
        </p:txBody>
      </p:sp>
      <p:sp>
        <p:nvSpPr>
          <p:cNvPr id="84" name="TextBox 83"/>
          <p:cNvSpPr txBox="1"/>
          <p:nvPr/>
        </p:nvSpPr>
        <p:spPr>
          <a:xfrm>
            <a:off x="2043090" y="6126080"/>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14.839</a:t>
            </a:r>
          </a:p>
        </p:txBody>
      </p:sp>
      <p:sp>
        <p:nvSpPr>
          <p:cNvPr id="85" name="TextBox 84"/>
          <p:cNvSpPr txBox="1"/>
          <p:nvPr/>
        </p:nvSpPr>
        <p:spPr>
          <a:xfrm>
            <a:off x="2603947"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3,8%</a:t>
            </a:r>
          </a:p>
        </p:txBody>
      </p:sp>
      <p:sp>
        <p:nvSpPr>
          <p:cNvPr id="86" name="TextBox 85"/>
          <p:cNvSpPr txBox="1"/>
          <p:nvPr/>
        </p:nvSpPr>
        <p:spPr>
          <a:xfrm>
            <a:off x="3164805"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8,09%</a:t>
            </a:r>
          </a:p>
        </p:txBody>
      </p:sp>
      <p:sp>
        <p:nvSpPr>
          <p:cNvPr id="87" name="TextBox 86"/>
          <p:cNvSpPr txBox="1"/>
          <p:nvPr/>
        </p:nvSpPr>
        <p:spPr>
          <a:xfrm>
            <a:off x="3725662"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8,30%</a:t>
            </a:r>
          </a:p>
        </p:txBody>
      </p:sp>
      <p:sp>
        <p:nvSpPr>
          <p:cNvPr id="88" name="TextBox 87"/>
          <p:cNvSpPr txBox="1"/>
          <p:nvPr/>
        </p:nvSpPr>
        <p:spPr>
          <a:xfrm>
            <a:off x="4286520"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-0,19%</a:t>
            </a:r>
          </a:p>
        </p:txBody>
      </p:sp>
      <p:sp>
        <p:nvSpPr>
          <p:cNvPr id="89" name="TextBox 88"/>
          <p:cNvSpPr txBox="1"/>
          <p:nvPr/>
        </p:nvSpPr>
        <p:spPr>
          <a:xfrm>
            <a:off x="4847377"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0,18%</a:t>
            </a:r>
          </a:p>
        </p:txBody>
      </p:sp>
      <p:sp>
        <p:nvSpPr>
          <p:cNvPr id="90" name="TextBox 89"/>
          <p:cNvSpPr txBox="1"/>
          <p:nvPr/>
        </p:nvSpPr>
        <p:spPr>
          <a:xfrm>
            <a:off x="5408235"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0,21%</a:t>
            </a:r>
          </a:p>
        </p:txBody>
      </p:sp>
      <p:sp>
        <p:nvSpPr>
          <p:cNvPr id="91" name="TextBox 90"/>
          <p:cNvSpPr txBox="1"/>
          <p:nvPr/>
        </p:nvSpPr>
        <p:spPr>
          <a:xfrm>
            <a:off x="5969092" y="6126080"/>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92" name="TextBox 91"/>
          <p:cNvSpPr txBox="1"/>
          <p:nvPr/>
        </p:nvSpPr>
        <p:spPr>
          <a:xfrm>
            <a:off x="6529950" y="6126080"/>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6,5</a:t>
            </a:r>
          </a:p>
        </p:txBody>
      </p:sp>
      <p:sp>
        <p:nvSpPr>
          <p:cNvPr id="93" name="TextBox 92"/>
          <p:cNvSpPr txBox="1"/>
          <p:nvPr/>
        </p:nvSpPr>
        <p:spPr>
          <a:xfrm>
            <a:off x="604800" y="6705365"/>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Bioenergia</a:t>
            </a:r>
          </a:p>
        </p:txBody>
      </p:sp>
      <p:sp>
        <p:nvSpPr>
          <p:cNvPr id="94" name="TextBox 93"/>
          <p:cNvSpPr txBox="1"/>
          <p:nvPr/>
        </p:nvSpPr>
        <p:spPr>
          <a:xfrm>
            <a:off x="2043090" y="6707491"/>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6.924</a:t>
            </a:r>
          </a:p>
        </p:txBody>
      </p:sp>
      <p:sp>
        <p:nvSpPr>
          <p:cNvPr id="95" name="TextBox 94"/>
          <p:cNvSpPr txBox="1"/>
          <p:nvPr/>
        </p:nvSpPr>
        <p:spPr>
          <a:xfrm>
            <a:off x="2603947"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1,8%</a:t>
            </a:r>
          </a:p>
        </p:txBody>
      </p:sp>
      <p:sp>
        <p:nvSpPr>
          <p:cNvPr id="96" name="TextBox 95"/>
          <p:cNvSpPr txBox="1"/>
          <p:nvPr/>
        </p:nvSpPr>
        <p:spPr>
          <a:xfrm>
            <a:off x="3164805"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8,96%</a:t>
            </a:r>
          </a:p>
        </p:txBody>
      </p:sp>
      <p:sp>
        <p:nvSpPr>
          <p:cNvPr id="97" name="TextBox 96"/>
          <p:cNvSpPr txBox="1"/>
          <p:nvPr/>
        </p:nvSpPr>
        <p:spPr>
          <a:xfrm>
            <a:off x="3725662"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9,07%</a:t>
            </a:r>
          </a:p>
        </p:txBody>
      </p:sp>
      <p:sp>
        <p:nvSpPr>
          <p:cNvPr id="98" name="TextBox 97"/>
          <p:cNvSpPr txBox="1"/>
          <p:nvPr/>
        </p:nvSpPr>
        <p:spPr>
          <a:xfrm>
            <a:off x="4286520"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-0,11%</a:t>
            </a:r>
          </a:p>
        </p:txBody>
      </p:sp>
      <p:sp>
        <p:nvSpPr>
          <p:cNvPr id="99" name="TextBox 98"/>
          <p:cNvSpPr txBox="1"/>
          <p:nvPr/>
        </p:nvSpPr>
        <p:spPr>
          <a:xfrm>
            <a:off x="4847377"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0,86%</a:t>
            </a:r>
          </a:p>
        </p:txBody>
      </p:sp>
      <p:sp>
        <p:nvSpPr>
          <p:cNvPr id="100" name="TextBox 99"/>
          <p:cNvSpPr txBox="1"/>
          <p:nvPr/>
        </p:nvSpPr>
        <p:spPr>
          <a:xfrm>
            <a:off x="5408235"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0,76%</a:t>
            </a:r>
          </a:p>
        </p:txBody>
      </p:sp>
      <p:sp>
        <p:nvSpPr>
          <p:cNvPr id="101" name="TextBox 100"/>
          <p:cNvSpPr txBox="1"/>
          <p:nvPr/>
        </p:nvSpPr>
        <p:spPr>
          <a:xfrm>
            <a:off x="5969092" y="6707491"/>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0,10%</a:t>
            </a:r>
          </a:p>
        </p:txBody>
      </p:sp>
      <p:sp>
        <p:nvSpPr>
          <p:cNvPr id="102" name="TextBox 101"/>
          <p:cNvSpPr txBox="1"/>
          <p:nvPr/>
        </p:nvSpPr>
        <p:spPr>
          <a:xfrm>
            <a:off x="6529950" y="6707491"/>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4,4</a:t>
            </a:r>
          </a:p>
        </p:txBody>
      </p:sp>
      <p:sp>
        <p:nvSpPr>
          <p:cNvPr id="103" name="TextBox 102"/>
          <p:cNvSpPr txBox="1"/>
          <p:nvPr/>
        </p:nvSpPr>
        <p:spPr>
          <a:xfrm>
            <a:off x="604800" y="7286776"/>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Papel e celulose</a:t>
            </a:r>
          </a:p>
        </p:txBody>
      </p:sp>
      <p:sp>
        <p:nvSpPr>
          <p:cNvPr id="104" name="TextBox 103"/>
          <p:cNvSpPr txBox="1"/>
          <p:nvPr/>
        </p:nvSpPr>
        <p:spPr>
          <a:xfrm>
            <a:off x="2043090" y="7288903"/>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7.223</a:t>
            </a:r>
          </a:p>
        </p:txBody>
      </p:sp>
      <p:sp>
        <p:nvSpPr>
          <p:cNvPr id="105" name="TextBox 104"/>
          <p:cNvSpPr txBox="1"/>
          <p:nvPr/>
        </p:nvSpPr>
        <p:spPr>
          <a:xfrm>
            <a:off x="2603947"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1,8%</a:t>
            </a:r>
          </a:p>
        </p:txBody>
      </p:sp>
      <p:sp>
        <p:nvSpPr>
          <p:cNvPr id="106" name="TextBox 105"/>
          <p:cNvSpPr txBox="1"/>
          <p:nvPr/>
        </p:nvSpPr>
        <p:spPr>
          <a:xfrm>
            <a:off x="3164805"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7,65%</a:t>
            </a:r>
          </a:p>
        </p:txBody>
      </p:sp>
      <p:sp>
        <p:nvSpPr>
          <p:cNvPr id="107" name="TextBox 106"/>
          <p:cNvSpPr txBox="1"/>
          <p:nvPr/>
        </p:nvSpPr>
        <p:spPr>
          <a:xfrm>
            <a:off x="3725662"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7,87%</a:t>
            </a:r>
          </a:p>
        </p:txBody>
      </p:sp>
      <p:sp>
        <p:nvSpPr>
          <p:cNvPr id="108" name="TextBox 107"/>
          <p:cNvSpPr txBox="1"/>
          <p:nvPr/>
        </p:nvSpPr>
        <p:spPr>
          <a:xfrm>
            <a:off x="4286520"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-0,20%</a:t>
            </a:r>
          </a:p>
        </p:txBody>
      </p:sp>
      <p:sp>
        <p:nvSpPr>
          <p:cNvPr id="109" name="TextBox 108"/>
          <p:cNvSpPr txBox="1"/>
          <p:nvPr/>
        </p:nvSpPr>
        <p:spPr>
          <a:xfrm>
            <a:off x="4847377"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-0,23%</a:t>
            </a:r>
          </a:p>
        </p:txBody>
      </p:sp>
      <p:sp>
        <p:nvSpPr>
          <p:cNvPr id="110" name="TextBox 109"/>
          <p:cNvSpPr txBox="1"/>
          <p:nvPr/>
        </p:nvSpPr>
        <p:spPr>
          <a:xfrm>
            <a:off x="5408235"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-0,20%</a:t>
            </a:r>
          </a:p>
        </p:txBody>
      </p:sp>
      <p:sp>
        <p:nvSpPr>
          <p:cNvPr id="111" name="TextBox 110"/>
          <p:cNvSpPr txBox="1"/>
          <p:nvPr/>
        </p:nvSpPr>
        <p:spPr>
          <a:xfrm>
            <a:off x="5969092" y="7288903"/>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-0,04%</a:t>
            </a:r>
          </a:p>
        </p:txBody>
      </p:sp>
      <p:sp>
        <p:nvSpPr>
          <p:cNvPr id="112" name="TextBox 111"/>
          <p:cNvSpPr txBox="1"/>
          <p:nvPr/>
        </p:nvSpPr>
        <p:spPr>
          <a:xfrm>
            <a:off x="6529950" y="7288903"/>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6,9</a:t>
            </a:r>
          </a:p>
        </p:txBody>
      </p:sp>
      <p:sp>
        <p:nvSpPr>
          <p:cNvPr id="113" name="TextBox 112"/>
          <p:cNvSpPr txBox="1"/>
          <p:nvPr/>
        </p:nvSpPr>
        <p:spPr>
          <a:xfrm>
            <a:off x="604800" y="7868188"/>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Outros serviços</a:t>
            </a:r>
          </a:p>
        </p:txBody>
      </p:sp>
      <p:sp>
        <p:nvSpPr>
          <p:cNvPr id="114" name="TextBox 113"/>
          <p:cNvSpPr txBox="1"/>
          <p:nvPr/>
        </p:nvSpPr>
        <p:spPr>
          <a:xfrm>
            <a:off x="2043090" y="7870314"/>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1.671</a:t>
            </a:r>
          </a:p>
        </p:txBody>
      </p:sp>
      <p:sp>
        <p:nvSpPr>
          <p:cNvPr id="115" name="TextBox 114"/>
          <p:cNvSpPr txBox="1"/>
          <p:nvPr/>
        </p:nvSpPr>
        <p:spPr>
          <a:xfrm>
            <a:off x="2603947"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0,4%</a:t>
            </a:r>
          </a:p>
        </p:txBody>
      </p:sp>
      <p:sp>
        <p:nvSpPr>
          <p:cNvPr id="116" name="TextBox 115"/>
          <p:cNvSpPr txBox="1"/>
          <p:nvPr/>
        </p:nvSpPr>
        <p:spPr>
          <a:xfrm>
            <a:off x="3164805"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7,71%</a:t>
            </a:r>
          </a:p>
        </p:txBody>
      </p:sp>
      <p:sp>
        <p:nvSpPr>
          <p:cNvPr id="117" name="TextBox 116"/>
          <p:cNvSpPr txBox="1"/>
          <p:nvPr/>
        </p:nvSpPr>
        <p:spPr>
          <a:xfrm>
            <a:off x="3725662"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7,95%</a:t>
            </a:r>
          </a:p>
        </p:txBody>
      </p:sp>
      <p:sp>
        <p:nvSpPr>
          <p:cNvPr id="118" name="TextBox 117"/>
          <p:cNvSpPr txBox="1"/>
          <p:nvPr/>
        </p:nvSpPr>
        <p:spPr>
          <a:xfrm>
            <a:off x="4286520"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-0,23%</a:t>
            </a:r>
          </a:p>
        </p:txBody>
      </p:sp>
      <p:sp>
        <p:nvSpPr>
          <p:cNvPr id="119" name="TextBox 118"/>
          <p:cNvSpPr txBox="1"/>
          <p:nvPr/>
        </p:nvSpPr>
        <p:spPr>
          <a:xfrm>
            <a:off x="4847377"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-0,30%</a:t>
            </a:r>
          </a:p>
        </p:txBody>
      </p:sp>
      <p:sp>
        <p:nvSpPr>
          <p:cNvPr id="120" name="TextBox 119"/>
          <p:cNvSpPr txBox="1"/>
          <p:nvPr/>
        </p:nvSpPr>
        <p:spPr>
          <a:xfrm>
            <a:off x="5408235"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-0,27%</a:t>
            </a:r>
          </a:p>
        </p:txBody>
      </p:sp>
      <p:sp>
        <p:nvSpPr>
          <p:cNvPr id="121" name="TextBox 120"/>
          <p:cNvSpPr txBox="1"/>
          <p:nvPr/>
        </p:nvSpPr>
        <p:spPr>
          <a:xfrm>
            <a:off x="5969092" y="7870314"/>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-0,03%</a:t>
            </a:r>
          </a:p>
        </p:txBody>
      </p:sp>
      <p:sp>
        <p:nvSpPr>
          <p:cNvPr id="122" name="TextBox 121"/>
          <p:cNvSpPr txBox="1"/>
          <p:nvPr/>
        </p:nvSpPr>
        <p:spPr>
          <a:xfrm>
            <a:off x="6529950" y="7870314"/>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3,3</a:t>
            </a:r>
          </a:p>
        </p:txBody>
      </p:sp>
      <p:sp>
        <p:nvSpPr>
          <p:cNvPr id="123" name="TextBox 122"/>
          <p:cNvSpPr txBox="1"/>
          <p:nvPr/>
        </p:nvSpPr>
        <p:spPr>
          <a:xfrm>
            <a:off x="604800" y="8449599"/>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Comunicação</a:t>
            </a:r>
          </a:p>
        </p:txBody>
      </p:sp>
      <p:sp>
        <p:nvSpPr>
          <p:cNvPr id="124" name="TextBox 123"/>
          <p:cNvSpPr txBox="1"/>
          <p:nvPr/>
        </p:nvSpPr>
        <p:spPr>
          <a:xfrm>
            <a:off x="2043090" y="8451725"/>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1.747</a:t>
            </a:r>
          </a:p>
        </p:txBody>
      </p:sp>
      <p:sp>
        <p:nvSpPr>
          <p:cNvPr id="125" name="TextBox 124"/>
          <p:cNvSpPr txBox="1"/>
          <p:nvPr/>
        </p:nvSpPr>
        <p:spPr>
          <a:xfrm>
            <a:off x="2603947"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0,5%</a:t>
            </a:r>
          </a:p>
        </p:txBody>
      </p:sp>
      <p:sp>
        <p:nvSpPr>
          <p:cNvPr id="126" name="TextBox 125"/>
          <p:cNvSpPr txBox="1"/>
          <p:nvPr/>
        </p:nvSpPr>
        <p:spPr>
          <a:xfrm>
            <a:off x="3164805"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7,95%</a:t>
            </a:r>
          </a:p>
        </p:txBody>
      </p:sp>
      <p:sp>
        <p:nvSpPr>
          <p:cNvPr id="127" name="TextBox 126"/>
          <p:cNvSpPr txBox="1"/>
          <p:nvPr/>
        </p:nvSpPr>
        <p:spPr>
          <a:xfrm>
            <a:off x="3725662"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8,09%</a:t>
            </a:r>
          </a:p>
        </p:txBody>
      </p:sp>
      <p:sp>
        <p:nvSpPr>
          <p:cNvPr id="128" name="TextBox 127"/>
          <p:cNvSpPr txBox="1"/>
          <p:nvPr/>
        </p:nvSpPr>
        <p:spPr>
          <a:xfrm>
            <a:off x="4286520"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-0,13%</a:t>
            </a:r>
          </a:p>
        </p:txBody>
      </p:sp>
      <p:sp>
        <p:nvSpPr>
          <p:cNvPr id="129" name="TextBox 128"/>
          <p:cNvSpPr txBox="1"/>
          <p:nvPr/>
        </p:nvSpPr>
        <p:spPr>
          <a:xfrm>
            <a:off x="4847377"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-0,14%</a:t>
            </a:r>
          </a:p>
        </p:txBody>
      </p:sp>
      <p:sp>
        <p:nvSpPr>
          <p:cNvPr id="130" name="TextBox 129"/>
          <p:cNvSpPr txBox="1"/>
          <p:nvPr/>
        </p:nvSpPr>
        <p:spPr>
          <a:xfrm>
            <a:off x="5408235"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-0,16%</a:t>
            </a:r>
          </a:p>
        </p:txBody>
      </p:sp>
      <p:sp>
        <p:nvSpPr>
          <p:cNvPr id="131" name="TextBox 130"/>
          <p:cNvSpPr txBox="1"/>
          <p:nvPr/>
        </p:nvSpPr>
        <p:spPr>
          <a:xfrm>
            <a:off x="5969092" y="8451725"/>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0,02%</a:t>
            </a:r>
          </a:p>
        </p:txBody>
      </p:sp>
      <p:sp>
        <p:nvSpPr>
          <p:cNvPr id="132" name="TextBox 131"/>
          <p:cNvSpPr txBox="1"/>
          <p:nvPr/>
        </p:nvSpPr>
        <p:spPr>
          <a:xfrm>
            <a:off x="6529950" y="8451725"/>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4,2</a:t>
            </a:r>
          </a:p>
        </p:txBody>
      </p:sp>
      <p:sp>
        <p:nvSpPr>
          <p:cNvPr id="133" name="TextBox 132"/>
          <p:cNvSpPr txBox="1"/>
          <p:nvPr/>
        </p:nvSpPr>
        <p:spPr>
          <a:xfrm>
            <a:off x="604800" y="9031601"/>
            <a:ext cx="1401472" cy="143640"/>
          </a:xfrm>
          <a:prstGeom prst="rect">
            <a:avLst/>
          </a:prstGeom>
          <a:noFill/>
        </p:spPr>
        <p:txBody>
          <a:bodyPr wrap="none" lIns="0" rIns="0" tIns="0" bIns="0" anchor="t"/>
          <a:lstStyle/>
          <a:p>
            <a:pPr algn="l">
              <a:lnSpc>
                <a:spcPts val="1061"/>
              </a:lnSpc>
            </a:pPr>
            <a:r>
              <a:rPr sz="922" b="0" i="0">
                <a:solidFill>
                  <a:srgbClr val="FFFFFF"/>
                </a:solidFill>
                <a:latin typeface="Versos"/>
              </a:rPr>
              <a:t>Metalurgia e siderurgia</a:t>
            </a:r>
          </a:p>
        </p:txBody>
      </p:sp>
      <p:sp>
        <p:nvSpPr>
          <p:cNvPr id="134" name="TextBox 133"/>
          <p:cNvSpPr txBox="1"/>
          <p:nvPr/>
        </p:nvSpPr>
        <p:spPr>
          <a:xfrm>
            <a:off x="2043090" y="9033727"/>
            <a:ext cx="488943" cy="136080"/>
          </a:xfrm>
          <a:prstGeom prst="rect">
            <a:avLst/>
          </a:prstGeom>
          <a:noFill/>
        </p:spPr>
        <p:txBody>
          <a:bodyPr wrap="none" lIns="0" rIns="0" tIns="0" bIns="0" anchor="t"/>
          <a:lstStyle/>
          <a:p>
            <a:pPr algn="ctr">
              <a:lnSpc>
                <a:spcPts val="1026"/>
              </a:lnSpc>
            </a:pPr>
            <a:r>
              <a:rPr sz="892" b="0" i="0">
                <a:solidFill>
                  <a:srgbClr val="BFDAEA"/>
                </a:solidFill>
                <a:latin typeface="Versos"/>
              </a:rPr>
              <a:t>1.120</a:t>
            </a:r>
          </a:p>
        </p:txBody>
      </p:sp>
      <p:sp>
        <p:nvSpPr>
          <p:cNvPr id="135" name="TextBox 134"/>
          <p:cNvSpPr txBox="1"/>
          <p:nvPr/>
        </p:nvSpPr>
        <p:spPr>
          <a:xfrm>
            <a:off x="2603947"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0,3%</a:t>
            </a:r>
          </a:p>
        </p:txBody>
      </p:sp>
      <p:sp>
        <p:nvSpPr>
          <p:cNvPr id="136" name="TextBox 135"/>
          <p:cNvSpPr txBox="1"/>
          <p:nvPr/>
        </p:nvSpPr>
        <p:spPr>
          <a:xfrm>
            <a:off x="3164805"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23,57%</a:t>
            </a:r>
          </a:p>
        </p:txBody>
      </p:sp>
      <p:sp>
        <p:nvSpPr>
          <p:cNvPr id="137" name="TextBox 136"/>
          <p:cNvSpPr txBox="1"/>
          <p:nvPr/>
        </p:nvSpPr>
        <p:spPr>
          <a:xfrm>
            <a:off x="3725662"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21,71%</a:t>
            </a:r>
          </a:p>
        </p:txBody>
      </p:sp>
      <p:sp>
        <p:nvSpPr>
          <p:cNvPr id="138" name="TextBox 137"/>
          <p:cNvSpPr txBox="1"/>
          <p:nvPr/>
        </p:nvSpPr>
        <p:spPr>
          <a:xfrm>
            <a:off x="4286520"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1,53%</a:t>
            </a:r>
          </a:p>
        </p:txBody>
      </p:sp>
      <p:sp>
        <p:nvSpPr>
          <p:cNvPr id="139" name="TextBox 138"/>
          <p:cNvSpPr txBox="1"/>
          <p:nvPr/>
        </p:nvSpPr>
        <p:spPr>
          <a:xfrm>
            <a:off x="4847377"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14,35%</a:t>
            </a:r>
          </a:p>
        </p:txBody>
      </p:sp>
      <p:sp>
        <p:nvSpPr>
          <p:cNvPr id="140" name="TextBox 139"/>
          <p:cNvSpPr txBox="1"/>
          <p:nvPr/>
        </p:nvSpPr>
        <p:spPr>
          <a:xfrm>
            <a:off x="5408235"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12,46%</a:t>
            </a:r>
          </a:p>
        </p:txBody>
      </p:sp>
      <p:sp>
        <p:nvSpPr>
          <p:cNvPr id="141" name="TextBox 140"/>
          <p:cNvSpPr txBox="1"/>
          <p:nvPr/>
        </p:nvSpPr>
        <p:spPr>
          <a:xfrm>
            <a:off x="5969092" y="9033727"/>
            <a:ext cx="488943" cy="136080"/>
          </a:xfrm>
          <a:prstGeom prst="rect">
            <a:avLst/>
          </a:prstGeom>
          <a:noFill/>
        </p:spPr>
        <p:txBody>
          <a:bodyPr wrap="none" lIns="0" rIns="0" tIns="0" bIns="0" anchor="t"/>
          <a:lstStyle/>
          <a:p>
            <a:pPr algn="ctr">
              <a:lnSpc>
                <a:spcPts val="1026"/>
              </a:lnSpc>
            </a:pPr>
            <a:r>
              <a:rPr sz="892" b="0" i="0">
                <a:solidFill>
                  <a:srgbClr val="FFFFFF"/>
                </a:solidFill>
                <a:latin typeface="Versos"/>
              </a:rPr>
              <a:t>1,68%</a:t>
            </a:r>
          </a:p>
        </p:txBody>
      </p:sp>
      <p:sp>
        <p:nvSpPr>
          <p:cNvPr id="142" name="TextBox 141"/>
          <p:cNvSpPr txBox="1"/>
          <p:nvPr/>
        </p:nvSpPr>
        <p:spPr>
          <a:xfrm>
            <a:off x="6529950" y="9033727"/>
            <a:ext cx="489434" cy="136080"/>
          </a:xfrm>
          <a:prstGeom prst="rect">
            <a:avLst/>
          </a:prstGeom>
          <a:noFill/>
        </p:spPr>
        <p:txBody>
          <a:bodyPr wrap="none" lIns="0" rIns="0" tIns="0" bIns="0" anchor="t"/>
          <a:lstStyle/>
          <a:p>
            <a:pPr algn="ctr">
              <a:lnSpc>
                <a:spcPts val="1026"/>
              </a:lnSpc>
            </a:pPr>
            <a:r>
              <a:rPr sz="892" b="0" i="0">
                <a:solidFill>
                  <a:srgbClr val="FFFFFF"/>
                </a:solidFill>
                <a:latin typeface="Versos"/>
              </a:rPr>
              <a:t>4,9</a:t>
            </a:r>
          </a:p>
        </p:txBody>
      </p:sp>
      <p:sp>
        <p:nvSpPr>
          <p:cNvPr id="143" name="TextBox 142"/>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incentivadas precificadas pela ANBIMA. Desconsideramos as debêntures que começaram a ser precificadas ou que venceram ao longo do mês, para que a comparação com o mês anterior seja feita com a mesma base de ativos.</a:t>
            </a:r>
          </a:p>
        </p:txBody>
      </p:sp>
      <p:sp>
        <p:nvSpPr>
          <p:cNvPr id="144" name="TextBox 143"/>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15/07/2019</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0,75%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Não há</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366351"/>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D+31</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767596"/>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3956596"/>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R$ 37.299.076,05</a:t>
            </a:r>
          </a:p>
        </p:txBody>
      </p:sp>
      <p:sp>
        <p:nvSpPr>
          <p:cNvPr id="19" name="TextBox 18"/>
          <p:cNvSpPr txBox="1"/>
          <p:nvPr/>
        </p:nvSpPr>
        <p:spPr>
          <a:xfrm>
            <a:off x="3878280" y="4458510"/>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647510"/>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R$ 46.597.018,20</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71360"/>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3" name="TextBox 22"/>
          <p:cNvSpPr txBox="1"/>
          <p:nvPr/>
        </p:nvSpPr>
        <p:spPr>
          <a:xfrm>
            <a:off x="400680" y="6808725"/>
            <a:ext cx="6758640" cy="438716"/>
          </a:xfrm>
          <a:prstGeom prst="rect">
            <a:avLst/>
          </a:prstGeom>
          <a:noFill/>
        </p:spPr>
        <p:txBody>
          <a:bodyPr wrap="square" lIns="0" rIns="0" tIns="0" bIns="0" anchor="t"/>
          <a:lstStyle/>
          <a:p>
            <a:pPr algn="just">
              <a:lnSpc>
                <a:spcPts val="1162"/>
              </a:lnSpc>
            </a:pPr>
            <a:r>
              <a:rPr sz="952"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4" name="TextBox 23"/>
          <p:cNvSpPr txBox="1"/>
          <p:nvPr/>
        </p:nvSpPr>
        <p:spPr>
          <a:xfrm>
            <a:off x="400680" y="729362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envolvem riscos. Consulte os documentos do fundo para conhecer sua estratégia, público-alvo, condições e principais fatores de risco.</a:t>
            </a:r>
          </a:p>
        </p:txBody>
      </p:sp>
      <p:sp>
        <p:nvSpPr>
          <p:cNvPr id="25" name="TextBox 24"/>
          <p:cNvSpPr txBox="1"/>
          <p:nvPr/>
        </p:nvSpPr>
        <p:spPr>
          <a:xfrm>
            <a:off x="400680" y="763099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Rentabilidade obtida no passado não representa garantia de resultados futuros. A rentabilidade divulgada não é líquida de impostos.</a:t>
            </a:r>
          </a:p>
        </p:txBody>
      </p:sp>
      <p:sp>
        <p:nvSpPr>
          <p:cNvPr id="26" name="TextBox 25"/>
          <p:cNvSpPr txBox="1"/>
          <p:nvPr/>
        </p:nvSpPr>
        <p:spPr>
          <a:xfrm>
            <a:off x="400680" y="7968358"/>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Os investimentos em fundos não são garantidos pelo administrador, pelo gestor, por qualquer mecanismo de seguro ou pelo Fundo Garantidor de Crédito – FGC.</a:t>
            </a:r>
          </a:p>
        </p:txBody>
      </p:sp>
      <p:sp>
        <p:nvSpPr>
          <p:cNvPr id="27" name="TextBox 26"/>
          <p:cNvSpPr txBox="1"/>
          <p:nvPr/>
        </p:nvSpPr>
        <p:spPr>
          <a:xfrm>
            <a:off x="400680" y="8305723"/>
            <a:ext cx="6758640" cy="291178"/>
          </a:xfrm>
          <a:prstGeom prst="rect">
            <a:avLst/>
          </a:prstGeom>
          <a:noFill/>
        </p:spPr>
        <p:txBody>
          <a:bodyPr wrap="square" lIns="0" rIns="0" tIns="0" bIns="0" anchor="t"/>
          <a:lstStyle/>
          <a:p>
            <a:pPr algn="just">
              <a:lnSpc>
                <a:spcPts val="1162"/>
              </a:lnSpc>
            </a:pPr>
            <a:r>
              <a:rPr sz="952" b="0" i="0">
                <a:solidFill>
                  <a:srgbClr val="E9E9E9"/>
                </a:solidFill>
                <a:latin typeface="Versos"/>
              </a:rPr>
              <a:t>A Tivio Capital Distribuidora de Títulos e Valores Mobiliários S.A. integra o conglomerado prudencial liderado pelo Banco Bradesco S.A.</a:t>
            </a:r>
          </a:p>
        </p:txBody>
      </p:sp>
      <p:sp>
        <p:nvSpPr>
          <p:cNvPr id="28" name="TextBox 27"/>
          <p:cNvSpPr txBox="1"/>
          <p:nvPr/>
        </p:nvSpPr>
        <p:spPr>
          <a:xfrm>
            <a:off x="400680" y="8987540"/>
            <a:ext cx="1273269" cy="294840"/>
          </a:xfrm>
          <a:prstGeom prst="rect">
            <a:avLst/>
          </a:prstGeom>
          <a:noFill/>
        </p:spPr>
        <p:txBody>
          <a:bodyPr wrap="square" lIns="0" rIns="0" tIns="0" bIns="0" anchor="t"/>
          <a:lstStyle/>
          <a:p>
            <a:pPr algn="l">
              <a:lnSpc>
                <a:spcPts val="1190"/>
              </a:lnSpc>
            </a:pPr>
            <a:r>
              <a:rPr sz="952" b="0" i="0">
                <a:solidFill>
                  <a:srgbClr val="E9E9E9"/>
                </a:solidFill>
                <a:latin typeface="Versos"/>
              </a:rPr>
              <a:t>SAC: 0800 704 8383</a:t>
            </a:r>
          </a:p>
          <a:p>
            <a:pPr algn="l">
              <a:lnSpc>
                <a:spcPts val="1190"/>
              </a:lnSpc>
            </a:pPr>
            <a:r>
              <a:rPr sz="952" b="0" i="0">
                <a:solidFill>
                  <a:srgbClr val="E9E9E9"/>
                </a:solidFill>
                <a:latin typeface="Versos"/>
              </a:rPr>
              <a:t>Atendimento 24 horas</a:t>
            </a:r>
          </a:p>
        </p:txBody>
      </p:sp>
      <p:sp>
        <p:nvSpPr>
          <p:cNvPr id="29" name="TextBox 28"/>
          <p:cNvSpPr txBox="1"/>
          <p:nvPr/>
        </p:nvSpPr>
        <p:spPr>
          <a:xfrm>
            <a:off x="1794909" y="8987540"/>
            <a:ext cx="4518399" cy="294840"/>
          </a:xfrm>
          <a:prstGeom prst="rect">
            <a:avLst/>
          </a:prstGeom>
          <a:noFill/>
        </p:spPr>
        <p:txBody>
          <a:bodyPr wrap="square" lIns="0" rIns="0" tIns="0" bIns="0" anchor="t"/>
          <a:lstStyle/>
          <a:p>
            <a:pPr algn="l">
              <a:lnSpc>
                <a:spcPts val="1190"/>
              </a:lnSpc>
            </a:pPr>
            <a:r>
              <a:rPr sz="952" b="0" i="0">
                <a:solidFill>
                  <a:srgbClr val="E9E9E9"/>
                </a:solidFill>
                <a:latin typeface="Versos"/>
              </a:rPr>
              <a:t>Ouvidoria: 0800 727 9933</a:t>
            </a:r>
          </a:p>
          <a:p>
            <a:pPr algn="l">
              <a:lnSpc>
                <a:spcPts val="1190"/>
              </a:lnSpc>
            </a:pPr>
            <a:r>
              <a:rPr sz="952" b="0" i="0">
                <a:solidFill>
                  <a:srgbClr val="E9E9E9"/>
                </a:solidFill>
                <a:latin typeface="Versos"/>
              </a:rPr>
              <a:t>Atendimento das 9h às 18h, de segunda a sexta-feira, exceto feriados nacionais</a:t>
            </a:r>
          </a:p>
        </p:txBody>
      </p:sp>
      <p:sp>
        <p:nvSpPr>
          <p:cNvPr id="30" name="TextBox 29"/>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1" name="TextBox 30"/>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2" name="TextBox 31"/>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3" name="TextBox 32"/>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