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13400"/>
          </a:xfrm>
          <a:prstGeom prst="rect">
            <a:avLst/>
          </a:prstGeom>
          <a:noFill/>
        </p:spPr>
        <p:txBody>
          <a:bodyPr wrap="none" lIns="0" rIns="0" tIns="0" bIns="0" anchor="t"/>
          <a:lstStyle/>
          <a:p>
            <a:pPr algn="l">
              <a:lnSpc>
                <a:spcPts val="921"/>
              </a:lnSpc>
            </a:pPr>
            <a:r>
              <a:rPr sz="767" b="0" i="0">
                <a:solidFill>
                  <a:srgbClr val="FFFFFF"/>
                </a:solidFill>
                <a:latin typeface="Versos"/>
              </a:rPr>
              <a:t>TIVIO PLUS RF FUNDO INCENTIVADO DE INVESTIMENTO FINANCEIRO EM INFRA – RL </a:t>
            </a:r>
            <a:r>
              <a:rPr sz="629" b="0" i="0">
                <a:solidFill>
                  <a:srgbClr val="FFFFFF"/>
                </a:solidFill>
                <a:latin typeface="Versos"/>
              </a:rPr>
              <a:t>/ CNPJ 32.485.590/0001-86</a:t>
            </a:r>
          </a:p>
        </p:txBody>
      </p:sp>
      <p:sp>
        <p:nvSpPr>
          <p:cNvPr id="4" name="TextBox 3"/>
          <p:cNvSpPr txBox="1"/>
          <p:nvPr/>
        </p:nvSpPr>
        <p:spPr>
          <a:xfrm>
            <a:off x="400680" y="10886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503921"/>
          </a:xfrm>
          <a:prstGeom prst="rect">
            <a:avLst/>
          </a:prstGeom>
          <a:noFill/>
        </p:spPr>
        <p:txBody>
          <a:bodyPr wrap="square" lIns="0" rIns="0" tIns="0" bIns="0" anchor="t"/>
          <a:lstStyle/>
          <a:p>
            <a:pPr algn="l">
              <a:lnSpc>
                <a:spcPts val="1299"/>
              </a:lnSpc>
            </a:pPr>
            <a:r>
              <a:rPr sz="1101" b="0" i="0">
                <a:solidFill>
                  <a:srgbClr val="1E1E1E"/>
                </a:solidFill>
                <a:latin typeface="Versos"/>
              </a:rPr>
              <a:t>O fundo busca promover o investimento em debêntures de infraestrutura (Lei 12.431/11) que oferece benefício fiscal para o cotista pessoa física. O fundo busca superar o retorno de ativos indexados à inflação.</a:t>
            </a:r>
          </a:p>
        </p:txBody>
      </p:sp>
      <p:sp>
        <p:nvSpPr>
          <p:cNvPr id="7" name="TextBox 6"/>
          <p:cNvSpPr txBox="1"/>
          <p:nvPr/>
        </p:nvSpPr>
        <p:spPr>
          <a:xfrm>
            <a:off x="1126440"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75550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13161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1,01%</a:t>
            </a:r>
          </a:p>
        </p:txBody>
      </p:sp>
      <p:sp>
        <p:nvSpPr>
          <p:cNvPr id="15" name="TextBox 14"/>
          <p:cNvSpPr txBox="1"/>
          <p:nvPr/>
        </p:nvSpPr>
        <p:spPr>
          <a:xfrm>
            <a:off x="2136881"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7,05%</a:t>
            </a:r>
          </a:p>
        </p:txBody>
      </p:sp>
      <p:sp>
        <p:nvSpPr>
          <p:cNvPr id="16" name="TextBox 15"/>
          <p:cNvSpPr txBox="1"/>
          <p:nvPr/>
        </p:nvSpPr>
        <p:spPr>
          <a:xfrm>
            <a:off x="3147322"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9,10%</a:t>
            </a:r>
          </a:p>
        </p:txBody>
      </p:sp>
      <p:sp>
        <p:nvSpPr>
          <p:cNvPr id="17" name="TextBox 16"/>
          <p:cNvSpPr txBox="1"/>
          <p:nvPr/>
        </p:nvSpPr>
        <p:spPr>
          <a:xfrm>
            <a:off x="4157763"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20,79%</a:t>
            </a:r>
          </a:p>
        </p:txBody>
      </p:sp>
      <p:sp>
        <p:nvSpPr>
          <p:cNvPr id="18" name="TextBox 17"/>
          <p:cNvSpPr txBox="1"/>
          <p:nvPr/>
        </p:nvSpPr>
        <p:spPr>
          <a:xfrm>
            <a:off x="5168205"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32,41%</a:t>
            </a:r>
          </a:p>
        </p:txBody>
      </p:sp>
      <p:sp>
        <p:nvSpPr>
          <p:cNvPr id="19" name="TextBox 18"/>
          <p:cNvSpPr txBox="1"/>
          <p:nvPr/>
        </p:nvSpPr>
        <p:spPr>
          <a:xfrm>
            <a:off x="6178646" y="312783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79,20%</a:t>
            </a:r>
          </a:p>
        </p:txBody>
      </p:sp>
      <p:sp>
        <p:nvSpPr>
          <p:cNvPr id="20" name="TextBox 19"/>
          <p:cNvSpPr txBox="1"/>
          <p:nvPr/>
        </p:nvSpPr>
        <p:spPr>
          <a:xfrm>
            <a:off x="340200" y="35228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2,01%</a:t>
            </a:r>
          </a:p>
        </p:txBody>
      </p:sp>
      <p:sp>
        <p:nvSpPr>
          <p:cNvPr id="22" name="TextBox 21"/>
          <p:cNvSpPr txBox="1"/>
          <p:nvPr/>
        </p:nvSpPr>
        <p:spPr>
          <a:xfrm>
            <a:off x="2136881"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11,37%</a:t>
            </a:r>
          </a:p>
        </p:txBody>
      </p:sp>
      <p:sp>
        <p:nvSpPr>
          <p:cNvPr id="23" name="TextBox 22"/>
          <p:cNvSpPr txBox="1"/>
          <p:nvPr/>
        </p:nvSpPr>
        <p:spPr>
          <a:xfrm>
            <a:off x="3147322"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14,80%</a:t>
            </a:r>
          </a:p>
        </p:txBody>
      </p:sp>
      <p:sp>
        <p:nvSpPr>
          <p:cNvPr id="24" name="TextBox 23"/>
          <p:cNvSpPr txBox="1"/>
          <p:nvPr/>
        </p:nvSpPr>
        <p:spPr>
          <a:xfrm>
            <a:off x="4157763"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25,30%</a:t>
            </a:r>
          </a:p>
        </p:txBody>
      </p:sp>
      <p:sp>
        <p:nvSpPr>
          <p:cNvPr id="25" name="TextBox 24"/>
          <p:cNvSpPr txBox="1"/>
          <p:nvPr/>
        </p:nvSpPr>
        <p:spPr>
          <a:xfrm>
            <a:off x="5168205"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36,15%</a:t>
            </a:r>
          </a:p>
        </p:txBody>
      </p:sp>
      <p:sp>
        <p:nvSpPr>
          <p:cNvPr id="26" name="TextBox 25"/>
          <p:cNvSpPr txBox="1"/>
          <p:nvPr/>
        </p:nvSpPr>
        <p:spPr>
          <a:xfrm>
            <a:off x="6178646" y="35190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91,68%</a:t>
            </a:r>
          </a:p>
        </p:txBody>
      </p:sp>
      <p:sp>
        <p:nvSpPr>
          <p:cNvPr id="27" name="TextBox 26"/>
          <p:cNvSpPr txBox="1"/>
          <p:nvPr/>
        </p:nvSpPr>
        <p:spPr>
          <a:xfrm>
            <a:off x="340200" y="39159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29" name="TextBox 28"/>
          <p:cNvSpPr txBox="1"/>
          <p:nvPr/>
        </p:nvSpPr>
        <p:spPr>
          <a:xfrm>
            <a:off x="2136881"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−4,32%</a:t>
            </a:r>
          </a:p>
        </p:txBody>
      </p:sp>
      <p:sp>
        <p:nvSpPr>
          <p:cNvPr id="30" name="TextBox 29"/>
          <p:cNvSpPr txBox="1"/>
          <p:nvPr/>
        </p:nvSpPr>
        <p:spPr>
          <a:xfrm>
            <a:off x="3147322"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−5,70%</a:t>
            </a:r>
          </a:p>
        </p:txBody>
      </p:sp>
      <p:sp>
        <p:nvSpPr>
          <p:cNvPr id="31" name="TextBox 30"/>
          <p:cNvSpPr txBox="1"/>
          <p:nvPr/>
        </p:nvSpPr>
        <p:spPr>
          <a:xfrm>
            <a:off x="4157763"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−4,50%</a:t>
            </a:r>
          </a:p>
        </p:txBody>
      </p:sp>
      <p:sp>
        <p:nvSpPr>
          <p:cNvPr id="32" name="TextBox 31"/>
          <p:cNvSpPr txBox="1"/>
          <p:nvPr/>
        </p:nvSpPr>
        <p:spPr>
          <a:xfrm>
            <a:off x="5168205"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−3,74%</a:t>
            </a:r>
          </a:p>
        </p:txBody>
      </p:sp>
      <p:sp>
        <p:nvSpPr>
          <p:cNvPr id="33" name="TextBox 32"/>
          <p:cNvSpPr txBox="1"/>
          <p:nvPr/>
        </p:nvSpPr>
        <p:spPr>
          <a:xfrm>
            <a:off x="6178646" y="39121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−12,48%</a:t>
            </a:r>
          </a:p>
        </p:txBody>
      </p:sp>
      <p:sp>
        <p:nvSpPr>
          <p:cNvPr id="34" name="TextBox 33"/>
          <p:cNvSpPr txBox="1"/>
          <p:nvPr/>
        </p:nvSpPr>
        <p:spPr>
          <a:xfrm>
            <a:off x="355320" y="42486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35" name="TextBox 34"/>
          <p:cNvSpPr txBox="1"/>
          <p:nvPr/>
        </p:nvSpPr>
        <p:spPr>
          <a:xfrm>
            <a:off x="400680" y="49063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41992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37" name="TextBox 36"/>
          <p:cNvSpPr txBox="1"/>
          <p:nvPr/>
        </p:nvSpPr>
        <p:spPr>
          <a:xfrm>
            <a:off x="2831928" y="5418039"/>
            <a:ext cx="362898" cy="143640"/>
          </a:xfrm>
          <a:prstGeom prst="rect">
            <a:avLst/>
          </a:prstGeom>
          <a:noFill/>
        </p:spPr>
        <p:txBody>
          <a:bodyPr wrap="none" lIns="0" rIns="0" tIns="0" bIns="0" anchor="t"/>
          <a:lstStyle/>
          <a:p>
            <a:pPr algn="l">
              <a:lnSpc>
                <a:spcPts val="1107"/>
              </a:lnSpc>
            </a:pPr>
            <a:r>
              <a:rPr sz="922" b="0" i="0">
                <a:solidFill>
                  <a:srgbClr val="5A82A0"/>
                </a:solidFill>
                <a:latin typeface="Versos"/>
              </a:rPr>
              <a:t>7,45%</a:t>
            </a:r>
          </a:p>
        </p:txBody>
      </p:sp>
      <p:sp>
        <p:nvSpPr>
          <p:cNvPr id="38" name="TextBox 37"/>
          <p:cNvSpPr txBox="1"/>
          <p:nvPr/>
        </p:nvSpPr>
        <p:spPr>
          <a:xfrm>
            <a:off x="400680" y="590376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EDF</a:t>
            </a:r>
          </a:p>
        </p:txBody>
      </p:sp>
      <p:sp>
        <p:nvSpPr>
          <p:cNvPr id="39" name="TextBox 38"/>
          <p:cNvSpPr txBox="1"/>
          <p:nvPr/>
        </p:nvSpPr>
        <p:spPr>
          <a:xfrm>
            <a:off x="2617059" y="5901879"/>
            <a:ext cx="386977" cy="143640"/>
          </a:xfrm>
          <a:prstGeom prst="rect">
            <a:avLst/>
          </a:prstGeom>
          <a:noFill/>
        </p:spPr>
        <p:txBody>
          <a:bodyPr wrap="none" lIns="0" rIns="0" tIns="0" bIns="0" anchor="t"/>
          <a:lstStyle/>
          <a:p>
            <a:pPr algn="l">
              <a:lnSpc>
                <a:spcPts val="1107"/>
              </a:lnSpc>
            </a:pPr>
            <a:r>
              <a:rPr sz="922" b="0" i="0">
                <a:solidFill>
                  <a:srgbClr val="5A82A0"/>
                </a:solidFill>
                <a:latin typeface="Versos"/>
              </a:rPr>
              <a:t>6,48%</a:t>
            </a:r>
          </a:p>
        </p:txBody>
      </p:sp>
      <p:sp>
        <p:nvSpPr>
          <p:cNvPr id="40" name="TextBox 39"/>
          <p:cNvSpPr txBox="1"/>
          <p:nvPr/>
        </p:nvSpPr>
        <p:spPr>
          <a:xfrm>
            <a:off x="400680" y="638760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41" name="TextBox 40"/>
          <p:cNvSpPr txBox="1"/>
          <p:nvPr/>
        </p:nvSpPr>
        <p:spPr>
          <a:xfrm>
            <a:off x="2375848" y="6385719"/>
            <a:ext cx="383906" cy="143640"/>
          </a:xfrm>
          <a:prstGeom prst="rect">
            <a:avLst/>
          </a:prstGeom>
          <a:noFill/>
        </p:spPr>
        <p:txBody>
          <a:bodyPr wrap="none" lIns="0" rIns="0" tIns="0" bIns="0" anchor="t"/>
          <a:lstStyle/>
          <a:p>
            <a:pPr algn="l">
              <a:lnSpc>
                <a:spcPts val="1107"/>
              </a:lnSpc>
            </a:pPr>
            <a:r>
              <a:rPr sz="922" b="0" i="0">
                <a:solidFill>
                  <a:srgbClr val="5A82A0"/>
                </a:solidFill>
                <a:latin typeface="Versos"/>
              </a:rPr>
              <a:t>5,38%</a:t>
            </a:r>
          </a:p>
        </p:txBody>
      </p:sp>
      <p:sp>
        <p:nvSpPr>
          <p:cNvPr id="42" name="TextBox 41"/>
          <p:cNvSpPr txBox="1"/>
          <p:nvPr/>
        </p:nvSpPr>
        <p:spPr>
          <a:xfrm>
            <a:off x="400680" y="687144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43" name="TextBox 42"/>
          <p:cNvSpPr txBox="1"/>
          <p:nvPr/>
        </p:nvSpPr>
        <p:spPr>
          <a:xfrm>
            <a:off x="2017811" y="6869559"/>
            <a:ext cx="371989" cy="143640"/>
          </a:xfrm>
          <a:prstGeom prst="rect">
            <a:avLst/>
          </a:prstGeom>
          <a:noFill/>
        </p:spPr>
        <p:txBody>
          <a:bodyPr wrap="none" lIns="0" rIns="0" tIns="0" bIns="0" anchor="t"/>
          <a:lstStyle/>
          <a:p>
            <a:pPr algn="l">
              <a:lnSpc>
                <a:spcPts val="1107"/>
              </a:lnSpc>
            </a:pPr>
            <a:r>
              <a:rPr sz="922" b="0" i="0">
                <a:solidFill>
                  <a:srgbClr val="5A82A0"/>
                </a:solidFill>
                <a:latin typeface="Versos"/>
              </a:rPr>
              <a:t>3,76%</a:t>
            </a:r>
          </a:p>
        </p:txBody>
      </p:sp>
      <p:sp>
        <p:nvSpPr>
          <p:cNvPr id="44" name="TextBox 43"/>
          <p:cNvSpPr txBox="1"/>
          <p:nvPr/>
        </p:nvSpPr>
        <p:spPr>
          <a:xfrm>
            <a:off x="400680" y="735528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ENERGISA</a:t>
            </a:r>
          </a:p>
        </p:txBody>
      </p:sp>
      <p:sp>
        <p:nvSpPr>
          <p:cNvPr id="45" name="TextBox 44"/>
          <p:cNvSpPr txBox="1"/>
          <p:nvPr/>
        </p:nvSpPr>
        <p:spPr>
          <a:xfrm>
            <a:off x="1960048" y="7353399"/>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3,50%</a:t>
            </a:r>
          </a:p>
        </p:txBody>
      </p:sp>
      <p:sp>
        <p:nvSpPr>
          <p:cNvPr id="46" name="TextBox 45"/>
          <p:cNvSpPr txBox="1"/>
          <p:nvPr/>
        </p:nvSpPr>
        <p:spPr>
          <a:xfrm>
            <a:off x="400680" y="7930440"/>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34942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347539"/>
            <a:ext cx="473832" cy="143640"/>
          </a:xfrm>
          <a:prstGeom prst="rect">
            <a:avLst/>
          </a:prstGeom>
          <a:noFill/>
        </p:spPr>
        <p:txBody>
          <a:bodyPr wrap="none" lIns="0" rIns="0" tIns="0" bIns="0" anchor="t"/>
          <a:lstStyle/>
          <a:p>
            <a:pPr algn="l">
              <a:lnSpc>
                <a:spcPts val="1142"/>
              </a:lnSpc>
            </a:pPr>
            <a:r>
              <a:rPr sz="952" b="0" i="0">
                <a:solidFill>
                  <a:srgbClr val="111111"/>
                </a:solidFill>
                <a:latin typeface="Versos"/>
              </a:rPr>
              <a:t>38,32%</a:t>
            </a:r>
          </a:p>
        </p:txBody>
      </p:sp>
      <p:sp>
        <p:nvSpPr>
          <p:cNvPr id="49" name="TextBox 48"/>
          <p:cNvSpPr txBox="1"/>
          <p:nvPr/>
        </p:nvSpPr>
        <p:spPr>
          <a:xfrm>
            <a:off x="400680" y="864403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249572" y="8642143"/>
            <a:ext cx="395208" cy="143640"/>
          </a:xfrm>
          <a:prstGeom prst="rect">
            <a:avLst/>
          </a:prstGeom>
          <a:noFill/>
        </p:spPr>
        <p:txBody>
          <a:bodyPr wrap="none" lIns="0" rIns="0" tIns="0" bIns="0" anchor="t"/>
          <a:lstStyle/>
          <a:p>
            <a:pPr algn="l">
              <a:lnSpc>
                <a:spcPts val="1142"/>
              </a:lnSpc>
            </a:pPr>
            <a:r>
              <a:rPr sz="952" b="0" i="0">
                <a:solidFill>
                  <a:srgbClr val="111111"/>
                </a:solidFill>
                <a:latin typeface="Versos"/>
              </a:rPr>
              <a:t>24,11%</a:t>
            </a:r>
          </a:p>
        </p:txBody>
      </p:sp>
      <p:sp>
        <p:nvSpPr>
          <p:cNvPr id="51" name="TextBox 50"/>
          <p:cNvSpPr txBox="1"/>
          <p:nvPr/>
        </p:nvSpPr>
        <p:spPr>
          <a:xfrm>
            <a:off x="400680" y="893863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618430" y="8936746"/>
            <a:ext cx="412284" cy="143640"/>
          </a:xfrm>
          <a:prstGeom prst="rect">
            <a:avLst/>
          </a:prstGeom>
          <a:noFill/>
        </p:spPr>
        <p:txBody>
          <a:bodyPr wrap="none" lIns="0" rIns="0" tIns="0" bIns="0" anchor="t"/>
          <a:lstStyle/>
          <a:p>
            <a:pPr algn="l">
              <a:lnSpc>
                <a:spcPts val="1142"/>
              </a:lnSpc>
            </a:pPr>
            <a:r>
              <a:rPr sz="952" b="0" i="0">
                <a:solidFill>
                  <a:srgbClr val="111111"/>
                </a:solidFill>
                <a:latin typeface="Versos"/>
              </a:rPr>
              <a:t>11,50%</a:t>
            </a:r>
          </a:p>
        </p:txBody>
      </p:sp>
      <p:sp>
        <p:nvSpPr>
          <p:cNvPr id="53" name="TextBox 52"/>
          <p:cNvSpPr txBox="1"/>
          <p:nvPr/>
        </p:nvSpPr>
        <p:spPr>
          <a:xfrm>
            <a:off x="400680" y="923324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478216" y="9231350"/>
            <a:ext cx="399139" cy="143640"/>
          </a:xfrm>
          <a:prstGeom prst="rect">
            <a:avLst/>
          </a:prstGeom>
          <a:noFill/>
        </p:spPr>
        <p:txBody>
          <a:bodyPr wrap="none" lIns="0" rIns="0" tIns="0" bIns="0" anchor="t"/>
          <a:lstStyle/>
          <a:p>
            <a:pPr algn="l">
              <a:lnSpc>
                <a:spcPts val="1142"/>
              </a:lnSpc>
            </a:pPr>
            <a:r>
              <a:rPr sz="952" b="0" i="0">
                <a:solidFill>
                  <a:srgbClr val="111111"/>
                </a:solidFill>
                <a:latin typeface="Versos"/>
              </a:rPr>
              <a:t>8,69%</a:t>
            </a:r>
          </a:p>
        </p:txBody>
      </p:sp>
      <p:sp>
        <p:nvSpPr>
          <p:cNvPr id="55" name="TextBox 54"/>
          <p:cNvSpPr txBox="1"/>
          <p:nvPr/>
        </p:nvSpPr>
        <p:spPr>
          <a:xfrm>
            <a:off x="400680" y="952784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338238" y="9525954"/>
            <a:ext cx="397911" cy="143640"/>
          </a:xfrm>
          <a:prstGeom prst="rect">
            <a:avLst/>
          </a:prstGeom>
          <a:noFill/>
        </p:spPr>
        <p:txBody>
          <a:bodyPr wrap="none" lIns="0" rIns="0" tIns="0" bIns="0" anchor="t"/>
          <a:lstStyle/>
          <a:p>
            <a:pPr algn="l">
              <a:lnSpc>
                <a:spcPts val="1142"/>
              </a:lnSpc>
            </a:pPr>
            <a:r>
              <a:rPr sz="952" b="0" i="0">
                <a:solidFill>
                  <a:srgbClr val="111111"/>
                </a:solidFill>
                <a:latin typeface="Versos"/>
              </a:rPr>
              <a:t>5,90%</a:t>
            </a:r>
          </a:p>
        </p:txBody>
      </p:sp>
      <p:sp>
        <p:nvSpPr>
          <p:cNvPr id="57" name="TextBox 56"/>
          <p:cNvSpPr txBox="1"/>
          <p:nvPr/>
        </p:nvSpPr>
        <p:spPr>
          <a:xfrm>
            <a:off x="400680" y="98224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15100" y="9820558"/>
            <a:ext cx="360441" cy="143640"/>
          </a:xfrm>
          <a:prstGeom prst="rect">
            <a:avLst/>
          </a:prstGeom>
          <a:noFill/>
        </p:spPr>
        <p:txBody>
          <a:bodyPr wrap="none" lIns="0" rIns="0" tIns="0" bIns="0" anchor="t"/>
          <a:lstStyle/>
          <a:p>
            <a:pPr algn="l">
              <a:lnSpc>
                <a:spcPts val="1142"/>
              </a:lnSpc>
            </a:pPr>
            <a:r>
              <a:rPr sz="952" b="0" i="0">
                <a:solidFill>
                  <a:srgbClr val="111111"/>
                </a:solidFill>
                <a:latin typeface="Versos"/>
              </a:rPr>
              <a:t>1,44%</a:t>
            </a:r>
          </a:p>
        </p:txBody>
      </p:sp>
      <p:sp>
        <p:nvSpPr>
          <p:cNvPr id="59" name="TextBox 58"/>
          <p:cNvSpPr txBox="1"/>
          <p:nvPr/>
        </p:nvSpPr>
        <p:spPr>
          <a:xfrm>
            <a:off x="3802680" y="49063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4181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410479"/>
            <a:ext cx="476289" cy="143640"/>
          </a:xfrm>
          <a:prstGeom prst="rect">
            <a:avLst/>
          </a:prstGeom>
          <a:noFill/>
        </p:spPr>
        <p:txBody>
          <a:bodyPr wrap="none" lIns="0" rIns="0" tIns="0" bIns="0" anchor="t"/>
          <a:lstStyle/>
          <a:p>
            <a:pPr algn="l">
              <a:lnSpc>
                <a:spcPts val="1142"/>
              </a:lnSpc>
            </a:pPr>
            <a:r>
              <a:rPr sz="952" b="0" i="0">
                <a:solidFill>
                  <a:srgbClr val="111111"/>
                </a:solidFill>
                <a:latin typeface="Versos"/>
              </a:rPr>
              <a:t>53,39%</a:t>
            </a:r>
          </a:p>
        </p:txBody>
      </p:sp>
      <p:sp>
        <p:nvSpPr>
          <p:cNvPr id="62" name="TextBox 61"/>
          <p:cNvSpPr txBox="1"/>
          <p:nvPr/>
        </p:nvSpPr>
        <p:spPr>
          <a:xfrm>
            <a:off x="3802680" y="58868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3" name="TextBox 62"/>
          <p:cNvSpPr txBox="1"/>
          <p:nvPr/>
        </p:nvSpPr>
        <p:spPr>
          <a:xfrm>
            <a:off x="5810214" y="5879199"/>
            <a:ext cx="440908" cy="143640"/>
          </a:xfrm>
          <a:prstGeom prst="rect">
            <a:avLst/>
          </a:prstGeom>
          <a:noFill/>
        </p:spPr>
        <p:txBody>
          <a:bodyPr wrap="none" lIns="0" rIns="0" tIns="0" bIns="0" anchor="t"/>
          <a:lstStyle/>
          <a:p>
            <a:pPr algn="l">
              <a:lnSpc>
                <a:spcPts val="1142"/>
              </a:lnSpc>
            </a:pPr>
            <a:r>
              <a:rPr sz="952" b="0" i="0">
                <a:solidFill>
                  <a:srgbClr val="111111"/>
                </a:solidFill>
                <a:latin typeface="Versos"/>
              </a:rPr>
              <a:t>13,59%</a:t>
            </a:r>
          </a:p>
        </p:txBody>
      </p:sp>
      <p:sp>
        <p:nvSpPr>
          <p:cNvPr id="64" name="TextBox 63"/>
          <p:cNvSpPr txBox="1"/>
          <p:nvPr/>
        </p:nvSpPr>
        <p:spPr>
          <a:xfrm>
            <a:off x="3802680" y="6355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5" name="TextBox 64"/>
          <p:cNvSpPr txBox="1"/>
          <p:nvPr/>
        </p:nvSpPr>
        <p:spPr>
          <a:xfrm>
            <a:off x="5681103" y="6347919"/>
            <a:ext cx="355527" cy="143640"/>
          </a:xfrm>
          <a:prstGeom prst="rect">
            <a:avLst/>
          </a:prstGeom>
          <a:noFill/>
        </p:spPr>
        <p:txBody>
          <a:bodyPr wrap="none" lIns="0" rIns="0" tIns="0" bIns="0" anchor="t"/>
          <a:lstStyle/>
          <a:p>
            <a:pPr algn="l">
              <a:lnSpc>
                <a:spcPts val="1142"/>
              </a:lnSpc>
            </a:pPr>
            <a:r>
              <a:rPr sz="952" b="0" i="0">
                <a:solidFill>
                  <a:srgbClr val="111111"/>
                </a:solidFill>
                <a:latin typeface="Versos"/>
              </a:rPr>
              <a:t>8,13%</a:t>
            </a:r>
          </a:p>
        </p:txBody>
      </p:sp>
      <p:sp>
        <p:nvSpPr>
          <p:cNvPr id="66" name="TextBox 65"/>
          <p:cNvSpPr txBox="1"/>
          <p:nvPr/>
        </p:nvSpPr>
        <p:spPr>
          <a:xfrm>
            <a:off x="3802680" y="68243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7" name="TextBox 66"/>
          <p:cNvSpPr txBox="1"/>
          <p:nvPr/>
        </p:nvSpPr>
        <p:spPr>
          <a:xfrm>
            <a:off x="5675551" y="6816639"/>
            <a:ext cx="381080" cy="143640"/>
          </a:xfrm>
          <a:prstGeom prst="rect">
            <a:avLst/>
          </a:prstGeom>
          <a:noFill/>
        </p:spPr>
        <p:txBody>
          <a:bodyPr wrap="none" lIns="0" rIns="0" tIns="0" bIns="0" anchor="t"/>
          <a:lstStyle/>
          <a:p>
            <a:pPr algn="l">
              <a:lnSpc>
                <a:spcPts val="1142"/>
              </a:lnSpc>
            </a:pPr>
            <a:r>
              <a:rPr sz="952" b="0" i="0">
                <a:solidFill>
                  <a:srgbClr val="111111"/>
                </a:solidFill>
                <a:latin typeface="Versos"/>
              </a:rPr>
              <a:t>7,90%</a:t>
            </a:r>
          </a:p>
        </p:txBody>
      </p:sp>
      <p:sp>
        <p:nvSpPr>
          <p:cNvPr id="68" name="TextBox 67"/>
          <p:cNvSpPr txBox="1"/>
          <p:nvPr/>
        </p:nvSpPr>
        <p:spPr>
          <a:xfrm>
            <a:off x="3802680" y="729303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600188" y="7285359"/>
            <a:ext cx="384151" cy="143640"/>
          </a:xfrm>
          <a:prstGeom prst="rect">
            <a:avLst/>
          </a:prstGeom>
          <a:noFill/>
        </p:spPr>
        <p:txBody>
          <a:bodyPr wrap="none" lIns="0" rIns="0" tIns="0" bIns="0" anchor="t"/>
          <a:lstStyle/>
          <a:p>
            <a:pPr algn="l">
              <a:lnSpc>
                <a:spcPts val="1142"/>
              </a:lnSpc>
            </a:pPr>
            <a:r>
              <a:rPr sz="952" b="0" i="0">
                <a:solidFill>
                  <a:srgbClr val="111111"/>
                </a:solidFill>
                <a:latin typeface="Versos"/>
              </a:rPr>
              <a:t>4,72%</a:t>
            </a:r>
          </a:p>
        </p:txBody>
      </p:sp>
      <p:sp>
        <p:nvSpPr>
          <p:cNvPr id="70" name="TextBox 69"/>
          <p:cNvSpPr txBox="1"/>
          <p:nvPr/>
        </p:nvSpPr>
        <p:spPr>
          <a:xfrm>
            <a:off x="3802680" y="77617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71" name="TextBox 70"/>
          <p:cNvSpPr txBox="1"/>
          <p:nvPr/>
        </p:nvSpPr>
        <p:spPr>
          <a:xfrm>
            <a:off x="5591210" y="7754079"/>
            <a:ext cx="397174" cy="143640"/>
          </a:xfrm>
          <a:prstGeom prst="rect">
            <a:avLst/>
          </a:prstGeom>
          <a:noFill/>
        </p:spPr>
        <p:txBody>
          <a:bodyPr wrap="none" lIns="0" rIns="0" tIns="0" bIns="0" anchor="t"/>
          <a:lstStyle/>
          <a:p>
            <a:pPr algn="l">
              <a:lnSpc>
                <a:spcPts val="1142"/>
              </a:lnSpc>
            </a:pPr>
            <a:r>
              <a:rPr sz="952" b="0" i="0">
                <a:solidFill>
                  <a:srgbClr val="111111"/>
                </a:solidFill>
                <a:latin typeface="Versos"/>
              </a:rPr>
              <a:t>4,33%</a:t>
            </a:r>
          </a:p>
        </p:txBody>
      </p:sp>
      <p:sp>
        <p:nvSpPr>
          <p:cNvPr id="72" name="TextBox 71"/>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3" name="TextBox 72"/>
          <p:cNvSpPr txBox="1"/>
          <p:nvPr/>
        </p:nvSpPr>
        <p:spPr>
          <a:xfrm>
            <a:off x="5569830" y="8222799"/>
            <a:ext cx="391522" cy="143640"/>
          </a:xfrm>
          <a:prstGeom prst="rect">
            <a:avLst/>
          </a:prstGeom>
          <a:noFill/>
        </p:spPr>
        <p:txBody>
          <a:bodyPr wrap="none" lIns="0" rIns="0" tIns="0" bIns="0" anchor="t"/>
          <a:lstStyle/>
          <a:p>
            <a:pPr algn="l">
              <a:lnSpc>
                <a:spcPts val="1142"/>
              </a:lnSpc>
            </a:pPr>
            <a:r>
              <a:rPr sz="952" b="0" i="0">
                <a:solidFill>
                  <a:srgbClr val="111111"/>
                </a:solidFill>
                <a:latin typeface="Versos"/>
              </a:rPr>
              <a:t>3,44%</a:t>
            </a:r>
          </a:p>
        </p:txBody>
      </p:sp>
      <p:sp>
        <p:nvSpPr>
          <p:cNvPr id="74" name="TextBox 73"/>
          <p:cNvSpPr txBox="1"/>
          <p:nvPr/>
        </p:nvSpPr>
        <p:spPr>
          <a:xfrm>
            <a:off x="3802680" y="8699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5" name="TextBox 74"/>
          <p:cNvSpPr txBox="1"/>
          <p:nvPr/>
        </p:nvSpPr>
        <p:spPr>
          <a:xfrm>
            <a:off x="5539590" y="8691519"/>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2,16%</a:t>
            </a:r>
          </a:p>
        </p:txBody>
      </p:sp>
      <p:sp>
        <p:nvSpPr>
          <p:cNvPr id="76" name="TextBox 75"/>
          <p:cNvSpPr txBox="1"/>
          <p:nvPr/>
        </p:nvSpPr>
        <p:spPr>
          <a:xfrm>
            <a:off x="3802680" y="91679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7" name="TextBox 76"/>
          <p:cNvSpPr txBox="1"/>
          <p:nvPr/>
        </p:nvSpPr>
        <p:spPr>
          <a:xfrm>
            <a:off x="5521635" y="9160239"/>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78" name="TextBox 77"/>
          <p:cNvSpPr txBox="1"/>
          <p:nvPr/>
        </p:nvSpPr>
        <p:spPr>
          <a:xfrm>
            <a:off x="3802680" y="963663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Outras Concessões</a:t>
            </a:r>
          </a:p>
        </p:txBody>
      </p:sp>
      <p:sp>
        <p:nvSpPr>
          <p:cNvPr id="79" name="TextBox 78"/>
          <p:cNvSpPr txBox="1"/>
          <p:nvPr/>
        </p:nvSpPr>
        <p:spPr>
          <a:xfrm>
            <a:off x="5512539" y="9628959"/>
            <a:ext cx="326535" cy="143640"/>
          </a:xfrm>
          <a:prstGeom prst="rect">
            <a:avLst/>
          </a:prstGeom>
          <a:noFill/>
        </p:spPr>
        <p:txBody>
          <a:bodyPr wrap="none" lIns="0" rIns="0" tIns="0" bIns="0" anchor="t"/>
          <a:lstStyle/>
          <a:p>
            <a:pPr algn="l">
              <a:lnSpc>
                <a:spcPts val="1142"/>
              </a:lnSpc>
            </a:pPr>
            <a:r>
              <a:rPr sz="952" b="0" i="0">
                <a:solidFill>
                  <a:srgbClr val="111111"/>
                </a:solidFill>
                <a:latin typeface="Versos"/>
              </a:rPr>
              <a:t>1,01%</a:t>
            </a:r>
          </a:p>
        </p:txBody>
      </p:sp>
      <p:sp>
        <p:nvSpPr>
          <p:cNvPr id="80" name="TextBox 79"/>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130574"/>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incentivado foi marcado por uma reprecificação relevante dos ativos. Os spreads médios dos títulos indexados ao IPCA registraram abertura próxima de 45 bps, refletindo um ambiente técnico menos favorável e o aumento da pressão vendedora no mercado secundário. Apesar disso, o forte fechamento da curva real de juros mitigou parte desse movimento, fazendo com que as taxas finais dos ativos apresentassem abertura mais moderada, de aproximadamente 5 bps no período.</a:t>
            </a:r>
          </a:p>
        </p:txBody>
      </p:sp>
      <p:sp>
        <p:nvSpPr>
          <p:cNvPr id="7" name="TextBox 6"/>
          <p:cNvSpPr txBox="1"/>
          <p:nvPr/>
        </p:nvSpPr>
        <p:spPr>
          <a:xfrm>
            <a:off x="529200" y="6465690"/>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observou-se predominância de fluxos vendedores, em um contexto de resgates líquidos próximos de R$ 7 bilhões nos fundos de infraestrutura. Esse movimento contribuiu para a ampliação dos spreads e para uma maior seletividade na formação dos preços.</a:t>
            </a:r>
          </a:p>
        </p:txBody>
      </p:sp>
      <p:sp>
        <p:nvSpPr>
          <p:cNvPr id="8" name="TextBox 7"/>
          <p:cNvSpPr txBox="1"/>
          <p:nvPr/>
        </p:nvSpPr>
        <p:spPr>
          <a:xfrm>
            <a:off x="529200" y="7335208"/>
            <a:ext cx="6501600" cy="561093"/>
          </a:xfrm>
          <a:prstGeom prst="rect">
            <a:avLst/>
          </a:prstGeom>
          <a:noFill/>
        </p:spPr>
        <p:txBody>
          <a:bodyPr wrap="square" lIns="0" rIns="0" tIns="0" bIns="0" anchor="t"/>
          <a:lstStyle/>
          <a:p>
            <a:pPr algn="just">
              <a:lnSpc>
                <a:spcPts val="1494"/>
              </a:lnSpc>
            </a:pPr>
            <a:r>
              <a:rPr sz="1205" b="0" i="0">
                <a:solidFill>
                  <a:srgbClr val="F1F1F1"/>
                </a:solidFill>
                <a:latin typeface="Versos"/>
              </a:rPr>
              <a:t>Já no mercado primário, a atividade permaneceu limitada, com pipeline bastante reduzido de emissões corporativas incentivadas, restringindo as oportunidades de alocação e mantendo a oferta de ativos em níveis baixos.</a:t>
            </a:r>
          </a:p>
        </p:txBody>
      </p:sp>
      <p:sp>
        <p:nvSpPr>
          <p:cNvPr id="9" name="TextBox 8"/>
          <p:cNvSpPr txBox="1"/>
          <p:nvPr/>
        </p:nvSpPr>
        <p:spPr>
          <a:xfrm>
            <a:off x="529200" y="8014899"/>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Sob a ótica da gestão, seguimos adotando uma postura cautelosa e seletiva. Embora a recente abertura dos spreads tenha tornado algumas oportunidades mais atrativas, entendemos que a volatilidade dos fluxos e a baixa liquidez do mercado secundário ainda justificam uma abordagem disciplinada na alocação dos recursos, priorizando operações com adequada relação entre risco e retorno.</a:t>
            </a:r>
          </a:p>
        </p:txBody>
      </p:sp>
      <p:sp>
        <p:nvSpPr>
          <p:cNvPr id="10" name="TextBox 9"/>
          <p:cNvSpPr txBox="1"/>
          <p:nvPr/>
        </p:nvSpPr>
        <p:spPr>
          <a:xfrm>
            <a:off x="529200" y="9074244"/>
            <a:ext cx="6501600" cy="561093"/>
          </a:xfrm>
          <a:prstGeom prst="rect">
            <a:avLst/>
          </a:prstGeom>
          <a:noFill/>
        </p:spPr>
        <p:txBody>
          <a:bodyPr wrap="square" lIns="0" rIns="0" tIns="0" bIns="0" anchor="t"/>
          <a:lstStyle/>
          <a:p>
            <a:pPr algn="just">
              <a:lnSpc>
                <a:spcPts val="1494"/>
              </a:lnSpc>
            </a:pPr>
            <a:r>
              <a:rPr sz="1205" b="0" i="0">
                <a:solidFill>
                  <a:srgbClr val="F1F1F1"/>
                </a:solidFill>
                <a:latin typeface="Versos"/>
              </a:rPr>
              <a:t>Nesse cenário, o Tivio Infra Plus apresentou rentabilidade, isenta de imposto de renda de 1,01% no mês, acumulando 7,05% no ano. Na atribuição de performance, pode-se destacar as debêntures de Localiza e Urbia, enquanto as de Rumo foram as maiores detratoras.</a:t>
            </a:r>
          </a:p>
        </p:txBody>
      </p:sp>
      <p:sp>
        <p:nvSpPr>
          <p:cNvPr id="11" name="TextBox 1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15/07/2019</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D+31</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R$ 37.299.076,05</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R$ 46.597.018,20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