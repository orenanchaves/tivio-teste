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LIGHT XP PREV </a:t>
            </a:r>
            <a:r>
              <a:rPr sz="903" b="0" i="0">
                <a:solidFill>
                  <a:srgbClr val="FFFFFF"/>
                </a:solidFill>
                <a:latin typeface="Versos"/>
              </a:rPr>
              <a:t>/ CNPJ 53.991.177/0001-63</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367368"/>
          </a:xfrm>
          <a:prstGeom prst="rect">
            <a:avLst/>
          </a:prstGeom>
          <a:noFill/>
        </p:spPr>
        <p:txBody>
          <a:bodyPr wrap="square" lIns="0" rIns="0" tIns="0" bIns="0" anchor="t"/>
          <a:lstStyle/>
          <a:p>
            <a:pPr algn="l">
              <a:lnSpc>
                <a:spcPts val="1464"/>
              </a:lnSpc>
            </a:pPr>
            <a:r>
              <a:rPr sz="1220" b="0" i="0">
                <a:solidFill>
                  <a:srgbClr val="FFFFFF"/>
                </a:solidFill>
                <a:latin typeface="Versos"/>
              </a:rPr>
              <a:t>Fundo de previdência de crédito com parcela máxima permitida em crédito estruturado. Além disso aloca em crédito privado e bancários.</a:t>
            </a:r>
          </a:p>
        </p:txBody>
      </p:sp>
      <p:sp>
        <p:nvSpPr>
          <p:cNvPr id="7" name="TextBox 6"/>
          <p:cNvSpPr txBox="1"/>
          <p:nvPr/>
        </p:nvSpPr>
        <p:spPr>
          <a:xfrm>
            <a:off x="11566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02163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1,03%</a:t>
            </a:r>
          </a:p>
        </p:txBody>
      </p:sp>
      <p:sp>
        <p:nvSpPr>
          <p:cNvPr id="15" name="TextBox 14"/>
          <p:cNvSpPr txBox="1"/>
          <p:nvPr/>
        </p:nvSpPr>
        <p:spPr>
          <a:xfrm>
            <a:off x="216216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10,64%</a:t>
            </a:r>
          </a:p>
        </p:txBody>
      </p:sp>
      <p:sp>
        <p:nvSpPr>
          <p:cNvPr id="16" name="TextBox 15"/>
          <p:cNvSpPr txBox="1"/>
          <p:nvPr/>
        </p:nvSpPr>
        <p:spPr>
          <a:xfrm>
            <a:off x="316764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7" name="TextBox 16"/>
          <p:cNvSpPr txBox="1"/>
          <p:nvPr/>
        </p:nvSpPr>
        <p:spPr>
          <a:xfrm>
            <a:off x="417312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13,76%</a:t>
            </a:r>
          </a:p>
        </p:txBody>
      </p:sp>
      <p:sp>
        <p:nvSpPr>
          <p:cNvPr id="20" name="TextBox 19"/>
          <p:cNvSpPr txBox="1"/>
          <p:nvPr/>
        </p:nvSpPr>
        <p:spPr>
          <a:xfrm>
            <a:off x="370440" y="340719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1,08%</a:t>
            </a:r>
          </a:p>
        </p:txBody>
      </p:sp>
      <p:sp>
        <p:nvSpPr>
          <p:cNvPr id="22" name="TextBox 21"/>
          <p:cNvSpPr txBox="1"/>
          <p:nvPr/>
        </p:nvSpPr>
        <p:spPr>
          <a:xfrm>
            <a:off x="216216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10,51%</a:t>
            </a:r>
          </a:p>
        </p:txBody>
      </p:sp>
      <p:sp>
        <p:nvSpPr>
          <p:cNvPr id="23" name="TextBox 22"/>
          <p:cNvSpPr txBox="1"/>
          <p:nvPr/>
        </p:nvSpPr>
        <p:spPr>
          <a:xfrm>
            <a:off x="316764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4" name="TextBox 23"/>
          <p:cNvSpPr txBox="1"/>
          <p:nvPr/>
        </p:nvSpPr>
        <p:spPr>
          <a:xfrm>
            <a:off x="417312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12,60%</a:t>
            </a:r>
          </a:p>
        </p:txBody>
      </p:sp>
      <p:sp>
        <p:nvSpPr>
          <p:cNvPr id="27" name="TextBox 26"/>
          <p:cNvSpPr txBox="1"/>
          <p:nvPr/>
        </p:nvSpPr>
        <p:spPr>
          <a:xfrm>
            <a:off x="370440" y="379275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95,47%</a:t>
            </a:r>
          </a:p>
        </p:txBody>
      </p:sp>
      <p:sp>
        <p:nvSpPr>
          <p:cNvPr id="29" name="TextBox 28"/>
          <p:cNvSpPr txBox="1"/>
          <p:nvPr/>
        </p:nvSpPr>
        <p:spPr>
          <a:xfrm>
            <a:off x="216216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101,22%</a:t>
            </a:r>
          </a:p>
        </p:txBody>
      </p:sp>
      <p:sp>
        <p:nvSpPr>
          <p:cNvPr id="30" name="TextBox 29"/>
          <p:cNvSpPr txBox="1"/>
          <p:nvPr/>
        </p:nvSpPr>
        <p:spPr>
          <a:xfrm>
            <a:off x="316764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1" name="TextBox 30"/>
          <p:cNvSpPr txBox="1"/>
          <p:nvPr/>
        </p:nvSpPr>
        <p:spPr>
          <a:xfrm>
            <a:off x="417312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109,18%</a:t>
            </a:r>
          </a:p>
        </p:txBody>
      </p:sp>
      <p:sp>
        <p:nvSpPr>
          <p:cNvPr id="34" name="TextBox 33"/>
          <p:cNvSpPr txBox="1"/>
          <p:nvPr/>
        </p:nvSpPr>
        <p:spPr>
          <a:xfrm>
            <a:off x="370440" y="417831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−0,58%</a:t>
            </a:r>
          </a:p>
        </p:txBody>
      </p:sp>
      <p:sp>
        <p:nvSpPr>
          <p:cNvPr id="36" name="TextBox 35"/>
          <p:cNvSpPr txBox="1"/>
          <p:nvPr/>
        </p:nvSpPr>
        <p:spPr>
          <a:xfrm>
            <a:off x="216216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0,16%</a:t>
            </a:r>
          </a:p>
        </p:txBody>
      </p:sp>
      <p:sp>
        <p:nvSpPr>
          <p:cNvPr id="37" name="TextBox 36"/>
          <p:cNvSpPr txBox="1"/>
          <p:nvPr/>
        </p:nvSpPr>
        <p:spPr>
          <a:xfrm>
            <a:off x="316764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8" name="TextBox 37"/>
          <p:cNvSpPr txBox="1"/>
          <p:nvPr/>
        </p:nvSpPr>
        <p:spPr>
          <a:xfrm>
            <a:off x="417312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1,17%</a:t>
            </a:r>
          </a:p>
        </p:txBody>
      </p:sp>
      <p:sp>
        <p:nvSpPr>
          <p:cNvPr id="41" name="TextBox 40"/>
          <p:cNvSpPr txBox="1"/>
          <p:nvPr/>
        </p:nvSpPr>
        <p:spPr>
          <a:xfrm>
            <a:off x="385560" y="4522297"/>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30/09/2026</a:t>
            </a:r>
          </a:p>
        </p:txBody>
      </p:sp>
      <p:sp>
        <p:nvSpPr>
          <p:cNvPr id="42" name="TextBox 41"/>
          <p:cNvSpPr txBox="1"/>
          <p:nvPr/>
        </p:nvSpPr>
        <p:spPr>
          <a:xfrm>
            <a:off x="400680" y="502881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231211"/>
            <a:ext cx="2003806" cy="151200"/>
          </a:xfrm>
          <a:prstGeom prst="rect">
            <a:avLst/>
          </a:prstGeom>
          <a:noFill/>
        </p:spPr>
        <p:txBody>
          <a:bodyPr wrap="none" lIns="0" rIns="0" tIns="0" bIns="0" anchor="t"/>
          <a:lstStyle/>
          <a:p>
            <a:pPr algn="l">
              <a:lnSpc>
                <a:spcPts val="1113"/>
              </a:lnSpc>
            </a:pPr>
            <a:r>
              <a:rPr sz="1012" b="0" i="0">
                <a:solidFill>
                  <a:srgbClr val="2B3744"/>
                </a:solidFill>
                <a:latin typeface="Versos"/>
              </a:rPr>
              <a:t>Bancário</a:t>
            </a:r>
          </a:p>
        </p:txBody>
      </p:sp>
      <p:sp>
        <p:nvSpPr>
          <p:cNvPr id="44" name="TextBox 43"/>
          <p:cNvSpPr txBox="1"/>
          <p:nvPr/>
        </p:nvSpPr>
        <p:spPr>
          <a:xfrm>
            <a:off x="498960" y="6387609"/>
            <a:ext cx="2003806" cy="189000"/>
          </a:xfrm>
          <a:prstGeom prst="rect">
            <a:avLst/>
          </a:prstGeom>
          <a:noFill/>
        </p:spPr>
        <p:txBody>
          <a:bodyPr wrap="none" lIns="0" rIns="0" tIns="0" bIns="0" anchor="t"/>
          <a:lstStyle/>
          <a:p>
            <a:pPr algn="l">
              <a:lnSpc>
                <a:spcPts val="1375"/>
              </a:lnSpc>
            </a:pPr>
            <a:r>
              <a:rPr sz="1250" b="1" i="0">
                <a:solidFill>
                  <a:srgbClr val="2B3744"/>
                </a:solidFill>
                <a:latin typeface="Versos"/>
              </a:rPr>
              <a:t>31,4%</a:t>
            </a:r>
          </a:p>
        </p:txBody>
      </p:sp>
      <p:sp>
        <p:nvSpPr>
          <p:cNvPr id="45" name="TextBox 44"/>
          <p:cNvSpPr txBox="1"/>
          <p:nvPr/>
        </p:nvSpPr>
        <p:spPr>
          <a:xfrm>
            <a:off x="2622256" y="6231211"/>
            <a:ext cx="1711423" cy="151200"/>
          </a:xfrm>
          <a:prstGeom prst="rect">
            <a:avLst/>
          </a:prstGeom>
          <a:noFill/>
        </p:spPr>
        <p:txBody>
          <a:bodyPr wrap="none" lIns="0" rIns="0" tIns="0" bIns="0" anchor="t"/>
          <a:lstStyle/>
          <a:p>
            <a:pPr algn="l">
              <a:lnSpc>
                <a:spcPts val="1113"/>
              </a:lnSpc>
            </a:pPr>
            <a:r>
              <a:rPr sz="1012" b="0" i="0">
                <a:solidFill>
                  <a:srgbClr val="FFFFFF"/>
                </a:solidFill>
                <a:latin typeface="Versos"/>
              </a:rPr>
              <a:t>Liquidez</a:t>
            </a:r>
          </a:p>
        </p:txBody>
      </p:sp>
      <p:sp>
        <p:nvSpPr>
          <p:cNvPr id="46" name="TextBox 45"/>
          <p:cNvSpPr txBox="1"/>
          <p:nvPr/>
        </p:nvSpPr>
        <p:spPr>
          <a:xfrm>
            <a:off x="2622256" y="6387609"/>
            <a:ext cx="1711423" cy="189000"/>
          </a:xfrm>
          <a:prstGeom prst="rect">
            <a:avLst/>
          </a:prstGeom>
          <a:noFill/>
        </p:spPr>
        <p:txBody>
          <a:bodyPr wrap="none" lIns="0" rIns="0" tIns="0" bIns="0" anchor="t"/>
          <a:lstStyle/>
          <a:p>
            <a:pPr algn="l">
              <a:lnSpc>
                <a:spcPts val="1375"/>
              </a:lnSpc>
            </a:pPr>
            <a:r>
              <a:rPr sz="1250" b="1" i="0">
                <a:solidFill>
                  <a:srgbClr val="FFFFFF"/>
                </a:solidFill>
                <a:latin typeface="Versos"/>
              </a:rPr>
              <a:t>27,3%</a:t>
            </a:r>
          </a:p>
        </p:txBody>
      </p:sp>
      <p:sp>
        <p:nvSpPr>
          <p:cNvPr id="47" name="TextBox 46"/>
          <p:cNvSpPr txBox="1"/>
          <p:nvPr/>
        </p:nvSpPr>
        <p:spPr>
          <a:xfrm>
            <a:off x="4464416" y="6089934"/>
            <a:ext cx="1191408" cy="292477"/>
          </a:xfrm>
          <a:prstGeom prst="rect">
            <a:avLst/>
          </a:prstGeom>
          <a:noFill/>
        </p:spPr>
        <p:txBody>
          <a:bodyPr wrap="square" lIns="0" rIns="0" tIns="0" bIns="0" anchor="t"/>
          <a:lstStyle/>
          <a:p>
            <a:pPr algn="l">
              <a:lnSpc>
                <a:spcPts val="1113"/>
              </a:lnSpc>
            </a:pPr>
            <a:r>
              <a:rPr sz="1012" b="0" i="0">
                <a:solidFill>
                  <a:srgbClr val="2B3744"/>
                </a:solidFill>
                <a:latin typeface="Versos"/>
              </a:rPr>
              <a:t>FIDCs</a:t>
            </a:r>
          </a:p>
          <a:p>
            <a:pPr algn="l">
              <a:lnSpc>
                <a:spcPts val="1113"/>
              </a:lnSpc>
            </a:pPr>
            <a:r>
              <a:rPr sz="1012" b="1" i="0">
                <a:solidFill>
                  <a:srgbClr val="2B3744"/>
                </a:solidFill>
                <a:latin typeface="Versos"/>
              </a:rPr>
              <a:t>Cota Sênior</a:t>
            </a:r>
          </a:p>
        </p:txBody>
      </p:sp>
      <p:sp>
        <p:nvSpPr>
          <p:cNvPr id="48" name="TextBox 47"/>
          <p:cNvSpPr txBox="1"/>
          <p:nvPr/>
        </p:nvSpPr>
        <p:spPr>
          <a:xfrm>
            <a:off x="4464416" y="6387609"/>
            <a:ext cx="1239065" cy="189000"/>
          </a:xfrm>
          <a:prstGeom prst="rect">
            <a:avLst/>
          </a:prstGeom>
          <a:noFill/>
        </p:spPr>
        <p:txBody>
          <a:bodyPr wrap="none" lIns="0" rIns="0" tIns="0" bIns="0" anchor="t"/>
          <a:lstStyle/>
          <a:p>
            <a:pPr algn="l">
              <a:lnSpc>
                <a:spcPts val="1375"/>
              </a:lnSpc>
            </a:pPr>
            <a:r>
              <a:rPr sz="1250" b="1" i="0">
                <a:solidFill>
                  <a:srgbClr val="2B3744"/>
                </a:solidFill>
                <a:latin typeface="Versos"/>
              </a:rPr>
              <a:t>20,5%</a:t>
            </a:r>
          </a:p>
        </p:txBody>
      </p:sp>
      <p:sp>
        <p:nvSpPr>
          <p:cNvPr id="49" name="TextBox 48"/>
          <p:cNvSpPr txBox="1"/>
          <p:nvPr/>
        </p:nvSpPr>
        <p:spPr>
          <a:xfrm>
            <a:off x="5852503" y="5968265"/>
            <a:ext cx="1208418" cy="292477"/>
          </a:xfrm>
          <a:prstGeom prst="rect">
            <a:avLst/>
          </a:prstGeom>
          <a:noFill/>
        </p:spPr>
        <p:txBody>
          <a:bodyPr wrap="square" lIns="0" rIns="0" tIns="0" bIns="0" anchor="t"/>
          <a:lstStyle/>
          <a:p>
            <a:pPr algn="l">
              <a:lnSpc>
                <a:spcPts val="1113"/>
              </a:lnSpc>
            </a:pPr>
            <a:r>
              <a:rPr sz="1012" b="0" i="0">
                <a:solidFill>
                  <a:srgbClr val="2B3744"/>
                </a:solidFill>
                <a:latin typeface="Versos"/>
              </a:rPr>
              <a:t>Crédito</a:t>
            </a:r>
          </a:p>
          <a:p>
            <a:pPr algn="l">
              <a:lnSpc>
                <a:spcPts val="1113"/>
              </a:lnSpc>
            </a:pPr>
            <a:r>
              <a:rPr sz="1012" b="1" i="0">
                <a:solidFill>
                  <a:srgbClr val="2B3744"/>
                </a:solidFill>
                <a:latin typeface="Versos"/>
              </a:rPr>
              <a:t>Privado</a:t>
            </a:r>
          </a:p>
        </p:txBody>
      </p:sp>
      <p:sp>
        <p:nvSpPr>
          <p:cNvPr id="50" name="TextBox 49"/>
          <p:cNvSpPr txBox="1"/>
          <p:nvPr/>
        </p:nvSpPr>
        <p:spPr>
          <a:xfrm>
            <a:off x="5852503" y="6265940"/>
            <a:ext cx="1256755" cy="189000"/>
          </a:xfrm>
          <a:prstGeom prst="rect">
            <a:avLst/>
          </a:prstGeom>
          <a:noFill/>
        </p:spPr>
        <p:txBody>
          <a:bodyPr wrap="none" lIns="0" rIns="0" tIns="0" bIns="0" anchor="t"/>
          <a:lstStyle/>
          <a:p>
            <a:pPr algn="l">
              <a:lnSpc>
                <a:spcPts val="1375"/>
              </a:lnSpc>
            </a:pPr>
            <a:r>
              <a:rPr sz="1250" b="1" i="0">
                <a:solidFill>
                  <a:srgbClr val="2B3744"/>
                </a:solidFill>
                <a:latin typeface="Versos"/>
              </a:rPr>
              <a:t>18,9%</a:t>
            </a:r>
          </a:p>
        </p:txBody>
      </p:sp>
      <p:sp>
        <p:nvSpPr>
          <p:cNvPr id="51" name="TextBox 50"/>
          <p:cNvSpPr txBox="1"/>
          <p:nvPr/>
        </p:nvSpPr>
        <p:spPr>
          <a:xfrm>
            <a:off x="5807143" y="6552984"/>
            <a:ext cx="153316" cy="105840"/>
          </a:xfrm>
          <a:prstGeom prst="rect">
            <a:avLst/>
          </a:prstGeom>
          <a:noFill/>
        </p:spPr>
        <p:txBody>
          <a:bodyPr wrap="none" lIns="0" rIns="0" tIns="0" bIns="0" anchor="t"/>
          <a:lstStyle/>
          <a:p>
            <a:pPr algn="l">
              <a:lnSpc>
                <a:spcPts val="733"/>
              </a:lnSpc>
            </a:pPr>
            <a:r>
              <a:rPr sz="666" b="0" i="0">
                <a:solidFill>
                  <a:srgbClr val="FFFFFF"/>
                </a:solidFill>
                <a:latin typeface="Versos"/>
              </a:rPr>
              <a:t>FIP</a:t>
            </a:r>
          </a:p>
        </p:txBody>
      </p:sp>
      <p:sp>
        <p:nvSpPr>
          <p:cNvPr id="52" name="TextBox 51"/>
          <p:cNvSpPr txBox="1"/>
          <p:nvPr/>
        </p:nvSpPr>
        <p:spPr>
          <a:xfrm>
            <a:off x="5984094" y="6549676"/>
            <a:ext cx="200368" cy="105840"/>
          </a:xfrm>
          <a:prstGeom prst="rect">
            <a:avLst/>
          </a:prstGeom>
          <a:noFill/>
        </p:spPr>
        <p:txBody>
          <a:bodyPr wrap="none" lIns="0" rIns="0" tIns="0" bIns="0" anchor="t"/>
          <a:lstStyle/>
          <a:p>
            <a:pPr algn="l">
              <a:lnSpc>
                <a:spcPts val="666"/>
              </a:lnSpc>
            </a:pPr>
            <a:r>
              <a:rPr sz="666" b="1" i="0">
                <a:solidFill>
                  <a:srgbClr val="FFFFFF"/>
                </a:solidFill>
                <a:latin typeface="Versos"/>
              </a:rPr>
              <a:t>1,9%</a:t>
            </a:r>
          </a:p>
        </p:txBody>
      </p:sp>
      <p:sp>
        <p:nvSpPr>
          <p:cNvPr id="53" name="TextBox 52"/>
          <p:cNvSpPr txBox="1"/>
          <p:nvPr/>
        </p:nvSpPr>
        <p:spPr>
          <a:xfrm>
            <a:off x="529200" y="6743638"/>
            <a:ext cx="749630"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31,4%</a:t>
            </a:r>
          </a:p>
        </p:txBody>
      </p:sp>
      <p:sp>
        <p:nvSpPr>
          <p:cNvPr id="54" name="TextBox 53"/>
          <p:cNvSpPr txBox="1"/>
          <p:nvPr/>
        </p:nvSpPr>
        <p:spPr>
          <a:xfrm>
            <a:off x="1514598" y="6743638"/>
            <a:ext cx="735625"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27,3%</a:t>
            </a:r>
          </a:p>
        </p:txBody>
      </p:sp>
      <p:sp>
        <p:nvSpPr>
          <p:cNvPr id="55" name="TextBox 54"/>
          <p:cNvSpPr txBox="1"/>
          <p:nvPr/>
        </p:nvSpPr>
        <p:spPr>
          <a:xfrm>
            <a:off x="2486531" y="6743638"/>
            <a:ext cx="1228745"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 Sênior </a:t>
            </a:r>
            <a:r>
              <a:rPr sz="744" b="1" i="0">
                <a:solidFill>
                  <a:srgbClr val="111111"/>
                </a:solidFill>
                <a:latin typeface="Versos"/>
              </a:rPr>
              <a:t>20,5%</a:t>
            </a:r>
          </a:p>
        </p:txBody>
      </p:sp>
      <p:sp>
        <p:nvSpPr>
          <p:cNvPr id="56" name="TextBox 55"/>
          <p:cNvSpPr txBox="1"/>
          <p:nvPr/>
        </p:nvSpPr>
        <p:spPr>
          <a:xfrm>
            <a:off x="3932617" y="6743638"/>
            <a:ext cx="1061424"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18,9%</a:t>
            </a:r>
          </a:p>
        </p:txBody>
      </p:sp>
      <p:sp>
        <p:nvSpPr>
          <p:cNvPr id="57" name="TextBox 56"/>
          <p:cNvSpPr txBox="1"/>
          <p:nvPr/>
        </p:nvSpPr>
        <p:spPr>
          <a:xfrm>
            <a:off x="5217817" y="6743638"/>
            <a:ext cx="441768" cy="113400"/>
          </a:xfrm>
          <a:prstGeom prst="rect">
            <a:avLst/>
          </a:prstGeom>
          <a:noFill/>
        </p:spPr>
        <p:txBody>
          <a:bodyPr wrap="none" lIns="0" rIns="0" tIns="0" bIns="0" anchor="t"/>
          <a:lstStyle/>
          <a:p>
            <a:pPr algn="l">
              <a:lnSpc>
                <a:spcPts val="892"/>
              </a:lnSpc>
            </a:pPr>
            <a:r>
              <a:rPr sz="744" b="0" i="0">
                <a:solidFill>
                  <a:srgbClr val="333333"/>
                </a:solidFill>
                <a:latin typeface="Versos"/>
              </a:rPr>
              <a:t>FIP </a:t>
            </a:r>
            <a:r>
              <a:rPr sz="744" b="1" i="0">
                <a:solidFill>
                  <a:srgbClr val="111111"/>
                </a:solidFill>
                <a:latin typeface="Versos"/>
              </a:rPr>
              <a:t>1,9%</a:t>
            </a:r>
          </a:p>
        </p:txBody>
      </p:sp>
      <p:sp>
        <p:nvSpPr>
          <p:cNvPr id="58" name="TextBox 57"/>
          <p:cNvSpPr txBox="1"/>
          <p:nvPr/>
        </p:nvSpPr>
        <p:spPr>
          <a:xfrm>
            <a:off x="415800" y="7340878"/>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59" name="TextBox 58"/>
          <p:cNvSpPr txBox="1"/>
          <p:nvPr/>
        </p:nvSpPr>
        <p:spPr>
          <a:xfrm>
            <a:off x="415800" y="7839838"/>
            <a:ext cx="6728400" cy="222665"/>
          </a:xfrm>
          <a:prstGeom prst="rect">
            <a:avLst/>
          </a:prstGeom>
          <a:noFill/>
        </p:spPr>
        <p:txBody>
          <a:bodyPr wrap="square" lIns="0" rIns="0" tIns="0" bIns="0" anchor="t"/>
          <a:lstStyle/>
          <a:p>
            <a:pPr algn="just">
              <a:lnSpc>
                <a:spcPts val="860"/>
              </a:lnSpc>
            </a:pPr>
            <a:r>
              <a:rPr sz="729" b="0" i="0">
                <a:solidFill>
                  <a:srgbClr val="222222"/>
                </a:solidFill>
                <a:latin typeface="Versos"/>
              </a:rPr>
              <a:t>O Tivio ALT Light registrou rentabilidade de 1,03% no mês, equivalente a 95,47% do CDI no período. Desde o início da estratégia, o fundo acumula retorno de 13,76%, frente a 12,60% do CDI, o que corresponde a um desempenho anualizado de 109% do CDI.</a:t>
            </a:r>
          </a:p>
        </p:txBody>
      </p:sp>
      <p:sp>
        <p:nvSpPr>
          <p:cNvPr id="60" name="TextBox 59"/>
          <p:cNvSpPr txBox="1"/>
          <p:nvPr/>
        </p:nvSpPr>
        <p:spPr>
          <a:xfrm>
            <a:off x="415800" y="8113888"/>
            <a:ext cx="6728400" cy="331931"/>
          </a:xfrm>
          <a:prstGeom prst="rect">
            <a:avLst/>
          </a:prstGeom>
          <a:noFill/>
        </p:spPr>
        <p:txBody>
          <a:bodyPr wrap="square" lIns="0" rIns="0" tIns="0" bIns="0" anchor="t"/>
          <a:lstStyle/>
          <a:p>
            <a:pPr algn="just">
              <a:lnSpc>
                <a:spcPts val="860"/>
              </a:lnSpc>
            </a:pPr>
            <a:r>
              <a:rPr sz="729" b="0" i="0">
                <a:solidFill>
                  <a:srgbClr val="222222"/>
                </a:solidFill>
                <a:latin typeface="Versos"/>
              </a:rPr>
              <a:t>Em setembro, o mercado de crédito apresentou reabertura dos spreads e liquidez reduzida no mercado secundário. Os spreads médios dos títulos corporativos indexados ao CDI avançaram cerca de 5 bps, passando de CDI + 1,23% para CDI + 1,28% ao ano, interrompendo parcialmente o movimento de compressão observado nos últimos meses.</a:t>
            </a:r>
          </a:p>
        </p:txBody>
      </p:sp>
      <p:sp>
        <p:nvSpPr>
          <p:cNvPr id="61" name="TextBox 60"/>
          <p:cNvSpPr txBox="1"/>
          <p:nvPr/>
        </p:nvSpPr>
        <p:spPr>
          <a:xfrm>
            <a:off x="415800" y="8497203"/>
            <a:ext cx="6728400" cy="331931"/>
          </a:xfrm>
          <a:prstGeom prst="rect">
            <a:avLst/>
          </a:prstGeom>
          <a:noFill/>
        </p:spPr>
        <p:txBody>
          <a:bodyPr wrap="square" lIns="0" rIns="0" tIns="0" bIns="0" anchor="t"/>
          <a:lstStyle/>
          <a:p>
            <a:pPr algn="just">
              <a:lnSpc>
                <a:spcPts val="860"/>
              </a:lnSpc>
            </a:pPr>
            <a:r>
              <a:rPr sz="729" b="0" i="0">
                <a:solidFill>
                  <a:srgbClr val="222222"/>
                </a:solidFill>
                <a:latin typeface="Versos"/>
              </a:rPr>
              <a:t>No mercado secundário, a liquidez permaneceu limitada, especialmente em ativos corporativos, resultando em uma formação de preços mais seletiva. No mercado primário, as emissões bancárias seguiram registrando demanda consistente, embora com menor intensidade em comparação aos meses anteriores. Já o pipeline de emissões corporativas permaneceu restrito, mantendo a oferta de ativos em níveis reduzidos.</a:t>
            </a:r>
          </a:p>
        </p:txBody>
      </p:sp>
      <p:sp>
        <p:nvSpPr>
          <p:cNvPr id="62" name="TextBox 61"/>
          <p:cNvSpPr txBox="1"/>
          <p:nvPr/>
        </p:nvSpPr>
        <p:spPr>
          <a:xfrm>
            <a:off x="415800" y="8880519"/>
            <a:ext cx="6728400" cy="222665"/>
          </a:xfrm>
          <a:prstGeom prst="rect">
            <a:avLst/>
          </a:prstGeom>
          <a:noFill/>
        </p:spPr>
        <p:txBody>
          <a:bodyPr wrap="square" lIns="0" rIns="0" tIns="0" bIns="0" anchor="t"/>
          <a:lstStyle/>
          <a:p>
            <a:pPr algn="just">
              <a:lnSpc>
                <a:spcPts val="860"/>
              </a:lnSpc>
            </a:pPr>
            <a:r>
              <a:rPr sz="729" b="0" i="0">
                <a:solidFill>
                  <a:srgbClr val="222222"/>
                </a:solidFill>
                <a:latin typeface="Versos"/>
              </a:rPr>
              <a:t>Em relação aos fluxos, os fundos com alocação mínima de 15% em crédito e ao menos 1% em debêntures registraram resgates líquidos próximos de R$ 10 bilhões no período, movimento que contribuiu para a reabertura dos spreads e para uma piora da dinâmica técnica da classe.</a:t>
            </a:r>
          </a:p>
        </p:txBody>
      </p:sp>
      <p:sp>
        <p:nvSpPr>
          <p:cNvPr id="63" name="TextBox 62"/>
          <p:cNvSpPr txBox="1"/>
          <p:nvPr/>
        </p:nvSpPr>
        <p:spPr>
          <a:xfrm>
            <a:off x="415800" y="9154569"/>
            <a:ext cx="6728400" cy="331931"/>
          </a:xfrm>
          <a:prstGeom prst="rect">
            <a:avLst/>
          </a:prstGeom>
          <a:noFill/>
        </p:spPr>
        <p:txBody>
          <a:bodyPr wrap="square" lIns="0" rIns="0" tIns="0" bIns="0" anchor="t"/>
          <a:lstStyle/>
          <a:p>
            <a:pPr algn="just">
              <a:lnSpc>
                <a:spcPts val="860"/>
              </a:lnSpc>
            </a:pPr>
            <a:r>
              <a:rPr sz="729" b="0" i="0">
                <a:solidFill>
                  <a:srgbClr val="222222"/>
                </a:solidFill>
                <a:latin typeface="Versos"/>
              </a:rPr>
              <a:t>Apesar desse cenário, os fundamentos corporativos permanecem resilientes e os níveis de inadimplência seguem controlados. Sob a ótica da gestão, mantemos uma postura disciplinada e seletiva na alocação dos recursos, buscando capturar oportunidades geradas pela recente abertura dos spreads sem abrir mão da qualidade de crédito das carteiras.</a:t>
            </a:r>
          </a:p>
        </p:txBody>
      </p:sp>
      <p:sp>
        <p:nvSpPr>
          <p:cNvPr id="64" name="TextBox 63"/>
          <p:cNvSpPr txBox="1"/>
          <p:nvPr/>
        </p:nvSpPr>
        <p:spPr>
          <a:xfrm>
            <a:off x="415800" y="9537885"/>
            <a:ext cx="6728400" cy="331931"/>
          </a:xfrm>
          <a:prstGeom prst="rect">
            <a:avLst/>
          </a:prstGeom>
          <a:noFill/>
        </p:spPr>
        <p:txBody>
          <a:bodyPr wrap="square" lIns="0" rIns="0" tIns="0" bIns="0" anchor="t"/>
          <a:lstStyle/>
          <a:p>
            <a:pPr algn="just">
              <a:lnSpc>
                <a:spcPts val="860"/>
              </a:lnSpc>
            </a:pPr>
            <a:r>
              <a:rPr sz="729" b="0" i="0">
                <a:solidFill>
                  <a:srgbClr val="222222"/>
                </a:solidFill>
                <a:latin typeface="Versos"/>
              </a:rPr>
              <a:t>Em relação a parcela da carteira de crédito estruturado. ao longo do mês, a carteira manteve-se praticamente inalterada, com apenas ajustes pontuais associados à gestão cotidiana do portfólio. Seguimos investidos em operações com sólidos fundamentos de crédito, preservando uma diversificação adequada entre setores, emissores e diferentes estratégias de investimento</a:t>
            </a:r>
          </a:p>
        </p:txBody>
      </p:sp>
      <p:sp>
        <p:nvSpPr>
          <p:cNvPr id="65" name="TextBox 64"/>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289735" y="37422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00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Financeiro</a:t>
            </a:r>
          </a:p>
        </p:txBody>
      </p:sp>
      <p:sp>
        <p:nvSpPr>
          <p:cNvPr id="6" name="TextBox 5"/>
          <p:cNvSpPr txBox="1"/>
          <p:nvPr/>
        </p:nvSpPr>
        <p:spPr>
          <a:xfrm>
            <a:off x="3217488" y="1600357"/>
            <a:ext cx="402702" cy="120960"/>
          </a:xfrm>
          <a:prstGeom prst="rect">
            <a:avLst/>
          </a:prstGeom>
          <a:noFill/>
        </p:spPr>
        <p:txBody>
          <a:bodyPr wrap="none" lIns="0" rIns="0" tIns="0" bIns="0" anchor="t"/>
          <a:lstStyle/>
          <a:p>
            <a:pPr algn="l">
              <a:lnSpc>
                <a:spcPts val="971"/>
              </a:lnSpc>
            </a:pPr>
            <a:r>
              <a:rPr sz="809" b="0" i="0">
                <a:solidFill>
                  <a:srgbClr val="4F7A93"/>
                </a:solidFill>
                <a:latin typeface="Versos"/>
              </a:rPr>
              <a:t>39,63%</a:t>
            </a:r>
          </a:p>
        </p:txBody>
      </p:sp>
      <p:sp>
        <p:nvSpPr>
          <p:cNvPr id="7" name="TextBox 6"/>
          <p:cNvSpPr txBox="1"/>
          <p:nvPr/>
        </p:nvSpPr>
        <p:spPr>
          <a:xfrm>
            <a:off x="400680" y="1789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Caixa</a:t>
            </a:r>
          </a:p>
        </p:txBody>
      </p:sp>
      <p:sp>
        <p:nvSpPr>
          <p:cNvPr id="8" name="TextBox 7"/>
          <p:cNvSpPr txBox="1"/>
          <p:nvPr/>
        </p:nvSpPr>
        <p:spPr>
          <a:xfrm>
            <a:off x="3059791" y="1789357"/>
            <a:ext cx="408844" cy="120960"/>
          </a:xfrm>
          <a:prstGeom prst="rect">
            <a:avLst/>
          </a:prstGeom>
          <a:noFill/>
        </p:spPr>
        <p:txBody>
          <a:bodyPr wrap="none" lIns="0" rIns="0" tIns="0" bIns="0" anchor="t"/>
          <a:lstStyle/>
          <a:p>
            <a:pPr algn="l">
              <a:lnSpc>
                <a:spcPts val="971"/>
              </a:lnSpc>
            </a:pPr>
            <a:r>
              <a:rPr sz="809" b="0" i="0">
                <a:solidFill>
                  <a:srgbClr val="4F7A93"/>
                </a:solidFill>
                <a:latin typeface="Versos"/>
              </a:rPr>
              <a:t>34,38%</a:t>
            </a:r>
          </a:p>
        </p:txBody>
      </p:sp>
      <p:sp>
        <p:nvSpPr>
          <p:cNvPr id="9" name="TextBox 8"/>
          <p:cNvSpPr txBox="1"/>
          <p:nvPr/>
        </p:nvSpPr>
        <p:spPr>
          <a:xfrm>
            <a:off x="400680" y="1978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Indústria e Comércio</a:t>
            </a:r>
          </a:p>
        </p:txBody>
      </p:sp>
      <p:sp>
        <p:nvSpPr>
          <p:cNvPr id="10" name="TextBox 9"/>
          <p:cNvSpPr txBox="1"/>
          <p:nvPr/>
        </p:nvSpPr>
        <p:spPr>
          <a:xfrm>
            <a:off x="2519133" y="1978357"/>
            <a:ext cx="380097" cy="120960"/>
          </a:xfrm>
          <a:prstGeom prst="rect">
            <a:avLst/>
          </a:prstGeom>
          <a:noFill/>
        </p:spPr>
        <p:txBody>
          <a:bodyPr wrap="none" lIns="0" rIns="0" tIns="0" bIns="0" anchor="t"/>
          <a:lstStyle/>
          <a:p>
            <a:pPr algn="l">
              <a:lnSpc>
                <a:spcPts val="971"/>
              </a:lnSpc>
            </a:pPr>
            <a:r>
              <a:rPr sz="809" b="0" i="0">
                <a:solidFill>
                  <a:srgbClr val="4F7A93"/>
                </a:solidFill>
                <a:latin typeface="Versos"/>
              </a:rPr>
              <a:t>16,40%</a:t>
            </a:r>
          </a:p>
        </p:txBody>
      </p:sp>
      <p:sp>
        <p:nvSpPr>
          <p:cNvPr id="11" name="TextBox 10"/>
          <p:cNvSpPr txBox="1"/>
          <p:nvPr/>
        </p:nvSpPr>
        <p:spPr>
          <a:xfrm>
            <a:off x="400680" y="2167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Transporte e Logística</a:t>
            </a:r>
          </a:p>
        </p:txBody>
      </p:sp>
      <p:sp>
        <p:nvSpPr>
          <p:cNvPr id="12" name="TextBox 11"/>
          <p:cNvSpPr txBox="1"/>
          <p:nvPr/>
        </p:nvSpPr>
        <p:spPr>
          <a:xfrm>
            <a:off x="2218033" y="2167357"/>
            <a:ext cx="336977" cy="120960"/>
          </a:xfrm>
          <a:prstGeom prst="rect">
            <a:avLst/>
          </a:prstGeom>
          <a:noFill/>
        </p:spPr>
        <p:txBody>
          <a:bodyPr wrap="none" lIns="0" rIns="0" tIns="0" bIns="0" anchor="t"/>
          <a:lstStyle/>
          <a:p>
            <a:pPr algn="l">
              <a:lnSpc>
                <a:spcPts val="971"/>
              </a:lnSpc>
            </a:pPr>
            <a:r>
              <a:rPr sz="809" b="0" i="0">
                <a:solidFill>
                  <a:srgbClr val="4F7A93"/>
                </a:solidFill>
                <a:latin typeface="Versos"/>
              </a:rPr>
              <a:t>6,39%</a:t>
            </a:r>
          </a:p>
        </p:txBody>
      </p:sp>
      <p:sp>
        <p:nvSpPr>
          <p:cNvPr id="13" name="TextBox 12"/>
          <p:cNvSpPr txBox="1"/>
          <p:nvPr/>
        </p:nvSpPr>
        <p:spPr>
          <a:xfrm>
            <a:off x="400680" y="2356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Locação de veículos</a:t>
            </a:r>
          </a:p>
        </p:txBody>
      </p:sp>
      <p:sp>
        <p:nvSpPr>
          <p:cNvPr id="14" name="TextBox 13"/>
          <p:cNvSpPr txBox="1"/>
          <p:nvPr/>
        </p:nvSpPr>
        <p:spPr>
          <a:xfrm>
            <a:off x="2165821" y="2356357"/>
            <a:ext cx="333783" cy="120960"/>
          </a:xfrm>
          <a:prstGeom prst="rect">
            <a:avLst/>
          </a:prstGeom>
          <a:noFill/>
        </p:spPr>
        <p:txBody>
          <a:bodyPr wrap="none" lIns="0" rIns="0" tIns="0" bIns="0" anchor="t"/>
          <a:lstStyle/>
          <a:p>
            <a:pPr algn="l">
              <a:lnSpc>
                <a:spcPts val="971"/>
              </a:lnSpc>
            </a:pPr>
            <a:r>
              <a:rPr sz="809" b="0" i="0">
                <a:solidFill>
                  <a:srgbClr val="4F7A93"/>
                </a:solidFill>
                <a:latin typeface="Versos"/>
              </a:rPr>
              <a:t>4,65%</a:t>
            </a:r>
          </a:p>
        </p:txBody>
      </p:sp>
      <p:sp>
        <p:nvSpPr>
          <p:cNvPr id="15" name="TextBox 14"/>
          <p:cNvSpPr txBox="1"/>
          <p:nvPr/>
        </p:nvSpPr>
        <p:spPr>
          <a:xfrm>
            <a:off x="400680" y="2545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Consignados</a:t>
            </a:r>
          </a:p>
        </p:txBody>
      </p:sp>
      <p:sp>
        <p:nvSpPr>
          <p:cNvPr id="16" name="TextBox 15"/>
          <p:cNvSpPr txBox="1"/>
          <p:nvPr/>
        </p:nvSpPr>
        <p:spPr>
          <a:xfrm>
            <a:off x="2152710" y="2545357"/>
            <a:ext cx="333414" cy="120960"/>
          </a:xfrm>
          <a:prstGeom prst="rect">
            <a:avLst/>
          </a:prstGeom>
          <a:noFill/>
        </p:spPr>
        <p:txBody>
          <a:bodyPr wrap="none" lIns="0" rIns="0" tIns="0" bIns="0" anchor="t"/>
          <a:lstStyle/>
          <a:p>
            <a:pPr algn="l">
              <a:lnSpc>
                <a:spcPts val="971"/>
              </a:lnSpc>
            </a:pPr>
            <a:r>
              <a:rPr sz="809" b="0" i="0">
                <a:solidFill>
                  <a:srgbClr val="4F7A93"/>
                </a:solidFill>
                <a:latin typeface="Versos"/>
              </a:rPr>
              <a:t>4,22%</a:t>
            </a:r>
          </a:p>
        </p:txBody>
      </p:sp>
      <p:sp>
        <p:nvSpPr>
          <p:cNvPr id="17" name="TextBox 16"/>
          <p:cNvSpPr txBox="1"/>
          <p:nvPr/>
        </p:nvSpPr>
        <p:spPr>
          <a:xfrm>
            <a:off x="400680" y="2734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Crédito PF</a:t>
            </a:r>
          </a:p>
        </p:txBody>
      </p:sp>
      <p:sp>
        <p:nvSpPr>
          <p:cNvPr id="18" name="TextBox 17"/>
          <p:cNvSpPr txBox="1"/>
          <p:nvPr/>
        </p:nvSpPr>
        <p:spPr>
          <a:xfrm>
            <a:off x="2131447" y="2734357"/>
            <a:ext cx="300736" cy="120960"/>
          </a:xfrm>
          <a:prstGeom prst="rect">
            <a:avLst/>
          </a:prstGeom>
          <a:noFill/>
        </p:spPr>
        <p:txBody>
          <a:bodyPr wrap="none" lIns="0" rIns="0" tIns="0" bIns="0" anchor="t"/>
          <a:lstStyle/>
          <a:p>
            <a:pPr algn="l">
              <a:lnSpc>
                <a:spcPts val="971"/>
              </a:lnSpc>
            </a:pPr>
            <a:r>
              <a:rPr sz="809" b="0" i="0">
                <a:solidFill>
                  <a:srgbClr val="4F7A93"/>
                </a:solidFill>
                <a:latin typeface="Versos"/>
              </a:rPr>
              <a:t>3,51%</a:t>
            </a:r>
          </a:p>
        </p:txBody>
      </p:sp>
      <p:sp>
        <p:nvSpPr>
          <p:cNvPr id="19" name="TextBox 18"/>
          <p:cNvSpPr txBox="1"/>
          <p:nvPr/>
        </p:nvSpPr>
        <p:spPr>
          <a:xfrm>
            <a:off x="400680" y="2923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Comércio atacadista e varejista</a:t>
            </a:r>
          </a:p>
        </p:txBody>
      </p:sp>
      <p:sp>
        <p:nvSpPr>
          <p:cNvPr id="20" name="TextBox 19"/>
          <p:cNvSpPr txBox="1"/>
          <p:nvPr/>
        </p:nvSpPr>
        <p:spPr>
          <a:xfrm>
            <a:off x="2129321" y="2923357"/>
            <a:ext cx="332800" cy="120960"/>
          </a:xfrm>
          <a:prstGeom prst="rect">
            <a:avLst/>
          </a:prstGeom>
          <a:noFill/>
        </p:spPr>
        <p:txBody>
          <a:bodyPr wrap="none" lIns="0" rIns="0" tIns="0" bIns="0" anchor="t"/>
          <a:lstStyle/>
          <a:p>
            <a:pPr algn="l">
              <a:lnSpc>
                <a:spcPts val="971"/>
              </a:lnSpc>
            </a:pPr>
            <a:r>
              <a:rPr sz="809" b="0" i="0">
                <a:solidFill>
                  <a:srgbClr val="4F7A93"/>
                </a:solidFill>
                <a:latin typeface="Versos"/>
              </a:rPr>
              <a:t>3,44%</a:t>
            </a:r>
          </a:p>
        </p:txBody>
      </p:sp>
      <p:sp>
        <p:nvSpPr>
          <p:cNvPr id="21" name="TextBox 20"/>
          <p:cNvSpPr txBox="1"/>
          <p:nvPr/>
        </p:nvSpPr>
        <p:spPr>
          <a:xfrm>
            <a:off x="400680" y="3112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Energia Elétrica</a:t>
            </a:r>
          </a:p>
        </p:txBody>
      </p:sp>
      <p:sp>
        <p:nvSpPr>
          <p:cNvPr id="22" name="TextBox 21"/>
          <p:cNvSpPr txBox="1"/>
          <p:nvPr/>
        </p:nvSpPr>
        <p:spPr>
          <a:xfrm>
            <a:off x="2114083" y="3112357"/>
            <a:ext cx="333414" cy="120960"/>
          </a:xfrm>
          <a:prstGeom prst="rect">
            <a:avLst/>
          </a:prstGeom>
          <a:noFill/>
        </p:spPr>
        <p:txBody>
          <a:bodyPr wrap="none" lIns="0" rIns="0" tIns="0" bIns="0" anchor="t"/>
          <a:lstStyle/>
          <a:p>
            <a:pPr algn="l">
              <a:lnSpc>
                <a:spcPts val="971"/>
              </a:lnSpc>
            </a:pPr>
            <a:r>
              <a:rPr sz="809" b="0" i="0">
                <a:solidFill>
                  <a:srgbClr val="4F7A93"/>
                </a:solidFill>
                <a:latin typeface="Versos"/>
              </a:rPr>
              <a:t>2,93%</a:t>
            </a:r>
          </a:p>
        </p:txBody>
      </p:sp>
      <p:sp>
        <p:nvSpPr>
          <p:cNvPr id="23" name="TextBox 22"/>
          <p:cNvSpPr txBox="1"/>
          <p:nvPr/>
        </p:nvSpPr>
        <p:spPr>
          <a:xfrm>
            <a:off x="400680" y="3301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Varejo Eletrodoméstico</a:t>
            </a:r>
          </a:p>
        </p:txBody>
      </p:sp>
      <p:sp>
        <p:nvSpPr>
          <p:cNvPr id="24" name="TextBox 23"/>
          <p:cNvSpPr txBox="1"/>
          <p:nvPr/>
        </p:nvSpPr>
        <p:spPr>
          <a:xfrm>
            <a:off x="2096718" y="3301357"/>
            <a:ext cx="335994" cy="120960"/>
          </a:xfrm>
          <a:prstGeom prst="rect">
            <a:avLst/>
          </a:prstGeom>
          <a:noFill/>
        </p:spPr>
        <p:txBody>
          <a:bodyPr wrap="none" lIns="0" rIns="0" tIns="0" bIns="0" anchor="t"/>
          <a:lstStyle/>
          <a:p>
            <a:pPr algn="l">
              <a:lnSpc>
                <a:spcPts val="971"/>
              </a:lnSpc>
            </a:pPr>
            <a:r>
              <a:rPr sz="809" b="0" i="0">
                <a:solidFill>
                  <a:srgbClr val="4F7A93"/>
                </a:solidFill>
                <a:latin typeface="Versos"/>
              </a:rPr>
              <a:t>2,36%</a:t>
            </a:r>
          </a:p>
        </p:txBody>
      </p:sp>
      <p:sp>
        <p:nvSpPr>
          <p:cNvPr id="25" name="TextBox 24"/>
          <p:cNvSpPr txBox="1"/>
          <p:nvPr/>
        </p:nvSpPr>
        <p:spPr>
          <a:xfrm>
            <a:off x="400680" y="3490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Serviços Imobiliários</a:t>
            </a:r>
          </a:p>
        </p:txBody>
      </p:sp>
      <p:sp>
        <p:nvSpPr>
          <p:cNvPr id="26" name="TextBox 25"/>
          <p:cNvSpPr txBox="1"/>
          <p:nvPr/>
        </p:nvSpPr>
        <p:spPr>
          <a:xfrm>
            <a:off x="2085496" y="3490357"/>
            <a:ext cx="309950" cy="120960"/>
          </a:xfrm>
          <a:prstGeom prst="rect">
            <a:avLst/>
          </a:prstGeom>
          <a:noFill/>
        </p:spPr>
        <p:txBody>
          <a:bodyPr wrap="none" lIns="0" rIns="0" tIns="0" bIns="0" anchor="t"/>
          <a:lstStyle/>
          <a:p>
            <a:pPr algn="l">
              <a:lnSpc>
                <a:spcPts val="971"/>
              </a:lnSpc>
            </a:pPr>
            <a:r>
              <a:rPr sz="809" b="0" i="0">
                <a:solidFill>
                  <a:srgbClr val="4F7A93"/>
                </a:solidFill>
                <a:latin typeface="Versos"/>
              </a:rPr>
              <a:t>1,98%</a:t>
            </a:r>
          </a:p>
        </p:txBody>
      </p:sp>
      <p:sp>
        <p:nvSpPr>
          <p:cNvPr id="27" name="TextBox 26"/>
          <p:cNvSpPr txBox="1"/>
          <p:nvPr/>
        </p:nvSpPr>
        <p:spPr>
          <a:xfrm>
            <a:off x="400680" y="3679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TI e Telecomunicações</a:t>
            </a:r>
          </a:p>
        </p:txBody>
      </p:sp>
      <p:sp>
        <p:nvSpPr>
          <p:cNvPr id="28" name="TextBox 27"/>
          <p:cNvSpPr txBox="1"/>
          <p:nvPr/>
        </p:nvSpPr>
        <p:spPr>
          <a:xfrm>
            <a:off x="2078881" y="3679357"/>
            <a:ext cx="299999" cy="120960"/>
          </a:xfrm>
          <a:prstGeom prst="rect">
            <a:avLst/>
          </a:prstGeom>
          <a:noFill/>
        </p:spPr>
        <p:txBody>
          <a:bodyPr wrap="none" lIns="0" rIns="0" tIns="0" bIns="0" anchor="t"/>
          <a:lstStyle/>
          <a:p>
            <a:pPr algn="l">
              <a:lnSpc>
                <a:spcPts val="971"/>
              </a:lnSpc>
            </a:pPr>
            <a:r>
              <a:rPr sz="809" b="0" i="0">
                <a:solidFill>
                  <a:srgbClr val="4F7A93"/>
                </a:solidFill>
                <a:latin typeface="Versos"/>
              </a:rPr>
              <a:t>1,76%</a:t>
            </a:r>
          </a:p>
        </p:txBody>
      </p:sp>
      <p:sp>
        <p:nvSpPr>
          <p:cNvPr id="29" name="TextBox 28"/>
          <p:cNvSpPr txBox="1"/>
          <p:nvPr/>
        </p:nvSpPr>
        <p:spPr>
          <a:xfrm>
            <a:off x="400680" y="3868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Assistência médica</a:t>
            </a:r>
          </a:p>
        </p:txBody>
      </p:sp>
      <p:sp>
        <p:nvSpPr>
          <p:cNvPr id="30" name="TextBox 29"/>
          <p:cNvSpPr txBox="1"/>
          <p:nvPr/>
        </p:nvSpPr>
        <p:spPr>
          <a:xfrm>
            <a:off x="2076046" y="3868357"/>
            <a:ext cx="297297" cy="120960"/>
          </a:xfrm>
          <a:prstGeom prst="rect">
            <a:avLst/>
          </a:prstGeom>
          <a:noFill/>
        </p:spPr>
        <p:txBody>
          <a:bodyPr wrap="none" lIns="0" rIns="0" tIns="0" bIns="0" anchor="t"/>
          <a:lstStyle/>
          <a:p>
            <a:pPr algn="l">
              <a:lnSpc>
                <a:spcPts val="971"/>
              </a:lnSpc>
            </a:pPr>
            <a:r>
              <a:rPr sz="809" b="0" i="0">
                <a:solidFill>
                  <a:srgbClr val="4F7A93"/>
                </a:solidFill>
                <a:latin typeface="Versos"/>
              </a:rPr>
              <a:t>1,67%</a:t>
            </a:r>
          </a:p>
        </p:txBody>
      </p:sp>
      <p:sp>
        <p:nvSpPr>
          <p:cNvPr id="31" name="TextBox 30"/>
          <p:cNvSpPr txBox="1"/>
          <p:nvPr/>
        </p:nvSpPr>
        <p:spPr>
          <a:xfrm>
            <a:off x="400680" y="4057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Saneamento</a:t>
            </a:r>
          </a:p>
        </p:txBody>
      </p:sp>
      <p:sp>
        <p:nvSpPr>
          <p:cNvPr id="32" name="TextBox 31"/>
          <p:cNvSpPr txBox="1"/>
          <p:nvPr/>
        </p:nvSpPr>
        <p:spPr>
          <a:xfrm>
            <a:off x="2073330" y="4057357"/>
            <a:ext cx="309459" cy="120960"/>
          </a:xfrm>
          <a:prstGeom prst="rect">
            <a:avLst/>
          </a:prstGeom>
          <a:noFill/>
        </p:spPr>
        <p:txBody>
          <a:bodyPr wrap="none" lIns="0" rIns="0" tIns="0" bIns="0" anchor="t"/>
          <a:lstStyle/>
          <a:p>
            <a:pPr algn="l">
              <a:lnSpc>
                <a:spcPts val="971"/>
              </a:lnSpc>
            </a:pPr>
            <a:r>
              <a:rPr sz="809" b="0" i="0">
                <a:solidFill>
                  <a:srgbClr val="4F7A93"/>
                </a:solidFill>
                <a:latin typeface="Versos"/>
              </a:rPr>
              <a:t>1,58%</a:t>
            </a:r>
          </a:p>
        </p:txBody>
      </p:sp>
      <p:sp>
        <p:nvSpPr>
          <p:cNvPr id="33" name="TextBox 32"/>
          <p:cNvSpPr txBox="1"/>
          <p:nvPr/>
        </p:nvSpPr>
        <p:spPr>
          <a:xfrm>
            <a:off x="400680" y="4246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Agropecuária</a:t>
            </a:r>
          </a:p>
        </p:txBody>
      </p:sp>
      <p:sp>
        <p:nvSpPr>
          <p:cNvPr id="34" name="TextBox 33"/>
          <p:cNvSpPr txBox="1"/>
          <p:nvPr/>
        </p:nvSpPr>
        <p:spPr>
          <a:xfrm>
            <a:off x="2049350" y="4246357"/>
            <a:ext cx="329238" cy="120960"/>
          </a:xfrm>
          <a:prstGeom prst="rect">
            <a:avLst/>
          </a:prstGeom>
          <a:noFill/>
        </p:spPr>
        <p:txBody>
          <a:bodyPr wrap="none" lIns="0" rIns="0" tIns="0" bIns="0" anchor="t"/>
          <a:lstStyle/>
          <a:p>
            <a:pPr algn="l">
              <a:lnSpc>
                <a:spcPts val="971"/>
              </a:lnSpc>
            </a:pPr>
            <a:r>
              <a:rPr sz="809" b="0" i="0">
                <a:solidFill>
                  <a:srgbClr val="4F7A93"/>
                </a:solidFill>
                <a:latin typeface="Versos"/>
              </a:rPr>
              <a:t>0,78%</a:t>
            </a:r>
          </a:p>
        </p:txBody>
      </p:sp>
      <p:sp>
        <p:nvSpPr>
          <p:cNvPr id="35" name="TextBox 34"/>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6" name="TextBox 35"/>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7" name="TextBox 36"/>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8" name="TextBox 37"/>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9" name="TextBox 38"/>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40" name="TextBox 39"/>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41" name="TextBox 40"/>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42" name="TextBox 41"/>
          <p:cNvSpPr txBox="1"/>
          <p:nvPr/>
        </p:nvSpPr>
        <p:spPr>
          <a:xfrm>
            <a:off x="551880" y="5476275"/>
            <a:ext cx="2044224"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43" name="TextBox 42"/>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44" name="TextBox 43"/>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1,17%</a:t>
            </a:r>
          </a:p>
        </p:txBody>
      </p:sp>
      <p:sp>
        <p:nvSpPr>
          <p:cNvPr id="46" name="TextBox 45"/>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7" name="TextBox 46"/>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8" name="TextBox 47"/>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−0,58%</a:t>
            </a:r>
          </a:p>
        </p:txBody>
      </p:sp>
      <p:sp>
        <p:nvSpPr>
          <p:cNvPr id="49" name="TextBox 48"/>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50" name="TextBox 49"/>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51" name="TextBox 50"/>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289735" y="374220"/>
            <a:ext cx="1458475" cy="189000"/>
          </a:xfrm>
          <a:prstGeom prst="rect">
            <a:avLst/>
          </a:prstGeom>
          <a:noFill/>
        </p:spPr>
        <p:txBody>
          <a:bodyPr wrap="none" lIns="0" rIns="0" tIns="0" bIns="0" anchor="t"/>
          <a:lstStyle/>
          <a:p>
            <a:pPr algn="l">
              <a:lnSpc>
                <a:spcPts val="1500"/>
              </a:lnSpc>
            </a:pPr>
            <a:r>
              <a:rPr sz="1250" b="0" i="0">
                <a:solidFill>
                  <a:srgbClr val="FFFFFF"/>
                </a:solidFill>
                <a:latin typeface="Versos"/>
              </a:rPr>
              <a:t>Setembro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qualificado</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11/11/2025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15% do retorno que exceder CDI+0,65%</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D+50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R$ 20.571.241,16</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R$ 19.052.692,02</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29" name="TextBox 28"/>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