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1005480"/>
            <a:ext cx="6266332" cy="173880"/>
          </a:xfrm>
          <a:prstGeom prst="rect">
            <a:avLst/>
          </a:prstGeom>
          <a:noFill/>
        </p:spPr>
        <p:txBody>
          <a:bodyPr wrap="none" lIns="0" rIns="0" tIns="0" bIns="0" anchor="t"/>
          <a:lstStyle/>
          <a:p>
            <a:pPr algn="l">
              <a:lnSpc>
                <a:spcPts val="1321"/>
              </a:lnSpc>
            </a:pPr>
            <a:r>
              <a:rPr sz="1101" b="0" i="0">
                <a:solidFill>
                  <a:srgbClr val="FFFFFF"/>
                </a:solidFill>
                <a:latin typeface="Versos"/>
              </a:rPr>
              <a:t>TIVIO ALT LIGHT XP PREV </a:t>
            </a:r>
            <a:r>
              <a:rPr sz="903" b="0" i="0">
                <a:solidFill>
                  <a:srgbClr val="FFFFFF"/>
                </a:solidFill>
                <a:latin typeface="Versos"/>
              </a:rPr>
              <a:t>/ CNPJ 53.991.177/0001-63</a:t>
            </a:r>
          </a:p>
        </p:txBody>
      </p:sp>
      <p:sp>
        <p:nvSpPr>
          <p:cNvPr id="4" name="TextBox 3"/>
          <p:cNvSpPr txBox="1"/>
          <p:nvPr/>
        </p:nvSpPr>
        <p:spPr>
          <a:xfrm>
            <a:off x="400680" y="140616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85560" y="1980720"/>
            <a:ext cx="7044710" cy="151200"/>
          </a:xfrm>
          <a:prstGeom prst="rect">
            <a:avLst/>
          </a:prstGeom>
          <a:noFill/>
        </p:spPr>
        <p:txBody>
          <a:bodyPr wrap="none" lIns="0" rIns="0" tIns="0" bIns="0" anchor="t"/>
          <a:lstStyle/>
          <a:p>
            <a:pPr algn="l">
              <a:lnSpc>
                <a:spcPts val="1214"/>
              </a:lnSpc>
            </a:pPr>
            <a:r>
              <a:rPr sz="1012" b="0" i="0">
                <a:solidFill>
                  <a:srgbClr val="FFFFFF"/>
                </a:solidFill>
                <a:latin typeface="Versos"/>
              </a:rPr>
              <a:t>OBJETIVO DA CARTEIRA</a:t>
            </a:r>
          </a:p>
        </p:txBody>
      </p:sp>
      <p:sp>
        <p:nvSpPr>
          <p:cNvPr id="6" name="TextBox 5"/>
          <p:cNvSpPr txBox="1"/>
          <p:nvPr/>
        </p:nvSpPr>
        <p:spPr>
          <a:xfrm>
            <a:off x="385560" y="2154600"/>
            <a:ext cx="6773760" cy="367368"/>
          </a:xfrm>
          <a:prstGeom prst="rect">
            <a:avLst/>
          </a:prstGeom>
          <a:noFill/>
        </p:spPr>
        <p:txBody>
          <a:bodyPr wrap="square" lIns="0" rIns="0" tIns="0" bIns="0" anchor="t"/>
          <a:lstStyle/>
          <a:p>
            <a:pPr algn="l">
              <a:lnSpc>
                <a:spcPts val="1464"/>
              </a:lnSpc>
            </a:pPr>
            <a:r>
              <a:rPr sz="1220" b="0" i="0">
                <a:solidFill>
                  <a:srgbClr val="FFFFFF"/>
                </a:solidFill>
                <a:latin typeface="Versos"/>
              </a:rPr>
              <a:t>Fundo de previdência de crédito com parcela máxima permitida em crédito estruturado. Além disso aloca em crédito privado e bancários.</a:t>
            </a:r>
          </a:p>
        </p:txBody>
      </p:sp>
      <p:sp>
        <p:nvSpPr>
          <p:cNvPr id="7" name="TextBox 6"/>
          <p:cNvSpPr txBox="1"/>
          <p:nvPr/>
        </p:nvSpPr>
        <p:spPr>
          <a:xfrm>
            <a:off x="115668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Mês</a:t>
            </a:r>
          </a:p>
        </p:txBody>
      </p:sp>
      <p:sp>
        <p:nvSpPr>
          <p:cNvPr id="8" name="TextBox 7"/>
          <p:cNvSpPr txBox="1"/>
          <p:nvPr/>
        </p:nvSpPr>
        <p:spPr>
          <a:xfrm>
            <a:off x="216216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Ano</a:t>
            </a:r>
          </a:p>
        </p:txBody>
      </p:sp>
      <p:sp>
        <p:nvSpPr>
          <p:cNvPr id="9" name="TextBox 8"/>
          <p:cNvSpPr txBox="1"/>
          <p:nvPr/>
        </p:nvSpPr>
        <p:spPr>
          <a:xfrm>
            <a:off x="316764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12M</a:t>
            </a:r>
          </a:p>
        </p:txBody>
      </p:sp>
      <p:sp>
        <p:nvSpPr>
          <p:cNvPr id="10" name="TextBox 9"/>
          <p:cNvSpPr txBox="1"/>
          <p:nvPr/>
        </p:nvSpPr>
        <p:spPr>
          <a:xfrm>
            <a:off x="417312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24M</a:t>
            </a:r>
          </a:p>
        </p:txBody>
      </p:sp>
      <p:sp>
        <p:nvSpPr>
          <p:cNvPr id="11" name="TextBox 10"/>
          <p:cNvSpPr txBox="1"/>
          <p:nvPr/>
        </p:nvSpPr>
        <p:spPr>
          <a:xfrm>
            <a:off x="517860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36M</a:t>
            </a:r>
          </a:p>
        </p:txBody>
      </p:sp>
      <p:sp>
        <p:nvSpPr>
          <p:cNvPr id="12" name="TextBox 11"/>
          <p:cNvSpPr txBox="1"/>
          <p:nvPr/>
        </p:nvSpPr>
        <p:spPr>
          <a:xfrm>
            <a:off x="6184080" y="2662537"/>
            <a:ext cx="982800" cy="143640"/>
          </a:xfrm>
          <a:prstGeom prst="rect">
            <a:avLst/>
          </a:prstGeom>
          <a:noFill/>
        </p:spPr>
        <p:txBody>
          <a:bodyPr wrap="none" lIns="0" rIns="0" tIns="0" bIns="0" anchor="t"/>
          <a:lstStyle/>
          <a:p>
            <a:pPr algn="ctr">
              <a:lnSpc>
                <a:spcPts val="1142"/>
              </a:lnSpc>
            </a:pPr>
            <a:r>
              <a:rPr sz="952" b="1" i="0">
                <a:solidFill>
                  <a:srgbClr val="FFFFFF"/>
                </a:solidFill>
                <a:latin typeface="Versos"/>
              </a:rPr>
              <a:t>Desde o Início</a:t>
            </a:r>
          </a:p>
        </p:txBody>
      </p:sp>
      <p:sp>
        <p:nvSpPr>
          <p:cNvPr id="13" name="TextBox 12"/>
          <p:cNvSpPr txBox="1"/>
          <p:nvPr/>
        </p:nvSpPr>
        <p:spPr>
          <a:xfrm>
            <a:off x="370440" y="302163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Fundo</a:t>
            </a:r>
          </a:p>
        </p:txBody>
      </p:sp>
      <p:sp>
        <p:nvSpPr>
          <p:cNvPr id="14" name="TextBox 13"/>
          <p:cNvSpPr txBox="1"/>
          <p:nvPr/>
        </p:nvSpPr>
        <p:spPr>
          <a:xfrm>
            <a:off x="115668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1,03%</a:t>
            </a:r>
          </a:p>
        </p:txBody>
      </p:sp>
      <p:sp>
        <p:nvSpPr>
          <p:cNvPr id="15" name="TextBox 14"/>
          <p:cNvSpPr txBox="1"/>
          <p:nvPr/>
        </p:nvSpPr>
        <p:spPr>
          <a:xfrm>
            <a:off x="216216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10,64%</a:t>
            </a:r>
          </a:p>
        </p:txBody>
      </p:sp>
      <p:sp>
        <p:nvSpPr>
          <p:cNvPr id="16" name="TextBox 15"/>
          <p:cNvSpPr txBox="1"/>
          <p:nvPr/>
        </p:nvSpPr>
        <p:spPr>
          <a:xfrm>
            <a:off x="316764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7" name="TextBox 16"/>
          <p:cNvSpPr txBox="1"/>
          <p:nvPr/>
        </p:nvSpPr>
        <p:spPr>
          <a:xfrm>
            <a:off x="417312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8" name="TextBox 17"/>
          <p:cNvSpPr txBox="1"/>
          <p:nvPr/>
        </p:nvSpPr>
        <p:spPr>
          <a:xfrm>
            <a:off x="517860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a:t>
            </a:r>
          </a:p>
        </p:txBody>
      </p:sp>
      <p:sp>
        <p:nvSpPr>
          <p:cNvPr id="19" name="TextBox 18"/>
          <p:cNvSpPr txBox="1"/>
          <p:nvPr/>
        </p:nvSpPr>
        <p:spPr>
          <a:xfrm>
            <a:off x="6184080" y="3017857"/>
            <a:ext cx="982800" cy="151200"/>
          </a:xfrm>
          <a:prstGeom prst="rect">
            <a:avLst/>
          </a:prstGeom>
          <a:noFill/>
        </p:spPr>
        <p:txBody>
          <a:bodyPr wrap="none" lIns="0" rIns="0" tIns="0" bIns="0" anchor="t"/>
          <a:lstStyle/>
          <a:p>
            <a:pPr algn="ctr">
              <a:lnSpc>
                <a:spcPts val="1214"/>
              </a:lnSpc>
            </a:pPr>
            <a:r>
              <a:rPr sz="1012" b="1" i="0">
                <a:solidFill>
                  <a:srgbClr val="A8F0C6"/>
                </a:solidFill>
                <a:latin typeface="Versos"/>
              </a:rPr>
              <a:t>13,76%</a:t>
            </a:r>
          </a:p>
        </p:txBody>
      </p:sp>
      <p:sp>
        <p:nvSpPr>
          <p:cNvPr id="20" name="TextBox 19"/>
          <p:cNvSpPr txBox="1"/>
          <p:nvPr/>
        </p:nvSpPr>
        <p:spPr>
          <a:xfrm>
            <a:off x="370440" y="340719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21" name="TextBox 20"/>
          <p:cNvSpPr txBox="1"/>
          <p:nvPr/>
        </p:nvSpPr>
        <p:spPr>
          <a:xfrm>
            <a:off x="115668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1,08%</a:t>
            </a:r>
          </a:p>
        </p:txBody>
      </p:sp>
      <p:sp>
        <p:nvSpPr>
          <p:cNvPr id="22" name="TextBox 21"/>
          <p:cNvSpPr txBox="1"/>
          <p:nvPr/>
        </p:nvSpPr>
        <p:spPr>
          <a:xfrm>
            <a:off x="216216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10,51%</a:t>
            </a:r>
          </a:p>
        </p:txBody>
      </p:sp>
      <p:sp>
        <p:nvSpPr>
          <p:cNvPr id="23" name="TextBox 22"/>
          <p:cNvSpPr txBox="1"/>
          <p:nvPr/>
        </p:nvSpPr>
        <p:spPr>
          <a:xfrm>
            <a:off x="316764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4" name="TextBox 23"/>
          <p:cNvSpPr txBox="1"/>
          <p:nvPr/>
        </p:nvSpPr>
        <p:spPr>
          <a:xfrm>
            <a:off x="417312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5" name="TextBox 24"/>
          <p:cNvSpPr txBox="1"/>
          <p:nvPr/>
        </p:nvSpPr>
        <p:spPr>
          <a:xfrm>
            <a:off x="517860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26" name="TextBox 25"/>
          <p:cNvSpPr txBox="1"/>
          <p:nvPr/>
        </p:nvSpPr>
        <p:spPr>
          <a:xfrm>
            <a:off x="6184080" y="340341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12,60%</a:t>
            </a:r>
          </a:p>
        </p:txBody>
      </p:sp>
      <p:sp>
        <p:nvSpPr>
          <p:cNvPr id="27" name="TextBox 26"/>
          <p:cNvSpPr txBox="1"/>
          <p:nvPr/>
        </p:nvSpPr>
        <p:spPr>
          <a:xfrm>
            <a:off x="370440" y="379275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a:t>
            </a:r>
          </a:p>
        </p:txBody>
      </p:sp>
      <p:sp>
        <p:nvSpPr>
          <p:cNvPr id="28" name="TextBox 27"/>
          <p:cNvSpPr txBox="1"/>
          <p:nvPr/>
        </p:nvSpPr>
        <p:spPr>
          <a:xfrm>
            <a:off x="115668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95,47%</a:t>
            </a:r>
          </a:p>
        </p:txBody>
      </p:sp>
      <p:sp>
        <p:nvSpPr>
          <p:cNvPr id="29" name="TextBox 28"/>
          <p:cNvSpPr txBox="1"/>
          <p:nvPr/>
        </p:nvSpPr>
        <p:spPr>
          <a:xfrm>
            <a:off x="216216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101,22%</a:t>
            </a:r>
          </a:p>
        </p:txBody>
      </p:sp>
      <p:sp>
        <p:nvSpPr>
          <p:cNvPr id="30" name="TextBox 29"/>
          <p:cNvSpPr txBox="1"/>
          <p:nvPr/>
        </p:nvSpPr>
        <p:spPr>
          <a:xfrm>
            <a:off x="316764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1" name="TextBox 30"/>
          <p:cNvSpPr txBox="1"/>
          <p:nvPr/>
        </p:nvSpPr>
        <p:spPr>
          <a:xfrm>
            <a:off x="417312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2" name="TextBox 31"/>
          <p:cNvSpPr txBox="1"/>
          <p:nvPr/>
        </p:nvSpPr>
        <p:spPr>
          <a:xfrm>
            <a:off x="517860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3" name="TextBox 32"/>
          <p:cNvSpPr txBox="1"/>
          <p:nvPr/>
        </p:nvSpPr>
        <p:spPr>
          <a:xfrm>
            <a:off x="6184080" y="378897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109,18%</a:t>
            </a:r>
          </a:p>
        </p:txBody>
      </p:sp>
      <p:sp>
        <p:nvSpPr>
          <p:cNvPr id="34" name="TextBox 33"/>
          <p:cNvSpPr txBox="1"/>
          <p:nvPr/>
        </p:nvSpPr>
        <p:spPr>
          <a:xfrm>
            <a:off x="370440" y="4178317"/>
            <a:ext cx="754790" cy="143640"/>
          </a:xfrm>
          <a:prstGeom prst="rect">
            <a:avLst/>
          </a:prstGeom>
          <a:noFill/>
        </p:spPr>
        <p:txBody>
          <a:bodyPr wrap="none" lIns="0" rIns="0" tIns="0" bIns="0" anchor="t"/>
          <a:lstStyle/>
          <a:p>
            <a:pPr algn="l">
              <a:lnSpc>
                <a:spcPts val="1142"/>
              </a:lnSpc>
            </a:pPr>
            <a:r>
              <a:rPr sz="952" b="1" i="0">
                <a:solidFill>
                  <a:srgbClr val="FFFFFF"/>
                </a:solidFill>
                <a:latin typeface="Versos"/>
              </a:rPr>
              <a:t>CDI+</a:t>
            </a:r>
          </a:p>
        </p:txBody>
      </p:sp>
      <p:sp>
        <p:nvSpPr>
          <p:cNvPr id="35" name="TextBox 34"/>
          <p:cNvSpPr txBox="1"/>
          <p:nvPr/>
        </p:nvSpPr>
        <p:spPr>
          <a:xfrm>
            <a:off x="115668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−0,58%</a:t>
            </a:r>
          </a:p>
        </p:txBody>
      </p:sp>
      <p:sp>
        <p:nvSpPr>
          <p:cNvPr id="36" name="TextBox 35"/>
          <p:cNvSpPr txBox="1"/>
          <p:nvPr/>
        </p:nvSpPr>
        <p:spPr>
          <a:xfrm>
            <a:off x="216216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0,16%</a:t>
            </a:r>
          </a:p>
        </p:txBody>
      </p:sp>
      <p:sp>
        <p:nvSpPr>
          <p:cNvPr id="37" name="TextBox 36"/>
          <p:cNvSpPr txBox="1"/>
          <p:nvPr/>
        </p:nvSpPr>
        <p:spPr>
          <a:xfrm>
            <a:off x="316764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8" name="TextBox 37"/>
          <p:cNvSpPr txBox="1"/>
          <p:nvPr/>
        </p:nvSpPr>
        <p:spPr>
          <a:xfrm>
            <a:off x="417312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39" name="TextBox 38"/>
          <p:cNvSpPr txBox="1"/>
          <p:nvPr/>
        </p:nvSpPr>
        <p:spPr>
          <a:xfrm>
            <a:off x="517860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a:t>
            </a:r>
          </a:p>
        </p:txBody>
      </p:sp>
      <p:sp>
        <p:nvSpPr>
          <p:cNvPr id="40" name="TextBox 39"/>
          <p:cNvSpPr txBox="1"/>
          <p:nvPr/>
        </p:nvSpPr>
        <p:spPr>
          <a:xfrm>
            <a:off x="6184080" y="4174537"/>
            <a:ext cx="982800" cy="151200"/>
          </a:xfrm>
          <a:prstGeom prst="rect">
            <a:avLst/>
          </a:prstGeom>
          <a:noFill/>
        </p:spPr>
        <p:txBody>
          <a:bodyPr wrap="none" lIns="0" rIns="0" tIns="0" bIns="0" anchor="t"/>
          <a:lstStyle/>
          <a:p>
            <a:pPr algn="ctr">
              <a:lnSpc>
                <a:spcPts val="1214"/>
              </a:lnSpc>
            </a:pPr>
            <a:r>
              <a:rPr sz="1012" b="0" i="0">
                <a:solidFill>
                  <a:srgbClr val="FFFFFF"/>
                </a:solidFill>
                <a:latin typeface="Versos"/>
              </a:rPr>
              <a:t>1,17%</a:t>
            </a:r>
          </a:p>
        </p:txBody>
      </p:sp>
      <p:sp>
        <p:nvSpPr>
          <p:cNvPr id="41" name="TextBox 40"/>
          <p:cNvSpPr txBox="1"/>
          <p:nvPr/>
        </p:nvSpPr>
        <p:spPr>
          <a:xfrm>
            <a:off x="385560" y="4522297"/>
            <a:ext cx="7044710" cy="113400"/>
          </a:xfrm>
          <a:prstGeom prst="rect">
            <a:avLst/>
          </a:prstGeom>
          <a:noFill/>
        </p:spPr>
        <p:txBody>
          <a:bodyPr wrap="none" lIns="0" rIns="0" tIns="0" bIns="0" anchor="t"/>
          <a:lstStyle/>
          <a:p>
            <a:pPr algn="r">
              <a:lnSpc>
                <a:spcPts val="892"/>
              </a:lnSpc>
            </a:pPr>
            <a:r>
              <a:rPr sz="744" b="1" i="0">
                <a:solidFill>
                  <a:srgbClr val="FFFFFF"/>
                </a:solidFill>
                <a:latin typeface="Versos"/>
              </a:rPr>
              <a:t>Data base:</a:t>
            </a:r>
            <a:r>
              <a:rPr sz="744" b="0" i="0">
                <a:solidFill>
                  <a:srgbClr val="FFFFFF"/>
                </a:solidFill>
                <a:latin typeface="Versos"/>
              </a:rPr>
              <a:t> 30/09/2026</a:t>
            </a:r>
          </a:p>
        </p:txBody>
      </p:sp>
      <p:sp>
        <p:nvSpPr>
          <p:cNvPr id="42" name="TextBox 41"/>
          <p:cNvSpPr txBox="1"/>
          <p:nvPr/>
        </p:nvSpPr>
        <p:spPr>
          <a:xfrm>
            <a:off x="400680" y="5028817"/>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REAL DA CARTEIRA DE CRÉDITO</a:t>
            </a:r>
          </a:p>
        </p:txBody>
      </p:sp>
      <p:sp>
        <p:nvSpPr>
          <p:cNvPr id="43" name="TextBox 42"/>
          <p:cNvSpPr txBox="1"/>
          <p:nvPr/>
        </p:nvSpPr>
        <p:spPr>
          <a:xfrm>
            <a:off x="498960" y="6231211"/>
            <a:ext cx="2581324" cy="151200"/>
          </a:xfrm>
          <a:prstGeom prst="rect">
            <a:avLst/>
          </a:prstGeom>
          <a:noFill/>
        </p:spPr>
        <p:txBody>
          <a:bodyPr wrap="none" lIns="0" rIns="0" tIns="0" bIns="0" anchor="t"/>
          <a:lstStyle/>
          <a:p>
            <a:pPr algn="l">
              <a:lnSpc>
                <a:spcPts val="1113"/>
              </a:lnSpc>
            </a:pPr>
            <a:r>
              <a:rPr sz="1012" b="0" i="0">
                <a:solidFill>
                  <a:srgbClr val="2B3744"/>
                </a:solidFill>
                <a:latin typeface="Versos"/>
              </a:rPr>
              <a:t>Bancário</a:t>
            </a:r>
          </a:p>
        </p:txBody>
      </p:sp>
      <p:sp>
        <p:nvSpPr>
          <p:cNvPr id="44" name="TextBox 43"/>
          <p:cNvSpPr txBox="1"/>
          <p:nvPr/>
        </p:nvSpPr>
        <p:spPr>
          <a:xfrm>
            <a:off x="498960" y="6387609"/>
            <a:ext cx="2581324" cy="189000"/>
          </a:xfrm>
          <a:prstGeom prst="rect">
            <a:avLst/>
          </a:prstGeom>
          <a:noFill/>
        </p:spPr>
        <p:txBody>
          <a:bodyPr wrap="none" lIns="0" rIns="0" tIns="0" bIns="0" anchor="t"/>
          <a:lstStyle/>
          <a:p>
            <a:pPr algn="l">
              <a:lnSpc>
                <a:spcPts val="1375"/>
              </a:lnSpc>
            </a:pPr>
            <a:r>
              <a:rPr sz="1250" b="1" i="0">
                <a:solidFill>
                  <a:srgbClr val="2B3744"/>
                </a:solidFill>
                <a:latin typeface="Versos"/>
              </a:rPr>
              <a:t>39,6%</a:t>
            </a:r>
          </a:p>
        </p:txBody>
      </p:sp>
      <p:sp>
        <p:nvSpPr>
          <p:cNvPr id="45" name="TextBox 44"/>
          <p:cNvSpPr txBox="1"/>
          <p:nvPr/>
        </p:nvSpPr>
        <p:spPr>
          <a:xfrm>
            <a:off x="3177562" y="6089934"/>
            <a:ext cx="1554761" cy="292477"/>
          </a:xfrm>
          <a:prstGeom prst="rect">
            <a:avLst/>
          </a:prstGeom>
          <a:noFill/>
        </p:spPr>
        <p:txBody>
          <a:bodyPr wrap="square" lIns="0" rIns="0" tIns="0" bIns="0" anchor="t"/>
          <a:lstStyle/>
          <a:p>
            <a:pPr algn="l">
              <a:lnSpc>
                <a:spcPts val="1113"/>
              </a:lnSpc>
            </a:pPr>
            <a:r>
              <a:rPr sz="1012" b="0" i="0">
                <a:solidFill>
                  <a:srgbClr val="FFFFFF"/>
                </a:solidFill>
                <a:latin typeface="Versos"/>
              </a:rPr>
              <a:t>FIDCs</a:t>
            </a:r>
          </a:p>
          <a:p>
            <a:pPr algn="l">
              <a:lnSpc>
                <a:spcPts val="1113"/>
              </a:lnSpc>
            </a:pPr>
            <a:r>
              <a:rPr sz="1012" b="1" i="0">
                <a:solidFill>
                  <a:srgbClr val="FFFFFF"/>
                </a:solidFill>
                <a:latin typeface="Versos"/>
              </a:rPr>
              <a:t>Cota Sênior</a:t>
            </a:r>
          </a:p>
        </p:txBody>
      </p:sp>
      <p:sp>
        <p:nvSpPr>
          <p:cNvPr id="46" name="TextBox 45"/>
          <p:cNvSpPr txBox="1"/>
          <p:nvPr/>
        </p:nvSpPr>
        <p:spPr>
          <a:xfrm>
            <a:off x="3177562" y="6387609"/>
            <a:ext cx="1616951" cy="189000"/>
          </a:xfrm>
          <a:prstGeom prst="rect">
            <a:avLst/>
          </a:prstGeom>
          <a:noFill/>
        </p:spPr>
        <p:txBody>
          <a:bodyPr wrap="none" lIns="0" rIns="0" tIns="0" bIns="0" anchor="t"/>
          <a:lstStyle/>
          <a:p>
            <a:pPr algn="l">
              <a:lnSpc>
                <a:spcPts val="1375"/>
              </a:lnSpc>
            </a:pPr>
            <a:r>
              <a:rPr sz="1250" b="1" i="0">
                <a:solidFill>
                  <a:srgbClr val="FFFFFF"/>
                </a:solidFill>
                <a:latin typeface="Versos"/>
              </a:rPr>
              <a:t>25,9%</a:t>
            </a:r>
          </a:p>
        </p:txBody>
      </p:sp>
      <p:sp>
        <p:nvSpPr>
          <p:cNvPr id="47" name="TextBox 46"/>
          <p:cNvSpPr txBox="1"/>
          <p:nvPr/>
        </p:nvSpPr>
        <p:spPr>
          <a:xfrm>
            <a:off x="4929001" y="6089934"/>
            <a:ext cx="1410766" cy="292477"/>
          </a:xfrm>
          <a:prstGeom prst="rect">
            <a:avLst/>
          </a:prstGeom>
          <a:noFill/>
        </p:spPr>
        <p:txBody>
          <a:bodyPr wrap="square" lIns="0" rIns="0" tIns="0" bIns="0" anchor="t"/>
          <a:lstStyle/>
          <a:p>
            <a:pPr algn="l">
              <a:lnSpc>
                <a:spcPts val="1113"/>
              </a:lnSpc>
            </a:pPr>
            <a:r>
              <a:rPr sz="1012" b="0" i="0">
                <a:solidFill>
                  <a:srgbClr val="2B3744"/>
                </a:solidFill>
                <a:latin typeface="Versos"/>
              </a:rPr>
              <a:t>Crédito</a:t>
            </a:r>
          </a:p>
          <a:p>
            <a:pPr algn="l">
              <a:lnSpc>
                <a:spcPts val="1113"/>
              </a:lnSpc>
            </a:pPr>
            <a:r>
              <a:rPr sz="1012" b="1" i="0">
                <a:solidFill>
                  <a:srgbClr val="2B3744"/>
                </a:solidFill>
                <a:latin typeface="Versos"/>
              </a:rPr>
              <a:t>Privado</a:t>
            </a:r>
          </a:p>
        </p:txBody>
      </p:sp>
      <p:sp>
        <p:nvSpPr>
          <p:cNvPr id="48" name="TextBox 47"/>
          <p:cNvSpPr txBox="1"/>
          <p:nvPr/>
        </p:nvSpPr>
        <p:spPr>
          <a:xfrm>
            <a:off x="4929001" y="6387609"/>
            <a:ext cx="1467197" cy="189000"/>
          </a:xfrm>
          <a:prstGeom prst="rect">
            <a:avLst/>
          </a:prstGeom>
          <a:noFill/>
        </p:spPr>
        <p:txBody>
          <a:bodyPr wrap="none" lIns="0" rIns="0" tIns="0" bIns="0" anchor="t"/>
          <a:lstStyle/>
          <a:p>
            <a:pPr algn="l">
              <a:lnSpc>
                <a:spcPts val="1375"/>
              </a:lnSpc>
            </a:pPr>
            <a:r>
              <a:rPr sz="1250" b="1" i="0">
                <a:solidFill>
                  <a:srgbClr val="2B3744"/>
                </a:solidFill>
                <a:latin typeface="Versos"/>
              </a:rPr>
              <a:t>23,8%</a:t>
            </a:r>
          </a:p>
        </p:txBody>
      </p:sp>
      <p:sp>
        <p:nvSpPr>
          <p:cNvPr id="49" name="TextBox 48"/>
          <p:cNvSpPr txBox="1"/>
          <p:nvPr/>
        </p:nvSpPr>
        <p:spPr>
          <a:xfrm>
            <a:off x="6495457" y="6011381"/>
            <a:ext cx="630589" cy="120960"/>
          </a:xfrm>
          <a:prstGeom prst="rect">
            <a:avLst/>
          </a:prstGeom>
          <a:noFill/>
        </p:spPr>
        <p:txBody>
          <a:bodyPr wrap="none" lIns="0" rIns="0" tIns="0" bIns="0" anchor="t"/>
          <a:lstStyle/>
          <a:p>
            <a:pPr algn="l">
              <a:lnSpc>
                <a:spcPts val="870"/>
              </a:lnSpc>
            </a:pPr>
            <a:r>
              <a:rPr sz="791" b="0" i="0">
                <a:solidFill>
                  <a:srgbClr val="2B3744"/>
                </a:solidFill>
                <a:latin typeface="Versos"/>
              </a:rPr>
              <a:t>Liquidez</a:t>
            </a:r>
          </a:p>
        </p:txBody>
      </p:sp>
      <p:sp>
        <p:nvSpPr>
          <p:cNvPr id="50" name="TextBox 49"/>
          <p:cNvSpPr txBox="1"/>
          <p:nvPr/>
        </p:nvSpPr>
        <p:spPr>
          <a:xfrm>
            <a:off x="6495457" y="6137066"/>
            <a:ext cx="630589" cy="181440"/>
          </a:xfrm>
          <a:prstGeom prst="rect">
            <a:avLst/>
          </a:prstGeom>
          <a:noFill/>
        </p:spPr>
        <p:txBody>
          <a:bodyPr wrap="none" lIns="0" rIns="0" tIns="0" bIns="0" anchor="t"/>
          <a:lstStyle/>
          <a:p>
            <a:pPr algn="l">
              <a:lnSpc>
                <a:spcPts val="1342"/>
              </a:lnSpc>
            </a:pPr>
            <a:r>
              <a:rPr sz="1220" b="1" i="0">
                <a:solidFill>
                  <a:srgbClr val="2B3744"/>
                </a:solidFill>
                <a:latin typeface="Versos"/>
              </a:rPr>
              <a:t>8,2%</a:t>
            </a:r>
          </a:p>
        </p:txBody>
      </p:sp>
      <p:sp>
        <p:nvSpPr>
          <p:cNvPr id="51" name="TextBox 50"/>
          <p:cNvSpPr txBox="1"/>
          <p:nvPr/>
        </p:nvSpPr>
        <p:spPr>
          <a:xfrm>
            <a:off x="6495457" y="6404146"/>
            <a:ext cx="630589" cy="75600"/>
          </a:xfrm>
          <a:prstGeom prst="rect">
            <a:avLst/>
          </a:prstGeom>
          <a:noFill/>
        </p:spPr>
        <p:txBody>
          <a:bodyPr wrap="none" lIns="0" rIns="0" tIns="0" bIns="0" anchor="t"/>
          <a:lstStyle/>
          <a:p>
            <a:pPr algn="l">
              <a:lnSpc>
                <a:spcPts val="550"/>
              </a:lnSpc>
            </a:pPr>
            <a:r>
              <a:rPr sz="500" b="0" i="0">
                <a:solidFill>
                  <a:srgbClr val="FFFFFF"/>
                </a:solidFill>
                <a:latin typeface="Versos"/>
              </a:rPr>
              <a:t>FIP</a:t>
            </a:r>
          </a:p>
        </p:txBody>
      </p:sp>
      <p:sp>
        <p:nvSpPr>
          <p:cNvPr id="52" name="TextBox 51"/>
          <p:cNvSpPr txBox="1"/>
          <p:nvPr/>
        </p:nvSpPr>
        <p:spPr>
          <a:xfrm>
            <a:off x="6495457" y="6489078"/>
            <a:ext cx="630589" cy="120960"/>
          </a:xfrm>
          <a:prstGeom prst="rect">
            <a:avLst/>
          </a:prstGeom>
          <a:noFill/>
        </p:spPr>
        <p:txBody>
          <a:bodyPr wrap="none" lIns="0" rIns="0" tIns="0" bIns="0" anchor="t"/>
          <a:lstStyle/>
          <a:p>
            <a:pPr algn="l">
              <a:lnSpc>
                <a:spcPts val="897"/>
              </a:lnSpc>
            </a:pPr>
            <a:r>
              <a:rPr sz="815" b="1" i="0">
                <a:solidFill>
                  <a:srgbClr val="FFFFFF"/>
                </a:solidFill>
                <a:latin typeface="Versos"/>
              </a:rPr>
              <a:t>2,4%</a:t>
            </a:r>
          </a:p>
        </p:txBody>
      </p:sp>
      <p:sp>
        <p:nvSpPr>
          <p:cNvPr id="53" name="TextBox 52"/>
          <p:cNvSpPr txBox="1"/>
          <p:nvPr/>
        </p:nvSpPr>
        <p:spPr>
          <a:xfrm>
            <a:off x="529200" y="6743638"/>
            <a:ext cx="776657" cy="113400"/>
          </a:xfrm>
          <a:prstGeom prst="rect">
            <a:avLst/>
          </a:prstGeom>
          <a:noFill/>
        </p:spPr>
        <p:txBody>
          <a:bodyPr wrap="none" lIns="0" rIns="0" tIns="0" bIns="0" anchor="t"/>
          <a:lstStyle/>
          <a:p>
            <a:pPr algn="l">
              <a:lnSpc>
                <a:spcPts val="892"/>
              </a:lnSpc>
            </a:pPr>
            <a:r>
              <a:rPr sz="744" b="0" i="0">
                <a:solidFill>
                  <a:srgbClr val="333333"/>
                </a:solidFill>
                <a:latin typeface="Versos"/>
              </a:rPr>
              <a:t>Bancário </a:t>
            </a:r>
            <a:r>
              <a:rPr sz="744" b="1" i="0">
                <a:solidFill>
                  <a:srgbClr val="111111"/>
                </a:solidFill>
                <a:latin typeface="Versos"/>
              </a:rPr>
              <a:t>39,6%</a:t>
            </a:r>
          </a:p>
        </p:txBody>
      </p:sp>
      <p:sp>
        <p:nvSpPr>
          <p:cNvPr id="54" name="TextBox 53"/>
          <p:cNvSpPr txBox="1"/>
          <p:nvPr/>
        </p:nvSpPr>
        <p:spPr>
          <a:xfrm>
            <a:off x="1540586" y="6743638"/>
            <a:ext cx="1230588" cy="113400"/>
          </a:xfrm>
          <a:prstGeom prst="rect">
            <a:avLst/>
          </a:prstGeom>
          <a:noFill/>
        </p:spPr>
        <p:txBody>
          <a:bodyPr wrap="none" lIns="0" rIns="0" tIns="0" bIns="0" anchor="t"/>
          <a:lstStyle/>
          <a:p>
            <a:pPr algn="l">
              <a:lnSpc>
                <a:spcPts val="892"/>
              </a:lnSpc>
            </a:pPr>
            <a:r>
              <a:rPr sz="744" b="0" i="0">
                <a:solidFill>
                  <a:srgbClr val="333333"/>
                </a:solidFill>
                <a:latin typeface="Versos"/>
              </a:rPr>
              <a:t>FIDCs Cota Sênior </a:t>
            </a:r>
            <a:r>
              <a:rPr sz="744" b="1" i="0">
                <a:solidFill>
                  <a:srgbClr val="111111"/>
                </a:solidFill>
                <a:latin typeface="Versos"/>
              </a:rPr>
              <a:t>25,9%</a:t>
            </a:r>
          </a:p>
        </p:txBody>
      </p:sp>
      <p:sp>
        <p:nvSpPr>
          <p:cNvPr id="55" name="TextBox 54"/>
          <p:cNvSpPr txBox="1"/>
          <p:nvPr/>
        </p:nvSpPr>
        <p:spPr>
          <a:xfrm>
            <a:off x="2988444" y="6743638"/>
            <a:ext cx="1083045" cy="113400"/>
          </a:xfrm>
          <a:prstGeom prst="rect">
            <a:avLst/>
          </a:prstGeom>
          <a:noFill/>
        </p:spPr>
        <p:txBody>
          <a:bodyPr wrap="none" lIns="0" rIns="0" tIns="0" bIns="0" anchor="t"/>
          <a:lstStyle/>
          <a:p>
            <a:pPr algn="l">
              <a:lnSpc>
                <a:spcPts val="892"/>
              </a:lnSpc>
            </a:pPr>
            <a:r>
              <a:rPr sz="744" b="0" i="0">
                <a:solidFill>
                  <a:srgbClr val="333333"/>
                </a:solidFill>
                <a:latin typeface="Versos"/>
              </a:rPr>
              <a:t>Crédito Privado </a:t>
            </a:r>
            <a:r>
              <a:rPr sz="744" b="1" i="0">
                <a:solidFill>
                  <a:srgbClr val="111111"/>
                </a:solidFill>
                <a:latin typeface="Versos"/>
              </a:rPr>
              <a:t>23,8%</a:t>
            </a:r>
          </a:p>
        </p:txBody>
      </p:sp>
      <p:sp>
        <p:nvSpPr>
          <p:cNvPr id="56" name="TextBox 55"/>
          <p:cNvSpPr txBox="1"/>
          <p:nvPr/>
        </p:nvSpPr>
        <p:spPr>
          <a:xfrm>
            <a:off x="4294434" y="6743638"/>
            <a:ext cx="690417" cy="113400"/>
          </a:xfrm>
          <a:prstGeom prst="rect">
            <a:avLst/>
          </a:prstGeom>
          <a:noFill/>
        </p:spPr>
        <p:txBody>
          <a:bodyPr wrap="none" lIns="0" rIns="0" tIns="0" bIns="0" anchor="t"/>
          <a:lstStyle/>
          <a:p>
            <a:pPr algn="l">
              <a:lnSpc>
                <a:spcPts val="892"/>
              </a:lnSpc>
            </a:pPr>
            <a:r>
              <a:rPr sz="744" b="0" i="0">
                <a:solidFill>
                  <a:srgbClr val="333333"/>
                </a:solidFill>
                <a:latin typeface="Versos"/>
              </a:rPr>
              <a:t>Liquidez </a:t>
            </a:r>
            <a:r>
              <a:rPr sz="744" b="1" i="0">
                <a:solidFill>
                  <a:srgbClr val="111111"/>
                </a:solidFill>
                <a:latin typeface="Versos"/>
              </a:rPr>
              <a:t>8,2%</a:t>
            </a:r>
          </a:p>
        </p:txBody>
      </p:sp>
      <p:sp>
        <p:nvSpPr>
          <p:cNvPr id="57" name="TextBox 56"/>
          <p:cNvSpPr txBox="1"/>
          <p:nvPr/>
        </p:nvSpPr>
        <p:spPr>
          <a:xfrm>
            <a:off x="5222896" y="6743638"/>
            <a:ext cx="462898" cy="113400"/>
          </a:xfrm>
          <a:prstGeom prst="rect">
            <a:avLst/>
          </a:prstGeom>
          <a:noFill/>
        </p:spPr>
        <p:txBody>
          <a:bodyPr wrap="none" lIns="0" rIns="0" tIns="0" bIns="0" anchor="t"/>
          <a:lstStyle/>
          <a:p>
            <a:pPr algn="l">
              <a:lnSpc>
                <a:spcPts val="892"/>
              </a:lnSpc>
            </a:pPr>
            <a:r>
              <a:rPr sz="744" b="0" i="0">
                <a:solidFill>
                  <a:srgbClr val="333333"/>
                </a:solidFill>
                <a:latin typeface="Versos"/>
              </a:rPr>
              <a:t>FIP </a:t>
            </a:r>
            <a:r>
              <a:rPr sz="744" b="1" i="0">
                <a:solidFill>
                  <a:srgbClr val="111111"/>
                </a:solidFill>
                <a:latin typeface="Versos"/>
              </a:rPr>
              <a:t>2,4%</a:t>
            </a:r>
          </a:p>
        </p:txBody>
      </p:sp>
      <p:sp>
        <p:nvSpPr>
          <p:cNvPr id="58" name="TextBox 57"/>
          <p:cNvSpPr txBox="1"/>
          <p:nvPr/>
        </p:nvSpPr>
        <p:spPr>
          <a:xfrm>
            <a:off x="415800" y="7340878"/>
            <a:ext cx="6997536" cy="204120"/>
          </a:xfrm>
          <a:prstGeom prst="rect">
            <a:avLst/>
          </a:prstGeom>
          <a:noFill/>
        </p:spPr>
        <p:txBody>
          <a:bodyPr wrap="none" lIns="0" rIns="0" tIns="0" bIns="0" anchor="t"/>
          <a:lstStyle/>
          <a:p>
            <a:pPr algn="ctr">
              <a:lnSpc>
                <a:spcPts val="1571"/>
              </a:lnSpc>
            </a:pPr>
            <a:r>
              <a:rPr sz="1309" b="0" i="0">
                <a:solidFill>
                  <a:srgbClr val="707070"/>
                </a:solidFill>
                <a:latin typeface="Versos"/>
              </a:rPr>
              <a:t>Comentário do Gestor e Análise de Mercado</a:t>
            </a:r>
          </a:p>
        </p:txBody>
      </p:sp>
      <p:sp>
        <p:nvSpPr>
          <p:cNvPr id="59" name="TextBox 58"/>
          <p:cNvSpPr txBox="1"/>
          <p:nvPr/>
        </p:nvSpPr>
        <p:spPr>
          <a:xfrm>
            <a:off x="415800" y="7839838"/>
            <a:ext cx="6728400" cy="222665"/>
          </a:xfrm>
          <a:prstGeom prst="rect">
            <a:avLst/>
          </a:prstGeom>
          <a:noFill/>
        </p:spPr>
        <p:txBody>
          <a:bodyPr wrap="square" lIns="0" rIns="0" tIns="0" bIns="0" anchor="t"/>
          <a:lstStyle/>
          <a:p>
            <a:pPr algn="just">
              <a:lnSpc>
                <a:spcPts val="860"/>
              </a:lnSpc>
            </a:pPr>
            <a:r>
              <a:rPr sz="729" b="0" i="0">
                <a:solidFill>
                  <a:srgbClr val="222222"/>
                </a:solidFill>
                <a:latin typeface="Versos"/>
              </a:rPr>
              <a:t>O Tivio ALT Light registrou rentabilidade de 1,03% no mês, equivalente a 95,47% do CDI no período. Desde o início da estratégia, o fundo acumula retorno de 13,76%, frente a 12,60% do CDI, o que corresponde a um desempenho anualizado de 109,18% do CDI.</a:t>
            </a:r>
          </a:p>
        </p:txBody>
      </p:sp>
      <p:sp>
        <p:nvSpPr>
          <p:cNvPr id="60" name="TextBox 59"/>
          <p:cNvSpPr txBox="1"/>
          <p:nvPr/>
        </p:nvSpPr>
        <p:spPr>
          <a:xfrm>
            <a:off x="415800" y="8113888"/>
            <a:ext cx="6728400" cy="331931"/>
          </a:xfrm>
          <a:prstGeom prst="rect">
            <a:avLst/>
          </a:prstGeom>
          <a:noFill/>
        </p:spPr>
        <p:txBody>
          <a:bodyPr wrap="square" lIns="0" rIns="0" tIns="0" bIns="0" anchor="t"/>
          <a:lstStyle/>
          <a:p>
            <a:pPr algn="just">
              <a:lnSpc>
                <a:spcPts val="860"/>
              </a:lnSpc>
            </a:pPr>
            <a:r>
              <a:rPr sz="729" b="0" i="0">
                <a:solidFill>
                  <a:srgbClr val="222222"/>
                </a:solidFill>
                <a:latin typeface="Versos"/>
              </a:rPr>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p>
        </p:txBody>
      </p:sp>
      <p:sp>
        <p:nvSpPr>
          <p:cNvPr id="61" name="TextBox 60"/>
          <p:cNvSpPr txBox="1"/>
          <p:nvPr/>
        </p:nvSpPr>
        <p:spPr>
          <a:xfrm>
            <a:off x="415800" y="8497203"/>
            <a:ext cx="6728400" cy="331931"/>
          </a:xfrm>
          <a:prstGeom prst="rect">
            <a:avLst/>
          </a:prstGeom>
          <a:noFill/>
        </p:spPr>
        <p:txBody>
          <a:bodyPr wrap="square" lIns="0" rIns="0" tIns="0" bIns="0" anchor="t"/>
          <a:lstStyle/>
          <a:p>
            <a:pPr algn="just">
              <a:lnSpc>
                <a:spcPts val="860"/>
              </a:lnSpc>
            </a:pPr>
            <a:r>
              <a:rPr sz="729" b="0" i="0">
                <a:solidFill>
                  <a:srgbClr val="222222"/>
                </a:solidFill>
                <a:latin typeface="Versos"/>
              </a:rPr>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p>
        </p:txBody>
      </p:sp>
      <p:sp>
        <p:nvSpPr>
          <p:cNvPr id="62" name="TextBox 61"/>
          <p:cNvSpPr txBox="1"/>
          <p:nvPr/>
        </p:nvSpPr>
        <p:spPr>
          <a:xfrm>
            <a:off x="415800" y="8880519"/>
            <a:ext cx="6728400" cy="222665"/>
          </a:xfrm>
          <a:prstGeom prst="rect">
            <a:avLst/>
          </a:prstGeom>
          <a:noFill/>
        </p:spPr>
        <p:txBody>
          <a:bodyPr wrap="square" lIns="0" rIns="0" tIns="0" bIns="0" anchor="t"/>
          <a:lstStyle/>
          <a:p>
            <a:pPr algn="just">
              <a:lnSpc>
                <a:spcPts val="860"/>
              </a:lnSpc>
            </a:pPr>
            <a:r>
              <a:rPr sz="729" b="0" i="0">
                <a:solidFill>
                  <a:srgbClr val="222222"/>
                </a:solidFill>
                <a:latin typeface="Versos"/>
              </a:rPr>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p>
        </p:txBody>
      </p:sp>
      <p:sp>
        <p:nvSpPr>
          <p:cNvPr id="63" name="TextBox 62"/>
          <p:cNvSpPr txBox="1"/>
          <p:nvPr/>
        </p:nvSpPr>
        <p:spPr>
          <a:xfrm>
            <a:off x="415800" y="9154569"/>
            <a:ext cx="6728400" cy="331931"/>
          </a:xfrm>
          <a:prstGeom prst="rect">
            <a:avLst/>
          </a:prstGeom>
          <a:noFill/>
        </p:spPr>
        <p:txBody>
          <a:bodyPr wrap="square" lIns="0" rIns="0" tIns="0" bIns="0" anchor="t"/>
          <a:lstStyle/>
          <a:p>
            <a:pPr algn="just">
              <a:lnSpc>
                <a:spcPts val="860"/>
              </a:lnSpc>
            </a:pPr>
            <a:r>
              <a:rPr sz="729" b="0" i="0">
                <a:solidFill>
                  <a:srgbClr val="222222"/>
                </a:solidFill>
                <a:latin typeface="Versos"/>
              </a:rPr>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p>
        </p:txBody>
      </p:sp>
      <p:sp>
        <p:nvSpPr>
          <p:cNvPr id="64" name="TextBox 63"/>
          <p:cNvSpPr txBox="1"/>
          <p:nvPr/>
        </p:nvSpPr>
        <p:spPr>
          <a:xfrm>
            <a:off x="415800" y="9537885"/>
            <a:ext cx="6728400" cy="331931"/>
          </a:xfrm>
          <a:prstGeom prst="rect">
            <a:avLst/>
          </a:prstGeom>
          <a:noFill/>
        </p:spPr>
        <p:txBody>
          <a:bodyPr wrap="square" lIns="0" rIns="0" tIns="0" bIns="0" anchor="t"/>
          <a:lstStyle/>
          <a:p>
            <a:pPr algn="just">
              <a:lnSpc>
                <a:spcPts val="860"/>
              </a:lnSpc>
            </a:pPr>
            <a:r>
              <a:rPr sz="729" b="0" i="0">
                <a:solidFill>
                  <a:srgbClr val="222222"/>
                </a:solidFill>
                <a:latin typeface="Versos"/>
              </a:rPr>
              <a:t>Em relação a parcela da carteira de crédito estruturado. ao longo do mês, a carteira manteve-se praticamente inalterada, com apenas ajustes pontuais associados à gestão cotidiana do portfólio. Seguimos investidos em operações com sólidos fundamentos de crédito, preservando uma diversificação adequada entre setores, emissores e diferentes estratégias de investimento</a:t>
            </a:r>
          </a:p>
        </p:txBody>
      </p:sp>
      <p:sp>
        <p:nvSpPr>
          <p:cNvPr id="65" name="TextBox 64"/>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289735" y="37422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POR ESTRATÉGIA</a:t>
            </a:r>
          </a:p>
        </p:txBody>
      </p:sp>
      <p:sp>
        <p:nvSpPr>
          <p:cNvPr id="5" name="TextBox 4"/>
          <p:cNvSpPr txBox="1"/>
          <p:nvPr/>
        </p:nvSpPr>
        <p:spPr>
          <a:xfrm>
            <a:off x="400680" y="1600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Financeiro</a:t>
            </a:r>
          </a:p>
        </p:txBody>
      </p:sp>
      <p:sp>
        <p:nvSpPr>
          <p:cNvPr id="6" name="TextBox 5"/>
          <p:cNvSpPr txBox="1"/>
          <p:nvPr/>
        </p:nvSpPr>
        <p:spPr>
          <a:xfrm>
            <a:off x="3217488" y="1600357"/>
            <a:ext cx="402702" cy="120960"/>
          </a:xfrm>
          <a:prstGeom prst="rect">
            <a:avLst/>
          </a:prstGeom>
          <a:noFill/>
        </p:spPr>
        <p:txBody>
          <a:bodyPr wrap="none" lIns="0" rIns="0" tIns="0" bIns="0" anchor="t"/>
          <a:lstStyle/>
          <a:p>
            <a:pPr algn="l">
              <a:lnSpc>
                <a:spcPts val="971"/>
              </a:lnSpc>
            </a:pPr>
            <a:r>
              <a:rPr sz="809" b="0" i="0">
                <a:solidFill>
                  <a:srgbClr val="4F7A93"/>
                </a:solidFill>
                <a:latin typeface="Versos"/>
              </a:rPr>
              <a:t>39,63%</a:t>
            </a:r>
          </a:p>
        </p:txBody>
      </p:sp>
      <p:sp>
        <p:nvSpPr>
          <p:cNvPr id="7" name="TextBox 6"/>
          <p:cNvSpPr txBox="1"/>
          <p:nvPr/>
        </p:nvSpPr>
        <p:spPr>
          <a:xfrm>
            <a:off x="400680" y="1789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Caixa</a:t>
            </a:r>
          </a:p>
        </p:txBody>
      </p:sp>
      <p:sp>
        <p:nvSpPr>
          <p:cNvPr id="8" name="TextBox 7"/>
          <p:cNvSpPr txBox="1"/>
          <p:nvPr/>
        </p:nvSpPr>
        <p:spPr>
          <a:xfrm>
            <a:off x="3059791" y="1789357"/>
            <a:ext cx="408844" cy="120960"/>
          </a:xfrm>
          <a:prstGeom prst="rect">
            <a:avLst/>
          </a:prstGeom>
          <a:noFill/>
        </p:spPr>
        <p:txBody>
          <a:bodyPr wrap="none" lIns="0" rIns="0" tIns="0" bIns="0" anchor="t"/>
          <a:lstStyle/>
          <a:p>
            <a:pPr algn="l">
              <a:lnSpc>
                <a:spcPts val="971"/>
              </a:lnSpc>
            </a:pPr>
            <a:r>
              <a:rPr sz="809" b="0" i="0">
                <a:solidFill>
                  <a:srgbClr val="4F7A93"/>
                </a:solidFill>
                <a:latin typeface="Versos"/>
              </a:rPr>
              <a:t>34,38%</a:t>
            </a:r>
          </a:p>
        </p:txBody>
      </p:sp>
      <p:sp>
        <p:nvSpPr>
          <p:cNvPr id="9" name="TextBox 8"/>
          <p:cNvSpPr txBox="1"/>
          <p:nvPr/>
        </p:nvSpPr>
        <p:spPr>
          <a:xfrm>
            <a:off x="400680" y="1978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Indústria e Comércio</a:t>
            </a:r>
          </a:p>
        </p:txBody>
      </p:sp>
      <p:sp>
        <p:nvSpPr>
          <p:cNvPr id="10" name="TextBox 9"/>
          <p:cNvSpPr txBox="1"/>
          <p:nvPr/>
        </p:nvSpPr>
        <p:spPr>
          <a:xfrm>
            <a:off x="2519133" y="1978357"/>
            <a:ext cx="380097" cy="120960"/>
          </a:xfrm>
          <a:prstGeom prst="rect">
            <a:avLst/>
          </a:prstGeom>
          <a:noFill/>
        </p:spPr>
        <p:txBody>
          <a:bodyPr wrap="none" lIns="0" rIns="0" tIns="0" bIns="0" anchor="t"/>
          <a:lstStyle/>
          <a:p>
            <a:pPr algn="l">
              <a:lnSpc>
                <a:spcPts val="971"/>
              </a:lnSpc>
            </a:pPr>
            <a:r>
              <a:rPr sz="809" b="0" i="0">
                <a:solidFill>
                  <a:srgbClr val="4F7A93"/>
                </a:solidFill>
                <a:latin typeface="Versos"/>
              </a:rPr>
              <a:t>16,40%</a:t>
            </a:r>
          </a:p>
        </p:txBody>
      </p:sp>
      <p:sp>
        <p:nvSpPr>
          <p:cNvPr id="11" name="TextBox 10"/>
          <p:cNvSpPr txBox="1"/>
          <p:nvPr/>
        </p:nvSpPr>
        <p:spPr>
          <a:xfrm>
            <a:off x="400680" y="2167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Transporte e Logística</a:t>
            </a:r>
          </a:p>
        </p:txBody>
      </p:sp>
      <p:sp>
        <p:nvSpPr>
          <p:cNvPr id="12" name="TextBox 11"/>
          <p:cNvSpPr txBox="1"/>
          <p:nvPr/>
        </p:nvSpPr>
        <p:spPr>
          <a:xfrm>
            <a:off x="2218033" y="2167357"/>
            <a:ext cx="336977" cy="120960"/>
          </a:xfrm>
          <a:prstGeom prst="rect">
            <a:avLst/>
          </a:prstGeom>
          <a:noFill/>
        </p:spPr>
        <p:txBody>
          <a:bodyPr wrap="none" lIns="0" rIns="0" tIns="0" bIns="0" anchor="t"/>
          <a:lstStyle/>
          <a:p>
            <a:pPr algn="l">
              <a:lnSpc>
                <a:spcPts val="971"/>
              </a:lnSpc>
            </a:pPr>
            <a:r>
              <a:rPr sz="809" b="0" i="0">
                <a:solidFill>
                  <a:srgbClr val="4F7A93"/>
                </a:solidFill>
                <a:latin typeface="Versos"/>
              </a:rPr>
              <a:t>6,39%</a:t>
            </a:r>
          </a:p>
        </p:txBody>
      </p:sp>
      <p:sp>
        <p:nvSpPr>
          <p:cNvPr id="13" name="TextBox 12"/>
          <p:cNvSpPr txBox="1"/>
          <p:nvPr/>
        </p:nvSpPr>
        <p:spPr>
          <a:xfrm>
            <a:off x="400680" y="2356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Locação de veículos</a:t>
            </a:r>
          </a:p>
        </p:txBody>
      </p:sp>
      <p:sp>
        <p:nvSpPr>
          <p:cNvPr id="14" name="TextBox 13"/>
          <p:cNvSpPr txBox="1"/>
          <p:nvPr/>
        </p:nvSpPr>
        <p:spPr>
          <a:xfrm>
            <a:off x="2165821" y="2356357"/>
            <a:ext cx="333783" cy="120960"/>
          </a:xfrm>
          <a:prstGeom prst="rect">
            <a:avLst/>
          </a:prstGeom>
          <a:noFill/>
        </p:spPr>
        <p:txBody>
          <a:bodyPr wrap="none" lIns="0" rIns="0" tIns="0" bIns="0" anchor="t"/>
          <a:lstStyle/>
          <a:p>
            <a:pPr algn="l">
              <a:lnSpc>
                <a:spcPts val="971"/>
              </a:lnSpc>
            </a:pPr>
            <a:r>
              <a:rPr sz="809" b="0" i="0">
                <a:solidFill>
                  <a:srgbClr val="4F7A93"/>
                </a:solidFill>
                <a:latin typeface="Versos"/>
              </a:rPr>
              <a:t>4,65%</a:t>
            </a:r>
          </a:p>
        </p:txBody>
      </p:sp>
      <p:sp>
        <p:nvSpPr>
          <p:cNvPr id="15" name="TextBox 14"/>
          <p:cNvSpPr txBox="1"/>
          <p:nvPr/>
        </p:nvSpPr>
        <p:spPr>
          <a:xfrm>
            <a:off x="400680" y="2545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Consignados</a:t>
            </a:r>
          </a:p>
        </p:txBody>
      </p:sp>
      <p:sp>
        <p:nvSpPr>
          <p:cNvPr id="16" name="TextBox 15"/>
          <p:cNvSpPr txBox="1"/>
          <p:nvPr/>
        </p:nvSpPr>
        <p:spPr>
          <a:xfrm>
            <a:off x="2152710" y="2545357"/>
            <a:ext cx="333414" cy="120960"/>
          </a:xfrm>
          <a:prstGeom prst="rect">
            <a:avLst/>
          </a:prstGeom>
          <a:noFill/>
        </p:spPr>
        <p:txBody>
          <a:bodyPr wrap="none" lIns="0" rIns="0" tIns="0" bIns="0" anchor="t"/>
          <a:lstStyle/>
          <a:p>
            <a:pPr algn="l">
              <a:lnSpc>
                <a:spcPts val="971"/>
              </a:lnSpc>
            </a:pPr>
            <a:r>
              <a:rPr sz="809" b="0" i="0">
                <a:solidFill>
                  <a:srgbClr val="4F7A93"/>
                </a:solidFill>
                <a:latin typeface="Versos"/>
              </a:rPr>
              <a:t>4,22%</a:t>
            </a:r>
          </a:p>
        </p:txBody>
      </p:sp>
      <p:sp>
        <p:nvSpPr>
          <p:cNvPr id="17" name="TextBox 16"/>
          <p:cNvSpPr txBox="1"/>
          <p:nvPr/>
        </p:nvSpPr>
        <p:spPr>
          <a:xfrm>
            <a:off x="400680" y="2734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Crédito PF</a:t>
            </a:r>
          </a:p>
        </p:txBody>
      </p:sp>
      <p:sp>
        <p:nvSpPr>
          <p:cNvPr id="18" name="TextBox 17"/>
          <p:cNvSpPr txBox="1"/>
          <p:nvPr/>
        </p:nvSpPr>
        <p:spPr>
          <a:xfrm>
            <a:off x="2131447" y="2734357"/>
            <a:ext cx="300736" cy="120960"/>
          </a:xfrm>
          <a:prstGeom prst="rect">
            <a:avLst/>
          </a:prstGeom>
          <a:noFill/>
        </p:spPr>
        <p:txBody>
          <a:bodyPr wrap="none" lIns="0" rIns="0" tIns="0" bIns="0" anchor="t"/>
          <a:lstStyle/>
          <a:p>
            <a:pPr algn="l">
              <a:lnSpc>
                <a:spcPts val="971"/>
              </a:lnSpc>
            </a:pPr>
            <a:r>
              <a:rPr sz="809" b="0" i="0">
                <a:solidFill>
                  <a:srgbClr val="4F7A93"/>
                </a:solidFill>
                <a:latin typeface="Versos"/>
              </a:rPr>
              <a:t>3,51%</a:t>
            </a:r>
          </a:p>
        </p:txBody>
      </p:sp>
      <p:sp>
        <p:nvSpPr>
          <p:cNvPr id="19" name="TextBox 18"/>
          <p:cNvSpPr txBox="1"/>
          <p:nvPr/>
        </p:nvSpPr>
        <p:spPr>
          <a:xfrm>
            <a:off x="400680" y="2923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Comércio atacadista e varejista</a:t>
            </a:r>
          </a:p>
        </p:txBody>
      </p:sp>
      <p:sp>
        <p:nvSpPr>
          <p:cNvPr id="20" name="TextBox 19"/>
          <p:cNvSpPr txBox="1"/>
          <p:nvPr/>
        </p:nvSpPr>
        <p:spPr>
          <a:xfrm>
            <a:off x="2129321" y="2923357"/>
            <a:ext cx="332800" cy="120960"/>
          </a:xfrm>
          <a:prstGeom prst="rect">
            <a:avLst/>
          </a:prstGeom>
          <a:noFill/>
        </p:spPr>
        <p:txBody>
          <a:bodyPr wrap="none" lIns="0" rIns="0" tIns="0" bIns="0" anchor="t"/>
          <a:lstStyle/>
          <a:p>
            <a:pPr algn="l">
              <a:lnSpc>
                <a:spcPts val="971"/>
              </a:lnSpc>
            </a:pPr>
            <a:r>
              <a:rPr sz="809" b="0" i="0">
                <a:solidFill>
                  <a:srgbClr val="4F7A93"/>
                </a:solidFill>
                <a:latin typeface="Versos"/>
              </a:rPr>
              <a:t>3,44%</a:t>
            </a:r>
          </a:p>
        </p:txBody>
      </p:sp>
      <p:sp>
        <p:nvSpPr>
          <p:cNvPr id="21" name="TextBox 20"/>
          <p:cNvSpPr txBox="1"/>
          <p:nvPr/>
        </p:nvSpPr>
        <p:spPr>
          <a:xfrm>
            <a:off x="400680" y="3112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Energia Elétrica</a:t>
            </a:r>
          </a:p>
        </p:txBody>
      </p:sp>
      <p:sp>
        <p:nvSpPr>
          <p:cNvPr id="22" name="TextBox 21"/>
          <p:cNvSpPr txBox="1"/>
          <p:nvPr/>
        </p:nvSpPr>
        <p:spPr>
          <a:xfrm>
            <a:off x="2114083" y="3112357"/>
            <a:ext cx="333414" cy="120960"/>
          </a:xfrm>
          <a:prstGeom prst="rect">
            <a:avLst/>
          </a:prstGeom>
          <a:noFill/>
        </p:spPr>
        <p:txBody>
          <a:bodyPr wrap="none" lIns="0" rIns="0" tIns="0" bIns="0" anchor="t"/>
          <a:lstStyle/>
          <a:p>
            <a:pPr algn="l">
              <a:lnSpc>
                <a:spcPts val="971"/>
              </a:lnSpc>
            </a:pPr>
            <a:r>
              <a:rPr sz="809" b="0" i="0">
                <a:solidFill>
                  <a:srgbClr val="4F7A93"/>
                </a:solidFill>
                <a:latin typeface="Versos"/>
              </a:rPr>
              <a:t>2,93%</a:t>
            </a:r>
          </a:p>
        </p:txBody>
      </p:sp>
      <p:sp>
        <p:nvSpPr>
          <p:cNvPr id="23" name="TextBox 22"/>
          <p:cNvSpPr txBox="1"/>
          <p:nvPr/>
        </p:nvSpPr>
        <p:spPr>
          <a:xfrm>
            <a:off x="400680" y="3301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Varejo Eletrodoméstico</a:t>
            </a:r>
          </a:p>
        </p:txBody>
      </p:sp>
      <p:sp>
        <p:nvSpPr>
          <p:cNvPr id="24" name="TextBox 23"/>
          <p:cNvSpPr txBox="1"/>
          <p:nvPr/>
        </p:nvSpPr>
        <p:spPr>
          <a:xfrm>
            <a:off x="2096718" y="3301357"/>
            <a:ext cx="335994" cy="120960"/>
          </a:xfrm>
          <a:prstGeom prst="rect">
            <a:avLst/>
          </a:prstGeom>
          <a:noFill/>
        </p:spPr>
        <p:txBody>
          <a:bodyPr wrap="none" lIns="0" rIns="0" tIns="0" bIns="0" anchor="t"/>
          <a:lstStyle/>
          <a:p>
            <a:pPr algn="l">
              <a:lnSpc>
                <a:spcPts val="971"/>
              </a:lnSpc>
            </a:pPr>
            <a:r>
              <a:rPr sz="809" b="0" i="0">
                <a:solidFill>
                  <a:srgbClr val="4F7A93"/>
                </a:solidFill>
                <a:latin typeface="Versos"/>
              </a:rPr>
              <a:t>2,36%</a:t>
            </a:r>
          </a:p>
        </p:txBody>
      </p:sp>
      <p:sp>
        <p:nvSpPr>
          <p:cNvPr id="25" name="TextBox 24"/>
          <p:cNvSpPr txBox="1"/>
          <p:nvPr/>
        </p:nvSpPr>
        <p:spPr>
          <a:xfrm>
            <a:off x="400680" y="3490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Serviços Imobiliários</a:t>
            </a:r>
          </a:p>
        </p:txBody>
      </p:sp>
      <p:sp>
        <p:nvSpPr>
          <p:cNvPr id="26" name="TextBox 25"/>
          <p:cNvSpPr txBox="1"/>
          <p:nvPr/>
        </p:nvSpPr>
        <p:spPr>
          <a:xfrm>
            <a:off x="2085496" y="3490357"/>
            <a:ext cx="309950" cy="120960"/>
          </a:xfrm>
          <a:prstGeom prst="rect">
            <a:avLst/>
          </a:prstGeom>
          <a:noFill/>
        </p:spPr>
        <p:txBody>
          <a:bodyPr wrap="none" lIns="0" rIns="0" tIns="0" bIns="0" anchor="t"/>
          <a:lstStyle/>
          <a:p>
            <a:pPr algn="l">
              <a:lnSpc>
                <a:spcPts val="971"/>
              </a:lnSpc>
            </a:pPr>
            <a:r>
              <a:rPr sz="809" b="0" i="0">
                <a:solidFill>
                  <a:srgbClr val="4F7A93"/>
                </a:solidFill>
                <a:latin typeface="Versos"/>
              </a:rPr>
              <a:t>1,98%</a:t>
            </a:r>
          </a:p>
        </p:txBody>
      </p:sp>
      <p:sp>
        <p:nvSpPr>
          <p:cNvPr id="27" name="TextBox 26"/>
          <p:cNvSpPr txBox="1"/>
          <p:nvPr/>
        </p:nvSpPr>
        <p:spPr>
          <a:xfrm>
            <a:off x="400680" y="3679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TI e Telecomunicações</a:t>
            </a:r>
          </a:p>
        </p:txBody>
      </p:sp>
      <p:sp>
        <p:nvSpPr>
          <p:cNvPr id="28" name="TextBox 27"/>
          <p:cNvSpPr txBox="1"/>
          <p:nvPr/>
        </p:nvSpPr>
        <p:spPr>
          <a:xfrm>
            <a:off x="2078881" y="3679357"/>
            <a:ext cx="299999" cy="120960"/>
          </a:xfrm>
          <a:prstGeom prst="rect">
            <a:avLst/>
          </a:prstGeom>
          <a:noFill/>
        </p:spPr>
        <p:txBody>
          <a:bodyPr wrap="none" lIns="0" rIns="0" tIns="0" bIns="0" anchor="t"/>
          <a:lstStyle/>
          <a:p>
            <a:pPr algn="l">
              <a:lnSpc>
                <a:spcPts val="971"/>
              </a:lnSpc>
            </a:pPr>
            <a:r>
              <a:rPr sz="809" b="0" i="0">
                <a:solidFill>
                  <a:srgbClr val="4F7A93"/>
                </a:solidFill>
                <a:latin typeface="Versos"/>
              </a:rPr>
              <a:t>1,76%</a:t>
            </a:r>
          </a:p>
        </p:txBody>
      </p:sp>
      <p:sp>
        <p:nvSpPr>
          <p:cNvPr id="29" name="TextBox 28"/>
          <p:cNvSpPr txBox="1"/>
          <p:nvPr/>
        </p:nvSpPr>
        <p:spPr>
          <a:xfrm>
            <a:off x="400680" y="3868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Assistência médica</a:t>
            </a:r>
          </a:p>
        </p:txBody>
      </p:sp>
      <p:sp>
        <p:nvSpPr>
          <p:cNvPr id="30" name="TextBox 29"/>
          <p:cNvSpPr txBox="1"/>
          <p:nvPr/>
        </p:nvSpPr>
        <p:spPr>
          <a:xfrm>
            <a:off x="2076046" y="3868357"/>
            <a:ext cx="297297" cy="120960"/>
          </a:xfrm>
          <a:prstGeom prst="rect">
            <a:avLst/>
          </a:prstGeom>
          <a:noFill/>
        </p:spPr>
        <p:txBody>
          <a:bodyPr wrap="none" lIns="0" rIns="0" tIns="0" bIns="0" anchor="t"/>
          <a:lstStyle/>
          <a:p>
            <a:pPr algn="l">
              <a:lnSpc>
                <a:spcPts val="971"/>
              </a:lnSpc>
            </a:pPr>
            <a:r>
              <a:rPr sz="809" b="0" i="0">
                <a:solidFill>
                  <a:srgbClr val="4F7A93"/>
                </a:solidFill>
                <a:latin typeface="Versos"/>
              </a:rPr>
              <a:t>1,67%</a:t>
            </a:r>
          </a:p>
        </p:txBody>
      </p:sp>
      <p:sp>
        <p:nvSpPr>
          <p:cNvPr id="31" name="TextBox 30"/>
          <p:cNvSpPr txBox="1"/>
          <p:nvPr/>
        </p:nvSpPr>
        <p:spPr>
          <a:xfrm>
            <a:off x="400680" y="4057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Saneamento</a:t>
            </a:r>
          </a:p>
        </p:txBody>
      </p:sp>
      <p:sp>
        <p:nvSpPr>
          <p:cNvPr id="32" name="TextBox 31"/>
          <p:cNvSpPr txBox="1"/>
          <p:nvPr/>
        </p:nvSpPr>
        <p:spPr>
          <a:xfrm>
            <a:off x="2073330" y="4057357"/>
            <a:ext cx="309459" cy="120960"/>
          </a:xfrm>
          <a:prstGeom prst="rect">
            <a:avLst/>
          </a:prstGeom>
          <a:noFill/>
        </p:spPr>
        <p:txBody>
          <a:bodyPr wrap="none" lIns="0" rIns="0" tIns="0" bIns="0" anchor="t"/>
          <a:lstStyle/>
          <a:p>
            <a:pPr algn="l">
              <a:lnSpc>
                <a:spcPts val="971"/>
              </a:lnSpc>
            </a:pPr>
            <a:r>
              <a:rPr sz="809" b="0" i="0">
                <a:solidFill>
                  <a:srgbClr val="4F7A93"/>
                </a:solidFill>
                <a:latin typeface="Versos"/>
              </a:rPr>
              <a:t>1,58%</a:t>
            </a:r>
          </a:p>
        </p:txBody>
      </p:sp>
      <p:sp>
        <p:nvSpPr>
          <p:cNvPr id="33" name="TextBox 32"/>
          <p:cNvSpPr txBox="1"/>
          <p:nvPr/>
        </p:nvSpPr>
        <p:spPr>
          <a:xfrm>
            <a:off x="400680" y="4246948"/>
            <a:ext cx="1541030" cy="113400"/>
          </a:xfrm>
          <a:prstGeom prst="rect">
            <a:avLst/>
          </a:prstGeom>
          <a:noFill/>
        </p:spPr>
        <p:txBody>
          <a:bodyPr wrap="none" lIns="0" rIns="0" tIns="0" bIns="0" anchor="t"/>
          <a:lstStyle/>
          <a:p>
            <a:pPr algn="r">
              <a:lnSpc>
                <a:spcPts val="825"/>
              </a:lnSpc>
            </a:pPr>
            <a:r>
              <a:rPr sz="750" b="0" i="0">
                <a:solidFill>
                  <a:srgbClr val="222222"/>
                </a:solidFill>
                <a:latin typeface="Versos"/>
              </a:rPr>
              <a:t>Agropecuária</a:t>
            </a:r>
          </a:p>
        </p:txBody>
      </p:sp>
      <p:sp>
        <p:nvSpPr>
          <p:cNvPr id="34" name="TextBox 33"/>
          <p:cNvSpPr txBox="1"/>
          <p:nvPr/>
        </p:nvSpPr>
        <p:spPr>
          <a:xfrm>
            <a:off x="2049350" y="4246357"/>
            <a:ext cx="329238" cy="120960"/>
          </a:xfrm>
          <a:prstGeom prst="rect">
            <a:avLst/>
          </a:prstGeom>
          <a:noFill/>
        </p:spPr>
        <p:txBody>
          <a:bodyPr wrap="none" lIns="0" rIns="0" tIns="0" bIns="0" anchor="t"/>
          <a:lstStyle/>
          <a:p>
            <a:pPr algn="l">
              <a:lnSpc>
                <a:spcPts val="971"/>
              </a:lnSpc>
            </a:pPr>
            <a:r>
              <a:rPr sz="809" b="0" i="0">
                <a:solidFill>
                  <a:srgbClr val="4F7A93"/>
                </a:solidFill>
                <a:latin typeface="Versos"/>
              </a:rPr>
              <a:t>0,78%</a:t>
            </a:r>
          </a:p>
        </p:txBody>
      </p:sp>
      <p:sp>
        <p:nvSpPr>
          <p:cNvPr id="35" name="TextBox 34"/>
          <p:cNvSpPr txBox="1"/>
          <p:nvPr/>
        </p:nvSpPr>
        <p:spPr>
          <a:xfrm>
            <a:off x="3969000" y="1224720"/>
            <a:ext cx="3317932" cy="143640"/>
          </a:xfrm>
          <a:prstGeom prst="rect">
            <a:avLst/>
          </a:prstGeom>
          <a:noFill/>
        </p:spPr>
        <p:txBody>
          <a:bodyPr wrap="none" lIns="0" rIns="0" tIns="0" bIns="0" anchor="t"/>
          <a:lstStyle/>
          <a:p>
            <a:pPr algn="l">
              <a:lnSpc>
                <a:spcPts val="1142"/>
              </a:lnSpc>
            </a:pPr>
            <a:r>
              <a:rPr sz="952" b="0" i="0">
                <a:solidFill>
                  <a:srgbClr val="111111"/>
                </a:solidFill>
                <a:latin typeface="Versos"/>
              </a:rPr>
              <a:t>COLATERAIS</a:t>
            </a:r>
          </a:p>
        </p:txBody>
      </p:sp>
      <p:sp>
        <p:nvSpPr>
          <p:cNvPr id="36" name="TextBox 35"/>
          <p:cNvSpPr txBox="1"/>
          <p:nvPr/>
        </p:nvSpPr>
        <p:spPr>
          <a:xfrm>
            <a:off x="455868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imóveis</a:t>
            </a:r>
          </a:p>
        </p:txBody>
      </p:sp>
      <p:sp>
        <p:nvSpPr>
          <p:cNvPr id="37" name="TextBox 36"/>
          <p:cNvSpPr txBox="1"/>
          <p:nvPr/>
        </p:nvSpPr>
        <p:spPr>
          <a:xfrm>
            <a:off x="6176520" y="190051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automóveis</a:t>
            </a:r>
          </a:p>
        </p:txBody>
      </p:sp>
      <p:sp>
        <p:nvSpPr>
          <p:cNvPr id="38" name="TextBox 37"/>
          <p:cNvSpPr txBox="1"/>
          <p:nvPr/>
        </p:nvSpPr>
        <p:spPr>
          <a:xfrm>
            <a:off x="455868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AF de maquinário</a:t>
            </a:r>
          </a:p>
        </p:txBody>
      </p:sp>
      <p:sp>
        <p:nvSpPr>
          <p:cNvPr id="39" name="TextBox 38"/>
          <p:cNvSpPr txBox="1"/>
          <p:nvPr/>
        </p:nvSpPr>
        <p:spPr>
          <a:xfrm>
            <a:off x="6176520" y="2943793"/>
            <a:ext cx="846720" cy="315984"/>
          </a:xfrm>
          <a:prstGeom prst="rect">
            <a:avLst/>
          </a:prstGeom>
          <a:noFill/>
        </p:spPr>
        <p:txBody>
          <a:bodyPr wrap="square" lIns="0" rIns="0" tIns="0" bIns="0" anchor="t"/>
          <a:lstStyle/>
          <a:p>
            <a:pPr algn="l">
              <a:lnSpc>
                <a:spcPts val="1178"/>
              </a:lnSpc>
            </a:pPr>
            <a:r>
              <a:rPr sz="1071" b="1" i="0">
                <a:solidFill>
                  <a:srgbClr val="7A7A7A"/>
                </a:solidFill>
                <a:latin typeface="Versos"/>
              </a:rPr>
              <a:t>CF de recebíveis</a:t>
            </a:r>
          </a:p>
        </p:txBody>
      </p:sp>
      <p:sp>
        <p:nvSpPr>
          <p:cNvPr id="40" name="TextBox 39"/>
          <p:cNvSpPr txBox="1"/>
          <p:nvPr/>
        </p:nvSpPr>
        <p:spPr>
          <a:xfrm>
            <a:off x="4558680" y="4061846"/>
            <a:ext cx="2091766" cy="166320"/>
          </a:xfrm>
          <a:prstGeom prst="rect">
            <a:avLst/>
          </a:prstGeom>
          <a:noFill/>
        </p:spPr>
        <p:txBody>
          <a:bodyPr wrap="none" lIns="0" rIns="0" tIns="0" bIns="0" anchor="t"/>
          <a:lstStyle/>
          <a:p>
            <a:pPr algn="l">
              <a:lnSpc>
                <a:spcPts val="1178"/>
              </a:lnSpc>
            </a:pPr>
            <a:r>
              <a:rPr sz="1071" b="1" i="0">
                <a:solidFill>
                  <a:srgbClr val="7A7A7A"/>
                </a:solidFill>
                <a:latin typeface="Versos"/>
              </a:rPr>
              <a:t>Coobrigação do cedente/Avais</a:t>
            </a:r>
          </a:p>
        </p:txBody>
      </p:sp>
      <p:sp>
        <p:nvSpPr>
          <p:cNvPr id="41" name="TextBox 40"/>
          <p:cNvSpPr txBox="1"/>
          <p:nvPr/>
        </p:nvSpPr>
        <p:spPr>
          <a:xfrm>
            <a:off x="400680" y="4983457"/>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42" name="TextBox 41"/>
          <p:cNvSpPr txBox="1"/>
          <p:nvPr/>
        </p:nvSpPr>
        <p:spPr>
          <a:xfrm>
            <a:off x="551880" y="5476275"/>
            <a:ext cx="2044224" cy="151200"/>
          </a:xfrm>
          <a:prstGeom prst="rect">
            <a:avLst/>
          </a:prstGeom>
          <a:noFill/>
        </p:spPr>
        <p:txBody>
          <a:bodyPr wrap="none" lIns="0" rIns="0" tIns="0" bIns="0" anchor="t"/>
          <a:lstStyle/>
          <a:p>
            <a:pPr algn="l">
              <a:lnSpc>
                <a:spcPts val="1178"/>
              </a:lnSpc>
            </a:pPr>
            <a:r>
              <a:rPr sz="982" b="1" i="0">
                <a:solidFill>
                  <a:srgbClr val="FFFFFF"/>
                </a:solidFill>
                <a:latin typeface="Versos"/>
              </a:rPr>
              <a:t>Rentabilidade</a:t>
            </a:r>
          </a:p>
        </p:txBody>
      </p:sp>
      <p:sp>
        <p:nvSpPr>
          <p:cNvPr id="43" name="TextBox 42"/>
          <p:cNvSpPr txBox="1"/>
          <p:nvPr/>
        </p:nvSpPr>
        <p:spPr>
          <a:xfrm>
            <a:off x="551880" y="5793795"/>
            <a:ext cx="896313" cy="136080"/>
          </a:xfrm>
          <a:prstGeom prst="rect">
            <a:avLst/>
          </a:prstGeom>
          <a:noFill/>
        </p:spPr>
        <p:txBody>
          <a:bodyPr wrap="none" lIns="0" rIns="0" tIns="0" bIns="0" anchor="t"/>
          <a:lstStyle/>
          <a:p>
            <a:pPr algn="l">
              <a:lnSpc>
                <a:spcPts val="1035"/>
              </a:lnSpc>
            </a:pPr>
            <a:r>
              <a:rPr sz="863" b="0" i="0">
                <a:solidFill>
                  <a:srgbClr val="FFFFFF"/>
                </a:solidFill>
                <a:latin typeface="Versos"/>
              </a:rPr>
              <a:t>Desde o início</a:t>
            </a:r>
          </a:p>
        </p:txBody>
      </p:sp>
      <p:sp>
        <p:nvSpPr>
          <p:cNvPr id="44" name="TextBox 43"/>
          <p:cNvSpPr txBox="1"/>
          <p:nvPr/>
        </p:nvSpPr>
        <p:spPr>
          <a:xfrm>
            <a:off x="551880" y="5975235"/>
            <a:ext cx="896313"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5" name="TextBox 44"/>
          <p:cNvSpPr txBox="1"/>
          <p:nvPr/>
        </p:nvSpPr>
        <p:spPr>
          <a:xfrm>
            <a:off x="551880" y="6111315"/>
            <a:ext cx="896313" cy="204120"/>
          </a:xfrm>
          <a:prstGeom prst="rect">
            <a:avLst/>
          </a:prstGeom>
          <a:noFill/>
        </p:spPr>
        <p:txBody>
          <a:bodyPr wrap="none" lIns="0" rIns="0" tIns="0" bIns="0" anchor="t"/>
          <a:lstStyle/>
          <a:p>
            <a:pPr algn="l">
              <a:lnSpc>
                <a:spcPts val="1440"/>
              </a:lnSpc>
            </a:pPr>
            <a:r>
              <a:rPr sz="1309" b="1" i="0">
                <a:solidFill>
                  <a:srgbClr val="FFFFFF"/>
                </a:solidFill>
                <a:latin typeface="Versos"/>
              </a:rPr>
              <a:t>1,17%</a:t>
            </a:r>
          </a:p>
        </p:txBody>
      </p:sp>
      <p:sp>
        <p:nvSpPr>
          <p:cNvPr id="46" name="TextBox 45"/>
          <p:cNvSpPr txBox="1"/>
          <p:nvPr/>
        </p:nvSpPr>
        <p:spPr>
          <a:xfrm>
            <a:off x="1663200" y="5793795"/>
            <a:ext cx="762652" cy="136080"/>
          </a:xfrm>
          <a:prstGeom prst="rect">
            <a:avLst/>
          </a:prstGeom>
          <a:noFill/>
        </p:spPr>
        <p:txBody>
          <a:bodyPr wrap="none" lIns="0" rIns="0" tIns="0" bIns="0" anchor="t"/>
          <a:lstStyle/>
          <a:p>
            <a:pPr algn="l">
              <a:lnSpc>
                <a:spcPts val="1035"/>
              </a:lnSpc>
            </a:pPr>
            <a:r>
              <a:rPr sz="863" b="0" i="0">
                <a:solidFill>
                  <a:srgbClr val="FFFFFF"/>
                </a:solidFill>
                <a:latin typeface="Versos"/>
              </a:rPr>
              <a:t>Mês</a:t>
            </a:r>
          </a:p>
        </p:txBody>
      </p:sp>
      <p:sp>
        <p:nvSpPr>
          <p:cNvPr id="47" name="TextBox 46"/>
          <p:cNvSpPr txBox="1"/>
          <p:nvPr/>
        </p:nvSpPr>
        <p:spPr>
          <a:xfrm>
            <a:off x="1663200" y="5975235"/>
            <a:ext cx="762652" cy="151200"/>
          </a:xfrm>
          <a:prstGeom prst="rect">
            <a:avLst/>
          </a:prstGeom>
          <a:noFill/>
        </p:spPr>
        <p:txBody>
          <a:bodyPr wrap="none" lIns="0" rIns="0" tIns="0" bIns="0" anchor="t"/>
          <a:lstStyle/>
          <a:p>
            <a:pPr algn="l">
              <a:lnSpc>
                <a:spcPts val="1178"/>
              </a:lnSpc>
            </a:pPr>
            <a:r>
              <a:rPr sz="982" b="1" i="0">
                <a:solidFill>
                  <a:srgbClr val="FFFFFF"/>
                </a:solidFill>
                <a:latin typeface="Versos"/>
              </a:rPr>
              <a:t>CDI +</a:t>
            </a:r>
          </a:p>
        </p:txBody>
      </p:sp>
      <p:sp>
        <p:nvSpPr>
          <p:cNvPr id="48" name="TextBox 47"/>
          <p:cNvSpPr txBox="1"/>
          <p:nvPr/>
        </p:nvSpPr>
        <p:spPr>
          <a:xfrm>
            <a:off x="1663200" y="6111315"/>
            <a:ext cx="762652" cy="204120"/>
          </a:xfrm>
          <a:prstGeom prst="rect">
            <a:avLst/>
          </a:prstGeom>
          <a:noFill/>
        </p:spPr>
        <p:txBody>
          <a:bodyPr wrap="none" lIns="0" rIns="0" tIns="0" bIns="0" anchor="t"/>
          <a:lstStyle/>
          <a:p>
            <a:pPr algn="l">
              <a:lnSpc>
                <a:spcPts val="1440"/>
              </a:lnSpc>
            </a:pPr>
            <a:r>
              <a:rPr sz="1309" b="1" i="0">
                <a:solidFill>
                  <a:srgbClr val="FFFFFF"/>
                </a:solidFill>
                <a:latin typeface="Versos"/>
              </a:rPr>
              <a:t>−0,58%</a:t>
            </a:r>
          </a:p>
        </p:txBody>
      </p:sp>
      <p:sp>
        <p:nvSpPr>
          <p:cNvPr id="49" name="TextBox 48"/>
          <p:cNvSpPr txBox="1"/>
          <p:nvPr/>
        </p:nvSpPr>
        <p:spPr>
          <a:xfrm>
            <a:off x="2804641" y="6498292"/>
            <a:ext cx="645085"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50" name="TextBox 49"/>
          <p:cNvSpPr txBox="1"/>
          <p:nvPr/>
        </p:nvSpPr>
        <p:spPr>
          <a:xfrm>
            <a:off x="4513556" y="6498292"/>
            <a:ext cx="251473"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51" name="TextBox 5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111111"/>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2289735" y="37422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 qualificado</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11/11/2025</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1,15%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15% do retorno que exceder CDI+0,65%</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D+1</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D+50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R$ 20.571.241,16</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(12M)</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R$ 19.052.692,02</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