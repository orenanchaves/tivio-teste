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1,03%</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10,64%</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13,76%</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12,60%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95,47%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101,22%</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109,18%</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−0,58%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581324"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581324" cy="189000"/>
          </a:xfrm>
          <a:prstGeom prst="rect">
            <a:avLst/>
          </a:prstGeom>
          <a:noFill/>
        </p:spPr>
        <p:txBody>
          <a:bodyPr wrap="none" lIns="0" rIns="0" tIns="0" bIns="0" anchor="t"/>
          <a:lstStyle/>
          <a:p>
            <a:pPr algn="l">
              <a:lnSpc>
                <a:spcPts val="1375"/>
              </a:lnSpc>
            </a:pPr>
            <a:r>
              <a:rPr sz="1250" b="1" i="0">
                <a:solidFill>
                  <a:srgbClr val="2B3744"/>
                </a:solidFill>
                <a:latin typeface="Versos"/>
              </a:rPr>
              <a:t>39,6%</a:t>
            </a:r>
          </a:p>
        </p:txBody>
      </p:sp>
      <p:sp>
        <p:nvSpPr>
          <p:cNvPr id="45" name="TextBox 44"/>
          <p:cNvSpPr txBox="1"/>
          <p:nvPr/>
        </p:nvSpPr>
        <p:spPr>
          <a:xfrm>
            <a:off x="3177562" y="6089934"/>
            <a:ext cx="1554761"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6" name="TextBox 45"/>
          <p:cNvSpPr txBox="1"/>
          <p:nvPr/>
        </p:nvSpPr>
        <p:spPr>
          <a:xfrm>
            <a:off x="3177562" y="6387609"/>
            <a:ext cx="1616951" cy="189000"/>
          </a:xfrm>
          <a:prstGeom prst="rect">
            <a:avLst/>
          </a:prstGeom>
          <a:noFill/>
        </p:spPr>
        <p:txBody>
          <a:bodyPr wrap="none" lIns="0" rIns="0" tIns="0" bIns="0" anchor="t"/>
          <a:lstStyle/>
          <a:p>
            <a:pPr algn="l">
              <a:lnSpc>
                <a:spcPts val="1375"/>
              </a:lnSpc>
            </a:pPr>
            <a:r>
              <a:rPr sz="1250" b="1" i="0">
                <a:solidFill>
                  <a:srgbClr val="FFFFFF"/>
                </a:solidFill>
                <a:latin typeface="Versos"/>
              </a:rPr>
              <a:t>25,9%</a:t>
            </a:r>
          </a:p>
        </p:txBody>
      </p:sp>
      <p:sp>
        <p:nvSpPr>
          <p:cNvPr id="47" name="TextBox 46"/>
          <p:cNvSpPr txBox="1"/>
          <p:nvPr/>
        </p:nvSpPr>
        <p:spPr>
          <a:xfrm>
            <a:off x="4929001" y="6089934"/>
            <a:ext cx="1410766" cy="292477"/>
          </a:xfrm>
          <a:prstGeom prst="rect">
            <a:avLst/>
          </a:prstGeom>
          <a:noFill/>
        </p:spPr>
        <p:txBody>
          <a:bodyPr wrap="square" lIns="0" rIns="0" tIns="0" bIns="0" anchor="t"/>
          <a:lstStyle/>
          <a:p>
            <a:pPr algn="l">
              <a:lnSpc>
                <a:spcPts val="1113"/>
              </a:lnSpc>
            </a:pPr>
            <a:r>
              <a:rPr sz="1012" b="0" i="0">
                <a:solidFill>
                  <a:srgbClr val="2B3744"/>
                </a:solidFill>
                <a:latin typeface="Versos"/>
              </a:rPr>
              <a:t>Crédito</a:t>
            </a:r>
          </a:p>
          <a:p>
            <a:pPr algn="l">
              <a:lnSpc>
                <a:spcPts val="1113"/>
              </a:lnSpc>
            </a:pPr>
            <a:r>
              <a:rPr sz="1012" b="1" i="0">
                <a:solidFill>
                  <a:srgbClr val="2B3744"/>
                </a:solidFill>
                <a:latin typeface="Versos"/>
              </a:rPr>
              <a:t>Privado</a:t>
            </a:r>
          </a:p>
        </p:txBody>
      </p:sp>
      <p:sp>
        <p:nvSpPr>
          <p:cNvPr id="48" name="TextBox 47"/>
          <p:cNvSpPr txBox="1"/>
          <p:nvPr/>
        </p:nvSpPr>
        <p:spPr>
          <a:xfrm>
            <a:off x="4929001" y="6387609"/>
            <a:ext cx="1467197" cy="189000"/>
          </a:xfrm>
          <a:prstGeom prst="rect">
            <a:avLst/>
          </a:prstGeom>
          <a:noFill/>
        </p:spPr>
        <p:txBody>
          <a:bodyPr wrap="none" lIns="0" rIns="0" tIns="0" bIns="0" anchor="t"/>
          <a:lstStyle/>
          <a:p>
            <a:pPr algn="l">
              <a:lnSpc>
                <a:spcPts val="1375"/>
              </a:lnSpc>
            </a:pPr>
            <a:r>
              <a:rPr sz="1250" b="1" i="0">
                <a:solidFill>
                  <a:srgbClr val="2B3744"/>
                </a:solidFill>
                <a:latin typeface="Versos"/>
              </a:rPr>
              <a:t>23,8%</a:t>
            </a:r>
          </a:p>
        </p:txBody>
      </p:sp>
      <p:sp>
        <p:nvSpPr>
          <p:cNvPr id="49" name="TextBox 48"/>
          <p:cNvSpPr txBox="1"/>
          <p:nvPr/>
        </p:nvSpPr>
        <p:spPr>
          <a:xfrm>
            <a:off x="6495457" y="6011381"/>
            <a:ext cx="630589" cy="120960"/>
          </a:xfrm>
          <a:prstGeom prst="rect">
            <a:avLst/>
          </a:prstGeom>
          <a:noFill/>
        </p:spPr>
        <p:txBody>
          <a:bodyPr wrap="none" lIns="0" rIns="0" tIns="0" bIns="0" anchor="t"/>
          <a:lstStyle/>
          <a:p>
            <a:pPr algn="l">
              <a:lnSpc>
                <a:spcPts val="870"/>
              </a:lnSpc>
            </a:pPr>
            <a:r>
              <a:rPr sz="791" b="0" i="0">
                <a:solidFill>
                  <a:srgbClr val="2B3744"/>
                </a:solidFill>
                <a:latin typeface="Versos"/>
              </a:rPr>
              <a:t>Liquidez</a:t>
            </a:r>
          </a:p>
        </p:txBody>
      </p:sp>
      <p:sp>
        <p:nvSpPr>
          <p:cNvPr id="50" name="TextBox 49"/>
          <p:cNvSpPr txBox="1"/>
          <p:nvPr/>
        </p:nvSpPr>
        <p:spPr>
          <a:xfrm>
            <a:off x="6495457" y="6137066"/>
            <a:ext cx="630589" cy="181440"/>
          </a:xfrm>
          <a:prstGeom prst="rect">
            <a:avLst/>
          </a:prstGeom>
          <a:noFill/>
        </p:spPr>
        <p:txBody>
          <a:bodyPr wrap="none" lIns="0" rIns="0" tIns="0" bIns="0" anchor="t"/>
          <a:lstStyle/>
          <a:p>
            <a:pPr algn="l">
              <a:lnSpc>
                <a:spcPts val="1342"/>
              </a:lnSpc>
            </a:pPr>
            <a:r>
              <a:rPr sz="1220" b="1" i="0">
                <a:solidFill>
                  <a:srgbClr val="2B3744"/>
                </a:solidFill>
                <a:latin typeface="Versos"/>
              </a:rPr>
              <a:t>8,2%</a:t>
            </a:r>
          </a:p>
        </p:txBody>
      </p:sp>
      <p:sp>
        <p:nvSpPr>
          <p:cNvPr id="51" name="TextBox 50"/>
          <p:cNvSpPr txBox="1"/>
          <p:nvPr/>
        </p:nvSpPr>
        <p:spPr>
          <a:xfrm>
            <a:off x="6495457" y="6404146"/>
            <a:ext cx="630589" cy="75600"/>
          </a:xfrm>
          <a:prstGeom prst="rect">
            <a:avLst/>
          </a:prstGeom>
          <a:noFill/>
        </p:spPr>
        <p:txBody>
          <a:bodyPr wrap="none" lIns="0" rIns="0" tIns="0" bIns="0" anchor="t"/>
          <a:lstStyle/>
          <a:p>
            <a:pPr algn="l">
              <a:lnSpc>
                <a:spcPts val="550"/>
              </a:lnSpc>
            </a:pPr>
            <a:r>
              <a:rPr sz="500" b="0" i="0">
                <a:solidFill>
                  <a:srgbClr val="FFFFFF"/>
                </a:solidFill>
                <a:latin typeface="Versos"/>
              </a:rPr>
              <a:t>FIP</a:t>
            </a:r>
          </a:p>
        </p:txBody>
      </p:sp>
      <p:sp>
        <p:nvSpPr>
          <p:cNvPr id="52" name="TextBox 51"/>
          <p:cNvSpPr txBox="1"/>
          <p:nvPr/>
        </p:nvSpPr>
        <p:spPr>
          <a:xfrm>
            <a:off x="6495457" y="6489078"/>
            <a:ext cx="630589" cy="120960"/>
          </a:xfrm>
          <a:prstGeom prst="rect">
            <a:avLst/>
          </a:prstGeom>
          <a:noFill/>
        </p:spPr>
        <p:txBody>
          <a:bodyPr wrap="none" lIns="0" rIns="0" tIns="0" bIns="0" anchor="t"/>
          <a:lstStyle/>
          <a:p>
            <a:pPr algn="l">
              <a:lnSpc>
                <a:spcPts val="897"/>
              </a:lnSpc>
            </a:pPr>
            <a:r>
              <a:rPr sz="815" b="1" i="0">
                <a:solidFill>
                  <a:srgbClr val="FFFFFF"/>
                </a:solidFill>
                <a:latin typeface="Versos"/>
              </a:rPr>
              <a:t>2,4%</a:t>
            </a:r>
          </a:p>
        </p:txBody>
      </p:sp>
      <p:sp>
        <p:nvSpPr>
          <p:cNvPr id="53" name="TextBox 52"/>
          <p:cNvSpPr txBox="1"/>
          <p:nvPr/>
        </p:nvSpPr>
        <p:spPr>
          <a:xfrm>
            <a:off x="529200" y="6743638"/>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39,6%</a:t>
            </a:r>
          </a:p>
        </p:txBody>
      </p:sp>
      <p:sp>
        <p:nvSpPr>
          <p:cNvPr id="54" name="TextBox 53"/>
          <p:cNvSpPr txBox="1"/>
          <p:nvPr/>
        </p:nvSpPr>
        <p:spPr>
          <a:xfrm>
            <a:off x="1540586" y="6743638"/>
            <a:ext cx="12305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25,9%</a:t>
            </a:r>
          </a:p>
        </p:txBody>
      </p:sp>
      <p:sp>
        <p:nvSpPr>
          <p:cNvPr id="55" name="TextBox 54"/>
          <p:cNvSpPr txBox="1"/>
          <p:nvPr/>
        </p:nvSpPr>
        <p:spPr>
          <a:xfrm>
            <a:off x="2988444" y="6743638"/>
            <a:ext cx="1083045"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23,8%</a:t>
            </a:r>
          </a:p>
        </p:txBody>
      </p:sp>
      <p:sp>
        <p:nvSpPr>
          <p:cNvPr id="56" name="TextBox 55"/>
          <p:cNvSpPr txBox="1"/>
          <p:nvPr/>
        </p:nvSpPr>
        <p:spPr>
          <a:xfrm>
            <a:off x="4294434" y="6743638"/>
            <a:ext cx="69041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8,2%</a:t>
            </a:r>
          </a:p>
        </p:txBody>
      </p:sp>
      <p:sp>
        <p:nvSpPr>
          <p:cNvPr id="57" name="TextBox 56"/>
          <p:cNvSpPr txBox="1"/>
          <p:nvPr/>
        </p:nvSpPr>
        <p:spPr>
          <a:xfrm>
            <a:off x="5222896" y="6743638"/>
            <a:ext cx="462898" cy="113400"/>
          </a:xfrm>
          <a:prstGeom prst="rect">
            <a:avLst/>
          </a:prstGeom>
          <a:noFill/>
        </p:spPr>
        <p:txBody>
          <a:bodyPr wrap="none" lIns="0" rIns="0" tIns="0" bIns="0" anchor="t"/>
          <a:lstStyle/>
          <a:p>
            <a:pPr algn="l">
              <a:lnSpc>
                <a:spcPts val="892"/>
              </a:lnSpc>
            </a:pPr>
            <a:r>
              <a:rPr sz="744" b="0" i="0">
                <a:solidFill>
                  <a:srgbClr val="333333"/>
                </a:solidFill>
                <a:latin typeface="Versos"/>
              </a:rPr>
              <a:t>FIP </a:t>
            </a:r>
            <a:r>
              <a:rPr sz="744" b="1" i="0">
                <a:solidFill>
                  <a:srgbClr val="111111"/>
                </a:solidFill>
                <a:latin typeface="Versos"/>
              </a:rPr>
              <a:t>2,4%</a:t>
            </a:r>
          </a:p>
        </p:txBody>
      </p:sp>
      <p:sp>
        <p:nvSpPr>
          <p:cNvPr id="58" name="TextBox 57"/>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839838"/>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O Tivio ALT Light registrou rentabilidade de 1,03% no mês, equivalente a 95,47% do CDI no período. Desde o início da estratégia, o fundo acumula retorno de 13,76%, frente a 12,60% do CDI, o que corresponde a um desempenho anualizado de 109% do CDI.</a:t>
            </a:r>
          </a:p>
        </p:txBody>
      </p:sp>
      <p:sp>
        <p:nvSpPr>
          <p:cNvPr id="60" name="TextBox 59"/>
          <p:cNvSpPr txBox="1"/>
          <p:nvPr/>
        </p:nvSpPr>
        <p:spPr>
          <a:xfrm>
            <a:off x="415800" y="8113888"/>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61" name="TextBox 60"/>
          <p:cNvSpPr txBox="1"/>
          <p:nvPr/>
        </p:nvSpPr>
        <p:spPr>
          <a:xfrm>
            <a:off x="415800" y="8497203"/>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62" name="TextBox 61"/>
          <p:cNvSpPr txBox="1"/>
          <p:nvPr/>
        </p:nvSpPr>
        <p:spPr>
          <a:xfrm>
            <a:off x="415800" y="8880519"/>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63" name="TextBox 62"/>
          <p:cNvSpPr txBox="1"/>
          <p:nvPr/>
        </p:nvSpPr>
        <p:spPr>
          <a:xfrm>
            <a:off x="415800" y="9154569"/>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64" name="TextBox 63"/>
          <p:cNvSpPr txBox="1"/>
          <p:nvPr/>
        </p:nvSpPr>
        <p:spPr>
          <a:xfrm>
            <a:off x="415800" y="9537885"/>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 parcela da carteira de crédito estruturado. ao longo do mês, a carteira manteve-se praticamente inalterada, com apenas ajustes pontuais associados à gestão cotidiana do portfólio. Seguimos investidos em operações com sólidos fundamentos de crédito, preservando uma diversificação adequada entre setores, emissores e diferentes estratégias de investimento</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2702" cy="120960"/>
          </a:xfrm>
          <a:prstGeom prst="rect">
            <a:avLst/>
          </a:prstGeom>
          <a:noFill/>
        </p:spPr>
        <p:txBody>
          <a:bodyPr wrap="none" lIns="0" rIns="0" tIns="0" bIns="0" anchor="t"/>
          <a:lstStyle/>
          <a:p>
            <a:pPr algn="l">
              <a:lnSpc>
                <a:spcPts val="971"/>
              </a:lnSpc>
            </a:pPr>
            <a:r>
              <a:rPr sz="809" b="0" i="0">
                <a:solidFill>
                  <a:srgbClr val="4F7A93"/>
                </a:solidFill>
                <a:latin typeface="Versos"/>
              </a:rPr>
              <a:t>39,63%</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8" name="TextBox 7"/>
          <p:cNvSpPr txBox="1"/>
          <p:nvPr/>
        </p:nvSpPr>
        <p:spPr>
          <a:xfrm>
            <a:off x="3059791" y="1789357"/>
            <a:ext cx="408844" cy="120960"/>
          </a:xfrm>
          <a:prstGeom prst="rect">
            <a:avLst/>
          </a:prstGeom>
          <a:noFill/>
        </p:spPr>
        <p:txBody>
          <a:bodyPr wrap="none" lIns="0" rIns="0" tIns="0" bIns="0" anchor="t"/>
          <a:lstStyle/>
          <a:p>
            <a:pPr algn="l">
              <a:lnSpc>
                <a:spcPts val="971"/>
              </a:lnSpc>
            </a:pPr>
            <a:r>
              <a:rPr sz="809" b="0" i="0">
                <a:solidFill>
                  <a:srgbClr val="4F7A93"/>
                </a:solidFill>
                <a:latin typeface="Versos"/>
              </a:rPr>
              <a:t>34,38%</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10" name="TextBox 9"/>
          <p:cNvSpPr txBox="1"/>
          <p:nvPr/>
        </p:nvSpPr>
        <p:spPr>
          <a:xfrm>
            <a:off x="2519133" y="1978357"/>
            <a:ext cx="380097" cy="120960"/>
          </a:xfrm>
          <a:prstGeom prst="rect">
            <a:avLst/>
          </a:prstGeom>
          <a:noFill/>
        </p:spPr>
        <p:txBody>
          <a:bodyPr wrap="none" lIns="0" rIns="0" tIns="0" bIns="0" anchor="t"/>
          <a:lstStyle/>
          <a:p>
            <a:pPr algn="l">
              <a:lnSpc>
                <a:spcPts val="971"/>
              </a:lnSpc>
            </a:pPr>
            <a:r>
              <a:rPr sz="809" b="0" i="0">
                <a:solidFill>
                  <a:srgbClr val="4F7A93"/>
                </a:solidFill>
                <a:latin typeface="Versos"/>
              </a:rPr>
              <a:t>16,40%</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2" name="TextBox 11"/>
          <p:cNvSpPr txBox="1"/>
          <p:nvPr/>
        </p:nvSpPr>
        <p:spPr>
          <a:xfrm>
            <a:off x="2218033" y="2167357"/>
            <a:ext cx="336977" cy="120960"/>
          </a:xfrm>
          <a:prstGeom prst="rect">
            <a:avLst/>
          </a:prstGeom>
          <a:noFill/>
        </p:spPr>
        <p:txBody>
          <a:bodyPr wrap="none" lIns="0" rIns="0" tIns="0" bIns="0" anchor="t"/>
          <a:lstStyle/>
          <a:p>
            <a:pPr algn="l">
              <a:lnSpc>
                <a:spcPts val="971"/>
              </a:lnSpc>
            </a:pPr>
            <a:r>
              <a:rPr sz="809" b="0" i="0">
                <a:solidFill>
                  <a:srgbClr val="4F7A93"/>
                </a:solidFill>
                <a:latin typeface="Versos"/>
              </a:rPr>
              <a:t>6,39%</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4" name="TextBox 13"/>
          <p:cNvSpPr txBox="1"/>
          <p:nvPr/>
        </p:nvSpPr>
        <p:spPr>
          <a:xfrm>
            <a:off x="2165821" y="2356357"/>
            <a:ext cx="333783" cy="120960"/>
          </a:xfrm>
          <a:prstGeom prst="rect">
            <a:avLst/>
          </a:prstGeom>
          <a:noFill/>
        </p:spPr>
        <p:txBody>
          <a:bodyPr wrap="none" lIns="0" rIns="0" tIns="0" bIns="0" anchor="t"/>
          <a:lstStyle/>
          <a:p>
            <a:pPr algn="l">
              <a:lnSpc>
                <a:spcPts val="971"/>
              </a:lnSpc>
            </a:pPr>
            <a:r>
              <a:rPr sz="809" b="0" i="0">
                <a:solidFill>
                  <a:srgbClr val="4F7A93"/>
                </a:solidFill>
                <a:latin typeface="Versos"/>
              </a:rPr>
              <a:t>4,65%</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16" name="TextBox 15"/>
          <p:cNvSpPr txBox="1"/>
          <p:nvPr/>
        </p:nvSpPr>
        <p:spPr>
          <a:xfrm>
            <a:off x="2152710" y="2545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4,22%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31447" y="2734357"/>
            <a:ext cx="300736" cy="120960"/>
          </a:xfrm>
          <a:prstGeom prst="rect">
            <a:avLst/>
          </a:prstGeom>
          <a:noFill/>
        </p:spPr>
        <p:txBody>
          <a:bodyPr wrap="none" lIns="0" rIns="0" tIns="0" bIns="0" anchor="t"/>
          <a:lstStyle/>
          <a:p>
            <a:pPr algn="l">
              <a:lnSpc>
                <a:spcPts val="971"/>
              </a:lnSpc>
            </a:pPr>
            <a:r>
              <a:rPr sz="809" b="0" i="0">
                <a:solidFill>
                  <a:srgbClr val="4F7A93"/>
                </a:solidFill>
                <a:latin typeface="Versos"/>
              </a:rPr>
              <a:t>3,51%</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20" name="TextBox 19"/>
          <p:cNvSpPr txBox="1"/>
          <p:nvPr/>
        </p:nvSpPr>
        <p:spPr>
          <a:xfrm>
            <a:off x="2129321" y="2923357"/>
            <a:ext cx="332800" cy="120960"/>
          </a:xfrm>
          <a:prstGeom prst="rect">
            <a:avLst/>
          </a:prstGeom>
          <a:noFill/>
        </p:spPr>
        <p:txBody>
          <a:bodyPr wrap="none" lIns="0" rIns="0" tIns="0" bIns="0" anchor="t"/>
          <a:lstStyle/>
          <a:p>
            <a:pPr algn="l">
              <a:lnSpc>
                <a:spcPts val="971"/>
              </a:lnSpc>
            </a:pPr>
            <a:r>
              <a:rPr sz="809" b="0" i="0">
                <a:solidFill>
                  <a:srgbClr val="4F7A93"/>
                </a:solidFill>
                <a:latin typeface="Versos"/>
              </a:rPr>
              <a:t>3,44%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2" name="TextBox 21"/>
          <p:cNvSpPr txBox="1"/>
          <p:nvPr/>
        </p:nvSpPr>
        <p:spPr>
          <a:xfrm>
            <a:off x="2114083" y="3112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2,93%</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Varejo Eletrodoméstico</a:t>
            </a:r>
          </a:p>
        </p:txBody>
      </p:sp>
      <p:sp>
        <p:nvSpPr>
          <p:cNvPr id="24" name="TextBox 23"/>
          <p:cNvSpPr txBox="1"/>
          <p:nvPr/>
        </p:nvSpPr>
        <p:spPr>
          <a:xfrm>
            <a:off x="2096718" y="3301357"/>
            <a:ext cx="335994" cy="120960"/>
          </a:xfrm>
          <a:prstGeom prst="rect">
            <a:avLst/>
          </a:prstGeom>
          <a:noFill/>
        </p:spPr>
        <p:txBody>
          <a:bodyPr wrap="none" lIns="0" rIns="0" tIns="0" bIns="0" anchor="t"/>
          <a:lstStyle/>
          <a:p>
            <a:pPr algn="l">
              <a:lnSpc>
                <a:spcPts val="971"/>
              </a:lnSpc>
            </a:pPr>
            <a:r>
              <a:rPr sz="809" b="0" i="0">
                <a:solidFill>
                  <a:srgbClr val="4F7A93"/>
                </a:solidFill>
                <a:latin typeface="Versos"/>
              </a:rPr>
              <a:t>2,36%</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26" name="TextBox 25"/>
          <p:cNvSpPr txBox="1"/>
          <p:nvPr/>
        </p:nvSpPr>
        <p:spPr>
          <a:xfrm>
            <a:off x="2085496" y="3490357"/>
            <a:ext cx="309950" cy="120960"/>
          </a:xfrm>
          <a:prstGeom prst="rect">
            <a:avLst/>
          </a:prstGeom>
          <a:noFill/>
        </p:spPr>
        <p:txBody>
          <a:bodyPr wrap="none" lIns="0" rIns="0" tIns="0" bIns="0" anchor="t"/>
          <a:lstStyle/>
          <a:p>
            <a:pPr algn="l">
              <a:lnSpc>
                <a:spcPts val="971"/>
              </a:lnSpc>
            </a:pPr>
            <a:r>
              <a:rPr sz="809" b="0" i="0">
                <a:solidFill>
                  <a:srgbClr val="4F7A93"/>
                </a:solidFill>
                <a:latin typeface="Versos"/>
              </a:rPr>
              <a:t>1,98%</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8" name="TextBox 27"/>
          <p:cNvSpPr txBox="1"/>
          <p:nvPr/>
        </p:nvSpPr>
        <p:spPr>
          <a:xfrm>
            <a:off x="2078881" y="3679357"/>
            <a:ext cx="299999" cy="120960"/>
          </a:xfrm>
          <a:prstGeom prst="rect">
            <a:avLst/>
          </a:prstGeom>
          <a:noFill/>
        </p:spPr>
        <p:txBody>
          <a:bodyPr wrap="none" lIns="0" rIns="0" tIns="0" bIns="0" anchor="t"/>
          <a:lstStyle/>
          <a:p>
            <a:pPr algn="l">
              <a:lnSpc>
                <a:spcPts val="971"/>
              </a:lnSpc>
            </a:pPr>
            <a:r>
              <a:rPr sz="809" b="0" i="0">
                <a:solidFill>
                  <a:srgbClr val="4F7A93"/>
                </a:solidFill>
                <a:latin typeface="Versos"/>
              </a:rPr>
              <a:t>1,76%</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76046" y="3868357"/>
            <a:ext cx="297297" cy="120960"/>
          </a:xfrm>
          <a:prstGeom prst="rect">
            <a:avLst/>
          </a:prstGeom>
          <a:noFill/>
        </p:spPr>
        <p:txBody>
          <a:bodyPr wrap="none" lIns="0" rIns="0" tIns="0" bIns="0" anchor="t"/>
          <a:lstStyle/>
          <a:p>
            <a:pPr algn="l">
              <a:lnSpc>
                <a:spcPts val="971"/>
              </a:lnSpc>
            </a:pPr>
            <a:r>
              <a:rPr sz="809" b="0" i="0">
                <a:solidFill>
                  <a:srgbClr val="4F7A93"/>
                </a:solidFill>
                <a:latin typeface="Versos"/>
              </a:rPr>
              <a:t>1,67%</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32" name="TextBox 31"/>
          <p:cNvSpPr txBox="1"/>
          <p:nvPr/>
        </p:nvSpPr>
        <p:spPr>
          <a:xfrm>
            <a:off x="2073330" y="4057357"/>
            <a:ext cx="309459" cy="120960"/>
          </a:xfrm>
          <a:prstGeom prst="rect">
            <a:avLst/>
          </a:prstGeom>
          <a:noFill/>
        </p:spPr>
        <p:txBody>
          <a:bodyPr wrap="none" lIns="0" rIns="0" tIns="0" bIns="0" anchor="t"/>
          <a:lstStyle/>
          <a:p>
            <a:pPr algn="l">
              <a:lnSpc>
                <a:spcPts val="971"/>
              </a:lnSpc>
            </a:pPr>
            <a:r>
              <a:rPr sz="809" b="0" i="0">
                <a:solidFill>
                  <a:srgbClr val="4F7A93"/>
                </a:solidFill>
                <a:latin typeface="Versos"/>
              </a:rPr>
              <a:t>1,58%</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49350" y="4246357"/>
            <a:ext cx="329238" cy="120960"/>
          </a:xfrm>
          <a:prstGeom prst="rect">
            <a:avLst/>
          </a:prstGeom>
          <a:noFill/>
        </p:spPr>
        <p:txBody>
          <a:bodyPr wrap="none" lIns="0" rIns="0" tIns="0" bIns="0" anchor="t"/>
          <a:lstStyle/>
          <a:p>
            <a:pPr algn="l">
              <a:lnSpc>
                <a:spcPts val="971"/>
              </a:lnSpc>
            </a:pPr>
            <a:r>
              <a:rPr sz="809" b="0" i="0">
                <a:solidFill>
                  <a:srgbClr val="4F7A93"/>
                </a:solidFill>
                <a:latin typeface="Versos"/>
              </a:rPr>
              <a:t>0,78%</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1,17%</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−0,58%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R$ 20.571.241,16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R$ 19.052.692,02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