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RF CP FIF – RL </a:t>
            </a:r>
            <a:r>
              <a:rPr sz="829" b="0" i="0">
                <a:solidFill>
                  <a:srgbClr val="FFFFFF"/>
                </a:solidFill>
                <a:latin typeface="Versos"/>
              </a:rPr>
              <a:t>/ CNPJ 06.866.051/0001-87</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1,03%</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10,44%</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14,40%</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30,10%</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47,28%</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835,02%</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10,51%</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14,48%</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29,81%</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44,25%</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763,13%</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−0,05%</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−0,07%</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−0,08%</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0,29%</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3,03%</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71,89%</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95%</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99%</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99%</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107%</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30/09/2026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01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44" name="TextBox 43"/>
          <p:cNvSpPr txBox="1"/>
          <p:nvPr/>
        </p:nvSpPr>
        <p:spPr>
          <a:xfrm>
            <a:off x="2831928" y="5638224"/>
            <a:ext cx="368918" cy="143640"/>
          </a:xfrm>
          <a:prstGeom prst="rect">
            <a:avLst/>
          </a:prstGeom>
          <a:noFill/>
        </p:spPr>
        <p:txBody>
          <a:bodyPr wrap="none" lIns="0" rIns="0" tIns="0" bIns="0" anchor="t"/>
          <a:lstStyle/>
          <a:p>
            <a:pPr algn="l">
              <a:lnSpc>
                <a:spcPts val="1107"/>
              </a:lnSpc>
            </a:pPr>
            <a:r>
              <a:rPr sz="922" b="0" i="0">
                <a:solidFill>
                  <a:srgbClr val="5A82A0"/>
                </a:solidFill>
                <a:latin typeface="Versos"/>
              </a:rPr>
              <a:t>3,97%</a:t>
            </a:r>
          </a:p>
        </p:txBody>
      </p:sp>
      <p:sp>
        <p:nvSpPr>
          <p:cNvPr id="45" name="TextBox 44"/>
          <p:cNvSpPr txBox="1"/>
          <p:nvPr/>
        </p:nvSpPr>
        <p:spPr>
          <a:xfrm>
            <a:off x="400680" y="6108125"/>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6" name="TextBox 45"/>
          <p:cNvSpPr txBox="1"/>
          <p:nvPr/>
        </p:nvSpPr>
        <p:spPr>
          <a:xfrm>
            <a:off x="2760108" y="6106235"/>
            <a:ext cx="387591" cy="143640"/>
          </a:xfrm>
          <a:prstGeom prst="rect">
            <a:avLst/>
          </a:prstGeom>
          <a:noFill/>
        </p:spPr>
        <p:txBody>
          <a:bodyPr wrap="none" lIns="0" rIns="0" tIns="0" bIns="0" anchor="t"/>
          <a:lstStyle/>
          <a:p>
            <a:pPr algn="l">
              <a:lnSpc>
                <a:spcPts val="1107"/>
              </a:lnSpc>
            </a:pPr>
            <a:r>
              <a:rPr sz="922" b="0" i="0">
                <a:solidFill>
                  <a:srgbClr val="5A82A0"/>
                </a:solidFill>
                <a:latin typeface="Versos"/>
              </a:rPr>
              <a:t>3,80%</a:t>
            </a:r>
          </a:p>
        </p:txBody>
      </p:sp>
      <p:sp>
        <p:nvSpPr>
          <p:cNvPr id="47" name="TextBox 46"/>
          <p:cNvSpPr txBox="1"/>
          <p:nvPr/>
        </p:nvSpPr>
        <p:spPr>
          <a:xfrm>
            <a:off x="400680" y="657625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48" name="TextBox 47"/>
          <p:cNvSpPr txBox="1"/>
          <p:nvPr/>
        </p:nvSpPr>
        <p:spPr>
          <a:xfrm>
            <a:off x="2757273" y="6574365"/>
            <a:ext cx="371989" cy="143640"/>
          </a:xfrm>
          <a:prstGeom prst="rect">
            <a:avLst/>
          </a:prstGeom>
          <a:noFill/>
        </p:spPr>
        <p:txBody>
          <a:bodyPr wrap="none" lIns="0" rIns="0" tIns="0" bIns="0" anchor="t"/>
          <a:lstStyle/>
          <a:p>
            <a:pPr algn="l">
              <a:lnSpc>
                <a:spcPts val="1107"/>
              </a:lnSpc>
            </a:pPr>
            <a:r>
              <a:rPr sz="922" b="0" i="0">
                <a:solidFill>
                  <a:srgbClr val="5A82A0"/>
                </a:solidFill>
                <a:latin typeface="Versos"/>
              </a:rPr>
              <a:t>3,79%</a:t>
            </a:r>
          </a:p>
        </p:txBody>
      </p:sp>
      <p:sp>
        <p:nvSpPr>
          <p:cNvPr id="49" name="TextBox 48"/>
          <p:cNvSpPr txBox="1"/>
          <p:nvPr/>
        </p:nvSpPr>
        <p:spPr>
          <a:xfrm>
            <a:off x="400680" y="704426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SAFRA</a:t>
            </a:r>
          </a:p>
        </p:txBody>
      </p:sp>
      <p:sp>
        <p:nvSpPr>
          <p:cNvPr id="50" name="TextBox 49"/>
          <p:cNvSpPr txBox="1"/>
          <p:nvPr/>
        </p:nvSpPr>
        <p:spPr>
          <a:xfrm>
            <a:off x="2591071" y="7042376"/>
            <a:ext cx="383783" cy="143640"/>
          </a:xfrm>
          <a:prstGeom prst="rect">
            <a:avLst/>
          </a:prstGeom>
          <a:noFill/>
        </p:spPr>
        <p:txBody>
          <a:bodyPr wrap="none" lIns="0" rIns="0" tIns="0" bIns="0" anchor="t"/>
          <a:lstStyle/>
          <a:p>
            <a:pPr algn="l">
              <a:lnSpc>
                <a:spcPts val="1107"/>
              </a:lnSpc>
            </a:pPr>
            <a:r>
              <a:rPr sz="922" b="0" i="0">
                <a:solidFill>
                  <a:srgbClr val="5A82A0"/>
                </a:solidFill>
                <a:latin typeface="Versos"/>
              </a:rPr>
              <a:t>3,39%</a:t>
            </a:r>
          </a:p>
        </p:txBody>
      </p:sp>
      <p:sp>
        <p:nvSpPr>
          <p:cNvPr id="51" name="TextBox 50"/>
          <p:cNvSpPr txBox="1"/>
          <p:nvPr/>
        </p:nvSpPr>
        <p:spPr>
          <a:xfrm>
            <a:off x="400680" y="751239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2" name="TextBox 51"/>
          <p:cNvSpPr txBox="1"/>
          <p:nvPr/>
        </p:nvSpPr>
        <p:spPr>
          <a:xfrm>
            <a:off x="2566620" y="7510505"/>
            <a:ext cx="381080" cy="143640"/>
          </a:xfrm>
          <a:prstGeom prst="rect">
            <a:avLst/>
          </a:prstGeom>
          <a:noFill/>
        </p:spPr>
        <p:txBody>
          <a:bodyPr wrap="none" lIns="0" rIns="0" tIns="0" bIns="0" anchor="t"/>
          <a:lstStyle/>
          <a:p>
            <a:pPr algn="l">
              <a:lnSpc>
                <a:spcPts val="1107"/>
              </a:lnSpc>
            </a:pPr>
            <a:r>
              <a:rPr sz="922" b="0" i="0">
                <a:solidFill>
                  <a:srgbClr val="5A82A0"/>
                </a:solidFill>
                <a:latin typeface="Versos"/>
              </a:rPr>
              <a:t>3,33%</a:t>
            </a:r>
          </a:p>
        </p:txBody>
      </p:sp>
      <p:sp>
        <p:nvSpPr>
          <p:cNvPr id="53" name="TextBox 52"/>
          <p:cNvSpPr txBox="1"/>
          <p:nvPr/>
        </p:nvSpPr>
        <p:spPr>
          <a:xfrm>
            <a:off x="400680" y="802812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43896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437078"/>
            <a:ext cx="481080" cy="143640"/>
          </a:xfrm>
          <a:prstGeom prst="rect">
            <a:avLst/>
          </a:prstGeom>
          <a:noFill/>
        </p:spPr>
        <p:txBody>
          <a:bodyPr wrap="none" lIns="0" rIns="0" tIns="0" bIns="0" anchor="t"/>
          <a:lstStyle/>
          <a:p>
            <a:pPr algn="l">
              <a:lnSpc>
                <a:spcPts val="1142"/>
              </a:lnSpc>
            </a:pPr>
            <a:r>
              <a:rPr sz="952" b="0" i="0">
                <a:solidFill>
                  <a:srgbClr val="111111"/>
                </a:solidFill>
                <a:latin typeface="Versos"/>
              </a:rPr>
              <a:t>43,49%</a:t>
            </a:r>
          </a:p>
        </p:txBody>
      </p:sp>
      <p:sp>
        <p:nvSpPr>
          <p:cNvPr id="56" name="TextBox 55"/>
          <p:cNvSpPr txBox="1"/>
          <p:nvPr/>
        </p:nvSpPr>
        <p:spPr>
          <a:xfrm>
            <a:off x="400680" y="871727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554879" y="8715380"/>
            <a:ext cx="370884" cy="143640"/>
          </a:xfrm>
          <a:prstGeom prst="rect">
            <a:avLst/>
          </a:prstGeom>
          <a:noFill/>
        </p:spPr>
        <p:txBody>
          <a:bodyPr wrap="none" lIns="0" rIns="0" tIns="0" bIns="0" anchor="t"/>
          <a:lstStyle/>
          <a:p>
            <a:pPr algn="l">
              <a:lnSpc>
                <a:spcPts val="1142"/>
              </a:lnSpc>
            </a:pPr>
            <a:r>
              <a:rPr sz="952" b="0" i="0">
                <a:solidFill>
                  <a:srgbClr val="111111"/>
                </a:solidFill>
                <a:latin typeface="Versos"/>
              </a:rPr>
              <a:t>11,61%</a:t>
            </a:r>
          </a:p>
        </p:txBody>
      </p:sp>
      <p:sp>
        <p:nvSpPr>
          <p:cNvPr id="58" name="TextBox 57"/>
          <p:cNvSpPr txBox="1"/>
          <p:nvPr/>
        </p:nvSpPr>
        <p:spPr>
          <a:xfrm>
            <a:off x="400680" y="899569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180541" y="8993801"/>
            <a:ext cx="318672" cy="143640"/>
          </a:xfrm>
          <a:prstGeom prst="rect">
            <a:avLst/>
          </a:prstGeom>
          <a:noFill/>
        </p:spPr>
        <p:txBody>
          <a:bodyPr wrap="none" lIns="0" rIns="0" tIns="0" bIns="0" anchor="t"/>
          <a:lstStyle/>
          <a:p>
            <a:pPr algn="l">
              <a:lnSpc>
                <a:spcPts val="1142"/>
              </a:lnSpc>
            </a:pPr>
            <a:r>
              <a:rPr sz="952" b="0" i="0">
                <a:solidFill>
                  <a:srgbClr val="111111"/>
                </a:solidFill>
                <a:latin typeface="Versos"/>
              </a:rPr>
              <a:t>3,11%</a:t>
            </a:r>
          </a:p>
        </p:txBody>
      </p:sp>
      <p:sp>
        <p:nvSpPr>
          <p:cNvPr id="60" name="TextBox 59"/>
          <p:cNvSpPr txBox="1"/>
          <p:nvPr/>
        </p:nvSpPr>
        <p:spPr>
          <a:xfrm>
            <a:off x="400680" y="92739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60460" y="9272103"/>
            <a:ext cx="394962" cy="143640"/>
          </a:xfrm>
          <a:prstGeom prst="rect">
            <a:avLst/>
          </a:prstGeom>
          <a:noFill/>
        </p:spPr>
        <p:txBody>
          <a:bodyPr wrap="none" lIns="0" rIns="0" tIns="0" bIns="0" anchor="t"/>
          <a:lstStyle/>
          <a:p>
            <a:pPr algn="l">
              <a:lnSpc>
                <a:spcPts val="1142"/>
              </a:lnSpc>
            </a:pPr>
            <a:r>
              <a:rPr sz="952" b="0" i="0">
                <a:solidFill>
                  <a:srgbClr val="111111"/>
                </a:solidFill>
                <a:latin typeface="Versos"/>
              </a:rPr>
              <a:t>2,66%</a:t>
            </a:r>
          </a:p>
        </p:txBody>
      </p:sp>
      <p:sp>
        <p:nvSpPr>
          <p:cNvPr id="62" name="TextBox 61"/>
          <p:cNvSpPr txBox="1"/>
          <p:nvPr/>
        </p:nvSpPr>
        <p:spPr>
          <a:xfrm>
            <a:off x="400680" y="955229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3" name="TextBox 62"/>
          <p:cNvSpPr txBox="1"/>
          <p:nvPr/>
        </p:nvSpPr>
        <p:spPr>
          <a:xfrm>
            <a:off x="1146048" y="9550406"/>
            <a:ext cx="392505" cy="143640"/>
          </a:xfrm>
          <a:prstGeom prst="rect">
            <a:avLst/>
          </a:prstGeom>
          <a:noFill/>
        </p:spPr>
        <p:txBody>
          <a:bodyPr wrap="none" lIns="0" rIns="0" tIns="0" bIns="0" anchor="t"/>
          <a:lstStyle/>
          <a:p>
            <a:pPr algn="l">
              <a:lnSpc>
                <a:spcPts val="1142"/>
              </a:lnSpc>
            </a:pPr>
            <a:r>
              <a:rPr sz="952" b="0" i="0">
                <a:solidFill>
                  <a:srgbClr val="111111"/>
                </a:solidFill>
                <a:latin typeface="Versos"/>
              </a:rPr>
              <a:t>2,33%</a:t>
            </a:r>
          </a:p>
        </p:txBody>
      </p:sp>
      <p:sp>
        <p:nvSpPr>
          <p:cNvPr id="64" name="TextBox 63"/>
          <p:cNvSpPr txBox="1"/>
          <p:nvPr/>
        </p:nvSpPr>
        <p:spPr>
          <a:xfrm>
            <a:off x="400680" y="983059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00452" y="9828708"/>
            <a:ext cx="367690" cy="143640"/>
          </a:xfrm>
          <a:prstGeom prst="rect">
            <a:avLst/>
          </a:prstGeom>
          <a:noFill/>
        </p:spPr>
        <p:txBody>
          <a:bodyPr wrap="none" lIns="0" rIns="0" tIns="0" bIns="0" anchor="t"/>
          <a:lstStyle/>
          <a:p>
            <a:pPr algn="l">
              <a:lnSpc>
                <a:spcPts val="1142"/>
              </a:lnSpc>
            </a:pPr>
            <a:r>
              <a:rPr sz="952" b="0" i="0">
                <a:solidFill>
                  <a:srgbClr val="111111"/>
                </a:solidFill>
                <a:latin typeface="Versos"/>
              </a:rPr>
              <a:t>1,30%</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3203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6752497" y="5524233"/>
            <a:ext cx="439188" cy="143640"/>
          </a:xfrm>
          <a:prstGeom prst="rect">
            <a:avLst/>
          </a:prstGeom>
          <a:noFill/>
        </p:spPr>
        <p:txBody>
          <a:bodyPr wrap="none" lIns="0" rIns="0" tIns="0" bIns="0" anchor="t"/>
          <a:lstStyle/>
          <a:p>
            <a:pPr algn="l">
              <a:lnSpc>
                <a:spcPts val="1142"/>
              </a:lnSpc>
            </a:pPr>
            <a:r>
              <a:rPr sz="952" b="0" i="0">
                <a:solidFill>
                  <a:srgbClr val="111111"/>
                </a:solidFill>
                <a:latin typeface="Versos"/>
              </a:rPr>
              <a:t>50,01%</a:t>
            </a:r>
          </a:p>
        </p:txBody>
      </p:sp>
      <p:sp>
        <p:nvSpPr>
          <p:cNvPr id="69" name="TextBox 68"/>
          <p:cNvSpPr txBox="1"/>
          <p:nvPr/>
        </p:nvSpPr>
        <p:spPr>
          <a:xfrm>
            <a:off x="3802680" y="57721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0" name="TextBox 69"/>
          <p:cNvSpPr txBox="1"/>
          <p:nvPr/>
        </p:nvSpPr>
        <p:spPr>
          <a:xfrm>
            <a:off x="6328428" y="5764500"/>
            <a:ext cx="469901" cy="143640"/>
          </a:xfrm>
          <a:prstGeom prst="rect">
            <a:avLst/>
          </a:prstGeom>
          <a:noFill/>
        </p:spPr>
        <p:txBody>
          <a:bodyPr wrap="none" lIns="0" rIns="0" tIns="0" bIns="0" anchor="t"/>
          <a:lstStyle/>
          <a:p>
            <a:pPr algn="l">
              <a:lnSpc>
                <a:spcPts val="1142"/>
              </a:lnSpc>
            </a:pPr>
            <a:r>
              <a:rPr sz="952" b="0" i="0">
                <a:solidFill>
                  <a:srgbClr val="111111"/>
                </a:solidFill>
                <a:latin typeface="Versos"/>
              </a:rPr>
              <a:t>33,23%</a:t>
            </a:r>
          </a:p>
        </p:txBody>
      </p:sp>
      <p:sp>
        <p:nvSpPr>
          <p:cNvPr id="71" name="TextBox 70"/>
          <p:cNvSpPr txBox="1"/>
          <p:nvPr/>
        </p:nvSpPr>
        <p:spPr>
          <a:xfrm>
            <a:off x="3802680" y="601244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03259" y="6004648"/>
            <a:ext cx="392997" cy="143640"/>
          </a:xfrm>
          <a:prstGeom prst="rect">
            <a:avLst/>
          </a:prstGeom>
          <a:noFill/>
        </p:spPr>
        <p:txBody>
          <a:bodyPr wrap="none" lIns="0" rIns="0" tIns="0" bIns="0" anchor="t"/>
          <a:lstStyle/>
          <a:p>
            <a:pPr algn="l">
              <a:lnSpc>
                <a:spcPts val="1142"/>
              </a:lnSpc>
            </a:pPr>
            <a:r>
              <a:rPr sz="952" b="0" i="0">
                <a:solidFill>
                  <a:srgbClr val="111111"/>
                </a:solidFill>
                <a:latin typeface="Versos"/>
              </a:rPr>
              <a:t>4,54%</a:t>
            </a:r>
          </a:p>
        </p:txBody>
      </p:sp>
      <p:sp>
        <p:nvSpPr>
          <p:cNvPr id="73" name="TextBox 72"/>
          <p:cNvSpPr txBox="1"/>
          <p:nvPr/>
        </p:nvSpPr>
        <p:spPr>
          <a:xfrm>
            <a:off x="3802680" y="625259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5549630" y="6244914"/>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2,42%</a:t>
            </a:r>
          </a:p>
        </p:txBody>
      </p:sp>
      <p:sp>
        <p:nvSpPr>
          <p:cNvPr id="75" name="TextBox 74"/>
          <p:cNvSpPr txBox="1"/>
          <p:nvPr/>
        </p:nvSpPr>
        <p:spPr>
          <a:xfrm>
            <a:off x="3802680" y="649285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6" name="TextBox 75"/>
          <p:cNvSpPr txBox="1"/>
          <p:nvPr/>
        </p:nvSpPr>
        <p:spPr>
          <a:xfrm>
            <a:off x="5541007" y="6485062"/>
            <a:ext cx="382432" cy="143640"/>
          </a:xfrm>
          <a:prstGeom prst="rect">
            <a:avLst/>
          </a:prstGeom>
          <a:noFill/>
        </p:spPr>
        <p:txBody>
          <a:bodyPr wrap="none" lIns="0" rIns="0" tIns="0" bIns="0" anchor="t"/>
          <a:lstStyle/>
          <a:p>
            <a:pPr algn="l">
              <a:lnSpc>
                <a:spcPts val="1142"/>
              </a:lnSpc>
            </a:pPr>
            <a:r>
              <a:rPr sz="952" b="0" i="0">
                <a:solidFill>
                  <a:srgbClr val="111111"/>
                </a:solidFill>
                <a:latin typeface="Versos"/>
              </a:rPr>
              <a:t>2,07%</a:t>
            </a:r>
          </a:p>
        </p:txBody>
      </p:sp>
      <p:sp>
        <p:nvSpPr>
          <p:cNvPr id="77" name="TextBox 76"/>
          <p:cNvSpPr txBox="1"/>
          <p:nvPr/>
        </p:nvSpPr>
        <p:spPr>
          <a:xfrm>
            <a:off x="3802680" y="67330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8" name="TextBox 77"/>
          <p:cNvSpPr txBox="1"/>
          <p:nvPr/>
        </p:nvSpPr>
        <p:spPr>
          <a:xfrm>
            <a:off x="5534156" y="6725328"/>
            <a:ext cx="326412" cy="143640"/>
          </a:xfrm>
          <a:prstGeom prst="rect">
            <a:avLst/>
          </a:prstGeom>
          <a:noFill/>
        </p:spPr>
        <p:txBody>
          <a:bodyPr wrap="none" lIns="0" rIns="0" tIns="0" bIns="0" anchor="t"/>
          <a:lstStyle/>
          <a:p>
            <a:pPr algn="l">
              <a:lnSpc>
                <a:spcPts val="1142"/>
              </a:lnSpc>
            </a:pPr>
            <a:r>
              <a:rPr sz="952" b="0" i="0">
                <a:solidFill>
                  <a:srgbClr val="111111"/>
                </a:solidFill>
                <a:latin typeface="Versos"/>
              </a:rPr>
              <a:t>1,81%</a:t>
            </a:r>
          </a:p>
        </p:txBody>
      </p:sp>
      <p:sp>
        <p:nvSpPr>
          <p:cNvPr id="79" name="TextBox 78"/>
          <p:cNvSpPr txBox="1"/>
          <p:nvPr/>
        </p:nvSpPr>
        <p:spPr>
          <a:xfrm>
            <a:off x="3802680" y="6916691"/>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0" name="TextBox 79"/>
          <p:cNvSpPr txBox="1"/>
          <p:nvPr/>
        </p:nvSpPr>
        <p:spPr>
          <a:xfrm>
            <a:off x="5525651" y="6965476"/>
            <a:ext cx="352702" cy="143640"/>
          </a:xfrm>
          <a:prstGeom prst="rect">
            <a:avLst/>
          </a:prstGeom>
          <a:noFill/>
        </p:spPr>
        <p:txBody>
          <a:bodyPr wrap="none" lIns="0" rIns="0" tIns="0" bIns="0" anchor="t"/>
          <a:lstStyle/>
          <a:p>
            <a:pPr algn="l">
              <a:lnSpc>
                <a:spcPts val="1142"/>
              </a:lnSpc>
            </a:pPr>
            <a:r>
              <a:rPr sz="952" b="0" i="0">
                <a:solidFill>
                  <a:srgbClr val="111111"/>
                </a:solidFill>
                <a:latin typeface="Versos"/>
              </a:rPr>
              <a:t>1,47%</a:t>
            </a:r>
          </a:p>
        </p:txBody>
      </p:sp>
      <p:sp>
        <p:nvSpPr>
          <p:cNvPr id="81" name="TextBox 80"/>
          <p:cNvSpPr txBox="1"/>
          <p:nvPr/>
        </p:nvSpPr>
        <p:spPr>
          <a:xfrm>
            <a:off x="3802680" y="7213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2" name="TextBox 81"/>
          <p:cNvSpPr txBox="1"/>
          <p:nvPr/>
        </p:nvSpPr>
        <p:spPr>
          <a:xfrm>
            <a:off x="5517382" y="7205743"/>
            <a:ext cx="318058" cy="143640"/>
          </a:xfrm>
          <a:prstGeom prst="rect">
            <a:avLst/>
          </a:prstGeom>
          <a:noFill/>
        </p:spPr>
        <p:txBody>
          <a:bodyPr wrap="none" lIns="0" rIns="0" tIns="0" bIns="0" anchor="t"/>
          <a:lstStyle/>
          <a:p>
            <a:pPr algn="l">
              <a:lnSpc>
                <a:spcPts val="1142"/>
              </a:lnSpc>
            </a:pPr>
            <a:r>
              <a:rPr sz="952" b="0" i="0">
                <a:solidFill>
                  <a:srgbClr val="111111"/>
                </a:solidFill>
                <a:latin typeface="Versos"/>
              </a:rPr>
              <a:t>1,14%</a:t>
            </a:r>
          </a:p>
        </p:txBody>
      </p:sp>
      <p:sp>
        <p:nvSpPr>
          <p:cNvPr id="83" name="TextBox 82"/>
          <p:cNvSpPr txBox="1"/>
          <p:nvPr/>
        </p:nvSpPr>
        <p:spPr>
          <a:xfrm>
            <a:off x="3802680" y="745368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4" name="TextBox 83"/>
          <p:cNvSpPr txBox="1"/>
          <p:nvPr/>
        </p:nvSpPr>
        <p:spPr>
          <a:xfrm>
            <a:off x="5511594" y="7445891"/>
            <a:ext cx="391154" cy="143640"/>
          </a:xfrm>
          <a:prstGeom prst="rect">
            <a:avLst/>
          </a:prstGeom>
          <a:noFill/>
        </p:spPr>
        <p:txBody>
          <a:bodyPr wrap="none" lIns="0" rIns="0" tIns="0" bIns="0" anchor="t"/>
          <a:lstStyle/>
          <a:p>
            <a:pPr algn="l">
              <a:lnSpc>
                <a:spcPts val="1142"/>
              </a:lnSpc>
            </a:pPr>
            <a:r>
              <a:rPr sz="952" b="0" i="0">
                <a:solidFill>
                  <a:srgbClr val="111111"/>
                </a:solidFill>
                <a:latin typeface="Versos"/>
              </a:rPr>
              <a:t>0,92%</a:t>
            </a:r>
          </a:p>
        </p:txBody>
      </p:sp>
      <p:sp>
        <p:nvSpPr>
          <p:cNvPr id="85" name="TextBox 84"/>
          <p:cNvSpPr txBox="1"/>
          <p:nvPr/>
        </p:nvSpPr>
        <p:spPr>
          <a:xfrm>
            <a:off x="3802680" y="769383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6" name="TextBox 85"/>
          <p:cNvSpPr txBox="1"/>
          <p:nvPr/>
        </p:nvSpPr>
        <p:spPr>
          <a:xfrm>
            <a:off x="5509822" y="7686157"/>
            <a:ext cx="395085" cy="143640"/>
          </a:xfrm>
          <a:prstGeom prst="rect">
            <a:avLst/>
          </a:prstGeom>
          <a:noFill/>
        </p:spPr>
        <p:txBody>
          <a:bodyPr wrap="none" lIns="0" rIns="0" tIns="0" bIns="0" anchor="t"/>
          <a:lstStyle/>
          <a:p>
            <a:pPr algn="l">
              <a:lnSpc>
                <a:spcPts val="1142"/>
              </a:lnSpc>
            </a:pPr>
            <a:r>
              <a:rPr sz="952" b="0" i="0">
                <a:solidFill>
                  <a:srgbClr val="111111"/>
                </a:solidFill>
                <a:latin typeface="Versos"/>
              </a:rPr>
              <a:t>0,84%</a:t>
            </a:r>
          </a:p>
        </p:txBody>
      </p:sp>
      <p:sp>
        <p:nvSpPr>
          <p:cNvPr id="87" name="TextBox 86"/>
          <p:cNvSpPr txBox="1"/>
          <p:nvPr/>
        </p:nvSpPr>
        <p:spPr>
          <a:xfrm>
            <a:off x="3802680" y="793410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8" name="TextBox 87"/>
          <p:cNvSpPr txBox="1"/>
          <p:nvPr/>
        </p:nvSpPr>
        <p:spPr>
          <a:xfrm>
            <a:off x="5501908" y="7926305"/>
            <a:ext cx="395208" cy="143640"/>
          </a:xfrm>
          <a:prstGeom prst="rect">
            <a:avLst/>
          </a:prstGeom>
          <a:noFill/>
        </p:spPr>
        <p:txBody>
          <a:bodyPr wrap="none" lIns="0" rIns="0" tIns="0" bIns="0" anchor="t"/>
          <a:lstStyle/>
          <a:p>
            <a:pPr algn="l">
              <a:lnSpc>
                <a:spcPts val="1142"/>
              </a:lnSpc>
            </a:pPr>
            <a:r>
              <a:rPr sz="952" b="0" i="0">
                <a:solidFill>
                  <a:srgbClr val="111111"/>
                </a:solidFill>
                <a:latin typeface="Versos"/>
              </a:rPr>
              <a:t>0,53%</a:t>
            </a:r>
          </a:p>
        </p:txBody>
      </p:sp>
      <p:sp>
        <p:nvSpPr>
          <p:cNvPr id="89" name="TextBox 88"/>
          <p:cNvSpPr txBox="1"/>
          <p:nvPr/>
        </p:nvSpPr>
        <p:spPr>
          <a:xfrm>
            <a:off x="3802680" y="81742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a:t>
            </a:r>
          </a:p>
        </p:txBody>
      </p:sp>
      <p:sp>
        <p:nvSpPr>
          <p:cNvPr id="90" name="TextBox 89"/>
          <p:cNvSpPr txBox="1"/>
          <p:nvPr/>
        </p:nvSpPr>
        <p:spPr>
          <a:xfrm>
            <a:off x="5498010" y="8166571"/>
            <a:ext cx="399016" cy="143640"/>
          </a:xfrm>
          <a:prstGeom prst="rect">
            <a:avLst/>
          </a:prstGeom>
          <a:noFill/>
        </p:spPr>
        <p:txBody>
          <a:bodyPr wrap="none" lIns="0" rIns="0" tIns="0" bIns="0" anchor="t"/>
          <a:lstStyle/>
          <a:p>
            <a:pPr algn="l">
              <a:lnSpc>
                <a:spcPts val="1142"/>
              </a:lnSpc>
            </a:pPr>
            <a:r>
              <a:rPr sz="952" b="0" i="0">
                <a:solidFill>
                  <a:srgbClr val="111111"/>
                </a:solidFill>
                <a:latin typeface="Versos"/>
              </a:rPr>
              <a:t>0,36%</a:t>
            </a:r>
          </a:p>
        </p:txBody>
      </p:sp>
      <p:sp>
        <p:nvSpPr>
          <p:cNvPr id="91" name="TextBox 90"/>
          <p:cNvSpPr txBox="1"/>
          <p:nvPr/>
        </p:nvSpPr>
        <p:spPr>
          <a:xfrm>
            <a:off x="3802680" y="84145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2" name="TextBox 91"/>
          <p:cNvSpPr txBox="1"/>
          <p:nvPr/>
        </p:nvSpPr>
        <p:spPr>
          <a:xfrm>
            <a:off x="5498010" y="8406720"/>
            <a:ext cx="386240" cy="143640"/>
          </a:xfrm>
          <a:prstGeom prst="rect">
            <a:avLst/>
          </a:prstGeom>
          <a:noFill/>
        </p:spPr>
        <p:txBody>
          <a:bodyPr wrap="none" lIns="0" rIns="0" tIns="0" bIns="0" anchor="t"/>
          <a:lstStyle/>
          <a:p>
            <a:pPr algn="l">
              <a:lnSpc>
                <a:spcPts val="1142"/>
              </a:lnSpc>
            </a:pPr>
            <a:r>
              <a:rPr sz="952" b="0" i="0">
                <a:solidFill>
                  <a:srgbClr val="111111"/>
                </a:solidFill>
                <a:latin typeface="Versos"/>
              </a:rPr>
              <a:t>0,27%</a:t>
            </a:r>
          </a:p>
        </p:txBody>
      </p:sp>
      <p:sp>
        <p:nvSpPr>
          <p:cNvPr id="93" name="TextBox 92"/>
          <p:cNvSpPr txBox="1"/>
          <p:nvPr/>
        </p:nvSpPr>
        <p:spPr>
          <a:xfrm>
            <a:off x="3802680" y="865466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498010" y="8646986"/>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5" name="TextBox 94"/>
          <p:cNvSpPr txBox="1"/>
          <p:nvPr/>
        </p:nvSpPr>
        <p:spPr>
          <a:xfrm>
            <a:off x="3802680" y="889493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6" name="TextBox 95"/>
          <p:cNvSpPr txBox="1"/>
          <p:nvPr/>
        </p:nvSpPr>
        <p:spPr>
          <a:xfrm>
            <a:off x="5498010" y="8887134"/>
            <a:ext cx="391277" cy="143640"/>
          </a:xfrm>
          <a:prstGeom prst="rect">
            <a:avLst/>
          </a:prstGeom>
          <a:noFill/>
        </p:spPr>
        <p:txBody>
          <a:bodyPr wrap="none" lIns="0" rIns="0" tIns="0" bIns="0" anchor="t"/>
          <a:lstStyle/>
          <a:p>
            <a:pPr algn="l">
              <a:lnSpc>
                <a:spcPts val="1142"/>
              </a:lnSpc>
            </a:pPr>
            <a:r>
              <a:rPr sz="952" b="0" i="0">
                <a:solidFill>
                  <a:srgbClr val="111111"/>
                </a:solidFill>
                <a:latin typeface="Versos"/>
              </a:rPr>
              <a:t>0,22%</a:t>
            </a:r>
          </a:p>
        </p:txBody>
      </p:sp>
      <p:sp>
        <p:nvSpPr>
          <p:cNvPr id="97" name="TextBox 96"/>
          <p:cNvSpPr txBox="1"/>
          <p:nvPr/>
        </p:nvSpPr>
        <p:spPr>
          <a:xfrm>
            <a:off x="3802680" y="91350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8" name="TextBox 97"/>
          <p:cNvSpPr txBox="1"/>
          <p:nvPr/>
        </p:nvSpPr>
        <p:spPr>
          <a:xfrm>
            <a:off x="5498010" y="9127282"/>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0,10%</a:t>
            </a:r>
          </a:p>
        </p:txBody>
      </p:sp>
      <p:sp>
        <p:nvSpPr>
          <p:cNvPr id="99" name="TextBox 98"/>
          <p:cNvSpPr txBox="1"/>
          <p:nvPr/>
        </p:nvSpPr>
        <p:spPr>
          <a:xfrm>
            <a:off x="3802680" y="937522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100" name="TextBox 99"/>
          <p:cNvSpPr txBox="1"/>
          <p:nvPr/>
        </p:nvSpPr>
        <p:spPr>
          <a:xfrm>
            <a:off x="5498010" y="9367430"/>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0,10%</a:t>
            </a:r>
          </a:p>
        </p:txBody>
      </p:sp>
      <p:sp>
        <p:nvSpPr>
          <p:cNvPr id="101" name="TextBox 100"/>
          <p:cNvSpPr txBox="1"/>
          <p:nvPr/>
        </p:nvSpPr>
        <p:spPr>
          <a:xfrm>
            <a:off x="3802680" y="96153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Distribuição</a:t>
            </a:r>
          </a:p>
        </p:txBody>
      </p:sp>
      <p:sp>
        <p:nvSpPr>
          <p:cNvPr id="102" name="TextBox 101"/>
          <p:cNvSpPr txBox="1"/>
          <p:nvPr/>
        </p:nvSpPr>
        <p:spPr>
          <a:xfrm>
            <a:off x="5498010" y="9607578"/>
            <a:ext cx="386117" cy="143640"/>
          </a:xfrm>
          <a:prstGeom prst="rect">
            <a:avLst/>
          </a:prstGeom>
          <a:noFill/>
        </p:spPr>
        <p:txBody>
          <a:bodyPr wrap="none" lIns="0" rIns="0" tIns="0" bIns="0" anchor="t"/>
          <a:lstStyle/>
          <a:p>
            <a:pPr algn="l">
              <a:lnSpc>
                <a:spcPts val="1142"/>
              </a:lnSpc>
            </a:pPr>
            <a:r>
              <a:rPr sz="952" b="0" i="0">
                <a:solidFill>
                  <a:srgbClr val="111111"/>
                </a:solidFill>
                <a:latin typeface="Versos"/>
              </a:rPr>
              <a:t>0,07%</a:t>
            </a:r>
          </a:p>
        </p:txBody>
      </p:sp>
      <p:sp>
        <p:nvSpPr>
          <p:cNvPr id="103" name="TextBox 102"/>
          <p:cNvSpPr txBox="1"/>
          <p:nvPr/>
        </p:nvSpPr>
        <p:spPr>
          <a:xfrm>
            <a:off x="3802680" y="985552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4" name="TextBox 103"/>
          <p:cNvSpPr txBox="1"/>
          <p:nvPr/>
        </p:nvSpPr>
        <p:spPr>
          <a:xfrm>
            <a:off x="5498010" y="9847726"/>
            <a:ext cx="403562" cy="143640"/>
          </a:xfrm>
          <a:prstGeom prst="rect">
            <a:avLst/>
          </a:prstGeom>
          <a:noFill/>
        </p:spPr>
        <p:txBody>
          <a:bodyPr wrap="none" lIns="0" rIns="0" tIns="0" bIns="0" anchor="t"/>
          <a:lstStyle/>
          <a:p>
            <a:pPr algn="l">
              <a:lnSpc>
                <a:spcPts val="1142"/>
              </a:lnSpc>
            </a:pPr>
            <a:r>
              <a:rPr sz="952" b="0" i="0">
                <a:solidFill>
                  <a:srgbClr val="111111"/>
                </a:solidFill>
                <a:latin typeface="Versos"/>
              </a:rPr>
              <a:t>0,00%</a:t>
            </a:r>
          </a:p>
        </p:txBody>
      </p:sp>
      <p:sp>
        <p:nvSpPr>
          <p:cNvPr id="105" name="TextBox 10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p:txBody>
      </p:sp>
      <p:sp>
        <p:nvSpPr>
          <p:cNvPr id="7" name="TextBox 6"/>
          <p:cNvSpPr txBox="1"/>
          <p:nvPr/>
        </p:nvSpPr>
        <p:spPr>
          <a:xfrm>
            <a:off x="529200" y="6086036"/>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p:txBody>
      </p:sp>
      <p:sp>
        <p:nvSpPr>
          <p:cNvPr id="8" name="TextBox 7"/>
          <p:cNvSpPr txBox="1"/>
          <p:nvPr/>
        </p:nvSpPr>
        <p:spPr>
          <a:xfrm>
            <a:off x="529200" y="7145381"/>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p:txBody>
      </p:sp>
      <p:sp>
        <p:nvSpPr>
          <p:cNvPr id="9" name="TextBox 8"/>
          <p:cNvSpPr txBox="1"/>
          <p:nvPr/>
        </p:nvSpPr>
        <p:spPr>
          <a:xfrm>
            <a:off x="529200" y="8014899"/>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p:txBody>
      </p:sp>
      <p:sp>
        <p:nvSpPr>
          <p:cNvPr id="10" name="TextBox 9"/>
          <p:cNvSpPr txBox="1"/>
          <p:nvPr/>
        </p:nvSpPr>
        <p:spPr>
          <a:xfrm>
            <a:off x="529200" y="9074244"/>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Nesse cenário, o Fundo Tivio Institucional apresentou rentabilidade de 1,03% no mês (95% do CDI), acumulando 10,44% (99% do CDI) no ano. Na parcela de corporativos, os maiores atribuidores de resultado foram para Randon e Vix, enquanto Aegea foi o maior detrator.</a:t>
            </a:r>
          </a:p>
        </p:txBody>
      </p:sp>
      <p:sp>
        <p:nvSpPr>
          <p:cNvPr id="11" name="TextBox 1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13/05/2005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09228"/>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098228"/>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R$ 1.627.449.258,92</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R$ 2.427.900.811,01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63800"/>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89554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4" name="TextBox 23"/>
          <p:cNvSpPr txBox="1"/>
          <p:nvPr/>
        </p:nvSpPr>
        <p:spPr>
          <a:xfrm>
            <a:off x="400680" y="7195938"/>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5" name="TextBox 24"/>
          <p:cNvSpPr txBox="1"/>
          <p:nvPr/>
        </p:nvSpPr>
        <p:spPr>
          <a:xfrm>
            <a:off x="400680" y="7627685"/>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envolvem riscos. Consulte os documentos do fundo para conhecer sua estratégia, público-alvo, condições e principais fatores de risco.</a:t>
            </a:r>
          </a:p>
        </p:txBody>
      </p:sp>
      <p:sp>
        <p:nvSpPr>
          <p:cNvPr id="26" name="TextBox 25"/>
          <p:cNvSpPr txBox="1"/>
          <p:nvPr/>
        </p:nvSpPr>
        <p:spPr>
          <a:xfrm>
            <a:off x="400680" y="7928077"/>
            <a:ext cx="7028985" cy="136080"/>
          </a:xfrm>
          <a:prstGeom prst="rect">
            <a:avLst/>
          </a:prstGeom>
          <a:noFill/>
        </p:spPr>
        <p:txBody>
          <a:bodyPr wrap="none" lIns="0" rIns="0" tIns="0" bIns="0" anchor="t"/>
          <a:lstStyle/>
          <a:p>
            <a:pPr algn="just">
              <a:lnSpc>
                <a:spcPts val="1034"/>
              </a:lnSpc>
            </a:pPr>
            <a:r>
              <a:rPr sz="848" b="0" i="0">
                <a:solidFill>
                  <a:srgbClr val="E9E9E9"/>
                </a:solidFill>
                <a:latin typeface="Versos"/>
              </a:rPr>
              <a:t>Rentabilidade obtida no passado não representa garantia de resultados futuros. A rentabilidade divulgada não é líquida de impostos.</a:t>
            </a:r>
          </a:p>
        </p:txBody>
      </p:sp>
      <p:sp>
        <p:nvSpPr>
          <p:cNvPr id="27" name="TextBox 26"/>
          <p:cNvSpPr txBox="1"/>
          <p:nvPr/>
        </p:nvSpPr>
        <p:spPr>
          <a:xfrm>
            <a:off x="400680" y="8097114"/>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em fundos não são garantidos pelo administrador, pelo gestor, por qualquer mecanismo de seguro ou pelo Fundo Garantidor de Crédito – FGC.</a:t>
            </a:r>
          </a:p>
        </p:txBody>
      </p:sp>
      <p:sp>
        <p:nvSpPr>
          <p:cNvPr id="28" name="TextBox 27"/>
          <p:cNvSpPr txBox="1"/>
          <p:nvPr/>
        </p:nvSpPr>
        <p:spPr>
          <a:xfrm>
            <a:off x="400680" y="839750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A Tivio Capital Distribuidora de Títulos e Valores Mobiliários S.A. integra o conglomerado prudencial liderado pelo Banco Bradesco S.A.</a:t>
            </a:r>
          </a:p>
        </p:txBody>
      </p:sp>
      <p:sp>
        <p:nvSpPr>
          <p:cNvPr id="29" name="TextBox 28"/>
          <p:cNvSpPr txBox="1"/>
          <p:nvPr/>
        </p:nvSpPr>
        <p:spPr>
          <a:xfrm>
            <a:off x="400680" y="9013055"/>
            <a:ext cx="1134000" cy="270742"/>
          </a:xfrm>
          <a:prstGeom prst="rect">
            <a:avLst/>
          </a:prstGeom>
          <a:noFill/>
        </p:spPr>
        <p:txBody>
          <a:bodyPr wrap="square" lIns="0" rIns="0" tIns="0" bIns="0" anchor="t"/>
          <a:lstStyle/>
          <a:p>
            <a:pPr algn="l">
              <a:lnSpc>
                <a:spcPts val="1060"/>
              </a:lnSpc>
            </a:pPr>
            <a:r>
              <a:rPr sz="848" b="0" i="0">
                <a:solidFill>
                  <a:srgbClr val="E9E9E9"/>
                </a:solidFill>
                <a:latin typeface="Versos"/>
              </a:rPr>
              <a:t>SAC: 0800 704 8383</a:t>
            </a:r>
          </a:p>
          <a:p>
            <a:pPr algn="l">
              <a:lnSpc>
                <a:spcPts val="1060"/>
              </a:lnSpc>
            </a:pPr>
            <a:r>
              <a:rPr sz="848" b="0" i="0">
                <a:solidFill>
                  <a:srgbClr val="E9E9E9"/>
                </a:solidFill>
                <a:latin typeface="Versos"/>
              </a:rPr>
              <a:t>Atendimento 24 horas</a:t>
            </a:r>
          </a:p>
        </p:txBody>
      </p:sp>
      <p:sp>
        <p:nvSpPr>
          <p:cNvPr id="30" name="TextBox 29"/>
          <p:cNvSpPr txBox="1"/>
          <p:nvPr/>
        </p:nvSpPr>
        <p:spPr>
          <a:xfrm>
            <a:off x="1655640" y="9013055"/>
            <a:ext cx="4024164" cy="270742"/>
          </a:xfrm>
          <a:prstGeom prst="rect">
            <a:avLst/>
          </a:prstGeom>
          <a:noFill/>
        </p:spPr>
        <p:txBody>
          <a:bodyPr wrap="square" lIns="0" rIns="0" tIns="0" bIns="0" anchor="t"/>
          <a:lstStyle/>
          <a:p>
            <a:pPr algn="l">
              <a:lnSpc>
                <a:spcPts val="1060"/>
              </a:lnSpc>
            </a:pPr>
            <a:r>
              <a:rPr sz="848" b="0" i="0">
                <a:solidFill>
                  <a:srgbClr val="E9E9E9"/>
                </a:solidFill>
                <a:latin typeface="Versos"/>
              </a:rPr>
              <a:t>Ouvidoria: 0800 727 9933</a:t>
            </a:r>
          </a:p>
          <a:p>
            <a:pPr algn="l">
              <a:lnSpc>
                <a:spcPts val="1060"/>
              </a:lnSpc>
            </a:pPr>
            <a:r>
              <a:rPr sz="848" b="0" i="0">
                <a:solidFill>
                  <a:srgbClr val="E9E9E9"/>
                </a:solidFill>
                <a:latin typeface="Versos"/>
              </a:rPr>
              <a:t>Atendimento das 9h às 18h, de segunda a sexta-feira, exceto feriados nacionais</a:t>
            </a:r>
          </a:p>
        </p:txBody>
      </p:sp>
      <p:sp>
        <p:nvSpPr>
          <p:cNvPr id="31" name="TextBox 30"/>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2" name="TextBox 31"/>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3" name="TextBox 32"/>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4" name="TextBox 33"/>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