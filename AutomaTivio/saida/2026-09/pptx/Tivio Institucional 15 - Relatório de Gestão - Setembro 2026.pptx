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INSTITUCIONAL 15 FIF – RF CP LP – RL </a:t>
            </a:r>
            <a:r>
              <a:rPr sz="829" b="0" i="0">
                <a:solidFill>
                  <a:srgbClr val="FFFFFF"/>
                </a:solidFill>
                <a:latin typeface="Versos"/>
              </a:rPr>
              <a:t>/ CNPJ 04.240.128/0001-83</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grade/mid grade (Bancário, Corporativo e FIDC).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1,09%</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10,73%</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14,78%</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31,02%</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50,90%</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1.663,46%</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10,51%</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14,48%</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29,81%</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44,25%</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1.424,46%</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0,21%</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0,30%</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1,21%</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6,65%</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239,00%</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101%</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104%</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115%</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117%</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2215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C6</a:t>
            </a:r>
          </a:p>
        </p:txBody>
      </p:sp>
      <p:sp>
        <p:nvSpPr>
          <p:cNvPr id="44" name="TextBox 43"/>
          <p:cNvSpPr txBox="1"/>
          <p:nvPr/>
        </p:nvSpPr>
        <p:spPr>
          <a:xfrm>
            <a:off x="2831928" y="5620269"/>
            <a:ext cx="346068" cy="143640"/>
          </a:xfrm>
          <a:prstGeom prst="rect">
            <a:avLst/>
          </a:prstGeom>
          <a:noFill/>
        </p:spPr>
        <p:txBody>
          <a:bodyPr wrap="none" lIns="0" rIns="0" tIns="0" bIns="0" anchor="t"/>
          <a:lstStyle/>
          <a:p>
            <a:pPr algn="l">
              <a:lnSpc>
                <a:spcPts val="1107"/>
              </a:lnSpc>
            </a:pPr>
            <a:r>
              <a:rPr sz="922" b="0" i="0">
                <a:solidFill>
                  <a:srgbClr val="5A82A0"/>
                </a:solidFill>
                <a:latin typeface="Versos"/>
              </a:rPr>
              <a:t>5,10%</a:t>
            </a:r>
          </a:p>
        </p:txBody>
      </p:sp>
      <p:sp>
        <p:nvSpPr>
          <p:cNvPr id="45" name="TextBox 44"/>
          <p:cNvSpPr txBox="1"/>
          <p:nvPr/>
        </p:nvSpPr>
        <p:spPr>
          <a:xfrm>
            <a:off x="400680" y="605449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6" name="TextBox 45"/>
          <p:cNvSpPr txBox="1"/>
          <p:nvPr/>
        </p:nvSpPr>
        <p:spPr>
          <a:xfrm>
            <a:off x="2251462" y="6052606"/>
            <a:ext cx="386240" cy="143640"/>
          </a:xfrm>
          <a:prstGeom prst="rect">
            <a:avLst/>
          </a:prstGeom>
          <a:noFill/>
        </p:spPr>
        <p:txBody>
          <a:bodyPr wrap="none" lIns="0" rIns="0" tIns="0" bIns="0" anchor="t"/>
          <a:lstStyle/>
          <a:p>
            <a:pPr algn="l">
              <a:lnSpc>
                <a:spcPts val="1107"/>
              </a:lnSpc>
            </a:pPr>
            <a:r>
              <a:rPr sz="922" b="0" i="0">
                <a:solidFill>
                  <a:srgbClr val="5A82A0"/>
                </a:solidFill>
                <a:latin typeface="Versos"/>
              </a:rPr>
              <a:t>3,30%</a:t>
            </a:r>
          </a:p>
        </p:txBody>
      </p:sp>
      <p:sp>
        <p:nvSpPr>
          <p:cNvPr id="47" name="TextBox 46"/>
          <p:cNvSpPr txBox="1"/>
          <p:nvPr/>
        </p:nvSpPr>
        <p:spPr>
          <a:xfrm>
            <a:off x="400680" y="648683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48" name="TextBox 47"/>
          <p:cNvSpPr txBox="1"/>
          <p:nvPr/>
        </p:nvSpPr>
        <p:spPr>
          <a:xfrm>
            <a:off x="2202440" y="6484944"/>
            <a:ext cx="337223" cy="143640"/>
          </a:xfrm>
          <a:prstGeom prst="rect">
            <a:avLst/>
          </a:prstGeom>
          <a:noFill/>
        </p:spPr>
        <p:txBody>
          <a:bodyPr wrap="none" lIns="0" rIns="0" tIns="0" bIns="0" anchor="t"/>
          <a:lstStyle/>
          <a:p>
            <a:pPr algn="l">
              <a:lnSpc>
                <a:spcPts val="1107"/>
              </a:lnSpc>
            </a:pPr>
            <a:r>
              <a:rPr sz="922" b="0" i="0">
                <a:solidFill>
                  <a:srgbClr val="5A82A0"/>
                </a:solidFill>
                <a:latin typeface="Versos"/>
              </a:rPr>
              <a:t>3,15%</a:t>
            </a:r>
          </a:p>
        </p:txBody>
      </p:sp>
      <p:sp>
        <p:nvSpPr>
          <p:cNvPr id="49" name="TextBox 48"/>
          <p:cNvSpPr txBox="1"/>
          <p:nvPr/>
        </p:nvSpPr>
        <p:spPr>
          <a:xfrm>
            <a:off x="400680" y="6919171"/>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50" name="TextBox 49"/>
          <p:cNvSpPr txBox="1"/>
          <p:nvPr/>
        </p:nvSpPr>
        <p:spPr>
          <a:xfrm>
            <a:off x="2163577" y="6917281"/>
            <a:ext cx="383169" cy="143640"/>
          </a:xfrm>
          <a:prstGeom prst="rect">
            <a:avLst/>
          </a:prstGeom>
          <a:noFill/>
        </p:spPr>
        <p:txBody>
          <a:bodyPr wrap="none" lIns="0" rIns="0" tIns="0" bIns="0" anchor="t"/>
          <a:lstStyle/>
          <a:p>
            <a:pPr algn="l">
              <a:lnSpc>
                <a:spcPts val="1107"/>
              </a:lnSpc>
            </a:pPr>
            <a:r>
              <a:rPr sz="922" b="0" i="0">
                <a:solidFill>
                  <a:srgbClr val="5A82A0"/>
                </a:solidFill>
                <a:latin typeface="Versos"/>
              </a:rPr>
              <a:t>3,03%</a:t>
            </a:r>
          </a:p>
        </p:txBody>
      </p:sp>
      <p:sp>
        <p:nvSpPr>
          <p:cNvPr id="51" name="TextBox 50"/>
          <p:cNvSpPr txBox="1"/>
          <p:nvPr/>
        </p:nvSpPr>
        <p:spPr>
          <a:xfrm>
            <a:off x="400680" y="735150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52" name="TextBox 51"/>
          <p:cNvSpPr txBox="1"/>
          <p:nvPr/>
        </p:nvSpPr>
        <p:spPr>
          <a:xfrm>
            <a:off x="1973986" y="7349619"/>
            <a:ext cx="378500" cy="143640"/>
          </a:xfrm>
          <a:prstGeom prst="rect">
            <a:avLst/>
          </a:prstGeom>
          <a:noFill/>
        </p:spPr>
        <p:txBody>
          <a:bodyPr wrap="none" lIns="0" rIns="0" tIns="0" bIns="0" anchor="t"/>
          <a:lstStyle/>
          <a:p>
            <a:pPr algn="l">
              <a:lnSpc>
                <a:spcPts val="1107"/>
              </a:lnSpc>
            </a:pPr>
            <a:r>
              <a:rPr sz="922" b="0" i="0">
                <a:solidFill>
                  <a:srgbClr val="5A82A0"/>
                </a:solidFill>
                <a:latin typeface="Versos"/>
              </a:rPr>
              <a:t>2,44%</a:t>
            </a:r>
          </a:p>
        </p:txBody>
      </p:sp>
      <p:sp>
        <p:nvSpPr>
          <p:cNvPr id="53" name="TextBox 52"/>
          <p:cNvSpPr txBox="1"/>
          <p:nvPr/>
        </p:nvSpPr>
        <p:spPr>
          <a:xfrm>
            <a:off x="400680" y="7849288"/>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25292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251031"/>
            <a:ext cx="428377" cy="143640"/>
          </a:xfrm>
          <a:prstGeom prst="rect">
            <a:avLst/>
          </a:prstGeom>
          <a:noFill/>
        </p:spPr>
        <p:txBody>
          <a:bodyPr wrap="none" lIns="0" rIns="0" tIns="0" bIns="0" anchor="t"/>
          <a:lstStyle/>
          <a:p>
            <a:pPr algn="l">
              <a:lnSpc>
                <a:spcPts val="1142"/>
              </a:lnSpc>
            </a:pPr>
            <a:r>
              <a:rPr sz="952" b="0" i="0">
                <a:solidFill>
                  <a:srgbClr val="111111"/>
                </a:solidFill>
                <a:latin typeface="Versos"/>
              </a:rPr>
              <a:t>31,97%</a:t>
            </a:r>
          </a:p>
        </p:txBody>
      </p:sp>
      <p:sp>
        <p:nvSpPr>
          <p:cNvPr id="56" name="TextBox 55"/>
          <p:cNvSpPr txBox="1"/>
          <p:nvPr/>
        </p:nvSpPr>
        <p:spPr>
          <a:xfrm>
            <a:off x="400680" y="851704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466167" y="8515158"/>
            <a:ext cx="374201" cy="143640"/>
          </a:xfrm>
          <a:prstGeom prst="rect">
            <a:avLst/>
          </a:prstGeom>
          <a:noFill/>
        </p:spPr>
        <p:txBody>
          <a:bodyPr wrap="none" lIns="0" rIns="0" tIns="0" bIns="0" anchor="t"/>
          <a:lstStyle/>
          <a:p>
            <a:pPr algn="l">
              <a:lnSpc>
                <a:spcPts val="1142"/>
              </a:lnSpc>
            </a:pPr>
            <a:r>
              <a:rPr sz="952" b="0" i="0">
                <a:solidFill>
                  <a:srgbClr val="111111"/>
                </a:solidFill>
                <a:latin typeface="Versos"/>
              </a:rPr>
              <a:t>7,05%</a:t>
            </a:r>
          </a:p>
        </p:txBody>
      </p:sp>
      <p:sp>
        <p:nvSpPr>
          <p:cNvPr id="58" name="TextBox 57"/>
          <p:cNvSpPr txBox="1"/>
          <p:nvPr/>
        </p:nvSpPr>
        <p:spPr>
          <a:xfrm>
            <a:off x="400680" y="878117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390213" y="8779286"/>
            <a:ext cx="383660" cy="143640"/>
          </a:xfrm>
          <a:prstGeom prst="rect">
            <a:avLst/>
          </a:prstGeom>
          <a:noFill/>
        </p:spPr>
        <p:txBody>
          <a:bodyPr wrap="none" lIns="0" rIns="0" tIns="0" bIns="0" anchor="t"/>
          <a:lstStyle/>
          <a:p>
            <a:pPr algn="l">
              <a:lnSpc>
                <a:spcPts val="1142"/>
              </a:lnSpc>
            </a:pPr>
            <a:r>
              <a:rPr sz="952" b="0" i="0">
                <a:solidFill>
                  <a:srgbClr val="111111"/>
                </a:solidFill>
                <a:latin typeface="Versos"/>
              </a:rPr>
              <a:t>5,79%</a:t>
            </a:r>
          </a:p>
        </p:txBody>
      </p:sp>
      <p:sp>
        <p:nvSpPr>
          <p:cNvPr id="60" name="TextBox 59"/>
          <p:cNvSpPr txBox="1"/>
          <p:nvPr/>
        </p:nvSpPr>
        <p:spPr>
          <a:xfrm>
            <a:off x="400680" y="904530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335403" y="9043413"/>
            <a:ext cx="387591" cy="143640"/>
          </a:xfrm>
          <a:prstGeom prst="rect">
            <a:avLst/>
          </a:prstGeom>
          <a:noFill/>
        </p:spPr>
        <p:txBody>
          <a:bodyPr wrap="none" lIns="0" rIns="0" tIns="0" bIns="0" anchor="t"/>
          <a:lstStyle/>
          <a:p>
            <a:pPr algn="l">
              <a:lnSpc>
                <a:spcPts val="1142"/>
              </a:lnSpc>
            </a:pPr>
            <a:r>
              <a:rPr sz="952" b="0" i="0">
                <a:solidFill>
                  <a:srgbClr val="111111"/>
                </a:solidFill>
                <a:latin typeface="Versos"/>
              </a:rPr>
              <a:t>4,87%</a:t>
            </a:r>
          </a:p>
        </p:txBody>
      </p:sp>
      <p:sp>
        <p:nvSpPr>
          <p:cNvPr id="62" name="TextBox 61"/>
          <p:cNvSpPr txBox="1"/>
          <p:nvPr/>
        </p:nvSpPr>
        <p:spPr>
          <a:xfrm>
            <a:off x="400680" y="930943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3" name="TextBox 62"/>
          <p:cNvSpPr txBox="1"/>
          <p:nvPr/>
        </p:nvSpPr>
        <p:spPr>
          <a:xfrm>
            <a:off x="1284255" y="9307541"/>
            <a:ext cx="394717" cy="143640"/>
          </a:xfrm>
          <a:prstGeom prst="rect">
            <a:avLst/>
          </a:prstGeom>
          <a:noFill/>
        </p:spPr>
        <p:txBody>
          <a:bodyPr wrap="none" lIns="0" rIns="0" tIns="0" bIns="0" anchor="t"/>
          <a:lstStyle/>
          <a:p>
            <a:pPr algn="l">
              <a:lnSpc>
                <a:spcPts val="1142"/>
              </a:lnSpc>
            </a:pPr>
            <a:r>
              <a:rPr sz="952" b="0" i="0">
                <a:solidFill>
                  <a:srgbClr val="111111"/>
                </a:solidFill>
                <a:latin typeface="Versos"/>
              </a:rPr>
              <a:t>4,02%</a:t>
            </a:r>
          </a:p>
        </p:txBody>
      </p:sp>
      <p:sp>
        <p:nvSpPr>
          <p:cNvPr id="64" name="TextBox 63"/>
          <p:cNvSpPr txBox="1"/>
          <p:nvPr/>
        </p:nvSpPr>
        <p:spPr>
          <a:xfrm>
            <a:off x="400680" y="957355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5" name="TextBox 64"/>
          <p:cNvSpPr txBox="1"/>
          <p:nvPr/>
        </p:nvSpPr>
        <p:spPr>
          <a:xfrm>
            <a:off x="1258858" y="9571668"/>
            <a:ext cx="393979" cy="143640"/>
          </a:xfrm>
          <a:prstGeom prst="rect">
            <a:avLst/>
          </a:prstGeom>
          <a:noFill/>
        </p:spPr>
        <p:txBody>
          <a:bodyPr wrap="none" lIns="0" rIns="0" tIns="0" bIns="0" anchor="t"/>
          <a:lstStyle/>
          <a:p>
            <a:pPr algn="l">
              <a:lnSpc>
                <a:spcPts val="1142"/>
              </a:lnSpc>
            </a:pPr>
            <a:r>
              <a:rPr sz="952" b="0" i="0">
                <a:solidFill>
                  <a:srgbClr val="111111"/>
                </a:solidFill>
                <a:latin typeface="Versos"/>
              </a:rPr>
              <a:t>3,59%</a:t>
            </a:r>
          </a:p>
        </p:txBody>
      </p:sp>
      <p:sp>
        <p:nvSpPr>
          <p:cNvPr id="66" name="TextBox 65"/>
          <p:cNvSpPr txBox="1"/>
          <p:nvPr/>
        </p:nvSpPr>
        <p:spPr>
          <a:xfrm>
            <a:off x="400680" y="983768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BB</a:t>
            </a:r>
          </a:p>
        </p:txBody>
      </p:sp>
      <p:sp>
        <p:nvSpPr>
          <p:cNvPr id="67" name="TextBox 66"/>
          <p:cNvSpPr txBox="1"/>
          <p:nvPr/>
        </p:nvSpPr>
        <p:spPr>
          <a:xfrm>
            <a:off x="1082497" y="9835796"/>
            <a:ext cx="398648" cy="143640"/>
          </a:xfrm>
          <a:prstGeom prst="rect">
            <a:avLst/>
          </a:prstGeom>
          <a:noFill/>
        </p:spPr>
        <p:txBody>
          <a:bodyPr wrap="none" lIns="0" rIns="0" tIns="0" bIns="0" anchor="t"/>
          <a:lstStyle/>
          <a:p>
            <a:pPr algn="l">
              <a:lnSpc>
                <a:spcPts val="1142"/>
              </a:lnSpc>
            </a:pPr>
            <a:r>
              <a:rPr sz="952" b="0" i="0">
                <a:solidFill>
                  <a:srgbClr val="111111"/>
                </a:solidFill>
                <a:latin typeface="Versos"/>
              </a:rPr>
              <a:t>0,66%</a:t>
            </a:r>
          </a:p>
        </p:txBody>
      </p:sp>
      <p:sp>
        <p:nvSpPr>
          <p:cNvPr id="68" name="TextBox 67"/>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9" name="TextBox 68"/>
          <p:cNvSpPr txBox="1"/>
          <p:nvPr/>
        </p:nvSpPr>
        <p:spPr>
          <a:xfrm>
            <a:off x="3802680" y="552600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0" name="TextBox 69"/>
          <p:cNvSpPr txBox="1"/>
          <p:nvPr/>
        </p:nvSpPr>
        <p:spPr>
          <a:xfrm>
            <a:off x="6752497" y="5518209"/>
            <a:ext cx="433414" cy="143640"/>
          </a:xfrm>
          <a:prstGeom prst="rect">
            <a:avLst/>
          </a:prstGeom>
          <a:noFill/>
        </p:spPr>
        <p:txBody>
          <a:bodyPr wrap="none" lIns="0" rIns="0" tIns="0" bIns="0" anchor="t"/>
          <a:lstStyle/>
          <a:p>
            <a:pPr algn="l">
              <a:lnSpc>
                <a:spcPts val="1142"/>
              </a:lnSpc>
            </a:pPr>
            <a:r>
              <a:rPr sz="952" b="0" i="0">
                <a:solidFill>
                  <a:srgbClr val="111111"/>
                </a:solidFill>
                <a:latin typeface="Versos"/>
              </a:rPr>
              <a:t>30,12%</a:t>
            </a:r>
          </a:p>
        </p:txBody>
      </p:sp>
      <p:sp>
        <p:nvSpPr>
          <p:cNvPr id="71" name="TextBox 70"/>
          <p:cNvSpPr txBox="1"/>
          <p:nvPr/>
        </p:nvSpPr>
        <p:spPr>
          <a:xfrm>
            <a:off x="3802680" y="575410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72" name="TextBox 71"/>
          <p:cNvSpPr txBox="1"/>
          <p:nvPr/>
        </p:nvSpPr>
        <p:spPr>
          <a:xfrm>
            <a:off x="6644176" y="5746426"/>
            <a:ext cx="447911" cy="143640"/>
          </a:xfrm>
          <a:prstGeom prst="rect">
            <a:avLst/>
          </a:prstGeom>
          <a:noFill/>
        </p:spPr>
        <p:txBody>
          <a:bodyPr wrap="none" lIns="0" rIns="0" tIns="0" bIns="0" anchor="t"/>
          <a:lstStyle/>
          <a:p>
            <a:pPr algn="l">
              <a:lnSpc>
                <a:spcPts val="1142"/>
              </a:lnSpc>
            </a:pPr>
            <a:r>
              <a:rPr sz="952" b="0" i="0">
                <a:solidFill>
                  <a:srgbClr val="111111"/>
                </a:solidFill>
                <a:latin typeface="Versos"/>
              </a:rPr>
              <a:t>27,54%</a:t>
            </a:r>
          </a:p>
        </p:txBody>
      </p:sp>
      <p:sp>
        <p:nvSpPr>
          <p:cNvPr id="73" name="TextBox 72"/>
          <p:cNvSpPr txBox="1"/>
          <p:nvPr/>
        </p:nvSpPr>
        <p:spPr>
          <a:xfrm>
            <a:off x="3802680" y="598232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4" name="TextBox 73"/>
          <p:cNvSpPr txBox="1"/>
          <p:nvPr/>
        </p:nvSpPr>
        <p:spPr>
          <a:xfrm>
            <a:off x="6031935" y="5974526"/>
            <a:ext cx="434889" cy="143640"/>
          </a:xfrm>
          <a:prstGeom prst="rect">
            <a:avLst/>
          </a:prstGeom>
          <a:noFill/>
        </p:spPr>
        <p:txBody>
          <a:bodyPr wrap="none" lIns="0" rIns="0" tIns="0" bIns="0" anchor="t"/>
          <a:lstStyle/>
          <a:p>
            <a:pPr algn="l">
              <a:lnSpc>
                <a:spcPts val="1142"/>
              </a:lnSpc>
            </a:pPr>
            <a:r>
              <a:rPr sz="952" b="0" i="0">
                <a:solidFill>
                  <a:srgbClr val="111111"/>
                </a:solidFill>
                <a:latin typeface="Versos"/>
              </a:rPr>
              <a:t>12,95%</a:t>
            </a:r>
          </a:p>
        </p:txBody>
      </p:sp>
      <p:sp>
        <p:nvSpPr>
          <p:cNvPr id="75" name="TextBox 74"/>
          <p:cNvSpPr txBox="1"/>
          <p:nvPr/>
        </p:nvSpPr>
        <p:spPr>
          <a:xfrm>
            <a:off x="3802680" y="621042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6" name="TextBox 75"/>
          <p:cNvSpPr txBox="1"/>
          <p:nvPr/>
        </p:nvSpPr>
        <p:spPr>
          <a:xfrm>
            <a:off x="5775249" y="6202743"/>
            <a:ext cx="395699" cy="143640"/>
          </a:xfrm>
          <a:prstGeom prst="rect">
            <a:avLst/>
          </a:prstGeom>
          <a:noFill/>
        </p:spPr>
        <p:txBody>
          <a:bodyPr wrap="none" lIns="0" rIns="0" tIns="0" bIns="0" anchor="t"/>
          <a:lstStyle/>
          <a:p>
            <a:pPr algn="l">
              <a:lnSpc>
                <a:spcPts val="1142"/>
              </a:lnSpc>
            </a:pPr>
            <a:r>
              <a:rPr sz="952" b="0" i="0">
                <a:solidFill>
                  <a:srgbClr val="111111"/>
                </a:solidFill>
                <a:latin typeface="Versos"/>
              </a:rPr>
              <a:t>6,83%</a:t>
            </a:r>
          </a:p>
        </p:txBody>
      </p:sp>
      <p:sp>
        <p:nvSpPr>
          <p:cNvPr id="77" name="TextBox 76"/>
          <p:cNvSpPr txBox="1"/>
          <p:nvPr/>
        </p:nvSpPr>
        <p:spPr>
          <a:xfrm>
            <a:off x="3802680" y="643863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8" name="TextBox 77"/>
          <p:cNvSpPr txBox="1"/>
          <p:nvPr/>
        </p:nvSpPr>
        <p:spPr>
          <a:xfrm>
            <a:off x="5624994" y="6430843"/>
            <a:ext cx="386486" cy="143640"/>
          </a:xfrm>
          <a:prstGeom prst="rect">
            <a:avLst/>
          </a:prstGeom>
          <a:noFill/>
        </p:spPr>
        <p:txBody>
          <a:bodyPr wrap="none" lIns="0" rIns="0" tIns="0" bIns="0" anchor="t"/>
          <a:lstStyle/>
          <a:p>
            <a:pPr algn="l">
              <a:lnSpc>
                <a:spcPts val="1142"/>
              </a:lnSpc>
            </a:pPr>
            <a:r>
              <a:rPr sz="952" b="0" i="0">
                <a:solidFill>
                  <a:srgbClr val="111111"/>
                </a:solidFill>
                <a:latin typeface="Versos"/>
              </a:rPr>
              <a:t>3,25%</a:t>
            </a:r>
          </a:p>
        </p:txBody>
      </p:sp>
      <p:sp>
        <p:nvSpPr>
          <p:cNvPr id="79" name="TextBox 78"/>
          <p:cNvSpPr txBox="1"/>
          <p:nvPr/>
        </p:nvSpPr>
        <p:spPr>
          <a:xfrm>
            <a:off x="3802680" y="6610275"/>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80" name="TextBox 79"/>
          <p:cNvSpPr txBox="1"/>
          <p:nvPr/>
        </p:nvSpPr>
        <p:spPr>
          <a:xfrm>
            <a:off x="5619678" y="6659060"/>
            <a:ext cx="350122" cy="143640"/>
          </a:xfrm>
          <a:prstGeom prst="rect">
            <a:avLst/>
          </a:prstGeom>
          <a:noFill/>
        </p:spPr>
        <p:txBody>
          <a:bodyPr wrap="none" lIns="0" rIns="0" tIns="0" bIns="0" anchor="t"/>
          <a:lstStyle/>
          <a:p>
            <a:pPr algn="l">
              <a:lnSpc>
                <a:spcPts val="1142"/>
              </a:lnSpc>
            </a:pPr>
            <a:r>
              <a:rPr sz="952" b="0" i="0">
                <a:solidFill>
                  <a:srgbClr val="111111"/>
                </a:solidFill>
                <a:latin typeface="Versos"/>
              </a:rPr>
              <a:t>3,12%</a:t>
            </a:r>
          </a:p>
        </p:txBody>
      </p:sp>
      <p:sp>
        <p:nvSpPr>
          <p:cNvPr id="81" name="TextBox 80"/>
          <p:cNvSpPr txBox="1"/>
          <p:nvPr/>
        </p:nvSpPr>
        <p:spPr>
          <a:xfrm>
            <a:off x="3802680" y="689495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82" name="TextBox 81"/>
          <p:cNvSpPr txBox="1"/>
          <p:nvPr/>
        </p:nvSpPr>
        <p:spPr>
          <a:xfrm>
            <a:off x="5604204" y="6887160"/>
            <a:ext cx="383169" cy="143640"/>
          </a:xfrm>
          <a:prstGeom prst="rect">
            <a:avLst/>
          </a:prstGeom>
          <a:noFill/>
        </p:spPr>
        <p:txBody>
          <a:bodyPr wrap="none" lIns="0" rIns="0" tIns="0" bIns="0" anchor="t"/>
          <a:lstStyle/>
          <a:p>
            <a:pPr algn="l">
              <a:lnSpc>
                <a:spcPts val="1142"/>
              </a:lnSpc>
            </a:pPr>
            <a:r>
              <a:rPr sz="952" b="0" i="0">
                <a:solidFill>
                  <a:srgbClr val="111111"/>
                </a:solidFill>
                <a:latin typeface="Versos"/>
              </a:rPr>
              <a:t>2,76%</a:t>
            </a:r>
          </a:p>
        </p:txBody>
      </p:sp>
      <p:sp>
        <p:nvSpPr>
          <p:cNvPr id="83" name="TextBox 82"/>
          <p:cNvSpPr txBox="1"/>
          <p:nvPr/>
        </p:nvSpPr>
        <p:spPr>
          <a:xfrm>
            <a:off x="3802680" y="712305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84" name="TextBox 83"/>
          <p:cNvSpPr txBox="1"/>
          <p:nvPr/>
        </p:nvSpPr>
        <p:spPr>
          <a:xfrm>
            <a:off x="5585304" y="7115377"/>
            <a:ext cx="357124" cy="143640"/>
          </a:xfrm>
          <a:prstGeom prst="rect">
            <a:avLst/>
          </a:prstGeom>
          <a:noFill/>
        </p:spPr>
        <p:txBody>
          <a:bodyPr wrap="none" lIns="0" rIns="0" tIns="0" bIns="0" anchor="t"/>
          <a:lstStyle/>
          <a:p>
            <a:pPr algn="l">
              <a:lnSpc>
                <a:spcPts val="1142"/>
              </a:lnSpc>
            </a:pPr>
            <a:r>
              <a:rPr sz="952" b="0" i="0">
                <a:solidFill>
                  <a:srgbClr val="111111"/>
                </a:solidFill>
                <a:latin typeface="Versos"/>
              </a:rPr>
              <a:t>2,31%</a:t>
            </a:r>
          </a:p>
        </p:txBody>
      </p:sp>
      <p:sp>
        <p:nvSpPr>
          <p:cNvPr id="85" name="TextBox 84"/>
          <p:cNvSpPr txBox="1"/>
          <p:nvPr/>
        </p:nvSpPr>
        <p:spPr>
          <a:xfrm>
            <a:off x="3802680" y="735127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86" name="TextBox 85"/>
          <p:cNvSpPr txBox="1"/>
          <p:nvPr/>
        </p:nvSpPr>
        <p:spPr>
          <a:xfrm>
            <a:off x="5575618" y="7343476"/>
            <a:ext cx="397296" cy="143640"/>
          </a:xfrm>
          <a:prstGeom prst="rect">
            <a:avLst/>
          </a:prstGeom>
          <a:noFill/>
        </p:spPr>
        <p:txBody>
          <a:bodyPr wrap="none" lIns="0" rIns="0" tIns="0" bIns="0" anchor="t"/>
          <a:lstStyle/>
          <a:p>
            <a:pPr algn="l">
              <a:lnSpc>
                <a:spcPts val="1142"/>
              </a:lnSpc>
            </a:pPr>
            <a:r>
              <a:rPr sz="952" b="0" i="0">
                <a:solidFill>
                  <a:srgbClr val="111111"/>
                </a:solidFill>
                <a:latin typeface="Versos"/>
              </a:rPr>
              <a:t>2,08%</a:t>
            </a:r>
          </a:p>
        </p:txBody>
      </p:sp>
      <p:sp>
        <p:nvSpPr>
          <p:cNvPr id="87" name="TextBox 86"/>
          <p:cNvSpPr txBox="1"/>
          <p:nvPr/>
        </p:nvSpPr>
        <p:spPr>
          <a:xfrm>
            <a:off x="3802680" y="757937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8" name="TextBox 87"/>
          <p:cNvSpPr txBox="1"/>
          <p:nvPr/>
        </p:nvSpPr>
        <p:spPr>
          <a:xfrm>
            <a:off x="5566404" y="7571694"/>
            <a:ext cx="366461" cy="143640"/>
          </a:xfrm>
          <a:prstGeom prst="rect">
            <a:avLst/>
          </a:prstGeom>
          <a:noFill/>
        </p:spPr>
        <p:txBody>
          <a:bodyPr wrap="none" lIns="0" rIns="0" tIns="0" bIns="0" anchor="t"/>
          <a:lstStyle/>
          <a:p>
            <a:pPr algn="l">
              <a:lnSpc>
                <a:spcPts val="1142"/>
              </a:lnSpc>
            </a:pPr>
            <a:r>
              <a:rPr sz="952" b="0" i="0">
                <a:solidFill>
                  <a:srgbClr val="111111"/>
                </a:solidFill>
                <a:latin typeface="Versos"/>
              </a:rPr>
              <a:t>1,86%</a:t>
            </a:r>
          </a:p>
        </p:txBody>
      </p:sp>
      <p:sp>
        <p:nvSpPr>
          <p:cNvPr id="89" name="TextBox 88"/>
          <p:cNvSpPr txBox="1"/>
          <p:nvPr/>
        </p:nvSpPr>
        <p:spPr>
          <a:xfrm>
            <a:off x="3802680" y="780759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90" name="TextBox 89"/>
          <p:cNvSpPr txBox="1"/>
          <p:nvPr/>
        </p:nvSpPr>
        <p:spPr>
          <a:xfrm>
            <a:off x="5554355" y="7799793"/>
            <a:ext cx="348525" cy="143640"/>
          </a:xfrm>
          <a:prstGeom prst="rect">
            <a:avLst/>
          </a:prstGeom>
          <a:noFill/>
        </p:spPr>
        <p:txBody>
          <a:bodyPr wrap="none" lIns="0" rIns="0" tIns="0" bIns="0" anchor="t"/>
          <a:lstStyle/>
          <a:p>
            <a:pPr algn="l">
              <a:lnSpc>
                <a:spcPts val="1142"/>
              </a:lnSpc>
            </a:pPr>
            <a:r>
              <a:rPr sz="952" b="0" i="0">
                <a:solidFill>
                  <a:srgbClr val="111111"/>
                </a:solidFill>
                <a:latin typeface="Versos"/>
              </a:rPr>
              <a:t>1,57%</a:t>
            </a:r>
          </a:p>
        </p:txBody>
      </p:sp>
      <p:sp>
        <p:nvSpPr>
          <p:cNvPr id="91" name="TextBox 90"/>
          <p:cNvSpPr txBox="1"/>
          <p:nvPr/>
        </p:nvSpPr>
        <p:spPr>
          <a:xfrm>
            <a:off x="3802680" y="803568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92" name="TextBox 91"/>
          <p:cNvSpPr txBox="1"/>
          <p:nvPr/>
        </p:nvSpPr>
        <p:spPr>
          <a:xfrm>
            <a:off x="5536400" y="8028011"/>
            <a:ext cx="318058" cy="143640"/>
          </a:xfrm>
          <a:prstGeom prst="rect">
            <a:avLst/>
          </a:prstGeom>
          <a:noFill/>
        </p:spPr>
        <p:txBody>
          <a:bodyPr wrap="none" lIns="0" rIns="0" tIns="0" bIns="0" anchor="t"/>
          <a:lstStyle/>
          <a:p>
            <a:pPr algn="l">
              <a:lnSpc>
                <a:spcPts val="1142"/>
              </a:lnSpc>
            </a:pPr>
            <a:r>
              <a:rPr sz="952" b="0" i="0">
                <a:solidFill>
                  <a:srgbClr val="111111"/>
                </a:solidFill>
                <a:latin typeface="Versos"/>
              </a:rPr>
              <a:t>1,14%</a:t>
            </a:r>
          </a:p>
        </p:txBody>
      </p:sp>
      <p:sp>
        <p:nvSpPr>
          <p:cNvPr id="93" name="TextBox 92"/>
          <p:cNvSpPr txBox="1"/>
          <p:nvPr/>
        </p:nvSpPr>
        <p:spPr>
          <a:xfrm>
            <a:off x="3802680" y="826390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94" name="TextBox 93"/>
          <p:cNvSpPr txBox="1"/>
          <p:nvPr/>
        </p:nvSpPr>
        <p:spPr>
          <a:xfrm>
            <a:off x="5530494" y="8256228"/>
            <a:ext cx="369778" cy="143640"/>
          </a:xfrm>
          <a:prstGeom prst="rect">
            <a:avLst/>
          </a:prstGeom>
          <a:noFill/>
        </p:spPr>
        <p:txBody>
          <a:bodyPr wrap="none" lIns="0" rIns="0" tIns="0" bIns="0" anchor="t"/>
          <a:lstStyle/>
          <a:p>
            <a:pPr algn="l">
              <a:lnSpc>
                <a:spcPts val="1142"/>
              </a:lnSpc>
            </a:pPr>
            <a:r>
              <a:rPr sz="952" b="0" i="0">
                <a:solidFill>
                  <a:srgbClr val="111111"/>
                </a:solidFill>
                <a:latin typeface="Versos"/>
              </a:rPr>
              <a:t>1,00%</a:t>
            </a:r>
          </a:p>
        </p:txBody>
      </p:sp>
      <p:sp>
        <p:nvSpPr>
          <p:cNvPr id="95" name="TextBox 94"/>
          <p:cNvSpPr txBox="1"/>
          <p:nvPr/>
        </p:nvSpPr>
        <p:spPr>
          <a:xfrm>
            <a:off x="3802680" y="849212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96" name="TextBox 95"/>
          <p:cNvSpPr txBox="1"/>
          <p:nvPr/>
        </p:nvSpPr>
        <p:spPr>
          <a:xfrm>
            <a:off x="5525651" y="8484446"/>
            <a:ext cx="401473" cy="143640"/>
          </a:xfrm>
          <a:prstGeom prst="rect">
            <a:avLst/>
          </a:prstGeom>
          <a:noFill/>
        </p:spPr>
        <p:txBody>
          <a:bodyPr wrap="none" lIns="0" rIns="0" tIns="0" bIns="0" anchor="t"/>
          <a:lstStyle/>
          <a:p>
            <a:pPr algn="l">
              <a:lnSpc>
                <a:spcPts val="1142"/>
              </a:lnSpc>
            </a:pPr>
            <a:r>
              <a:rPr sz="952" b="0" i="0">
                <a:solidFill>
                  <a:srgbClr val="111111"/>
                </a:solidFill>
                <a:latin typeface="Versos"/>
              </a:rPr>
              <a:t>0,88%</a:t>
            </a:r>
          </a:p>
        </p:txBody>
      </p:sp>
      <p:sp>
        <p:nvSpPr>
          <p:cNvPr id="97" name="TextBox 96"/>
          <p:cNvSpPr txBox="1"/>
          <p:nvPr/>
        </p:nvSpPr>
        <p:spPr>
          <a:xfrm>
            <a:off x="3802680" y="872034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Agrícola</a:t>
            </a:r>
          </a:p>
        </p:txBody>
      </p:sp>
      <p:sp>
        <p:nvSpPr>
          <p:cNvPr id="98" name="TextBox 97"/>
          <p:cNvSpPr txBox="1"/>
          <p:nvPr/>
        </p:nvSpPr>
        <p:spPr>
          <a:xfrm>
            <a:off x="5513130" y="8712663"/>
            <a:ext cx="396682" cy="143640"/>
          </a:xfrm>
          <a:prstGeom prst="rect">
            <a:avLst/>
          </a:prstGeom>
          <a:noFill/>
        </p:spPr>
        <p:txBody>
          <a:bodyPr wrap="none" lIns="0" rIns="0" tIns="0" bIns="0" anchor="t"/>
          <a:lstStyle/>
          <a:p>
            <a:pPr algn="l">
              <a:lnSpc>
                <a:spcPts val="1142"/>
              </a:lnSpc>
            </a:pPr>
            <a:r>
              <a:rPr sz="952" b="0" i="0">
                <a:solidFill>
                  <a:srgbClr val="111111"/>
                </a:solidFill>
                <a:latin typeface="Versos"/>
              </a:rPr>
              <a:t>0,59%</a:t>
            </a:r>
          </a:p>
        </p:txBody>
      </p:sp>
      <p:sp>
        <p:nvSpPr>
          <p:cNvPr id="99" name="TextBox 98"/>
          <p:cNvSpPr txBox="1"/>
          <p:nvPr/>
        </p:nvSpPr>
        <p:spPr>
          <a:xfrm>
            <a:off x="3802680" y="894855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a:t>
            </a:r>
          </a:p>
        </p:txBody>
      </p:sp>
      <p:sp>
        <p:nvSpPr>
          <p:cNvPr id="100" name="TextBox 99"/>
          <p:cNvSpPr txBox="1"/>
          <p:nvPr/>
        </p:nvSpPr>
        <p:spPr>
          <a:xfrm>
            <a:off x="5511358" y="8940881"/>
            <a:ext cx="391031" cy="143640"/>
          </a:xfrm>
          <a:prstGeom prst="rect">
            <a:avLst/>
          </a:prstGeom>
          <a:noFill/>
        </p:spPr>
        <p:txBody>
          <a:bodyPr wrap="none" lIns="0" rIns="0" tIns="0" bIns="0" anchor="t"/>
          <a:lstStyle/>
          <a:p>
            <a:pPr algn="l">
              <a:lnSpc>
                <a:spcPts val="1142"/>
              </a:lnSpc>
            </a:pPr>
            <a:r>
              <a:rPr sz="952" b="0" i="0">
                <a:solidFill>
                  <a:srgbClr val="111111"/>
                </a:solidFill>
                <a:latin typeface="Versos"/>
              </a:rPr>
              <a:t>0,55%</a:t>
            </a:r>
          </a:p>
        </p:txBody>
      </p:sp>
      <p:sp>
        <p:nvSpPr>
          <p:cNvPr id="101" name="TextBox 100"/>
          <p:cNvSpPr txBox="1"/>
          <p:nvPr/>
        </p:nvSpPr>
        <p:spPr>
          <a:xfrm>
            <a:off x="3802680" y="91767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102" name="TextBox 101"/>
          <p:cNvSpPr txBox="1"/>
          <p:nvPr/>
        </p:nvSpPr>
        <p:spPr>
          <a:xfrm>
            <a:off x="5507460" y="9169098"/>
            <a:ext cx="394594" cy="143640"/>
          </a:xfrm>
          <a:prstGeom prst="rect">
            <a:avLst/>
          </a:prstGeom>
          <a:noFill/>
        </p:spPr>
        <p:txBody>
          <a:bodyPr wrap="none" lIns="0" rIns="0" tIns="0" bIns="0" anchor="t"/>
          <a:lstStyle/>
          <a:p>
            <a:pPr algn="l">
              <a:lnSpc>
                <a:spcPts val="1142"/>
              </a:lnSpc>
            </a:pPr>
            <a:r>
              <a:rPr sz="952" b="0" i="0">
                <a:solidFill>
                  <a:srgbClr val="111111"/>
                </a:solidFill>
                <a:latin typeface="Versos"/>
              </a:rPr>
              <a:t>0,45%</a:t>
            </a:r>
          </a:p>
        </p:txBody>
      </p:sp>
      <p:sp>
        <p:nvSpPr>
          <p:cNvPr id="103" name="TextBox 102"/>
          <p:cNvSpPr txBox="1"/>
          <p:nvPr/>
        </p:nvSpPr>
        <p:spPr>
          <a:xfrm>
            <a:off x="3802680" y="940499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Alimentos e bebidas</a:t>
            </a:r>
          </a:p>
        </p:txBody>
      </p:sp>
      <p:sp>
        <p:nvSpPr>
          <p:cNvPr id="104" name="TextBox 103"/>
          <p:cNvSpPr txBox="1"/>
          <p:nvPr/>
        </p:nvSpPr>
        <p:spPr>
          <a:xfrm>
            <a:off x="5506042" y="9397316"/>
            <a:ext cx="395331" cy="143640"/>
          </a:xfrm>
          <a:prstGeom prst="rect">
            <a:avLst/>
          </a:prstGeom>
          <a:noFill/>
        </p:spPr>
        <p:txBody>
          <a:bodyPr wrap="none" lIns="0" rIns="0" tIns="0" bIns="0" anchor="t"/>
          <a:lstStyle/>
          <a:p>
            <a:pPr algn="l">
              <a:lnSpc>
                <a:spcPts val="1142"/>
              </a:lnSpc>
            </a:pPr>
            <a:r>
              <a:rPr sz="952" b="0" i="0">
                <a:solidFill>
                  <a:srgbClr val="111111"/>
                </a:solidFill>
                <a:latin typeface="Versos"/>
              </a:rPr>
              <a:t>0,42%</a:t>
            </a:r>
          </a:p>
        </p:txBody>
      </p:sp>
      <p:sp>
        <p:nvSpPr>
          <p:cNvPr id="105" name="TextBox 104"/>
          <p:cNvSpPr txBox="1"/>
          <p:nvPr/>
        </p:nvSpPr>
        <p:spPr>
          <a:xfrm>
            <a:off x="3802680" y="963321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106" name="TextBox 105"/>
          <p:cNvSpPr txBox="1"/>
          <p:nvPr/>
        </p:nvSpPr>
        <p:spPr>
          <a:xfrm>
            <a:off x="5498128" y="9625533"/>
            <a:ext cx="392137" cy="143640"/>
          </a:xfrm>
          <a:prstGeom prst="rect">
            <a:avLst/>
          </a:prstGeom>
          <a:noFill/>
        </p:spPr>
        <p:txBody>
          <a:bodyPr wrap="none" lIns="0" rIns="0" tIns="0" bIns="0" anchor="t"/>
          <a:lstStyle/>
          <a:p>
            <a:pPr algn="l">
              <a:lnSpc>
                <a:spcPts val="1142"/>
              </a:lnSpc>
            </a:pPr>
            <a:r>
              <a:rPr sz="952" b="0" i="0">
                <a:solidFill>
                  <a:srgbClr val="111111"/>
                </a:solidFill>
                <a:latin typeface="Versos"/>
              </a:rPr>
              <a:t>0,23%</a:t>
            </a:r>
          </a:p>
        </p:txBody>
      </p:sp>
      <p:sp>
        <p:nvSpPr>
          <p:cNvPr id="107" name="TextBox 106"/>
          <p:cNvSpPr txBox="1"/>
          <p:nvPr/>
        </p:nvSpPr>
        <p:spPr>
          <a:xfrm>
            <a:off x="3802680" y="986142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Distribuição</a:t>
            </a:r>
          </a:p>
        </p:txBody>
      </p:sp>
      <p:sp>
        <p:nvSpPr>
          <p:cNvPr id="108" name="TextBox 107"/>
          <p:cNvSpPr txBox="1"/>
          <p:nvPr/>
        </p:nvSpPr>
        <p:spPr>
          <a:xfrm>
            <a:off x="5498010" y="9853751"/>
            <a:ext cx="351965" cy="143640"/>
          </a:xfrm>
          <a:prstGeom prst="rect">
            <a:avLst/>
          </a:prstGeom>
          <a:noFill/>
        </p:spPr>
        <p:txBody>
          <a:bodyPr wrap="none" lIns="0" rIns="0" tIns="0" bIns="0" anchor="t"/>
          <a:lstStyle/>
          <a:p>
            <a:pPr algn="l">
              <a:lnSpc>
                <a:spcPts val="1142"/>
              </a:lnSpc>
            </a:pPr>
            <a:r>
              <a:rPr sz="952" b="0" i="0">
                <a:solidFill>
                  <a:srgbClr val="111111"/>
                </a:solidFill>
                <a:latin typeface="Versos"/>
              </a:rPr>
              <a:t>0,14%</a:t>
            </a:r>
          </a:p>
        </p:txBody>
      </p:sp>
      <p:sp>
        <p:nvSpPr>
          <p:cNvPr id="109" name="TextBox 108"/>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p:txBody>
      </p:sp>
      <p:sp>
        <p:nvSpPr>
          <p:cNvPr id="7" name="TextBox 6"/>
          <p:cNvSpPr txBox="1"/>
          <p:nvPr/>
        </p:nvSpPr>
        <p:spPr>
          <a:xfrm>
            <a:off x="529200" y="6086036"/>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p:txBody>
      </p:sp>
      <p:sp>
        <p:nvSpPr>
          <p:cNvPr id="8" name="TextBox 7"/>
          <p:cNvSpPr txBox="1"/>
          <p:nvPr/>
        </p:nvSpPr>
        <p:spPr>
          <a:xfrm>
            <a:off x="529200" y="7145381"/>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p:txBody>
      </p:sp>
      <p:sp>
        <p:nvSpPr>
          <p:cNvPr id="9" name="TextBox 8"/>
          <p:cNvSpPr txBox="1"/>
          <p:nvPr/>
        </p:nvSpPr>
        <p:spPr>
          <a:xfrm>
            <a:off x="529200" y="8014899"/>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p:txBody>
      </p:sp>
      <p:sp>
        <p:nvSpPr>
          <p:cNvPr id="10" name="TextBox 9"/>
          <p:cNvSpPr txBox="1"/>
          <p:nvPr/>
        </p:nvSpPr>
        <p:spPr>
          <a:xfrm>
            <a:off x="529200" y="9074244"/>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Nesse cenário, o Tivio Institucional 15 apresentou rentabilidade de 1,09% no mês (101% do CDI), acumulando 10,73% (102% do CDI) no ano. Na parcela de corporativos, os maiores atribuidores de resultado foram para Tupy e Randon, enquanto Hapvida foi o maior detrator.</a:t>
            </a:r>
          </a:p>
        </p:txBody>
      </p:sp>
      <p:sp>
        <p:nvSpPr>
          <p:cNvPr id="11" name="TextBox 1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27/02/2002</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0,50%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20% do que exceder 102,5% do CDI</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704898"/>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 Abertura</a:t>
            </a:r>
          </a:p>
          <a:p>
            <a:pPr algn="l">
              <a:lnSpc>
                <a:spcPts val="1333"/>
              </a:lnSpc>
            </a:pPr>
            <a:r>
              <a:rPr sz="1190" b="0" i="0">
                <a:solidFill>
                  <a:srgbClr val="222222"/>
                </a:solidFill>
                <a:latin typeface="Versos"/>
              </a:rPr>
              <a:t>Pagamento do 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909228"/>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4098228"/>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R$ 156.246.478,91</a:t>
            </a:r>
          </a:p>
        </p:txBody>
      </p:sp>
      <p:sp>
        <p:nvSpPr>
          <p:cNvPr id="19" name="TextBox 18"/>
          <p:cNvSpPr txBox="1"/>
          <p:nvPr/>
        </p:nvSpPr>
        <p:spPr>
          <a:xfrm>
            <a:off x="3878280" y="4600141"/>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789141"/>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R$ 151.871.553,37</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63800"/>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p:txBody>
      </p:sp>
      <p:sp>
        <p:nvSpPr>
          <p:cNvPr id="23" name="TextBox 22"/>
          <p:cNvSpPr txBox="1"/>
          <p:nvPr/>
        </p:nvSpPr>
        <p:spPr>
          <a:xfrm>
            <a:off x="400680" y="689554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4" name="TextBox 23"/>
          <p:cNvSpPr txBox="1"/>
          <p:nvPr/>
        </p:nvSpPr>
        <p:spPr>
          <a:xfrm>
            <a:off x="400680" y="7195938"/>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5" name="TextBox 24"/>
          <p:cNvSpPr txBox="1"/>
          <p:nvPr/>
        </p:nvSpPr>
        <p:spPr>
          <a:xfrm>
            <a:off x="400680" y="7627685"/>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envolvem riscos. Consulte os documentos do fundo para conhecer sua estratégia, público-alvo, condições e principais fatores de risco.</a:t>
            </a:r>
          </a:p>
        </p:txBody>
      </p:sp>
      <p:sp>
        <p:nvSpPr>
          <p:cNvPr id="26" name="TextBox 25"/>
          <p:cNvSpPr txBox="1"/>
          <p:nvPr/>
        </p:nvSpPr>
        <p:spPr>
          <a:xfrm>
            <a:off x="400680" y="7928077"/>
            <a:ext cx="7028985" cy="136080"/>
          </a:xfrm>
          <a:prstGeom prst="rect">
            <a:avLst/>
          </a:prstGeom>
          <a:noFill/>
        </p:spPr>
        <p:txBody>
          <a:bodyPr wrap="none" lIns="0" rIns="0" tIns="0" bIns="0" anchor="t"/>
          <a:lstStyle/>
          <a:p>
            <a:pPr algn="just">
              <a:lnSpc>
                <a:spcPts val="1034"/>
              </a:lnSpc>
            </a:pPr>
            <a:r>
              <a:rPr sz="848" b="0" i="0">
                <a:solidFill>
                  <a:srgbClr val="E9E9E9"/>
                </a:solidFill>
                <a:latin typeface="Versos"/>
              </a:rPr>
              <a:t>Rentabilidade obtida no passado não representa garantia de resultados futuros. A rentabilidade divulgada não é líquida de impostos.</a:t>
            </a:r>
          </a:p>
        </p:txBody>
      </p:sp>
      <p:sp>
        <p:nvSpPr>
          <p:cNvPr id="27" name="TextBox 26"/>
          <p:cNvSpPr txBox="1"/>
          <p:nvPr/>
        </p:nvSpPr>
        <p:spPr>
          <a:xfrm>
            <a:off x="400680" y="8097114"/>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em fundos não são garantidos pelo administrador, pelo gestor, por qualquer mecanismo de seguro ou pelo Fundo Garantidor de Crédito – FGC.</a:t>
            </a:r>
          </a:p>
        </p:txBody>
      </p:sp>
      <p:sp>
        <p:nvSpPr>
          <p:cNvPr id="28" name="TextBox 27"/>
          <p:cNvSpPr txBox="1"/>
          <p:nvPr/>
        </p:nvSpPr>
        <p:spPr>
          <a:xfrm>
            <a:off x="400680" y="839750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A Tivio Capital Distribuidora de Títulos e Valores Mobiliários S.A. integra o conglomerado prudencial liderado pelo Banco Bradesco S.A.</a:t>
            </a:r>
          </a:p>
        </p:txBody>
      </p:sp>
      <p:sp>
        <p:nvSpPr>
          <p:cNvPr id="29" name="TextBox 28"/>
          <p:cNvSpPr txBox="1"/>
          <p:nvPr/>
        </p:nvSpPr>
        <p:spPr>
          <a:xfrm>
            <a:off x="400680" y="9013055"/>
            <a:ext cx="1134000" cy="270742"/>
          </a:xfrm>
          <a:prstGeom prst="rect">
            <a:avLst/>
          </a:prstGeom>
          <a:noFill/>
        </p:spPr>
        <p:txBody>
          <a:bodyPr wrap="square" lIns="0" rIns="0" tIns="0" bIns="0" anchor="t"/>
          <a:lstStyle/>
          <a:p>
            <a:pPr algn="l">
              <a:lnSpc>
                <a:spcPts val="1060"/>
              </a:lnSpc>
            </a:pPr>
            <a:r>
              <a:rPr sz="848" b="0" i="0">
                <a:solidFill>
                  <a:srgbClr val="E9E9E9"/>
                </a:solidFill>
                <a:latin typeface="Versos"/>
              </a:rPr>
              <a:t>SAC: 0800 704 8383</a:t>
            </a:r>
          </a:p>
          <a:p>
            <a:pPr algn="l">
              <a:lnSpc>
                <a:spcPts val="1060"/>
              </a:lnSpc>
            </a:pPr>
            <a:r>
              <a:rPr sz="848" b="0" i="0">
                <a:solidFill>
                  <a:srgbClr val="E9E9E9"/>
                </a:solidFill>
                <a:latin typeface="Versos"/>
              </a:rPr>
              <a:t>Atendimento 24 horas</a:t>
            </a:r>
          </a:p>
        </p:txBody>
      </p:sp>
      <p:sp>
        <p:nvSpPr>
          <p:cNvPr id="30" name="TextBox 29"/>
          <p:cNvSpPr txBox="1"/>
          <p:nvPr/>
        </p:nvSpPr>
        <p:spPr>
          <a:xfrm>
            <a:off x="1655640" y="9013055"/>
            <a:ext cx="4024164" cy="270742"/>
          </a:xfrm>
          <a:prstGeom prst="rect">
            <a:avLst/>
          </a:prstGeom>
          <a:noFill/>
        </p:spPr>
        <p:txBody>
          <a:bodyPr wrap="square" lIns="0" rIns="0" tIns="0" bIns="0" anchor="t"/>
          <a:lstStyle/>
          <a:p>
            <a:pPr algn="l">
              <a:lnSpc>
                <a:spcPts val="1060"/>
              </a:lnSpc>
            </a:pPr>
            <a:r>
              <a:rPr sz="848" b="0" i="0">
                <a:solidFill>
                  <a:srgbClr val="E9E9E9"/>
                </a:solidFill>
                <a:latin typeface="Versos"/>
              </a:rPr>
              <a:t>Ouvidoria: 0800 727 9933</a:t>
            </a:r>
          </a:p>
          <a:p>
            <a:pPr algn="l">
              <a:lnSpc>
                <a:spcPts val="1060"/>
              </a:lnSpc>
            </a:pPr>
            <a:r>
              <a:rPr sz="848" b="0" i="0">
                <a:solidFill>
                  <a:srgbClr val="E9E9E9"/>
                </a:solidFill>
                <a:latin typeface="Versos"/>
              </a:rPr>
              <a:t>Atendimento das 9h às 18h, de segunda a sexta-feira, exceto feriados nacionais</a:t>
            </a:r>
          </a:p>
        </p:txBody>
      </p:sp>
      <p:sp>
        <p:nvSpPr>
          <p:cNvPr id="31" name="TextBox 30"/>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2" name="TextBox 31"/>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3" name="TextBox 32"/>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4" name="TextBox 33"/>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