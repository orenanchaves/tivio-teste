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 RF CP LP – RL </a:t>
            </a:r>
            <a:r>
              <a:rPr sz="829"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31,02%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50,90%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1.663,46%</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44,25%</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1.424,46%</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1,21%</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6,65%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239,00%</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104%</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12407" cy="143640"/>
          </a:xfrm>
          <a:prstGeom prst="rect">
            <a:avLst/>
          </a:prstGeom>
          <a:noFill/>
        </p:spPr>
        <p:txBody>
          <a:bodyPr wrap="none" lIns="0" rIns="0" tIns="0" bIns="0" anchor="t"/>
          <a:lstStyle/>
          <a:p>
            <a:pPr algn="l">
              <a:lnSpc>
                <a:spcPts val="1107"/>
              </a:lnSpc>
            </a:pPr>
            <a:r>
              <a:rPr sz="922" b="0" i="0">
                <a:solidFill>
                  <a:srgbClr val="5A82A0"/>
                </a:solidFill>
                <a:latin typeface="Versos"/>
              </a:rPr>
              <a:t>4,11%</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506140" y="6052606"/>
            <a:ext cx="386240" cy="143640"/>
          </a:xfrm>
          <a:prstGeom prst="rect">
            <a:avLst/>
          </a:prstGeom>
          <a:noFill/>
        </p:spPr>
        <p:txBody>
          <a:bodyPr wrap="none" lIns="0" rIns="0" tIns="0" bIns="0" anchor="t"/>
          <a:lstStyle/>
          <a:p>
            <a:pPr algn="l">
              <a:lnSpc>
                <a:spcPts val="1107"/>
              </a:lnSpc>
            </a:pPr>
            <a:r>
              <a:rPr sz="922" b="0" i="0">
                <a:solidFill>
                  <a:srgbClr val="5A82A0"/>
                </a:solidFill>
                <a:latin typeface="Versos"/>
              </a:rPr>
              <a:t>3,30%</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287608" y="6484944"/>
            <a:ext cx="363881" cy="143640"/>
          </a:xfrm>
          <a:prstGeom prst="rect">
            <a:avLst/>
          </a:prstGeom>
          <a:noFill/>
        </p:spPr>
        <p:txBody>
          <a:bodyPr wrap="none" lIns="0" rIns="0" tIns="0" bIns="0" anchor="t"/>
          <a:lstStyle/>
          <a:p>
            <a:pPr algn="l">
              <a:lnSpc>
                <a:spcPts val="1107"/>
              </a:lnSpc>
            </a:pPr>
            <a:r>
              <a:rPr sz="922" b="0" i="0">
                <a:solidFill>
                  <a:srgbClr val="5A82A0"/>
                </a:solidFill>
                <a:latin typeface="Versos"/>
              </a:rPr>
              <a:t>2,75%</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249100" y="6917281"/>
            <a:ext cx="382554" cy="143640"/>
          </a:xfrm>
          <a:prstGeom prst="rect">
            <a:avLst/>
          </a:prstGeom>
          <a:noFill/>
        </p:spPr>
        <p:txBody>
          <a:bodyPr wrap="none" lIns="0" rIns="0" tIns="0" bIns="0" anchor="t"/>
          <a:lstStyle/>
          <a:p>
            <a:pPr algn="l">
              <a:lnSpc>
                <a:spcPts val="1107"/>
              </a:lnSpc>
            </a:pPr>
            <a:r>
              <a:rPr sz="922" b="0" i="0">
                <a:solidFill>
                  <a:srgbClr val="5A82A0"/>
                </a:solidFill>
                <a:latin typeface="Versos"/>
              </a:rPr>
              <a:t>2,66%</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52" name="TextBox 51"/>
          <p:cNvSpPr txBox="1"/>
          <p:nvPr/>
        </p:nvSpPr>
        <p:spPr>
          <a:xfrm>
            <a:off x="1883503" y="7349619"/>
            <a:ext cx="327640" cy="143640"/>
          </a:xfrm>
          <a:prstGeom prst="rect">
            <a:avLst/>
          </a:prstGeom>
          <a:noFill/>
        </p:spPr>
        <p:txBody>
          <a:bodyPr wrap="none" lIns="0" rIns="0" tIns="0" bIns="0" anchor="t"/>
          <a:lstStyle/>
          <a:p>
            <a:pPr algn="l">
              <a:lnSpc>
                <a:spcPts val="1107"/>
              </a:lnSpc>
            </a:pPr>
            <a:r>
              <a:rPr sz="922" b="0" i="0">
                <a:solidFill>
                  <a:srgbClr val="5A82A0"/>
                </a:solidFill>
                <a:latin typeface="Versos"/>
              </a:rPr>
              <a:t>1,74%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34643" cy="143640"/>
          </a:xfrm>
          <a:prstGeom prst="rect">
            <a:avLst/>
          </a:prstGeom>
          <a:noFill/>
        </p:spPr>
        <p:txBody>
          <a:bodyPr wrap="none" lIns="0" rIns="0" tIns="0" bIns="0" anchor="t"/>
          <a:lstStyle/>
          <a:p>
            <a:pPr algn="l">
              <a:lnSpc>
                <a:spcPts val="1142"/>
              </a:lnSpc>
            </a:pPr>
            <a:r>
              <a:rPr sz="952" b="0" i="0">
                <a:solidFill>
                  <a:srgbClr val="111111"/>
                </a:solidFill>
                <a:latin typeface="Versos"/>
              </a:rPr>
              <a:t>28,18%</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7854" y="8515158"/>
            <a:ext cx="353439" cy="143640"/>
          </a:xfrm>
          <a:prstGeom prst="rect">
            <a:avLst/>
          </a:prstGeom>
          <a:noFill/>
        </p:spPr>
        <p:txBody>
          <a:bodyPr wrap="none" lIns="0" rIns="0" tIns="0" bIns="0" anchor="t"/>
          <a:lstStyle/>
          <a:p>
            <a:pPr algn="l">
              <a:lnSpc>
                <a:spcPts val="1142"/>
              </a:lnSpc>
            </a:pPr>
            <a:r>
              <a:rPr sz="952" b="0" i="0">
                <a:solidFill>
                  <a:srgbClr val="111111"/>
                </a:solidFill>
                <a:latin typeface="Versos"/>
              </a:rPr>
              <a:t>5,51%</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356429" y="8779286"/>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1" name="TextBox 60"/>
          <p:cNvSpPr txBox="1"/>
          <p:nvPr/>
        </p:nvSpPr>
        <p:spPr>
          <a:xfrm>
            <a:off x="1348515" y="9043413"/>
            <a:ext cx="401228" cy="143640"/>
          </a:xfrm>
          <a:prstGeom prst="rect">
            <a:avLst/>
          </a:prstGeom>
          <a:noFill/>
        </p:spPr>
        <p:txBody>
          <a:bodyPr wrap="none" lIns="0" rIns="0" tIns="0" bIns="0" anchor="t"/>
          <a:lstStyle/>
          <a:p>
            <a:pPr algn="l">
              <a:lnSpc>
                <a:spcPts val="1142"/>
              </a:lnSpc>
            </a:pPr>
            <a:r>
              <a:rPr sz="952" b="0" i="0">
                <a:solidFill>
                  <a:srgbClr val="111111"/>
                </a:solidFill>
                <a:latin typeface="Versos"/>
              </a:rPr>
              <a:t>4,49%</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316621" y="9307541"/>
            <a:ext cx="394717" cy="143640"/>
          </a:xfrm>
          <a:prstGeom prst="rect">
            <a:avLst/>
          </a:prstGeom>
          <a:noFill/>
        </p:spPr>
        <p:txBody>
          <a:bodyPr wrap="none" lIns="0" rIns="0" tIns="0" bIns="0" anchor="t"/>
          <a:lstStyle/>
          <a:p>
            <a:pPr algn="l">
              <a:lnSpc>
                <a:spcPts val="1142"/>
              </a:lnSpc>
            </a:pPr>
            <a:r>
              <a:rPr sz="952" b="0" i="0">
                <a:solidFill>
                  <a:srgbClr val="111111"/>
                </a:solidFill>
                <a:latin typeface="Versos"/>
              </a:rPr>
              <a:t>4,02%</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20585" y="9571668"/>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2,61%</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7813" y="983579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0,66%</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752497" y="5518209"/>
            <a:ext cx="410933" cy="143640"/>
          </a:xfrm>
          <a:prstGeom prst="rect">
            <a:avLst/>
          </a:prstGeom>
          <a:noFill/>
        </p:spPr>
        <p:txBody>
          <a:bodyPr wrap="none" lIns="0" rIns="0" tIns="0" bIns="0" anchor="t"/>
          <a:lstStyle/>
          <a:p>
            <a:pPr algn="l">
              <a:lnSpc>
                <a:spcPts val="1142"/>
              </a:lnSpc>
            </a:pPr>
            <a:r>
              <a:rPr sz="952" b="0" i="0">
                <a:solidFill>
                  <a:srgbClr val="111111"/>
                </a:solidFill>
                <a:latin typeface="Versos"/>
              </a:rPr>
              <a:t>27,13%</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2" name="TextBox 71"/>
          <p:cNvSpPr txBox="1"/>
          <p:nvPr/>
        </p:nvSpPr>
        <p:spPr>
          <a:xfrm>
            <a:off x="6578145" y="5746426"/>
            <a:ext cx="472603" cy="143640"/>
          </a:xfrm>
          <a:prstGeom prst="rect">
            <a:avLst/>
          </a:prstGeom>
          <a:noFill/>
        </p:spPr>
        <p:txBody>
          <a:bodyPr wrap="none" lIns="0" rIns="0" tIns="0" bIns="0" anchor="t"/>
          <a:lstStyle/>
          <a:p>
            <a:pPr algn="l">
              <a:lnSpc>
                <a:spcPts val="1142"/>
              </a:lnSpc>
            </a:pPr>
            <a:r>
              <a:rPr sz="952" b="0" i="0">
                <a:solidFill>
                  <a:srgbClr val="111111"/>
                </a:solidFill>
                <a:latin typeface="Versos"/>
              </a:rPr>
              <a:t>23,38%</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66427" y="5974526"/>
            <a:ext cx="446068" cy="143640"/>
          </a:xfrm>
          <a:prstGeom prst="rect">
            <a:avLst/>
          </a:prstGeom>
          <a:noFill/>
        </p:spPr>
        <p:txBody>
          <a:bodyPr wrap="none" lIns="0" rIns="0" tIns="0" bIns="0" anchor="t"/>
          <a:lstStyle/>
          <a:p>
            <a:pPr algn="l">
              <a:lnSpc>
                <a:spcPts val="1142"/>
              </a:lnSpc>
            </a:pPr>
            <a:r>
              <a:rPr sz="952" b="0" i="0">
                <a:solidFill>
                  <a:srgbClr val="111111"/>
                </a:solidFill>
                <a:latin typeface="Versos"/>
              </a:rPr>
              <a:t>12,40%</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744418" y="6202743"/>
            <a:ext cx="397051" cy="143640"/>
          </a:xfrm>
          <a:prstGeom prst="rect">
            <a:avLst/>
          </a:prstGeom>
          <a:noFill/>
        </p:spPr>
        <p:txBody>
          <a:bodyPr wrap="none" lIns="0" rIns="0" tIns="0" bIns="0" anchor="t"/>
          <a:lstStyle/>
          <a:p>
            <a:pPr algn="l">
              <a:lnSpc>
                <a:spcPts val="1142"/>
              </a:lnSpc>
            </a:pPr>
            <a:r>
              <a:rPr sz="952" b="0" i="0">
                <a:solidFill>
                  <a:srgbClr val="111111"/>
                </a:solidFill>
                <a:latin typeface="Versos"/>
              </a:rPr>
              <a:t>5,49%</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640232" y="6430843"/>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79" name="TextBox 78"/>
          <p:cNvSpPr txBox="1"/>
          <p:nvPr/>
        </p:nvSpPr>
        <p:spPr>
          <a:xfrm>
            <a:off x="3802680" y="661027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607039" y="6659060"/>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2,54%</a:t>
            </a:r>
          </a:p>
        </p:txBody>
      </p:sp>
      <p:sp>
        <p:nvSpPr>
          <p:cNvPr id="81" name="TextBox 80"/>
          <p:cNvSpPr txBox="1"/>
          <p:nvPr/>
        </p:nvSpPr>
        <p:spPr>
          <a:xfrm>
            <a:off x="3802680" y="68949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2" name="TextBox 81"/>
          <p:cNvSpPr txBox="1"/>
          <p:nvPr/>
        </p:nvSpPr>
        <p:spPr>
          <a:xfrm>
            <a:off x="5582351" y="6887160"/>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2,01%</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4" name="TextBox 83"/>
          <p:cNvSpPr txBox="1"/>
          <p:nvPr/>
        </p:nvSpPr>
        <p:spPr>
          <a:xfrm>
            <a:off x="5579043" y="7115377"/>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1,94%</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6" name="TextBox 85"/>
          <p:cNvSpPr txBox="1"/>
          <p:nvPr/>
        </p:nvSpPr>
        <p:spPr>
          <a:xfrm>
            <a:off x="5577508" y="7343476"/>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1,91%</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4791" y="7571694"/>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61679" y="7799793"/>
            <a:ext cx="348525" cy="143640"/>
          </a:xfrm>
          <a:prstGeom prst="rect">
            <a:avLst/>
          </a:prstGeom>
          <a:noFill/>
        </p:spPr>
        <p:txBody>
          <a:bodyPr wrap="none" lIns="0" rIns="0" tIns="0" bIns="0" anchor="t"/>
          <a:lstStyle/>
          <a:p>
            <a:pPr algn="l">
              <a:lnSpc>
                <a:spcPts val="1142"/>
              </a:lnSpc>
            </a:pPr>
            <a:r>
              <a:rPr sz="952" b="0" i="0">
                <a:solidFill>
                  <a:srgbClr val="111111"/>
                </a:solidFill>
                <a:latin typeface="Versos"/>
              </a:rPr>
              <a:t>1,57%</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1598" y="8028011"/>
            <a:ext cx="318058" cy="143640"/>
          </a:xfrm>
          <a:prstGeom prst="rect">
            <a:avLst/>
          </a:prstGeom>
          <a:noFill/>
        </p:spPr>
        <p:txBody>
          <a:bodyPr wrap="none" lIns="0" rIns="0" tIns="0" bIns="0" anchor="t"/>
          <a:lstStyle/>
          <a:p>
            <a:pPr algn="l">
              <a:lnSpc>
                <a:spcPts val="1142"/>
              </a:lnSpc>
            </a:pPr>
            <a:r>
              <a:rPr sz="952" b="0" i="0">
                <a:solidFill>
                  <a:srgbClr val="111111"/>
                </a:solidFill>
                <a:latin typeface="Versos"/>
              </a:rPr>
              <a:t>1,14%</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101" y="8256228"/>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9549" y="8484446"/>
            <a:ext cx="401473" cy="143640"/>
          </a:xfrm>
          <a:prstGeom prst="rect">
            <a:avLst/>
          </a:prstGeom>
          <a:noFill/>
        </p:spPr>
        <p:txBody>
          <a:bodyPr wrap="none" lIns="0" rIns="0" tIns="0" bIns="0" anchor="t"/>
          <a:lstStyle/>
          <a:p>
            <a:pPr algn="l">
              <a:lnSpc>
                <a:spcPts val="1142"/>
              </a:lnSpc>
            </a:pPr>
            <a:r>
              <a:rPr sz="952" b="0" i="0">
                <a:solidFill>
                  <a:srgbClr val="111111"/>
                </a:solidFill>
                <a:latin typeface="Versos"/>
              </a:rPr>
              <a:t>0,88%</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Agrícola</a:t>
            </a:r>
          </a:p>
        </p:txBody>
      </p:sp>
      <p:sp>
        <p:nvSpPr>
          <p:cNvPr id="98" name="TextBox 97"/>
          <p:cNvSpPr txBox="1"/>
          <p:nvPr/>
        </p:nvSpPr>
        <p:spPr>
          <a:xfrm>
            <a:off x="5515846" y="8712663"/>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a:t>
            </a:r>
          </a:p>
        </p:txBody>
      </p:sp>
      <p:sp>
        <p:nvSpPr>
          <p:cNvPr id="100" name="TextBox 99"/>
          <p:cNvSpPr txBox="1"/>
          <p:nvPr/>
        </p:nvSpPr>
        <p:spPr>
          <a:xfrm>
            <a:off x="5513956" y="8940881"/>
            <a:ext cx="391031" cy="143640"/>
          </a:xfrm>
          <a:prstGeom prst="rect">
            <a:avLst/>
          </a:prstGeom>
          <a:noFill/>
        </p:spPr>
        <p:txBody>
          <a:bodyPr wrap="none" lIns="0" rIns="0" tIns="0" bIns="0" anchor="t"/>
          <a:lstStyle/>
          <a:p>
            <a:pPr algn="l">
              <a:lnSpc>
                <a:spcPts val="1142"/>
              </a:lnSpc>
            </a:pPr>
            <a:r>
              <a:rPr sz="952" b="0" i="0">
                <a:solidFill>
                  <a:srgbClr val="111111"/>
                </a:solidFill>
                <a:latin typeface="Versos"/>
              </a:rPr>
              <a:t>0,55%</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09704" y="9169098"/>
            <a:ext cx="394594" cy="143640"/>
          </a:xfrm>
          <a:prstGeom prst="rect">
            <a:avLst/>
          </a:prstGeom>
          <a:noFill/>
        </p:spPr>
        <p:txBody>
          <a:bodyPr wrap="none" lIns="0" rIns="0" tIns="0" bIns="0" anchor="t"/>
          <a:lstStyle/>
          <a:p>
            <a:pPr algn="l">
              <a:lnSpc>
                <a:spcPts val="1142"/>
              </a:lnSpc>
            </a:pPr>
            <a:r>
              <a:rPr sz="952" b="0" i="0">
                <a:solidFill>
                  <a:srgbClr val="111111"/>
                </a:solidFill>
                <a:latin typeface="Versos"/>
              </a:rPr>
              <a:t>0,45%</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92137" cy="143640"/>
          </a:xfrm>
          <a:prstGeom prst="rect">
            <a:avLst/>
          </a:prstGeom>
          <a:noFill/>
        </p:spPr>
        <p:txBody>
          <a:bodyPr wrap="none" lIns="0" rIns="0" tIns="0" bIns="0" anchor="t"/>
          <a:lstStyle/>
          <a:p>
            <a:pPr algn="l">
              <a:lnSpc>
                <a:spcPts val="1142"/>
              </a:lnSpc>
            </a:pPr>
            <a:r>
              <a:rPr sz="952" b="0" i="0">
                <a:solidFill>
                  <a:srgbClr val="111111"/>
                </a:solidFill>
                <a:latin typeface="Versos"/>
              </a:rPr>
              <a:t>0,23%</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Distribuição</a:t>
            </a:r>
          </a:p>
        </p:txBody>
      </p:sp>
      <p:sp>
        <p:nvSpPr>
          <p:cNvPr id="106" name="TextBox 105"/>
          <p:cNvSpPr txBox="1"/>
          <p:nvPr/>
        </p:nvSpPr>
        <p:spPr>
          <a:xfrm>
            <a:off x="5498010" y="9625533"/>
            <a:ext cx="351965" cy="143640"/>
          </a:xfrm>
          <a:prstGeom prst="rect">
            <a:avLst/>
          </a:prstGeom>
          <a:noFill/>
        </p:spPr>
        <p:txBody>
          <a:bodyPr wrap="none" lIns="0" rIns="0" tIns="0" bIns="0" anchor="t"/>
          <a:lstStyle/>
          <a:p>
            <a:pPr algn="l">
              <a:lnSpc>
                <a:spcPts val="1142"/>
              </a:lnSpc>
            </a:pPr>
            <a:r>
              <a:rPr sz="952" b="0" i="0">
                <a:solidFill>
                  <a:srgbClr val="111111"/>
                </a:solidFill>
                <a:latin typeface="Versos"/>
              </a:rPr>
              <a:t>0,14%</a:t>
            </a:r>
          </a:p>
        </p:txBody>
      </p:sp>
      <p:sp>
        <p:nvSpPr>
          <p:cNvPr id="107" name="TextBox 106"/>
          <p:cNvSpPr txBox="1"/>
          <p:nvPr/>
        </p:nvSpPr>
        <p:spPr>
          <a:xfrm>
            <a:off x="3802680" y="986142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8" name="TextBox 107"/>
          <p:cNvSpPr txBox="1"/>
          <p:nvPr/>
        </p:nvSpPr>
        <p:spPr>
          <a:xfrm>
            <a:off x="5498010" y="9853751"/>
            <a:ext cx="355036" cy="143640"/>
          </a:xfrm>
          <a:prstGeom prst="rect">
            <a:avLst/>
          </a:prstGeom>
          <a:noFill/>
        </p:spPr>
        <p:txBody>
          <a:bodyPr wrap="none" lIns="0" rIns="0" tIns="0" bIns="0" anchor="t"/>
          <a:lstStyle/>
          <a:p>
            <a:pPr algn="l">
              <a:lnSpc>
                <a:spcPts val="1142"/>
              </a:lnSpc>
            </a:pPr>
            <a:r>
              <a:rPr sz="952" b="0" i="0">
                <a:solidFill>
                  <a:srgbClr val="111111"/>
                </a:solidFill>
                <a:latin typeface="Versos"/>
              </a:rPr>
              <a:t>0,13%</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7" name="TextBox 6"/>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8" name="TextBox 7"/>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Institucional 15 apresentou rentabilidade de 1,09% no mês (101% do CDI), acumulando 10,73% (102% do CDI) no ano. Na parcela de corporativos, os maiores atribuidores de resultado foram para Tupy e Randon, enquanto Hapvida foi o maior detrator.</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R$ 156.246.478,91</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R$ 151.871.553,37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13055"/>
            <a:ext cx="1134000" cy="270742"/>
          </a:xfrm>
          <a:prstGeom prst="rect">
            <a:avLst/>
          </a:prstGeom>
          <a:noFill/>
        </p:spPr>
        <p:txBody>
          <a:bodyPr wrap="square" lIns="0" rIns="0" tIns="0" bIns="0" anchor="t"/>
          <a:lstStyle/>
          <a:p>
            <a:pPr algn="l">
              <a:lnSpc>
                <a:spcPts val="1060"/>
              </a:lnSpc>
            </a:pPr>
            <a:r>
              <a:rPr sz="848" b="0" i="0">
                <a:solidFill>
                  <a:srgbClr val="E9E9E9"/>
                </a:solidFill>
                <a:latin typeface="Versos"/>
              </a:rPr>
              <a:t>SAC: 0800 704 8383</a:t>
            </a:r>
          </a:p>
          <a:p>
            <a:pPr algn="l">
              <a:lnSpc>
                <a:spcPts val="1060"/>
              </a:lnSpc>
            </a:pPr>
            <a:r>
              <a:rPr sz="848" b="0" i="0">
                <a:solidFill>
                  <a:srgbClr val="E9E9E9"/>
                </a:solidFill>
                <a:latin typeface="Versos"/>
              </a:rPr>
              <a:t>Atendimento 24 horas</a:t>
            </a:r>
          </a:p>
        </p:txBody>
      </p:sp>
      <p:sp>
        <p:nvSpPr>
          <p:cNvPr id="30" name="TextBox 29"/>
          <p:cNvSpPr txBox="1"/>
          <p:nvPr/>
        </p:nvSpPr>
        <p:spPr>
          <a:xfrm>
            <a:off x="1655640" y="9013055"/>
            <a:ext cx="4024164" cy="270742"/>
          </a:xfrm>
          <a:prstGeom prst="rect">
            <a:avLst/>
          </a:prstGeom>
          <a:noFill/>
        </p:spPr>
        <p:txBody>
          <a:bodyPr wrap="square" lIns="0" rIns="0" tIns="0" bIns="0" anchor="t"/>
          <a:lstStyle/>
          <a:p>
            <a:pPr algn="l">
              <a:lnSpc>
                <a:spcPts val="1060"/>
              </a:lnSpc>
            </a:pPr>
            <a:r>
              <a:rPr sz="848" b="0" i="0">
                <a:solidFill>
                  <a:srgbClr val="E9E9E9"/>
                </a:solidFill>
                <a:latin typeface="Versos"/>
              </a:rPr>
              <a:t>Ouvidoria: 0800 727 9933</a:t>
            </a:r>
          </a:p>
          <a:p>
            <a:pPr algn="l">
              <a:lnSpc>
                <a:spcPts val="1060"/>
              </a:lnSpc>
            </a:pPr>
            <a:r>
              <a:rPr sz="848"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