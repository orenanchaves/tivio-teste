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0.0123</c:v>
                </c:pt>
                <c:pt idx="1">
                  <c:v>0.0248</c:v>
                </c:pt>
                <c:pt idx="2">
                  <c:v>0.0375</c:v>
                </c:pt>
                <c:pt idx="3">
                  <c:v>0.050300000000000004</c:v>
                </c:pt>
                <c:pt idx="4">
                  <c:v>0.0639</c:v>
                </c:pt>
                <c:pt idx="5">
                  <c:v>0.0759</c:v>
                </c:pt>
                <c:pt idx="6">
                  <c:v>0.0873</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latin typeface="Verso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056" b="1">
                <a:latin typeface="Versos"/>
              </a:rPr>
              <a:t>Sobre o Fundo</a:t>
            </a:r>
          </a:p>
          <a:p>
            <a:endParaRPr lang="pt-BR" sz="1056"/>
          </a:p>
          <a:p>
            <a:pPr marL="171450" lvl="0" indent="-171450">
              <a:buFont typeface="Arial" panose="020B0604020202020204" pitchFamily="34" charset="0"/>
              <a:buChar char="•"/>
            </a:pPr>
            <a:r>
              <a:rPr lang="pt-BR" sz="1056" b="0">
                <a:latin typeface="Versos"/>
              </a:rPr>
              <a:t>O </a:t>
            </a:r>
            <a:r>
              <a:rPr lang="pt-BR" sz="1056" b="1">
                <a:latin typeface="Versos"/>
              </a:rPr>
              <a:t>Tivio HYD60</a:t>
            </a:r>
            <a:r>
              <a:rPr lang="pt-BR" sz="1056" b="0">
                <a:latin typeface="Versos"/>
              </a:rPr>
              <a:t> combina </a:t>
            </a:r>
            <a:r>
              <a:rPr lang="pt-BR" sz="1056" b="1">
                <a:latin typeface="Versos"/>
              </a:rPr>
              <a:t>duas estratégias complementares de geração de alfa</a:t>
            </a:r>
            <a:r>
              <a:rPr lang="pt-BR" sz="1056" b="0">
                <a:latin typeface="Versos"/>
              </a:rPr>
              <a:t>, apoiadas na ampla expertise da área de crédito da Tivio Capital.</a:t>
            </a:r>
          </a:p>
          <a:p>
            <a:pPr marL="171450" lvl="0" indent="-171450">
              <a:buFont typeface="Arial" panose="020B0604020202020204" pitchFamily="34" charset="0"/>
              <a:buChar char="•"/>
            </a:pPr>
            <a:r>
              <a:rPr lang="pt-BR" sz="1056" b="0">
                <a:latin typeface="Versos"/>
              </a:rPr>
              <a:t>Equilíbrio entre </a:t>
            </a:r>
            <a:r>
              <a:rPr lang="pt-BR" sz="1056" b="1">
                <a:latin typeface="Versos"/>
              </a:rPr>
              <a:t>75% em ativos líquidos e 25% em operações estruturadas</a:t>
            </a:r>
            <a:r>
              <a:rPr lang="pt-BR" sz="1056" b="0">
                <a:latin typeface="Versos"/>
              </a:rPr>
              <a:t>.</a:t>
            </a:r>
          </a:p>
          <a:p>
            <a:endParaRPr lang="pt-BR" sz="1056"/>
          </a:p>
          <a:p>
            <a:r>
              <a:rPr lang="pt-BR" sz="1056" b="1">
                <a:latin typeface="Versos"/>
              </a:rPr>
              <a:t>Visão de Mercado | Setembro</a:t>
            </a:r>
          </a:p>
          <a:p>
            <a:endParaRPr lang="pt-BR" sz="1056"/>
          </a:p>
          <a:p>
            <a:pPr marL="171450" lvl="0" indent="-171450">
              <a:buFont typeface="Arial" panose="020B0604020202020204" pitchFamily="34" charset="0"/>
              <a:buChar char="•"/>
            </a:pPr>
            <a:r>
              <a:rPr lang="pt-BR" sz="1056" b="0">
                <a:latin typeface="Versos"/>
              </a:rPr>
              <a:t>Mercado de crédito marcado por </a:t>
            </a:r>
            <a:r>
              <a:rPr lang="pt-BR" sz="1056" b="1">
                <a:latin typeface="Versos"/>
              </a:rPr>
              <a:t>reabertura dos spreads</a:t>
            </a:r>
            <a:r>
              <a:rPr lang="pt-BR" sz="1056" b="0">
                <a:latin typeface="Versos"/>
              </a:rPr>
              <a:t> e </a:t>
            </a:r>
            <a:r>
              <a:rPr lang="pt-BR" sz="1056" b="1">
                <a:latin typeface="Versos"/>
              </a:rPr>
              <a:t>liquidez reduzida no secundário</a:t>
            </a:r>
            <a:r>
              <a:rPr lang="pt-BR" sz="1056" b="0">
                <a:latin typeface="Versos"/>
              </a:rPr>
              <a:t>, interrompendo parcialmente o movimento de compressão observado nos últimos meses.</a:t>
            </a:r>
          </a:p>
          <a:p>
            <a:pPr marL="171450" lvl="0" indent="-171450">
              <a:buFont typeface="Arial" panose="020B0604020202020204" pitchFamily="34" charset="0"/>
              <a:buChar char="•"/>
            </a:pPr>
            <a:r>
              <a:rPr lang="pt-BR" sz="1056" b="0">
                <a:latin typeface="Versos"/>
              </a:rPr>
              <a:t>Os spreads médios dos títulos corporativos indexados ao CDI avançaram cerca de </a:t>
            </a:r>
            <a:r>
              <a:rPr lang="pt-BR" sz="1056" b="1">
                <a:latin typeface="Versos"/>
              </a:rPr>
              <a:t>5 bps</a:t>
            </a:r>
            <a:r>
              <a:rPr lang="pt-BR" sz="1056" b="0">
                <a:latin typeface="Versos"/>
              </a:rPr>
              <a:t>, passando de </a:t>
            </a:r>
            <a:r>
              <a:rPr lang="pt-BR" sz="1056" b="1">
                <a:latin typeface="Versos"/>
              </a:rPr>
              <a:t>CDI + 1,23%</a:t>
            </a:r>
            <a:r>
              <a:rPr lang="pt-BR" sz="1056" b="0">
                <a:latin typeface="Versos"/>
              </a:rPr>
              <a:t> para </a:t>
            </a:r>
            <a:r>
              <a:rPr lang="pt-BR" sz="1056" b="1">
                <a:latin typeface="Versos"/>
              </a:rPr>
              <a:t>CDI + 1,28% ao ano</a:t>
            </a:r>
            <a:r>
              <a:rPr lang="pt-BR" sz="1056" b="0">
                <a:latin typeface="Versos"/>
              </a:rPr>
              <a:t>.</a:t>
            </a:r>
          </a:p>
          <a:p>
            <a:pPr marL="171450" lvl="0" indent="-171450">
              <a:buFont typeface="Arial" panose="020B0604020202020204" pitchFamily="34" charset="0"/>
              <a:buChar char="•"/>
            </a:pPr>
            <a:r>
              <a:rPr lang="pt-BR" sz="1056" b="0">
                <a:latin typeface="Versos"/>
              </a:rPr>
              <a:t>No secundário, a </a:t>
            </a:r>
            <a:r>
              <a:rPr lang="pt-BR" sz="1056" b="1">
                <a:latin typeface="Versos"/>
              </a:rPr>
              <a:t>liquidez permaneceu limitada</a:t>
            </a:r>
            <a:r>
              <a:rPr lang="pt-BR" sz="1056" b="0">
                <a:latin typeface="Versos"/>
              </a:rPr>
              <a:t>, especialmente em ativos corporativos, resultando em uma formação de preços mais seletiva.</a:t>
            </a:r>
          </a:p>
          <a:p>
            <a:pPr marL="171450" lvl="0" indent="-171450">
              <a:buFont typeface="Arial" panose="020B0604020202020204" pitchFamily="34" charset="0"/>
              <a:buChar char="•"/>
            </a:pPr>
            <a:r>
              <a:rPr lang="pt-BR" sz="1056" b="0">
                <a:latin typeface="Versos"/>
              </a:rPr>
              <a:t>No primário, as </a:t>
            </a:r>
            <a:r>
              <a:rPr lang="pt-BR" sz="1056" b="1">
                <a:latin typeface="Versos"/>
              </a:rPr>
              <a:t>emissões bancárias seguiram registrando demanda consistente</a:t>
            </a:r>
            <a:r>
              <a:rPr lang="pt-BR" sz="1056" b="0">
                <a:latin typeface="Versos"/>
              </a:rPr>
              <a:t>, embora com menor intensidade em comparação aos meses anteriores. Já o </a:t>
            </a:r>
            <a:r>
              <a:rPr lang="pt-BR" sz="1056" b="1">
                <a:latin typeface="Versos"/>
              </a:rPr>
              <a:t>pipeline de emissões corporativas permaneceu restrito</a:t>
            </a:r>
            <a:r>
              <a:rPr lang="pt-BR" sz="1056" b="0">
                <a:latin typeface="Versos"/>
              </a:rPr>
              <a:t>, mantendo a oferta de ativos em níveis reduzidos.</a:t>
            </a:r>
          </a:p>
          <a:p>
            <a:pPr marL="171450" lvl="0" indent="-171450">
              <a:buFont typeface="Arial" panose="020B0604020202020204" pitchFamily="34" charset="0"/>
              <a:buChar char="•"/>
            </a:pPr>
            <a:r>
              <a:rPr lang="pt-BR" sz="1056" b="0">
                <a:latin typeface="Versos"/>
              </a:rPr>
              <a:t>Fundos com alocação mínima de 15% em crédito e ao menos 1% em debêntures registraram </a:t>
            </a:r>
            <a:r>
              <a:rPr lang="pt-BR" sz="1056" b="1">
                <a:latin typeface="Versos"/>
              </a:rPr>
              <a:t>resgates líquidos próximos de R$ 10 bilhões</a:t>
            </a:r>
            <a:r>
              <a:rPr lang="pt-BR" sz="1056" b="0">
                <a:latin typeface="Versos"/>
              </a:rPr>
              <a:t> no período. Esse movimento contribuiu para a reabertura dos spreads e para uma </a:t>
            </a:r>
            <a:r>
              <a:rPr lang="pt-BR" sz="1056" b="1">
                <a:latin typeface="Versos"/>
              </a:rPr>
              <a:t>piora da dinâmica técnica da classe</a:t>
            </a:r>
            <a:r>
              <a:rPr lang="pt-BR" sz="1056" b="0">
                <a:latin typeface="Versos"/>
              </a:rPr>
              <a:t>.</a:t>
            </a:r>
          </a:p>
          <a:p>
            <a:pPr marL="171450" lvl="0" indent="-171450">
              <a:buFont typeface="Arial" panose="020B0604020202020204" pitchFamily="34" charset="0"/>
              <a:buChar char="•"/>
            </a:pPr>
            <a:r>
              <a:rPr lang="pt-BR" sz="1056" b="0">
                <a:latin typeface="Versos"/>
              </a:rPr>
              <a:t>Apesar desse cenário, os </a:t>
            </a:r>
            <a:r>
              <a:rPr lang="pt-BR" sz="1056" b="1">
                <a:latin typeface="Versos"/>
              </a:rPr>
              <a:t>fundamentos corporativos permanecem resilientes</a:t>
            </a:r>
            <a:r>
              <a:rPr lang="pt-BR" sz="1056" b="0">
                <a:latin typeface="Versos"/>
              </a:rPr>
              <a:t> e os níveis de inadimplência seguem controlados.</a:t>
            </a:r>
          </a:p>
          <a:p>
            <a:endParaRPr lang="pt-BR" sz="1056"/>
          </a:p>
          <a:p>
            <a:pPr lvl="0"/>
            <a:r>
              <a:rPr lang="pt-BR" sz="1056" b="0">
                <a:latin typeface="Versos"/>
              </a:rPr>
              <a:t>Nesse cenário, o </a:t>
            </a:r>
            <a:r>
              <a:rPr lang="pt-BR" sz="1056" b="1">
                <a:latin typeface="Versos"/>
              </a:rPr>
              <a:t>Tivio HYD60 apresentou rentabilidade de 1,06% no mês (98% do CDI), acumulando 8,73% (109% do CDI) desde o início.</a:t>
            </a:r>
            <a:r>
              <a:rPr lang="pt-BR" sz="1056" b="0">
                <a:latin typeface="Versos"/>
              </a:rPr>
              <a:t> A carteira encerrou o mês com carrego de </a:t>
            </a:r>
            <a:r>
              <a:rPr lang="pt-BR" sz="1056" b="1">
                <a:latin typeface="Versos"/>
              </a:rPr>
              <a:t>CDI + 1,16%</a:t>
            </a:r>
            <a:r>
              <a:rPr lang="pt-BR" sz="1056" b="0">
                <a:latin typeface="Versos"/>
              </a:rPr>
              <a:t> e duration média de </a:t>
            </a:r>
            <a:r>
              <a:rPr lang="pt-BR" sz="1056" b="1">
                <a:latin typeface="Versos"/>
              </a:rPr>
              <a:t>1,89 ano</a:t>
            </a:r>
            <a:r>
              <a:rPr lang="pt-BR" sz="1056" b="0">
                <a:latin typeface="Versos"/>
              </a:rPr>
              <a:t>.</a:t>
            </a:r>
            <a:endParaRPr lang="pt-BR" sz="1056"/>
          </a:p>
          <a:p>
            <a:endParaRPr lang="pt-BR" sz="1056"/>
          </a:p>
          <a:p>
            <a:r>
              <a:rPr lang="pt-BR" sz="1056" b="1">
                <a:latin typeface="Versos"/>
              </a:rPr>
              <a:t>Destaques da atuação da gestão em setembro</a:t>
            </a:r>
          </a:p>
          <a:p>
            <a:endParaRPr lang="pt-BR" sz="1056"/>
          </a:p>
          <a:p>
            <a:pPr marL="171450" lvl="0" indent="-171450">
              <a:buFont typeface="Arial" panose="020B0604020202020204" pitchFamily="34" charset="0"/>
              <a:buChar char="•"/>
            </a:pPr>
            <a:r>
              <a:rPr lang="pt-BR" sz="1056" b="0">
                <a:latin typeface="Versos"/>
              </a:rPr>
              <a:t>Na parcela de crédito estruturado, a gestão </a:t>
            </a:r>
            <a:r>
              <a:rPr lang="pt-BR" sz="1056" b="1">
                <a:latin typeface="Versos"/>
              </a:rPr>
              <a:t>iniciou posição em uma cota sênior de FIDC com exposição ao setor de telecomunicações</a:t>
            </a:r>
            <a:r>
              <a:rPr lang="pt-BR" sz="1056" b="0">
                <a:latin typeface="Versos"/>
              </a:rPr>
              <a:t>.</a:t>
            </a:r>
          </a:p>
          <a:p>
            <a:pPr marL="171450" lvl="0" indent="-171450">
              <a:buFont typeface="Arial" panose="020B0604020202020204" pitchFamily="34" charset="0"/>
              <a:buChar char="•"/>
            </a:pPr>
            <a:r>
              <a:rPr lang="pt-BR" sz="1056" b="0">
                <a:latin typeface="Versos"/>
              </a:rPr>
              <a:t>A tese de investimento está fundamentada na atuação consolidada do originador, com </a:t>
            </a:r>
            <a:r>
              <a:rPr lang="pt-BR" sz="1056" b="1">
                <a:latin typeface="Versos"/>
              </a:rPr>
              <a:t>mais de 23 anos de experiência no segmento</a:t>
            </a:r>
            <a:r>
              <a:rPr lang="pt-BR" sz="1056" b="0">
                <a:latin typeface="Versos"/>
              </a:rPr>
              <a:t>, e nas características do mercado em que atua: </a:t>
            </a:r>
            <a:r>
              <a:rPr lang="pt-BR" sz="1056" b="1">
                <a:latin typeface="Versos"/>
              </a:rPr>
              <a:t>elevada pulverização, baixa bancarização, receitas recorrentes e oferta restrita de crédito</a:t>
            </a:r>
            <a:r>
              <a:rPr lang="pt-BR" sz="1056" b="0">
                <a:latin typeface="Versos"/>
              </a:rPr>
              <a:t>.</a:t>
            </a:r>
          </a:p>
          <a:p>
            <a:pPr marL="171450" lvl="0" indent="-171450">
              <a:buFont typeface="Arial" panose="020B0604020202020204" pitchFamily="34" charset="0"/>
              <a:buChar char="•"/>
            </a:pPr>
            <a:r>
              <a:rPr lang="pt-BR" sz="1056" b="0">
                <a:latin typeface="Versos"/>
              </a:rPr>
              <a:t>A operação apresenta </a:t>
            </a:r>
            <a:r>
              <a:rPr lang="pt-BR" sz="1056" b="1">
                <a:latin typeface="Versos"/>
              </a:rPr>
              <a:t>carteira de recebíveis amplamente diversificada entre cedentes e sacados</a:t>
            </a:r>
            <a:r>
              <a:rPr lang="pt-BR" sz="1056" b="0">
                <a:latin typeface="Versos"/>
              </a:rPr>
              <a:t>, além de mecanismos de proteção que incluem </a:t>
            </a:r>
            <a:r>
              <a:rPr lang="pt-BR" sz="1056" b="1">
                <a:latin typeface="Versos"/>
              </a:rPr>
              <a:t>overcollateralization mínima de 25% sobre os ativos cedidos ao fundo</a:t>
            </a:r>
            <a:r>
              <a:rPr lang="pt-BR" sz="1056" b="0">
                <a:latin typeface="Versos"/>
              </a:rPr>
              <a:t>.</a:t>
            </a:r>
          </a:p>
          <a:p>
            <a:pPr marL="171450" lvl="0" indent="-171450">
              <a:buFont typeface="Arial" panose="020B0604020202020204" pitchFamily="34" charset="0"/>
              <a:buChar char="•"/>
            </a:pPr>
            <a:r>
              <a:rPr lang="pt-BR" sz="1056" b="0">
                <a:latin typeface="Versos"/>
              </a:rPr>
              <a:t>A gestão também </a:t>
            </a:r>
            <a:r>
              <a:rPr lang="pt-BR" sz="1056" b="1">
                <a:latin typeface="Versos"/>
              </a:rPr>
              <a:t>adicionou ao portfólio cotas de um FIDC</a:t>
            </a:r>
            <a:r>
              <a:rPr lang="pt-BR" sz="1056" b="0">
                <a:latin typeface="Versos"/>
              </a:rPr>
              <a:t> estruturado como uma </a:t>
            </a:r>
            <a:r>
              <a:rPr lang="pt-BR" sz="1056" b="1">
                <a:latin typeface="Versos"/>
              </a:rPr>
              <a:t>securitização revolvente lastreada em recebíveis de cartão de crédito</a:t>
            </a:r>
            <a:r>
              <a:rPr lang="pt-BR" sz="1056" b="0">
                <a:latin typeface="Versos"/>
              </a:rPr>
              <a:t> originados por uma adquirente. Os devedores desses recebíveis são os </a:t>
            </a:r>
            <a:r>
              <a:rPr lang="pt-BR" sz="1056" b="1">
                <a:latin typeface="Versos"/>
              </a:rPr>
              <a:t>bancos emissores dos cartões</a:t>
            </a:r>
            <a:r>
              <a:rPr lang="pt-BR" sz="1056" b="0">
                <a:latin typeface="Versos"/>
              </a:rPr>
              <a:t> referentes às transações na modalidade crédito, limitadas às bandeiras </a:t>
            </a:r>
            <a:r>
              <a:rPr lang="pt-BR" sz="1056" b="1">
                <a:latin typeface="Versos"/>
              </a:rPr>
              <a:t>Visa, Mastercard, American Express, Elo e Hipercard</a:t>
            </a:r>
            <a:r>
              <a:rPr lang="pt-BR" sz="1056" b="0">
                <a:latin typeface="Versos"/>
              </a:rPr>
              <a:t>.</a:t>
            </a:r>
          </a:p>
          <a:p>
            <a:pPr marL="171450" lvl="0" indent="-171450">
              <a:buFont typeface="Arial" panose="020B0604020202020204" pitchFamily="34" charset="0"/>
              <a:buChar char="•"/>
            </a:pPr>
            <a:r>
              <a:rPr lang="pt-BR" sz="1056" b="0">
                <a:latin typeface="Versos"/>
              </a:rPr>
              <a:t>A gestão manteve uma </a:t>
            </a:r>
            <a:r>
              <a:rPr lang="pt-BR" sz="1056" b="1">
                <a:latin typeface="Versos"/>
              </a:rPr>
              <a:t>postura disciplinada e seletiva na alocação dos recursos</a:t>
            </a:r>
            <a:r>
              <a:rPr lang="pt-BR" sz="1056" b="0">
                <a:latin typeface="Versos"/>
              </a:rPr>
              <a:t>, buscando capturar oportunidades geradas pela recente abertura dos spreads sem abrir mão da qualidade de crédito das carteiras.</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1,063%</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8,73%</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−0,02%</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0,75%</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−0,24%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1,21%</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