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style1.xml" ContentType="application/vnd.ms-office.chartstyle+xml"/>
  <Override PartName="/ppt/media/image1.svg" ContentType="image/svg+xml"/>
  <Override PartName="/ppt/media/image12.svg" ContentType="image/svg+xml"/>
  <Override PartName="/ppt/media/image13.svg" ContentType="image/svg+xml"/>
  <Override PartName="/ppt/media/image18.svg" ContentType="image/svg+xml"/>
  <Override PartName="/ppt/media/image2.svg" ContentType="image/svg+xml"/>
  <Override PartName="/ppt/media/image22.svg" ContentType="image/svg+xml"/>
  <Override PartName="/ppt/media/image23.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4" r:id="rId4"/>
    <p:sldMasterId id="2147483696" r:id="rId5"/>
    <p:sldMasterId id="2147483702" r:id="rId6"/>
    <p:sldMasterId id="2147483705" r:id="rId7"/>
    <p:sldMasterId id="2147483710" r:id="rId8"/>
  </p:sldMasterIdLst>
  <p:notesMasterIdLst>
    <p:notesMasterId r:id="rId16"/>
  </p:notesMasterIdLst>
  <p:sldIdLst>
    <p:sldId id="257" r:id="rId9"/>
    <p:sldId id="2147474429" r:id="rId10"/>
    <p:sldId id="2147474427" r:id="rId11"/>
    <p:sldId id="2147474428" r:id="rId12"/>
    <p:sldId id="258" r:id="rId13"/>
    <p:sldId id="2147474430" r:id="rId29"/>
    <p:sldId id="303" r:id="rId14"/>
    <p:sldId id="295" r:id="rId15"/>
  </p:sldIdLst>
  <p:sldSz cx="6858000" cy="9906000" type="A4"/>
  <p:notesSz cx="6858000" cy="9144000"/>
  <p:embeddedFontLst>
    <p:embeddedFont>
      <p:font typeface="Versos" panose="020B0503020204030204" pitchFamily="34" charset="0"/>
      <p:regular r:id="rId17"/>
      <p:bold r:id="rId18"/>
      <p:italic r:id="rId19"/>
      <p:boldItalic r:id="rId20"/>
    </p:embeddedFont>
    <p:embeddedFont>
      <p:font typeface="Versos Light" panose="020B0403020204030204" pitchFamily="34" charset="0"/>
      <p:regular r:id="rId21"/>
      <p:italic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a" id="{005BDDA3-A7DC-4239-98AE-B64C414314C5}">
          <p14:sldIdLst>
            <p14:sldId id="257"/>
          </p14:sldIdLst>
        </p14:section>
        <p14:section name="Princiapais características" id="{A7474290-C507-4B77-AB33-C6E28A61193B}">
          <p14:sldIdLst>
            <p14:sldId id="2147474429"/>
            <p14:sldId id="2147474427"/>
            <p14:sldId id="2147474428"/>
            <p14:sldId id="258"/>
          </p14:sldIdLst>
        </p14:section>
        <p14:section name="Disclaimer" id="{5EAD1322-5AC1-4A4C-90AC-66D236BF9FE6}">
          <p14:sldIdLst>
            <p14:sldId id="303"/>
          </p14:sldIdLst>
        </p14:section>
        <p14:section name="Contracapa" id="{16DFE29F-E896-4FB0-B382-B379A3AD1EED}">
          <p14:sldIdLst>
            <p14:sldId id="295"/>
          </p14:sldIdLst>
        </p14:section>
      </p14:sectionLst>
    </p:ext>
    <p:ext uri="{EFAFB233-063F-42B5-8137-9DF3F51BA10A}">
      <p15:sldGuideLst xmlns:p15="http://schemas.microsoft.com/office/powerpoint/2012/main">
        <p15:guide id="1" pos="278" userDrawn="1">
          <p15:clr>
            <a:srgbClr val="A4A3A4"/>
          </p15:clr>
        </p15:guide>
        <p15:guide id="2" pos="4020" userDrawn="1">
          <p15:clr>
            <a:srgbClr val="A4A3A4"/>
          </p15:clr>
        </p15:guide>
        <p15:guide id="3" orient="horz"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65C69"/>
    <a:srgbClr val="293A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711302-6363-45A4-BB82-A3AA2FAE6125}" v="19" dt="2026-09-04T19:29:15.641"/>
    <p1510:client id="{EF2A8911-3BDD-2931-E6C1-CB66EBDBB486}" v="2" dt="2026-09-04T19:28:36.499"/>
    <p1510:client id="{F227AC46-EA8C-47A9-B110-C88AD4F97E2D}" v="60" dt="2026-09-04T19:42:50.460"/>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3204" y="90"/>
      </p:cViewPr>
      <p:guideLst>
        <p:guide pos="278"/>
        <p:guide pos="4020"/>
        <p:guide orient="horz" pos="31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notesMaster" Target="notesMasters/notes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5/10/relationships/revisionInfo" Target="revisionInfo.xml"/><Relationship Id="rId2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 Fiorilli" userId="6dec09dd-bf1e-4f54-a7db-53ed072060ed" providerId="ADAL" clId="{7DBF1522-1442-4072-822F-816E1C27FADA}"/>
    <pc:docChg chg="undo custSel modSld">
      <pc:chgData name="Gabriel Fiorilli" userId="6dec09dd-bf1e-4f54-a7db-53ed072060ed" providerId="ADAL" clId="{7DBF1522-1442-4072-822F-816E1C27FADA}" dt="2026-09-04T19:15:24.909" v="144" actId="20577"/>
      <pc:docMkLst>
        <pc:docMk/>
      </pc:docMkLst>
      <pc:sldChg chg="modSp mod">
        <pc:chgData name="Gabriel Fiorilli" userId="6dec09dd-bf1e-4f54-a7db-53ed072060ed" providerId="ADAL" clId="{7DBF1522-1442-4072-822F-816E1C27FADA}" dt="2026-09-04T17:38:15.591" v="86" actId="20577"/>
        <pc:sldMkLst>
          <pc:docMk/>
          <pc:sldMk cId="1891738540" sldId="257"/>
        </pc:sldMkLst>
        <pc:spChg chg="mod">
          <ac:chgData name="Gabriel Fiorilli" userId="6dec09dd-bf1e-4f54-a7db-53ed072060ed" providerId="ADAL" clId="{7DBF1522-1442-4072-822F-816E1C27FADA}" dt="2026-09-04T17:38:15.591" v="86" actId="20577"/>
          <ac:spMkLst>
            <pc:docMk/>
            <pc:sldMk cId="1891738540" sldId="257"/>
            <ac:spMk id="20" creationId="{F077418F-D124-3B52-79F9-168C93FFE8FA}"/>
          </ac:spMkLst>
        </pc:spChg>
      </pc:sldChg>
      <pc:sldChg chg="addSp delSp modSp mod">
        <pc:chgData name="Gabriel Fiorilli" userId="6dec09dd-bf1e-4f54-a7db-53ed072060ed" providerId="ADAL" clId="{7DBF1522-1442-4072-822F-816E1C27FADA}" dt="2026-09-04T19:15:24.909" v="144" actId="20577"/>
        <pc:sldMkLst>
          <pc:docMk/>
          <pc:sldMk cId="3892377387" sldId="258"/>
        </pc:sldMkLst>
        <pc:spChg chg="mod topLvl">
          <ac:chgData name="Gabriel Fiorilli" userId="6dec09dd-bf1e-4f54-a7db-53ed072060ed" providerId="ADAL" clId="{7DBF1522-1442-4072-822F-816E1C27FADA}" dt="2026-08-06T19:33:24.004" v="80" actId="403"/>
          <ac:spMkLst>
            <pc:docMk/>
            <pc:sldMk cId="3892377387" sldId="258"/>
            <ac:spMk id="6" creationId="{0424CF54-08B6-1FE1-F506-89F496B30994}"/>
          </ac:spMkLst>
        </pc:spChg>
        <pc:spChg chg="mod">
          <ac:chgData name="Gabriel Fiorilli" userId="6dec09dd-bf1e-4f54-a7db-53ed072060ed" providerId="ADAL" clId="{7DBF1522-1442-4072-822F-816E1C27FADA}" dt="2026-09-04T17:40:50.566" v="110" actId="20577"/>
          <ac:spMkLst>
            <pc:docMk/>
            <pc:sldMk cId="3892377387" sldId="258"/>
            <ac:spMk id="8" creationId="{30677816-743B-1871-2BE2-F4A464720182}"/>
          </ac:spMkLst>
        </pc:spChg>
        <pc:spChg chg="mod">
          <ac:chgData name="Gabriel Fiorilli" userId="6dec09dd-bf1e-4f54-a7db-53ed072060ed" providerId="ADAL" clId="{7DBF1522-1442-4072-822F-816E1C27FADA}" dt="2026-08-06T14:03:48.492" v="19" actId="207"/>
          <ac:spMkLst>
            <pc:docMk/>
            <pc:sldMk cId="3892377387" sldId="258"/>
            <ac:spMk id="10" creationId="{86B7A187-F129-ABC1-F956-2FE3827764E5}"/>
          </ac:spMkLst>
        </pc:spChg>
        <pc:spChg chg="mod">
          <ac:chgData name="Gabriel Fiorilli" userId="6dec09dd-bf1e-4f54-a7db-53ed072060ed" providerId="ADAL" clId="{7DBF1522-1442-4072-822F-816E1C27FADA}" dt="2026-09-04T17:40:55.199" v="113" actId="20577"/>
          <ac:spMkLst>
            <pc:docMk/>
            <pc:sldMk cId="3892377387" sldId="258"/>
            <ac:spMk id="11" creationId="{EEF32F48-C6D4-0BF0-941B-9085E7C580A9}"/>
          </ac:spMkLst>
        </pc:spChg>
        <pc:spChg chg="mod">
          <ac:chgData name="Gabriel Fiorilli" userId="6dec09dd-bf1e-4f54-a7db-53ed072060ed" providerId="ADAL" clId="{7DBF1522-1442-4072-822F-816E1C27FADA}" dt="2026-09-04T19:15:24.909" v="144" actId="20577"/>
          <ac:spMkLst>
            <pc:docMk/>
            <pc:sldMk cId="3892377387" sldId="258"/>
            <ac:spMk id="14" creationId="{A792DB4B-0091-7169-7295-5D7E31C50858}"/>
          </ac:spMkLst>
        </pc:spChg>
        <pc:spChg chg="mod">
          <ac:chgData name="Gabriel Fiorilli" userId="6dec09dd-bf1e-4f54-a7db-53ed072060ed" providerId="ADAL" clId="{7DBF1522-1442-4072-822F-816E1C27FADA}" dt="2026-08-06T14:03:48.492" v="19" actId="207"/>
          <ac:spMkLst>
            <pc:docMk/>
            <pc:sldMk cId="3892377387" sldId="258"/>
            <ac:spMk id="17" creationId="{5DB81129-40FD-6E33-E7A0-88CB369376C1}"/>
          </ac:spMkLst>
        </pc:spChg>
        <pc:grpChg chg="mod">
          <ac:chgData name="Gabriel Fiorilli" userId="6dec09dd-bf1e-4f54-a7db-53ed072060ed" providerId="ADAL" clId="{7DBF1522-1442-4072-822F-816E1C27FADA}" dt="2026-08-06T19:33:05.554" v="67" actId="1076"/>
          <ac:grpSpMkLst>
            <pc:docMk/>
            <pc:sldMk cId="3892377387" sldId="258"/>
            <ac:grpSpMk id="27" creationId="{9B4A0F0B-CE6D-DF92-1CEC-F03426565EA4}"/>
          </ac:grpSpMkLst>
        </pc:grpChg>
        <pc:graphicFrameChg chg="add mod">
          <ac:chgData name="Gabriel Fiorilli" userId="6dec09dd-bf1e-4f54-a7db-53ed072060ed" providerId="ADAL" clId="{7DBF1522-1442-4072-822F-816E1C27FADA}" dt="2026-09-04T17:42:03.287" v="139" actId="1076"/>
          <ac:graphicFrameMkLst>
            <pc:docMk/>
            <pc:sldMk cId="3892377387" sldId="258"/>
            <ac:graphicFrameMk id="20" creationId="{E9CDCF79-AC66-3C5A-3F3F-4748F39A0D50}"/>
          </ac:graphicFrameMkLst>
        </pc:graphicFrameChg>
        <pc:graphicFrameChg chg="add del mod">
          <ac:chgData name="Gabriel Fiorilli" userId="6dec09dd-bf1e-4f54-a7db-53ed072060ed" providerId="ADAL" clId="{7DBF1522-1442-4072-822F-816E1C27FADA}" dt="2026-09-04T17:41:20.983" v="125" actId="478"/>
          <ac:graphicFrameMkLst>
            <pc:docMk/>
            <pc:sldMk cId="3892377387" sldId="258"/>
            <ac:graphicFrameMk id="42" creationId="{B9F5F99F-7244-CB01-FF6D-ACAD1A5573F1}"/>
          </ac:graphicFrameMkLst>
        </pc:graphicFrameChg>
        <pc:picChg chg="add mod">
          <ac:chgData name="Gabriel Fiorilli" userId="6dec09dd-bf1e-4f54-a7db-53ed072060ed" providerId="ADAL" clId="{7DBF1522-1442-4072-822F-816E1C27FADA}" dt="2026-09-04T17:41:17.167" v="124" actId="1076"/>
          <ac:picMkLst>
            <pc:docMk/>
            <pc:sldMk cId="3892377387" sldId="258"/>
            <ac:picMk id="7" creationId="{CE6A735C-6413-ABBF-BAF1-CE980B69D650}"/>
          </ac:picMkLst>
        </pc:picChg>
        <pc:picChg chg="add del mod">
          <ac:chgData name="Gabriel Fiorilli" userId="6dec09dd-bf1e-4f54-a7db-53ed072060ed" providerId="ADAL" clId="{7DBF1522-1442-4072-822F-816E1C27FADA}" dt="2026-09-04T17:41:08.030" v="118" actId="478"/>
          <ac:picMkLst>
            <pc:docMk/>
            <pc:sldMk cId="3892377387" sldId="258"/>
            <ac:picMk id="40" creationId="{890C2488-0A81-A66A-7431-C19E770C31A1}"/>
          </ac:picMkLst>
        </pc:picChg>
      </pc:sldChg>
      <pc:sldChg chg="modSp mod">
        <pc:chgData name="Gabriel Fiorilli" userId="6dec09dd-bf1e-4f54-a7db-53ed072060ed" providerId="ADAL" clId="{7DBF1522-1442-4072-822F-816E1C27FADA}" dt="2026-08-06T18:53:55.286" v="52" actId="1076"/>
        <pc:sldMkLst>
          <pc:docMk/>
          <pc:sldMk cId="1372601644" sldId="2147474427"/>
        </pc:sldMkLst>
        <pc:spChg chg="mod">
          <ac:chgData name="Gabriel Fiorilli" userId="6dec09dd-bf1e-4f54-a7db-53ed072060ed" providerId="ADAL" clId="{7DBF1522-1442-4072-822F-816E1C27FADA}" dt="2026-08-06T18:53:55.286" v="52" actId="1076"/>
          <ac:spMkLst>
            <pc:docMk/>
            <pc:sldMk cId="1372601644" sldId="2147474427"/>
            <ac:spMk id="16" creationId="{CAF1D4D2-39D5-9460-3A08-0FCFDD2A8FE3}"/>
          </ac:spMkLst>
        </pc:spChg>
      </pc:sldChg>
      <pc:sldChg chg="modSp mod">
        <pc:chgData name="Gabriel Fiorilli" userId="6dec09dd-bf1e-4f54-a7db-53ed072060ed" providerId="ADAL" clId="{7DBF1522-1442-4072-822F-816E1C27FADA}" dt="2026-09-04T19:02:21.232" v="143" actId="20577"/>
        <pc:sldMkLst>
          <pc:docMk/>
          <pc:sldMk cId="2493496283" sldId="2147474429"/>
        </pc:sldMkLst>
        <pc:spChg chg="mod">
          <ac:chgData name="Gabriel Fiorilli" userId="6dec09dd-bf1e-4f54-a7db-53ed072060ed" providerId="ADAL" clId="{7DBF1522-1442-4072-822F-816E1C27FADA}" dt="2026-09-04T19:02:21.232" v="143" actId="20577"/>
          <ac:spMkLst>
            <pc:docMk/>
            <pc:sldMk cId="2493496283" sldId="2147474429"/>
            <ac:spMk id="2" creationId="{6439B534-0D82-BA99-4035-BA7A08EB11A6}"/>
          </ac:spMkLst>
        </pc:spChg>
        <pc:spChg chg="mod">
          <ac:chgData name="Gabriel Fiorilli" userId="6dec09dd-bf1e-4f54-a7db-53ed072060ed" providerId="ADAL" clId="{7DBF1522-1442-4072-822F-816E1C27FADA}" dt="2026-09-04T17:40:22.911" v="106" actId="20577"/>
          <ac:spMkLst>
            <pc:docMk/>
            <pc:sldMk cId="2493496283" sldId="2147474429"/>
            <ac:spMk id="3" creationId="{10C48AD1-4F84-7E67-5F85-7D3CC5DE059F}"/>
          </ac:spMkLst>
        </pc:spChg>
      </pc:sldChg>
    </pc:docChg>
  </pc:docChgLst>
  <pc:docChgLst>
    <pc:chgData name="Vivian Oka" userId="1e3aa691-c211-44ba-84cc-0a61c7d876f7" providerId="ADAL" clId="{F48EE658-0977-4EC1-AEB0-349FCE9A6D43}"/>
    <pc:docChg chg="modSld">
      <pc:chgData name="Vivian Oka" userId="1e3aa691-c211-44ba-84cc-0a61c7d876f7" providerId="ADAL" clId="{F48EE658-0977-4EC1-AEB0-349FCE9A6D43}" dt="2026-09-04T19:29:15.641" v="18" actId="1036"/>
      <pc:docMkLst>
        <pc:docMk/>
      </pc:docMkLst>
      <pc:sldChg chg="modSp mod">
        <pc:chgData name="Vivian Oka" userId="1e3aa691-c211-44ba-84cc-0a61c7d876f7" providerId="ADAL" clId="{F48EE658-0977-4EC1-AEB0-349FCE9A6D43}" dt="2026-09-04T19:29:15.641" v="18" actId="1036"/>
        <pc:sldMkLst>
          <pc:docMk/>
          <pc:sldMk cId="1372601644" sldId="2147474427"/>
        </pc:sldMkLst>
        <pc:spChg chg="mod">
          <ac:chgData name="Vivian Oka" userId="1e3aa691-c211-44ba-84cc-0a61c7d876f7" providerId="ADAL" clId="{F48EE658-0977-4EC1-AEB0-349FCE9A6D43}" dt="2026-09-04T19:29:15.641" v="18" actId="1036"/>
          <ac:spMkLst>
            <pc:docMk/>
            <pc:sldMk cId="1372601644" sldId="2147474427"/>
            <ac:spMk id="6" creationId="{2C04A9AC-4F5C-E545-ABA8-D655142D9A4B}"/>
          </ac:spMkLst>
        </pc:spChg>
      </pc:sldChg>
    </pc:docChg>
  </pc:docChgLst>
  <pc:docChgLst>
    <pc:chgData name="Gabriel Fiorilli" userId="S::gabriel.fiorilli@tivio.com::6dec09dd-bf1e-4f54-a7db-53ed072060ed" providerId="AD" clId="Web-{F8BB8CFF-4460-AF29-B7C6-9E497CBE55BA}"/>
    <pc:docChg chg="modSld">
      <pc:chgData name="Gabriel Fiorilli" userId="S::gabriel.fiorilli@tivio.com::6dec09dd-bf1e-4f54-a7db-53ed072060ed" providerId="AD" clId="Web-{F8BB8CFF-4460-AF29-B7C6-9E497CBE55BA}" dt="2026-08-06T14:01:09.683" v="1" actId="20577"/>
      <pc:docMkLst>
        <pc:docMk/>
      </pc:docMkLst>
      <pc:sldChg chg="modSp">
        <pc:chgData name="Gabriel Fiorilli" userId="S::gabriel.fiorilli@tivio.com::6dec09dd-bf1e-4f54-a7db-53ed072060ed" providerId="AD" clId="Web-{F8BB8CFF-4460-AF29-B7C6-9E497CBE55BA}" dt="2026-08-06T14:01:09.683" v="1" actId="20577"/>
        <pc:sldMkLst>
          <pc:docMk/>
          <pc:sldMk cId="2493496283" sldId="2147474429"/>
        </pc:sldMkLst>
        <pc:spChg chg="mod">
          <ac:chgData name="Gabriel Fiorilli" userId="S::gabriel.fiorilli@tivio.com::6dec09dd-bf1e-4f54-a7db-53ed072060ed" providerId="AD" clId="Web-{F8BB8CFF-4460-AF29-B7C6-9E497CBE55BA}" dt="2026-08-06T14:01:09.683" v="1" actId="20577"/>
          <ac:spMkLst>
            <pc:docMk/>
            <pc:sldMk cId="2493496283" sldId="2147474429"/>
            <ac:spMk id="3" creationId="{10C48AD1-4F84-7E67-5F85-7D3CC5DE059F}"/>
          </ac:spMkLst>
        </pc:spChg>
      </pc:sldChg>
    </pc:docChg>
  </pc:docChgLst>
  <pc:docChgLst>
    <pc:chgData name="Vivian Oka" userId="S::vivian.oka@tivio.com::1e3aa691-c211-44ba-84cc-0a61c7d876f7" providerId="AD" clId="Web-{EF2A8911-3BDD-2931-E6C1-CB66EBDBB486}"/>
    <pc:docChg chg="modSld">
      <pc:chgData name="Vivian Oka" userId="S::vivian.oka@tivio.com::1e3aa691-c211-44ba-84cc-0a61c7d876f7" providerId="AD" clId="Web-{EF2A8911-3BDD-2931-E6C1-CB66EBDBB486}" dt="2026-09-04T19:28:36.499" v="1" actId="14100"/>
      <pc:docMkLst>
        <pc:docMk/>
      </pc:docMkLst>
      <pc:sldChg chg="modSp">
        <pc:chgData name="Vivian Oka" userId="S::vivian.oka@tivio.com::1e3aa691-c211-44ba-84cc-0a61c7d876f7" providerId="AD" clId="Web-{EF2A8911-3BDD-2931-E6C1-CB66EBDBB486}" dt="2026-09-04T19:28:36.499" v="1" actId="14100"/>
        <pc:sldMkLst>
          <pc:docMk/>
          <pc:sldMk cId="3892377387" sldId="258"/>
        </pc:sldMkLst>
        <pc:spChg chg="mod">
          <ac:chgData name="Vivian Oka" userId="S::vivian.oka@tivio.com::1e3aa691-c211-44ba-84cc-0a61c7d876f7" providerId="AD" clId="Web-{EF2A8911-3BDD-2931-E6C1-CB66EBDBB486}" dt="2026-09-04T19:28:36.499" v="1" actId="14100"/>
          <ac:spMkLst>
            <pc:docMk/>
            <pc:sldMk cId="3892377387" sldId="258"/>
            <ac:spMk id="57" creationId="{34197F65-75F1-1130-9BCB-8945A0643080}"/>
          </ac:spMkLst>
        </pc:spChg>
      </pc:sldChg>
    </pc:docChg>
  </pc:docChgLst>
  <pc:docChgLst>
    <pc:chgData name="Gabriel Fiorilli" userId="S::gabriel.fiorilli@tivio.com::6dec09dd-bf1e-4f54-a7db-53ed072060ed" providerId="AD" clId="Web-{99890534-A72F-A783-0D27-04FFFCA072C9}"/>
    <pc:docChg chg="modSld">
      <pc:chgData name="Gabriel Fiorilli" userId="S::gabriel.fiorilli@tivio.com::6dec09dd-bf1e-4f54-a7db-53ed072060ed" providerId="AD" clId="Web-{99890534-A72F-A783-0D27-04FFFCA072C9}" dt="2026-08-06T19:17:50.574" v="6" actId="1076"/>
      <pc:docMkLst>
        <pc:docMk/>
      </pc:docMkLst>
      <pc:sldChg chg="modSp">
        <pc:chgData name="Gabriel Fiorilli" userId="S::gabriel.fiorilli@tivio.com::6dec09dd-bf1e-4f54-a7db-53ed072060ed" providerId="AD" clId="Web-{99890534-A72F-A783-0D27-04FFFCA072C9}" dt="2026-08-06T19:17:50.574" v="6" actId="1076"/>
        <pc:sldMkLst>
          <pc:docMk/>
          <pc:sldMk cId="2493496283" sldId="2147474429"/>
        </pc:sldMkLst>
        <pc:spChg chg="mod">
          <ac:chgData name="Gabriel Fiorilli" userId="S::gabriel.fiorilli@tivio.com::6dec09dd-bf1e-4f54-a7db-53ed072060ed" providerId="AD" clId="Web-{99890534-A72F-A783-0D27-04FFFCA072C9}" dt="2026-08-06T19:17:50.574" v="6" actId="1076"/>
          <ac:spMkLst>
            <pc:docMk/>
            <pc:sldMk cId="2493496283" sldId="2147474429"/>
            <ac:spMk id="2" creationId="{6439B534-0D82-BA99-4035-BA7A08EB11A6}"/>
          </ac:spMkLst>
        </pc:spChg>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4212558032757361E-2"/>
          <c:y val="8.3766235479419887E-2"/>
          <c:w val="0.97856700238006022"/>
          <c:h val="0.77313267252546625"/>
        </c:manualLayout>
      </c:layout>
      <c:barChart>
        <c:barDir val="col"/>
        <c:grouping val="clustered"/>
        <c:varyColors val="0"/>
        <c:ser>
          <c:idx val="1"/>
          <c:order val="0"/>
          <c:tx>
            <c:strRef>
              <c:f>Sheet1!$B$1</c:f>
              <c:strCache>
                <c:ptCount val="1"/>
                <c:pt idx="0">
                  <c:v/>
                </c:pt>
              </c:strCache>
            </c:strRef>
          </c:tx>
          <c:spPr>
            <a:solidFill>
              <a:srgbClr val="92D3AB"/>
            </a:solidFill>
            <a:ln>
              <a:noFill/>
            </a:ln>
            <a:effectLst/>
          </c:spPr>
          <c:invertIfNegative val="0"/>
          <c:dLbls>
            <c:spPr>
              <a:noFill/>
              <a:ln>
                <a:noFill/>
              </a:ln>
              <a:effectLst/>
            </c:spPr>
            <c:txPr>
              <a:bodyPr rot="0" spcFirstLastPara="1" vertOverflow="ellipsis" vert="horz" wrap="square" anchor="ctr" anchorCtr="1"/>
              <a:lstStyle/>
              <a:p>
                <a:pPr>
                  <a:defRPr sz="900" b="1" i="0" u="none" strike="noStrike" kern="1200" baseline="0">
                    <a:solidFill>
                      <a:srgbClr val="4B9D74"/>
                    </a:solidFill>
                    <a:latin typeface="Versos" panose="020B0503020204030204" pitchFamily="34" charset="0"/>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AAA</c:v>
                </c:pt>
                <c:pt idx="1">
                  <c:v>AA+</c:v>
                </c:pt>
                <c:pt idx="2">
                  <c:v>AA-</c:v>
                </c:pt>
                <c:pt idx="3">
                  <c:v>AA</c:v>
                </c:pt>
                <c:pt idx="4">
                  <c:v>A+</c:v>
                </c:pt>
                <c:pt idx="5">
                  <c:v>A</c:v>
                </c:pt>
                <c:pt idx="6">
                  <c:v>BB</c:v>
                </c:pt>
              </c:strCache>
            </c:strRef>
          </c:cat>
          <c:val>
            <c:numRef>
              <c:f>Sheet1!$B$2:$B$8</c:f>
              <c:numCache>
                <c:formatCode>0.00%</c:formatCode>
                <c:ptCount val="7"/>
                <c:pt idx="0">
                  <c:v>0.322599</c:v>
                </c:pt>
                <c:pt idx="1">
                  <c:v>0.118128</c:v>
                </c:pt>
                <c:pt idx="2">
                  <c:v>0.075324</c:v>
                </c:pt>
                <c:pt idx="3">
                  <c:v>0.055506</c:v>
                </c:pt>
                <c:pt idx="4">
                  <c:v>0.054019000000000005</c:v>
                </c:pt>
                <c:pt idx="5">
                  <c:v>0.045292000000000006</c:v>
                </c:pt>
                <c:pt idx="6">
                  <c:v>0.005111</c:v>
                </c:pt>
              </c:numCache>
            </c:numRef>
          </c:val>
          <c:extLst>
            <c:ext xmlns:c16="http://schemas.microsoft.com/office/drawing/2014/chart" uri="{C3380CC4-5D6E-409C-BE32-E72D297353CC}">
              <c16:uniqueId val="{00000000-BDC6-410C-9157-E91D5CFEF3F2}"/>
            </c:ext>
          </c:extLst>
        </c:ser>
        <c:dLbls>
          <c:dLblPos val="outEnd"/>
          <c:showLegendKey val="0"/>
          <c:showVal val="1"/>
          <c:showCatName val="0"/>
          <c:showSerName val="0"/>
          <c:showPercent val="0"/>
          <c:showBubbleSize val="0"/>
        </c:dLbls>
        <c:gapWidth val="72"/>
        <c:axId val="1847786048"/>
        <c:axId val="1847786528"/>
      </c:barChart>
      <c:catAx>
        <c:axId val="1847786048"/>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850" b="0" i="0" u="none" strike="noStrike" kern="1200" baseline="0">
                <a:solidFill>
                  <a:sysClr val="windowText" lastClr="000000"/>
                </a:solidFill>
                <a:latin typeface="Versos" panose="020B0503020204030204" pitchFamily="34" charset="0"/>
                <a:ea typeface="+mn-ea"/>
                <a:cs typeface="+mn-cs"/>
              </a:defRPr>
            </a:pPr>
            <a:endParaRPr lang="pt-BR"/>
          </a:p>
        </c:txPr>
        <c:crossAx val="1847786528"/>
        <c:crosses val="autoZero"/>
        <c:auto val="1"/>
        <c:lblAlgn val="ctr"/>
        <c:lblOffset val="100"/>
        <c:noMultiLvlLbl val="0"/>
      </c:catAx>
      <c:valAx>
        <c:axId val="1847786528"/>
        <c:scaling>
          <c:orientation val="minMax"/>
        </c:scaling>
        <c:delete val="1"/>
        <c:axPos val="l"/>
        <c:numFmt formatCode="0.00%" sourceLinked="1"/>
        <c:majorTickMark val="none"/>
        <c:minorTickMark val="none"/>
        <c:tickLblPos val="nextTo"/>
        <c:crossAx val="1847786048"/>
        <c:crosses val="autoZero"/>
        <c:crossBetween val="between"/>
      </c:valAx>
      <c:spPr>
        <a:noFill/>
        <a:ln>
          <a:noFill/>
        </a:ln>
        <a:effectLst/>
      </c:spPr>
    </c:plotArea>
    <c:plotVisOnly val="1"/>
    <c:dispBlanksAs val="gap"/>
    <c:showDLblsOverMax val="0"/>
    <c:extLst/>
  </c:chart>
  <c:spPr>
    <a:noFill/>
    <a:ln w="9525" cap="flat" cmpd="sng" algn="ctr">
      <a:noFill/>
      <a:round/>
    </a:ln>
    <a:effectLst/>
  </c:spPr>
  <c:txPr>
    <a:bodyPr/>
    <a:lstStyle/>
    <a:p>
      <a:pPr>
        <a:defRPr>
          <a:latin typeface="Versos" panose="020B0503020204030204" pitchFamily="34" charset="0"/>
        </a:defRPr>
      </a:pPr>
      <a:endParaRPr lang="pt-B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Fundo</c:v>
                </c:pt>
              </c:strCache>
            </c:strRef>
          </c:tx>
          <c:spPr>
            <a:ln w="28575">
              <a:solidFill>
                <a:srgbClr val="4B9D74"/>
              </a:solidFill>
            </a:ln>
          </c:spPr>
          <c:marker>
            <c:symbol val="none"/>
          </c:marker>
          <c:dLbls>
            <c:dLbl>
              <c:idx val="6"/>
              <c:spPr/>
              <c:txPr>
                <a:bodyPr/>
                <a:lstStyle/>
                <a:p>
                  <a:pPr>
                    <a:defRPr sz="800" b="1">
                      <a:solidFill>
                        <a:srgbClr val="4B9D74"/>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mar-26</c:v>
                </c:pt>
                <c:pt idx="1">
                  <c:v>abr-26</c:v>
                </c:pt>
                <c:pt idx="2">
                  <c:v>mai-26</c:v>
                </c:pt>
                <c:pt idx="3">
                  <c:v>jun-26</c:v>
                </c:pt>
                <c:pt idx="4">
                  <c:v>jul-26</c:v>
                </c:pt>
                <c:pt idx="5">
                  <c:v>ago-26</c:v>
                </c:pt>
                <c:pt idx="6">
                  <c:v>set-26</c:v>
                </c:pt>
              </c:strCache>
            </c:strRef>
          </c:cat>
          <c:val>
            <c:numRef>
              <c:f>Sheet1!$B$2:$B$8</c:f>
              <c:numCache>
                <c:formatCode>0.00%</c:formatCode>
                <c:ptCount val="7"/>
                <c:pt idx="0">
                  <c:v>0.0123</c:v>
                </c:pt>
                <c:pt idx="1">
                  <c:v>0.0248</c:v>
                </c:pt>
                <c:pt idx="2">
                  <c:v>0.0375</c:v>
                </c:pt>
                <c:pt idx="3">
                  <c:v>0.050300000000000004</c:v>
                </c:pt>
                <c:pt idx="4">
                  <c:v>0.0639</c:v>
                </c:pt>
                <c:pt idx="5">
                  <c:v>0.0759</c:v>
                </c:pt>
                <c:pt idx="6">
                  <c:v>0.0873</c:v>
                </c:pt>
              </c:numCache>
            </c:numRef>
          </c:val>
          <c:smooth val="0"/>
        </c:ser>
        <c:ser>
          <c:idx val="1"/>
          <c:order val="1"/>
          <c:tx>
            <c:strRef>
              <c:f>Sheet1!$C$1</c:f>
              <c:strCache>
                <c:ptCount val="1"/>
                <c:pt idx="0">
                  <c:v>CDI</c:v>
                </c:pt>
              </c:strCache>
            </c:strRef>
          </c:tx>
          <c:spPr>
            <a:ln w="22225">
              <a:solidFill>
                <a:srgbClr val="92D3AB"/>
              </a:solidFill>
            </a:ln>
          </c:spPr>
          <c:marker>
            <c:symbol val="none"/>
          </c:marker>
          <c:dLbls>
            <c:dLbl>
              <c:idx val="6"/>
              <c:spPr/>
              <c:txPr>
                <a:bodyPr/>
                <a:lstStyle/>
                <a:p>
                  <a:pPr>
                    <a:defRPr sz="800" b="1">
                      <a:solidFill>
                        <a:srgbClr val="92D3AB"/>
                      </a:solidFill>
                    </a:defRPr>
                  </a:pPr>
                </a:p>
              </c:txPr>
              <c:dLblPos val="r"/>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mar-26</c:v>
                </c:pt>
                <c:pt idx="1">
                  <c:v>abr-26</c:v>
                </c:pt>
                <c:pt idx="2">
                  <c:v>mai-26</c:v>
                </c:pt>
                <c:pt idx="3">
                  <c:v>jun-26</c:v>
                </c:pt>
                <c:pt idx="4">
                  <c:v>jul-26</c:v>
                </c:pt>
                <c:pt idx="5">
                  <c:v>ago-26</c:v>
                </c:pt>
                <c:pt idx="6">
                  <c:v>set-26</c:v>
                </c:pt>
              </c:strCache>
            </c:strRef>
          </c:cat>
          <c:val>
            <c:numRef>
              <c:f>Sheet1!$C$2:$C$8</c:f>
              <c:numCache>
                <c:formatCode>0.00%</c:formatCode>
                <c:ptCount val="7"/>
                <c:pt idx="0">
                  <c:v>0.0105</c:v>
                </c:pt>
                <c:pt idx="1">
                  <c:v>0.0215</c:v>
                </c:pt>
                <c:pt idx="2">
                  <c:v>0.032400000000000005</c:v>
                </c:pt>
                <c:pt idx="3">
                  <c:v>0.044000000000000004</c:v>
                </c:pt>
                <c:pt idx="4">
                  <c:v>0.0567</c:v>
                </c:pt>
                <c:pt idx="5">
                  <c:v>0.0683</c:v>
                </c:pt>
                <c:pt idx="6">
                  <c:v>0.07980000000000001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9D9D9"/>
            </a:solidFill>
          </a:ln>
        </c:spPr>
        <c:txPr>
          <a:bodyPr/>
          <a:lstStyle/>
          <a:p>
            <a:pPr>
              <a:defRPr sz="700"/>
            </a:pPr>
          </a:p>
        </c:txPr>
        <c:crossAx val="2140495176"/>
        <c:crosses val="autoZero"/>
        <c:auto val="1"/>
        <c:lblAlgn val="ctr"/>
        <c:lblOffset val="100"/>
        <c:noMultiLvlLbl val="0"/>
      </c:catAx>
      <c:valAx>
        <c:axId val="2140495176"/>
        <c:scaling/>
        <c:delete val="0"/>
        <c:axPos val="l"/>
        <c:majorGridlines>
          <c:spPr>
            <a:ln>
              <a:solidFill>
                <a:srgbClr val="D9D9D9"/>
              </a:solidFill>
            </a:ln>
          </c:spPr>
        </c:majorGridlines>
        <c:numFmt formatCode="0.00%" sourceLinked="0"/>
        <c:majorTickMark val="out"/>
        <c:minorTickMark val="none"/>
        <c:tickLblPos val="nextTo"/>
        <c:spPr>
          <a:ln>
            <a:noFill/>
          </a:ln>
        </c:spPr>
        <c:crossAx val="2118791784"/>
        <c:crosses val="autoZero"/>
      </c:valAx>
    </c:plotArea>
    <c:legend>
      <c:legendPos val="b"/>
      <c:layout/>
      <c:overlay val="0"/>
      <c:txPr>
        <a:bodyPr/>
        <a:lstStyle/>
        <a:p>
          <a:pPr>
            <a:defRPr sz="800"/>
          </a:pPr>
        </a:p>
      </c:txPr>
    </c:legend>
    <c:plotVisOnly val="1"/>
    <c:dispBlanksAs val="gap"/>
    <c:showDLblsOverMax val="0"/>
  </c:chart>
  <c:txPr>
    <a:bodyPr/>
    <a:lstStyle/>
    <a:p>
      <a:pPr>
        <a:defRPr sz="800">
          <a:solidFill>
            <a:srgbClr val="595959"/>
          </a:solidFill>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205C4F-AA39-470E-BB8C-A4577A891542}" type="datetimeFigureOut">
              <a:rPr lang="pt-BR" smtClean="0"/>
              <a:t>06/10/2026</a:t>
            </a:fld>
            <a:endParaRPr lang="pt-BR"/>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B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A4ACE0-5C8F-49DD-9A07-7BFC714197A9}" type="slidenum">
              <a:rPr lang="pt-BR" smtClean="0"/>
              <a:t>‹#›</a:t>
            </a:fld>
            <a:endParaRPr lang="pt-BR"/>
          </a:p>
        </p:txBody>
      </p:sp>
    </p:spTree>
    <p:extLst>
      <p:ext uri="{BB962C8B-B14F-4D97-AF65-F5344CB8AC3E}">
        <p14:creationId xmlns:p14="http://schemas.microsoft.com/office/powerpoint/2010/main" val="1755857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B984160-37D4-A24B-8EE4-F88DE8A63FC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6880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0345F-D44F-EBC3-FEAC-F654F5E9E3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81806-014C-AF85-AFE9-FEF70C9840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AE8570-E528-2083-EE2A-FBD5F2F0AA0F}"/>
              </a:ext>
            </a:extLst>
          </p:cNvPr>
          <p:cNvSpPr>
            <a:spLocks noGrp="1"/>
          </p:cNvSpPr>
          <p:nvPr>
            <p:ph type="body" idx="1"/>
          </p:nvPr>
        </p:nvSpPr>
        <p:spPr/>
        <p:txBody>
          <a:bodyPr/>
          <a:lstStyle/>
          <a:p>
            <a:endParaRPr lang="pt-BR"/>
          </a:p>
        </p:txBody>
      </p:sp>
      <p:sp>
        <p:nvSpPr>
          <p:cNvPr id="4" name="Slide Number Placeholder 3">
            <a:extLst>
              <a:ext uri="{FF2B5EF4-FFF2-40B4-BE49-F238E27FC236}">
                <a16:creationId xmlns:a16="http://schemas.microsoft.com/office/drawing/2014/main" id="{DAE8EBAD-CBF3-41C2-CD38-7EB1EBD627C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B984160-37D4-A24B-8EE4-F88DE8A63FC8}" type="slidenum">
              <a:rPr kumimoji="0" lang="pt-B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pt-B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07158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s://tivio.com/" TargetMode="External"/><Relationship Id="rId3" Type="http://schemas.openxmlformats.org/officeDocument/2006/relationships/image" Target="../media/image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svg"/><Relationship Id="rId3" Type="http://schemas.openxmlformats.org/officeDocument/2006/relationships/image" Target="../media/image2.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4070669197"/>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55CCA2B0-0678-9CA0-9BDB-5D8FB71C2E5B}"/>
              </a:ext>
            </a:extLst>
          </p:cNvPr>
          <p:cNvCxnSpPr>
            <a:cxnSpLocks/>
          </p:cNvCxnSpPr>
          <p:nvPr userDrawn="1"/>
        </p:nvCxnSpPr>
        <p:spPr>
          <a:xfrm>
            <a:off x="449179" y="9403733"/>
            <a:ext cx="483294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22" name="Picture 8">
            <a:extLst>
              <a:ext uri="{FF2B5EF4-FFF2-40B4-BE49-F238E27FC236}">
                <a16:creationId xmlns:a16="http://schemas.microsoft.com/office/drawing/2014/main" id="{6EDB3EA2-02BD-2EFD-A067-7CFADE15704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5501418" y="9189849"/>
            <a:ext cx="987820" cy="427768"/>
          </a:xfrm>
          <a:prstGeom prst="rect">
            <a:avLst/>
          </a:prstGeom>
        </p:spPr>
      </p:pic>
      <p:cxnSp>
        <p:nvCxnSpPr>
          <p:cNvPr id="3" name="Straight Connector 2">
            <a:extLst>
              <a:ext uri="{FF2B5EF4-FFF2-40B4-BE49-F238E27FC236}">
                <a16:creationId xmlns:a16="http://schemas.microsoft.com/office/drawing/2014/main" id="{21A1AAB4-9E6C-E070-68DB-1185AE2E3BE5}"/>
              </a:ext>
            </a:extLst>
          </p:cNvPr>
          <p:cNvCxnSpPr>
            <a:cxnSpLocks/>
          </p:cNvCxnSpPr>
          <p:nvPr userDrawn="1"/>
        </p:nvCxnSpPr>
        <p:spPr>
          <a:xfrm>
            <a:off x="4146115" y="496111"/>
            <a:ext cx="227056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4" name="Graphic 3">
            <a:extLst>
              <a:ext uri="{FF2B5EF4-FFF2-40B4-BE49-F238E27FC236}">
                <a16:creationId xmlns:a16="http://schemas.microsoft.com/office/drawing/2014/main" id="{270585E0-F8F1-3D4C-EDDE-8070DBBEFCC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49179" y="247190"/>
            <a:ext cx="3501773" cy="497842"/>
          </a:xfrm>
          <a:prstGeom prst="rect">
            <a:avLst/>
          </a:prstGeom>
        </p:spPr>
      </p:pic>
    </p:spTree>
    <p:extLst>
      <p:ext uri="{BB962C8B-B14F-4D97-AF65-F5344CB8AC3E}">
        <p14:creationId xmlns:p14="http://schemas.microsoft.com/office/powerpoint/2010/main" val="2157344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2311956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07469A-6CF5-417C-B671-5BFE2B13BB81}" type="datetimeFigureOut">
              <a:rPr lang="pt-BR" smtClean="0"/>
              <a:t>06/10/2026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536786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707469A-6CF5-417C-B671-5BFE2B13BB81}" type="datetimeFigureOut">
              <a:rPr lang="pt-BR" smtClean="0"/>
              <a:t>06/10/2026</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1932730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07469A-6CF5-417C-B671-5BFE2B13BB81}" type="datetimeFigureOut">
              <a:rPr lang="pt-BR" smtClean="0"/>
              <a:t>06/10/2026</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2208999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07469A-6CF5-417C-B671-5BFE2B13BB81}" type="datetimeFigureOut">
              <a:rPr lang="pt-BR" smtClean="0"/>
              <a:t>06/10/2026</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1568023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707469A-6CF5-417C-B671-5BFE2B13BB81}" type="datetimeFigureOut">
              <a:rPr lang="pt-BR" smtClean="0"/>
              <a:t>06/10/2026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2034405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707469A-6CF5-417C-B671-5BFE2B13BB81}" type="datetimeFigureOut">
              <a:rPr lang="pt-BR" smtClean="0"/>
              <a:t>06/10/2026</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18354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3083612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35894212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3070860"/>
            <a:ext cx="5829301" cy="700192"/>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028700" y="5547361"/>
            <a:ext cx="48006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4991446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238848"/>
          </a:xfrm>
        </p:spPr>
        <p:txBody>
          <a:bodyPr lIns="0" tIns="0" rIns="0" bIns="0"/>
          <a:lstStyle>
            <a:lvl1pPr>
              <a:defRPr sz="1552" b="1" i="0">
                <a:solidFill>
                  <a:srgbClr val="1E271F"/>
                </a:solidFill>
                <a:latin typeface="Versos"/>
                <a:cs typeface="Verso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018730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238848"/>
          </a:xfrm>
        </p:spPr>
        <p:txBody>
          <a:bodyPr lIns="0" tIns="0" rIns="0" bIns="0"/>
          <a:lstStyle>
            <a:lvl1pPr>
              <a:defRPr sz="1552" b="1" i="0">
                <a:solidFill>
                  <a:srgbClr val="1E271F"/>
                </a:solidFill>
                <a:latin typeface="Versos"/>
                <a:cs typeface="Versos"/>
              </a:defRPr>
            </a:lvl1pPr>
          </a:lstStyle>
          <a:p>
            <a:endParaRPr/>
          </a:p>
        </p:txBody>
      </p:sp>
      <p:sp>
        <p:nvSpPr>
          <p:cNvPr id="3" name="Holder 3"/>
          <p:cNvSpPr>
            <a:spLocks noGrp="1"/>
          </p:cNvSpPr>
          <p:nvPr>
            <p:ph sz="half" idx="2"/>
          </p:nvPr>
        </p:nvSpPr>
        <p:spPr>
          <a:xfrm>
            <a:off x="342900" y="2278381"/>
            <a:ext cx="298323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278381"/>
            <a:ext cx="298323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671006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238848"/>
          </a:xfrm>
        </p:spPr>
        <p:txBody>
          <a:bodyPr lIns="0" tIns="0" rIns="0" bIns="0"/>
          <a:lstStyle>
            <a:lvl1pPr>
              <a:defRPr sz="1552" b="1" i="0">
                <a:solidFill>
                  <a:srgbClr val="1E271F"/>
                </a:solidFill>
                <a:latin typeface="Versos"/>
                <a:cs typeface="Verso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41513818"/>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455161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Slide de Título">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2D4BCB3-4F76-760A-4445-FEE2DDE11714}"/>
              </a:ext>
            </a:extLst>
          </p:cNvPr>
          <p:cNvSpPr/>
          <p:nvPr userDrawn="1"/>
        </p:nvSpPr>
        <p:spPr>
          <a:xfrm>
            <a:off x="0" y="0"/>
            <a:ext cx="6858000" cy="2804506"/>
          </a:xfrm>
          <a:prstGeom prst="rect">
            <a:avLst/>
          </a:prstGeom>
          <a:gradFill>
            <a:gsLst>
              <a:gs pos="0">
                <a:schemeClr val="bg2">
                  <a:lumMod val="10000"/>
                </a:schemeClr>
              </a:gs>
              <a:gs pos="100000">
                <a:schemeClr val="bg2">
                  <a:lumMod val="25000"/>
                </a:schemeClr>
              </a:gs>
            </a:gsLst>
            <a:lin ang="27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34"/>
          </a:p>
        </p:txBody>
      </p:sp>
      <p:pic>
        <p:nvPicPr>
          <p:cNvPr id="9" name="Graphic 8">
            <a:extLst>
              <a:ext uri="{FF2B5EF4-FFF2-40B4-BE49-F238E27FC236}">
                <a16:creationId xmlns:a16="http://schemas.microsoft.com/office/drawing/2014/main" id="{94A45564-5184-90D2-14D9-94EA332442CE}"/>
              </a:ext>
            </a:extLst>
          </p:cNvPr>
          <p:cNvPicPr>
            <a:picLocks noChangeAspect="1"/>
          </p:cNvPicPr>
          <p:nvPr userDrawn="1"/>
        </p:nvPicPr>
        <p:blipFill>
          <a:blip>
            <a:extLst>
              <a:ext uri="{96DAC541-7B7A-43D3-8B79-37D633B846F1}">
                <asvg:svgBlip xmlns:asvg="http://schemas.microsoft.com/office/drawing/2016/SVG/main" r:embed="rId2"/>
              </a:ext>
            </a:extLst>
          </a:blip>
          <a:srcRect b="59959"/>
          <a:stretch/>
        </p:blipFill>
        <p:spPr>
          <a:xfrm>
            <a:off x="0" y="0"/>
            <a:ext cx="6858000" cy="2804506"/>
          </a:xfrm>
          <a:prstGeom prst="rect">
            <a:avLst/>
          </a:prstGeom>
        </p:spPr>
      </p:pic>
      <p:sp>
        <p:nvSpPr>
          <p:cNvPr id="2" name="Slide Number Placeholder 5">
            <a:extLst>
              <a:ext uri="{FF2B5EF4-FFF2-40B4-BE49-F238E27FC236}">
                <a16:creationId xmlns:a16="http://schemas.microsoft.com/office/drawing/2014/main" id="{40B7DDAD-8C66-FA3E-4B5B-9AB3416CAB6E}"/>
              </a:ext>
            </a:extLst>
          </p:cNvPr>
          <p:cNvSpPr>
            <a:spLocks noGrp="1"/>
          </p:cNvSpPr>
          <p:nvPr>
            <p:ph type="sldNum" sz="quarter" idx="12"/>
          </p:nvPr>
        </p:nvSpPr>
        <p:spPr>
          <a:xfrm>
            <a:off x="6126404"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pic>
        <p:nvPicPr>
          <p:cNvPr id="12" name="Picture 8">
            <a:extLst>
              <a:ext uri="{FF2B5EF4-FFF2-40B4-BE49-F238E27FC236}">
                <a16:creationId xmlns:a16="http://schemas.microsoft.com/office/drawing/2014/main" id="{1FBF88D0-6DD9-ABC3-7BB8-61EAE182C83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17" t="-23966" r="-8117" b="-23966"/>
          <a:stretch/>
        </p:blipFill>
        <p:spPr>
          <a:xfrm>
            <a:off x="5688504" y="276002"/>
            <a:ext cx="874432" cy="386733"/>
          </a:xfrm>
          <a:prstGeom prst="rect">
            <a:avLst/>
          </a:prstGeom>
        </p:spPr>
      </p:pic>
      <p:sp>
        <p:nvSpPr>
          <p:cNvPr id="3" name="CaixaDeTexto 17">
            <a:extLst>
              <a:ext uri="{FF2B5EF4-FFF2-40B4-BE49-F238E27FC236}">
                <a16:creationId xmlns:a16="http://schemas.microsoft.com/office/drawing/2014/main" id="{39D693CA-239F-BF27-5666-D85F301F4EB9}"/>
              </a:ext>
            </a:extLst>
          </p:cNvPr>
          <p:cNvSpPr txBox="1"/>
          <p:nvPr userDrawn="1"/>
        </p:nvSpPr>
        <p:spPr>
          <a:xfrm>
            <a:off x="981104" y="271305"/>
            <a:ext cx="2110770" cy="396124"/>
          </a:xfrm>
          <a:prstGeom prst="rect">
            <a:avLst/>
          </a:prstGeom>
          <a:noFill/>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r>
              <a:rPr lang="pt-BR" sz="1089" noProof="0">
                <a:solidFill>
                  <a:schemeClr val="bg1"/>
                </a:solidFill>
                <a:latin typeface="+mn-lt"/>
              </a:rPr>
              <a:t>Abril de 2025 | Carta do Gestor</a:t>
            </a:r>
          </a:p>
        </p:txBody>
      </p:sp>
      <p:pic>
        <p:nvPicPr>
          <p:cNvPr id="5" name="Graphic 4">
            <a:extLst>
              <a:ext uri="{FF2B5EF4-FFF2-40B4-BE49-F238E27FC236}">
                <a16:creationId xmlns:a16="http://schemas.microsoft.com/office/drawing/2014/main" id="{BB302827-45EA-384F-A87C-8FECD556410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8599" y="290485"/>
            <a:ext cx="408086" cy="357764"/>
          </a:xfrm>
          <a:prstGeom prst="rect">
            <a:avLst/>
          </a:prstGeom>
        </p:spPr>
      </p:pic>
      <p:grpSp>
        <p:nvGrpSpPr>
          <p:cNvPr id="13" name="Group 12">
            <a:extLst>
              <a:ext uri="{FF2B5EF4-FFF2-40B4-BE49-F238E27FC236}">
                <a16:creationId xmlns:a16="http://schemas.microsoft.com/office/drawing/2014/main" id="{1A68D458-14F2-4AA7-6581-119AB128C8A9}"/>
              </a:ext>
            </a:extLst>
          </p:cNvPr>
          <p:cNvGrpSpPr/>
          <p:nvPr userDrawn="1"/>
        </p:nvGrpSpPr>
        <p:grpSpPr>
          <a:xfrm>
            <a:off x="2103946" y="820554"/>
            <a:ext cx="4395457" cy="489003"/>
            <a:chOff x="389590" y="1268631"/>
            <a:chExt cx="5107839" cy="527795"/>
          </a:xfrm>
        </p:grpSpPr>
        <p:sp>
          <p:nvSpPr>
            <p:cNvPr id="47" name="CaixaDeTexto 5">
              <a:extLst>
                <a:ext uri="{FF2B5EF4-FFF2-40B4-BE49-F238E27FC236}">
                  <a16:creationId xmlns:a16="http://schemas.microsoft.com/office/drawing/2014/main" id="{F87B3DAC-DB98-A1BE-3260-C2FB8180EAF9}"/>
                </a:ext>
              </a:extLst>
            </p:cNvPr>
            <p:cNvSpPr txBox="1"/>
            <p:nvPr userDrawn="1"/>
          </p:nvSpPr>
          <p:spPr>
            <a:xfrm>
              <a:off x="389590" y="1268631"/>
              <a:ext cx="5107839" cy="262605"/>
            </a:xfrm>
            <a:prstGeom prst="rect">
              <a:avLst/>
            </a:prstGeom>
            <a:noFill/>
          </p:spPr>
          <p:txBody>
            <a:bodyPr wrap="square" lIns="0" tIns="0" rIns="0" bIns="0" numCol="1" spcCol="612000" anchor="ctr" anchorCtr="0">
              <a:noAutofit/>
            </a:bodyPr>
            <a:lstStyle/>
            <a:p>
              <a:pPr marL="0" marR="0" lvl="0" indent="0" algn="l" defTabSz="414789" rtl="0" eaLnBrk="1" fontAlgn="auto" latinLnBrk="0" hangingPunct="1">
                <a:lnSpc>
                  <a:spcPct val="100000"/>
                </a:lnSpc>
                <a:spcBef>
                  <a:spcPts val="272"/>
                </a:spcBef>
                <a:spcAft>
                  <a:spcPts val="272"/>
                </a:spcAft>
                <a:buClrTx/>
                <a:buSzTx/>
                <a:buFontTx/>
                <a:buNone/>
                <a:tabLst>
                  <a:tab pos="2603952" algn="l"/>
                </a:tabLst>
                <a:defRPr/>
              </a:pPr>
              <a:r>
                <a:rPr kumimoji="0" lang="pt-BR" sz="1814" b="0" i="0" u="none" strike="noStrike" kern="1200" cap="none" spc="0" normalizeH="0" baseline="0" noProof="1">
                  <a:ln>
                    <a:noFill/>
                  </a:ln>
                  <a:solidFill>
                    <a:schemeClr val="bg1"/>
                  </a:solidFill>
                  <a:effectLst/>
                  <a:uLnTx/>
                  <a:uFillTx/>
                  <a:latin typeface="Versos"/>
                  <a:ea typeface="+mn-ea"/>
                  <a:cs typeface="+mn-cs"/>
                </a:rPr>
                <a:t>A Curva de Galton no Crédito Privado</a:t>
              </a:r>
            </a:p>
          </p:txBody>
        </p:sp>
        <p:sp>
          <p:nvSpPr>
            <p:cNvPr id="10" name="CaixaDeTexto 5">
              <a:extLst>
                <a:ext uri="{FF2B5EF4-FFF2-40B4-BE49-F238E27FC236}">
                  <a16:creationId xmlns:a16="http://schemas.microsoft.com/office/drawing/2014/main" id="{C6AD5879-128F-580E-F9BF-4A3DDAA86EAE}"/>
                </a:ext>
              </a:extLst>
            </p:cNvPr>
            <p:cNvSpPr txBox="1"/>
            <p:nvPr userDrawn="1"/>
          </p:nvSpPr>
          <p:spPr>
            <a:xfrm>
              <a:off x="389590" y="1558873"/>
              <a:ext cx="5107839" cy="237553"/>
            </a:xfrm>
            <a:prstGeom prst="rect">
              <a:avLst/>
            </a:prstGeom>
            <a:noFill/>
          </p:spPr>
          <p:txBody>
            <a:bodyPr wrap="square" lIns="0" tIns="0" rIns="0" bIns="0" numCol="1" spcCol="612000" anchor="ctr" anchorCtr="0">
              <a:noAutofit/>
            </a:bodyPr>
            <a:lstStyle/>
            <a:p>
              <a:pPr marL="0" marR="0" lvl="0" indent="0" algn="l" defTabSz="414789" rtl="0" eaLnBrk="1" fontAlgn="auto" latinLnBrk="0" hangingPunct="1">
                <a:lnSpc>
                  <a:spcPct val="100000"/>
                </a:lnSpc>
                <a:spcBef>
                  <a:spcPts val="272"/>
                </a:spcBef>
                <a:spcAft>
                  <a:spcPts val="272"/>
                </a:spcAft>
                <a:buClrTx/>
                <a:buSzTx/>
                <a:buFontTx/>
                <a:buNone/>
                <a:tabLst>
                  <a:tab pos="2603952" algn="l"/>
                </a:tabLst>
                <a:defRPr/>
              </a:pPr>
              <a:r>
                <a:rPr kumimoji="0" lang="pt-BR" sz="1451" b="0" i="0" u="none" strike="noStrike" kern="1200" cap="none" spc="0" normalizeH="0" baseline="0" noProof="1">
                  <a:ln>
                    <a:noFill/>
                  </a:ln>
                  <a:solidFill>
                    <a:schemeClr val="bg1"/>
                  </a:solidFill>
                  <a:effectLst/>
                  <a:uLnTx/>
                  <a:uFillTx/>
                  <a:latin typeface="+mn-lt"/>
                  <a:ea typeface="+mn-ea"/>
                  <a:cs typeface="+mn-cs"/>
                </a:rPr>
                <a:t>Da Normalidade Estatística à Seleção Estratégica</a:t>
              </a:r>
            </a:p>
          </p:txBody>
        </p:sp>
      </p:grpSp>
      <p:sp>
        <p:nvSpPr>
          <p:cNvPr id="11" name="CaixaDeTexto 17">
            <a:extLst>
              <a:ext uri="{FF2B5EF4-FFF2-40B4-BE49-F238E27FC236}">
                <a16:creationId xmlns:a16="http://schemas.microsoft.com/office/drawing/2014/main" id="{77C2A921-1881-321F-10FC-0EBD9F53D303}"/>
              </a:ext>
            </a:extLst>
          </p:cNvPr>
          <p:cNvSpPr txBox="1"/>
          <p:nvPr userDrawn="1"/>
        </p:nvSpPr>
        <p:spPr>
          <a:xfrm>
            <a:off x="3242533" y="341377"/>
            <a:ext cx="1520558" cy="255981"/>
          </a:xfrm>
          <a:prstGeom prst="rect">
            <a:avLst/>
          </a:prstGeom>
          <a:noFill/>
          <a:ln>
            <a:solidFill>
              <a:schemeClr val="bg1"/>
            </a:solidFill>
          </a:ln>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lgn="ctr"/>
            <a:r>
              <a:rPr lang="pt-BR" sz="1089" b="1" noProof="0">
                <a:solidFill>
                  <a:schemeClr val="bg2">
                    <a:lumMod val="90000"/>
                  </a:schemeClr>
                </a:solidFill>
                <a:latin typeface="+mj-lt"/>
              </a:rPr>
              <a:t>CRÉDITO PRIVADO</a:t>
            </a:r>
          </a:p>
        </p:txBody>
      </p:sp>
    </p:spTree>
    <p:extLst>
      <p:ext uri="{BB962C8B-B14F-4D97-AF65-F5344CB8AC3E}">
        <p14:creationId xmlns:p14="http://schemas.microsoft.com/office/powerpoint/2010/main" val="259149526"/>
      </p:ext>
    </p:extLst>
  </p:cSld>
  <p:clrMapOvr>
    <a:masterClrMapping/>
  </p:clrMapOvr>
  <p:extLst>
    <p:ext uri="{DCECCB84-F9BA-43D5-87BE-67443E8EF086}">
      <p15:sldGuideLst xmlns:p15="http://schemas.microsoft.com/office/powerpoint/2012/main">
        <p15:guide id="1" orient="horz" pos="147">
          <p15:clr>
            <a:srgbClr val="FBAE40"/>
          </p15:clr>
        </p15:guide>
        <p15:guide id="2" pos="249">
          <p15:clr>
            <a:srgbClr val="FBAE40"/>
          </p15:clr>
        </p15:guide>
        <p15:guide id="3" pos="4513">
          <p15:clr>
            <a:srgbClr val="FBAE40"/>
          </p15:clr>
        </p15:guide>
        <p15:guide id="4" orient="horz" pos="6475">
          <p15:clr>
            <a:srgbClr val="FBAE40"/>
          </p15:clr>
        </p15:guide>
        <p15:guide id="5" orient="horz" pos="465">
          <p15:clr>
            <a:srgbClr val="FBAE40"/>
          </p15:clr>
        </p15:guide>
        <p15:guide id="6" orient="horz" pos="1916">
          <p15:clr>
            <a:srgbClr val="FBAE40"/>
          </p15:clr>
        </p15:guide>
        <p15:guide id="7" orient="horz" pos="6588">
          <p15:clr>
            <a:srgbClr val="FBAE40"/>
          </p15:clr>
        </p15:guide>
        <p15:guide id="8" orient="horz" pos="636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Slide de Título">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978528"/>
      </p:ext>
    </p:extLst>
  </p:cSld>
  <p:clrMapOvr>
    <a:masterClrMapping/>
  </p:clrMapOvr>
  <p:extLst>
    <p:ext uri="{DCECCB84-F9BA-43D5-87BE-67443E8EF086}">
      <p15:sldGuideLst xmlns:p15="http://schemas.microsoft.com/office/powerpoint/2012/main">
        <p15:guide id="1" orient="horz" pos="578">
          <p15:clr>
            <a:srgbClr val="FBAE40"/>
          </p15:clr>
        </p15:guide>
        <p15:guide id="2" pos="249">
          <p15:clr>
            <a:srgbClr val="FBAE40"/>
          </p15:clr>
        </p15:guide>
        <p15:guide id="3" pos="4513">
          <p15:clr>
            <a:srgbClr val="FBAE40"/>
          </p15:clr>
        </p15:guide>
        <p15:guide id="4" orient="horz" pos="6475">
          <p15:clr>
            <a:srgbClr val="FBAE40"/>
          </p15:clr>
        </p15:guide>
        <p15:guide id="5" orient="horz" pos="737">
          <p15:clr>
            <a:srgbClr val="FBAE40"/>
          </p15:clr>
        </p15:guide>
        <p15:guide id="6" orient="horz" pos="442">
          <p15:clr>
            <a:srgbClr val="FBAE40"/>
          </p15:clr>
        </p15:guide>
        <p15:guide id="7" orient="horz" pos="661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Slide de Título">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2D4BCB3-4F76-760A-4445-FEE2DDE11714}"/>
              </a:ext>
            </a:extLst>
          </p:cNvPr>
          <p:cNvSpPr/>
          <p:nvPr userDrawn="1"/>
        </p:nvSpPr>
        <p:spPr>
          <a:xfrm>
            <a:off x="0" y="0"/>
            <a:ext cx="6858000" cy="2804506"/>
          </a:xfrm>
          <a:prstGeom prst="rect">
            <a:avLst/>
          </a:prstGeom>
          <a:gradFill>
            <a:gsLst>
              <a:gs pos="0">
                <a:schemeClr val="bg2">
                  <a:lumMod val="10000"/>
                </a:schemeClr>
              </a:gs>
              <a:gs pos="100000">
                <a:schemeClr val="bg2">
                  <a:lumMod val="25000"/>
                </a:schemeClr>
              </a:gs>
            </a:gsLst>
            <a:lin ang="270000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34"/>
          </a:p>
        </p:txBody>
      </p:sp>
      <p:pic>
        <p:nvPicPr>
          <p:cNvPr id="9" name="Graphic 8">
            <a:extLst>
              <a:ext uri="{FF2B5EF4-FFF2-40B4-BE49-F238E27FC236}">
                <a16:creationId xmlns:a16="http://schemas.microsoft.com/office/drawing/2014/main" id="{94A45564-5184-90D2-14D9-94EA332442CE}"/>
              </a:ext>
            </a:extLst>
          </p:cNvPr>
          <p:cNvPicPr>
            <a:picLocks noChangeAspect="1"/>
          </p:cNvPicPr>
          <p:nvPr userDrawn="1"/>
        </p:nvPicPr>
        <p:blipFill>
          <a:blip>
            <a:extLst>
              <a:ext uri="{96DAC541-7B7A-43D3-8B79-37D633B846F1}">
                <asvg:svgBlip xmlns:asvg="http://schemas.microsoft.com/office/drawing/2016/SVG/main" r:embed="rId2"/>
              </a:ext>
            </a:extLst>
          </a:blip>
          <a:srcRect b="59959"/>
          <a:stretch/>
        </p:blipFill>
        <p:spPr>
          <a:xfrm>
            <a:off x="0" y="0"/>
            <a:ext cx="6858000" cy="2804506"/>
          </a:xfrm>
          <a:prstGeom prst="rect">
            <a:avLst/>
          </a:prstGeom>
        </p:spPr>
      </p:pic>
      <p:sp>
        <p:nvSpPr>
          <p:cNvPr id="2" name="Slide Number Placeholder 5">
            <a:extLst>
              <a:ext uri="{FF2B5EF4-FFF2-40B4-BE49-F238E27FC236}">
                <a16:creationId xmlns:a16="http://schemas.microsoft.com/office/drawing/2014/main" id="{40B7DDAD-8C66-FA3E-4B5B-9AB3416CAB6E}"/>
              </a:ext>
            </a:extLst>
          </p:cNvPr>
          <p:cNvSpPr>
            <a:spLocks noGrp="1"/>
          </p:cNvSpPr>
          <p:nvPr>
            <p:ph type="sldNum" sz="quarter" idx="12"/>
          </p:nvPr>
        </p:nvSpPr>
        <p:spPr>
          <a:xfrm>
            <a:off x="6126404"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pic>
        <p:nvPicPr>
          <p:cNvPr id="12" name="Picture 8">
            <a:extLst>
              <a:ext uri="{FF2B5EF4-FFF2-40B4-BE49-F238E27FC236}">
                <a16:creationId xmlns:a16="http://schemas.microsoft.com/office/drawing/2014/main" id="{1FBF88D0-6DD9-ABC3-7BB8-61EAE182C83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17" t="-23966" r="-8117" b="-23966"/>
          <a:stretch/>
        </p:blipFill>
        <p:spPr>
          <a:xfrm>
            <a:off x="5688504" y="276002"/>
            <a:ext cx="874432" cy="386733"/>
          </a:xfrm>
          <a:prstGeom prst="rect">
            <a:avLst/>
          </a:prstGeom>
        </p:spPr>
      </p:pic>
      <p:sp>
        <p:nvSpPr>
          <p:cNvPr id="3" name="CaixaDeTexto 17">
            <a:extLst>
              <a:ext uri="{FF2B5EF4-FFF2-40B4-BE49-F238E27FC236}">
                <a16:creationId xmlns:a16="http://schemas.microsoft.com/office/drawing/2014/main" id="{39D693CA-239F-BF27-5666-D85F301F4EB9}"/>
              </a:ext>
            </a:extLst>
          </p:cNvPr>
          <p:cNvSpPr txBox="1"/>
          <p:nvPr userDrawn="1"/>
        </p:nvSpPr>
        <p:spPr>
          <a:xfrm>
            <a:off x="981104" y="271305"/>
            <a:ext cx="2110770" cy="396124"/>
          </a:xfrm>
          <a:prstGeom prst="rect">
            <a:avLst/>
          </a:prstGeom>
          <a:noFill/>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r>
              <a:rPr lang="pt-BR" sz="1089" noProof="0">
                <a:solidFill>
                  <a:schemeClr val="bg1"/>
                </a:solidFill>
                <a:latin typeface="+mn-lt"/>
              </a:rPr>
              <a:t>Abril de 2025 | Carta do Gestor</a:t>
            </a:r>
          </a:p>
        </p:txBody>
      </p:sp>
      <p:pic>
        <p:nvPicPr>
          <p:cNvPr id="5" name="Graphic 4">
            <a:extLst>
              <a:ext uri="{FF2B5EF4-FFF2-40B4-BE49-F238E27FC236}">
                <a16:creationId xmlns:a16="http://schemas.microsoft.com/office/drawing/2014/main" id="{BB302827-45EA-384F-A87C-8FECD556410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8599" y="290485"/>
            <a:ext cx="408086" cy="357764"/>
          </a:xfrm>
          <a:prstGeom prst="rect">
            <a:avLst/>
          </a:prstGeom>
        </p:spPr>
      </p:pic>
      <p:grpSp>
        <p:nvGrpSpPr>
          <p:cNvPr id="13" name="Group 12">
            <a:extLst>
              <a:ext uri="{FF2B5EF4-FFF2-40B4-BE49-F238E27FC236}">
                <a16:creationId xmlns:a16="http://schemas.microsoft.com/office/drawing/2014/main" id="{1A68D458-14F2-4AA7-6581-119AB128C8A9}"/>
              </a:ext>
            </a:extLst>
          </p:cNvPr>
          <p:cNvGrpSpPr/>
          <p:nvPr userDrawn="1"/>
        </p:nvGrpSpPr>
        <p:grpSpPr>
          <a:xfrm>
            <a:off x="2103946" y="820554"/>
            <a:ext cx="4395457" cy="489003"/>
            <a:chOff x="389590" y="1268631"/>
            <a:chExt cx="5107839" cy="527795"/>
          </a:xfrm>
        </p:grpSpPr>
        <p:sp>
          <p:nvSpPr>
            <p:cNvPr id="47" name="CaixaDeTexto 5">
              <a:extLst>
                <a:ext uri="{FF2B5EF4-FFF2-40B4-BE49-F238E27FC236}">
                  <a16:creationId xmlns:a16="http://schemas.microsoft.com/office/drawing/2014/main" id="{F87B3DAC-DB98-A1BE-3260-C2FB8180EAF9}"/>
                </a:ext>
              </a:extLst>
            </p:cNvPr>
            <p:cNvSpPr txBox="1"/>
            <p:nvPr userDrawn="1"/>
          </p:nvSpPr>
          <p:spPr>
            <a:xfrm>
              <a:off x="389590" y="1268631"/>
              <a:ext cx="5107839" cy="262605"/>
            </a:xfrm>
            <a:prstGeom prst="rect">
              <a:avLst/>
            </a:prstGeom>
            <a:noFill/>
          </p:spPr>
          <p:txBody>
            <a:bodyPr wrap="square" lIns="0" tIns="0" rIns="0" bIns="0" numCol="1" spcCol="612000" anchor="ctr" anchorCtr="0">
              <a:noAutofit/>
            </a:bodyPr>
            <a:lstStyle/>
            <a:p>
              <a:pPr marL="0" marR="0" lvl="0" indent="0" algn="l" defTabSz="414789" rtl="0" eaLnBrk="1" fontAlgn="auto" latinLnBrk="0" hangingPunct="1">
                <a:lnSpc>
                  <a:spcPct val="100000"/>
                </a:lnSpc>
                <a:spcBef>
                  <a:spcPts val="272"/>
                </a:spcBef>
                <a:spcAft>
                  <a:spcPts val="272"/>
                </a:spcAft>
                <a:buClrTx/>
                <a:buSzTx/>
                <a:buFontTx/>
                <a:buNone/>
                <a:tabLst>
                  <a:tab pos="2603952" algn="l"/>
                </a:tabLst>
                <a:defRPr/>
              </a:pPr>
              <a:r>
                <a:rPr kumimoji="0" lang="pt-BR" sz="1814" b="0" i="0" u="none" strike="noStrike" kern="1200" cap="none" spc="0" normalizeH="0" baseline="0" noProof="1">
                  <a:ln>
                    <a:noFill/>
                  </a:ln>
                  <a:solidFill>
                    <a:schemeClr val="bg1"/>
                  </a:solidFill>
                  <a:effectLst/>
                  <a:uLnTx/>
                  <a:uFillTx/>
                  <a:latin typeface="Versos"/>
                  <a:ea typeface="+mn-ea"/>
                  <a:cs typeface="+mn-cs"/>
                </a:rPr>
                <a:t>A Curva de Galton no Crédito Privado</a:t>
              </a:r>
            </a:p>
          </p:txBody>
        </p:sp>
        <p:sp>
          <p:nvSpPr>
            <p:cNvPr id="10" name="CaixaDeTexto 5">
              <a:extLst>
                <a:ext uri="{FF2B5EF4-FFF2-40B4-BE49-F238E27FC236}">
                  <a16:creationId xmlns:a16="http://schemas.microsoft.com/office/drawing/2014/main" id="{C6AD5879-128F-580E-F9BF-4A3DDAA86EAE}"/>
                </a:ext>
              </a:extLst>
            </p:cNvPr>
            <p:cNvSpPr txBox="1"/>
            <p:nvPr userDrawn="1"/>
          </p:nvSpPr>
          <p:spPr>
            <a:xfrm>
              <a:off x="389590" y="1558873"/>
              <a:ext cx="5107839" cy="237553"/>
            </a:xfrm>
            <a:prstGeom prst="rect">
              <a:avLst/>
            </a:prstGeom>
            <a:noFill/>
          </p:spPr>
          <p:txBody>
            <a:bodyPr wrap="square" lIns="0" tIns="0" rIns="0" bIns="0" numCol="1" spcCol="612000" anchor="ctr" anchorCtr="0">
              <a:noAutofit/>
            </a:bodyPr>
            <a:lstStyle/>
            <a:p>
              <a:pPr marL="0" marR="0" lvl="0" indent="0" algn="l" defTabSz="414789" rtl="0" eaLnBrk="1" fontAlgn="auto" latinLnBrk="0" hangingPunct="1">
                <a:lnSpc>
                  <a:spcPct val="100000"/>
                </a:lnSpc>
                <a:spcBef>
                  <a:spcPts val="272"/>
                </a:spcBef>
                <a:spcAft>
                  <a:spcPts val="272"/>
                </a:spcAft>
                <a:buClrTx/>
                <a:buSzTx/>
                <a:buFontTx/>
                <a:buNone/>
                <a:tabLst>
                  <a:tab pos="2603952" algn="l"/>
                </a:tabLst>
                <a:defRPr/>
              </a:pPr>
              <a:r>
                <a:rPr kumimoji="0" lang="pt-BR" sz="1451" b="0" i="0" u="none" strike="noStrike" kern="1200" cap="none" spc="0" normalizeH="0" baseline="0" noProof="1">
                  <a:ln>
                    <a:noFill/>
                  </a:ln>
                  <a:solidFill>
                    <a:schemeClr val="bg1"/>
                  </a:solidFill>
                  <a:effectLst/>
                  <a:uLnTx/>
                  <a:uFillTx/>
                  <a:latin typeface="+mn-lt"/>
                  <a:ea typeface="+mn-ea"/>
                  <a:cs typeface="+mn-cs"/>
                </a:rPr>
                <a:t>Da Normalidade Estatística à Seleção Estratégica</a:t>
              </a:r>
            </a:p>
          </p:txBody>
        </p:sp>
      </p:grpSp>
      <p:sp>
        <p:nvSpPr>
          <p:cNvPr id="11" name="CaixaDeTexto 17">
            <a:extLst>
              <a:ext uri="{FF2B5EF4-FFF2-40B4-BE49-F238E27FC236}">
                <a16:creationId xmlns:a16="http://schemas.microsoft.com/office/drawing/2014/main" id="{77C2A921-1881-321F-10FC-0EBD9F53D303}"/>
              </a:ext>
            </a:extLst>
          </p:cNvPr>
          <p:cNvSpPr txBox="1"/>
          <p:nvPr userDrawn="1"/>
        </p:nvSpPr>
        <p:spPr>
          <a:xfrm>
            <a:off x="3242533" y="341377"/>
            <a:ext cx="1520558" cy="255981"/>
          </a:xfrm>
          <a:prstGeom prst="rect">
            <a:avLst/>
          </a:prstGeom>
          <a:noFill/>
          <a:ln>
            <a:solidFill>
              <a:schemeClr val="bg1"/>
            </a:solidFill>
          </a:ln>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lgn="ctr"/>
            <a:r>
              <a:rPr lang="pt-BR" sz="1089" b="1" noProof="0">
                <a:solidFill>
                  <a:schemeClr val="bg2">
                    <a:lumMod val="90000"/>
                  </a:schemeClr>
                </a:solidFill>
                <a:latin typeface="+mj-lt"/>
              </a:rPr>
              <a:t>CRÉDITO PRIVADO</a:t>
            </a:r>
          </a:p>
        </p:txBody>
      </p:sp>
      <p:sp>
        <p:nvSpPr>
          <p:cNvPr id="4" name="Retângulo 3">
            <a:extLst>
              <a:ext uri="{FF2B5EF4-FFF2-40B4-BE49-F238E27FC236}">
                <a16:creationId xmlns:a16="http://schemas.microsoft.com/office/drawing/2014/main" id="{69AE5BC0-D8B8-F373-2B1D-CFF27E667FB9}"/>
              </a:ext>
            </a:extLst>
          </p:cNvPr>
          <p:cNvSpPr/>
          <p:nvPr userDrawn="1"/>
        </p:nvSpPr>
        <p:spPr>
          <a:xfrm>
            <a:off x="0" y="9702763"/>
            <a:ext cx="6871326" cy="203237"/>
          </a:xfrm>
          <a:prstGeom prst="rect">
            <a:avLst/>
          </a:prstGeom>
          <a:solidFill>
            <a:schemeClr val="bg2">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634"/>
          </a:p>
        </p:txBody>
      </p:sp>
      <p:sp>
        <p:nvSpPr>
          <p:cNvPr id="6" name="object 32">
            <a:extLst>
              <a:ext uri="{FF2B5EF4-FFF2-40B4-BE49-F238E27FC236}">
                <a16:creationId xmlns:a16="http://schemas.microsoft.com/office/drawing/2014/main" id="{E8581611-5DC1-3847-106D-146586A85010}"/>
              </a:ext>
            </a:extLst>
          </p:cNvPr>
          <p:cNvSpPr txBox="1">
            <a:spLocks/>
          </p:cNvSpPr>
          <p:nvPr userDrawn="1"/>
        </p:nvSpPr>
        <p:spPr>
          <a:xfrm>
            <a:off x="134350" y="9748537"/>
            <a:ext cx="665629" cy="98418"/>
          </a:xfrm>
          <a:prstGeom prst="rect">
            <a:avLst/>
          </a:prstGeom>
        </p:spPr>
        <p:txBody>
          <a:bodyPr vert="horz" wrap="square" lIns="0" tIns="14408" rIns="0" bIns="0" rtlCol="0">
            <a:spAutoFit/>
          </a:bodyPr>
          <a:lstStyle>
            <a:defPPr>
              <a:defRPr kern="0"/>
            </a:defPPr>
          </a:lstStyle>
          <a:p>
            <a:pPr marL="11527">
              <a:spcBef>
                <a:spcPts val="113"/>
              </a:spcBef>
            </a:pPr>
            <a:r>
              <a:rPr lang="pt-BR" sz="545" b="0" spc="168">
                <a:solidFill>
                  <a:schemeClr val="bg2">
                    <a:lumMod val="75000"/>
                  </a:schemeClr>
                </a:solidFill>
                <a:latin typeface="Versos" panose="020B0503020204030204" pitchFamily="34" charset="0"/>
              </a:rPr>
              <a:t>P</a:t>
            </a:r>
            <a:r>
              <a:rPr lang="pt-BR" sz="545" b="0" spc="5">
                <a:solidFill>
                  <a:schemeClr val="bg2">
                    <a:lumMod val="75000"/>
                  </a:schemeClr>
                </a:solidFill>
                <a:latin typeface="Versos" panose="020B0503020204030204" pitchFamily="34" charset="0"/>
              </a:rPr>
              <a:t> </a:t>
            </a:r>
            <a:r>
              <a:rPr lang="pt-BR" sz="545" b="0" spc="172">
                <a:solidFill>
                  <a:schemeClr val="bg2">
                    <a:lumMod val="75000"/>
                  </a:schemeClr>
                </a:solidFill>
                <a:latin typeface="Versos" panose="020B0503020204030204" pitchFamily="34" charset="0"/>
              </a:rPr>
              <a:t>Ú</a:t>
            </a:r>
            <a:r>
              <a:rPr lang="pt-BR" sz="545" b="0" spc="5">
                <a:solidFill>
                  <a:schemeClr val="bg2">
                    <a:lumMod val="75000"/>
                  </a:schemeClr>
                </a:solidFill>
                <a:latin typeface="Versos" panose="020B0503020204030204" pitchFamily="34" charset="0"/>
              </a:rPr>
              <a:t> </a:t>
            </a:r>
            <a:r>
              <a:rPr lang="pt-BR" sz="545" b="0" spc="168">
                <a:solidFill>
                  <a:schemeClr val="bg2">
                    <a:lumMod val="75000"/>
                  </a:schemeClr>
                </a:solidFill>
                <a:latin typeface="Versos" panose="020B0503020204030204" pitchFamily="34" charset="0"/>
              </a:rPr>
              <a:t>B</a:t>
            </a:r>
            <a:r>
              <a:rPr lang="pt-BR" sz="545" b="0" spc="5">
                <a:solidFill>
                  <a:schemeClr val="bg2">
                    <a:lumMod val="75000"/>
                  </a:schemeClr>
                </a:solidFill>
                <a:latin typeface="Versos" panose="020B0503020204030204" pitchFamily="34" charset="0"/>
              </a:rPr>
              <a:t> </a:t>
            </a:r>
            <a:r>
              <a:rPr lang="pt-BR" sz="545" b="0" spc="168">
                <a:solidFill>
                  <a:schemeClr val="bg2">
                    <a:lumMod val="75000"/>
                  </a:schemeClr>
                </a:solidFill>
                <a:latin typeface="Versos" panose="020B0503020204030204" pitchFamily="34" charset="0"/>
              </a:rPr>
              <a:t>L</a:t>
            </a:r>
            <a:r>
              <a:rPr lang="pt-BR" sz="545" b="0" spc="5">
                <a:solidFill>
                  <a:schemeClr val="bg2">
                    <a:lumMod val="75000"/>
                  </a:schemeClr>
                </a:solidFill>
                <a:latin typeface="Versos" panose="020B0503020204030204" pitchFamily="34" charset="0"/>
              </a:rPr>
              <a:t> </a:t>
            </a:r>
            <a:r>
              <a:rPr lang="pt-BR" sz="545" b="0">
                <a:solidFill>
                  <a:schemeClr val="bg2">
                    <a:lumMod val="75000"/>
                  </a:schemeClr>
                </a:solidFill>
                <a:latin typeface="Versos" panose="020B0503020204030204" pitchFamily="34" charset="0"/>
              </a:rPr>
              <a:t>I</a:t>
            </a:r>
            <a:r>
              <a:rPr lang="pt-BR" sz="545" b="0" spc="154">
                <a:solidFill>
                  <a:schemeClr val="bg2">
                    <a:lumMod val="75000"/>
                  </a:schemeClr>
                </a:solidFill>
                <a:latin typeface="Versos" panose="020B0503020204030204" pitchFamily="34" charset="0"/>
              </a:rPr>
              <a:t> </a:t>
            </a:r>
            <a:r>
              <a:rPr lang="pt-BR" sz="545" b="0">
                <a:solidFill>
                  <a:schemeClr val="bg2">
                    <a:lumMod val="75000"/>
                  </a:schemeClr>
                </a:solidFill>
                <a:latin typeface="Versos" panose="020B0503020204030204" pitchFamily="34" charset="0"/>
              </a:rPr>
              <a:t>C</a:t>
            </a:r>
            <a:r>
              <a:rPr lang="pt-BR" sz="545" b="0" spc="163">
                <a:solidFill>
                  <a:schemeClr val="bg2">
                    <a:lumMod val="75000"/>
                  </a:schemeClr>
                </a:solidFill>
                <a:latin typeface="Versos" panose="020B0503020204030204" pitchFamily="34" charset="0"/>
              </a:rPr>
              <a:t> </a:t>
            </a:r>
            <a:r>
              <a:rPr lang="pt-BR" sz="545" b="0" spc="-45">
                <a:solidFill>
                  <a:schemeClr val="bg2">
                    <a:lumMod val="75000"/>
                  </a:schemeClr>
                </a:solidFill>
                <a:latin typeface="Versos" panose="020B0503020204030204" pitchFamily="34" charset="0"/>
              </a:rPr>
              <a:t>O</a:t>
            </a:r>
          </a:p>
        </p:txBody>
      </p:sp>
    </p:spTree>
    <p:extLst>
      <p:ext uri="{BB962C8B-B14F-4D97-AF65-F5344CB8AC3E}">
        <p14:creationId xmlns:p14="http://schemas.microsoft.com/office/powerpoint/2010/main" val="2880865679"/>
      </p:ext>
    </p:extLst>
  </p:cSld>
  <p:clrMapOvr>
    <a:masterClrMapping/>
  </p:clrMapOvr>
  <p:extLst>
    <p:ext uri="{DCECCB84-F9BA-43D5-87BE-67443E8EF086}">
      <p15:sldGuideLst xmlns:p15="http://schemas.microsoft.com/office/powerpoint/2012/main">
        <p15:guide id="1" orient="horz" pos="147">
          <p15:clr>
            <a:srgbClr val="FBAE40"/>
          </p15:clr>
        </p15:guide>
        <p15:guide id="2" pos="249">
          <p15:clr>
            <a:srgbClr val="FBAE40"/>
          </p15:clr>
        </p15:guide>
        <p15:guide id="3" pos="4513">
          <p15:clr>
            <a:srgbClr val="FBAE40"/>
          </p15:clr>
        </p15:guide>
        <p15:guide id="4" orient="horz" pos="6475">
          <p15:clr>
            <a:srgbClr val="FBAE40"/>
          </p15:clr>
        </p15:guide>
        <p15:guide id="5" orient="horz" pos="465">
          <p15:clr>
            <a:srgbClr val="FBAE40"/>
          </p15:clr>
        </p15:guide>
        <p15:guide id="6" orient="horz" pos="1916">
          <p15:clr>
            <a:srgbClr val="FBAE40"/>
          </p15:clr>
        </p15:guide>
        <p15:guide id="7" orient="horz" pos="6588">
          <p15:clr>
            <a:srgbClr val="FBAE40"/>
          </p15:clr>
        </p15:guide>
        <p15:guide id="8" orient="horz" pos="636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Slide de Título">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40B7DDAD-8C66-FA3E-4B5B-9AB3416CAB6E}"/>
              </a:ext>
            </a:extLst>
          </p:cNvPr>
          <p:cNvSpPr>
            <a:spLocks noGrp="1"/>
          </p:cNvSpPr>
          <p:nvPr>
            <p:ph type="sldNum" sz="quarter" idx="12"/>
          </p:nvPr>
        </p:nvSpPr>
        <p:spPr>
          <a:xfrm>
            <a:off x="6126404"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pic>
        <p:nvPicPr>
          <p:cNvPr id="12" name="Picture 8">
            <a:hlinkClick r:id="rId2"/>
            <a:extLst>
              <a:ext uri="{FF2B5EF4-FFF2-40B4-BE49-F238E27FC236}">
                <a16:creationId xmlns:a16="http://schemas.microsoft.com/office/drawing/2014/main" id="{1FBF88D0-6DD9-ABC3-7BB8-61EAE182C83A}"/>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17" t="-23966" r="-8117" b="-23966"/>
          <a:stretch/>
        </p:blipFill>
        <p:spPr>
          <a:xfrm>
            <a:off x="5688504" y="276002"/>
            <a:ext cx="874432" cy="386733"/>
          </a:xfrm>
          <a:prstGeom prst="rect">
            <a:avLst/>
          </a:prstGeom>
        </p:spPr>
      </p:pic>
      <p:grpSp>
        <p:nvGrpSpPr>
          <p:cNvPr id="29" name="Group 28">
            <a:extLst>
              <a:ext uri="{FF2B5EF4-FFF2-40B4-BE49-F238E27FC236}">
                <a16:creationId xmlns:a16="http://schemas.microsoft.com/office/drawing/2014/main" id="{932C0198-B786-8D89-7D95-A6F0DBD629A9}"/>
              </a:ext>
            </a:extLst>
          </p:cNvPr>
          <p:cNvGrpSpPr/>
          <p:nvPr userDrawn="1"/>
        </p:nvGrpSpPr>
        <p:grpSpPr>
          <a:xfrm>
            <a:off x="358598" y="9526038"/>
            <a:ext cx="6140804" cy="379963"/>
            <a:chOff x="395288" y="10281710"/>
            <a:chExt cx="6769099" cy="410104"/>
          </a:xfrm>
          <a:solidFill>
            <a:schemeClr val="bg1">
              <a:lumMod val="85000"/>
            </a:schemeClr>
          </a:solidFill>
        </p:grpSpPr>
        <p:grpSp>
          <p:nvGrpSpPr>
            <p:cNvPr id="6" name="Group 5">
              <a:extLst>
                <a:ext uri="{FF2B5EF4-FFF2-40B4-BE49-F238E27FC236}">
                  <a16:creationId xmlns:a16="http://schemas.microsoft.com/office/drawing/2014/main" id="{159AE211-453C-73D5-7727-5D1E7BEA9798}"/>
                </a:ext>
              </a:extLst>
            </p:cNvPr>
            <p:cNvGrpSpPr/>
            <p:nvPr userDrawn="1"/>
          </p:nvGrpSpPr>
          <p:grpSpPr>
            <a:xfrm>
              <a:off x="841602" y="10281710"/>
              <a:ext cx="5876471" cy="410103"/>
              <a:chOff x="841602" y="10458450"/>
              <a:chExt cx="5876471" cy="233363"/>
            </a:xfrm>
            <a:grpFill/>
          </p:grpSpPr>
          <p:sp>
            <p:nvSpPr>
              <p:cNvPr id="10" name="Freeform: Shape 9">
                <a:extLst>
                  <a:ext uri="{FF2B5EF4-FFF2-40B4-BE49-F238E27FC236}">
                    <a16:creationId xmlns:a16="http://schemas.microsoft.com/office/drawing/2014/main" id="{9A840376-958D-63DE-D87B-E27DF786221F}"/>
                  </a:ext>
                </a:extLst>
              </p:cNvPr>
              <p:cNvSpPr/>
              <p:nvPr/>
            </p:nvSpPr>
            <p:spPr>
              <a:xfrm>
                <a:off x="841602"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3" name="Freeform: Shape 12">
                <a:extLst>
                  <a:ext uri="{FF2B5EF4-FFF2-40B4-BE49-F238E27FC236}">
                    <a16:creationId xmlns:a16="http://schemas.microsoft.com/office/drawing/2014/main" id="{CB0F33E0-5617-7B2D-6C03-F6E6311CC3ED}"/>
                  </a:ext>
                </a:extLst>
              </p:cNvPr>
              <p:cNvSpPr/>
              <p:nvPr/>
            </p:nvSpPr>
            <p:spPr>
              <a:xfrm>
                <a:off x="1287916"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4" name="Freeform: Shape 13">
                <a:extLst>
                  <a:ext uri="{FF2B5EF4-FFF2-40B4-BE49-F238E27FC236}">
                    <a16:creationId xmlns:a16="http://schemas.microsoft.com/office/drawing/2014/main" id="{EEFAC8E3-5AC8-4875-7096-D6F71FDB9068}"/>
                  </a:ext>
                </a:extLst>
              </p:cNvPr>
              <p:cNvSpPr/>
              <p:nvPr/>
            </p:nvSpPr>
            <p:spPr>
              <a:xfrm>
                <a:off x="1734230"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5" name="Freeform: Shape 14">
                <a:extLst>
                  <a:ext uri="{FF2B5EF4-FFF2-40B4-BE49-F238E27FC236}">
                    <a16:creationId xmlns:a16="http://schemas.microsoft.com/office/drawing/2014/main" id="{98B59689-7EAC-4346-1F74-88489154159D}"/>
                  </a:ext>
                </a:extLst>
              </p:cNvPr>
              <p:cNvSpPr/>
              <p:nvPr/>
            </p:nvSpPr>
            <p:spPr>
              <a:xfrm>
                <a:off x="2180545"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6" name="Freeform: Shape 15">
                <a:extLst>
                  <a:ext uri="{FF2B5EF4-FFF2-40B4-BE49-F238E27FC236}">
                    <a16:creationId xmlns:a16="http://schemas.microsoft.com/office/drawing/2014/main" id="{3D99F3B3-1BD7-85F0-CE7F-5E9079B01865}"/>
                  </a:ext>
                </a:extLst>
              </p:cNvPr>
              <p:cNvSpPr/>
              <p:nvPr/>
            </p:nvSpPr>
            <p:spPr>
              <a:xfrm>
                <a:off x="2626859"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7" name="Freeform: Shape 16">
                <a:extLst>
                  <a:ext uri="{FF2B5EF4-FFF2-40B4-BE49-F238E27FC236}">
                    <a16:creationId xmlns:a16="http://schemas.microsoft.com/office/drawing/2014/main" id="{C9E7556E-CC72-D3EA-74B5-165C89D328B9}"/>
                  </a:ext>
                </a:extLst>
              </p:cNvPr>
              <p:cNvSpPr/>
              <p:nvPr/>
            </p:nvSpPr>
            <p:spPr>
              <a:xfrm>
                <a:off x="3073173"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8" name="Freeform: Shape 17">
                <a:extLst>
                  <a:ext uri="{FF2B5EF4-FFF2-40B4-BE49-F238E27FC236}">
                    <a16:creationId xmlns:a16="http://schemas.microsoft.com/office/drawing/2014/main" id="{0267AC66-BADD-154C-F234-9D71A1A072CE}"/>
                  </a:ext>
                </a:extLst>
              </p:cNvPr>
              <p:cNvSpPr/>
              <p:nvPr/>
            </p:nvSpPr>
            <p:spPr>
              <a:xfrm>
                <a:off x="3519488"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19" name="Freeform: Shape 18">
                <a:extLst>
                  <a:ext uri="{FF2B5EF4-FFF2-40B4-BE49-F238E27FC236}">
                    <a16:creationId xmlns:a16="http://schemas.microsoft.com/office/drawing/2014/main" id="{8F4A0978-39A9-5CA6-220A-8A955161A66E}"/>
                  </a:ext>
                </a:extLst>
              </p:cNvPr>
              <p:cNvSpPr/>
              <p:nvPr/>
            </p:nvSpPr>
            <p:spPr>
              <a:xfrm>
                <a:off x="3965802"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0" name="Freeform: Shape 19">
                <a:extLst>
                  <a:ext uri="{FF2B5EF4-FFF2-40B4-BE49-F238E27FC236}">
                    <a16:creationId xmlns:a16="http://schemas.microsoft.com/office/drawing/2014/main" id="{7E38066A-598B-FA8C-C713-B61F13E6639F}"/>
                  </a:ext>
                </a:extLst>
              </p:cNvPr>
              <p:cNvSpPr/>
              <p:nvPr/>
            </p:nvSpPr>
            <p:spPr>
              <a:xfrm>
                <a:off x="4412116"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1" name="Freeform: Shape 20">
                <a:extLst>
                  <a:ext uri="{FF2B5EF4-FFF2-40B4-BE49-F238E27FC236}">
                    <a16:creationId xmlns:a16="http://schemas.microsoft.com/office/drawing/2014/main" id="{1079F173-771E-DCDD-6DB1-580F69E0502E}"/>
                  </a:ext>
                </a:extLst>
              </p:cNvPr>
              <p:cNvSpPr/>
              <p:nvPr/>
            </p:nvSpPr>
            <p:spPr>
              <a:xfrm>
                <a:off x="4858430"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2" name="Freeform: Shape 21">
                <a:extLst>
                  <a:ext uri="{FF2B5EF4-FFF2-40B4-BE49-F238E27FC236}">
                    <a16:creationId xmlns:a16="http://schemas.microsoft.com/office/drawing/2014/main" id="{B843D605-FF15-6D6B-483D-BCEEDA318171}"/>
                  </a:ext>
                </a:extLst>
              </p:cNvPr>
              <p:cNvSpPr/>
              <p:nvPr/>
            </p:nvSpPr>
            <p:spPr>
              <a:xfrm>
                <a:off x="5304745"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3" name="Freeform: Shape 22">
                <a:extLst>
                  <a:ext uri="{FF2B5EF4-FFF2-40B4-BE49-F238E27FC236}">
                    <a16:creationId xmlns:a16="http://schemas.microsoft.com/office/drawing/2014/main" id="{21A0F1BC-ABEC-AFBD-2A34-A3ACBB140278}"/>
                  </a:ext>
                </a:extLst>
              </p:cNvPr>
              <p:cNvSpPr/>
              <p:nvPr/>
            </p:nvSpPr>
            <p:spPr>
              <a:xfrm>
                <a:off x="5751059"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4" name="Freeform: Shape 23">
                <a:extLst>
                  <a:ext uri="{FF2B5EF4-FFF2-40B4-BE49-F238E27FC236}">
                    <a16:creationId xmlns:a16="http://schemas.microsoft.com/office/drawing/2014/main" id="{9A91B61F-4735-7570-E7A5-61F95B2EF2C5}"/>
                  </a:ext>
                </a:extLst>
              </p:cNvPr>
              <p:cNvSpPr/>
              <p:nvPr/>
            </p:nvSpPr>
            <p:spPr>
              <a:xfrm>
                <a:off x="6197373"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25" name="Freeform: Shape 24">
                <a:extLst>
                  <a:ext uri="{FF2B5EF4-FFF2-40B4-BE49-F238E27FC236}">
                    <a16:creationId xmlns:a16="http://schemas.microsoft.com/office/drawing/2014/main" id="{4FB54AE6-C174-7384-98B7-6864C2417A5E}"/>
                  </a:ext>
                </a:extLst>
              </p:cNvPr>
              <p:cNvSpPr/>
              <p:nvPr/>
            </p:nvSpPr>
            <p:spPr>
              <a:xfrm>
                <a:off x="6643688" y="10458450"/>
                <a:ext cx="74385" cy="233363"/>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grpSp>
        <p:grpSp>
          <p:nvGrpSpPr>
            <p:cNvPr id="7" name="Group 6">
              <a:extLst>
                <a:ext uri="{FF2B5EF4-FFF2-40B4-BE49-F238E27FC236}">
                  <a16:creationId xmlns:a16="http://schemas.microsoft.com/office/drawing/2014/main" id="{E444C20D-BB9A-89C7-188B-5D65BE160CFF}"/>
                </a:ext>
              </a:extLst>
            </p:cNvPr>
            <p:cNvGrpSpPr/>
            <p:nvPr userDrawn="1"/>
          </p:nvGrpSpPr>
          <p:grpSpPr>
            <a:xfrm>
              <a:off x="395288" y="10458450"/>
              <a:ext cx="6769099" cy="233364"/>
              <a:chOff x="395288" y="9912744"/>
              <a:chExt cx="6769099" cy="779070"/>
            </a:xfrm>
            <a:grpFill/>
          </p:grpSpPr>
          <p:sp>
            <p:nvSpPr>
              <p:cNvPr id="8" name="Freeform: Shape 7">
                <a:extLst>
                  <a:ext uri="{FF2B5EF4-FFF2-40B4-BE49-F238E27FC236}">
                    <a16:creationId xmlns:a16="http://schemas.microsoft.com/office/drawing/2014/main" id="{F3FD5774-7D1B-12C5-10ED-0C79EB88A8DA}"/>
                  </a:ext>
                </a:extLst>
              </p:cNvPr>
              <p:cNvSpPr/>
              <p:nvPr userDrawn="1"/>
            </p:nvSpPr>
            <p:spPr>
              <a:xfrm>
                <a:off x="395288" y="9912744"/>
                <a:ext cx="74385" cy="779070"/>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sp>
            <p:nvSpPr>
              <p:cNvPr id="9" name="Freeform: Shape 8">
                <a:extLst>
                  <a:ext uri="{FF2B5EF4-FFF2-40B4-BE49-F238E27FC236}">
                    <a16:creationId xmlns:a16="http://schemas.microsoft.com/office/drawing/2014/main" id="{03ECD5E0-B496-4BE7-0D50-EB6B3F93001F}"/>
                  </a:ext>
                </a:extLst>
              </p:cNvPr>
              <p:cNvSpPr/>
              <p:nvPr userDrawn="1"/>
            </p:nvSpPr>
            <p:spPr>
              <a:xfrm>
                <a:off x="7090002" y="9912744"/>
                <a:ext cx="74385" cy="779070"/>
              </a:xfrm>
              <a:custGeom>
                <a:avLst/>
                <a:gdLst>
                  <a:gd name="connsiteX0" fmla="*/ 0 w 74385"/>
                  <a:gd name="connsiteY0" fmla="*/ 0 h 233363"/>
                  <a:gd name="connsiteX1" fmla="*/ 74386 w 74385"/>
                  <a:gd name="connsiteY1" fmla="*/ 0 h 233363"/>
                  <a:gd name="connsiteX2" fmla="*/ 74386 w 74385"/>
                  <a:gd name="connsiteY2" fmla="*/ 233363 h 233363"/>
                  <a:gd name="connsiteX3" fmla="*/ 0 w 74385"/>
                  <a:gd name="connsiteY3" fmla="*/ 233363 h 233363"/>
                </a:gdLst>
                <a:ahLst/>
                <a:cxnLst>
                  <a:cxn ang="0">
                    <a:pos x="connsiteX0" y="connsiteY0"/>
                  </a:cxn>
                  <a:cxn ang="0">
                    <a:pos x="connsiteX1" y="connsiteY1"/>
                  </a:cxn>
                  <a:cxn ang="0">
                    <a:pos x="connsiteX2" y="connsiteY2"/>
                  </a:cxn>
                  <a:cxn ang="0">
                    <a:pos x="connsiteX3" y="connsiteY3"/>
                  </a:cxn>
                </a:cxnLst>
                <a:rect l="l" t="t" r="r" b="b"/>
                <a:pathLst>
                  <a:path w="74385" h="233363">
                    <a:moveTo>
                      <a:pt x="0" y="0"/>
                    </a:moveTo>
                    <a:lnTo>
                      <a:pt x="74386" y="0"/>
                    </a:lnTo>
                    <a:lnTo>
                      <a:pt x="74386" y="233363"/>
                    </a:lnTo>
                    <a:lnTo>
                      <a:pt x="0" y="233363"/>
                    </a:lnTo>
                    <a:close/>
                  </a:path>
                </a:pathLst>
              </a:custGeom>
              <a:grpFill/>
              <a:ln w="12386" cap="flat">
                <a:noFill/>
                <a:prstDash val="solid"/>
                <a:miter/>
              </a:ln>
            </p:spPr>
            <p:txBody>
              <a:bodyPr rtlCol="0" anchor="ctr"/>
              <a:lstStyle/>
              <a:p>
                <a:endParaRPr lang="pt-BR" sz="1634"/>
              </a:p>
            </p:txBody>
          </p:sp>
        </p:grpSp>
      </p:grpSp>
      <p:sp>
        <p:nvSpPr>
          <p:cNvPr id="26" name="CaixaDeTexto 17">
            <a:extLst>
              <a:ext uri="{FF2B5EF4-FFF2-40B4-BE49-F238E27FC236}">
                <a16:creationId xmlns:a16="http://schemas.microsoft.com/office/drawing/2014/main" id="{69F0D895-79C8-8C7A-0498-52A24A0E8E58}"/>
              </a:ext>
            </a:extLst>
          </p:cNvPr>
          <p:cNvSpPr txBox="1"/>
          <p:nvPr userDrawn="1"/>
        </p:nvSpPr>
        <p:spPr>
          <a:xfrm>
            <a:off x="378078" y="271305"/>
            <a:ext cx="1346752" cy="396124"/>
          </a:xfrm>
          <a:prstGeom prst="rect">
            <a:avLst/>
          </a:prstGeom>
          <a:noFill/>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lgn="ctr"/>
            <a:r>
              <a:rPr lang="pt-BR" sz="726" noProof="0">
                <a:solidFill>
                  <a:schemeClr val="tx1"/>
                </a:solidFill>
                <a:latin typeface="+mn-lt"/>
              </a:rPr>
              <a:t>Maio de 2025 | Carta do Gestor</a:t>
            </a:r>
          </a:p>
        </p:txBody>
      </p:sp>
      <p:sp>
        <p:nvSpPr>
          <p:cNvPr id="28" name="CaixaDeTexto 17">
            <a:extLst>
              <a:ext uri="{FF2B5EF4-FFF2-40B4-BE49-F238E27FC236}">
                <a16:creationId xmlns:a16="http://schemas.microsoft.com/office/drawing/2014/main" id="{26465E75-5E43-4081-FDA5-FE66C8A37BAC}"/>
              </a:ext>
            </a:extLst>
          </p:cNvPr>
          <p:cNvSpPr txBox="1"/>
          <p:nvPr userDrawn="1"/>
        </p:nvSpPr>
        <p:spPr>
          <a:xfrm>
            <a:off x="1810378" y="400929"/>
            <a:ext cx="1045030" cy="136879"/>
          </a:xfrm>
          <a:prstGeom prst="rect">
            <a:avLst/>
          </a:prstGeom>
          <a:noFill/>
          <a:ln>
            <a:solidFill>
              <a:schemeClr val="bg2">
                <a:lumMod val="25000"/>
              </a:schemeClr>
            </a:solidFill>
          </a:ln>
        </p:spPr>
        <p:txBody>
          <a:bodyPr wrap="square" lIns="0" tIns="0" rIns="0" bIns="0" numCol="1" spcCol="612000" anchor="ctr" anchorCtr="0">
            <a:noAutofit/>
          </a:bodyPr>
          <a:lstStyle>
            <a:defPPr>
              <a:defRPr lang="en-US"/>
            </a:defPPr>
            <a:lvl1pPr marR="0" lvl="0" indent="0" fontAlgn="auto">
              <a:lnSpc>
                <a:spcPct val="114000"/>
              </a:lnSpc>
              <a:spcBef>
                <a:spcPts val="300"/>
              </a:spcBef>
              <a:spcAft>
                <a:spcPts val="300"/>
              </a:spcAft>
              <a:buClrTx/>
              <a:buSzTx/>
              <a:buFontTx/>
              <a:buNone/>
              <a:tabLst>
                <a:tab pos="2870200" algn="l"/>
              </a:tabLst>
              <a:defRPr kumimoji="0" sz="1400" b="0" i="0" u="none" strike="noStrike" cap="none" spc="0" normalizeH="0" baseline="0">
                <a:ln>
                  <a:noFill/>
                </a:ln>
                <a:solidFill>
                  <a:srgbClr val="557F97"/>
                </a:solidFill>
                <a:effectLst/>
                <a:uLnTx/>
                <a:uFillTx/>
                <a:latin typeface="Versos"/>
              </a:defRPr>
            </a:lvl1pPr>
          </a:lstStyle>
          <a:p>
            <a:pPr lvl="0" algn="ctr"/>
            <a:r>
              <a:rPr lang="pt-BR" sz="726" b="1" noProof="0">
                <a:solidFill>
                  <a:schemeClr val="tx1"/>
                </a:solidFill>
                <a:latin typeface="+mj-lt"/>
              </a:rPr>
              <a:t>CRÉDITO PRIVADO</a:t>
            </a:r>
          </a:p>
        </p:txBody>
      </p:sp>
    </p:spTree>
    <p:extLst>
      <p:ext uri="{BB962C8B-B14F-4D97-AF65-F5344CB8AC3E}">
        <p14:creationId xmlns:p14="http://schemas.microsoft.com/office/powerpoint/2010/main" val="2225736742"/>
      </p:ext>
    </p:extLst>
  </p:cSld>
  <p:clrMapOvr>
    <a:masterClrMapping/>
  </p:clrMapOvr>
  <p:extLst>
    <p:ext uri="{DCECCB84-F9BA-43D5-87BE-67443E8EF086}">
      <p15:sldGuideLst xmlns:p15="http://schemas.microsoft.com/office/powerpoint/2012/main">
        <p15:guide id="1" orient="horz" pos="147">
          <p15:clr>
            <a:srgbClr val="FBAE40"/>
          </p15:clr>
        </p15:guide>
        <p15:guide id="2" pos="249">
          <p15:clr>
            <a:srgbClr val="FBAE40"/>
          </p15:clr>
        </p15:guide>
        <p15:guide id="3" pos="4513">
          <p15:clr>
            <a:srgbClr val="FBAE40"/>
          </p15:clr>
        </p15:guide>
        <p15:guide id="4" orient="horz" pos="6475">
          <p15:clr>
            <a:srgbClr val="FBAE40"/>
          </p15:clr>
        </p15:guide>
        <p15:guide id="5" orient="horz" pos="601">
          <p15:clr>
            <a:srgbClr val="FBAE40"/>
          </p15:clr>
        </p15:guide>
        <p15:guide id="6" orient="horz" pos="442">
          <p15:clr>
            <a:srgbClr val="FBAE40"/>
          </p15:clr>
        </p15:guide>
        <p15:guide id="7" orient="horz" pos="6588">
          <p15:clr>
            <a:srgbClr val="FBAE40"/>
          </p15:clr>
        </p15:guide>
        <p15:guide id="8" orient="horz" pos="636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Slide de Título">
    <p:bg>
      <p:bgPr>
        <a:solidFill>
          <a:schemeClr val="bg1"/>
        </a:solidFill>
        <a:effectLst/>
      </p:bgPr>
    </p:bg>
    <p:spTree>
      <p:nvGrpSpPr>
        <p:cNvPr id="1" name=""/>
        <p:cNvGrpSpPr/>
        <p:nvPr/>
      </p:nvGrpSpPr>
      <p:grpSpPr>
        <a:xfrm>
          <a:off x="0" y="0"/>
          <a:ext cx="0" cy="0"/>
          <a:chOff x="0" y="0"/>
          <a:chExt cx="0" cy="0"/>
        </a:xfrm>
      </p:grpSpPr>
      <p:sp>
        <p:nvSpPr>
          <p:cNvPr id="13" name="Slide Number Placeholder 5">
            <a:extLst>
              <a:ext uri="{FF2B5EF4-FFF2-40B4-BE49-F238E27FC236}">
                <a16:creationId xmlns:a16="http://schemas.microsoft.com/office/drawing/2014/main" id="{54057D4E-F9E9-554F-9C08-DE8578ACDCC9}"/>
              </a:ext>
            </a:extLst>
          </p:cNvPr>
          <p:cNvSpPr>
            <a:spLocks noGrp="1"/>
          </p:cNvSpPr>
          <p:nvPr>
            <p:ph type="sldNum" sz="quarter" idx="12"/>
          </p:nvPr>
        </p:nvSpPr>
        <p:spPr>
          <a:xfrm>
            <a:off x="6126404"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spTree>
    <p:extLst>
      <p:ext uri="{BB962C8B-B14F-4D97-AF65-F5344CB8AC3E}">
        <p14:creationId xmlns:p14="http://schemas.microsoft.com/office/powerpoint/2010/main" val="705967913"/>
      </p:ext>
    </p:extLst>
  </p:cSld>
  <p:clrMapOvr>
    <a:masterClrMapping/>
  </p:clrMapOvr>
  <p:extLst>
    <p:ext uri="{DCECCB84-F9BA-43D5-87BE-67443E8EF086}">
      <p15:sldGuideLst xmlns:p15="http://schemas.microsoft.com/office/powerpoint/2012/main">
        <p15:guide id="1" orient="horz" pos="578">
          <p15:clr>
            <a:srgbClr val="FBAE40"/>
          </p15:clr>
        </p15:guide>
        <p15:guide id="2" pos="249">
          <p15:clr>
            <a:srgbClr val="FBAE40"/>
          </p15:clr>
        </p15:guide>
        <p15:guide id="3" pos="4513">
          <p15:clr>
            <a:srgbClr val="FBAE40"/>
          </p15:clr>
        </p15:guide>
        <p15:guide id="4" orient="horz" pos="6475">
          <p15:clr>
            <a:srgbClr val="FBAE40"/>
          </p15:clr>
        </p15:guide>
        <p15:guide id="5" orient="horz" pos="737">
          <p15:clr>
            <a:srgbClr val="FBAE40"/>
          </p15:clr>
        </p15:guide>
        <p15:guide id="6" orient="horz" pos="442">
          <p15:clr>
            <a:srgbClr val="FBAE40"/>
          </p15:clr>
        </p15:guide>
        <p15:guide id="7" orient="horz" pos="6589">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Slide de Título">
    <p:bg>
      <p:bgPr>
        <a:solidFill>
          <a:srgbClr val="E6EDF1"/>
        </a:solidFill>
        <a:effectLst/>
      </p:bgPr>
    </p:bg>
    <p:spTree>
      <p:nvGrpSpPr>
        <p:cNvPr id="1" name=""/>
        <p:cNvGrpSpPr/>
        <p:nvPr/>
      </p:nvGrpSpPr>
      <p:grpSpPr>
        <a:xfrm>
          <a:off x="0" y="0"/>
          <a:ext cx="0" cy="0"/>
          <a:chOff x="0" y="0"/>
          <a:chExt cx="0" cy="0"/>
        </a:xfrm>
      </p:grpSpPr>
      <p:pic>
        <p:nvPicPr>
          <p:cNvPr id="3" name="Gráfico 2">
            <a:extLst>
              <a:ext uri="{FF2B5EF4-FFF2-40B4-BE49-F238E27FC236}">
                <a16:creationId xmlns:a16="http://schemas.microsoft.com/office/drawing/2014/main" id="{E65F6C83-CE7F-DB2E-4CD5-028F6591813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11" y="1"/>
            <a:ext cx="6865621" cy="9905999"/>
          </a:xfrm>
          <a:prstGeom prst="rect">
            <a:avLst/>
          </a:prstGeom>
        </p:spPr>
      </p:pic>
      <p:sp>
        <p:nvSpPr>
          <p:cNvPr id="2" name="Slide Number Placeholder 5">
            <a:extLst>
              <a:ext uri="{FF2B5EF4-FFF2-40B4-BE49-F238E27FC236}">
                <a16:creationId xmlns:a16="http://schemas.microsoft.com/office/drawing/2014/main" id="{40B7DDAD-8C66-FA3E-4B5B-9AB3416CAB6E}"/>
              </a:ext>
            </a:extLst>
          </p:cNvPr>
          <p:cNvSpPr>
            <a:spLocks noGrp="1"/>
          </p:cNvSpPr>
          <p:nvPr>
            <p:ph type="sldNum" sz="quarter" idx="12"/>
          </p:nvPr>
        </p:nvSpPr>
        <p:spPr>
          <a:xfrm>
            <a:off x="6191210" y="9526039"/>
            <a:ext cx="372999" cy="142578"/>
          </a:xfrm>
          <a:prstGeom prst="rect">
            <a:avLst/>
          </a:prstGeom>
        </p:spPr>
        <p:txBody>
          <a:bodyPr wrap="square" lIns="0" tIns="0" rIns="0" bIns="0" anchor="ctr">
            <a:spAutoFit/>
          </a:bodyPr>
          <a:lstStyle>
            <a:lvl1pPr algn="r">
              <a:defRPr sz="908"/>
            </a:lvl1pPr>
          </a:lstStyle>
          <a:p>
            <a:fld id="{61A145B2-DE88-4296-A48E-C1DA3784F3C8}" type="slidenum">
              <a:rPr lang="pt-BR" smtClean="0"/>
              <a:pPr/>
              <a:t>‹#›</a:t>
            </a:fld>
            <a:endParaRPr lang="pt-BR"/>
          </a:p>
        </p:txBody>
      </p:sp>
    </p:spTree>
    <p:extLst>
      <p:ext uri="{BB962C8B-B14F-4D97-AF65-F5344CB8AC3E}">
        <p14:creationId xmlns:p14="http://schemas.microsoft.com/office/powerpoint/2010/main" val="2076051620"/>
      </p:ext>
    </p:extLst>
  </p:cSld>
  <p:clrMapOvr>
    <a:masterClrMapping/>
  </p:clrMapOvr>
  <p:extLst>
    <p:ext uri="{DCECCB84-F9BA-43D5-87BE-67443E8EF086}">
      <p15:sldGuideLst xmlns:p15="http://schemas.microsoft.com/office/powerpoint/2012/main">
        <p15:guide id="1" orient="horz" pos="396">
          <p15:clr>
            <a:srgbClr val="FBAE40"/>
          </p15:clr>
        </p15:guide>
        <p15:guide id="2" pos="385">
          <p15:clr>
            <a:srgbClr val="FBAE40"/>
          </p15:clr>
        </p15:guide>
        <p15:guide id="3" pos="4377">
          <p15:clr>
            <a:srgbClr val="FBAE40"/>
          </p15:clr>
        </p15:guide>
        <p15:guide id="4" orient="horz" pos="633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707469A-6CF5-417C-B671-5BFE2B13BB81}" type="datetimeFigureOut">
              <a:rPr lang="pt-BR" smtClean="0"/>
              <a:t>06/10/2026</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7072AA25-0CC7-4508-8FCF-2A8B8A59DF20}" type="slidenum">
              <a:rPr lang="pt-BR" smtClean="0"/>
              <a:t>‹#›</a:t>
            </a:fld>
            <a:endParaRPr lang="pt-BR"/>
          </a:p>
        </p:txBody>
      </p:sp>
    </p:spTree>
    <p:extLst>
      <p:ext uri="{BB962C8B-B14F-4D97-AF65-F5344CB8AC3E}">
        <p14:creationId xmlns:p14="http://schemas.microsoft.com/office/powerpoint/2010/main" val="1617426284"/>
      </p:ext>
    </p:extLst>
  </p:cSld>
  <p:clrMapOvr>
    <a:masterClrMapping/>
  </p:clrMapOvr>
  <p:extLst>
    <p:ext uri="{DCECCB84-F9BA-43D5-87BE-67443E8EF086}">
      <p15:sldGuideLst xmlns:p15="http://schemas.microsoft.com/office/powerpoint/2012/main">
        <p15:guide id="1" orient="horz" pos="3120">
          <p15:clr>
            <a:srgbClr val="FBAE40"/>
          </p15:clr>
        </p15:guide>
        <p15:guide id="2"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55CCA2B0-0678-9CA0-9BDB-5D8FB71C2E5B}"/>
              </a:ext>
            </a:extLst>
          </p:cNvPr>
          <p:cNvCxnSpPr>
            <a:cxnSpLocks/>
          </p:cNvCxnSpPr>
          <p:nvPr userDrawn="1"/>
        </p:nvCxnSpPr>
        <p:spPr>
          <a:xfrm>
            <a:off x="449179" y="9403733"/>
            <a:ext cx="483294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927B195-F8BF-ACCE-FE1B-C8ACAA05773B}"/>
              </a:ext>
            </a:extLst>
          </p:cNvPr>
          <p:cNvCxnSpPr>
            <a:cxnSpLocks/>
          </p:cNvCxnSpPr>
          <p:nvPr userDrawn="1"/>
        </p:nvCxnSpPr>
        <p:spPr>
          <a:xfrm>
            <a:off x="4146115" y="496111"/>
            <a:ext cx="227056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22" name="Picture 8">
            <a:extLst>
              <a:ext uri="{FF2B5EF4-FFF2-40B4-BE49-F238E27FC236}">
                <a16:creationId xmlns:a16="http://schemas.microsoft.com/office/drawing/2014/main" id="{6EDB3EA2-02BD-2EFD-A067-7CFADE157049}"/>
              </a:ext>
            </a:extLst>
          </p:cNvPr>
          <p:cNvPicPr>
            <a:picLocks noChangeAspect="1"/>
          </p:cNvPicPr>
          <p:nvPr userDrawn="1"/>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8117" t="-23966" r="-8117" b="-23966"/>
          <a:stretch/>
        </p:blipFill>
        <p:spPr>
          <a:xfrm>
            <a:off x="5501418" y="9189849"/>
            <a:ext cx="987820" cy="427768"/>
          </a:xfrm>
          <a:prstGeom prst="rect">
            <a:avLst/>
          </a:prstGeom>
        </p:spPr>
      </p:pic>
      <p:pic>
        <p:nvPicPr>
          <p:cNvPr id="6" name="Graphic 5">
            <a:extLst>
              <a:ext uri="{FF2B5EF4-FFF2-40B4-BE49-F238E27FC236}">
                <a16:creationId xmlns:a16="http://schemas.microsoft.com/office/drawing/2014/main" id="{C14853A4-29DB-31FE-22B2-0129D83229D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49179" y="247190"/>
            <a:ext cx="3501773" cy="497842"/>
          </a:xfrm>
          <a:prstGeom prst="rect">
            <a:avLst/>
          </a:prstGeom>
        </p:spPr>
      </p:pic>
    </p:spTree>
    <p:extLst>
      <p:ext uri="{BB962C8B-B14F-4D97-AF65-F5344CB8AC3E}">
        <p14:creationId xmlns:p14="http://schemas.microsoft.com/office/powerpoint/2010/main" val="186816040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5707469A-6CF5-417C-B671-5BFE2B13BB81}" type="datetimeFigureOut">
              <a:rPr lang="pt-BR" smtClean="0"/>
              <a:t>06/10/2026</a:t>
            </a:fld>
            <a:endParaRPr lang="pt-BR"/>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pt-BR"/>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7072AA25-0CC7-4508-8FCF-2A8B8A59DF20}" type="slidenum">
              <a:rPr lang="pt-BR" smtClean="0"/>
              <a:t>‹#›</a:t>
            </a:fld>
            <a:endParaRPr lang="pt-BR"/>
          </a:p>
        </p:txBody>
      </p:sp>
    </p:spTree>
    <p:extLst>
      <p:ext uri="{BB962C8B-B14F-4D97-AF65-F5344CB8AC3E}">
        <p14:creationId xmlns:p14="http://schemas.microsoft.com/office/powerpoint/2010/main" val="235675894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647433" y="2083515"/>
            <a:ext cx="1563132" cy="700192"/>
          </a:xfrm>
          <a:prstGeom prst="rect">
            <a:avLst/>
          </a:prstGeom>
        </p:spPr>
        <p:txBody>
          <a:bodyPr wrap="square" lIns="0" tIns="0" rIns="0" bIns="0">
            <a:spAutoFit/>
          </a:bodyPr>
          <a:lstStyle>
            <a:lvl1pPr>
              <a:defRPr sz="4550" b="1" i="0">
                <a:solidFill>
                  <a:srgbClr val="1E271F"/>
                </a:solidFill>
                <a:latin typeface="Versos"/>
                <a:cs typeface="Versos"/>
              </a:defRPr>
            </a:lvl1pPr>
          </a:lstStyle>
          <a:p>
            <a:endParaRPr/>
          </a:p>
        </p:txBody>
      </p:sp>
      <p:sp>
        <p:nvSpPr>
          <p:cNvPr id="3" name="Holder 3"/>
          <p:cNvSpPr>
            <a:spLocks noGrp="1"/>
          </p:cNvSpPr>
          <p:nvPr>
            <p:ph type="body" idx="1"/>
          </p:nvPr>
        </p:nvSpPr>
        <p:spPr>
          <a:xfrm>
            <a:off x="342900" y="2278381"/>
            <a:ext cx="61722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331720" y="9212580"/>
            <a:ext cx="219456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9212580"/>
            <a:ext cx="157734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10/6/2026</a:t>
            </a:fld>
            <a:endParaRPr lang="en-US"/>
          </a:p>
        </p:txBody>
      </p:sp>
      <p:sp>
        <p:nvSpPr>
          <p:cNvPr id="6" name="Holder 6"/>
          <p:cNvSpPr>
            <a:spLocks noGrp="1"/>
          </p:cNvSpPr>
          <p:nvPr>
            <p:ph type="sldNum" sz="quarter" idx="7"/>
          </p:nvPr>
        </p:nvSpPr>
        <p:spPr>
          <a:xfrm>
            <a:off x="4937761" y="9212580"/>
            <a:ext cx="157734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9719604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Lst>
  <p:txStyles>
    <p:titleStyle>
      <a:lvl1pPr>
        <a:defRPr>
          <a:latin typeface="+mj-lt"/>
          <a:ea typeface="+mj-ea"/>
          <a:cs typeface="+mj-cs"/>
        </a:defRPr>
      </a:lvl1pPr>
    </p:titleStyle>
    <p:bodyStyle>
      <a:lvl1pPr marL="0">
        <a:defRPr>
          <a:latin typeface="+mn-lt"/>
          <a:ea typeface="+mn-ea"/>
          <a:cs typeface="+mn-cs"/>
        </a:defRPr>
      </a:lvl1pPr>
      <a:lvl2pPr marL="155951">
        <a:defRPr>
          <a:latin typeface="+mn-lt"/>
          <a:ea typeface="+mn-ea"/>
          <a:cs typeface="+mn-cs"/>
        </a:defRPr>
      </a:lvl2pPr>
      <a:lvl3pPr marL="311902">
        <a:defRPr>
          <a:latin typeface="+mn-lt"/>
          <a:ea typeface="+mn-ea"/>
          <a:cs typeface="+mn-cs"/>
        </a:defRPr>
      </a:lvl3pPr>
      <a:lvl4pPr marL="467853">
        <a:defRPr>
          <a:latin typeface="+mn-lt"/>
          <a:ea typeface="+mn-ea"/>
          <a:cs typeface="+mn-cs"/>
        </a:defRPr>
      </a:lvl4pPr>
      <a:lvl5pPr marL="623804">
        <a:defRPr>
          <a:latin typeface="+mn-lt"/>
          <a:ea typeface="+mn-ea"/>
          <a:cs typeface="+mn-cs"/>
        </a:defRPr>
      </a:lvl5pPr>
      <a:lvl6pPr marL="779754">
        <a:defRPr>
          <a:latin typeface="+mn-lt"/>
          <a:ea typeface="+mn-ea"/>
          <a:cs typeface="+mn-cs"/>
        </a:defRPr>
      </a:lvl6pPr>
      <a:lvl7pPr marL="935705">
        <a:defRPr>
          <a:latin typeface="+mn-lt"/>
          <a:ea typeface="+mn-ea"/>
          <a:cs typeface="+mn-cs"/>
        </a:defRPr>
      </a:lvl7pPr>
      <a:lvl8pPr marL="1091657">
        <a:defRPr>
          <a:latin typeface="+mn-lt"/>
          <a:ea typeface="+mn-ea"/>
          <a:cs typeface="+mn-cs"/>
        </a:defRPr>
      </a:lvl8pPr>
      <a:lvl9pPr marL="1247608">
        <a:defRPr>
          <a:latin typeface="+mn-lt"/>
          <a:ea typeface="+mn-ea"/>
          <a:cs typeface="+mn-cs"/>
        </a:defRPr>
      </a:lvl9pPr>
    </p:bodyStyle>
    <p:otherStyle>
      <a:lvl1pPr marL="0">
        <a:defRPr>
          <a:latin typeface="+mn-lt"/>
          <a:ea typeface="+mn-ea"/>
          <a:cs typeface="+mn-cs"/>
        </a:defRPr>
      </a:lvl1pPr>
      <a:lvl2pPr marL="155951">
        <a:defRPr>
          <a:latin typeface="+mn-lt"/>
          <a:ea typeface="+mn-ea"/>
          <a:cs typeface="+mn-cs"/>
        </a:defRPr>
      </a:lvl2pPr>
      <a:lvl3pPr marL="311902">
        <a:defRPr>
          <a:latin typeface="+mn-lt"/>
          <a:ea typeface="+mn-ea"/>
          <a:cs typeface="+mn-cs"/>
        </a:defRPr>
      </a:lvl3pPr>
      <a:lvl4pPr marL="467853">
        <a:defRPr>
          <a:latin typeface="+mn-lt"/>
          <a:ea typeface="+mn-ea"/>
          <a:cs typeface="+mn-cs"/>
        </a:defRPr>
      </a:lvl4pPr>
      <a:lvl5pPr marL="623804">
        <a:defRPr>
          <a:latin typeface="+mn-lt"/>
          <a:ea typeface="+mn-ea"/>
          <a:cs typeface="+mn-cs"/>
        </a:defRPr>
      </a:lvl5pPr>
      <a:lvl6pPr marL="779754">
        <a:defRPr>
          <a:latin typeface="+mn-lt"/>
          <a:ea typeface="+mn-ea"/>
          <a:cs typeface="+mn-cs"/>
        </a:defRPr>
      </a:lvl6pPr>
      <a:lvl7pPr marL="935705">
        <a:defRPr>
          <a:latin typeface="+mn-lt"/>
          <a:ea typeface="+mn-ea"/>
          <a:cs typeface="+mn-cs"/>
        </a:defRPr>
      </a:lvl7pPr>
      <a:lvl8pPr marL="1091657">
        <a:defRPr>
          <a:latin typeface="+mn-lt"/>
          <a:ea typeface="+mn-ea"/>
          <a:cs typeface="+mn-cs"/>
        </a:defRPr>
      </a:lvl8pPr>
      <a:lvl9pPr marL="1247608">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680377"/>
      </p:ext>
    </p:extLst>
  </p:cSld>
  <p:clrMap bg1="lt1" tx1="dk1" bg2="lt2" tx2="dk2" accent1="accent1" accent2="accent2" accent3="accent3" accent4="accent4" accent5="accent5" accent6="accent6" hlink="hlink" folHlink="folHlink"/>
  <p:sldLayoutIdLst>
    <p:sldLayoutId id="2147483703" r:id="rId1"/>
    <p:sldLayoutId id="2147483704" r:id="rId2"/>
  </p:sldLayoutIdLst>
  <p:hf hdr="0" ftr="0"/>
  <p:txStyles>
    <p:titleStyle>
      <a:lvl1pPr algn="l" defTabSz="685812"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3" indent="-171453" algn="l" defTabSz="685812"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59" indent="-171453" algn="l" defTabSz="685812"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65" indent="-171453" algn="l" defTabSz="685812" rtl="0" eaLnBrk="1" latinLnBrk="0" hangingPunct="1">
        <a:lnSpc>
          <a:spcPct val="90000"/>
        </a:lnSpc>
        <a:spcBef>
          <a:spcPts val="375"/>
        </a:spcBef>
        <a:buFont typeface="Arial" panose="020B0604020202020204" pitchFamily="34" charset="0"/>
        <a:buChar char="•"/>
        <a:defRPr sz="1499" kern="1200">
          <a:solidFill>
            <a:schemeClr val="tx1"/>
          </a:solidFill>
          <a:latin typeface="+mn-lt"/>
          <a:ea typeface="+mn-ea"/>
          <a:cs typeface="+mn-cs"/>
        </a:defRPr>
      </a:lvl3pPr>
      <a:lvl4pPr marL="1200170"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77"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82"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88"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94"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00"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12" rtl="0" eaLnBrk="1" latinLnBrk="0" hangingPunct="1">
        <a:defRPr sz="1350" kern="1200">
          <a:solidFill>
            <a:schemeClr val="tx1"/>
          </a:solidFill>
          <a:latin typeface="+mn-lt"/>
          <a:ea typeface="+mn-ea"/>
          <a:cs typeface="+mn-cs"/>
        </a:defRPr>
      </a:lvl1pPr>
      <a:lvl2pPr marL="342906" algn="l" defTabSz="685812" rtl="0" eaLnBrk="1" latinLnBrk="0" hangingPunct="1">
        <a:defRPr sz="1350" kern="1200">
          <a:solidFill>
            <a:schemeClr val="tx1"/>
          </a:solidFill>
          <a:latin typeface="+mn-lt"/>
          <a:ea typeface="+mn-ea"/>
          <a:cs typeface="+mn-cs"/>
        </a:defRPr>
      </a:lvl2pPr>
      <a:lvl3pPr marL="685812" algn="l" defTabSz="685812" rtl="0" eaLnBrk="1" latinLnBrk="0" hangingPunct="1">
        <a:defRPr sz="1350" kern="1200">
          <a:solidFill>
            <a:schemeClr val="tx1"/>
          </a:solidFill>
          <a:latin typeface="+mn-lt"/>
          <a:ea typeface="+mn-ea"/>
          <a:cs typeface="+mn-cs"/>
        </a:defRPr>
      </a:lvl3pPr>
      <a:lvl4pPr marL="1028717" algn="l" defTabSz="685812" rtl="0" eaLnBrk="1" latinLnBrk="0" hangingPunct="1">
        <a:defRPr sz="1350" kern="1200">
          <a:solidFill>
            <a:schemeClr val="tx1"/>
          </a:solidFill>
          <a:latin typeface="+mn-lt"/>
          <a:ea typeface="+mn-ea"/>
          <a:cs typeface="+mn-cs"/>
        </a:defRPr>
      </a:lvl4pPr>
      <a:lvl5pPr marL="1371623" algn="l" defTabSz="685812" rtl="0" eaLnBrk="1" latinLnBrk="0" hangingPunct="1">
        <a:defRPr sz="1350" kern="1200">
          <a:solidFill>
            <a:schemeClr val="tx1"/>
          </a:solidFill>
          <a:latin typeface="+mn-lt"/>
          <a:ea typeface="+mn-ea"/>
          <a:cs typeface="+mn-cs"/>
        </a:defRPr>
      </a:lvl5pPr>
      <a:lvl6pPr marL="1714529" algn="l" defTabSz="685812" rtl="0" eaLnBrk="1" latinLnBrk="0" hangingPunct="1">
        <a:defRPr sz="1350" kern="1200">
          <a:solidFill>
            <a:schemeClr val="tx1"/>
          </a:solidFill>
          <a:latin typeface="+mn-lt"/>
          <a:ea typeface="+mn-ea"/>
          <a:cs typeface="+mn-cs"/>
        </a:defRPr>
      </a:lvl6pPr>
      <a:lvl7pPr marL="2057435" algn="l" defTabSz="685812" rtl="0" eaLnBrk="1" latinLnBrk="0" hangingPunct="1">
        <a:defRPr sz="1350" kern="1200">
          <a:solidFill>
            <a:schemeClr val="tx1"/>
          </a:solidFill>
          <a:latin typeface="+mn-lt"/>
          <a:ea typeface="+mn-ea"/>
          <a:cs typeface="+mn-cs"/>
        </a:defRPr>
      </a:lvl7pPr>
      <a:lvl8pPr marL="2400342" algn="l" defTabSz="685812" rtl="0" eaLnBrk="1" latinLnBrk="0" hangingPunct="1">
        <a:defRPr sz="1350" kern="1200">
          <a:solidFill>
            <a:schemeClr val="tx1"/>
          </a:solidFill>
          <a:latin typeface="+mn-lt"/>
          <a:ea typeface="+mn-ea"/>
          <a:cs typeface="+mn-cs"/>
        </a:defRPr>
      </a:lvl8pPr>
      <a:lvl9pPr marL="2743247" algn="l" defTabSz="685812"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2">
          <p15:clr>
            <a:srgbClr val="F26B43"/>
          </p15:clr>
        </p15:guide>
        <p15:guide id="3" orient="horz" pos="6735">
          <p15:clr>
            <a:srgbClr val="F26B43"/>
          </p15:clr>
        </p15:guide>
        <p15:guide id="4" pos="476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7627054"/>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Lst>
  <p:hf hdr="0" ftr="0"/>
  <p:txStyles>
    <p:titleStyle>
      <a:lvl1pPr algn="l" defTabSz="685812"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3" indent="-171453" algn="l" defTabSz="685812" rtl="0" eaLnBrk="1" latinLnBrk="0" hangingPunct="1">
        <a:lnSpc>
          <a:spcPct val="90000"/>
        </a:lnSpc>
        <a:spcBef>
          <a:spcPts val="751"/>
        </a:spcBef>
        <a:buFont typeface="Arial" panose="020B0604020202020204" pitchFamily="34" charset="0"/>
        <a:buChar char="•"/>
        <a:defRPr sz="2100" kern="1200">
          <a:solidFill>
            <a:schemeClr val="tx1"/>
          </a:solidFill>
          <a:latin typeface="+mn-lt"/>
          <a:ea typeface="+mn-ea"/>
          <a:cs typeface="+mn-cs"/>
        </a:defRPr>
      </a:lvl1pPr>
      <a:lvl2pPr marL="514359" indent="-171453" algn="l" defTabSz="685812"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65" indent="-171453" algn="l" defTabSz="685812" rtl="0" eaLnBrk="1" latinLnBrk="0" hangingPunct="1">
        <a:lnSpc>
          <a:spcPct val="90000"/>
        </a:lnSpc>
        <a:spcBef>
          <a:spcPts val="375"/>
        </a:spcBef>
        <a:buFont typeface="Arial" panose="020B0604020202020204" pitchFamily="34" charset="0"/>
        <a:buChar char="•"/>
        <a:defRPr sz="1499" kern="1200">
          <a:solidFill>
            <a:schemeClr val="tx1"/>
          </a:solidFill>
          <a:latin typeface="+mn-lt"/>
          <a:ea typeface="+mn-ea"/>
          <a:cs typeface="+mn-cs"/>
        </a:defRPr>
      </a:lvl3pPr>
      <a:lvl4pPr marL="1200170"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77"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82"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88"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94"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700" indent="-171453" algn="l" defTabSz="685812"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12" rtl="0" eaLnBrk="1" latinLnBrk="0" hangingPunct="1">
        <a:defRPr sz="1350" kern="1200">
          <a:solidFill>
            <a:schemeClr val="tx1"/>
          </a:solidFill>
          <a:latin typeface="+mn-lt"/>
          <a:ea typeface="+mn-ea"/>
          <a:cs typeface="+mn-cs"/>
        </a:defRPr>
      </a:lvl1pPr>
      <a:lvl2pPr marL="342906" algn="l" defTabSz="685812" rtl="0" eaLnBrk="1" latinLnBrk="0" hangingPunct="1">
        <a:defRPr sz="1350" kern="1200">
          <a:solidFill>
            <a:schemeClr val="tx1"/>
          </a:solidFill>
          <a:latin typeface="+mn-lt"/>
          <a:ea typeface="+mn-ea"/>
          <a:cs typeface="+mn-cs"/>
        </a:defRPr>
      </a:lvl2pPr>
      <a:lvl3pPr marL="685812" algn="l" defTabSz="685812" rtl="0" eaLnBrk="1" latinLnBrk="0" hangingPunct="1">
        <a:defRPr sz="1350" kern="1200">
          <a:solidFill>
            <a:schemeClr val="tx1"/>
          </a:solidFill>
          <a:latin typeface="+mn-lt"/>
          <a:ea typeface="+mn-ea"/>
          <a:cs typeface="+mn-cs"/>
        </a:defRPr>
      </a:lvl3pPr>
      <a:lvl4pPr marL="1028717" algn="l" defTabSz="685812" rtl="0" eaLnBrk="1" latinLnBrk="0" hangingPunct="1">
        <a:defRPr sz="1350" kern="1200">
          <a:solidFill>
            <a:schemeClr val="tx1"/>
          </a:solidFill>
          <a:latin typeface="+mn-lt"/>
          <a:ea typeface="+mn-ea"/>
          <a:cs typeface="+mn-cs"/>
        </a:defRPr>
      </a:lvl4pPr>
      <a:lvl5pPr marL="1371623" algn="l" defTabSz="685812" rtl="0" eaLnBrk="1" latinLnBrk="0" hangingPunct="1">
        <a:defRPr sz="1350" kern="1200">
          <a:solidFill>
            <a:schemeClr val="tx1"/>
          </a:solidFill>
          <a:latin typeface="+mn-lt"/>
          <a:ea typeface="+mn-ea"/>
          <a:cs typeface="+mn-cs"/>
        </a:defRPr>
      </a:lvl5pPr>
      <a:lvl6pPr marL="1714529" algn="l" defTabSz="685812" rtl="0" eaLnBrk="1" latinLnBrk="0" hangingPunct="1">
        <a:defRPr sz="1350" kern="1200">
          <a:solidFill>
            <a:schemeClr val="tx1"/>
          </a:solidFill>
          <a:latin typeface="+mn-lt"/>
          <a:ea typeface="+mn-ea"/>
          <a:cs typeface="+mn-cs"/>
        </a:defRPr>
      </a:lvl6pPr>
      <a:lvl7pPr marL="2057435" algn="l" defTabSz="685812" rtl="0" eaLnBrk="1" latinLnBrk="0" hangingPunct="1">
        <a:defRPr sz="1350" kern="1200">
          <a:solidFill>
            <a:schemeClr val="tx1"/>
          </a:solidFill>
          <a:latin typeface="+mn-lt"/>
          <a:ea typeface="+mn-ea"/>
          <a:cs typeface="+mn-cs"/>
        </a:defRPr>
      </a:lvl7pPr>
      <a:lvl8pPr marL="2400342" algn="l" defTabSz="685812" rtl="0" eaLnBrk="1" latinLnBrk="0" hangingPunct="1">
        <a:defRPr sz="1350" kern="1200">
          <a:solidFill>
            <a:schemeClr val="tx1"/>
          </a:solidFill>
          <a:latin typeface="+mn-lt"/>
          <a:ea typeface="+mn-ea"/>
          <a:cs typeface="+mn-cs"/>
        </a:defRPr>
      </a:lvl8pPr>
      <a:lvl9pPr marL="2743247" algn="l" defTabSz="685812"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2">
          <p15:clr>
            <a:srgbClr val="F26B43"/>
          </p15:clr>
        </p15:guide>
        <p15:guide id="3" orient="horz" pos="6735">
          <p15:clr>
            <a:srgbClr val="F26B43"/>
          </p15:clr>
        </p15:guide>
        <p15:guide id="4" pos="4762">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5707469A-6CF5-417C-B671-5BFE2B13BB81}" type="datetimeFigureOut">
              <a:rPr lang="pt-BR" smtClean="0"/>
              <a:t>06/10/2026</a:t>
            </a:fld>
            <a:endParaRPr lang="pt-BR"/>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pt-BR"/>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7072AA25-0CC7-4508-8FCF-2A8B8A59DF20}" type="slidenum">
              <a:rPr lang="pt-BR" smtClean="0"/>
              <a:t>‹#›</a:t>
            </a:fld>
            <a:endParaRPr lang="pt-BR"/>
          </a:p>
        </p:txBody>
      </p:sp>
    </p:spTree>
    <p:extLst>
      <p:ext uri="{BB962C8B-B14F-4D97-AF65-F5344CB8AC3E}">
        <p14:creationId xmlns:p14="http://schemas.microsoft.com/office/powerpoint/2010/main" val="2903688235"/>
      </p:ext>
    </p:extLst>
  </p:cSld>
  <p:clrMap bg1="lt1" tx1="dk1" bg2="lt2" tx2="dk2" accent1="accent1" accent2="accent2" accent3="accent3" accent4="accent4" accent5="accent5" accent6="accent6" hlink="hlink" folHlink="folHlink"/>
  <p:sldLayoutIdLst>
    <p:sldLayoutId id="2147483711" r:id="rId1"/>
    <p:sldLayoutId id="2147483712"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2">
          <p15:clr>
            <a:srgbClr val="F26B43"/>
          </p15:clr>
        </p15:guide>
        <p15:guide id="3" pos="4320">
          <p15:clr>
            <a:srgbClr val="F26B43"/>
          </p15:clr>
        </p15:guide>
        <p15:guide id="4" orient="horz" pos="6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svg"/><Relationship Id="rId5" Type="http://schemas.openxmlformats.org/officeDocument/2006/relationships/image" Target="../media/image10.png"/><Relationship Id="rId6"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2.svg"/><Relationship Id="rId3" Type="http://schemas.openxmlformats.org/officeDocument/2006/relationships/image" Target="../media/image1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microsoft.com/office/2007/relationships/hdphoto" Target="../media/hdphoto1.wdp"/><Relationship Id="rId7" Type="http://schemas.openxmlformats.org/officeDocument/2006/relationships/image" Target="../media/image1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20.png"/><Relationship Id="rId4" Type="http://schemas.microsoft.com/office/2007/relationships/hdphoto" Target="../media/hdphoto2.wdp"/><Relationship Id="rId5" Type="http://schemas.openxmlformats.org/officeDocument/2006/relationships/image" Target="../media/image21.png"/><Relationship Id="rId6" Type="http://schemas.openxmlformats.org/officeDocument/2006/relationships/hyperlink" Target="../../../../07_Cr&#233;dito%20Estruturado%20-%20Julho%202025/tivio.com/fundos" TargetMode="External"/><Relationship Id="rId7" Type="http://schemas.openxmlformats.org/officeDocument/2006/relationships/image" Target="../media/image22.svg"/><Relationship Id="rId8" Type="http://schemas.openxmlformats.org/officeDocument/2006/relationships/hyperlink" Target="https://tivio.com/" TargetMode="External"/><Relationship Id="rId9" Type="http://schemas.openxmlformats.org/officeDocument/2006/relationships/image" Target="../media/image23.svg"/><Relationship Id="rId10" Type="http://schemas.openxmlformats.org/officeDocument/2006/relationships/image" Target="../media/image24.png"/><Relationship Id="rId11" Type="http://schemas.openxmlformats.org/officeDocument/2006/relationships/image" Target="../media/image25.png"/><Relationship Id="rId12"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 Id="rId3" Type="http://schemas.openxmlformats.org/officeDocument/2006/relationships/hyperlink" Target="https://tivio.com/" TargetMode="External"/><Relationship Id="rId4" Type="http://schemas.openxmlformats.org/officeDocument/2006/relationships/image" Target="../media/image23.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46" descr="A group of people climbing up a hill&#10;&#10;AI-generated content may be incorrect.">
            <a:extLst>
              <a:ext uri="{FF2B5EF4-FFF2-40B4-BE49-F238E27FC236}">
                <a16:creationId xmlns:a16="http://schemas.microsoft.com/office/drawing/2014/main" id="{3779E578-0018-D9B6-8A8B-BAFF166798E0}"/>
              </a:ext>
            </a:extLst>
          </p:cNvPr>
          <p:cNvPicPr>
            <a:picLocks noChangeAspect="1"/>
          </p:cNvPicPr>
          <p:nvPr/>
        </p:nvPicPr>
        <p:blipFill>
          <a:blip r:embed="rId2" cstate="screen">
            <a:grayscl/>
            <a:extLst>
              <a:ext uri="{28A0092B-C50C-407E-A947-70E740481C1C}">
                <a14:useLocalDpi xmlns:a14="http://schemas.microsoft.com/office/drawing/2010/main"/>
              </a:ext>
            </a:extLst>
          </a:blip>
          <a:srcRect/>
          <a:stretch>
            <a:fillRect/>
          </a:stretch>
        </p:blipFill>
        <p:spPr>
          <a:xfrm flipH="1">
            <a:off x="-1" y="-84530"/>
            <a:ext cx="6857999" cy="10075058"/>
          </a:xfrm>
          <a:prstGeom prst="rect">
            <a:avLst/>
          </a:prstGeom>
        </p:spPr>
      </p:pic>
      <p:pic>
        <p:nvPicPr>
          <p:cNvPr id="19" name="Picture 6" descr="A group of people walking up a snowy mountain&#10;&#10;AI-generated content may be incorrect.">
            <a:extLst>
              <a:ext uri="{FF2B5EF4-FFF2-40B4-BE49-F238E27FC236}">
                <a16:creationId xmlns:a16="http://schemas.microsoft.com/office/drawing/2014/main" id="{A4075AC7-6594-9819-0A7A-B7A3FCC0353D}"/>
              </a:ext>
            </a:extLst>
          </p:cNvPr>
          <p:cNvPicPr>
            <a:picLocks noChangeAspect="1"/>
          </p:cNvPicPr>
          <p:nvPr/>
        </p:nvPicPr>
        <p:blipFill>
          <a:blip r:embed="rId3" cstate="screen">
            <a:grayscl/>
            <a:extLst>
              <a:ext uri="{28A0092B-C50C-407E-A947-70E740481C1C}">
                <a14:useLocalDpi xmlns:a14="http://schemas.microsoft.com/office/drawing/2010/main"/>
              </a:ext>
            </a:extLst>
          </a:blip>
          <a:srcRect/>
          <a:stretch>
            <a:fillRect/>
          </a:stretch>
        </p:blipFill>
        <p:spPr>
          <a:xfrm flipH="1">
            <a:off x="-3" y="4897574"/>
            <a:ext cx="6858000" cy="5029731"/>
          </a:xfrm>
          <a:prstGeom prst="rect">
            <a:avLst/>
          </a:prstGeom>
        </p:spPr>
      </p:pic>
      <p:pic>
        <p:nvPicPr>
          <p:cNvPr id="10" name="Picture 8">
            <a:extLst>
              <a:ext uri="{FF2B5EF4-FFF2-40B4-BE49-F238E27FC236}">
                <a16:creationId xmlns:a16="http://schemas.microsoft.com/office/drawing/2014/main" id="{78FCB047-CDAA-4778-E685-943FE37AB7E9}"/>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17" t="-23966" r="-8117" b="-23966"/>
          <a:stretch/>
        </p:blipFill>
        <p:spPr>
          <a:xfrm>
            <a:off x="4490775" y="390461"/>
            <a:ext cx="1976876" cy="856072"/>
          </a:xfrm>
          <a:prstGeom prst="rect">
            <a:avLst/>
          </a:prstGeom>
        </p:spPr>
      </p:pic>
      <p:sp>
        <p:nvSpPr>
          <p:cNvPr id="15" name="TextBox 14">
            <a:extLst>
              <a:ext uri="{FF2B5EF4-FFF2-40B4-BE49-F238E27FC236}">
                <a16:creationId xmlns:a16="http://schemas.microsoft.com/office/drawing/2014/main" id="{BA44EC30-5FED-E14B-2AAF-49BE63F425EF}"/>
              </a:ext>
            </a:extLst>
          </p:cNvPr>
          <p:cNvSpPr txBox="1"/>
          <p:nvPr/>
        </p:nvSpPr>
        <p:spPr>
          <a:xfrm>
            <a:off x="4490775" y="9485790"/>
            <a:ext cx="1873911" cy="161583"/>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50" i="0" u="none" strike="noStrike" kern="1200" cap="none" spc="0" normalizeH="0" baseline="0" noProof="0">
                <a:ln>
                  <a:noFill/>
                </a:ln>
                <a:effectLst/>
                <a:uLnTx/>
                <a:uFillTx/>
                <a:latin typeface="Versos Light" panose="020B0403020204030204" pitchFamily="34" charset="0"/>
              </a:rPr>
              <a:t>MATERIAL DE USO INTERNO</a:t>
            </a:r>
          </a:p>
        </p:txBody>
      </p:sp>
      <p:sp>
        <p:nvSpPr>
          <p:cNvPr id="14" name="Text Placeholder 14">
            <a:extLst>
              <a:ext uri="{FF2B5EF4-FFF2-40B4-BE49-F238E27FC236}">
                <a16:creationId xmlns:a16="http://schemas.microsoft.com/office/drawing/2014/main" id="{9D6EC1EC-46E4-3987-B4B4-756521D4BB5F}"/>
              </a:ext>
            </a:extLst>
          </p:cNvPr>
          <p:cNvSpPr txBox="1">
            <a:spLocks/>
          </p:cNvSpPr>
          <p:nvPr/>
        </p:nvSpPr>
        <p:spPr>
          <a:xfrm>
            <a:off x="407987" y="6977797"/>
            <a:ext cx="11376025" cy="553998"/>
          </a:xfrm>
          <a:prstGeom prst="rect">
            <a:avLst/>
          </a:prstGeom>
        </p:spPr>
        <p:txBody>
          <a:bodyPr anchor="b" anchorCtr="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r"/>
            <a:r>
              <a:rPr lang="pt-BR" sz="1800" b="1"/>
              <a:t>TIVIO</a:t>
            </a:r>
            <a:br>
              <a:rPr lang="pt-BR" sz="1800"/>
            </a:br>
            <a:r>
              <a:rPr lang="pt-BR" sz="1800"/>
              <a:t>CRÉDITO</a:t>
            </a:r>
          </a:p>
        </p:txBody>
      </p:sp>
      <p:sp>
        <p:nvSpPr>
          <p:cNvPr id="16" name="Freeform: Shape 7">
            <a:extLst>
              <a:ext uri="{FF2B5EF4-FFF2-40B4-BE49-F238E27FC236}">
                <a16:creationId xmlns:a16="http://schemas.microsoft.com/office/drawing/2014/main" id="{D886CC0D-6E7F-F168-BE63-DDDBCCE9DC9C}"/>
              </a:ext>
            </a:extLst>
          </p:cNvPr>
          <p:cNvSpPr/>
          <p:nvPr/>
        </p:nvSpPr>
        <p:spPr>
          <a:xfrm flipV="1">
            <a:off x="-1405047" y="4982545"/>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17" name="Freeform: Shape 8">
            <a:extLst>
              <a:ext uri="{FF2B5EF4-FFF2-40B4-BE49-F238E27FC236}">
                <a16:creationId xmlns:a16="http://schemas.microsoft.com/office/drawing/2014/main" id="{77DE41F8-4FA2-C27B-CAE1-D43C8C0ED5F5}"/>
              </a:ext>
            </a:extLst>
          </p:cNvPr>
          <p:cNvSpPr/>
          <p:nvPr/>
        </p:nvSpPr>
        <p:spPr>
          <a:xfrm flipV="1">
            <a:off x="2999821" y="-544749"/>
            <a:ext cx="9004191" cy="6904718"/>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20" name="object 13">
            <a:extLst>
              <a:ext uri="{FF2B5EF4-FFF2-40B4-BE49-F238E27FC236}">
                <a16:creationId xmlns:a16="http://schemas.microsoft.com/office/drawing/2014/main" id="{F077418F-D124-3B52-79F9-168C93FFE8FA}"/>
              </a:ext>
            </a:extLst>
          </p:cNvPr>
          <p:cNvSpPr txBox="1">
            <a:spLocks/>
          </p:cNvSpPr>
          <p:nvPr/>
        </p:nvSpPr>
        <p:spPr>
          <a:xfrm>
            <a:off x="1024275" y="5521733"/>
            <a:ext cx="2198912" cy="539737"/>
          </a:xfrm>
          <a:prstGeom prst="rect">
            <a:avLst/>
          </a:prstGeom>
        </p:spPr>
        <p:txBody>
          <a:bodyPr vert="horz" wrap="none" lIns="0" tIns="69697" rIns="0" bIns="0" rtlCol="0" anchor="t">
            <a:spAutoFit/>
          </a:bodyPr>
          <a:lstStyle>
            <a:lvl1pPr>
              <a:defRPr sz="4550" b="1" i="0">
                <a:solidFill>
                  <a:srgbClr val="1E271F"/>
                </a:solidFill>
                <a:latin typeface="Versos"/>
                <a:ea typeface="+mj-ea"/>
                <a:cs typeface="Versos"/>
              </a:defRPr>
            </a:lvl1pPr>
          </a:lstStyle>
          <a:p>
            <a:pPr marL="0" marR="0" lvl="0" indent="0" defTabSz="554492" rtl="0" eaLnBrk="1" fontAlgn="auto" latinLnBrk="0" hangingPunct="1">
              <a:lnSpc>
                <a:spcPct val="100000"/>
              </a:lnSpc>
              <a:spcBef>
                <a:spcPts val="0"/>
              </a:spcBef>
              <a:spcAft>
                <a:spcPts val="0"/>
              </a:spcAft>
              <a:buClrTx/>
              <a:buSzTx/>
              <a:buFont typeface="Arial"/>
              <a:buNone/>
              <a:tabLst/>
              <a:defRPr/>
            </a:pPr>
            <a:r>
              <a:rPr kumimoji="0" lang="pt-BR" sz="2000" i="0" u="none" strike="noStrike" kern="0" cap="none" spc="0" normalizeH="0" baseline="0" noProof="0">
                <a:ln>
                  <a:noFill/>
                </a:ln>
                <a:solidFill>
                  <a:schemeClr val="tx1">
                    <a:lumMod val="85000"/>
                    <a:lumOff val="15000"/>
                  </a:schemeClr>
                </a:solidFill>
                <a:effectLst/>
                <a:uLnTx/>
                <a:uFillTx/>
                <a:latin typeface="Versos" panose="020B0503020204030204" pitchFamily="34" charset="0"/>
                <a:sym typeface="Arial"/>
              </a:rPr>
              <a:t>Setembro de 2026</a:t>
            </a:r>
            <a:endParaRPr kumimoji="0" lang="pt-BR" sz="2800" b="0" i="0" u="none" strike="noStrike" kern="0" cap="none" spc="0" normalizeH="0" baseline="0" noProof="0">
              <a:ln>
                <a:noFill/>
              </a:ln>
              <a:solidFill>
                <a:schemeClr val="tx1">
                  <a:lumMod val="85000"/>
                  <a:lumOff val="15000"/>
                </a:schemeClr>
              </a:solidFill>
              <a:effectLst/>
              <a:uLnTx/>
              <a:uFillTx/>
              <a:latin typeface="Versos" panose="020B0503020204030204" pitchFamily="34" charset="0"/>
              <a:cs typeface="Versos-Light"/>
              <a:sym typeface="Arial"/>
            </a:endParaRPr>
          </a:p>
          <a:p>
            <a:pPr marL="0" marR="0" lvl="0" indent="0" defTabSz="554492" rtl="0" eaLnBrk="1" fontAlgn="auto" latinLnBrk="0" hangingPunct="1">
              <a:lnSpc>
                <a:spcPct val="100000"/>
              </a:lnSpc>
              <a:spcBef>
                <a:spcPts val="0"/>
              </a:spcBef>
              <a:spcAft>
                <a:spcPts val="0"/>
              </a:spcAft>
              <a:buClrTx/>
              <a:buSzTx/>
              <a:buFont typeface="Arial"/>
              <a:buNone/>
              <a:tabLst/>
              <a:defRPr/>
            </a:pPr>
            <a:endParaRPr kumimoji="0" lang="pt-BR" sz="1050" b="0" i="0" u="none" strike="noStrike" kern="0" cap="none" spc="0" normalizeH="0" baseline="0" noProof="0">
              <a:ln>
                <a:noFill/>
              </a:ln>
              <a:solidFill>
                <a:schemeClr val="tx1">
                  <a:lumMod val="85000"/>
                  <a:lumOff val="15000"/>
                </a:schemeClr>
              </a:solidFill>
              <a:effectLst/>
              <a:uLnTx/>
              <a:uFillTx/>
              <a:latin typeface="Versos" panose="020B0503020204030204" pitchFamily="34" charset="0"/>
              <a:sym typeface="Arial"/>
            </a:endParaRPr>
          </a:p>
        </p:txBody>
      </p:sp>
      <p:cxnSp>
        <p:nvCxnSpPr>
          <p:cNvPr id="22" name="Conector reto 21">
            <a:extLst>
              <a:ext uri="{FF2B5EF4-FFF2-40B4-BE49-F238E27FC236}">
                <a16:creationId xmlns:a16="http://schemas.microsoft.com/office/drawing/2014/main" id="{E319B5F9-288A-8E77-3C63-D51B3BF689A1}"/>
              </a:ext>
            </a:extLst>
          </p:cNvPr>
          <p:cNvCxnSpPr>
            <a:cxnSpLocks/>
          </p:cNvCxnSpPr>
          <p:nvPr/>
        </p:nvCxnSpPr>
        <p:spPr>
          <a:xfrm>
            <a:off x="912278" y="3165238"/>
            <a:ext cx="3636862"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3" name="Group 3">
            <a:extLst>
              <a:ext uri="{FF2B5EF4-FFF2-40B4-BE49-F238E27FC236}">
                <a16:creationId xmlns:a16="http://schemas.microsoft.com/office/drawing/2014/main" id="{DEE29CA9-7B82-E473-281F-3262E91048EC}"/>
              </a:ext>
            </a:extLst>
          </p:cNvPr>
          <p:cNvGrpSpPr/>
          <p:nvPr/>
        </p:nvGrpSpPr>
        <p:grpSpPr>
          <a:xfrm>
            <a:off x="869147" y="3408873"/>
            <a:ext cx="5369629" cy="1323446"/>
            <a:chOff x="869147" y="2358285"/>
            <a:chExt cx="5369629" cy="1323446"/>
          </a:xfrm>
        </p:grpSpPr>
        <p:pic>
          <p:nvPicPr>
            <p:cNvPr id="24" name="Imagem 23" descr="Logotipo&#10;&#10;O conteúdo gerado por IA pode estar incorreto.">
              <a:extLst>
                <a:ext uri="{FF2B5EF4-FFF2-40B4-BE49-F238E27FC236}">
                  <a16:creationId xmlns:a16="http://schemas.microsoft.com/office/drawing/2014/main" id="{3CD82E75-0004-1DA1-17DB-73AC2C454ACD}"/>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869147" y="2995807"/>
              <a:ext cx="5360203" cy="685924"/>
            </a:xfrm>
            <a:prstGeom prst="rect">
              <a:avLst/>
            </a:prstGeom>
          </p:spPr>
        </p:pic>
        <p:pic>
          <p:nvPicPr>
            <p:cNvPr id="25" name="Imagem 12" descr="Logotipo&#10;&#10;O conteúdo gerado por IA pode estar incorreto.">
              <a:extLst>
                <a:ext uri="{FF2B5EF4-FFF2-40B4-BE49-F238E27FC236}">
                  <a16:creationId xmlns:a16="http://schemas.microsoft.com/office/drawing/2014/main" id="{73CCF9B5-A3CC-04DE-4462-07B1435DD49E}"/>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878573" y="2358285"/>
              <a:ext cx="5360203" cy="703511"/>
            </a:xfrm>
            <a:prstGeom prst="rect">
              <a:avLst/>
            </a:prstGeom>
          </p:spPr>
        </p:pic>
      </p:grpSp>
    </p:spTree>
    <p:extLst>
      <p:ext uri="{BB962C8B-B14F-4D97-AF65-F5344CB8AC3E}">
        <p14:creationId xmlns:p14="http://schemas.microsoft.com/office/powerpoint/2010/main" val="1891738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A809E9-9D3B-4841-DF5E-621103477DF9}"/>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2D8CCAF6-40A6-0F86-CC9E-7D5C2976A740}"/>
              </a:ext>
            </a:extLst>
          </p:cNvPr>
          <p:cNvSpPr txBox="1"/>
          <p:nvPr/>
        </p:nvSpPr>
        <p:spPr>
          <a:xfrm>
            <a:off x="449179"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a:ln>
                  <a:noFill/>
                </a:ln>
                <a:solidFill>
                  <a:srgbClr val="FFFFFF">
                    <a:lumMod val="75000"/>
                  </a:srgbClr>
                </a:solidFill>
                <a:effectLst/>
                <a:uLnTx/>
                <a:uFillTx/>
                <a:latin typeface="Versos Light" panose="020B0403020204030204" pitchFamily="34" charset="0"/>
                <a:ea typeface="+mn-ea"/>
                <a:cs typeface="+mn-cs"/>
              </a:rPr>
              <a:t>MATERIAL DE USO INTERNO</a:t>
            </a:r>
          </a:p>
        </p:txBody>
      </p:sp>
      <p:sp>
        <p:nvSpPr>
          <p:cNvPr id="2" name="CaixaDeTexto 1">
            <a:extLst>
              <a:ext uri="{FF2B5EF4-FFF2-40B4-BE49-F238E27FC236}">
                <a16:creationId xmlns:a16="http://schemas.microsoft.com/office/drawing/2014/main" id="{6439B534-0D82-BA99-4035-BA7A08EB11A6}"/>
              </a:ext>
            </a:extLst>
          </p:cNvPr>
          <p:cNvSpPr txBox="1"/>
          <p:nvPr/>
        </p:nvSpPr>
        <p:spPr>
          <a:xfrm>
            <a:off x="449179" y="1535658"/>
            <a:ext cx="5932571" cy="7486665"/>
          </a:xfrm>
          <a:prstGeom prst="rect">
            <a:avLst/>
          </a:prstGeom>
          <a:noFill/>
        </p:spPr>
        <p:txBody>
          <a:bodyPr wrap="square" lIns="0" tIns="0" rIns="0" bIns="0" anchor="t">
            <a:spAutoFit/>
          </a:bodyPr>
          <a:lstStyle/>
          <a:p>
            <a:r>
              <a:rPr lang="pt-BR" sz="968" b="1"/>
              <a:t>Sobre o Fundo</a:t>
            </a:r>
          </a:p>
          <a:p>
            <a:endParaRPr lang="pt-BR" sz="968"/>
          </a:p>
          <a:p>
            <a:pPr marL="171450" lvl="0" indent="-171450">
              <a:buFont typeface="Arial" panose="020B0604020202020204" pitchFamily="34" charset="0"/>
              <a:buChar char="•"/>
            </a:pPr>
            <a:r>
              <a:rPr lang="pt-BR" sz="968" b="0"/>
              <a:t>O </a:t>
            </a:r>
            <a:r>
              <a:rPr lang="pt-BR" sz="968" b="1"/>
              <a:t>Tivio HYD60</a:t>
            </a:r>
            <a:r>
              <a:rPr lang="pt-BR" sz="968" b="0"/>
              <a:t> combina </a:t>
            </a:r>
            <a:r>
              <a:rPr lang="pt-BR" sz="968" b="1"/>
              <a:t>duas estratégias complementares de geração de alfa</a:t>
            </a:r>
            <a:r>
              <a:rPr lang="pt-BR" sz="968" b="0"/>
              <a:t>, apoiadas na ampla expertise da área de crédito da Tivio Capital.</a:t>
            </a:r>
          </a:p>
          <a:p>
            <a:pPr marL="171450" lvl="0" indent="-171450">
              <a:buFont typeface="Arial" panose="020B0604020202020204" pitchFamily="34" charset="0"/>
              <a:buChar char="•"/>
            </a:pPr>
            <a:r>
              <a:rPr lang="pt-BR" sz="968" b="0"/>
              <a:t>Equilíbrio entre </a:t>
            </a:r>
            <a:r>
              <a:rPr lang="pt-BR" sz="968" b="1"/>
              <a:t>75% em ativos líquidos e 25% em operações estruturadas</a:t>
            </a:r>
            <a:r>
              <a:rPr lang="pt-BR" sz="968" b="0"/>
              <a:t>.</a:t>
            </a:r>
          </a:p>
          <a:p>
            <a:endParaRPr lang="pt-BR" sz="968"/>
          </a:p>
          <a:p>
            <a:r>
              <a:rPr lang="pt-BR" sz="968" b="1"/>
              <a:t>Visão de Mercado | Setembro</a:t>
            </a:r>
          </a:p>
          <a:p>
            <a:endParaRPr lang="pt-BR" sz="968"/>
          </a:p>
          <a:p>
            <a:pPr lvl="0"/>
            <a:r>
              <a:rPr lang="pt-BR" sz="968" b="0"/>
              <a:t>Em setembro, o mercado de crédito apresentou reabertura dos spreads e liquidez reduzida no mercado secundário. Os spreads médios dos títulos corporativos indexados ao CDI avançaram cerca de 5 bps, passando de CDI + 1,23% para CDI + 1,28% ao ano, interrompendo parcialmente o movimento de compressão observado nos últimos meses.</a:t>
            </a:r>
            <a:endParaRPr lang="pt-BR" sz="968"/>
          </a:p>
          <a:p>
            <a:endParaRPr lang="pt-BR" sz="968"/>
          </a:p>
          <a:p>
            <a:pPr lvl="0"/>
            <a:r>
              <a:rPr lang="pt-BR" sz="968" b="0"/>
              <a:t>No mercado secundário, a liquidez permaneceu limitada, especialmente em ativos corporativos, resultando em uma formação de preços mais seletiva. No mercado primário, as emissões bancárias seguiram registrando demanda consistente, embora com menor intensidade em comparação aos meses anteriores. Já o pipeline de emissões corporativas permaneceu restrito, mantendo a oferta de ativos em níveis reduzidos.</a:t>
            </a:r>
            <a:endParaRPr lang="pt-BR" sz="968"/>
          </a:p>
          <a:p>
            <a:endParaRPr lang="pt-BR" sz="968"/>
          </a:p>
          <a:p>
            <a:pPr lvl="0"/>
            <a:r>
              <a:rPr lang="pt-BR" sz="968" b="0"/>
              <a:t>Em relação aos fluxos, os fundos com alocação mínima de 15% em crédito e ao menos 1% em debêntures registraram resgates líquidos próximos de R$ 10 bilhões no período, movimento que contribuiu para a reabertura dos spreads e para uma piora da dinâmica técnica da classe.</a:t>
            </a:r>
            <a:endParaRPr lang="pt-BR" sz="968"/>
          </a:p>
          <a:p>
            <a:endParaRPr lang="pt-BR" sz="968"/>
          </a:p>
          <a:p>
            <a:pPr lvl="0"/>
            <a:r>
              <a:rPr lang="pt-BR" sz="968" b="0"/>
              <a:t>Apesar desse cenário, os fundamentos corporativos permanecem resilientes e os níveis de inadimplência seguem controlados. Sob a ótica da gestão, mantemos uma postura disciplinada e seletiva na alocação dos recursos, buscando capturar oportunidades geradas pela recente abertura dos spreads sem abrir mão da qualidade de crédito das carteiras.</a:t>
            </a:r>
            <a:endParaRPr lang="pt-BR" sz="968"/>
          </a:p>
          <a:p>
            <a:endParaRPr lang="pt-BR" sz="968"/>
          </a:p>
          <a:p>
            <a:pPr lvl="0"/>
            <a:r>
              <a:rPr lang="pt-BR" sz="968" b="0"/>
              <a:t>Nesse cenário, o </a:t>
            </a:r>
            <a:r>
              <a:rPr lang="pt-BR" sz="968" b="1"/>
              <a:t>Tivio HYD60 apresentou rentabilidade de 1,06% no mês (98% do CDI), acumulando 8,73% (109% do CDI) desde o início.</a:t>
            </a:r>
            <a:r>
              <a:rPr lang="pt-BR" sz="968" b="0"/>
              <a:t> A carteira encerrou o mês com carrego de </a:t>
            </a:r>
            <a:r>
              <a:rPr lang="pt-BR" sz="968" b="1"/>
              <a:t>CDI + 1,16%</a:t>
            </a:r>
            <a:r>
              <a:rPr lang="pt-BR" sz="968" b="0"/>
              <a:t> e duration média de </a:t>
            </a:r>
            <a:r>
              <a:rPr lang="pt-BR" sz="968" b="1"/>
              <a:t>1,89 ano</a:t>
            </a:r>
            <a:r>
              <a:rPr lang="pt-BR" sz="968" b="0"/>
              <a:t>.</a:t>
            </a:r>
            <a:endParaRPr lang="pt-BR" sz="968"/>
          </a:p>
          <a:p>
            <a:endParaRPr lang="pt-BR" sz="968"/>
          </a:p>
          <a:p>
            <a:r>
              <a:rPr lang="pt-BR" sz="968" b="1"/>
              <a:t>Destaques da atuação da gestão em setembro</a:t>
            </a:r>
          </a:p>
          <a:p>
            <a:endParaRPr lang="pt-BR" sz="968"/>
          </a:p>
          <a:p>
            <a:pPr marL="171450" lvl="0" indent="-171450">
              <a:buFont typeface="Arial" panose="020B0604020202020204" pitchFamily="34" charset="0"/>
              <a:buChar char="•"/>
            </a:pPr>
            <a:r>
              <a:rPr lang="pt-BR" sz="968" b="0"/>
              <a:t>Na parcela de </a:t>
            </a:r>
            <a:r>
              <a:rPr lang="pt-BR" sz="968" b="1"/>
              <a:t>crédito estruturado</a:t>
            </a:r>
            <a:r>
              <a:rPr lang="pt-BR" sz="968" b="0"/>
              <a:t>, avanço na </a:t>
            </a:r>
            <a:r>
              <a:rPr lang="pt-BR" sz="968" b="1"/>
              <a:t>diversificação da carteira</a:t>
            </a:r>
            <a:r>
              <a:rPr lang="pt-BR" sz="968" b="0"/>
              <a:t>, com a inclusão de novas posições em </a:t>
            </a:r>
            <a:r>
              <a:rPr lang="pt-BR" sz="968" b="1"/>
              <a:t>FIDCs</a:t>
            </a:r>
            <a:r>
              <a:rPr lang="pt-BR" sz="968" b="0"/>
              <a:t>.</a:t>
            </a:r>
          </a:p>
          <a:p>
            <a:pPr marL="171450" lvl="0" indent="-171450">
              <a:buFont typeface="Arial" panose="020B0604020202020204" pitchFamily="34" charset="0"/>
              <a:buChar char="•"/>
            </a:pPr>
            <a:r>
              <a:rPr lang="pt-BR" sz="968" b="0"/>
              <a:t>Destaque para o investimento em um </a:t>
            </a:r>
            <a:r>
              <a:rPr lang="pt-BR" sz="968" b="1"/>
              <a:t>FIDC de antecipação de recebíveis de cartões de crédito</a:t>
            </a:r>
            <a:r>
              <a:rPr lang="pt-BR" sz="968" b="0"/>
              <a:t>, caracterizado por </a:t>
            </a:r>
            <a:r>
              <a:rPr lang="pt-BR" sz="968" b="1"/>
              <a:t>prazo médio reduzido</a:t>
            </a:r>
            <a:r>
              <a:rPr lang="pt-BR" sz="968" b="0"/>
              <a:t>, </a:t>
            </a:r>
            <a:r>
              <a:rPr lang="pt-BR" sz="968" b="1"/>
              <a:t>elevada pulverização da carteira (mais de 125 mil contratos)</a:t>
            </a:r>
            <a:r>
              <a:rPr lang="pt-BR" sz="968" b="0"/>
              <a:t> e </a:t>
            </a:r>
            <a:r>
              <a:rPr lang="pt-BR" sz="968" b="1"/>
              <a:t>baixo valor médio por operação</a:t>
            </a:r>
            <a:r>
              <a:rPr lang="pt-BR" sz="968" b="0"/>
              <a:t>.</a:t>
            </a:r>
          </a:p>
          <a:p>
            <a:pPr marL="171450" lvl="0" indent="-171450">
              <a:buFont typeface="Arial" panose="020B0604020202020204" pitchFamily="34" charset="0"/>
              <a:buChar char="•"/>
            </a:pPr>
            <a:r>
              <a:rPr lang="pt-BR" sz="968" b="0"/>
              <a:t>Os investimentos contam com </a:t>
            </a:r>
            <a:r>
              <a:rPr lang="pt-BR" sz="968" b="1"/>
              <a:t>elevados níveis de subordinação</a:t>
            </a:r>
            <a:r>
              <a:rPr lang="pt-BR" sz="968" b="0"/>
              <a:t> e </a:t>
            </a:r>
            <a:r>
              <a:rPr lang="pt-BR" sz="968" b="1"/>
              <a:t>ampla diversificação</a:t>
            </a:r>
            <a:r>
              <a:rPr lang="pt-BR" sz="968" b="0"/>
              <a:t> em diferentes teses, setores e emissores, contribuindo para a </a:t>
            </a:r>
            <a:r>
              <a:rPr lang="pt-BR" sz="968" b="1"/>
              <a:t>mitigação da concentração de risco</a:t>
            </a:r>
            <a:r>
              <a:rPr lang="pt-BR" sz="968" b="0"/>
              <a:t> e reduzindo a dependência de nomes específicos.</a:t>
            </a:r>
          </a:p>
          <a:p>
            <a:pPr marL="171450" lvl="0" indent="-171450">
              <a:buFont typeface="Arial" panose="020B0604020202020204" pitchFamily="34" charset="0"/>
              <a:buChar char="•"/>
            </a:pPr>
            <a:r>
              <a:rPr lang="pt-BR" sz="968" b="0"/>
              <a:t>Gestão segue </a:t>
            </a:r>
            <a:r>
              <a:rPr lang="pt-BR" sz="968" b="1"/>
              <a:t>acompanhando de perto a evolução dos fundamentos dos emissores</a:t>
            </a:r>
            <a:r>
              <a:rPr lang="pt-BR" sz="968" b="0"/>
              <a:t>, com atenção especial aos indicadores operacionais, à geração de caixa e à preservação de estruturas de capital adequadas.</a:t>
            </a:r>
          </a:p>
          <a:p>
            <a:pPr marL="171450" lvl="0" indent="-171450">
              <a:buFont typeface="Arial" panose="020B0604020202020204" pitchFamily="34" charset="0"/>
              <a:buChar char="•"/>
            </a:pPr>
            <a:r>
              <a:rPr lang="pt-BR" sz="968" b="0"/>
              <a:t>Ambiente técnico para o crédito segue </a:t>
            </a:r>
            <a:r>
              <a:rPr lang="pt-BR" sz="968" b="1"/>
              <a:t>favorável</a:t>
            </a:r>
            <a:r>
              <a:rPr lang="pt-BR" sz="968" b="0"/>
              <a:t>, com forte demanda pela classe, mas os </a:t>
            </a:r>
            <a:r>
              <a:rPr lang="pt-BR" sz="968" b="1"/>
              <a:t>spreads permanecem historicamente comprimidos</a:t>
            </a:r>
            <a:r>
              <a:rPr lang="pt-BR" sz="968" b="0"/>
              <a:t>.</a:t>
            </a:r>
          </a:p>
          <a:p>
            <a:pPr marL="171450" lvl="0" indent="-171450">
              <a:buFont typeface="Arial" panose="020B0604020202020204" pitchFamily="34" charset="0"/>
              <a:buChar char="•"/>
            </a:pPr>
            <a:r>
              <a:rPr lang="pt-BR" sz="968" b="1"/>
              <a:t>Disciplina na alocação</a:t>
            </a:r>
            <a:r>
              <a:rPr lang="pt-BR" sz="968" b="0"/>
              <a:t> dos recursos, priorizando operações com adequada relação entre risco e retorno.</a:t>
            </a:r>
          </a:p>
          <a:p>
            <a:pPr marL="171450" lvl="0" indent="-171450">
              <a:buFont typeface="Arial" panose="020B0604020202020204" pitchFamily="34" charset="0"/>
              <a:buChar char="•"/>
            </a:pPr>
            <a:r>
              <a:rPr lang="pt-BR" sz="968" b="1"/>
              <a:t>Preservação de flexibilidade</a:t>
            </a:r>
            <a:r>
              <a:rPr lang="pt-BR" sz="968" b="0"/>
              <a:t> para capturar oportunidades em eventuais momentos de maior volatilidade do mercado.</a:t>
            </a:r>
          </a:p>
        </p:txBody>
      </p:sp>
      <p:sp>
        <p:nvSpPr>
          <p:cNvPr id="3" name="TextBox 26">
            <a:extLst>
              <a:ext uri="{FF2B5EF4-FFF2-40B4-BE49-F238E27FC236}">
                <a16:creationId xmlns:a16="http://schemas.microsoft.com/office/drawing/2014/main" id="{10C48AD1-4F84-7E67-5F85-7D3CC5DE059F}"/>
              </a:ext>
            </a:extLst>
          </p:cNvPr>
          <p:cNvSpPr txBox="1"/>
          <p:nvPr/>
        </p:nvSpPr>
        <p:spPr>
          <a:xfrm>
            <a:off x="449179" y="1070693"/>
            <a:ext cx="1761701" cy="276999"/>
          </a:xfrm>
          <a:prstGeom prst="rect">
            <a:avLst/>
          </a:prstGeom>
          <a:noFill/>
        </p:spPr>
        <p:txBody>
          <a:bodyPr wrap="non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a:solidFill>
                  <a:srgbClr val="000000"/>
                </a:solidFill>
                <a:latin typeface="Versos"/>
              </a:rPr>
              <a:t>Setembro</a:t>
            </a:r>
            <a:r>
              <a:rPr kumimoji="0" lang="pt-BR" sz="1800" b="0" i="0" u="none" strike="noStrike" kern="1200" cap="none" spc="0" normalizeH="0" baseline="0" noProof="0">
                <a:ln>
                  <a:noFill/>
                </a:ln>
                <a:solidFill>
                  <a:srgbClr val="000000"/>
                </a:solidFill>
                <a:effectLst/>
                <a:uLnTx/>
                <a:uFillTx/>
                <a:latin typeface="Versos"/>
              </a:rPr>
              <a:t> de 2026</a:t>
            </a:r>
          </a:p>
        </p:txBody>
      </p:sp>
    </p:spTree>
    <p:extLst>
      <p:ext uri="{BB962C8B-B14F-4D97-AF65-F5344CB8AC3E}">
        <p14:creationId xmlns:p14="http://schemas.microsoft.com/office/powerpoint/2010/main" val="2493496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A0EA7151-0EB9-C42F-F74E-0920A33F1F96}"/>
            </a:ext>
          </a:extLst>
        </p:cNvPr>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2C04A9AC-4F5C-E545-ABA8-D655142D9A4B}"/>
              </a:ext>
            </a:extLst>
          </p:cNvPr>
          <p:cNvSpPr/>
          <p:nvPr/>
        </p:nvSpPr>
        <p:spPr>
          <a:xfrm>
            <a:off x="156411" y="250255"/>
            <a:ext cx="6545179" cy="9649327"/>
          </a:xfrm>
          <a:prstGeom prst="round2SameRect">
            <a:avLst>
              <a:gd name="adj1" fmla="val 5191"/>
              <a:gd name="adj2"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8" name="TextBox 77">
            <a:extLst>
              <a:ext uri="{FF2B5EF4-FFF2-40B4-BE49-F238E27FC236}">
                <a16:creationId xmlns:a16="http://schemas.microsoft.com/office/drawing/2014/main" id="{BFEA490D-A5D0-5C06-E0F5-3CA37E2DC415}"/>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tx1">
                    <a:lumMod val="85000"/>
                    <a:lumOff val="15000"/>
                  </a:schemeClr>
                </a:solidFill>
                <a:effectLst/>
                <a:uLnTx/>
                <a:uFillTx/>
                <a:latin typeface="Versos Light" panose="020B0403020204030204" pitchFamily="34" charset="0"/>
              </a:rPr>
              <a:t>MATERIAL DE USO INTERNO</a:t>
            </a:r>
          </a:p>
        </p:txBody>
      </p:sp>
      <p:sp>
        <p:nvSpPr>
          <p:cNvPr id="13" name="object 2">
            <a:extLst>
              <a:ext uri="{FF2B5EF4-FFF2-40B4-BE49-F238E27FC236}">
                <a16:creationId xmlns:a16="http://schemas.microsoft.com/office/drawing/2014/main" id="{96CB4027-6C27-54B4-68EB-1547834375AF}"/>
              </a:ext>
            </a:extLst>
          </p:cNvPr>
          <p:cNvSpPr txBox="1"/>
          <p:nvPr/>
        </p:nvSpPr>
        <p:spPr>
          <a:xfrm>
            <a:off x="4404531" y="5474880"/>
            <a:ext cx="1276131" cy="331718"/>
          </a:xfrm>
          <a:prstGeom prst="rect">
            <a:avLst/>
          </a:prstGeom>
        </p:spPr>
        <p:txBody>
          <a:bodyPr vert="horz" wrap="square" lIns="0" tIns="7701" rIns="0" bIns="0" rtlCol="0" anchor="t">
            <a:spAutoFit/>
          </a:bodyPr>
          <a:lstStyle/>
          <a:p>
            <a:pPr marL="0" marR="0" lvl="0" indent="0" algn="l" defTabSz="554492" rtl="0" eaLnBrk="1" fontAlgn="auto" latinLnBrk="0" hangingPunct="1">
              <a:lnSpc>
                <a:spcPct val="100000"/>
              </a:lnSpc>
              <a:spcBef>
                <a:spcPts val="61"/>
              </a:spcBef>
              <a:spcAft>
                <a:spcPts val="0"/>
              </a:spcAft>
              <a:buClrTx/>
              <a:buSzTx/>
              <a:buFont typeface="Arial"/>
              <a:buNone/>
              <a:tabLst/>
              <a:defRPr/>
            </a:pPr>
            <a:r>
              <a:rPr kumimoji="0" lang="pt-BR" sz="1050" b="1" i="0" u="none" strike="noStrike" kern="0" cap="none" spc="0" normalizeH="0" baseline="0" noProof="0">
                <a:ln>
                  <a:noFill/>
                </a:ln>
                <a:effectLst/>
                <a:uLnTx/>
                <a:uFillTx/>
                <a:latin typeface="Versos"/>
                <a:cs typeface="Arial"/>
                <a:sym typeface="Arial"/>
              </a:rPr>
              <a:t>Previdência </a:t>
            </a:r>
          </a:p>
          <a:p>
            <a:pPr marL="0" marR="0" lvl="0" indent="0" algn="l" defTabSz="554492" rtl="0" eaLnBrk="1" fontAlgn="auto" latinLnBrk="0" hangingPunct="1">
              <a:lnSpc>
                <a:spcPct val="100000"/>
              </a:lnSpc>
              <a:spcBef>
                <a:spcPts val="61"/>
              </a:spcBef>
              <a:spcAft>
                <a:spcPts val="0"/>
              </a:spcAft>
              <a:buClrTx/>
              <a:buSzTx/>
              <a:buFont typeface="Arial"/>
              <a:buNone/>
              <a:tabLst/>
              <a:defRPr/>
            </a:pPr>
            <a:r>
              <a:rPr kumimoji="0" lang="pt-BR" sz="1050" b="0" i="0" u="none" strike="noStrike" kern="0" cap="none" spc="0" normalizeH="0" baseline="0" noProof="0">
                <a:ln>
                  <a:noFill/>
                </a:ln>
                <a:effectLst/>
                <a:uLnTx/>
                <a:uFillTx/>
                <a:latin typeface="Versos Light" panose="020B0403020204030204" pitchFamily="34" charset="0"/>
                <a:cs typeface="Arial"/>
                <a:sym typeface="Arial"/>
              </a:rPr>
              <a:t>(VGBL/PGBL)</a:t>
            </a:r>
          </a:p>
        </p:txBody>
      </p:sp>
      <p:sp>
        <p:nvSpPr>
          <p:cNvPr id="14" name="object 3">
            <a:extLst>
              <a:ext uri="{FF2B5EF4-FFF2-40B4-BE49-F238E27FC236}">
                <a16:creationId xmlns:a16="http://schemas.microsoft.com/office/drawing/2014/main" id="{27CDF08A-0365-E438-F181-940104AB71A9}"/>
              </a:ext>
            </a:extLst>
          </p:cNvPr>
          <p:cNvSpPr txBox="1"/>
          <p:nvPr/>
        </p:nvSpPr>
        <p:spPr>
          <a:xfrm>
            <a:off x="3566291" y="6021887"/>
            <a:ext cx="530582" cy="245470"/>
          </a:xfrm>
          <a:prstGeom prst="rect">
            <a:avLst/>
          </a:prstGeom>
        </p:spPr>
        <p:txBody>
          <a:bodyPr vert="horz" wrap="square" lIns="0" tIns="8086" rIns="0" bIns="0" rtlCol="0">
            <a:spAutoFit/>
          </a:bodyPr>
          <a:lstStyle/>
          <a:p>
            <a:pPr marL="7701" marR="0" lvl="0" indent="0" algn="l" defTabSz="554492" rtl="0" eaLnBrk="1" fontAlgn="auto" latinLnBrk="0" hangingPunct="1">
              <a:lnSpc>
                <a:spcPct val="100000"/>
              </a:lnSpc>
              <a:spcBef>
                <a:spcPts val="64"/>
              </a:spcBef>
              <a:spcAft>
                <a:spcPts val="0"/>
              </a:spcAft>
              <a:buClrTx/>
              <a:buSzTx/>
              <a:buFont typeface="Arial"/>
              <a:buNone/>
              <a:tabLst/>
              <a:defRPr/>
            </a:pPr>
            <a:r>
              <a:rPr kumimoji="0" sz="1600" b="1" i="0" u="none" strike="noStrike" kern="0" cap="none" spc="0" normalizeH="0" baseline="0" noProof="0">
                <a:ln>
                  <a:noFill/>
                </a:ln>
                <a:effectLst/>
                <a:uLnTx/>
                <a:uFillTx/>
                <a:latin typeface="Versos" panose="020B0503020204030204" pitchFamily="34" charset="77"/>
                <a:cs typeface="Arial"/>
                <a:sym typeface="Arial"/>
              </a:rPr>
              <a:t>CDI</a:t>
            </a:r>
            <a:endParaRPr kumimoji="0" sz="16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15" name="object 4">
            <a:extLst>
              <a:ext uri="{FF2B5EF4-FFF2-40B4-BE49-F238E27FC236}">
                <a16:creationId xmlns:a16="http://schemas.microsoft.com/office/drawing/2014/main" id="{491B3598-61C2-A482-6B94-F663F8F6F942}"/>
              </a:ext>
            </a:extLst>
          </p:cNvPr>
          <p:cNvSpPr txBox="1"/>
          <p:nvPr/>
        </p:nvSpPr>
        <p:spPr>
          <a:xfrm>
            <a:off x="2690495" y="5514497"/>
            <a:ext cx="1449041" cy="297998"/>
          </a:xfrm>
          <a:prstGeom prst="rect">
            <a:avLst/>
          </a:prstGeom>
        </p:spPr>
        <p:txBody>
          <a:bodyPr vert="horz" wrap="square" lIns="0" tIns="61995" rIns="0" bIns="0" rtlCol="0" anchor="t">
            <a:spAutoFit/>
          </a:bodyPr>
          <a:lstStyle/>
          <a:p>
            <a:pPr marL="0" marR="0" lvl="0" indent="0" algn="l" defTabSz="554492" rtl="0" eaLnBrk="1" fontAlgn="auto" latinLnBrk="0" hangingPunct="1">
              <a:lnSpc>
                <a:spcPct val="100000"/>
              </a:lnSpc>
              <a:spcBef>
                <a:spcPts val="488"/>
              </a:spcBef>
              <a:spcAft>
                <a:spcPts val="0"/>
              </a:spcAft>
              <a:buClrTx/>
              <a:buSzTx/>
              <a:buFont typeface="Arial"/>
              <a:buNone/>
              <a:tabLst/>
              <a:defRPr/>
            </a:pPr>
            <a:r>
              <a:rPr kumimoji="0" sz="1600" b="1" i="0" u="none" strike="noStrike" kern="0" cap="none" spc="0" normalizeH="0" baseline="0" noProof="0">
                <a:ln>
                  <a:noFill/>
                </a:ln>
                <a:effectLst/>
                <a:uLnTx/>
                <a:uFillTx/>
                <a:latin typeface="Versos"/>
                <a:cs typeface="Arial"/>
                <a:sym typeface="Arial"/>
              </a:rPr>
              <a:t>CDI +</a:t>
            </a:r>
            <a:r>
              <a:rPr kumimoji="0" lang="pt-BR" sz="1600" b="1" i="0" u="none" strike="noStrike" kern="0" cap="none" spc="0" normalizeH="0" baseline="0" noProof="0">
                <a:ln>
                  <a:noFill/>
                </a:ln>
                <a:effectLst/>
                <a:uLnTx/>
                <a:uFillTx/>
                <a:latin typeface="Versos"/>
                <a:cs typeface="Arial"/>
                <a:sym typeface="Arial"/>
              </a:rPr>
              <a:t>1,5 % </a:t>
            </a:r>
            <a:r>
              <a:rPr kumimoji="0" lang="pt-BR" sz="1050" b="1" i="0" u="none" strike="noStrike" kern="0" cap="none" spc="0" normalizeH="0" baseline="0" noProof="0">
                <a:ln>
                  <a:noFill/>
                </a:ln>
                <a:effectLst/>
                <a:uLnTx/>
                <a:uFillTx/>
                <a:latin typeface="Versos"/>
                <a:cs typeface="Arial"/>
                <a:sym typeface="Arial"/>
              </a:rPr>
              <a:t>a.a.</a:t>
            </a:r>
            <a:endParaRPr kumimoji="0" sz="1050" b="1" i="0" u="none" strike="noStrike" kern="0" cap="none" spc="0" normalizeH="0" baseline="0" noProof="0">
              <a:ln>
                <a:noFill/>
              </a:ln>
              <a:effectLst/>
              <a:uLnTx/>
              <a:uFillTx/>
              <a:latin typeface="Versos"/>
              <a:cs typeface="Arial"/>
              <a:sym typeface="Arial"/>
            </a:endParaRPr>
          </a:p>
        </p:txBody>
      </p:sp>
      <p:sp>
        <p:nvSpPr>
          <p:cNvPr id="16" name="object 5">
            <a:extLst>
              <a:ext uri="{FF2B5EF4-FFF2-40B4-BE49-F238E27FC236}">
                <a16:creationId xmlns:a16="http://schemas.microsoft.com/office/drawing/2014/main" id="{CAF1D4D2-39D5-9460-3A08-0FCFDD2A8FE3}"/>
              </a:ext>
            </a:extLst>
          </p:cNvPr>
          <p:cNvSpPr txBox="1"/>
          <p:nvPr/>
        </p:nvSpPr>
        <p:spPr>
          <a:xfrm>
            <a:off x="2846649" y="6601014"/>
            <a:ext cx="2973785" cy="363891"/>
          </a:xfrm>
          <a:prstGeom prst="rect">
            <a:avLst/>
          </a:prstGeom>
        </p:spPr>
        <p:txBody>
          <a:bodyPr vert="horz" wrap="square" lIns="0" tIns="7701" rIns="0" bIns="0" rtlCol="0" anchor="t">
            <a:spAutoFit/>
          </a:bodyPr>
          <a:lstStyle/>
          <a:p>
            <a:pPr marL="7620" marR="0" lvl="0" indent="0" algn="l" defTabSz="554492" rtl="0" eaLnBrk="1" fontAlgn="auto" latinLnBrk="0" hangingPunct="1">
              <a:lnSpc>
                <a:spcPct val="100000"/>
              </a:lnSpc>
              <a:spcBef>
                <a:spcPts val="61"/>
              </a:spcBef>
              <a:spcAft>
                <a:spcPts val="0"/>
              </a:spcAft>
              <a:buClrTx/>
              <a:buSzTx/>
              <a:buFont typeface="Arial"/>
              <a:buNone/>
              <a:tabLst/>
              <a:defRPr/>
            </a:pPr>
            <a:r>
              <a:rPr kumimoji="0" sz="2400" b="1" i="0" u="none" strike="noStrike" kern="0" cap="none" spc="0" normalizeH="0" baseline="0" noProof="0">
                <a:ln>
                  <a:noFill/>
                </a:ln>
                <a:effectLst/>
                <a:uLnTx/>
                <a:uFillTx/>
                <a:latin typeface="Versos"/>
                <a:cs typeface="Arial"/>
                <a:sym typeface="Arial"/>
              </a:rPr>
              <a:t>R$ </a:t>
            </a:r>
            <a:r>
              <a:rPr lang="pt-BR" sz="2400" b="1" kern="0" noProof="0">
                <a:latin typeface="Versos"/>
                <a:cs typeface="Arial"/>
                <a:sym typeface="Arial"/>
              </a:rPr>
              <a:t>500</a:t>
            </a:r>
            <a:r>
              <a:rPr kumimoji="0" lang="pt-BR" sz="2400" b="1" i="0" u="none" strike="noStrike" kern="0" cap="none" spc="0" normalizeH="0" baseline="0" noProof="0">
                <a:ln>
                  <a:noFill/>
                </a:ln>
                <a:effectLst/>
                <a:uLnTx/>
                <a:uFillTx/>
                <a:latin typeface="Versos"/>
                <a:cs typeface="Arial"/>
                <a:sym typeface="Arial"/>
              </a:rPr>
              <a:t> milhões</a:t>
            </a:r>
            <a:endParaRPr lang="pt-BR" sz="2400" b="0" i="0" u="none" strike="noStrike" kern="0" cap="none" spc="0" normalizeH="0" baseline="0" noProof="0">
              <a:ln>
                <a:noFill/>
              </a:ln>
              <a:effectLst/>
              <a:uLnTx/>
              <a:uFillTx/>
              <a:latin typeface="Versos"/>
              <a:cs typeface="Arial"/>
            </a:endParaRPr>
          </a:p>
        </p:txBody>
      </p:sp>
      <p:sp>
        <p:nvSpPr>
          <p:cNvPr id="31" name="object 16">
            <a:extLst>
              <a:ext uri="{FF2B5EF4-FFF2-40B4-BE49-F238E27FC236}">
                <a16:creationId xmlns:a16="http://schemas.microsoft.com/office/drawing/2014/main" id="{E8B2D0C2-7B71-1BD3-1D91-7E5954DD4B08}"/>
              </a:ext>
            </a:extLst>
          </p:cNvPr>
          <p:cNvSpPr/>
          <p:nvPr/>
        </p:nvSpPr>
        <p:spPr>
          <a:xfrm>
            <a:off x="679712" y="3495893"/>
            <a:ext cx="2415960" cy="1277639"/>
          </a:xfrm>
          <a:prstGeom prst="roundRect">
            <a:avLst>
              <a:gd name="adj" fmla="val 5178"/>
            </a:avLst>
          </a:prstGeom>
          <a:solidFill>
            <a:schemeClr val="bg1">
              <a:lumMod val="8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32" name="object 17">
            <a:extLst>
              <a:ext uri="{FF2B5EF4-FFF2-40B4-BE49-F238E27FC236}">
                <a16:creationId xmlns:a16="http://schemas.microsoft.com/office/drawing/2014/main" id="{AEA0B037-3AE7-50ED-062D-56040AC2424C}"/>
              </a:ext>
            </a:extLst>
          </p:cNvPr>
          <p:cNvSpPr/>
          <p:nvPr/>
        </p:nvSpPr>
        <p:spPr>
          <a:xfrm>
            <a:off x="4740553" y="3495893"/>
            <a:ext cx="1435028" cy="1277639"/>
          </a:xfrm>
          <a:prstGeom prst="roundRect">
            <a:avLst>
              <a:gd name="adj" fmla="val 5179"/>
            </a:avLst>
          </a:prstGeom>
          <a:solidFill>
            <a:schemeClr val="bg1">
              <a:lumMod val="8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34" name="object 18">
            <a:extLst>
              <a:ext uri="{FF2B5EF4-FFF2-40B4-BE49-F238E27FC236}">
                <a16:creationId xmlns:a16="http://schemas.microsoft.com/office/drawing/2014/main" id="{C757F6AE-3BB8-0607-E39F-5F0C9C1BC212}"/>
              </a:ext>
            </a:extLst>
          </p:cNvPr>
          <p:cNvSpPr/>
          <p:nvPr/>
        </p:nvSpPr>
        <p:spPr>
          <a:xfrm>
            <a:off x="3166858" y="3495893"/>
            <a:ext cx="1472901" cy="1277639"/>
          </a:xfrm>
          <a:prstGeom prst="roundRect">
            <a:avLst>
              <a:gd name="adj" fmla="val 4460"/>
            </a:avLst>
          </a:prstGeom>
          <a:solidFill>
            <a:schemeClr val="bg1">
              <a:lumMod val="85000"/>
            </a:schemeClr>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35" name="object 19">
            <a:extLst>
              <a:ext uri="{FF2B5EF4-FFF2-40B4-BE49-F238E27FC236}">
                <a16:creationId xmlns:a16="http://schemas.microsoft.com/office/drawing/2014/main" id="{95C12918-8415-8FF4-0BD0-741040DC8194}"/>
              </a:ext>
            </a:extLst>
          </p:cNvPr>
          <p:cNvSpPr/>
          <p:nvPr/>
        </p:nvSpPr>
        <p:spPr>
          <a:xfrm>
            <a:off x="2639282" y="5954455"/>
            <a:ext cx="1561887" cy="419451"/>
          </a:xfrm>
          <a:prstGeom prst="roundRect">
            <a:avLst>
              <a:gd name="adj" fmla="val 5731"/>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36" name="object 20">
            <a:extLst>
              <a:ext uri="{FF2B5EF4-FFF2-40B4-BE49-F238E27FC236}">
                <a16:creationId xmlns:a16="http://schemas.microsoft.com/office/drawing/2014/main" id="{0309F62C-4742-E358-1952-9DCA6D36D4C0}"/>
              </a:ext>
            </a:extLst>
          </p:cNvPr>
          <p:cNvSpPr/>
          <p:nvPr/>
        </p:nvSpPr>
        <p:spPr>
          <a:xfrm>
            <a:off x="4281371" y="5099144"/>
            <a:ext cx="1884394" cy="1274927"/>
          </a:xfrm>
          <a:prstGeom prst="roundRect">
            <a:avLst>
              <a:gd name="adj" fmla="val 5874"/>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44" name="object 21">
            <a:extLst>
              <a:ext uri="{FF2B5EF4-FFF2-40B4-BE49-F238E27FC236}">
                <a16:creationId xmlns:a16="http://schemas.microsoft.com/office/drawing/2014/main" id="{A93A7E0A-E9AE-B88A-E5FE-01A45F2789BC}"/>
              </a:ext>
            </a:extLst>
          </p:cNvPr>
          <p:cNvSpPr/>
          <p:nvPr/>
        </p:nvSpPr>
        <p:spPr>
          <a:xfrm>
            <a:off x="2637138" y="5096415"/>
            <a:ext cx="1547932" cy="801538"/>
          </a:xfrm>
          <a:prstGeom prst="roundRect">
            <a:avLst>
              <a:gd name="adj" fmla="val 6366"/>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45" name="object 22">
            <a:extLst>
              <a:ext uri="{FF2B5EF4-FFF2-40B4-BE49-F238E27FC236}">
                <a16:creationId xmlns:a16="http://schemas.microsoft.com/office/drawing/2014/main" id="{350806B2-524C-479D-0C20-1C2EDBB78D01}"/>
              </a:ext>
            </a:extLst>
          </p:cNvPr>
          <p:cNvSpPr/>
          <p:nvPr/>
        </p:nvSpPr>
        <p:spPr>
          <a:xfrm>
            <a:off x="679713" y="5096416"/>
            <a:ext cx="1836607" cy="1277639"/>
          </a:xfrm>
          <a:prstGeom prst="roundRect">
            <a:avLst>
              <a:gd name="adj" fmla="val 5897"/>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46" name="object 23">
            <a:extLst>
              <a:ext uri="{FF2B5EF4-FFF2-40B4-BE49-F238E27FC236}">
                <a16:creationId xmlns:a16="http://schemas.microsoft.com/office/drawing/2014/main" id="{DFFEF7BD-DB86-9DC4-4664-469CFB7E3506}"/>
              </a:ext>
            </a:extLst>
          </p:cNvPr>
          <p:cNvSpPr/>
          <p:nvPr/>
        </p:nvSpPr>
        <p:spPr>
          <a:xfrm>
            <a:off x="2935825" y="7221271"/>
            <a:ext cx="2502490" cy="1277639"/>
          </a:xfrm>
          <a:prstGeom prst="roundRect">
            <a:avLst>
              <a:gd name="adj" fmla="val 6615"/>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47" name="object 24">
            <a:extLst>
              <a:ext uri="{FF2B5EF4-FFF2-40B4-BE49-F238E27FC236}">
                <a16:creationId xmlns:a16="http://schemas.microsoft.com/office/drawing/2014/main" id="{F81B7476-D21C-B3B5-00D9-9C97A3940BFB}"/>
              </a:ext>
            </a:extLst>
          </p:cNvPr>
          <p:cNvSpPr/>
          <p:nvPr/>
        </p:nvSpPr>
        <p:spPr>
          <a:xfrm>
            <a:off x="679713" y="7221271"/>
            <a:ext cx="2150592" cy="1277639"/>
          </a:xfrm>
          <a:prstGeom prst="roundRect">
            <a:avLst>
              <a:gd name="adj" fmla="val 9487"/>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48" name="object 25">
            <a:extLst>
              <a:ext uri="{FF2B5EF4-FFF2-40B4-BE49-F238E27FC236}">
                <a16:creationId xmlns:a16="http://schemas.microsoft.com/office/drawing/2014/main" id="{136A6E4F-9D64-EE18-C747-FB847C683AF0}"/>
              </a:ext>
            </a:extLst>
          </p:cNvPr>
          <p:cNvSpPr/>
          <p:nvPr/>
        </p:nvSpPr>
        <p:spPr>
          <a:xfrm>
            <a:off x="679711" y="6500098"/>
            <a:ext cx="4758603" cy="577650"/>
          </a:xfrm>
          <a:prstGeom prst="roundRect">
            <a:avLst>
              <a:gd name="adj" fmla="val 11903"/>
            </a:avLst>
          </a:pr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grpSp>
        <p:nvGrpSpPr>
          <p:cNvPr id="49" name="object 26">
            <a:extLst>
              <a:ext uri="{FF2B5EF4-FFF2-40B4-BE49-F238E27FC236}">
                <a16:creationId xmlns:a16="http://schemas.microsoft.com/office/drawing/2014/main" id="{DD8E4CE8-9CC4-C928-DF26-C4807DE6A8A6}"/>
              </a:ext>
            </a:extLst>
          </p:cNvPr>
          <p:cNvGrpSpPr/>
          <p:nvPr/>
        </p:nvGrpSpPr>
        <p:grpSpPr>
          <a:xfrm>
            <a:off x="5610447" y="7221271"/>
            <a:ext cx="542996" cy="1277638"/>
            <a:chOff x="18382208" y="8049175"/>
            <a:chExt cx="1144270" cy="2692400"/>
          </a:xfrm>
        </p:grpSpPr>
        <p:sp>
          <p:nvSpPr>
            <p:cNvPr id="50" name="object 27">
              <a:extLst>
                <a:ext uri="{FF2B5EF4-FFF2-40B4-BE49-F238E27FC236}">
                  <a16:creationId xmlns:a16="http://schemas.microsoft.com/office/drawing/2014/main" id="{F860B484-9A8F-697B-A056-4F8A3E6B52DF}"/>
                </a:ext>
              </a:extLst>
            </p:cNvPr>
            <p:cNvSpPr/>
            <p:nvPr/>
          </p:nvSpPr>
          <p:spPr>
            <a:xfrm>
              <a:off x="18382208" y="8049175"/>
              <a:ext cx="1144270" cy="2692400"/>
            </a:xfrm>
            <a:custGeom>
              <a:avLst/>
              <a:gdLst/>
              <a:ahLst/>
              <a:cxnLst/>
              <a:rect l="l" t="t" r="r" b="b"/>
              <a:pathLst>
                <a:path w="1144269" h="2692400">
                  <a:moveTo>
                    <a:pt x="571961" y="2691813"/>
                  </a:moveTo>
                  <a:lnTo>
                    <a:pt x="525229" y="2689907"/>
                  </a:lnTo>
                  <a:lnTo>
                    <a:pt x="479504" y="2684291"/>
                  </a:lnTo>
                  <a:lnTo>
                    <a:pt x="434938" y="2675115"/>
                  </a:lnTo>
                  <a:lnTo>
                    <a:pt x="391680" y="2662528"/>
                  </a:lnTo>
                  <a:lnTo>
                    <a:pt x="349880" y="2646681"/>
                  </a:lnTo>
                  <a:lnTo>
                    <a:pt x="309689" y="2627724"/>
                  </a:lnTo>
                  <a:lnTo>
                    <a:pt x="271257" y="2605807"/>
                  </a:lnTo>
                  <a:lnTo>
                    <a:pt x="234733" y="2581080"/>
                  </a:lnTo>
                  <a:lnTo>
                    <a:pt x="200269" y="2553694"/>
                  </a:lnTo>
                  <a:lnTo>
                    <a:pt x="168014" y="2523798"/>
                  </a:lnTo>
                  <a:lnTo>
                    <a:pt x="138118" y="2491543"/>
                  </a:lnTo>
                  <a:lnTo>
                    <a:pt x="110732" y="2457079"/>
                  </a:lnTo>
                  <a:lnTo>
                    <a:pt x="86005" y="2420556"/>
                  </a:lnTo>
                  <a:lnTo>
                    <a:pt x="64088" y="2382123"/>
                  </a:lnTo>
                  <a:lnTo>
                    <a:pt x="45131" y="2341932"/>
                  </a:lnTo>
                  <a:lnTo>
                    <a:pt x="29284" y="2300133"/>
                  </a:lnTo>
                  <a:lnTo>
                    <a:pt x="16697" y="2256875"/>
                  </a:lnTo>
                  <a:lnTo>
                    <a:pt x="7521" y="2212308"/>
                  </a:lnTo>
                  <a:lnTo>
                    <a:pt x="1905" y="2166584"/>
                  </a:lnTo>
                  <a:lnTo>
                    <a:pt x="0" y="2119851"/>
                  </a:lnTo>
                  <a:lnTo>
                    <a:pt x="0" y="571961"/>
                  </a:lnTo>
                  <a:lnTo>
                    <a:pt x="1905" y="525229"/>
                  </a:lnTo>
                  <a:lnTo>
                    <a:pt x="7521" y="479504"/>
                  </a:lnTo>
                  <a:lnTo>
                    <a:pt x="16697" y="434938"/>
                  </a:lnTo>
                  <a:lnTo>
                    <a:pt x="29284" y="391680"/>
                  </a:lnTo>
                  <a:lnTo>
                    <a:pt x="45131" y="349880"/>
                  </a:lnTo>
                  <a:lnTo>
                    <a:pt x="64088" y="309689"/>
                  </a:lnTo>
                  <a:lnTo>
                    <a:pt x="86005" y="271257"/>
                  </a:lnTo>
                  <a:lnTo>
                    <a:pt x="110732" y="234733"/>
                  </a:lnTo>
                  <a:lnTo>
                    <a:pt x="138118" y="200269"/>
                  </a:lnTo>
                  <a:lnTo>
                    <a:pt x="168014" y="168014"/>
                  </a:lnTo>
                  <a:lnTo>
                    <a:pt x="200269" y="138118"/>
                  </a:lnTo>
                  <a:lnTo>
                    <a:pt x="234733" y="110732"/>
                  </a:lnTo>
                  <a:lnTo>
                    <a:pt x="271257" y="86005"/>
                  </a:lnTo>
                  <a:lnTo>
                    <a:pt x="309689" y="64088"/>
                  </a:lnTo>
                  <a:lnTo>
                    <a:pt x="349880" y="45131"/>
                  </a:lnTo>
                  <a:lnTo>
                    <a:pt x="391680" y="29284"/>
                  </a:lnTo>
                  <a:lnTo>
                    <a:pt x="434938" y="16697"/>
                  </a:lnTo>
                  <a:lnTo>
                    <a:pt x="479504" y="7521"/>
                  </a:lnTo>
                  <a:lnTo>
                    <a:pt x="525229" y="1905"/>
                  </a:lnTo>
                  <a:lnTo>
                    <a:pt x="571961" y="0"/>
                  </a:lnTo>
                  <a:lnTo>
                    <a:pt x="618694" y="1905"/>
                  </a:lnTo>
                  <a:lnTo>
                    <a:pt x="664418" y="7521"/>
                  </a:lnTo>
                  <a:lnTo>
                    <a:pt x="708985" y="16697"/>
                  </a:lnTo>
                  <a:lnTo>
                    <a:pt x="752243" y="29284"/>
                  </a:lnTo>
                  <a:lnTo>
                    <a:pt x="794042" y="45131"/>
                  </a:lnTo>
                  <a:lnTo>
                    <a:pt x="834233" y="64088"/>
                  </a:lnTo>
                  <a:lnTo>
                    <a:pt x="872665" y="86005"/>
                  </a:lnTo>
                  <a:lnTo>
                    <a:pt x="909189" y="110732"/>
                  </a:lnTo>
                  <a:lnTo>
                    <a:pt x="943653" y="138118"/>
                  </a:lnTo>
                  <a:lnTo>
                    <a:pt x="975908" y="168014"/>
                  </a:lnTo>
                  <a:lnTo>
                    <a:pt x="1005804" y="200269"/>
                  </a:lnTo>
                  <a:lnTo>
                    <a:pt x="1033190" y="234733"/>
                  </a:lnTo>
                  <a:lnTo>
                    <a:pt x="1057917" y="271257"/>
                  </a:lnTo>
                  <a:lnTo>
                    <a:pt x="1079834" y="309689"/>
                  </a:lnTo>
                  <a:lnTo>
                    <a:pt x="1098791" y="349880"/>
                  </a:lnTo>
                  <a:lnTo>
                    <a:pt x="1114638" y="391680"/>
                  </a:lnTo>
                  <a:lnTo>
                    <a:pt x="1127225" y="434938"/>
                  </a:lnTo>
                  <a:lnTo>
                    <a:pt x="1136401" y="479504"/>
                  </a:lnTo>
                  <a:lnTo>
                    <a:pt x="1142017" y="525229"/>
                  </a:lnTo>
                  <a:lnTo>
                    <a:pt x="1143923" y="571961"/>
                  </a:lnTo>
                  <a:lnTo>
                    <a:pt x="1143923" y="2119851"/>
                  </a:lnTo>
                  <a:lnTo>
                    <a:pt x="1142017" y="2166584"/>
                  </a:lnTo>
                  <a:lnTo>
                    <a:pt x="1136401" y="2212308"/>
                  </a:lnTo>
                  <a:lnTo>
                    <a:pt x="1127225" y="2256875"/>
                  </a:lnTo>
                  <a:lnTo>
                    <a:pt x="1114638" y="2300133"/>
                  </a:lnTo>
                  <a:lnTo>
                    <a:pt x="1098791" y="2341932"/>
                  </a:lnTo>
                  <a:lnTo>
                    <a:pt x="1079834" y="2382123"/>
                  </a:lnTo>
                  <a:lnTo>
                    <a:pt x="1057917" y="2420556"/>
                  </a:lnTo>
                  <a:lnTo>
                    <a:pt x="1033190" y="2457079"/>
                  </a:lnTo>
                  <a:lnTo>
                    <a:pt x="1005804" y="2491543"/>
                  </a:lnTo>
                  <a:lnTo>
                    <a:pt x="975908" y="2523798"/>
                  </a:lnTo>
                  <a:lnTo>
                    <a:pt x="943653" y="2553694"/>
                  </a:lnTo>
                  <a:lnTo>
                    <a:pt x="909189" y="2581080"/>
                  </a:lnTo>
                  <a:lnTo>
                    <a:pt x="872665" y="2605807"/>
                  </a:lnTo>
                  <a:lnTo>
                    <a:pt x="834233" y="2627724"/>
                  </a:lnTo>
                  <a:lnTo>
                    <a:pt x="794042" y="2646681"/>
                  </a:lnTo>
                  <a:lnTo>
                    <a:pt x="752243" y="2662528"/>
                  </a:lnTo>
                  <a:lnTo>
                    <a:pt x="708985" y="2675115"/>
                  </a:lnTo>
                  <a:lnTo>
                    <a:pt x="664418" y="2684291"/>
                  </a:lnTo>
                  <a:lnTo>
                    <a:pt x="618694" y="2689907"/>
                  </a:lnTo>
                  <a:lnTo>
                    <a:pt x="571961" y="2691813"/>
                  </a:lnTo>
                  <a:close/>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51" name="object 28">
              <a:extLst>
                <a:ext uri="{FF2B5EF4-FFF2-40B4-BE49-F238E27FC236}">
                  <a16:creationId xmlns:a16="http://schemas.microsoft.com/office/drawing/2014/main" id="{371EDD85-944B-514D-D34C-EB0AA04A20E7}"/>
                </a:ext>
              </a:extLst>
            </p:cNvPr>
            <p:cNvSpPr/>
            <p:nvPr/>
          </p:nvSpPr>
          <p:spPr>
            <a:xfrm>
              <a:off x="18533547" y="8243835"/>
              <a:ext cx="901699" cy="901699"/>
            </a:xfrm>
            <a:custGeom>
              <a:avLst/>
              <a:gdLst/>
              <a:ahLst/>
              <a:cxnLst/>
              <a:rect l="l" t="t" r="r" b="b"/>
              <a:pathLst>
                <a:path w="901700" h="901700">
                  <a:moveTo>
                    <a:pt x="901616" y="450803"/>
                  </a:moveTo>
                  <a:lnTo>
                    <a:pt x="898971" y="499923"/>
                  </a:lnTo>
                  <a:lnTo>
                    <a:pt x="891218" y="547512"/>
                  </a:lnTo>
                  <a:lnTo>
                    <a:pt x="878633" y="593293"/>
                  </a:lnTo>
                  <a:lnTo>
                    <a:pt x="861491" y="636992"/>
                  </a:lnTo>
                  <a:lnTo>
                    <a:pt x="840067" y="678334"/>
                  </a:lnTo>
                  <a:lnTo>
                    <a:pt x="814636" y="717043"/>
                  </a:lnTo>
                  <a:lnTo>
                    <a:pt x="785472" y="752845"/>
                  </a:lnTo>
                  <a:lnTo>
                    <a:pt x="752852" y="785465"/>
                  </a:lnTo>
                  <a:lnTo>
                    <a:pt x="717049" y="814628"/>
                  </a:lnTo>
                  <a:lnTo>
                    <a:pt x="678340" y="840059"/>
                  </a:lnTo>
                  <a:lnTo>
                    <a:pt x="636998" y="861482"/>
                  </a:lnTo>
                  <a:lnTo>
                    <a:pt x="593300" y="878624"/>
                  </a:lnTo>
                  <a:lnTo>
                    <a:pt x="547519" y="891208"/>
                  </a:lnTo>
                  <a:lnTo>
                    <a:pt x="499932" y="898960"/>
                  </a:lnTo>
                  <a:lnTo>
                    <a:pt x="450813" y="901606"/>
                  </a:lnTo>
                  <a:lnTo>
                    <a:pt x="401692" y="898960"/>
                  </a:lnTo>
                  <a:lnTo>
                    <a:pt x="354103" y="891208"/>
                  </a:lnTo>
                  <a:lnTo>
                    <a:pt x="308321" y="878624"/>
                  </a:lnTo>
                  <a:lnTo>
                    <a:pt x="264622" y="861482"/>
                  </a:lnTo>
                  <a:lnTo>
                    <a:pt x="223279" y="840059"/>
                  </a:lnTo>
                  <a:lnTo>
                    <a:pt x="184569" y="814628"/>
                  </a:lnTo>
                  <a:lnTo>
                    <a:pt x="148765" y="785465"/>
                  </a:lnTo>
                  <a:lnTo>
                    <a:pt x="116144" y="752845"/>
                  </a:lnTo>
                  <a:lnTo>
                    <a:pt x="86981" y="717043"/>
                  </a:lnTo>
                  <a:lnTo>
                    <a:pt x="61549" y="678334"/>
                  </a:lnTo>
                  <a:lnTo>
                    <a:pt x="40125" y="636992"/>
                  </a:lnTo>
                  <a:lnTo>
                    <a:pt x="22982" y="593293"/>
                  </a:lnTo>
                  <a:lnTo>
                    <a:pt x="10397" y="547512"/>
                  </a:lnTo>
                  <a:lnTo>
                    <a:pt x="2645" y="499923"/>
                  </a:lnTo>
                  <a:lnTo>
                    <a:pt x="0" y="450803"/>
                  </a:lnTo>
                  <a:lnTo>
                    <a:pt x="2645" y="401682"/>
                  </a:lnTo>
                  <a:lnTo>
                    <a:pt x="10397" y="354093"/>
                  </a:lnTo>
                  <a:lnTo>
                    <a:pt x="22982" y="308312"/>
                  </a:lnTo>
                  <a:lnTo>
                    <a:pt x="40125" y="264613"/>
                  </a:lnTo>
                  <a:lnTo>
                    <a:pt x="61549" y="223271"/>
                  </a:lnTo>
                  <a:lnTo>
                    <a:pt x="86981" y="184562"/>
                  </a:lnTo>
                  <a:lnTo>
                    <a:pt x="116144" y="148760"/>
                  </a:lnTo>
                  <a:lnTo>
                    <a:pt x="148765" y="116140"/>
                  </a:lnTo>
                  <a:lnTo>
                    <a:pt x="184569" y="86977"/>
                  </a:lnTo>
                  <a:lnTo>
                    <a:pt x="223279" y="61546"/>
                  </a:lnTo>
                  <a:lnTo>
                    <a:pt x="264622" y="40123"/>
                  </a:lnTo>
                  <a:lnTo>
                    <a:pt x="308321" y="22981"/>
                  </a:lnTo>
                  <a:lnTo>
                    <a:pt x="354103" y="10397"/>
                  </a:lnTo>
                  <a:lnTo>
                    <a:pt x="401692" y="2645"/>
                  </a:lnTo>
                  <a:lnTo>
                    <a:pt x="450813" y="0"/>
                  </a:lnTo>
                  <a:lnTo>
                    <a:pt x="499932" y="2645"/>
                  </a:lnTo>
                  <a:lnTo>
                    <a:pt x="547519" y="10397"/>
                  </a:lnTo>
                  <a:lnTo>
                    <a:pt x="593300" y="22981"/>
                  </a:lnTo>
                  <a:lnTo>
                    <a:pt x="636998" y="40123"/>
                  </a:lnTo>
                  <a:lnTo>
                    <a:pt x="678340" y="61546"/>
                  </a:lnTo>
                  <a:lnTo>
                    <a:pt x="717049" y="86977"/>
                  </a:lnTo>
                  <a:lnTo>
                    <a:pt x="752852" y="116140"/>
                  </a:lnTo>
                  <a:lnTo>
                    <a:pt x="785472" y="148760"/>
                  </a:lnTo>
                  <a:lnTo>
                    <a:pt x="814636" y="184562"/>
                  </a:lnTo>
                  <a:lnTo>
                    <a:pt x="840067" y="223271"/>
                  </a:lnTo>
                  <a:lnTo>
                    <a:pt x="861491" y="264613"/>
                  </a:lnTo>
                  <a:lnTo>
                    <a:pt x="878633" y="308312"/>
                  </a:lnTo>
                  <a:lnTo>
                    <a:pt x="891218" y="354093"/>
                  </a:lnTo>
                  <a:lnTo>
                    <a:pt x="898971" y="401682"/>
                  </a:lnTo>
                  <a:lnTo>
                    <a:pt x="901616" y="450803"/>
                  </a:lnTo>
                  <a:close/>
                </a:path>
              </a:pathLst>
            </a:custGeom>
            <a:solidFill>
              <a:schemeClr val="accent3"/>
            </a:solidFill>
            <a:ln w="14837">
              <a:no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grpSp>
      <p:sp>
        <p:nvSpPr>
          <p:cNvPr id="56" name="object 29">
            <a:extLst>
              <a:ext uri="{FF2B5EF4-FFF2-40B4-BE49-F238E27FC236}">
                <a16:creationId xmlns:a16="http://schemas.microsoft.com/office/drawing/2014/main" id="{0F61DDE8-A0EC-637D-4BB2-6B33252CBCCB}"/>
              </a:ext>
            </a:extLst>
          </p:cNvPr>
          <p:cNvSpPr txBox="1"/>
          <p:nvPr/>
        </p:nvSpPr>
        <p:spPr>
          <a:xfrm>
            <a:off x="837984" y="3885837"/>
            <a:ext cx="2008665" cy="699885"/>
          </a:xfrm>
          <a:prstGeom prst="rect">
            <a:avLst/>
          </a:prstGeom>
        </p:spPr>
        <p:txBody>
          <a:bodyPr vert="horz" wrap="square" lIns="0" tIns="7316" rIns="0" bIns="0" rtlCol="0" anchor="t">
            <a:spAutoFit/>
          </a:bodyPr>
          <a:lstStyle/>
          <a:p>
            <a:pPr marL="7620" marR="2540" defTabSz="554492">
              <a:lnSpc>
                <a:spcPct val="100499"/>
              </a:lnSpc>
              <a:spcBef>
                <a:spcPts val="58"/>
              </a:spcBef>
              <a:buFont typeface="Arial"/>
              <a:defRPr/>
            </a:pPr>
            <a:r>
              <a:rPr kumimoji="0" lang="pt-BR" sz="900" b="0" i="0" u="none" strike="noStrike" kern="0" cap="none" spc="0" normalizeH="0" baseline="0" noProof="0">
                <a:ln>
                  <a:noFill/>
                </a:ln>
                <a:effectLst/>
                <a:uLnTx/>
                <a:uFillTx/>
                <a:latin typeface="Versos Light"/>
                <a:cs typeface="Arial"/>
                <a:sym typeface="Arial"/>
              </a:rPr>
              <a:t>Fundo de Previdência </a:t>
            </a:r>
            <a:r>
              <a:rPr lang="pt-BR" sz="900" kern="0">
                <a:latin typeface="Versos Light"/>
                <a:cs typeface="Arial"/>
                <a:sym typeface="Arial"/>
              </a:rPr>
              <a:t>destinado a investir em </a:t>
            </a:r>
            <a:r>
              <a:rPr kumimoji="0" lang="pt-BR" sz="900" b="0" i="0" u="none" strike="noStrike" kern="0" cap="none" spc="0" normalizeH="0" baseline="0" noProof="0">
                <a:ln>
                  <a:noFill/>
                </a:ln>
                <a:effectLst/>
                <a:uLnTx/>
                <a:uFillTx/>
                <a:latin typeface="Versos Light"/>
                <a:cs typeface="Arial"/>
                <a:sym typeface="Arial"/>
              </a:rPr>
              <a:t>dívidas de empresas brasileiras e/ou instituições financeiras, com </a:t>
            </a:r>
            <a:r>
              <a:rPr lang="pt-BR" sz="900" kern="0">
                <a:latin typeface="Versos Light"/>
                <a:cs typeface="Arial"/>
                <a:sym typeface="Arial"/>
              </a:rPr>
              <a:t>parte da alocação</a:t>
            </a:r>
            <a:r>
              <a:rPr kumimoji="0" lang="pt-BR" sz="900" b="0" i="0" u="none" strike="noStrike" kern="0" cap="none" spc="0" normalizeH="0" baseline="0" noProof="0">
                <a:ln>
                  <a:noFill/>
                </a:ln>
                <a:effectLst/>
                <a:uLnTx/>
                <a:uFillTx/>
                <a:latin typeface="Versos Light"/>
                <a:cs typeface="Arial"/>
                <a:sym typeface="Arial"/>
              </a:rPr>
              <a:t> </a:t>
            </a:r>
            <a:r>
              <a:rPr lang="pt-BR" sz="900" kern="0">
                <a:latin typeface="Versos Light"/>
                <a:cs typeface="Arial"/>
                <a:sym typeface="Arial"/>
              </a:rPr>
              <a:t>voltada para </a:t>
            </a:r>
            <a:r>
              <a:rPr kumimoji="0" lang="pt-BR" sz="900" b="0" i="0" u="none" strike="noStrike" kern="0" cap="none" spc="0" normalizeH="0" baseline="0" noProof="0">
                <a:ln>
                  <a:noFill/>
                </a:ln>
                <a:effectLst/>
                <a:uLnTx/>
                <a:uFillTx/>
                <a:latin typeface="Versos Light"/>
                <a:cs typeface="Arial"/>
                <a:sym typeface="Arial"/>
              </a:rPr>
              <a:t>crédito estruturado.</a:t>
            </a:r>
            <a:endParaRPr lang="en-US" sz="900">
              <a:latin typeface="Versos Light"/>
            </a:endParaRPr>
          </a:p>
        </p:txBody>
      </p:sp>
      <p:sp>
        <p:nvSpPr>
          <p:cNvPr id="57" name="object 34">
            <a:extLst>
              <a:ext uri="{FF2B5EF4-FFF2-40B4-BE49-F238E27FC236}">
                <a16:creationId xmlns:a16="http://schemas.microsoft.com/office/drawing/2014/main" id="{FA54FCDD-8C61-E0DA-D6E4-D2DCECE3B028}"/>
              </a:ext>
            </a:extLst>
          </p:cNvPr>
          <p:cNvSpPr txBox="1"/>
          <p:nvPr/>
        </p:nvSpPr>
        <p:spPr>
          <a:xfrm>
            <a:off x="802675" y="3560968"/>
            <a:ext cx="1733452" cy="144152"/>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Política de Investimentos</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58" name="object 36">
            <a:extLst>
              <a:ext uri="{FF2B5EF4-FFF2-40B4-BE49-F238E27FC236}">
                <a16:creationId xmlns:a16="http://schemas.microsoft.com/office/drawing/2014/main" id="{557A5511-2E36-1511-96A6-24B984E89C9E}"/>
              </a:ext>
            </a:extLst>
          </p:cNvPr>
          <p:cNvSpPr/>
          <p:nvPr/>
        </p:nvSpPr>
        <p:spPr>
          <a:xfrm>
            <a:off x="802675" y="3731039"/>
            <a:ext cx="1786586" cy="0"/>
          </a:xfrm>
          <a:custGeom>
            <a:avLst/>
            <a:gdLst/>
            <a:ahLst/>
            <a:cxnLst/>
            <a:rect l="l" t="t" r="r" b="b"/>
            <a:pathLst>
              <a:path w="3764915">
                <a:moveTo>
                  <a:pt x="0" y="0"/>
                </a:moveTo>
                <a:lnTo>
                  <a:pt x="3764304" y="0"/>
                </a:lnTo>
              </a:path>
            </a:pathLst>
          </a:custGeom>
          <a:ln w="10470">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59" name="object 45">
            <a:extLst>
              <a:ext uri="{FF2B5EF4-FFF2-40B4-BE49-F238E27FC236}">
                <a16:creationId xmlns:a16="http://schemas.microsoft.com/office/drawing/2014/main" id="{B3B08DE5-F6C0-5B02-39EC-E7D97E935A5A}"/>
              </a:ext>
            </a:extLst>
          </p:cNvPr>
          <p:cNvSpPr txBox="1"/>
          <p:nvPr/>
        </p:nvSpPr>
        <p:spPr>
          <a:xfrm>
            <a:off x="802675" y="5148592"/>
            <a:ext cx="1052847" cy="133998"/>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lang="pt-BR" sz="800" b="1" i="0" u="none" strike="noStrike" kern="0" cap="none" spc="0" normalizeH="0" baseline="0" noProof="0">
                <a:ln>
                  <a:noFill/>
                </a:ln>
                <a:effectLst/>
                <a:uLnTx/>
                <a:uFillTx/>
                <a:latin typeface="Versos" panose="020B0503020204030204" pitchFamily="34" charset="77"/>
                <a:cs typeface="Arial"/>
                <a:sym typeface="Arial"/>
              </a:rPr>
              <a:t>Forma de Aplicação</a:t>
            </a:r>
            <a:endParaRPr kumimoji="0" lang="pt-BR" sz="8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72" name="object 46">
            <a:extLst>
              <a:ext uri="{FF2B5EF4-FFF2-40B4-BE49-F238E27FC236}">
                <a16:creationId xmlns:a16="http://schemas.microsoft.com/office/drawing/2014/main" id="{F45DA9BD-844F-3649-9D75-6B3E94FFB395}"/>
              </a:ext>
            </a:extLst>
          </p:cNvPr>
          <p:cNvSpPr/>
          <p:nvPr/>
        </p:nvSpPr>
        <p:spPr>
          <a:xfrm>
            <a:off x="802675" y="5323573"/>
            <a:ext cx="1421374" cy="0"/>
          </a:xfrm>
          <a:custGeom>
            <a:avLst/>
            <a:gdLst/>
            <a:ahLst/>
            <a:cxnLst/>
            <a:rect l="l" t="t" r="r" b="b"/>
            <a:pathLst>
              <a:path w="2995295">
                <a:moveTo>
                  <a:pt x="0" y="0"/>
                </a:moveTo>
                <a:lnTo>
                  <a:pt x="2994819"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75" name="object 47">
            <a:extLst>
              <a:ext uri="{FF2B5EF4-FFF2-40B4-BE49-F238E27FC236}">
                <a16:creationId xmlns:a16="http://schemas.microsoft.com/office/drawing/2014/main" id="{E818BF6C-005F-4E38-9463-5C7BA6E0582E}"/>
              </a:ext>
            </a:extLst>
          </p:cNvPr>
          <p:cNvSpPr txBox="1"/>
          <p:nvPr/>
        </p:nvSpPr>
        <p:spPr>
          <a:xfrm>
            <a:off x="802675" y="6593180"/>
            <a:ext cx="1292715" cy="144152"/>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Volume Inicial Target</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76" name="object 48">
            <a:extLst>
              <a:ext uri="{FF2B5EF4-FFF2-40B4-BE49-F238E27FC236}">
                <a16:creationId xmlns:a16="http://schemas.microsoft.com/office/drawing/2014/main" id="{E7E0DBAD-C260-58E1-5F8F-5E8B40215A66}"/>
              </a:ext>
            </a:extLst>
          </p:cNvPr>
          <p:cNvSpPr/>
          <p:nvPr/>
        </p:nvSpPr>
        <p:spPr>
          <a:xfrm>
            <a:off x="802675" y="6760219"/>
            <a:ext cx="1216771" cy="0"/>
          </a:xfrm>
          <a:custGeom>
            <a:avLst/>
            <a:gdLst/>
            <a:ahLst/>
            <a:cxnLst/>
            <a:rect l="l" t="t" r="r" b="b"/>
            <a:pathLst>
              <a:path w="2564129">
                <a:moveTo>
                  <a:pt x="0" y="0"/>
                </a:moveTo>
                <a:lnTo>
                  <a:pt x="2563607"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77" name="object 49">
            <a:extLst>
              <a:ext uri="{FF2B5EF4-FFF2-40B4-BE49-F238E27FC236}">
                <a16:creationId xmlns:a16="http://schemas.microsoft.com/office/drawing/2014/main" id="{20E80527-9CF9-AE8E-859E-C48182F26DFB}"/>
              </a:ext>
            </a:extLst>
          </p:cNvPr>
          <p:cNvSpPr txBox="1"/>
          <p:nvPr/>
        </p:nvSpPr>
        <p:spPr>
          <a:xfrm>
            <a:off x="802674" y="7311855"/>
            <a:ext cx="1599157" cy="149387"/>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Taxa de Adm &amp; </a:t>
            </a:r>
            <a:r>
              <a:rPr kumimoji="0" lang="pt-BR" sz="900" b="1" i="0" u="none" strike="noStrike" kern="0" cap="none" spc="0" normalizeH="0" baseline="0" noProof="0">
                <a:ln>
                  <a:noFill/>
                </a:ln>
                <a:effectLst/>
                <a:uLnTx/>
                <a:uFillTx/>
                <a:latin typeface="Versos" panose="020B0503020204030204" pitchFamily="34" charset="77"/>
                <a:cs typeface="Arial"/>
                <a:sym typeface="Arial"/>
              </a:rPr>
              <a:t>Gestão</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79" name="object 50">
            <a:extLst>
              <a:ext uri="{FF2B5EF4-FFF2-40B4-BE49-F238E27FC236}">
                <a16:creationId xmlns:a16="http://schemas.microsoft.com/office/drawing/2014/main" id="{7858BCF8-579C-CB81-E096-1C0E27AB48A6}"/>
              </a:ext>
            </a:extLst>
          </p:cNvPr>
          <p:cNvSpPr/>
          <p:nvPr/>
        </p:nvSpPr>
        <p:spPr>
          <a:xfrm>
            <a:off x="802675" y="7476527"/>
            <a:ext cx="1830579" cy="0"/>
          </a:xfrm>
          <a:custGeom>
            <a:avLst/>
            <a:gdLst/>
            <a:ahLst/>
            <a:cxnLst/>
            <a:rect l="l" t="t" r="r" b="b"/>
            <a:pathLst>
              <a:path w="3857625">
                <a:moveTo>
                  <a:pt x="0" y="0"/>
                </a:moveTo>
                <a:lnTo>
                  <a:pt x="3857254"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1" name="object 51">
            <a:extLst>
              <a:ext uri="{FF2B5EF4-FFF2-40B4-BE49-F238E27FC236}">
                <a16:creationId xmlns:a16="http://schemas.microsoft.com/office/drawing/2014/main" id="{38ED3747-1A5D-7A1F-DEA2-A26A9407102D}"/>
              </a:ext>
            </a:extLst>
          </p:cNvPr>
          <p:cNvSpPr txBox="1"/>
          <p:nvPr/>
        </p:nvSpPr>
        <p:spPr>
          <a:xfrm>
            <a:off x="3052169" y="7311051"/>
            <a:ext cx="846689" cy="144152"/>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Performance</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2" name="object 52">
            <a:extLst>
              <a:ext uri="{FF2B5EF4-FFF2-40B4-BE49-F238E27FC236}">
                <a16:creationId xmlns:a16="http://schemas.microsoft.com/office/drawing/2014/main" id="{E9C654FF-DC36-A4D4-AE02-9DEAA10A8489}"/>
              </a:ext>
            </a:extLst>
          </p:cNvPr>
          <p:cNvSpPr/>
          <p:nvPr/>
        </p:nvSpPr>
        <p:spPr>
          <a:xfrm>
            <a:off x="3052169" y="7476527"/>
            <a:ext cx="2230143" cy="0"/>
          </a:xfrm>
          <a:custGeom>
            <a:avLst/>
            <a:gdLst/>
            <a:ahLst/>
            <a:cxnLst/>
            <a:rect l="l" t="t" r="r" b="b"/>
            <a:pathLst>
              <a:path w="4699634">
                <a:moveTo>
                  <a:pt x="0" y="0"/>
                </a:moveTo>
                <a:lnTo>
                  <a:pt x="4699092"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3" name="object 53">
            <a:extLst>
              <a:ext uri="{FF2B5EF4-FFF2-40B4-BE49-F238E27FC236}">
                <a16:creationId xmlns:a16="http://schemas.microsoft.com/office/drawing/2014/main" id="{05966F80-5C52-F726-2E3D-164B50E7F6C0}"/>
              </a:ext>
            </a:extLst>
          </p:cNvPr>
          <p:cNvSpPr txBox="1"/>
          <p:nvPr/>
        </p:nvSpPr>
        <p:spPr>
          <a:xfrm>
            <a:off x="4404531" y="5148592"/>
            <a:ext cx="402577" cy="133998"/>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800" b="1" i="0" u="none" strike="noStrike" kern="0" cap="none" spc="0" normalizeH="0" baseline="0" noProof="0" err="1">
                <a:ln>
                  <a:noFill/>
                </a:ln>
                <a:effectLst/>
                <a:uLnTx/>
                <a:uFillTx/>
                <a:latin typeface="Versos" panose="020B0503020204030204" pitchFamily="34" charset="77"/>
                <a:cs typeface="Arial"/>
                <a:sym typeface="Arial"/>
              </a:rPr>
              <a:t>Veículo</a:t>
            </a:r>
            <a:endParaRPr kumimoji="0" sz="8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4" name="object 54">
            <a:extLst>
              <a:ext uri="{FF2B5EF4-FFF2-40B4-BE49-F238E27FC236}">
                <a16:creationId xmlns:a16="http://schemas.microsoft.com/office/drawing/2014/main" id="{B6277DFF-490B-02B3-3BA6-5927B06BF5F0}"/>
              </a:ext>
            </a:extLst>
          </p:cNvPr>
          <p:cNvSpPr/>
          <p:nvPr/>
        </p:nvSpPr>
        <p:spPr>
          <a:xfrm>
            <a:off x="4404531" y="5323573"/>
            <a:ext cx="1668162" cy="0"/>
          </a:xfrm>
          <a:custGeom>
            <a:avLst/>
            <a:gdLst/>
            <a:ahLst/>
            <a:cxnLst/>
            <a:rect l="l" t="t" r="r" b="b"/>
            <a:pathLst>
              <a:path w="3515359">
                <a:moveTo>
                  <a:pt x="0" y="0"/>
                </a:moveTo>
                <a:lnTo>
                  <a:pt x="3514971"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5" name="object 55">
            <a:extLst>
              <a:ext uri="{FF2B5EF4-FFF2-40B4-BE49-F238E27FC236}">
                <a16:creationId xmlns:a16="http://schemas.microsoft.com/office/drawing/2014/main" id="{AE7C0994-4E71-701A-2810-9E65784FDF37}"/>
              </a:ext>
            </a:extLst>
          </p:cNvPr>
          <p:cNvSpPr txBox="1"/>
          <p:nvPr/>
        </p:nvSpPr>
        <p:spPr>
          <a:xfrm>
            <a:off x="2733159" y="6023402"/>
            <a:ext cx="789882" cy="144152"/>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Benchmark</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6" name="object 56">
            <a:extLst>
              <a:ext uri="{FF2B5EF4-FFF2-40B4-BE49-F238E27FC236}">
                <a16:creationId xmlns:a16="http://schemas.microsoft.com/office/drawing/2014/main" id="{3FC117FE-F2DA-D33A-3924-17B4F0B1ABA1}"/>
              </a:ext>
            </a:extLst>
          </p:cNvPr>
          <p:cNvSpPr/>
          <p:nvPr/>
        </p:nvSpPr>
        <p:spPr>
          <a:xfrm>
            <a:off x="2733159" y="6195927"/>
            <a:ext cx="696072" cy="0"/>
          </a:xfrm>
          <a:custGeom>
            <a:avLst/>
            <a:gdLst/>
            <a:ahLst/>
            <a:cxnLst/>
            <a:rect l="l" t="t" r="r" b="b"/>
            <a:pathLst>
              <a:path w="1466850">
                <a:moveTo>
                  <a:pt x="0" y="0"/>
                </a:moveTo>
                <a:lnTo>
                  <a:pt x="1466782"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7" name="object 57">
            <a:extLst>
              <a:ext uri="{FF2B5EF4-FFF2-40B4-BE49-F238E27FC236}">
                <a16:creationId xmlns:a16="http://schemas.microsoft.com/office/drawing/2014/main" id="{BB9E5572-105E-9698-6472-CB78CAD1372D}"/>
              </a:ext>
            </a:extLst>
          </p:cNvPr>
          <p:cNvSpPr txBox="1"/>
          <p:nvPr/>
        </p:nvSpPr>
        <p:spPr>
          <a:xfrm>
            <a:off x="2733159" y="5148592"/>
            <a:ext cx="1041698" cy="133998"/>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800" b="1" i="0" u="none" strike="noStrike" kern="0" cap="none" spc="0" normalizeH="0" baseline="0" noProof="0">
                <a:ln>
                  <a:noFill/>
                </a:ln>
                <a:effectLst/>
                <a:uLnTx/>
                <a:uFillTx/>
                <a:latin typeface="Versos" panose="020B0503020204030204" pitchFamily="34" charset="77"/>
                <a:cs typeface="Arial"/>
                <a:sym typeface="Arial"/>
              </a:rPr>
              <a:t>Meta </a:t>
            </a:r>
            <a:r>
              <a:rPr kumimoji="0" lang="pt-BR" sz="800" b="1" i="0" u="none" strike="noStrike" kern="0" cap="none" spc="0" normalizeH="0" baseline="0" noProof="0">
                <a:ln>
                  <a:noFill/>
                </a:ln>
                <a:effectLst/>
                <a:uLnTx/>
                <a:uFillTx/>
                <a:latin typeface="Versos" panose="020B0503020204030204" pitchFamily="34" charset="77"/>
                <a:cs typeface="Arial"/>
                <a:sym typeface="Arial"/>
              </a:rPr>
              <a:t>de retorno</a:t>
            </a:r>
            <a:endParaRPr kumimoji="0" sz="8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88" name="object 58">
            <a:extLst>
              <a:ext uri="{FF2B5EF4-FFF2-40B4-BE49-F238E27FC236}">
                <a16:creationId xmlns:a16="http://schemas.microsoft.com/office/drawing/2014/main" id="{D202B986-132F-4D77-BFD5-3A61C51C7AEB}"/>
              </a:ext>
            </a:extLst>
          </p:cNvPr>
          <p:cNvSpPr/>
          <p:nvPr/>
        </p:nvSpPr>
        <p:spPr>
          <a:xfrm>
            <a:off x="2733159" y="5323573"/>
            <a:ext cx="1357793" cy="0"/>
          </a:xfrm>
          <a:custGeom>
            <a:avLst/>
            <a:gdLst/>
            <a:ahLst/>
            <a:cxnLst/>
            <a:rect l="l" t="t" r="r" b="b"/>
            <a:pathLst>
              <a:path w="2861309">
                <a:moveTo>
                  <a:pt x="0" y="0"/>
                </a:moveTo>
                <a:lnTo>
                  <a:pt x="2860823" y="0"/>
                </a:lnTo>
              </a:path>
            </a:pathLst>
          </a:custGeom>
          <a:ln w="14837">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grpSp>
        <p:nvGrpSpPr>
          <p:cNvPr id="89" name="Group 1">
            <a:extLst>
              <a:ext uri="{FF2B5EF4-FFF2-40B4-BE49-F238E27FC236}">
                <a16:creationId xmlns:a16="http://schemas.microsoft.com/office/drawing/2014/main" id="{9A3F2F8D-976F-CE54-D851-5F5630802B42}"/>
              </a:ext>
            </a:extLst>
          </p:cNvPr>
          <p:cNvGrpSpPr/>
          <p:nvPr/>
        </p:nvGrpSpPr>
        <p:grpSpPr>
          <a:xfrm>
            <a:off x="3234051" y="3560967"/>
            <a:ext cx="1145656" cy="1081351"/>
            <a:chOff x="8239920" y="412511"/>
            <a:chExt cx="1464015" cy="1381840"/>
          </a:xfrm>
        </p:grpSpPr>
        <p:sp>
          <p:nvSpPr>
            <p:cNvPr id="90" name="object 59">
              <a:extLst>
                <a:ext uri="{FF2B5EF4-FFF2-40B4-BE49-F238E27FC236}">
                  <a16:creationId xmlns:a16="http://schemas.microsoft.com/office/drawing/2014/main" id="{E6A6A1D3-20B2-98EC-7FEC-C2C798A688C3}"/>
                </a:ext>
              </a:extLst>
            </p:cNvPr>
            <p:cNvSpPr txBox="1"/>
            <p:nvPr/>
          </p:nvSpPr>
          <p:spPr>
            <a:xfrm>
              <a:off x="8239920" y="412511"/>
              <a:ext cx="748902" cy="190899"/>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err="1">
                  <a:ln>
                    <a:noFill/>
                  </a:ln>
                  <a:effectLst/>
                  <a:uLnTx/>
                  <a:uFillTx/>
                  <a:latin typeface="Versos" panose="020B0503020204030204" pitchFamily="34" charset="77"/>
                  <a:cs typeface="Arial"/>
                  <a:sym typeface="Arial"/>
                </a:rPr>
                <a:t>Liquidez</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91" name="object 60">
              <a:extLst>
                <a:ext uri="{FF2B5EF4-FFF2-40B4-BE49-F238E27FC236}">
                  <a16:creationId xmlns:a16="http://schemas.microsoft.com/office/drawing/2014/main" id="{0FE1A3F5-CCF4-FAD4-5647-32DA17C3E990}"/>
                </a:ext>
              </a:extLst>
            </p:cNvPr>
            <p:cNvSpPr/>
            <p:nvPr/>
          </p:nvSpPr>
          <p:spPr>
            <a:xfrm>
              <a:off x="8239920" y="629843"/>
              <a:ext cx="1464015" cy="0"/>
            </a:xfrm>
            <a:custGeom>
              <a:avLst/>
              <a:gdLst/>
              <a:ahLst/>
              <a:cxnLst/>
              <a:rect l="l" t="t" r="r" b="b"/>
              <a:pathLst>
                <a:path w="2414269">
                  <a:moveTo>
                    <a:pt x="0" y="0"/>
                  </a:moveTo>
                  <a:lnTo>
                    <a:pt x="2413916" y="0"/>
                  </a:lnTo>
                </a:path>
              </a:pathLst>
            </a:custGeom>
            <a:ln w="10470">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92" name="object 63">
              <a:extLst>
                <a:ext uri="{FF2B5EF4-FFF2-40B4-BE49-F238E27FC236}">
                  <a16:creationId xmlns:a16="http://schemas.microsoft.com/office/drawing/2014/main" id="{F14D5EC7-1ECF-A5B0-DA86-4D804EE8E306}"/>
                </a:ext>
              </a:extLst>
            </p:cNvPr>
            <p:cNvSpPr txBox="1"/>
            <p:nvPr/>
          </p:nvSpPr>
          <p:spPr>
            <a:xfrm>
              <a:off x="8239920" y="1386747"/>
              <a:ext cx="1326028" cy="407604"/>
            </a:xfrm>
            <a:prstGeom prst="rect">
              <a:avLst/>
            </a:prstGeom>
          </p:spPr>
          <p:txBody>
            <a:bodyPr vert="horz" wrap="square" lIns="0" tIns="7316" rIns="0" bIns="0" rtlCol="0" anchor="t">
              <a:spAutoFit/>
            </a:bodyPr>
            <a:lstStyle/>
            <a:p>
              <a:pPr marL="7701" marR="3081" lvl="0" indent="0" algn="l" defTabSz="554492" rtl="0" eaLnBrk="1" fontAlgn="auto" latinLnBrk="0" hangingPunct="1">
                <a:lnSpc>
                  <a:spcPct val="100499"/>
                </a:lnSpc>
                <a:spcBef>
                  <a:spcPts val="58"/>
                </a:spcBef>
                <a:spcAft>
                  <a:spcPts val="0"/>
                </a:spcAft>
                <a:buClrTx/>
                <a:buSzTx/>
                <a:buFont typeface="Arial"/>
                <a:buNone/>
                <a:tabLst/>
                <a:defRPr/>
              </a:pPr>
              <a:r>
                <a:rPr kumimoji="0" lang="pt-BR" sz="1050" b="0" i="0" u="none" strike="noStrike" kern="0" cap="none" spc="0" normalizeH="0" baseline="0" noProof="0">
                  <a:ln>
                    <a:noFill/>
                  </a:ln>
                  <a:effectLst/>
                  <a:uLnTx/>
                  <a:uFillTx/>
                  <a:latin typeface="Versos Light" panose="020B0403020204030204" pitchFamily="34" charset="0"/>
                  <a:cs typeface="Arial"/>
                  <a:sym typeface="Arial"/>
                </a:rPr>
                <a:t>Aberto, resgate em </a:t>
              </a:r>
              <a:r>
                <a:rPr kumimoji="0" lang="pt-BR" sz="1050" b="1" i="0" u="none" strike="noStrike" kern="0" cap="none" spc="0" normalizeH="0" baseline="0" noProof="0">
                  <a:ln>
                    <a:noFill/>
                  </a:ln>
                  <a:effectLst/>
                  <a:uLnTx/>
                  <a:uFillTx/>
                  <a:latin typeface="Versos"/>
                  <a:cs typeface="Arial"/>
                  <a:sym typeface="Arial"/>
                </a:rPr>
                <a:t>D+60 </a:t>
              </a:r>
              <a:r>
                <a:rPr kumimoji="0" lang="pt-BR" sz="1050" b="0" i="0" u="none" strike="noStrike" kern="0" cap="none" spc="0" normalizeH="0" baseline="0" noProof="0">
                  <a:ln>
                    <a:noFill/>
                  </a:ln>
                  <a:effectLst/>
                  <a:uLnTx/>
                  <a:uFillTx/>
                  <a:latin typeface="Versos Light" panose="020B0403020204030204" pitchFamily="34" charset="0"/>
                  <a:cs typeface="Arial"/>
                  <a:sym typeface="Arial"/>
                </a:rPr>
                <a:t>dias</a:t>
              </a:r>
            </a:p>
          </p:txBody>
        </p:sp>
      </p:grpSp>
      <p:grpSp>
        <p:nvGrpSpPr>
          <p:cNvPr id="93" name="Group 2">
            <a:extLst>
              <a:ext uri="{FF2B5EF4-FFF2-40B4-BE49-F238E27FC236}">
                <a16:creationId xmlns:a16="http://schemas.microsoft.com/office/drawing/2014/main" id="{C862A89D-EDE7-B7B8-B71B-9C0A75C1957A}"/>
              </a:ext>
            </a:extLst>
          </p:cNvPr>
          <p:cNvGrpSpPr/>
          <p:nvPr/>
        </p:nvGrpSpPr>
        <p:grpSpPr>
          <a:xfrm>
            <a:off x="4811738" y="3560967"/>
            <a:ext cx="1168734" cy="1100410"/>
            <a:chOff x="10160924" y="412511"/>
            <a:chExt cx="1493506" cy="1406196"/>
          </a:xfrm>
        </p:grpSpPr>
        <p:sp>
          <p:nvSpPr>
            <p:cNvPr id="94" name="object 61">
              <a:extLst>
                <a:ext uri="{FF2B5EF4-FFF2-40B4-BE49-F238E27FC236}">
                  <a16:creationId xmlns:a16="http://schemas.microsoft.com/office/drawing/2014/main" id="{AA2A5746-96A6-C491-130E-F70F773EBEB1}"/>
                </a:ext>
              </a:extLst>
            </p:cNvPr>
            <p:cNvSpPr txBox="1"/>
            <p:nvPr/>
          </p:nvSpPr>
          <p:spPr>
            <a:xfrm>
              <a:off x="10160924" y="412511"/>
              <a:ext cx="1110384" cy="190899"/>
            </a:xfrm>
            <a:prstGeom prst="rect">
              <a:avLst/>
            </a:prstGeom>
          </p:spPr>
          <p:txBody>
            <a:bodyPr vert="horz" wrap="square" lIns="0" tIns="10782" rIns="0" bIns="0" rtlCol="0">
              <a:spAutoFit/>
            </a:bodyPr>
            <a:lstStyle/>
            <a:p>
              <a:pPr marL="7701" marR="0" lvl="0" indent="0" algn="l" defTabSz="554492" rtl="0" eaLnBrk="1" fontAlgn="auto" latinLnBrk="0" hangingPunct="1">
                <a:lnSpc>
                  <a:spcPct val="100000"/>
                </a:lnSpc>
                <a:spcBef>
                  <a:spcPts val="85"/>
                </a:spcBef>
                <a:spcAft>
                  <a:spcPts val="0"/>
                </a:spcAft>
                <a:buClrTx/>
                <a:buSzTx/>
                <a:buFont typeface="Arial"/>
                <a:buNone/>
                <a:tabLst/>
                <a:defRPr/>
              </a:pPr>
              <a:r>
                <a:rPr kumimoji="0" sz="900" b="1" i="0" u="none" strike="noStrike" kern="0" cap="none" spc="0" normalizeH="0" baseline="0" noProof="0">
                  <a:ln>
                    <a:noFill/>
                  </a:ln>
                  <a:effectLst/>
                  <a:uLnTx/>
                  <a:uFillTx/>
                  <a:latin typeface="Versos" panose="020B0503020204030204" pitchFamily="34" charset="77"/>
                  <a:cs typeface="Arial"/>
                  <a:sym typeface="Arial"/>
                </a:rPr>
                <a:t>Público Alvo</a:t>
              </a: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95" name="object 62">
              <a:extLst>
                <a:ext uri="{FF2B5EF4-FFF2-40B4-BE49-F238E27FC236}">
                  <a16:creationId xmlns:a16="http://schemas.microsoft.com/office/drawing/2014/main" id="{DBB24185-DCD1-F571-E20F-39A8BE44FBAE}"/>
                </a:ext>
              </a:extLst>
            </p:cNvPr>
            <p:cNvSpPr/>
            <p:nvPr/>
          </p:nvSpPr>
          <p:spPr>
            <a:xfrm>
              <a:off x="10160924" y="629843"/>
              <a:ext cx="1464015" cy="0"/>
            </a:xfrm>
            <a:custGeom>
              <a:avLst/>
              <a:gdLst/>
              <a:ahLst/>
              <a:cxnLst/>
              <a:rect l="l" t="t" r="r" b="b"/>
              <a:pathLst>
                <a:path w="2414269">
                  <a:moveTo>
                    <a:pt x="0" y="0"/>
                  </a:moveTo>
                  <a:lnTo>
                    <a:pt x="2413926" y="0"/>
                  </a:lnTo>
                </a:path>
              </a:pathLst>
            </a:custGeom>
            <a:ln w="10470">
              <a:solidFill>
                <a:schemeClr val="bg2">
                  <a:lumMod val="25000"/>
                </a:schemeClr>
              </a:solidFill>
            </a:ln>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96" name="object 66">
              <a:extLst>
                <a:ext uri="{FF2B5EF4-FFF2-40B4-BE49-F238E27FC236}">
                  <a16:creationId xmlns:a16="http://schemas.microsoft.com/office/drawing/2014/main" id="{E9D4C075-B0E5-7B5C-D3C7-4C906199C639}"/>
                </a:ext>
              </a:extLst>
            </p:cNvPr>
            <p:cNvSpPr txBox="1"/>
            <p:nvPr/>
          </p:nvSpPr>
          <p:spPr>
            <a:xfrm>
              <a:off x="10160924" y="1395290"/>
              <a:ext cx="1493506" cy="423417"/>
            </a:xfrm>
            <a:prstGeom prst="rect">
              <a:avLst/>
            </a:prstGeom>
          </p:spPr>
          <p:txBody>
            <a:bodyPr vert="horz" wrap="square" lIns="0" tIns="7316" rIns="0" bIns="0" rtlCol="0">
              <a:spAutoFit/>
            </a:bodyPr>
            <a:lstStyle/>
            <a:p>
              <a:pPr marL="7701" marR="3081" lvl="0" indent="0" algn="l" defTabSz="554492" rtl="0" eaLnBrk="1" fontAlgn="auto" latinLnBrk="0" hangingPunct="1">
                <a:lnSpc>
                  <a:spcPct val="100499"/>
                </a:lnSpc>
                <a:spcBef>
                  <a:spcPts val="58"/>
                </a:spcBef>
                <a:spcAft>
                  <a:spcPts val="0"/>
                </a:spcAft>
                <a:buClrTx/>
                <a:buSzTx/>
                <a:buFont typeface="Arial"/>
                <a:buNone/>
                <a:tabLst/>
                <a:defRPr/>
              </a:pPr>
              <a:r>
                <a:rPr kumimoji="0" lang="pt-BR" sz="1050" b="0" i="0" u="none" strike="noStrike" kern="0" cap="none" spc="0" normalizeH="0" baseline="0" noProof="0">
                  <a:ln>
                    <a:noFill/>
                  </a:ln>
                  <a:effectLst/>
                  <a:uLnTx/>
                  <a:uFillTx/>
                  <a:latin typeface="Versos Light" panose="020B0403020204030204" pitchFamily="34" charset="0"/>
                  <a:cs typeface="Arial"/>
                  <a:sym typeface="Arial"/>
                </a:rPr>
                <a:t>Investidor</a:t>
              </a:r>
            </a:p>
            <a:p>
              <a:pPr marL="7701" marR="3081" lvl="0" indent="0" algn="l" defTabSz="554492" rtl="0" eaLnBrk="1" fontAlgn="auto" latinLnBrk="0" hangingPunct="1">
                <a:lnSpc>
                  <a:spcPct val="100499"/>
                </a:lnSpc>
                <a:spcBef>
                  <a:spcPts val="58"/>
                </a:spcBef>
                <a:spcAft>
                  <a:spcPts val="0"/>
                </a:spcAft>
                <a:buClrTx/>
                <a:buSzTx/>
                <a:buFont typeface="Arial"/>
                <a:buNone/>
                <a:tabLst/>
                <a:defRPr/>
              </a:pPr>
              <a:r>
                <a:rPr kumimoji="0" lang="pt-BR" sz="1050" b="0" i="0" u="none" strike="noStrike" kern="0" cap="none" spc="0" normalizeH="0" baseline="0" noProof="0">
                  <a:ln>
                    <a:noFill/>
                  </a:ln>
                  <a:effectLst/>
                  <a:uLnTx/>
                  <a:uFillTx/>
                  <a:latin typeface="Versos Light" panose="020B0403020204030204" pitchFamily="34" charset="0"/>
                  <a:cs typeface="Arial"/>
                  <a:sym typeface="Arial"/>
                </a:rPr>
                <a:t>Qualificado</a:t>
              </a:r>
            </a:p>
          </p:txBody>
        </p:sp>
      </p:grpSp>
      <p:sp>
        <p:nvSpPr>
          <p:cNvPr id="97" name="object 67">
            <a:extLst>
              <a:ext uri="{FF2B5EF4-FFF2-40B4-BE49-F238E27FC236}">
                <a16:creationId xmlns:a16="http://schemas.microsoft.com/office/drawing/2014/main" id="{D51C6331-673C-A27D-0924-53956D97D3F7}"/>
              </a:ext>
            </a:extLst>
          </p:cNvPr>
          <p:cNvSpPr txBox="1"/>
          <p:nvPr/>
        </p:nvSpPr>
        <p:spPr>
          <a:xfrm>
            <a:off x="802675" y="5678087"/>
            <a:ext cx="1245096" cy="474888"/>
          </a:xfrm>
          <a:prstGeom prst="rect">
            <a:avLst/>
          </a:prstGeom>
        </p:spPr>
        <p:txBody>
          <a:bodyPr vert="horz" wrap="square" lIns="0" tIns="7316" rIns="0" bIns="0" rtlCol="0" anchor="t">
            <a:spAutoFit/>
          </a:bodyPr>
          <a:lstStyle/>
          <a:p>
            <a:pPr marL="0" marR="3081" lvl="0" indent="0" algn="l" defTabSz="554492" rtl="0" eaLnBrk="1" fontAlgn="auto" latinLnBrk="0" hangingPunct="1">
              <a:lnSpc>
                <a:spcPct val="100000"/>
              </a:lnSpc>
              <a:spcBef>
                <a:spcPts val="58"/>
              </a:spcBef>
              <a:spcAft>
                <a:spcPts val="0"/>
              </a:spcAft>
              <a:buClrTx/>
              <a:buSzTx/>
              <a:buFont typeface="Arial"/>
              <a:buNone/>
              <a:tabLst/>
              <a:defRPr/>
            </a:pPr>
            <a:r>
              <a:rPr kumimoji="0" lang="pt-BR" sz="1050" b="0" i="0" u="none" strike="noStrike" kern="0" cap="none" spc="0" normalizeH="0" baseline="0" noProof="0">
                <a:ln>
                  <a:noFill/>
                </a:ln>
                <a:effectLst/>
                <a:uLnTx/>
                <a:uFillTx/>
                <a:latin typeface="Versos Light" panose="020B0403020204030204" pitchFamily="34" charset="0"/>
                <a:cs typeface="Arial"/>
                <a:sym typeface="Arial"/>
              </a:rPr>
              <a:t>Aplicação diária com integralização em </a:t>
            </a:r>
            <a:r>
              <a:rPr kumimoji="0" lang="pt-BR" sz="1050" b="1" i="0" u="none" strike="noStrike" kern="0" cap="none" spc="0" normalizeH="0" baseline="0" noProof="0">
                <a:ln>
                  <a:noFill/>
                </a:ln>
                <a:effectLst/>
                <a:uLnTx/>
                <a:uFillTx/>
                <a:latin typeface="Versos"/>
                <a:cs typeface="Arial"/>
                <a:sym typeface="Arial"/>
              </a:rPr>
              <a:t>D+1 dia</a:t>
            </a:r>
            <a:endParaRPr kumimoji="0" lang="pt-BR" sz="1050" b="0" i="0" u="none" strike="noStrike" kern="0" cap="none" spc="0" normalizeH="0" baseline="0" noProof="0">
              <a:ln>
                <a:noFill/>
              </a:ln>
              <a:effectLst/>
              <a:uLnTx/>
              <a:uFillTx/>
              <a:latin typeface="Versos"/>
              <a:cs typeface="Arial"/>
              <a:sym typeface="Arial"/>
            </a:endParaRPr>
          </a:p>
        </p:txBody>
      </p:sp>
      <p:sp>
        <p:nvSpPr>
          <p:cNvPr id="98" name="object 68">
            <a:extLst>
              <a:ext uri="{FF2B5EF4-FFF2-40B4-BE49-F238E27FC236}">
                <a16:creationId xmlns:a16="http://schemas.microsoft.com/office/drawing/2014/main" id="{7A0F2670-7DF0-F501-5073-4AC97476A684}"/>
              </a:ext>
            </a:extLst>
          </p:cNvPr>
          <p:cNvSpPr txBox="1"/>
          <p:nvPr/>
        </p:nvSpPr>
        <p:spPr>
          <a:xfrm>
            <a:off x="802675" y="7834590"/>
            <a:ext cx="1599158" cy="458252"/>
          </a:xfrm>
          <a:prstGeom prst="rect">
            <a:avLst/>
          </a:prstGeom>
        </p:spPr>
        <p:txBody>
          <a:bodyPr vert="horz" wrap="square" lIns="0" tIns="26184" rIns="0" bIns="0" rtlCol="0" anchor="t">
            <a:spAutoFit/>
          </a:bodyPr>
          <a:lstStyle/>
          <a:p>
            <a:pPr marL="7701" marR="3081" lvl="0" indent="0" algn="l" defTabSz="554492" rtl="0" eaLnBrk="1" fontAlgn="auto" latinLnBrk="0" hangingPunct="1">
              <a:lnSpc>
                <a:spcPct val="93700"/>
              </a:lnSpc>
              <a:spcBef>
                <a:spcPts val="206"/>
              </a:spcBef>
              <a:spcAft>
                <a:spcPts val="0"/>
              </a:spcAft>
              <a:buClrTx/>
              <a:buSzTx/>
              <a:buFont typeface="Arial"/>
              <a:buNone/>
              <a:tabLst/>
              <a:defRPr/>
            </a:pPr>
            <a:r>
              <a:rPr kumimoji="0" lang="pt-BR" sz="2000" b="1" i="0" u="none" strike="noStrike" kern="0" cap="none" spc="0" normalizeH="0" baseline="0" noProof="0">
                <a:ln>
                  <a:noFill/>
                </a:ln>
                <a:effectLst/>
                <a:uLnTx/>
                <a:uFillTx/>
                <a:latin typeface="Versos"/>
                <a:cs typeface="Arial"/>
                <a:sym typeface="Arial"/>
              </a:rPr>
              <a:t>1,0%</a:t>
            </a:r>
            <a:br>
              <a:rPr kumimoji="0" lang="pt-BR" sz="2000" b="1" i="0" u="none" strike="noStrike" kern="0" cap="none" spc="0" normalizeH="0" baseline="0" noProof="0">
                <a:ln>
                  <a:noFill/>
                </a:ln>
                <a:effectLst/>
                <a:uLnTx/>
                <a:uFillTx/>
                <a:latin typeface="Versos"/>
                <a:cs typeface="Arial"/>
                <a:sym typeface="Arial"/>
              </a:rPr>
            </a:br>
            <a:r>
              <a:rPr kumimoji="0" lang="pt-BR" sz="1050" b="0" i="0" u="none" strike="noStrike" kern="0" cap="none" spc="0" normalizeH="0" baseline="0" noProof="0">
                <a:ln>
                  <a:noFill/>
                </a:ln>
                <a:effectLst/>
                <a:uLnTx/>
                <a:uFillTx/>
                <a:latin typeface="Versos Light" panose="020B0403020204030204" pitchFamily="34" charset="0"/>
                <a:cs typeface="Arial"/>
                <a:sym typeface="Arial"/>
              </a:rPr>
              <a:t>a.a. </a:t>
            </a:r>
          </a:p>
        </p:txBody>
      </p:sp>
      <p:sp>
        <p:nvSpPr>
          <p:cNvPr id="99" name="object 69">
            <a:extLst>
              <a:ext uri="{FF2B5EF4-FFF2-40B4-BE49-F238E27FC236}">
                <a16:creationId xmlns:a16="http://schemas.microsoft.com/office/drawing/2014/main" id="{1D9CC132-66B8-B985-5B6E-5581A41F4B24}"/>
              </a:ext>
            </a:extLst>
          </p:cNvPr>
          <p:cNvSpPr txBox="1"/>
          <p:nvPr/>
        </p:nvSpPr>
        <p:spPr>
          <a:xfrm>
            <a:off x="3052169" y="7834590"/>
            <a:ext cx="2339147" cy="458252"/>
          </a:xfrm>
          <a:prstGeom prst="rect">
            <a:avLst/>
          </a:prstGeom>
        </p:spPr>
        <p:txBody>
          <a:bodyPr vert="horz" wrap="square" lIns="0" tIns="26184" rIns="0" bIns="0" rtlCol="0" anchor="t">
            <a:spAutoFit/>
          </a:bodyPr>
          <a:lstStyle/>
          <a:p>
            <a:pPr marL="7701" marR="3081" lvl="0" indent="0" algn="l" defTabSz="554492" rtl="0" eaLnBrk="1" fontAlgn="auto" latinLnBrk="0" hangingPunct="1">
              <a:lnSpc>
                <a:spcPct val="93700"/>
              </a:lnSpc>
              <a:spcBef>
                <a:spcPts val="206"/>
              </a:spcBef>
              <a:spcAft>
                <a:spcPts val="0"/>
              </a:spcAft>
              <a:buClrTx/>
              <a:buSzTx/>
              <a:buFont typeface="Arial"/>
              <a:buNone/>
              <a:tabLst/>
              <a:defRPr/>
            </a:pPr>
            <a:r>
              <a:rPr kumimoji="0" lang="pt-BR" sz="2000" b="1" i="0" u="none" strike="noStrike" kern="0" cap="none" spc="0" normalizeH="0" baseline="0" noProof="0">
                <a:ln>
                  <a:noFill/>
                </a:ln>
                <a:effectLst/>
                <a:uLnTx/>
                <a:uFillTx/>
                <a:latin typeface="Versos"/>
                <a:cs typeface="Arial"/>
                <a:sym typeface="Arial"/>
              </a:rPr>
              <a:t>20% </a:t>
            </a:r>
            <a:br>
              <a:rPr kumimoji="0" lang="pt-BR" sz="2000" b="1" i="0" u="none" strike="noStrike" kern="0" cap="none" spc="0" normalizeH="0" baseline="0" noProof="0">
                <a:ln>
                  <a:noFill/>
                </a:ln>
                <a:effectLst/>
                <a:uLnTx/>
                <a:uFillTx/>
                <a:latin typeface="Versos"/>
                <a:cs typeface="Arial"/>
                <a:sym typeface="Arial"/>
              </a:rPr>
            </a:br>
            <a:r>
              <a:rPr kumimoji="0" lang="pt-BR" sz="1050" b="0" i="0" u="none" strike="noStrike" kern="0" cap="none" spc="0" normalizeH="0" baseline="0" noProof="0">
                <a:ln>
                  <a:noFill/>
                </a:ln>
                <a:effectLst/>
                <a:uLnTx/>
                <a:uFillTx/>
                <a:latin typeface="Versos Light" panose="020B0403020204030204" pitchFamily="34" charset="0"/>
                <a:cs typeface="Arial"/>
                <a:sym typeface="Arial"/>
              </a:rPr>
              <a:t>do retorno que exceder o CDI</a:t>
            </a:r>
          </a:p>
        </p:txBody>
      </p:sp>
      <p:sp>
        <p:nvSpPr>
          <p:cNvPr id="100" name="object 70">
            <a:extLst>
              <a:ext uri="{FF2B5EF4-FFF2-40B4-BE49-F238E27FC236}">
                <a16:creationId xmlns:a16="http://schemas.microsoft.com/office/drawing/2014/main" id="{5E66CB89-B2BE-F83B-9195-31F396A12115}"/>
              </a:ext>
            </a:extLst>
          </p:cNvPr>
          <p:cNvSpPr/>
          <p:nvPr/>
        </p:nvSpPr>
        <p:spPr>
          <a:xfrm>
            <a:off x="5611372" y="6561005"/>
            <a:ext cx="589702" cy="506536"/>
          </a:xfrm>
          <a:custGeom>
            <a:avLst/>
            <a:gdLst/>
            <a:ahLst/>
            <a:cxnLst/>
            <a:rect l="l" t="t" r="r" b="b"/>
            <a:pathLst>
              <a:path w="1242694" h="1067434">
                <a:moveTo>
                  <a:pt x="621245" y="163626"/>
                </a:moveTo>
                <a:lnTo>
                  <a:pt x="573519" y="107010"/>
                </a:lnTo>
                <a:lnTo>
                  <a:pt x="537222" y="75298"/>
                </a:lnTo>
                <a:lnTo>
                  <a:pt x="497484" y="48818"/>
                </a:lnTo>
                <a:lnTo>
                  <a:pt x="454761" y="27813"/>
                </a:lnTo>
                <a:lnTo>
                  <a:pt x="409562" y="12522"/>
                </a:lnTo>
                <a:lnTo>
                  <a:pt x="362356" y="3175"/>
                </a:lnTo>
                <a:lnTo>
                  <a:pt x="313601" y="0"/>
                </a:lnTo>
                <a:lnTo>
                  <a:pt x="0" y="0"/>
                </a:lnTo>
                <a:lnTo>
                  <a:pt x="0" y="163626"/>
                </a:lnTo>
                <a:lnTo>
                  <a:pt x="621245" y="163626"/>
                </a:lnTo>
                <a:close/>
              </a:path>
              <a:path w="1242694" h="1067434">
                <a:moveTo>
                  <a:pt x="1242504" y="0"/>
                </a:moveTo>
                <a:lnTo>
                  <a:pt x="928916" y="0"/>
                </a:lnTo>
                <a:lnTo>
                  <a:pt x="880160" y="3175"/>
                </a:lnTo>
                <a:lnTo>
                  <a:pt x="832929" y="12522"/>
                </a:lnTo>
                <a:lnTo>
                  <a:pt x="787730" y="27813"/>
                </a:lnTo>
                <a:lnTo>
                  <a:pt x="745007" y="48818"/>
                </a:lnTo>
                <a:lnTo>
                  <a:pt x="705269" y="75298"/>
                </a:lnTo>
                <a:lnTo>
                  <a:pt x="668972" y="107010"/>
                </a:lnTo>
                <a:lnTo>
                  <a:pt x="636600" y="143725"/>
                </a:lnTo>
                <a:lnTo>
                  <a:pt x="621258" y="163614"/>
                </a:lnTo>
                <a:lnTo>
                  <a:pt x="584174" y="216814"/>
                </a:lnTo>
                <a:lnTo>
                  <a:pt x="562711" y="260045"/>
                </a:lnTo>
                <a:lnTo>
                  <a:pt x="547192" y="305523"/>
                </a:lnTo>
                <a:lnTo>
                  <a:pt x="537781" y="352869"/>
                </a:lnTo>
                <a:lnTo>
                  <a:pt x="534619" y="401662"/>
                </a:lnTo>
                <a:lnTo>
                  <a:pt x="534492" y="1054519"/>
                </a:lnTo>
                <a:lnTo>
                  <a:pt x="534619" y="1066876"/>
                </a:lnTo>
                <a:lnTo>
                  <a:pt x="707999" y="1066876"/>
                </a:lnTo>
                <a:lnTo>
                  <a:pt x="707872" y="695236"/>
                </a:lnTo>
                <a:lnTo>
                  <a:pt x="712597" y="688314"/>
                </a:lnTo>
                <a:lnTo>
                  <a:pt x="707872" y="684987"/>
                </a:lnTo>
                <a:lnTo>
                  <a:pt x="707872" y="401662"/>
                </a:lnTo>
                <a:lnTo>
                  <a:pt x="704710" y="352869"/>
                </a:lnTo>
                <a:lnTo>
                  <a:pt x="695299" y="305523"/>
                </a:lnTo>
                <a:lnTo>
                  <a:pt x="679792" y="260045"/>
                </a:lnTo>
                <a:lnTo>
                  <a:pt x="658317" y="216814"/>
                </a:lnTo>
                <a:lnTo>
                  <a:pt x="631012" y="176250"/>
                </a:lnTo>
                <a:lnTo>
                  <a:pt x="621258" y="163626"/>
                </a:lnTo>
                <a:lnTo>
                  <a:pt x="1242504" y="163626"/>
                </a:lnTo>
                <a:lnTo>
                  <a:pt x="1242504" y="0"/>
                </a:lnTo>
                <a:close/>
              </a:path>
            </a:pathLst>
          </a:custGeom>
          <a:solidFill>
            <a:schemeClr val="tx1"/>
          </a:solidFill>
        </p:spPr>
        <p:txBody>
          <a:bodyPr wrap="square" lIns="0" tIns="0" rIns="0" bIns="0" rtlCol="0"/>
          <a:lstStyle/>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sz="900" b="0" i="0" u="none" strike="noStrike" kern="0" cap="none" spc="0" normalizeH="0" baseline="0" noProof="0">
              <a:ln>
                <a:noFill/>
              </a:ln>
              <a:effectLst/>
              <a:uLnTx/>
              <a:uFillTx/>
              <a:latin typeface="Versos" panose="020B0503020204030204" pitchFamily="34" charset="77"/>
              <a:cs typeface="Arial"/>
              <a:sym typeface="Arial"/>
            </a:endParaRPr>
          </a:p>
        </p:txBody>
      </p:sp>
      <p:sp>
        <p:nvSpPr>
          <p:cNvPr id="101" name="object 13">
            <a:extLst>
              <a:ext uri="{FF2B5EF4-FFF2-40B4-BE49-F238E27FC236}">
                <a16:creationId xmlns:a16="http://schemas.microsoft.com/office/drawing/2014/main" id="{A0B543D5-B5F2-ED54-9E7F-9DDA37320BC2}"/>
              </a:ext>
            </a:extLst>
          </p:cNvPr>
          <p:cNvSpPr txBox="1">
            <a:spLocks/>
          </p:cNvSpPr>
          <p:nvPr/>
        </p:nvSpPr>
        <p:spPr>
          <a:xfrm>
            <a:off x="2846649" y="1760919"/>
            <a:ext cx="3354425" cy="308904"/>
          </a:xfrm>
          <a:prstGeom prst="rect">
            <a:avLst/>
          </a:prstGeom>
        </p:spPr>
        <p:txBody>
          <a:bodyPr vert="horz" wrap="square" lIns="0" tIns="69697" rIns="0" bIns="0" rtlCol="0" anchor="t">
            <a:spAutoFit/>
          </a:bodyPr>
          <a:lstStyle>
            <a:lvl1pPr>
              <a:defRPr sz="4550" b="1" i="0">
                <a:solidFill>
                  <a:srgbClr val="1E271F"/>
                </a:solidFill>
                <a:latin typeface="Versos"/>
                <a:ea typeface="+mj-ea"/>
                <a:cs typeface="Versos"/>
              </a:defRPr>
            </a:lvl1pPr>
          </a:lstStyle>
          <a:p>
            <a:pPr marL="0" marR="0" lvl="0" indent="0" algn="l" defTabSz="554492" rtl="0" eaLnBrk="1" fontAlgn="auto" latinLnBrk="0" hangingPunct="1">
              <a:lnSpc>
                <a:spcPct val="100000"/>
              </a:lnSpc>
              <a:spcBef>
                <a:spcPts val="0"/>
              </a:spcBef>
              <a:spcAft>
                <a:spcPts val="0"/>
              </a:spcAft>
              <a:buClrTx/>
              <a:buSzTx/>
              <a:buFont typeface="Arial"/>
              <a:buNone/>
              <a:tabLst/>
              <a:defRPr/>
            </a:pPr>
            <a:r>
              <a:rPr kumimoji="0" lang="pt-BR" sz="1050" b="1" i="0" u="none" strike="noStrike" kern="0" cap="none" spc="0" normalizeH="0" baseline="0" noProof="0">
                <a:ln>
                  <a:noFill/>
                </a:ln>
                <a:solidFill>
                  <a:schemeClr val="tx1"/>
                </a:solidFill>
                <a:effectLst/>
                <a:uLnTx/>
                <a:uFillTx/>
                <a:latin typeface="Versos"/>
                <a:ea typeface="+mj-ea"/>
                <a:sym typeface="Arial"/>
              </a:rPr>
              <a:t>/</a:t>
            </a:r>
            <a:r>
              <a:rPr kumimoji="0" lang="pt-BR" sz="300" b="1" i="0" u="none" strike="noStrike" kern="0" cap="none" spc="0" normalizeH="0" baseline="0" noProof="0">
                <a:ln>
                  <a:noFill/>
                </a:ln>
                <a:solidFill>
                  <a:schemeClr val="tx1"/>
                </a:solidFill>
                <a:effectLst/>
                <a:uLnTx/>
                <a:uFillTx/>
                <a:latin typeface="Versos"/>
                <a:ea typeface="+mj-ea"/>
                <a:sym typeface="Arial"/>
              </a:rPr>
              <a:t> </a:t>
            </a:r>
            <a:r>
              <a:rPr kumimoji="0" lang="pt-BR" sz="1050" b="1" i="0" u="none" strike="noStrike" kern="0" cap="none" spc="0" normalizeH="0" baseline="0" noProof="0">
                <a:ln>
                  <a:noFill/>
                </a:ln>
                <a:solidFill>
                  <a:schemeClr val="tx1"/>
                </a:solidFill>
                <a:effectLst/>
                <a:uLnTx/>
                <a:uFillTx/>
                <a:latin typeface="Versos"/>
                <a:ea typeface="+mj-ea"/>
                <a:sym typeface="Arial"/>
              </a:rPr>
              <a:t>/</a:t>
            </a:r>
            <a:r>
              <a:rPr kumimoji="0" lang="pt-BR" sz="300" b="1" i="0" u="none" strike="noStrike" kern="0" cap="none" spc="0" normalizeH="0" baseline="0" noProof="0">
                <a:ln>
                  <a:noFill/>
                </a:ln>
                <a:solidFill>
                  <a:schemeClr val="tx1"/>
                </a:solidFill>
                <a:effectLst/>
                <a:uLnTx/>
                <a:uFillTx/>
                <a:latin typeface="Versos"/>
                <a:ea typeface="+mj-ea"/>
                <a:sym typeface="Arial"/>
              </a:rPr>
              <a:t>      </a:t>
            </a:r>
            <a:r>
              <a:rPr kumimoji="0" lang="pt-BR" sz="1050" b="1" i="0" u="none" strike="noStrike" kern="0" cap="none" spc="0" normalizeH="0" baseline="0" noProof="0">
                <a:ln>
                  <a:noFill/>
                </a:ln>
                <a:solidFill>
                  <a:schemeClr val="tx1"/>
                </a:solidFill>
                <a:effectLst/>
                <a:uLnTx/>
                <a:uFillTx/>
                <a:latin typeface="Versos"/>
                <a:ea typeface="+mj-ea"/>
                <a:sym typeface="Arial"/>
              </a:rPr>
              <a:t>BRADESCO TIVIO HYD60 PGBL/VGBL FIF</a:t>
            </a:r>
          </a:p>
          <a:p>
            <a:pPr marL="0" marR="0" lvl="0" indent="0" algn="l" defTabSz="554492" rtl="0" eaLnBrk="1" fontAlgn="auto" latinLnBrk="0" hangingPunct="1">
              <a:lnSpc>
                <a:spcPct val="100000"/>
              </a:lnSpc>
              <a:spcBef>
                <a:spcPts val="0"/>
              </a:spcBef>
              <a:spcAft>
                <a:spcPts val="0"/>
              </a:spcAft>
              <a:buClrTx/>
              <a:buSzTx/>
              <a:buFont typeface="Arial"/>
              <a:buNone/>
              <a:tabLst/>
              <a:defRPr/>
            </a:pPr>
            <a:endParaRPr kumimoji="0" lang="pt-BR" sz="500" b="0" i="0" u="none" strike="noStrike" kern="0" cap="none" spc="0" normalizeH="0" baseline="0" noProof="0">
              <a:ln>
                <a:noFill/>
              </a:ln>
              <a:solidFill>
                <a:schemeClr val="tx1"/>
              </a:solidFill>
              <a:effectLst/>
              <a:uLnTx/>
              <a:uFillTx/>
              <a:latin typeface="Versos"/>
              <a:ea typeface="+mj-ea"/>
              <a:sym typeface="Arial"/>
            </a:endParaRPr>
          </a:p>
        </p:txBody>
      </p:sp>
      <p:grpSp>
        <p:nvGrpSpPr>
          <p:cNvPr id="102" name="Group 3">
            <a:extLst>
              <a:ext uri="{FF2B5EF4-FFF2-40B4-BE49-F238E27FC236}">
                <a16:creationId xmlns:a16="http://schemas.microsoft.com/office/drawing/2014/main" id="{FB18866A-CE98-9E54-4DE9-BE892FEC23E8}"/>
              </a:ext>
            </a:extLst>
          </p:cNvPr>
          <p:cNvGrpSpPr/>
          <p:nvPr/>
        </p:nvGrpSpPr>
        <p:grpSpPr>
          <a:xfrm>
            <a:off x="831301" y="922617"/>
            <a:ext cx="2335557" cy="2228055"/>
            <a:chOff x="704653" y="2277520"/>
            <a:chExt cx="2882932" cy="2750236"/>
          </a:xfrm>
        </p:grpSpPr>
        <p:grpSp>
          <p:nvGrpSpPr>
            <p:cNvPr id="103" name="Graphic 5">
              <a:extLst>
                <a:ext uri="{FF2B5EF4-FFF2-40B4-BE49-F238E27FC236}">
                  <a16:creationId xmlns:a16="http://schemas.microsoft.com/office/drawing/2014/main" id="{6222CC59-801D-9D88-7641-2780BC3681E5}"/>
                </a:ext>
              </a:extLst>
            </p:cNvPr>
            <p:cNvGrpSpPr/>
            <p:nvPr/>
          </p:nvGrpSpPr>
          <p:grpSpPr>
            <a:xfrm>
              <a:off x="706890" y="3931897"/>
              <a:ext cx="2880695" cy="1095859"/>
              <a:chOff x="706890" y="3931897"/>
              <a:chExt cx="2880695" cy="1095859"/>
            </a:xfrm>
          </p:grpSpPr>
          <p:sp>
            <p:nvSpPr>
              <p:cNvPr id="105" name="Freeform: Shape 18">
                <a:extLst>
                  <a:ext uri="{FF2B5EF4-FFF2-40B4-BE49-F238E27FC236}">
                    <a16:creationId xmlns:a16="http://schemas.microsoft.com/office/drawing/2014/main" id="{B4EE0519-AD16-071A-383A-EF52D6460951}"/>
                  </a:ext>
                </a:extLst>
              </p:cNvPr>
              <p:cNvSpPr/>
              <p:nvPr/>
            </p:nvSpPr>
            <p:spPr>
              <a:xfrm>
                <a:off x="706890" y="3941198"/>
                <a:ext cx="846972" cy="1076081"/>
              </a:xfrm>
              <a:custGeom>
                <a:avLst/>
                <a:gdLst>
                  <a:gd name="connsiteX0" fmla="*/ 0 w 846972"/>
                  <a:gd name="connsiteY0" fmla="*/ 118 h 1076081"/>
                  <a:gd name="connsiteX1" fmla="*/ 376628 w 846972"/>
                  <a:gd name="connsiteY1" fmla="*/ 118 h 1076081"/>
                  <a:gd name="connsiteX2" fmla="*/ 727120 w 846972"/>
                  <a:gd name="connsiteY2" fmla="*/ 114672 h 1076081"/>
                  <a:gd name="connsiteX3" fmla="*/ 846973 w 846972"/>
                  <a:gd name="connsiteY3" fmla="*/ 449034 h 1076081"/>
                  <a:gd name="connsiteX4" fmla="*/ 846973 w 846972"/>
                  <a:gd name="connsiteY4" fmla="*/ 625752 h 1076081"/>
                  <a:gd name="connsiteX5" fmla="*/ 726296 w 846972"/>
                  <a:gd name="connsiteY5" fmla="*/ 960820 h 1076081"/>
                  <a:gd name="connsiteX6" fmla="*/ 376628 w 846972"/>
                  <a:gd name="connsiteY6" fmla="*/ 1076081 h 1076081"/>
                  <a:gd name="connsiteX7" fmla="*/ 0 w 846972"/>
                  <a:gd name="connsiteY7" fmla="*/ 1076081 h 1076081"/>
                  <a:gd name="connsiteX8" fmla="*/ 0 w 846972"/>
                  <a:gd name="connsiteY8" fmla="*/ 0 h 1076081"/>
                  <a:gd name="connsiteX9" fmla="*/ 359675 w 846972"/>
                  <a:gd name="connsiteY9" fmla="*/ 1026869 h 1076081"/>
                  <a:gd name="connsiteX10" fmla="*/ 791638 w 846972"/>
                  <a:gd name="connsiteY10" fmla="*/ 625634 h 1076081"/>
                  <a:gd name="connsiteX11" fmla="*/ 791638 w 846972"/>
                  <a:gd name="connsiteY11" fmla="*/ 448917 h 1076081"/>
                  <a:gd name="connsiteX12" fmla="*/ 359675 w 846972"/>
                  <a:gd name="connsiteY12" fmla="*/ 49213 h 1076081"/>
                  <a:gd name="connsiteX13" fmla="*/ 53804 w 846972"/>
                  <a:gd name="connsiteY13" fmla="*/ 49213 h 1076081"/>
                  <a:gd name="connsiteX14" fmla="*/ 53804 w 846972"/>
                  <a:gd name="connsiteY14" fmla="*/ 1026869 h 1076081"/>
                  <a:gd name="connsiteX15" fmla="*/ 359675 w 846972"/>
                  <a:gd name="connsiteY15" fmla="*/ 1026869 h 107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972" h="1076081">
                    <a:moveTo>
                      <a:pt x="0" y="118"/>
                    </a:moveTo>
                    <a:lnTo>
                      <a:pt x="376628" y="118"/>
                    </a:lnTo>
                    <a:cubicBezTo>
                      <a:pt x="530388" y="118"/>
                      <a:pt x="647179" y="38263"/>
                      <a:pt x="727120" y="114672"/>
                    </a:cubicBezTo>
                    <a:cubicBezTo>
                      <a:pt x="807061" y="191081"/>
                      <a:pt x="846973" y="302457"/>
                      <a:pt x="846973" y="449034"/>
                    </a:cubicBezTo>
                    <a:lnTo>
                      <a:pt x="846973" y="625752"/>
                    </a:lnTo>
                    <a:cubicBezTo>
                      <a:pt x="846973" y="772330"/>
                      <a:pt x="806708" y="884059"/>
                      <a:pt x="726296" y="960820"/>
                    </a:cubicBezTo>
                    <a:cubicBezTo>
                      <a:pt x="645884" y="1037700"/>
                      <a:pt x="529328" y="1076081"/>
                      <a:pt x="376628" y="1076081"/>
                    </a:cubicBezTo>
                    <a:lnTo>
                      <a:pt x="0" y="1076081"/>
                    </a:lnTo>
                    <a:lnTo>
                      <a:pt x="0" y="0"/>
                    </a:lnTo>
                    <a:close/>
                    <a:moveTo>
                      <a:pt x="359675" y="1026869"/>
                    </a:moveTo>
                    <a:cubicBezTo>
                      <a:pt x="647650" y="1026869"/>
                      <a:pt x="791638" y="893124"/>
                      <a:pt x="791638" y="625634"/>
                    </a:cubicBezTo>
                    <a:lnTo>
                      <a:pt x="791638" y="448917"/>
                    </a:lnTo>
                    <a:cubicBezTo>
                      <a:pt x="791638" y="182486"/>
                      <a:pt x="647650" y="49213"/>
                      <a:pt x="359675" y="49213"/>
                    </a:cubicBezTo>
                    <a:lnTo>
                      <a:pt x="53804" y="49213"/>
                    </a:lnTo>
                    <a:lnTo>
                      <a:pt x="53804" y="1026869"/>
                    </a:lnTo>
                    <a:lnTo>
                      <a:pt x="359675" y="1026869"/>
                    </a:lnTo>
                    <a:close/>
                  </a:path>
                </a:pathLst>
              </a:custGeom>
              <a:solidFill>
                <a:schemeClr val="tx1"/>
              </a:solidFill>
              <a:ln w="11741" cap="flat">
                <a:noFill/>
                <a:prstDash val="solid"/>
                <a:miter/>
              </a:ln>
            </p:spPr>
            <p:txBody>
              <a:bodyPr rtlCol="0" anchor="ctr"/>
              <a:lstStyle/>
              <a:p>
                <a:endParaRPr lang="pt-BR" sz="1400"/>
              </a:p>
            </p:txBody>
          </p:sp>
          <p:sp>
            <p:nvSpPr>
              <p:cNvPr id="106" name="Freeform: Shape 37">
                <a:extLst>
                  <a:ext uri="{FF2B5EF4-FFF2-40B4-BE49-F238E27FC236}">
                    <a16:creationId xmlns:a16="http://schemas.microsoft.com/office/drawing/2014/main" id="{4CECC952-501C-A0AB-9628-7C1B3576CC7B}"/>
                  </a:ext>
                </a:extLst>
              </p:cNvPr>
              <p:cNvSpPr/>
              <p:nvPr/>
            </p:nvSpPr>
            <p:spPr>
              <a:xfrm>
                <a:off x="1790507" y="3931897"/>
                <a:ext cx="779393" cy="1094329"/>
              </a:xfrm>
              <a:custGeom>
                <a:avLst/>
                <a:gdLst>
                  <a:gd name="connsiteX0" fmla="*/ 107608 w 779393"/>
                  <a:gd name="connsiteY0" fmla="*/ 972358 h 1094329"/>
                  <a:gd name="connsiteX1" fmla="*/ 0 w 779393"/>
                  <a:gd name="connsiteY1" fmla="*/ 637996 h 1094329"/>
                  <a:gd name="connsiteX2" fmla="*/ 0 w 779393"/>
                  <a:gd name="connsiteY2" fmla="*/ 467401 h 1094329"/>
                  <a:gd name="connsiteX3" fmla="*/ 49212 w 779393"/>
                  <a:gd name="connsiteY3" fmla="*/ 220632 h 1094329"/>
                  <a:gd name="connsiteX4" fmla="*/ 189904 w 779393"/>
                  <a:gd name="connsiteY4" fmla="*/ 57689 h 1094329"/>
                  <a:gd name="connsiteX5" fmla="*/ 407474 w 779393"/>
                  <a:gd name="connsiteY5" fmla="*/ 0 h 1094329"/>
                  <a:gd name="connsiteX6" fmla="*/ 591138 w 779393"/>
                  <a:gd name="connsiteY6" fmla="*/ 36851 h 1094329"/>
                  <a:gd name="connsiteX7" fmla="*/ 716406 w 779393"/>
                  <a:gd name="connsiteY7" fmla="*/ 141397 h 1094329"/>
                  <a:gd name="connsiteX8" fmla="*/ 761027 w 779393"/>
                  <a:gd name="connsiteY8" fmla="*/ 295157 h 1094329"/>
                  <a:gd name="connsiteX9" fmla="*/ 707223 w 779393"/>
                  <a:gd name="connsiteY9" fmla="*/ 295157 h 1094329"/>
                  <a:gd name="connsiteX10" fmla="*/ 668724 w 779393"/>
                  <a:gd name="connsiteY10" fmla="*/ 166828 h 1094329"/>
                  <a:gd name="connsiteX11" fmla="*/ 561941 w 779393"/>
                  <a:gd name="connsiteY11" fmla="*/ 79941 h 1094329"/>
                  <a:gd name="connsiteX12" fmla="*/ 407474 w 779393"/>
                  <a:gd name="connsiteY12" fmla="*/ 49212 h 1094329"/>
                  <a:gd name="connsiteX13" fmla="*/ 219926 w 779393"/>
                  <a:gd name="connsiteY13" fmla="*/ 100662 h 1094329"/>
                  <a:gd name="connsiteX14" fmla="*/ 96894 w 779393"/>
                  <a:gd name="connsiteY14" fmla="*/ 247475 h 1094329"/>
                  <a:gd name="connsiteX15" fmla="*/ 53804 w 779393"/>
                  <a:gd name="connsiteY15" fmla="*/ 468814 h 1094329"/>
                  <a:gd name="connsiteX16" fmla="*/ 53804 w 779393"/>
                  <a:gd name="connsiteY16" fmla="*/ 662485 h 1094329"/>
                  <a:gd name="connsiteX17" fmla="*/ 56865 w 779393"/>
                  <a:gd name="connsiteY17" fmla="*/ 662485 h 1094329"/>
                  <a:gd name="connsiteX18" fmla="*/ 172950 w 779393"/>
                  <a:gd name="connsiteY18" fmla="*/ 488004 h 1094329"/>
                  <a:gd name="connsiteX19" fmla="*/ 407357 w 779393"/>
                  <a:gd name="connsiteY19" fmla="*/ 422662 h 1094329"/>
                  <a:gd name="connsiteX20" fmla="*/ 606444 w 779393"/>
                  <a:gd name="connsiteY20" fmla="*/ 462574 h 1094329"/>
                  <a:gd name="connsiteX21" fmla="*/ 734773 w 779393"/>
                  <a:gd name="connsiteY21" fmla="*/ 574773 h 1094329"/>
                  <a:gd name="connsiteX22" fmla="*/ 779394 w 779393"/>
                  <a:gd name="connsiteY22" fmla="*/ 740777 h 1094329"/>
                  <a:gd name="connsiteX23" fmla="*/ 779394 w 779393"/>
                  <a:gd name="connsiteY23" fmla="*/ 769975 h 1094329"/>
                  <a:gd name="connsiteX24" fmla="*/ 731712 w 779393"/>
                  <a:gd name="connsiteY24" fmla="*/ 935979 h 1094329"/>
                  <a:gd name="connsiteX25" fmla="*/ 598791 w 779393"/>
                  <a:gd name="connsiteY25" fmla="*/ 1052064 h 1094329"/>
                  <a:gd name="connsiteX26" fmla="*/ 404296 w 779393"/>
                  <a:gd name="connsiteY26" fmla="*/ 1094330 h 1094329"/>
                  <a:gd name="connsiteX27" fmla="*/ 107608 w 779393"/>
                  <a:gd name="connsiteY27" fmla="*/ 972123 h 1094329"/>
                  <a:gd name="connsiteX28" fmla="*/ 116909 w 779393"/>
                  <a:gd name="connsiteY28" fmla="*/ 899364 h 1094329"/>
                  <a:gd name="connsiteX29" fmla="*/ 235231 w 779393"/>
                  <a:gd name="connsiteY29" fmla="*/ 1005441 h 1094329"/>
                  <a:gd name="connsiteX30" fmla="*/ 402765 w 779393"/>
                  <a:gd name="connsiteY30" fmla="*/ 1045353 h 1094329"/>
                  <a:gd name="connsiteX31" fmla="*/ 569593 w 779393"/>
                  <a:gd name="connsiteY31" fmla="*/ 1009209 h 1094329"/>
                  <a:gd name="connsiteX32" fmla="*/ 684030 w 779393"/>
                  <a:gd name="connsiteY32" fmla="*/ 910077 h 1094329"/>
                  <a:gd name="connsiteX33" fmla="*/ 725590 w 779393"/>
                  <a:gd name="connsiteY33" fmla="*/ 771741 h 1094329"/>
                  <a:gd name="connsiteX34" fmla="*/ 725590 w 779393"/>
                  <a:gd name="connsiteY34" fmla="*/ 742543 h 1094329"/>
                  <a:gd name="connsiteX35" fmla="*/ 638702 w 779393"/>
                  <a:gd name="connsiteY35" fmla="*/ 545811 h 1094329"/>
                  <a:gd name="connsiteX36" fmla="*/ 401235 w 779393"/>
                  <a:gd name="connsiteY36" fmla="*/ 471992 h 1094329"/>
                  <a:gd name="connsiteX37" fmla="*/ 237468 w 779393"/>
                  <a:gd name="connsiteY37" fmla="*/ 505075 h 1094329"/>
                  <a:gd name="connsiteX38" fmla="*/ 118322 w 779393"/>
                  <a:gd name="connsiteY38" fmla="*/ 599615 h 1094329"/>
                  <a:gd name="connsiteX39" fmla="*/ 73701 w 779393"/>
                  <a:gd name="connsiteY39" fmla="*/ 744074 h 1094329"/>
                  <a:gd name="connsiteX40" fmla="*/ 73701 w 779393"/>
                  <a:gd name="connsiteY40" fmla="*/ 754787 h 1094329"/>
                  <a:gd name="connsiteX41" fmla="*/ 116791 w 779393"/>
                  <a:gd name="connsiteY41" fmla="*/ 899246 h 10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79393" h="1094329">
                    <a:moveTo>
                      <a:pt x="107608" y="972358"/>
                    </a:moveTo>
                    <a:cubicBezTo>
                      <a:pt x="35791" y="890887"/>
                      <a:pt x="0" y="779394"/>
                      <a:pt x="0" y="637996"/>
                    </a:cubicBezTo>
                    <a:lnTo>
                      <a:pt x="0" y="467401"/>
                    </a:lnTo>
                    <a:cubicBezTo>
                      <a:pt x="0" y="373096"/>
                      <a:pt x="16365" y="290919"/>
                      <a:pt x="49212" y="220632"/>
                    </a:cubicBezTo>
                    <a:cubicBezTo>
                      <a:pt x="81942" y="150463"/>
                      <a:pt x="128918" y="96070"/>
                      <a:pt x="189904" y="57689"/>
                    </a:cubicBezTo>
                    <a:cubicBezTo>
                      <a:pt x="250889" y="19308"/>
                      <a:pt x="323413" y="0"/>
                      <a:pt x="407474" y="0"/>
                    </a:cubicBezTo>
                    <a:cubicBezTo>
                      <a:pt x="476113" y="0"/>
                      <a:pt x="537334" y="12244"/>
                      <a:pt x="591138" y="36851"/>
                    </a:cubicBezTo>
                    <a:cubicBezTo>
                      <a:pt x="644942" y="61457"/>
                      <a:pt x="686738" y="96306"/>
                      <a:pt x="716406" y="141397"/>
                    </a:cubicBezTo>
                    <a:cubicBezTo>
                      <a:pt x="746075" y="186489"/>
                      <a:pt x="761027" y="237703"/>
                      <a:pt x="761027" y="295157"/>
                    </a:cubicBezTo>
                    <a:lnTo>
                      <a:pt x="707223" y="295157"/>
                    </a:lnTo>
                    <a:cubicBezTo>
                      <a:pt x="707223" y="247004"/>
                      <a:pt x="694390" y="204267"/>
                      <a:pt x="668724" y="166828"/>
                    </a:cubicBezTo>
                    <a:cubicBezTo>
                      <a:pt x="643059" y="129389"/>
                      <a:pt x="607503" y="100544"/>
                      <a:pt x="561941" y="79941"/>
                    </a:cubicBezTo>
                    <a:cubicBezTo>
                      <a:pt x="516378" y="59455"/>
                      <a:pt x="464811" y="49212"/>
                      <a:pt x="407474" y="49212"/>
                    </a:cubicBezTo>
                    <a:cubicBezTo>
                      <a:pt x="335775" y="49212"/>
                      <a:pt x="273141" y="66402"/>
                      <a:pt x="219926" y="100662"/>
                    </a:cubicBezTo>
                    <a:cubicBezTo>
                      <a:pt x="166592" y="135040"/>
                      <a:pt x="125621" y="183899"/>
                      <a:pt x="96894" y="247475"/>
                    </a:cubicBezTo>
                    <a:cubicBezTo>
                      <a:pt x="68167" y="311051"/>
                      <a:pt x="53804" y="384870"/>
                      <a:pt x="53804" y="468814"/>
                    </a:cubicBezTo>
                    <a:lnTo>
                      <a:pt x="53804" y="662485"/>
                    </a:lnTo>
                    <a:lnTo>
                      <a:pt x="56865" y="662485"/>
                    </a:lnTo>
                    <a:cubicBezTo>
                      <a:pt x="69109" y="589725"/>
                      <a:pt x="107844" y="531565"/>
                      <a:pt x="172950" y="488004"/>
                    </a:cubicBezTo>
                    <a:cubicBezTo>
                      <a:pt x="238056" y="444443"/>
                      <a:pt x="316114" y="422662"/>
                      <a:pt x="407357" y="422662"/>
                    </a:cubicBezTo>
                    <a:cubicBezTo>
                      <a:pt x="484237" y="422662"/>
                      <a:pt x="550520" y="435966"/>
                      <a:pt x="606444" y="462574"/>
                    </a:cubicBezTo>
                    <a:cubicBezTo>
                      <a:pt x="662249" y="489299"/>
                      <a:pt x="704986" y="526620"/>
                      <a:pt x="734773" y="574773"/>
                    </a:cubicBezTo>
                    <a:cubicBezTo>
                      <a:pt x="764442" y="622926"/>
                      <a:pt x="779394" y="678261"/>
                      <a:pt x="779394" y="740777"/>
                    </a:cubicBezTo>
                    <a:lnTo>
                      <a:pt x="779394" y="769975"/>
                    </a:lnTo>
                    <a:cubicBezTo>
                      <a:pt x="779394" y="831432"/>
                      <a:pt x="763500" y="886766"/>
                      <a:pt x="731712" y="935979"/>
                    </a:cubicBezTo>
                    <a:cubicBezTo>
                      <a:pt x="699924" y="985191"/>
                      <a:pt x="655656" y="1023808"/>
                      <a:pt x="598791" y="1052064"/>
                    </a:cubicBezTo>
                    <a:cubicBezTo>
                      <a:pt x="541926" y="1080202"/>
                      <a:pt x="477055" y="1094330"/>
                      <a:pt x="404296" y="1094330"/>
                    </a:cubicBezTo>
                    <a:cubicBezTo>
                      <a:pt x="278203" y="1094330"/>
                      <a:pt x="179308" y="1053594"/>
                      <a:pt x="107608" y="972123"/>
                    </a:cubicBezTo>
                    <a:close/>
                    <a:moveTo>
                      <a:pt x="116909" y="899364"/>
                    </a:moveTo>
                    <a:cubicBezTo>
                      <a:pt x="145636" y="943396"/>
                      <a:pt x="185076" y="978834"/>
                      <a:pt x="235231" y="1005441"/>
                    </a:cubicBezTo>
                    <a:cubicBezTo>
                      <a:pt x="285385" y="1032167"/>
                      <a:pt x="341308" y="1045353"/>
                      <a:pt x="402765" y="1045353"/>
                    </a:cubicBezTo>
                    <a:cubicBezTo>
                      <a:pt x="464222" y="1045353"/>
                      <a:pt x="520852" y="1033344"/>
                      <a:pt x="569593" y="1009209"/>
                    </a:cubicBezTo>
                    <a:cubicBezTo>
                      <a:pt x="618217" y="985191"/>
                      <a:pt x="656480" y="952108"/>
                      <a:pt x="684030" y="910077"/>
                    </a:cubicBezTo>
                    <a:cubicBezTo>
                      <a:pt x="711697" y="868047"/>
                      <a:pt x="725590" y="821895"/>
                      <a:pt x="725590" y="771741"/>
                    </a:cubicBezTo>
                    <a:lnTo>
                      <a:pt x="725590" y="742543"/>
                    </a:lnTo>
                    <a:cubicBezTo>
                      <a:pt x="725590" y="660601"/>
                      <a:pt x="696627" y="595023"/>
                      <a:pt x="638702" y="545811"/>
                    </a:cubicBezTo>
                    <a:cubicBezTo>
                      <a:pt x="580778" y="496598"/>
                      <a:pt x="501661" y="471992"/>
                      <a:pt x="401235" y="471992"/>
                    </a:cubicBezTo>
                    <a:cubicBezTo>
                      <a:pt x="341779" y="471992"/>
                      <a:pt x="287151" y="483059"/>
                      <a:pt x="237468" y="505075"/>
                    </a:cubicBezTo>
                    <a:cubicBezTo>
                      <a:pt x="187784" y="527091"/>
                      <a:pt x="148108" y="558644"/>
                      <a:pt x="118322" y="599615"/>
                    </a:cubicBezTo>
                    <a:cubicBezTo>
                      <a:pt x="88535" y="640586"/>
                      <a:pt x="73701" y="688739"/>
                      <a:pt x="73701" y="744074"/>
                    </a:cubicBezTo>
                    <a:lnTo>
                      <a:pt x="73701" y="754787"/>
                    </a:lnTo>
                    <a:cubicBezTo>
                      <a:pt x="73701" y="807061"/>
                      <a:pt x="88064" y="855214"/>
                      <a:pt x="116791" y="899246"/>
                    </a:cubicBezTo>
                    <a:close/>
                  </a:path>
                </a:pathLst>
              </a:custGeom>
              <a:solidFill>
                <a:schemeClr val="tx1"/>
              </a:solidFill>
              <a:ln w="11741" cap="flat">
                <a:noFill/>
                <a:prstDash val="solid"/>
                <a:miter/>
              </a:ln>
            </p:spPr>
            <p:txBody>
              <a:bodyPr rtlCol="0" anchor="ctr"/>
              <a:lstStyle/>
              <a:p>
                <a:endParaRPr lang="pt-BR" sz="1400"/>
              </a:p>
            </p:txBody>
          </p:sp>
          <p:sp>
            <p:nvSpPr>
              <p:cNvPr id="107" name="Freeform: Shape 38">
                <a:extLst>
                  <a:ext uri="{FF2B5EF4-FFF2-40B4-BE49-F238E27FC236}">
                    <a16:creationId xmlns:a16="http://schemas.microsoft.com/office/drawing/2014/main" id="{00B53E74-DA1F-805D-AC4E-E54EAB018CF1}"/>
                  </a:ext>
                </a:extLst>
              </p:cNvPr>
              <p:cNvSpPr/>
              <p:nvPr/>
            </p:nvSpPr>
            <p:spPr>
              <a:xfrm>
                <a:off x="2802188" y="3933427"/>
                <a:ext cx="785397" cy="1094329"/>
              </a:xfrm>
              <a:custGeom>
                <a:avLst/>
                <a:gdLst>
                  <a:gd name="connsiteX0" fmla="*/ 633640 w 785397"/>
                  <a:gd name="connsiteY0" fmla="*/ 66519 h 1094329"/>
                  <a:gd name="connsiteX1" fmla="*/ 633640 w 785397"/>
                  <a:gd name="connsiteY1" fmla="*/ 66519 h 1094329"/>
                  <a:gd name="connsiteX2" fmla="*/ 391934 w 785397"/>
                  <a:gd name="connsiteY2" fmla="*/ 0 h 1094329"/>
                  <a:gd name="connsiteX3" fmla="*/ 94540 w 785397"/>
                  <a:gd name="connsiteY3" fmla="*/ 122913 h 1094329"/>
                  <a:gd name="connsiteX4" fmla="*/ 0 w 785397"/>
                  <a:gd name="connsiteY4" fmla="*/ 462574 h 1094329"/>
                  <a:gd name="connsiteX5" fmla="*/ 0 w 785397"/>
                  <a:gd name="connsiteY5" fmla="*/ 634699 h 1094329"/>
                  <a:gd name="connsiteX6" fmla="*/ 93716 w 785397"/>
                  <a:gd name="connsiteY6" fmla="*/ 972947 h 1094329"/>
                  <a:gd name="connsiteX7" fmla="*/ 391934 w 785397"/>
                  <a:gd name="connsiteY7" fmla="*/ 1094330 h 1094329"/>
                  <a:gd name="connsiteX8" fmla="*/ 691682 w 785397"/>
                  <a:gd name="connsiteY8" fmla="*/ 969768 h 1094329"/>
                  <a:gd name="connsiteX9" fmla="*/ 785398 w 785397"/>
                  <a:gd name="connsiteY9" fmla="*/ 634699 h 1094329"/>
                  <a:gd name="connsiteX10" fmla="*/ 785398 w 785397"/>
                  <a:gd name="connsiteY10" fmla="*/ 462574 h 1094329"/>
                  <a:gd name="connsiteX11" fmla="*/ 666841 w 785397"/>
                  <a:gd name="connsiteY11" fmla="*/ 94540 h 1094329"/>
                  <a:gd name="connsiteX12" fmla="*/ 633758 w 785397"/>
                  <a:gd name="connsiteY12" fmla="*/ 66284 h 1094329"/>
                  <a:gd name="connsiteX13" fmla="*/ 53569 w 785397"/>
                  <a:gd name="connsiteY13" fmla="*/ 634817 h 1094329"/>
                  <a:gd name="connsiteX14" fmla="*/ 53569 w 785397"/>
                  <a:gd name="connsiteY14" fmla="*/ 462691 h 1094329"/>
                  <a:gd name="connsiteX15" fmla="*/ 391698 w 785397"/>
                  <a:gd name="connsiteY15" fmla="*/ 49212 h 1094329"/>
                  <a:gd name="connsiteX16" fmla="*/ 606090 w 785397"/>
                  <a:gd name="connsiteY16" fmla="*/ 113612 h 1094329"/>
                  <a:gd name="connsiteX17" fmla="*/ 129389 w 785397"/>
                  <a:gd name="connsiteY17" fmla="*/ 930798 h 1094329"/>
                  <a:gd name="connsiteX18" fmla="*/ 53569 w 785397"/>
                  <a:gd name="connsiteY18" fmla="*/ 634935 h 1094329"/>
                  <a:gd name="connsiteX19" fmla="*/ 731476 w 785397"/>
                  <a:gd name="connsiteY19" fmla="*/ 634817 h 1094329"/>
                  <a:gd name="connsiteX20" fmla="*/ 650005 w 785397"/>
                  <a:gd name="connsiteY20" fmla="*/ 936096 h 1094329"/>
                  <a:gd name="connsiteX21" fmla="*/ 391816 w 785397"/>
                  <a:gd name="connsiteY21" fmla="*/ 1045235 h 1094329"/>
                  <a:gd name="connsiteX22" fmla="*/ 159057 w 785397"/>
                  <a:gd name="connsiteY22" fmla="*/ 964941 h 1094329"/>
                  <a:gd name="connsiteX23" fmla="*/ 637761 w 785397"/>
                  <a:gd name="connsiteY23" fmla="*/ 144458 h 1094329"/>
                  <a:gd name="connsiteX24" fmla="*/ 650123 w 785397"/>
                  <a:gd name="connsiteY24" fmla="*/ 159057 h 1094329"/>
                  <a:gd name="connsiteX25" fmla="*/ 731594 w 785397"/>
                  <a:gd name="connsiteY25" fmla="*/ 462691 h 1094329"/>
                  <a:gd name="connsiteX26" fmla="*/ 731594 w 785397"/>
                  <a:gd name="connsiteY26" fmla="*/ 634817 h 10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5397" h="1094329">
                    <a:moveTo>
                      <a:pt x="633640" y="66519"/>
                    </a:moveTo>
                    <a:lnTo>
                      <a:pt x="633640" y="66519"/>
                    </a:lnTo>
                    <a:cubicBezTo>
                      <a:pt x="571830" y="22369"/>
                      <a:pt x="491418" y="0"/>
                      <a:pt x="391934" y="0"/>
                    </a:cubicBezTo>
                    <a:cubicBezTo>
                      <a:pt x="256658" y="0"/>
                      <a:pt x="157527" y="40971"/>
                      <a:pt x="94540" y="122913"/>
                    </a:cubicBezTo>
                    <a:cubicBezTo>
                      <a:pt x="31552" y="204856"/>
                      <a:pt x="0" y="318115"/>
                      <a:pt x="0" y="462574"/>
                    </a:cubicBezTo>
                    <a:lnTo>
                      <a:pt x="0" y="634699"/>
                    </a:lnTo>
                    <a:cubicBezTo>
                      <a:pt x="0" y="779158"/>
                      <a:pt x="31199" y="891946"/>
                      <a:pt x="93716" y="972947"/>
                    </a:cubicBezTo>
                    <a:cubicBezTo>
                      <a:pt x="156232" y="1053947"/>
                      <a:pt x="255599" y="1094330"/>
                      <a:pt x="391934" y="1094330"/>
                    </a:cubicBezTo>
                    <a:cubicBezTo>
                      <a:pt x="528269" y="1094330"/>
                      <a:pt x="629166" y="1052770"/>
                      <a:pt x="691682" y="969768"/>
                    </a:cubicBezTo>
                    <a:cubicBezTo>
                      <a:pt x="754199" y="886766"/>
                      <a:pt x="785398" y="775038"/>
                      <a:pt x="785398" y="634699"/>
                    </a:cubicBezTo>
                    <a:lnTo>
                      <a:pt x="785398" y="462574"/>
                    </a:lnTo>
                    <a:cubicBezTo>
                      <a:pt x="785398" y="293391"/>
                      <a:pt x="745722" y="170948"/>
                      <a:pt x="666841" y="94540"/>
                    </a:cubicBezTo>
                    <a:lnTo>
                      <a:pt x="633758" y="66284"/>
                    </a:lnTo>
                    <a:close/>
                    <a:moveTo>
                      <a:pt x="53569" y="634817"/>
                    </a:moveTo>
                    <a:lnTo>
                      <a:pt x="53569" y="462691"/>
                    </a:lnTo>
                    <a:cubicBezTo>
                      <a:pt x="53569" y="187078"/>
                      <a:pt x="166239" y="49212"/>
                      <a:pt x="391698" y="49212"/>
                    </a:cubicBezTo>
                    <a:cubicBezTo>
                      <a:pt x="481764" y="49212"/>
                      <a:pt x="553110" y="70758"/>
                      <a:pt x="606090" y="113612"/>
                    </a:cubicBezTo>
                    <a:lnTo>
                      <a:pt x="129389" y="930798"/>
                    </a:lnTo>
                    <a:cubicBezTo>
                      <a:pt x="78999" y="862631"/>
                      <a:pt x="53569" y="764206"/>
                      <a:pt x="53569" y="634935"/>
                    </a:cubicBezTo>
                    <a:close/>
                    <a:moveTo>
                      <a:pt x="731476" y="634817"/>
                    </a:moveTo>
                    <a:cubicBezTo>
                      <a:pt x="731476" y="762911"/>
                      <a:pt x="704280" y="863337"/>
                      <a:pt x="650005" y="936096"/>
                    </a:cubicBezTo>
                    <a:cubicBezTo>
                      <a:pt x="595730" y="1008856"/>
                      <a:pt x="509549" y="1045235"/>
                      <a:pt x="391816" y="1045235"/>
                    </a:cubicBezTo>
                    <a:cubicBezTo>
                      <a:pt x="292214" y="1045235"/>
                      <a:pt x="214628" y="1018392"/>
                      <a:pt x="159057" y="964941"/>
                    </a:cubicBezTo>
                    <a:lnTo>
                      <a:pt x="637761" y="144458"/>
                    </a:lnTo>
                    <a:cubicBezTo>
                      <a:pt x="641881" y="149286"/>
                      <a:pt x="646237" y="153877"/>
                      <a:pt x="650123" y="159057"/>
                    </a:cubicBezTo>
                    <a:cubicBezTo>
                      <a:pt x="704398" y="232288"/>
                      <a:pt x="731594" y="333538"/>
                      <a:pt x="731594" y="462691"/>
                    </a:cubicBezTo>
                    <a:lnTo>
                      <a:pt x="731594" y="634817"/>
                    </a:lnTo>
                    <a:close/>
                  </a:path>
                </a:pathLst>
              </a:custGeom>
              <a:solidFill>
                <a:schemeClr val="tx1"/>
              </a:solidFill>
              <a:ln w="11741" cap="flat">
                <a:noFill/>
                <a:prstDash val="solid"/>
                <a:miter/>
              </a:ln>
            </p:spPr>
            <p:txBody>
              <a:bodyPr rtlCol="0" anchor="ctr"/>
              <a:lstStyle/>
              <a:p>
                <a:endParaRPr lang="pt-BR" sz="1400"/>
              </a:p>
            </p:txBody>
          </p:sp>
        </p:grpSp>
        <p:pic>
          <p:nvPicPr>
            <p:cNvPr id="104" name="Graphic 4">
              <a:extLst>
                <a:ext uri="{FF2B5EF4-FFF2-40B4-BE49-F238E27FC236}">
                  <a16:creationId xmlns:a16="http://schemas.microsoft.com/office/drawing/2014/main" id="{38AF0E47-00C6-7A35-DA44-FD38F62094B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04653" y="2277520"/>
              <a:ext cx="2781497" cy="1418564"/>
            </a:xfrm>
            <a:prstGeom prst="rect">
              <a:avLst/>
            </a:prstGeom>
          </p:spPr>
        </p:pic>
      </p:grpSp>
      <p:sp>
        <p:nvSpPr>
          <p:cNvPr id="110" name="CaixaDeTexto 109">
            <a:extLst>
              <a:ext uri="{FF2B5EF4-FFF2-40B4-BE49-F238E27FC236}">
                <a16:creationId xmlns:a16="http://schemas.microsoft.com/office/drawing/2014/main" id="{614096AF-F1B6-B0CC-D0B4-300A6754835E}"/>
              </a:ext>
            </a:extLst>
          </p:cNvPr>
          <p:cNvSpPr txBox="1"/>
          <p:nvPr/>
        </p:nvSpPr>
        <p:spPr>
          <a:xfrm>
            <a:off x="719913" y="541554"/>
            <a:ext cx="2335557" cy="356388"/>
          </a:xfrm>
          <a:prstGeom prst="rect">
            <a:avLst/>
          </a:prstGeom>
          <a:noFill/>
        </p:spPr>
        <p:txBody>
          <a:bodyPr wrap="square" rtlCol="0">
            <a:spAutoFit/>
          </a:bodyPr>
          <a:lstStyle/>
          <a:p>
            <a:r>
              <a:rPr lang="pt-BR" b="1">
                <a:solidFill>
                  <a:srgbClr val="000000"/>
                </a:solidFill>
                <a:latin typeface="Versos"/>
              </a:rPr>
              <a:t>BRADESCO TIVIO</a:t>
            </a:r>
          </a:p>
        </p:txBody>
      </p:sp>
      <p:pic>
        <p:nvPicPr>
          <p:cNvPr id="4" name="Picture 8">
            <a:extLst>
              <a:ext uri="{FF2B5EF4-FFF2-40B4-BE49-F238E27FC236}">
                <a16:creationId xmlns:a16="http://schemas.microsoft.com/office/drawing/2014/main" id="{0E235945-645D-B66F-8859-66C259401B61}"/>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17" t="-23966" r="-8117" b="-23966"/>
          <a:stretch/>
        </p:blipFill>
        <p:spPr>
          <a:xfrm>
            <a:off x="2908078" y="8964529"/>
            <a:ext cx="923504" cy="399917"/>
          </a:xfrm>
          <a:prstGeom prst="rect">
            <a:avLst/>
          </a:prstGeom>
        </p:spPr>
      </p:pic>
    </p:spTree>
    <p:extLst>
      <p:ext uri="{BB962C8B-B14F-4D97-AF65-F5344CB8AC3E}">
        <p14:creationId xmlns:p14="http://schemas.microsoft.com/office/powerpoint/2010/main" val="1372601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tx1">
                <a:lumMod val="95000"/>
                <a:lumOff val="5000"/>
              </a:schemeClr>
            </a:gs>
            <a:gs pos="100000">
              <a:schemeClr val="bg2">
                <a:lumMod val="10000"/>
              </a:schemeClr>
            </a:gs>
          </a:gsLst>
          <a:lin ang="2700000" scaled="0"/>
        </a:gradFill>
        <a:effectLst/>
      </p:bgPr>
    </p:bg>
    <p:spTree>
      <p:nvGrpSpPr>
        <p:cNvPr id="1" name="">
          <a:extLst>
            <a:ext uri="{FF2B5EF4-FFF2-40B4-BE49-F238E27FC236}">
              <a16:creationId xmlns:a16="http://schemas.microsoft.com/office/drawing/2014/main" id="{1556A887-F3D3-C01B-A75B-73AB4DCD380C}"/>
            </a:ext>
          </a:extLst>
        </p:cNvPr>
        <p:cNvGrpSpPr/>
        <p:nvPr/>
      </p:nvGrpSpPr>
      <p:grpSpPr>
        <a:xfrm>
          <a:off x="0" y="0"/>
          <a:ext cx="0" cy="0"/>
          <a:chOff x="0" y="0"/>
          <a:chExt cx="0" cy="0"/>
        </a:xfrm>
      </p:grpSpPr>
      <p:grpSp>
        <p:nvGrpSpPr>
          <p:cNvPr id="44" name="Agrupar 43">
            <a:extLst>
              <a:ext uri="{FF2B5EF4-FFF2-40B4-BE49-F238E27FC236}">
                <a16:creationId xmlns:a16="http://schemas.microsoft.com/office/drawing/2014/main" id="{7EC8EC69-EFA5-92F2-6DC1-AFE8E9305862}"/>
              </a:ext>
            </a:extLst>
          </p:cNvPr>
          <p:cNvGrpSpPr/>
          <p:nvPr/>
        </p:nvGrpSpPr>
        <p:grpSpPr>
          <a:xfrm>
            <a:off x="2916099" y="9096262"/>
            <a:ext cx="1025803" cy="348185"/>
            <a:chOff x="1141590" y="967425"/>
            <a:chExt cx="1482725" cy="503278"/>
          </a:xfrm>
        </p:grpSpPr>
        <p:sp>
          <p:nvSpPr>
            <p:cNvPr id="45" name="object 38">
              <a:extLst>
                <a:ext uri="{FF2B5EF4-FFF2-40B4-BE49-F238E27FC236}">
                  <a16:creationId xmlns:a16="http://schemas.microsoft.com/office/drawing/2014/main" id="{DE102917-4771-2190-2304-0B09E9612A2F}"/>
                </a:ext>
              </a:extLst>
            </p:cNvPr>
            <p:cNvSpPr/>
            <p:nvPr/>
          </p:nvSpPr>
          <p:spPr>
            <a:xfrm>
              <a:off x="1141590" y="967425"/>
              <a:ext cx="1482725" cy="323215"/>
            </a:xfrm>
            <a:custGeom>
              <a:avLst/>
              <a:gdLst/>
              <a:ahLst/>
              <a:cxnLst/>
              <a:rect l="l" t="t" r="r" b="b"/>
              <a:pathLst>
                <a:path w="1482725" h="323215">
                  <a:moveTo>
                    <a:pt x="181292" y="49149"/>
                  </a:moveTo>
                  <a:lnTo>
                    <a:pt x="139052" y="12382"/>
                  </a:lnTo>
                  <a:lnTo>
                    <a:pt x="91516" y="1397"/>
                  </a:lnTo>
                  <a:lnTo>
                    <a:pt x="0" y="1397"/>
                  </a:lnTo>
                  <a:lnTo>
                    <a:pt x="0" y="49149"/>
                  </a:lnTo>
                  <a:lnTo>
                    <a:pt x="181292" y="49149"/>
                  </a:lnTo>
                  <a:close/>
                </a:path>
                <a:path w="1482725" h="323215">
                  <a:moveTo>
                    <a:pt x="207949" y="202260"/>
                  </a:moveTo>
                  <a:lnTo>
                    <a:pt x="206565" y="201282"/>
                  </a:lnTo>
                  <a:lnTo>
                    <a:pt x="206565" y="118605"/>
                  </a:lnTo>
                  <a:lnTo>
                    <a:pt x="205130" y="100876"/>
                  </a:lnTo>
                  <a:lnTo>
                    <a:pt x="200863" y="83845"/>
                  </a:lnTo>
                  <a:lnTo>
                    <a:pt x="193840" y="67754"/>
                  </a:lnTo>
                  <a:lnTo>
                    <a:pt x="184137" y="52832"/>
                  </a:lnTo>
                  <a:lnTo>
                    <a:pt x="181292" y="49149"/>
                  </a:lnTo>
                  <a:lnTo>
                    <a:pt x="178447" y="52832"/>
                  </a:lnTo>
                  <a:lnTo>
                    <a:pt x="168744" y="67754"/>
                  </a:lnTo>
                  <a:lnTo>
                    <a:pt x="161721" y="83845"/>
                  </a:lnTo>
                  <a:lnTo>
                    <a:pt x="157454" y="100876"/>
                  </a:lnTo>
                  <a:lnTo>
                    <a:pt x="156019" y="118605"/>
                  </a:lnTo>
                  <a:lnTo>
                    <a:pt x="156019" y="312712"/>
                  </a:lnTo>
                  <a:lnTo>
                    <a:pt x="206603" y="312712"/>
                  </a:lnTo>
                  <a:lnTo>
                    <a:pt x="206565" y="204266"/>
                  </a:lnTo>
                  <a:lnTo>
                    <a:pt x="207949" y="202260"/>
                  </a:lnTo>
                  <a:close/>
                </a:path>
                <a:path w="1482725" h="323215">
                  <a:moveTo>
                    <a:pt x="362572" y="1397"/>
                  </a:moveTo>
                  <a:lnTo>
                    <a:pt x="271068" y="1397"/>
                  </a:lnTo>
                  <a:lnTo>
                    <a:pt x="246456" y="4203"/>
                  </a:lnTo>
                  <a:lnTo>
                    <a:pt x="223545" y="12382"/>
                  </a:lnTo>
                  <a:lnTo>
                    <a:pt x="203073" y="25539"/>
                  </a:lnTo>
                  <a:lnTo>
                    <a:pt x="185775" y="43345"/>
                  </a:lnTo>
                  <a:lnTo>
                    <a:pt x="181292" y="49149"/>
                  </a:lnTo>
                  <a:lnTo>
                    <a:pt x="362572" y="49149"/>
                  </a:lnTo>
                  <a:lnTo>
                    <a:pt x="362572" y="1397"/>
                  </a:lnTo>
                  <a:close/>
                </a:path>
                <a:path w="1482725" h="323215">
                  <a:moveTo>
                    <a:pt x="485813" y="4102"/>
                  </a:moveTo>
                  <a:lnTo>
                    <a:pt x="436664" y="4102"/>
                  </a:lnTo>
                  <a:lnTo>
                    <a:pt x="436664" y="318668"/>
                  </a:lnTo>
                  <a:lnTo>
                    <a:pt x="485813" y="318668"/>
                  </a:lnTo>
                  <a:lnTo>
                    <a:pt x="485813" y="4102"/>
                  </a:lnTo>
                  <a:close/>
                </a:path>
                <a:path w="1482725" h="323215">
                  <a:moveTo>
                    <a:pt x="741222" y="318668"/>
                  </a:moveTo>
                  <a:lnTo>
                    <a:pt x="614705" y="4102"/>
                  </a:lnTo>
                  <a:lnTo>
                    <a:pt x="558063" y="4102"/>
                  </a:lnTo>
                  <a:lnTo>
                    <a:pt x="671436" y="274447"/>
                  </a:lnTo>
                  <a:lnTo>
                    <a:pt x="696810" y="305269"/>
                  </a:lnTo>
                  <a:lnTo>
                    <a:pt x="735876" y="318490"/>
                  </a:lnTo>
                  <a:lnTo>
                    <a:pt x="735799" y="318668"/>
                  </a:lnTo>
                  <a:lnTo>
                    <a:pt x="741222" y="318668"/>
                  </a:lnTo>
                  <a:close/>
                </a:path>
                <a:path w="1482725" h="323215">
                  <a:moveTo>
                    <a:pt x="924369" y="4102"/>
                  </a:moveTo>
                  <a:lnTo>
                    <a:pt x="867727" y="4102"/>
                  </a:lnTo>
                  <a:lnTo>
                    <a:pt x="741286" y="318490"/>
                  </a:lnTo>
                  <a:lnTo>
                    <a:pt x="741222" y="318668"/>
                  </a:lnTo>
                  <a:lnTo>
                    <a:pt x="746633" y="318668"/>
                  </a:lnTo>
                  <a:lnTo>
                    <a:pt x="746556" y="318490"/>
                  </a:lnTo>
                  <a:lnTo>
                    <a:pt x="767321" y="314388"/>
                  </a:lnTo>
                  <a:lnTo>
                    <a:pt x="785622" y="305269"/>
                  </a:lnTo>
                  <a:lnTo>
                    <a:pt x="800506" y="291757"/>
                  </a:lnTo>
                  <a:lnTo>
                    <a:pt x="810996" y="274447"/>
                  </a:lnTo>
                  <a:lnTo>
                    <a:pt x="924369" y="4102"/>
                  </a:lnTo>
                  <a:close/>
                </a:path>
                <a:path w="1482725" h="323215">
                  <a:moveTo>
                    <a:pt x="1045781" y="4102"/>
                  </a:moveTo>
                  <a:lnTo>
                    <a:pt x="996632" y="4102"/>
                  </a:lnTo>
                  <a:lnTo>
                    <a:pt x="996632" y="318668"/>
                  </a:lnTo>
                  <a:lnTo>
                    <a:pt x="1045781" y="318668"/>
                  </a:lnTo>
                  <a:lnTo>
                    <a:pt x="1045781" y="4102"/>
                  </a:lnTo>
                  <a:close/>
                </a:path>
                <a:path w="1482725" h="323215">
                  <a:moveTo>
                    <a:pt x="1482547" y="161391"/>
                  </a:moveTo>
                  <a:lnTo>
                    <a:pt x="1479207" y="127571"/>
                  </a:lnTo>
                  <a:lnTo>
                    <a:pt x="1469415" y="96316"/>
                  </a:lnTo>
                  <a:lnTo>
                    <a:pt x="1453464" y="68338"/>
                  </a:lnTo>
                  <a:lnTo>
                    <a:pt x="1436598" y="49784"/>
                  </a:lnTo>
                  <a:lnTo>
                    <a:pt x="1432026" y="44742"/>
                  </a:lnTo>
                  <a:lnTo>
                    <a:pt x="1432026" y="161391"/>
                  </a:lnTo>
                  <a:lnTo>
                    <a:pt x="1429778" y="184962"/>
                  </a:lnTo>
                  <a:lnTo>
                    <a:pt x="1412227" y="225425"/>
                  </a:lnTo>
                  <a:lnTo>
                    <a:pt x="1377772" y="255257"/>
                  </a:lnTo>
                  <a:lnTo>
                    <a:pt x="1329461" y="270992"/>
                  </a:lnTo>
                  <a:lnTo>
                    <a:pt x="1301203" y="272999"/>
                  </a:lnTo>
                  <a:lnTo>
                    <a:pt x="1272946" y="270992"/>
                  </a:lnTo>
                  <a:lnTo>
                    <a:pt x="1224622" y="255257"/>
                  </a:lnTo>
                  <a:lnTo>
                    <a:pt x="1190167" y="225425"/>
                  </a:lnTo>
                  <a:lnTo>
                    <a:pt x="1172616" y="184962"/>
                  </a:lnTo>
                  <a:lnTo>
                    <a:pt x="1170381" y="161391"/>
                  </a:lnTo>
                  <a:lnTo>
                    <a:pt x="1172616" y="137820"/>
                  </a:lnTo>
                  <a:lnTo>
                    <a:pt x="1190167" y="97358"/>
                  </a:lnTo>
                  <a:lnTo>
                    <a:pt x="1224622" y="67525"/>
                  </a:lnTo>
                  <a:lnTo>
                    <a:pt x="1272946" y="51790"/>
                  </a:lnTo>
                  <a:lnTo>
                    <a:pt x="1329461" y="51790"/>
                  </a:lnTo>
                  <a:lnTo>
                    <a:pt x="1377772" y="67525"/>
                  </a:lnTo>
                  <a:lnTo>
                    <a:pt x="1412227" y="97358"/>
                  </a:lnTo>
                  <a:lnTo>
                    <a:pt x="1429778" y="137820"/>
                  </a:lnTo>
                  <a:lnTo>
                    <a:pt x="1432026" y="161391"/>
                  </a:lnTo>
                  <a:lnTo>
                    <a:pt x="1432026" y="44742"/>
                  </a:lnTo>
                  <a:lnTo>
                    <a:pt x="1373835" y="11303"/>
                  </a:lnTo>
                  <a:lnTo>
                    <a:pt x="1301203" y="0"/>
                  </a:lnTo>
                  <a:lnTo>
                    <a:pt x="1263269" y="2857"/>
                  </a:lnTo>
                  <a:lnTo>
                    <a:pt x="1197571" y="25184"/>
                  </a:lnTo>
                  <a:lnTo>
                    <a:pt x="1148943" y="68338"/>
                  </a:lnTo>
                  <a:lnTo>
                    <a:pt x="1123200" y="127571"/>
                  </a:lnTo>
                  <a:lnTo>
                    <a:pt x="1119860" y="161391"/>
                  </a:lnTo>
                  <a:lnTo>
                    <a:pt x="1123200" y="195211"/>
                  </a:lnTo>
                  <a:lnTo>
                    <a:pt x="1148943" y="254444"/>
                  </a:lnTo>
                  <a:lnTo>
                    <a:pt x="1197571" y="297599"/>
                  </a:lnTo>
                  <a:lnTo>
                    <a:pt x="1263269" y="319925"/>
                  </a:lnTo>
                  <a:lnTo>
                    <a:pt x="1301203" y="322770"/>
                  </a:lnTo>
                  <a:lnTo>
                    <a:pt x="1339138" y="319925"/>
                  </a:lnTo>
                  <a:lnTo>
                    <a:pt x="1373835" y="311480"/>
                  </a:lnTo>
                  <a:lnTo>
                    <a:pt x="1404835" y="297599"/>
                  </a:lnTo>
                  <a:lnTo>
                    <a:pt x="1431683" y="278422"/>
                  </a:lnTo>
                  <a:lnTo>
                    <a:pt x="1436598" y="272999"/>
                  </a:lnTo>
                  <a:lnTo>
                    <a:pt x="1453464" y="254444"/>
                  </a:lnTo>
                  <a:lnTo>
                    <a:pt x="1469415" y="226466"/>
                  </a:lnTo>
                  <a:lnTo>
                    <a:pt x="1479207" y="195211"/>
                  </a:lnTo>
                  <a:lnTo>
                    <a:pt x="1482547" y="161391"/>
                  </a:lnTo>
                  <a:close/>
                </a:path>
              </a:pathLst>
            </a:custGeom>
            <a:solidFill>
              <a:srgbClr val="FFFFFF"/>
            </a:solidFill>
          </p:spPr>
          <p:txBody>
            <a:bodyPr wrap="square" lIns="0" tIns="0" rIns="0" bIns="0" rtlCol="0"/>
            <a:lstStyle/>
            <a:p>
              <a:pPr marL="0" marR="0" lvl="0" indent="0" algn="l" defTabSz="311902" rtl="0" eaLnBrk="1" fontAlgn="auto" latinLnBrk="0" hangingPunct="1">
                <a:lnSpc>
                  <a:spcPct val="100000"/>
                </a:lnSpc>
                <a:spcBef>
                  <a:spcPts val="0"/>
                </a:spcBef>
                <a:spcAft>
                  <a:spcPts val="0"/>
                </a:spcAft>
                <a:buClrTx/>
                <a:buSzTx/>
                <a:buFontTx/>
                <a:buNone/>
                <a:tabLst/>
                <a:defRPr/>
              </a:pPr>
              <a:endParaRPr kumimoji="0" sz="614"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pic>
          <p:nvPicPr>
            <p:cNvPr id="46" name="object 39">
              <a:extLst>
                <a:ext uri="{FF2B5EF4-FFF2-40B4-BE49-F238E27FC236}">
                  <a16:creationId xmlns:a16="http://schemas.microsoft.com/office/drawing/2014/main" id="{3FB06ECB-0C19-5E99-2176-3CF2E60E9587}"/>
                </a:ext>
              </a:extLst>
            </p:cNvPr>
            <p:cNvPicPr/>
            <p:nvPr/>
          </p:nvPicPr>
          <p:blipFill>
            <a:blip r:embed="rId2" cstate="screen">
              <a:extLst>
                <a:ext uri="{28A0092B-C50C-407E-A947-70E740481C1C}">
                  <a14:useLocalDpi xmlns:a14="http://schemas.microsoft.com/office/drawing/2010/main"/>
                </a:ext>
              </a:extLst>
            </a:blip>
            <a:stretch>
              <a:fillRect/>
            </a:stretch>
          </p:blipFill>
          <p:spPr>
            <a:xfrm>
              <a:off x="1571287" y="1348613"/>
              <a:ext cx="107535" cy="122090"/>
            </a:xfrm>
            <a:prstGeom prst="rect">
              <a:avLst/>
            </a:prstGeom>
          </p:spPr>
        </p:pic>
        <p:pic>
          <p:nvPicPr>
            <p:cNvPr id="47" name="object 40">
              <a:extLst>
                <a:ext uri="{FF2B5EF4-FFF2-40B4-BE49-F238E27FC236}">
                  <a16:creationId xmlns:a16="http://schemas.microsoft.com/office/drawing/2014/main" id="{3F93FD8D-47D0-D56B-1918-690F5D51AF23}"/>
                </a:ext>
              </a:extLst>
            </p:cNvPr>
            <p:cNvPicPr/>
            <p:nvPr/>
          </p:nvPicPr>
          <p:blipFill>
            <a:blip r:embed="rId3" cstate="screen">
              <a:extLst>
                <a:ext uri="{28A0092B-C50C-407E-A947-70E740481C1C}">
                  <a14:useLocalDpi xmlns:a14="http://schemas.microsoft.com/office/drawing/2010/main"/>
                </a:ext>
              </a:extLst>
            </a:blip>
            <a:stretch>
              <a:fillRect/>
            </a:stretch>
          </p:blipFill>
          <p:spPr>
            <a:xfrm>
              <a:off x="1748609" y="1349641"/>
              <a:ext cx="109064" cy="120038"/>
            </a:xfrm>
            <a:prstGeom prst="rect">
              <a:avLst/>
            </a:prstGeom>
          </p:spPr>
        </p:pic>
        <p:pic>
          <p:nvPicPr>
            <p:cNvPr id="48" name="object 41">
              <a:extLst>
                <a:ext uri="{FF2B5EF4-FFF2-40B4-BE49-F238E27FC236}">
                  <a16:creationId xmlns:a16="http://schemas.microsoft.com/office/drawing/2014/main" id="{C1A4C2F8-0CAD-C5A4-CE98-DA1C132EE572}"/>
                </a:ext>
              </a:extLst>
            </p:cNvPr>
            <p:cNvPicPr/>
            <p:nvPr/>
          </p:nvPicPr>
          <p:blipFill>
            <a:blip r:embed="rId4" cstate="screen">
              <a:extLst>
                <a:ext uri="{28A0092B-C50C-407E-A947-70E740481C1C}">
                  <a14:useLocalDpi xmlns:a14="http://schemas.microsoft.com/office/drawing/2010/main"/>
                </a:ext>
              </a:extLst>
            </a:blip>
            <a:stretch>
              <a:fillRect/>
            </a:stretch>
          </p:blipFill>
          <p:spPr>
            <a:xfrm>
              <a:off x="1936383" y="1349635"/>
              <a:ext cx="85903" cy="120048"/>
            </a:xfrm>
            <a:prstGeom prst="rect">
              <a:avLst/>
            </a:prstGeom>
          </p:spPr>
        </p:pic>
        <p:sp>
          <p:nvSpPr>
            <p:cNvPr id="49" name="object 42">
              <a:extLst>
                <a:ext uri="{FF2B5EF4-FFF2-40B4-BE49-F238E27FC236}">
                  <a16:creationId xmlns:a16="http://schemas.microsoft.com/office/drawing/2014/main" id="{E19BA9F0-8F3B-D985-DD6B-E6122972A8C8}"/>
                </a:ext>
              </a:extLst>
            </p:cNvPr>
            <p:cNvSpPr/>
            <p:nvPr/>
          </p:nvSpPr>
          <p:spPr>
            <a:xfrm>
              <a:off x="2103399" y="1349645"/>
              <a:ext cx="189230" cy="120650"/>
            </a:xfrm>
            <a:custGeom>
              <a:avLst/>
              <a:gdLst/>
              <a:ahLst/>
              <a:cxnLst/>
              <a:rect l="l" t="t" r="r" b="b"/>
              <a:pathLst>
                <a:path w="189230" h="120650">
                  <a:moveTo>
                    <a:pt x="14909" y="0"/>
                  </a:moveTo>
                  <a:lnTo>
                    <a:pt x="0" y="0"/>
                  </a:lnTo>
                  <a:lnTo>
                    <a:pt x="0" y="120040"/>
                  </a:lnTo>
                  <a:lnTo>
                    <a:pt x="14909" y="120040"/>
                  </a:lnTo>
                  <a:lnTo>
                    <a:pt x="14909" y="0"/>
                  </a:lnTo>
                  <a:close/>
                </a:path>
                <a:path w="189230" h="120650">
                  <a:moveTo>
                    <a:pt x="188798" y="0"/>
                  </a:moveTo>
                  <a:lnTo>
                    <a:pt x="96024" y="0"/>
                  </a:lnTo>
                  <a:lnTo>
                    <a:pt x="96024" y="13970"/>
                  </a:lnTo>
                  <a:lnTo>
                    <a:pt x="134950" y="13970"/>
                  </a:lnTo>
                  <a:lnTo>
                    <a:pt x="134950" y="120650"/>
                  </a:lnTo>
                  <a:lnTo>
                    <a:pt x="149885" y="120650"/>
                  </a:lnTo>
                  <a:lnTo>
                    <a:pt x="149885" y="13970"/>
                  </a:lnTo>
                  <a:lnTo>
                    <a:pt x="188798" y="13970"/>
                  </a:lnTo>
                  <a:lnTo>
                    <a:pt x="188798" y="0"/>
                  </a:lnTo>
                  <a:close/>
                </a:path>
              </a:pathLst>
            </a:custGeom>
            <a:solidFill>
              <a:srgbClr val="FFFFFF"/>
            </a:solidFill>
          </p:spPr>
          <p:txBody>
            <a:bodyPr wrap="square" lIns="0" tIns="0" rIns="0" bIns="0" rtlCol="0"/>
            <a:lstStyle/>
            <a:p>
              <a:pPr marL="0" marR="0" lvl="0" indent="0" algn="l" defTabSz="311902" rtl="0" eaLnBrk="1" fontAlgn="auto" latinLnBrk="0" hangingPunct="1">
                <a:lnSpc>
                  <a:spcPct val="100000"/>
                </a:lnSpc>
                <a:spcBef>
                  <a:spcPts val="0"/>
                </a:spcBef>
                <a:spcAft>
                  <a:spcPts val="0"/>
                </a:spcAft>
                <a:buClrTx/>
                <a:buSzTx/>
                <a:buFontTx/>
                <a:buNone/>
                <a:tabLst/>
                <a:defRPr/>
              </a:pPr>
              <a:endParaRPr kumimoji="0" sz="614"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pic>
          <p:nvPicPr>
            <p:cNvPr id="50" name="object 43">
              <a:extLst>
                <a:ext uri="{FF2B5EF4-FFF2-40B4-BE49-F238E27FC236}">
                  <a16:creationId xmlns:a16="http://schemas.microsoft.com/office/drawing/2014/main" id="{6F4FB24E-E344-D939-B312-38F89C3EF2BD}"/>
                </a:ext>
              </a:extLst>
            </p:cNvPr>
            <p:cNvPicPr/>
            <p:nvPr/>
          </p:nvPicPr>
          <p:blipFill>
            <a:blip r:embed="rId3" cstate="screen">
              <a:extLst>
                <a:ext uri="{28A0092B-C50C-407E-A947-70E740481C1C}">
                  <a14:useLocalDpi xmlns:a14="http://schemas.microsoft.com/office/drawing/2010/main"/>
                </a:ext>
              </a:extLst>
            </a:blip>
            <a:stretch>
              <a:fillRect/>
            </a:stretch>
          </p:blipFill>
          <p:spPr>
            <a:xfrm>
              <a:off x="2346400" y="1349641"/>
              <a:ext cx="109064" cy="120038"/>
            </a:xfrm>
            <a:prstGeom prst="rect">
              <a:avLst/>
            </a:prstGeom>
          </p:spPr>
        </p:pic>
        <p:sp>
          <p:nvSpPr>
            <p:cNvPr id="51" name="object 44">
              <a:extLst>
                <a:ext uri="{FF2B5EF4-FFF2-40B4-BE49-F238E27FC236}">
                  <a16:creationId xmlns:a16="http://schemas.microsoft.com/office/drawing/2014/main" id="{E0EC9DCE-6B76-74F4-0C66-6F39CC434000}"/>
                </a:ext>
              </a:extLst>
            </p:cNvPr>
            <p:cNvSpPr/>
            <p:nvPr/>
          </p:nvSpPr>
          <p:spPr>
            <a:xfrm>
              <a:off x="2534158" y="1349035"/>
              <a:ext cx="69850" cy="120650"/>
            </a:xfrm>
            <a:custGeom>
              <a:avLst/>
              <a:gdLst/>
              <a:ahLst/>
              <a:cxnLst/>
              <a:rect l="l" t="t" r="r" b="b"/>
              <a:pathLst>
                <a:path w="69850" h="120650">
                  <a:moveTo>
                    <a:pt x="69621" y="106680"/>
                  </a:moveTo>
                  <a:lnTo>
                    <a:pt x="14909" y="106680"/>
                  </a:lnTo>
                  <a:lnTo>
                    <a:pt x="14909" y="0"/>
                  </a:lnTo>
                  <a:lnTo>
                    <a:pt x="0" y="0"/>
                  </a:lnTo>
                  <a:lnTo>
                    <a:pt x="0" y="106680"/>
                  </a:lnTo>
                  <a:lnTo>
                    <a:pt x="0" y="120650"/>
                  </a:lnTo>
                  <a:lnTo>
                    <a:pt x="69621" y="120650"/>
                  </a:lnTo>
                  <a:lnTo>
                    <a:pt x="69621" y="106680"/>
                  </a:lnTo>
                  <a:close/>
                </a:path>
              </a:pathLst>
            </a:custGeom>
            <a:solidFill>
              <a:srgbClr val="FFFFFF"/>
            </a:solidFill>
          </p:spPr>
          <p:txBody>
            <a:bodyPr wrap="square" lIns="0" tIns="0" rIns="0" bIns="0" rtlCol="0"/>
            <a:lstStyle/>
            <a:p>
              <a:pPr marL="0" marR="0" lvl="0" indent="0" algn="l" defTabSz="311902" rtl="0" eaLnBrk="1" fontAlgn="auto" latinLnBrk="0" hangingPunct="1">
                <a:lnSpc>
                  <a:spcPct val="100000"/>
                </a:lnSpc>
                <a:spcBef>
                  <a:spcPts val="0"/>
                </a:spcBef>
                <a:spcAft>
                  <a:spcPts val="0"/>
                </a:spcAft>
                <a:buClrTx/>
                <a:buSzTx/>
                <a:buFontTx/>
                <a:buNone/>
                <a:tabLst/>
                <a:defRPr/>
              </a:pPr>
              <a:endParaRPr kumimoji="0" sz="614" b="0" i="0" u="none" strike="noStrike" kern="0" cap="none" spc="0" normalizeH="0" baseline="0" noProof="0">
                <a:ln>
                  <a:noFill/>
                </a:ln>
                <a:solidFill>
                  <a:sysClr val="windowText" lastClr="000000"/>
                </a:solidFill>
                <a:effectLst/>
                <a:uLnTx/>
                <a:uFillTx/>
                <a:latin typeface="Arial"/>
                <a:ea typeface="+mn-ea"/>
                <a:cs typeface="Arial"/>
                <a:sym typeface="Arial"/>
              </a:endParaRPr>
            </a:p>
          </p:txBody>
        </p:sp>
      </p:grpSp>
      <p:sp>
        <p:nvSpPr>
          <p:cNvPr id="53" name="Retângulo: Cantos Arredondados 36">
            <a:extLst>
              <a:ext uri="{FF2B5EF4-FFF2-40B4-BE49-F238E27FC236}">
                <a16:creationId xmlns:a16="http://schemas.microsoft.com/office/drawing/2014/main" id="{28FD3BD1-BD86-7246-DBBD-42D621F6B36A}"/>
              </a:ext>
            </a:extLst>
          </p:cNvPr>
          <p:cNvSpPr/>
          <p:nvPr/>
        </p:nvSpPr>
        <p:spPr>
          <a:xfrm rot="5400000">
            <a:off x="2257775" y="4398994"/>
            <a:ext cx="2381473" cy="5528406"/>
          </a:xfrm>
          <a:prstGeom prst="roundRect">
            <a:avLst>
              <a:gd name="adj" fmla="val 8914"/>
            </a:avLst>
          </a:prstGeom>
          <a:solidFill>
            <a:srgbClr val="C1F4D4">
              <a:lumMod val="50000"/>
              <a:alpha val="56000"/>
            </a:srgbClr>
          </a:solidFill>
          <a:ln w="2540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Versos Light"/>
              <a:ea typeface="+mn-ea"/>
              <a:cs typeface="+mn-cs"/>
              <a:sym typeface="Arial"/>
            </a:endParaRPr>
          </a:p>
        </p:txBody>
      </p:sp>
      <p:sp>
        <p:nvSpPr>
          <p:cNvPr id="54" name="Retângulo: Cantos Arredondados 41">
            <a:extLst>
              <a:ext uri="{FF2B5EF4-FFF2-40B4-BE49-F238E27FC236}">
                <a16:creationId xmlns:a16="http://schemas.microsoft.com/office/drawing/2014/main" id="{67C74A0E-D2AD-3CC7-E138-12B494724A79}"/>
              </a:ext>
            </a:extLst>
          </p:cNvPr>
          <p:cNvSpPr/>
          <p:nvPr/>
        </p:nvSpPr>
        <p:spPr>
          <a:xfrm rot="5400000">
            <a:off x="2367859" y="2864503"/>
            <a:ext cx="2131895" cy="5528406"/>
          </a:xfrm>
          <a:prstGeom prst="roundRect">
            <a:avLst>
              <a:gd name="adj" fmla="val 12236"/>
            </a:avLst>
          </a:prstGeom>
          <a:solidFill>
            <a:srgbClr val="92D3AB">
              <a:lumMod val="50000"/>
            </a:srgbClr>
          </a:solidFill>
          <a:ln w="2540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Versos Light"/>
              <a:ea typeface="+mn-ea"/>
              <a:cs typeface="+mn-cs"/>
              <a:sym typeface="Arial"/>
            </a:endParaRPr>
          </a:p>
        </p:txBody>
      </p:sp>
      <p:sp>
        <p:nvSpPr>
          <p:cNvPr id="55" name="Retângulo: Cantos Arredondados 43">
            <a:extLst>
              <a:ext uri="{FF2B5EF4-FFF2-40B4-BE49-F238E27FC236}">
                <a16:creationId xmlns:a16="http://schemas.microsoft.com/office/drawing/2014/main" id="{0CD1D8B9-00FA-1617-B5B8-825F95BD8779}"/>
              </a:ext>
            </a:extLst>
          </p:cNvPr>
          <p:cNvSpPr/>
          <p:nvPr/>
        </p:nvSpPr>
        <p:spPr>
          <a:xfrm rot="5400000">
            <a:off x="2503499" y="1348670"/>
            <a:ext cx="1818392" cy="5570629"/>
          </a:xfrm>
          <a:prstGeom prst="roundRect">
            <a:avLst>
              <a:gd name="adj" fmla="val 12236"/>
            </a:avLst>
          </a:prstGeom>
          <a:solidFill>
            <a:srgbClr val="92D3AB">
              <a:lumMod val="75000"/>
            </a:srgbClr>
          </a:solidFill>
          <a:ln w="2540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1200" b="0" i="0" u="none" strike="noStrike" kern="0" cap="none" spc="0" normalizeH="0" baseline="0" noProof="0">
              <a:ln>
                <a:noFill/>
              </a:ln>
              <a:solidFill>
                <a:prstClr val="white"/>
              </a:solidFill>
              <a:effectLst/>
              <a:uLnTx/>
              <a:uFillTx/>
              <a:latin typeface="Versos" panose="020B0503020204030204" pitchFamily="34" charset="0"/>
              <a:ea typeface="+mn-ea"/>
              <a:cs typeface="+mn-cs"/>
              <a:sym typeface="Arial"/>
            </a:endParaRPr>
          </a:p>
        </p:txBody>
      </p:sp>
      <p:sp>
        <p:nvSpPr>
          <p:cNvPr id="56" name="object 12">
            <a:extLst>
              <a:ext uri="{FF2B5EF4-FFF2-40B4-BE49-F238E27FC236}">
                <a16:creationId xmlns:a16="http://schemas.microsoft.com/office/drawing/2014/main" id="{BC0FC831-5566-D246-8B01-5EE402182A0B}"/>
              </a:ext>
            </a:extLst>
          </p:cNvPr>
          <p:cNvSpPr txBox="1"/>
          <p:nvPr/>
        </p:nvSpPr>
        <p:spPr>
          <a:xfrm>
            <a:off x="982185" y="3776623"/>
            <a:ext cx="1665908" cy="738664"/>
          </a:xfrm>
          <a:prstGeom prst="rect">
            <a:avLst/>
          </a:prstGeom>
        </p:spPr>
        <p:txBody>
          <a:bodyPr vert="horz" wrap="square" lIns="0" tIns="0" rIns="0" bIns="0" rtlCol="0">
            <a:spAutoFit/>
          </a:bodyPr>
          <a:lstStyle/>
          <a:p>
            <a:pPr defTabSz="554492">
              <a:buFont typeface="Arial"/>
              <a:buNone/>
              <a:defRPr/>
            </a:pPr>
            <a:r>
              <a:rPr lang="pt-BR" sz="1600" b="1" kern="0">
                <a:solidFill>
                  <a:prstClr val="white"/>
                </a:solidFill>
                <a:latin typeface="Versos" panose="020B0503020204030204" pitchFamily="34" charset="0"/>
                <a:cs typeface="Arial"/>
                <a:sym typeface="Arial"/>
              </a:rPr>
              <a:t>Expertise de Crédito com Gestão Ativa</a:t>
            </a:r>
            <a:endParaRPr lang="pt-BR" sz="1600" kern="0">
              <a:solidFill>
                <a:prstClr val="white"/>
              </a:solidFill>
              <a:latin typeface="Versos" panose="020B0503020204030204" pitchFamily="34" charset="0"/>
              <a:cs typeface="Arial"/>
              <a:sym typeface="Arial"/>
            </a:endParaRPr>
          </a:p>
        </p:txBody>
      </p:sp>
      <p:sp>
        <p:nvSpPr>
          <p:cNvPr id="57" name="object 12">
            <a:extLst>
              <a:ext uri="{FF2B5EF4-FFF2-40B4-BE49-F238E27FC236}">
                <a16:creationId xmlns:a16="http://schemas.microsoft.com/office/drawing/2014/main" id="{26B851CA-51D0-A4CE-E17B-AAEFA405659B}"/>
              </a:ext>
            </a:extLst>
          </p:cNvPr>
          <p:cNvSpPr txBox="1"/>
          <p:nvPr/>
        </p:nvSpPr>
        <p:spPr>
          <a:xfrm>
            <a:off x="2513717" y="3686599"/>
            <a:ext cx="3492447" cy="853773"/>
          </a:xfrm>
          <a:prstGeom prst="rect">
            <a:avLst/>
          </a:prstGeom>
        </p:spPr>
        <p:txBody>
          <a:bodyPr vert="horz" wrap="square" lIns="0" tIns="7316" rIns="0" bIns="0" rtlCol="0" anchor="t">
            <a:spAutoFit/>
          </a:bodyPr>
          <a:lstStyle/>
          <a:p>
            <a:pPr marR="110898" defTabSz="554492">
              <a:spcBef>
                <a:spcPts val="600"/>
              </a:spcBef>
              <a:spcAft>
                <a:spcPts val="600"/>
              </a:spcAft>
              <a:buFont typeface="Arial"/>
              <a:buNone/>
              <a:defRPr/>
            </a:pPr>
            <a:r>
              <a:rPr lang="pt-BR" sz="1100" kern="0">
                <a:solidFill>
                  <a:srgbClr val="FFFFFF"/>
                </a:solidFill>
                <a:latin typeface="Versos Light" panose="020B0403020204030204" pitchFamily="34" charset="0"/>
                <a:cs typeface="Arial"/>
                <a:sym typeface="Arial"/>
              </a:rPr>
              <a:t>Ampla experiência  para aproveitar oportunidades no mercado primário e secundário.</a:t>
            </a:r>
            <a:br>
              <a:rPr lang="pt-BR" sz="1100" kern="0">
                <a:solidFill>
                  <a:srgbClr val="FFFFFF"/>
                </a:solidFill>
                <a:latin typeface="Versos Light" panose="020B0403020204030204" pitchFamily="34" charset="0"/>
                <a:cs typeface="Arial"/>
                <a:sym typeface="Arial"/>
              </a:rPr>
            </a:br>
            <a:br>
              <a:rPr lang="pt-BR" sz="1100" kern="0">
                <a:solidFill>
                  <a:srgbClr val="FFFFFF"/>
                </a:solidFill>
                <a:latin typeface="Versos Light" panose="020B0403020204030204" pitchFamily="34" charset="0"/>
                <a:cs typeface="Arial"/>
                <a:sym typeface="Arial"/>
              </a:rPr>
            </a:br>
            <a:r>
              <a:rPr lang="pt-BR" sz="1100" kern="0" err="1">
                <a:solidFill>
                  <a:srgbClr val="FFFFFF"/>
                </a:solidFill>
                <a:latin typeface="Versos Light" panose="020B0403020204030204" pitchFamily="34" charset="0"/>
                <a:cs typeface="Arial"/>
                <a:sym typeface="Arial"/>
              </a:rPr>
              <a:t>Asset</a:t>
            </a:r>
            <a:r>
              <a:rPr lang="pt-BR" sz="1100" kern="0">
                <a:solidFill>
                  <a:srgbClr val="FFFFFF"/>
                </a:solidFill>
                <a:latin typeface="Versos Light" panose="020B0403020204030204" pitchFamily="34" charset="0"/>
                <a:cs typeface="Arial"/>
                <a:sym typeface="Arial"/>
              </a:rPr>
              <a:t> Independente com Acionistas Robustos.</a:t>
            </a:r>
            <a:br>
              <a:rPr lang="pt-BR" sz="1100" kern="0">
                <a:solidFill>
                  <a:srgbClr val="FFFFFF"/>
                </a:solidFill>
                <a:latin typeface="Versos Light" panose="020B0403020204030204" pitchFamily="34" charset="0"/>
                <a:cs typeface="Arial"/>
                <a:sym typeface="Arial"/>
              </a:rPr>
            </a:br>
            <a:r>
              <a:rPr lang="pt-BR" sz="1100" kern="0">
                <a:solidFill>
                  <a:srgbClr val="FFFFFF"/>
                </a:solidFill>
                <a:latin typeface="Versos Light" panose="020B0403020204030204" pitchFamily="34" charset="0"/>
                <a:cs typeface="Arial"/>
                <a:sym typeface="Arial"/>
              </a:rPr>
              <a:t>Diversificação de emissores e setores.</a:t>
            </a:r>
          </a:p>
        </p:txBody>
      </p:sp>
      <p:sp>
        <p:nvSpPr>
          <p:cNvPr id="58" name="object 12">
            <a:extLst>
              <a:ext uri="{FF2B5EF4-FFF2-40B4-BE49-F238E27FC236}">
                <a16:creationId xmlns:a16="http://schemas.microsoft.com/office/drawing/2014/main" id="{EE3AEAC8-C96D-E431-0A92-E2042441D4BF}"/>
              </a:ext>
            </a:extLst>
          </p:cNvPr>
          <p:cNvSpPr txBox="1"/>
          <p:nvPr/>
        </p:nvSpPr>
        <p:spPr>
          <a:xfrm>
            <a:off x="982185" y="5509010"/>
            <a:ext cx="1645682" cy="738664"/>
          </a:xfrm>
          <a:prstGeom prst="rect">
            <a:avLst/>
          </a:prstGeom>
        </p:spPr>
        <p:txBody>
          <a:bodyPr vert="horz" wrap="square" lIns="0" tIns="0" rIns="0" bIns="0" rtlCol="0">
            <a:spAutoFit/>
          </a:bodyPr>
          <a:lstStyle/>
          <a:p>
            <a:pPr defTabSz="554492">
              <a:buFont typeface="Arial"/>
              <a:buNone/>
              <a:defRPr/>
            </a:pPr>
            <a:r>
              <a:rPr lang="pt-BR" sz="1600" b="1" kern="0">
                <a:solidFill>
                  <a:prstClr val="white"/>
                </a:solidFill>
                <a:latin typeface="Versos" panose="020B0503020204030204" pitchFamily="34" charset="0"/>
                <a:cs typeface="Arial"/>
                <a:sym typeface="Arial"/>
              </a:rPr>
              <a:t>Análise </a:t>
            </a:r>
            <a:br>
              <a:rPr lang="pt-BR" sz="1600" b="1" kern="0">
                <a:solidFill>
                  <a:prstClr val="white"/>
                </a:solidFill>
                <a:latin typeface="Versos" panose="020B0503020204030204" pitchFamily="34" charset="0"/>
                <a:cs typeface="Arial"/>
                <a:sym typeface="Arial"/>
              </a:rPr>
            </a:br>
            <a:r>
              <a:rPr lang="pt-BR" sz="1600" b="1" kern="0">
                <a:solidFill>
                  <a:prstClr val="white"/>
                </a:solidFill>
                <a:latin typeface="Versos" panose="020B0503020204030204" pitchFamily="34" charset="0"/>
                <a:cs typeface="Arial"/>
                <a:sym typeface="Arial"/>
              </a:rPr>
              <a:t>de Crédito Criteriosa </a:t>
            </a:r>
          </a:p>
        </p:txBody>
      </p:sp>
      <p:sp>
        <p:nvSpPr>
          <p:cNvPr id="59" name="object 12">
            <a:extLst>
              <a:ext uri="{FF2B5EF4-FFF2-40B4-BE49-F238E27FC236}">
                <a16:creationId xmlns:a16="http://schemas.microsoft.com/office/drawing/2014/main" id="{F0523DF0-A53A-AEAB-205A-DCB7A931D278}"/>
              </a:ext>
            </a:extLst>
          </p:cNvPr>
          <p:cNvSpPr txBox="1"/>
          <p:nvPr/>
        </p:nvSpPr>
        <p:spPr>
          <a:xfrm>
            <a:off x="2510795" y="5504992"/>
            <a:ext cx="3365020" cy="515219"/>
          </a:xfrm>
          <a:prstGeom prst="rect">
            <a:avLst/>
          </a:prstGeom>
        </p:spPr>
        <p:txBody>
          <a:bodyPr vert="horz" wrap="square" lIns="0" tIns="7316" rIns="0" bIns="0" rtlCol="0">
            <a:spAutoFit/>
          </a:bodyPr>
          <a:lstStyle/>
          <a:p>
            <a:pPr marR="110898" defTabSz="554492">
              <a:spcBef>
                <a:spcPts val="600"/>
              </a:spcBef>
              <a:spcAft>
                <a:spcPts val="600"/>
              </a:spcAft>
              <a:buFont typeface="Arial"/>
              <a:buNone/>
              <a:defRPr/>
            </a:pPr>
            <a:r>
              <a:rPr lang="pt-BR" sz="1100" kern="0">
                <a:solidFill>
                  <a:srgbClr val="FFFFFF"/>
                </a:solidFill>
                <a:latin typeface="Versos Light" panose="020B0403020204030204" pitchFamily="34" charset="0"/>
                <a:cs typeface="Arial"/>
                <a:sym typeface="Arial"/>
              </a:rPr>
              <a:t>Análise independente e acompanhamento da carteira com ferramenta proprietária de </a:t>
            </a:r>
            <a:r>
              <a:rPr lang="pt-BR" sz="1100" i="1" kern="0">
                <a:solidFill>
                  <a:srgbClr val="FFFFFF"/>
                </a:solidFill>
                <a:latin typeface="Versos Light" panose="020B0403020204030204" pitchFamily="34" charset="0"/>
                <a:cs typeface="Arial"/>
                <a:sym typeface="Arial"/>
              </a:rPr>
              <a:t>rating</a:t>
            </a:r>
            <a:r>
              <a:rPr lang="pt-BR" sz="1100" kern="0">
                <a:solidFill>
                  <a:srgbClr val="FFFFFF"/>
                </a:solidFill>
                <a:latin typeface="Versos Light" panose="020B0403020204030204" pitchFamily="34" charset="0"/>
                <a:cs typeface="Arial"/>
                <a:sym typeface="Arial"/>
              </a:rPr>
              <a:t>, incluindo o segmento de FIDCs</a:t>
            </a:r>
            <a:r>
              <a:rPr lang="pt-BR" sz="1100" i="1" kern="0">
                <a:solidFill>
                  <a:srgbClr val="FFFFFF"/>
                </a:solidFill>
                <a:latin typeface="Versos Light" panose="020B0403020204030204" pitchFamily="34" charset="0"/>
                <a:cs typeface="Arial"/>
                <a:sym typeface="Arial"/>
              </a:rPr>
              <a:t>.</a:t>
            </a:r>
          </a:p>
        </p:txBody>
      </p:sp>
      <p:sp>
        <p:nvSpPr>
          <p:cNvPr id="60" name="object 12">
            <a:extLst>
              <a:ext uri="{FF2B5EF4-FFF2-40B4-BE49-F238E27FC236}">
                <a16:creationId xmlns:a16="http://schemas.microsoft.com/office/drawing/2014/main" id="{F1BB3237-76B4-EEBF-704F-009074E37F31}"/>
              </a:ext>
            </a:extLst>
          </p:cNvPr>
          <p:cNvSpPr txBox="1"/>
          <p:nvPr/>
        </p:nvSpPr>
        <p:spPr>
          <a:xfrm>
            <a:off x="982185" y="7131490"/>
            <a:ext cx="1719398" cy="984885"/>
          </a:xfrm>
          <a:prstGeom prst="rect">
            <a:avLst/>
          </a:prstGeom>
        </p:spPr>
        <p:txBody>
          <a:bodyPr vert="horz" wrap="square" lIns="0" tIns="0" rIns="0" bIns="0" rtlCol="0">
            <a:spAutoFit/>
          </a:bodyPr>
          <a:lstStyle/>
          <a:p>
            <a:pPr defTabSz="554492">
              <a:buFont typeface="Arial"/>
              <a:buNone/>
              <a:defRPr/>
            </a:pPr>
            <a:r>
              <a:rPr lang="pt-BR" sz="1600" b="1" kern="0">
                <a:solidFill>
                  <a:prstClr val="white"/>
                </a:solidFill>
                <a:latin typeface="Versos" panose="020B0503020204030204" pitchFamily="34" charset="0"/>
                <a:cs typeface="Arial"/>
                <a:sym typeface="Arial"/>
              </a:rPr>
              <a:t>Originação Proprietária </a:t>
            </a:r>
            <a:br>
              <a:rPr lang="pt-BR" sz="1600" b="1" kern="0">
                <a:solidFill>
                  <a:prstClr val="white"/>
                </a:solidFill>
                <a:latin typeface="Versos" panose="020B0503020204030204" pitchFamily="34" charset="0"/>
                <a:cs typeface="Arial"/>
                <a:sym typeface="Arial"/>
              </a:rPr>
            </a:br>
            <a:r>
              <a:rPr lang="pt-BR" sz="1600" b="1" kern="0">
                <a:solidFill>
                  <a:prstClr val="white"/>
                </a:solidFill>
                <a:latin typeface="Versos" panose="020B0503020204030204" pitchFamily="34" charset="0"/>
                <a:cs typeface="Arial"/>
                <a:sym typeface="Arial"/>
              </a:rPr>
              <a:t>&amp; Crédito Estruturado </a:t>
            </a:r>
          </a:p>
        </p:txBody>
      </p:sp>
      <p:sp>
        <p:nvSpPr>
          <p:cNvPr id="61" name="object 12">
            <a:extLst>
              <a:ext uri="{FF2B5EF4-FFF2-40B4-BE49-F238E27FC236}">
                <a16:creationId xmlns:a16="http://schemas.microsoft.com/office/drawing/2014/main" id="{A50B8C97-CFC6-2357-4C2C-2D503B40429A}"/>
              </a:ext>
            </a:extLst>
          </p:cNvPr>
          <p:cNvSpPr txBox="1"/>
          <p:nvPr/>
        </p:nvSpPr>
        <p:spPr>
          <a:xfrm>
            <a:off x="2596568" y="7153143"/>
            <a:ext cx="3279247" cy="345942"/>
          </a:xfrm>
          <a:prstGeom prst="rect">
            <a:avLst/>
          </a:prstGeom>
        </p:spPr>
        <p:txBody>
          <a:bodyPr vert="horz" wrap="square" lIns="0" tIns="7316" rIns="0" bIns="0" rtlCol="0">
            <a:spAutoFit/>
          </a:bodyPr>
          <a:lstStyle/>
          <a:p>
            <a:pPr marR="110898" defTabSz="554492">
              <a:spcBef>
                <a:spcPts val="600"/>
              </a:spcBef>
              <a:spcAft>
                <a:spcPts val="600"/>
              </a:spcAft>
              <a:buFont typeface="Arial"/>
              <a:buNone/>
              <a:defRPr/>
            </a:pPr>
            <a:r>
              <a:rPr lang="pt-BR" sz="1100" kern="0">
                <a:solidFill>
                  <a:srgbClr val="FFFFFF"/>
                </a:solidFill>
                <a:latin typeface="Versos Light" panose="020B0403020204030204" pitchFamily="34" charset="0"/>
                <a:cs typeface="Arial"/>
                <a:sym typeface="Arial"/>
              </a:rPr>
              <a:t>Time focado na Originação e Estruturação de ativos de crédito.</a:t>
            </a:r>
            <a:endParaRPr lang="pt-BR" sz="1100" i="1" kern="0">
              <a:solidFill>
                <a:srgbClr val="FFFFFF"/>
              </a:solidFill>
              <a:latin typeface="Versos Light" panose="020B0403020204030204" pitchFamily="34" charset="0"/>
              <a:cs typeface="Arial"/>
              <a:sym typeface="Arial"/>
            </a:endParaRPr>
          </a:p>
        </p:txBody>
      </p:sp>
      <p:grpSp>
        <p:nvGrpSpPr>
          <p:cNvPr id="62" name="Agrupar 17">
            <a:extLst>
              <a:ext uri="{FF2B5EF4-FFF2-40B4-BE49-F238E27FC236}">
                <a16:creationId xmlns:a16="http://schemas.microsoft.com/office/drawing/2014/main" id="{BC2EDEE2-4343-4007-A83B-488ED3C514BE}"/>
              </a:ext>
            </a:extLst>
          </p:cNvPr>
          <p:cNvGrpSpPr/>
          <p:nvPr/>
        </p:nvGrpSpPr>
        <p:grpSpPr>
          <a:xfrm rot="10800000">
            <a:off x="895855" y="3445818"/>
            <a:ext cx="369030" cy="91720"/>
            <a:chOff x="6558860" y="2846873"/>
            <a:chExt cx="1049081" cy="260743"/>
          </a:xfrm>
          <a:noFill/>
        </p:grpSpPr>
        <p:sp>
          <p:nvSpPr>
            <p:cNvPr id="63" name="Elipse 1">
              <a:extLst>
                <a:ext uri="{FF2B5EF4-FFF2-40B4-BE49-F238E27FC236}">
                  <a16:creationId xmlns:a16="http://schemas.microsoft.com/office/drawing/2014/main" id="{434FF20D-B855-3715-9A55-AA4063DB5EB6}"/>
                </a:ext>
              </a:extLst>
            </p:cNvPr>
            <p:cNvSpPr/>
            <p:nvPr/>
          </p:nvSpPr>
          <p:spPr>
            <a:xfrm>
              <a:off x="6558860"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64" name="Elipse 3">
              <a:extLst>
                <a:ext uri="{FF2B5EF4-FFF2-40B4-BE49-F238E27FC236}">
                  <a16:creationId xmlns:a16="http://schemas.microsoft.com/office/drawing/2014/main" id="{C4D8CD5C-381F-AA4C-D9D4-5ECA85190A26}"/>
                </a:ext>
              </a:extLst>
            </p:cNvPr>
            <p:cNvSpPr/>
            <p:nvPr/>
          </p:nvSpPr>
          <p:spPr>
            <a:xfrm>
              <a:off x="6956228"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65" name="Elipse 8">
              <a:extLst>
                <a:ext uri="{FF2B5EF4-FFF2-40B4-BE49-F238E27FC236}">
                  <a16:creationId xmlns:a16="http://schemas.microsoft.com/office/drawing/2014/main" id="{C4A26B8B-E8C2-873D-0D33-E87D2399EB6F}"/>
                </a:ext>
              </a:extLst>
            </p:cNvPr>
            <p:cNvSpPr/>
            <p:nvPr/>
          </p:nvSpPr>
          <p:spPr>
            <a:xfrm>
              <a:off x="7347198" y="2846873"/>
              <a:ext cx="260743" cy="260743"/>
            </a:xfrm>
            <a:prstGeom prst="ellipse">
              <a:avLst/>
            </a:prstGeom>
            <a:solidFill>
              <a:srgbClr val="000000">
                <a:lumMod val="85000"/>
                <a:lumOff val="15000"/>
              </a:srgbClr>
            </a:solid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grpSp>
      <p:grpSp>
        <p:nvGrpSpPr>
          <p:cNvPr id="66" name="Agrupar 16">
            <a:extLst>
              <a:ext uri="{FF2B5EF4-FFF2-40B4-BE49-F238E27FC236}">
                <a16:creationId xmlns:a16="http://schemas.microsoft.com/office/drawing/2014/main" id="{BE75F2AC-1455-596A-939F-19DC0BAE7E17}"/>
              </a:ext>
            </a:extLst>
          </p:cNvPr>
          <p:cNvGrpSpPr/>
          <p:nvPr/>
        </p:nvGrpSpPr>
        <p:grpSpPr>
          <a:xfrm rot="10800000">
            <a:off x="849995" y="5257615"/>
            <a:ext cx="369030" cy="91720"/>
            <a:chOff x="11215282" y="2846873"/>
            <a:chExt cx="1049081" cy="260743"/>
          </a:xfrm>
          <a:noFill/>
        </p:grpSpPr>
        <p:sp>
          <p:nvSpPr>
            <p:cNvPr id="67" name="Elipse 9">
              <a:extLst>
                <a:ext uri="{FF2B5EF4-FFF2-40B4-BE49-F238E27FC236}">
                  <a16:creationId xmlns:a16="http://schemas.microsoft.com/office/drawing/2014/main" id="{AE865964-F429-FC40-81A0-12448C0F152F}"/>
                </a:ext>
              </a:extLst>
            </p:cNvPr>
            <p:cNvSpPr/>
            <p:nvPr/>
          </p:nvSpPr>
          <p:spPr>
            <a:xfrm>
              <a:off x="11215282"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68" name="Elipse 10">
              <a:extLst>
                <a:ext uri="{FF2B5EF4-FFF2-40B4-BE49-F238E27FC236}">
                  <a16:creationId xmlns:a16="http://schemas.microsoft.com/office/drawing/2014/main" id="{E735C6D7-AC94-CAF5-CCFF-64C3E3303826}"/>
                </a:ext>
              </a:extLst>
            </p:cNvPr>
            <p:cNvSpPr/>
            <p:nvPr/>
          </p:nvSpPr>
          <p:spPr>
            <a:xfrm>
              <a:off x="11612650" y="2846873"/>
              <a:ext cx="260743" cy="260743"/>
            </a:xfrm>
            <a:prstGeom prst="ellipse">
              <a:avLst/>
            </a:prstGeom>
            <a:solidFill>
              <a:srgbClr val="000000">
                <a:lumMod val="85000"/>
                <a:lumOff val="15000"/>
              </a:srgbClr>
            </a:solid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69" name="Elipse 11">
              <a:extLst>
                <a:ext uri="{FF2B5EF4-FFF2-40B4-BE49-F238E27FC236}">
                  <a16:creationId xmlns:a16="http://schemas.microsoft.com/office/drawing/2014/main" id="{FFC4502D-C257-BD2F-10B3-4F6706837EDB}"/>
                </a:ext>
              </a:extLst>
            </p:cNvPr>
            <p:cNvSpPr/>
            <p:nvPr/>
          </p:nvSpPr>
          <p:spPr>
            <a:xfrm>
              <a:off x="12003620" y="2846873"/>
              <a:ext cx="260743" cy="260743"/>
            </a:xfrm>
            <a:prstGeom prst="ellipse">
              <a:avLst/>
            </a:prstGeom>
            <a:solidFill>
              <a:srgbClr val="000000">
                <a:lumMod val="85000"/>
                <a:lumOff val="15000"/>
              </a:srgbClr>
            </a:solid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grpSp>
      <p:grpSp>
        <p:nvGrpSpPr>
          <p:cNvPr id="70" name="Agrupar 18">
            <a:extLst>
              <a:ext uri="{FF2B5EF4-FFF2-40B4-BE49-F238E27FC236}">
                <a16:creationId xmlns:a16="http://schemas.microsoft.com/office/drawing/2014/main" id="{56310C2E-4A84-2E5B-44DD-6BC5BF2A9461}"/>
              </a:ext>
            </a:extLst>
          </p:cNvPr>
          <p:cNvGrpSpPr/>
          <p:nvPr/>
        </p:nvGrpSpPr>
        <p:grpSpPr>
          <a:xfrm>
            <a:off x="890465" y="6967689"/>
            <a:ext cx="369030" cy="91720"/>
            <a:chOff x="15462842" y="2846873"/>
            <a:chExt cx="1049081" cy="260743"/>
          </a:xfrm>
          <a:solidFill>
            <a:srgbClr val="000000">
              <a:lumMod val="85000"/>
              <a:lumOff val="15000"/>
            </a:srgbClr>
          </a:solidFill>
        </p:grpSpPr>
        <p:sp>
          <p:nvSpPr>
            <p:cNvPr id="71" name="Elipse 12">
              <a:extLst>
                <a:ext uri="{FF2B5EF4-FFF2-40B4-BE49-F238E27FC236}">
                  <a16:creationId xmlns:a16="http://schemas.microsoft.com/office/drawing/2014/main" id="{C5400CB6-C74E-9FEA-C5A0-E1D27A70E238}"/>
                </a:ext>
              </a:extLst>
            </p:cNvPr>
            <p:cNvSpPr/>
            <p:nvPr/>
          </p:nvSpPr>
          <p:spPr>
            <a:xfrm>
              <a:off x="15462842"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72" name="Elipse 13">
              <a:extLst>
                <a:ext uri="{FF2B5EF4-FFF2-40B4-BE49-F238E27FC236}">
                  <a16:creationId xmlns:a16="http://schemas.microsoft.com/office/drawing/2014/main" id="{ECDBA487-851A-2A04-D39E-0DF641425F38}"/>
                </a:ext>
              </a:extLst>
            </p:cNvPr>
            <p:cNvSpPr/>
            <p:nvPr/>
          </p:nvSpPr>
          <p:spPr>
            <a:xfrm>
              <a:off x="15860210"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sp>
          <p:nvSpPr>
            <p:cNvPr id="73" name="Elipse 14">
              <a:extLst>
                <a:ext uri="{FF2B5EF4-FFF2-40B4-BE49-F238E27FC236}">
                  <a16:creationId xmlns:a16="http://schemas.microsoft.com/office/drawing/2014/main" id="{1638C1F7-D438-A4CC-3F1E-E2167EA60286}"/>
                </a:ext>
              </a:extLst>
            </p:cNvPr>
            <p:cNvSpPr/>
            <p:nvPr/>
          </p:nvSpPr>
          <p:spPr>
            <a:xfrm>
              <a:off x="16251180" y="2846873"/>
              <a:ext cx="260743" cy="260743"/>
            </a:xfrm>
            <a:prstGeom prst="ellipse">
              <a:avLst/>
            </a:prstGeom>
            <a:grpFill/>
            <a:ln w="19050" cap="flat" cmpd="sng" algn="ctr">
              <a:solidFill>
                <a:srgbClr val="C1F4D4">
                  <a:lumMod val="25000"/>
                </a:srgbClr>
              </a:solidFill>
              <a:prstDash val="solid"/>
            </a:ln>
            <a:effectLst/>
          </p:spPr>
          <p:txBody>
            <a:bodyPr rtlCol="0" anchor="ctr"/>
            <a:lstStyle/>
            <a:p>
              <a:pPr marL="0" marR="0" lvl="0" indent="0" algn="ctr" defTabSz="554492" eaLnBrk="1" fontAlgn="auto" latinLnBrk="0" hangingPunct="1">
                <a:lnSpc>
                  <a:spcPct val="100000"/>
                </a:lnSpc>
                <a:spcBef>
                  <a:spcPts val="0"/>
                </a:spcBef>
                <a:spcAft>
                  <a:spcPts val="0"/>
                </a:spcAft>
                <a:buClrTx/>
                <a:buSzTx/>
                <a:buFont typeface="Arial"/>
                <a:buNone/>
                <a:tabLst/>
                <a:defRPr/>
              </a:pPr>
              <a:endParaRPr kumimoji="0" lang="pt-BR" sz="900" b="0" i="0" u="none" strike="noStrike" kern="0" cap="none" spc="0" normalizeH="0" baseline="0" noProof="0">
                <a:ln>
                  <a:noFill/>
                </a:ln>
                <a:solidFill>
                  <a:prstClr val="white"/>
                </a:solidFill>
                <a:effectLst/>
                <a:uLnTx/>
                <a:uFillTx/>
                <a:latin typeface="Calibri"/>
                <a:ea typeface="+mn-ea"/>
                <a:cs typeface="+mn-cs"/>
                <a:sym typeface="Arial"/>
              </a:endParaRPr>
            </a:p>
          </p:txBody>
        </p:sp>
      </p:grpSp>
      <p:sp>
        <p:nvSpPr>
          <p:cNvPr id="74" name="object 13">
            <a:extLst>
              <a:ext uri="{FF2B5EF4-FFF2-40B4-BE49-F238E27FC236}">
                <a16:creationId xmlns:a16="http://schemas.microsoft.com/office/drawing/2014/main" id="{CD751D35-FE8B-4AD3-0CC2-641D1B131C8E}"/>
              </a:ext>
            </a:extLst>
          </p:cNvPr>
          <p:cNvSpPr txBox="1"/>
          <p:nvPr/>
        </p:nvSpPr>
        <p:spPr>
          <a:xfrm>
            <a:off x="593057" y="452272"/>
            <a:ext cx="3868697" cy="284386"/>
          </a:xfrm>
          <a:prstGeom prst="rect">
            <a:avLst/>
          </a:prstGeom>
        </p:spPr>
        <p:txBody>
          <a:bodyPr vert="horz" wrap="square" lIns="0" tIns="7316" rIns="0" bIns="0" rtlCol="0">
            <a:spAutoFit/>
          </a:bodyPr>
          <a:lstStyle/>
          <a:p>
            <a:pPr defTabSz="554492">
              <a:buFont typeface="Arial"/>
              <a:buNone/>
              <a:defRPr/>
            </a:pPr>
            <a:r>
              <a:rPr lang="pt-BR" kern="0">
                <a:solidFill>
                  <a:prstClr val="white"/>
                </a:solidFill>
                <a:latin typeface="Versos Light" panose="020B0403020204030204" pitchFamily="34" charset="0"/>
                <a:cs typeface="Arial"/>
                <a:sym typeface="Arial"/>
              </a:rPr>
              <a:t>Por que investir no </a:t>
            </a:r>
            <a:endParaRPr lang="pt-BR" b="1" kern="0">
              <a:solidFill>
                <a:prstClr val="white"/>
              </a:solidFill>
              <a:latin typeface="Versos Light" panose="020B0403020204030204" pitchFamily="34" charset="0"/>
              <a:cs typeface="Arial"/>
              <a:sym typeface="Arial"/>
            </a:endParaRPr>
          </a:p>
        </p:txBody>
      </p:sp>
      <p:sp>
        <p:nvSpPr>
          <p:cNvPr id="75" name="object 13">
            <a:extLst>
              <a:ext uri="{FF2B5EF4-FFF2-40B4-BE49-F238E27FC236}">
                <a16:creationId xmlns:a16="http://schemas.microsoft.com/office/drawing/2014/main" id="{E7ED2BE3-00CD-D311-F359-185B24787C1A}"/>
              </a:ext>
            </a:extLst>
          </p:cNvPr>
          <p:cNvSpPr txBox="1"/>
          <p:nvPr/>
        </p:nvSpPr>
        <p:spPr>
          <a:xfrm>
            <a:off x="4980496" y="1458681"/>
            <a:ext cx="437511" cy="557346"/>
          </a:xfrm>
          <a:prstGeom prst="rect">
            <a:avLst/>
          </a:prstGeom>
        </p:spPr>
        <p:txBody>
          <a:bodyPr vert="horz" wrap="square" lIns="0" tIns="0" rIns="0" bIns="0" rtlCol="0">
            <a:noAutofit/>
          </a:bodyPr>
          <a:lstStyle/>
          <a:p>
            <a:pPr defTabSz="554492">
              <a:buFont typeface="Arial"/>
              <a:buNone/>
              <a:defRPr/>
            </a:pPr>
            <a:r>
              <a:rPr lang="pt-BR" sz="4400" kern="0">
                <a:solidFill>
                  <a:prstClr val="white"/>
                </a:solidFill>
                <a:latin typeface="Versos" panose="020B0503020204030204" pitchFamily="34" charset="77"/>
                <a:cs typeface="Arial"/>
                <a:sym typeface="Arial"/>
              </a:rPr>
              <a:t>?</a:t>
            </a:r>
            <a:endParaRPr lang="pt-BR" sz="4400" kern="0">
              <a:solidFill>
                <a:prstClr val="white"/>
              </a:solidFill>
              <a:latin typeface="Versos" panose="020B0503020204030204" pitchFamily="34" charset="0"/>
              <a:cs typeface="Arial"/>
              <a:sym typeface="Arial"/>
            </a:endParaRPr>
          </a:p>
        </p:txBody>
      </p:sp>
      <p:sp>
        <p:nvSpPr>
          <p:cNvPr id="77" name="Retângulo: Cantos Arredondados 76">
            <a:extLst>
              <a:ext uri="{FF2B5EF4-FFF2-40B4-BE49-F238E27FC236}">
                <a16:creationId xmlns:a16="http://schemas.microsoft.com/office/drawing/2014/main" id="{A01B5754-4A1F-9E8E-F3D5-6BD15EC9BA07}"/>
              </a:ext>
            </a:extLst>
          </p:cNvPr>
          <p:cNvSpPr/>
          <p:nvPr/>
        </p:nvSpPr>
        <p:spPr>
          <a:xfrm>
            <a:off x="595449" y="2299097"/>
            <a:ext cx="3332404" cy="480718"/>
          </a:xfrm>
          <a:prstGeom prst="roundRect">
            <a:avLst/>
          </a:prstGeom>
          <a:solidFill>
            <a:srgbClr val="92D3AB"/>
          </a:solidFill>
          <a:ln w="254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rgbClr val="FFFFFF"/>
              </a:solidFill>
              <a:effectLst/>
              <a:uLnTx/>
              <a:uFillTx/>
              <a:latin typeface="Calibri"/>
              <a:ea typeface="+mn-ea"/>
              <a:cs typeface="+mn-cs"/>
            </a:endParaRPr>
          </a:p>
        </p:txBody>
      </p:sp>
      <p:sp>
        <p:nvSpPr>
          <p:cNvPr id="80" name="CaixaDeTexto 79">
            <a:extLst>
              <a:ext uri="{FF2B5EF4-FFF2-40B4-BE49-F238E27FC236}">
                <a16:creationId xmlns:a16="http://schemas.microsoft.com/office/drawing/2014/main" id="{7AFB7E8D-A2B1-8561-18CD-9112D9F4EF36}"/>
              </a:ext>
            </a:extLst>
          </p:cNvPr>
          <p:cNvSpPr txBox="1"/>
          <p:nvPr/>
        </p:nvSpPr>
        <p:spPr>
          <a:xfrm>
            <a:off x="566574" y="2419973"/>
            <a:ext cx="1971806" cy="461665"/>
          </a:xfrm>
          <a:prstGeom prst="rect">
            <a:avLst/>
          </a:prstGeom>
          <a:noFill/>
        </p:spPr>
        <p:txBody>
          <a:bodyPr wrap="square" lIns="0" rIns="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1200" b="1" i="0" u="none" strike="noStrike" kern="0" cap="none" spc="0" normalizeH="0" baseline="0" noProof="0">
                <a:ln>
                  <a:noFill/>
                </a:ln>
                <a:solidFill>
                  <a:srgbClr val="FFFFFF"/>
                </a:solidFill>
                <a:effectLst/>
                <a:uLnTx/>
                <a:uFillTx/>
                <a:latin typeface="Versos" panose="020B0503020204030204" pitchFamily="34" charset="77"/>
                <a:cs typeface="Arial"/>
                <a:sym typeface="Arial"/>
              </a:rPr>
              <a:t>EXCLUSIVIDADE</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rgbClr val="FFFFFF"/>
              </a:solidFill>
              <a:effectLst/>
              <a:uLnTx/>
              <a:uFillTx/>
              <a:latin typeface="Versos" panose="020B0503020204030204" pitchFamily="34" charset="77"/>
              <a:cs typeface="Arial"/>
              <a:sym typeface="Arial"/>
            </a:endParaRPr>
          </a:p>
        </p:txBody>
      </p:sp>
      <p:pic>
        <p:nvPicPr>
          <p:cNvPr id="81" name="object 17">
            <a:extLst>
              <a:ext uri="{FF2B5EF4-FFF2-40B4-BE49-F238E27FC236}">
                <a16:creationId xmlns:a16="http://schemas.microsoft.com/office/drawing/2014/main" id="{7864F09A-D8CC-2EF9-D74A-2C147DB21CE7}"/>
              </a:ext>
            </a:extLst>
          </p:cNvPr>
          <p:cNvPicPr/>
          <p:nvPr/>
        </p:nvPicPr>
        <p:blipFill>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rcRect/>
          <a:stretch/>
        </p:blipFill>
        <p:spPr>
          <a:xfrm>
            <a:off x="2513717" y="2316769"/>
            <a:ext cx="1228815" cy="398341"/>
          </a:xfrm>
          <a:prstGeom prst="rect">
            <a:avLst/>
          </a:prstGeom>
        </p:spPr>
      </p:pic>
      <p:grpSp>
        <p:nvGrpSpPr>
          <p:cNvPr id="2" name="Group 1">
            <a:extLst>
              <a:ext uri="{FF2B5EF4-FFF2-40B4-BE49-F238E27FC236}">
                <a16:creationId xmlns:a16="http://schemas.microsoft.com/office/drawing/2014/main" id="{8E4211D0-B792-4D55-B3C1-DD19CDA63246}"/>
              </a:ext>
            </a:extLst>
          </p:cNvPr>
          <p:cNvGrpSpPr/>
          <p:nvPr/>
        </p:nvGrpSpPr>
        <p:grpSpPr>
          <a:xfrm>
            <a:off x="509101" y="776939"/>
            <a:ext cx="4357911" cy="1240378"/>
            <a:chOff x="509101" y="776939"/>
            <a:chExt cx="4357911" cy="1240378"/>
          </a:xfrm>
        </p:grpSpPr>
        <p:grpSp>
          <p:nvGrpSpPr>
            <p:cNvPr id="86" name="Graphic 5">
              <a:extLst>
                <a:ext uri="{FF2B5EF4-FFF2-40B4-BE49-F238E27FC236}">
                  <a16:creationId xmlns:a16="http://schemas.microsoft.com/office/drawing/2014/main" id="{4FB330E2-6928-DC7D-85ED-E409483B5BA5}"/>
                </a:ext>
              </a:extLst>
            </p:cNvPr>
            <p:cNvGrpSpPr/>
            <p:nvPr/>
          </p:nvGrpSpPr>
          <p:grpSpPr>
            <a:xfrm>
              <a:off x="2437697" y="1093171"/>
              <a:ext cx="2429315" cy="924146"/>
              <a:chOff x="706890" y="3931897"/>
              <a:chExt cx="2880695" cy="1095859"/>
            </a:xfrm>
          </p:grpSpPr>
          <p:sp>
            <p:nvSpPr>
              <p:cNvPr id="109" name="Freeform: Shape 52">
                <a:extLst>
                  <a:ext uri="{FF2B5EF4-FFF2-40B4-BE49-F238E27FC236}">
                    <a16:creationId xmlns:a16="http://schemas.microsoft.com/office/drawing/2014/main" id="{1235FF10-9D5E-8949-3668-E30B5E0F9B34}"/>
                  </a:ext>
                </a:extLst>
              </p:cNvPr>
              <p:cNvSpPr/>
              <p:nvPr/>
            </p:nvSpPr>
            <p:spPr>
              <a:xfrm>
                <a:off x="706890" y="3941198"/>
                <a:ext cx="846972" cy="1076081"/>
              </a:xfrm>
              <a:custGeom>
                <a:avLst/>
                <a:gdLst>
                  <a:gd name="connsiteX0" fmla="*/ 0 w 846972"/>
                  <a:gd name="connsiteY0" fmla="*/ 118 h 1076081"/>
                  <a:gd name="connsiteX1" fmla="*/ 376628 w 846972"/>
                  <a:gd name="connsiteY1" fmla="*/ 118 h 1076081"/>
                  <a:gd name="connsiteX2" fmla="*/ 727120 w 846972"/>
                  <a:gd name="connsiteY2" fmla="*/ 114672 h 1076081"/>
                  <a:gd name="connsiteX3" fmla="*/ 846973 w 846972"/>
                  <a:gd name="connsiteY3" fmla="*/ 449034 h 1076081"/>
                  <a:gd name="connsiteX4" fmla="*/ 846973 w 846972"/>
                  <a:gd name="connsiteY4" fmla="*/ 625752 h 1076081"/>
                  <a:gd name="connsiteX5" fmla="*/ 726296 w 846972"/>
                  <a:gd name="connsiteY5" fmla="*/ 960820 h 1076081"/>
                  <a:gd name="connsiteX6" fmla="*/ 376628 w 846972"/>
                  <a:gd name="connsiteY6" fmla="*/ 1076081 h 1076081"/>
                  <a:gd name="connsiteX7" fmla="*/ 0 w 846972"/>
                  <a:gd name="connsiteY7" fmla="*/ 1076081 h 1076081"/>
                  <a:gd name="connsiteX8" fmla="*/ 0 w 846972"/>
                  <a:gd name="connsiteY8" fmla="*/ 0 h 1076081"/>
                  <a:gd name="connsiteX9" fmla="*/ 359675 w 846972"/>
                  <a:gd name="connsiteY9" fmla="*/ 1026869 h 1076081"/>
                  <a:gd name="connsiteX10" fmla="*/ 791638 w 846972"/>
                  <a:gd name="connsiteY10" fmla="*/ 625634 h 1076081"/>
                  <a:gd name="connsiteX11" fmla="*/ 791638 w 846972"/>
                  <a:gd name="connsiteY11" fmla="*/ 448917 h 1076081"/>
                  <a:gd name="connsiteX12" fmla="*/ 359675 w 846972"/>
                  <a:gd name="connsiteY12" fmla="*/ 49213 h 1076081"/>
                  <a:gd name="connsiteX13" fmla="*/ 53804 w 846972"/>
                  <a:gd name="connsiteY13" fmla="*/ 49213 h 1076081"/>
                  <a:gd name="connsiteX14" fmla="*/ 53804 w 846972"/>
                  <a:gd name="connsiteY14" fmla="*/ 1026869 h 1076081"/>
                  <a:gd name="connsiteX15" fmla="*/ 359675 w 846972"/>
                  <a:gd name="connsiteY15" fmla="*/ 1026869 h 107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46972" h="1076081">
                    <a:moveTo>
                      <a:pt x="0" y="118"/>
                    </a:moveTo>
                    <a:lnTo>
                      <a:pt x="376628" y="118"/>
                    </a:lnTo>
                    <a:cubicBezTo>
                      <a:pt x="530388" y="118"/>
                      <a:pt x="647179" y="38263"/>
                      <a:pt x="727120" y="114672"/>
                    </a:cubicBezTo>
                    <a:cubicBezTo>
                      <a:pt x="807061" y="191081"/>
                      <a:pt x="846973" y="302457"/>
                      <a:pt x="846973" y="449034"/>
                    </a:cubicBezTo>
                    <a:lnTo>
                      <a:pt x="846973" y="625752"/>
                    </a:lnTo>
                    <a:cubicBezTo>
                      <a:pt x="846973" y="772330"/>
                      <a:pt x="806708" y="884059"/>
                      <a:pt x="726296" y="960820"/>
                    </a:cubicBezTo>
                    <a:cubicBezTo>
                      <a:pt x="645884" y="1037700"/>
                      <a:pt x="529328" y="1076081"/>
                      <a:pt x="376628" y="1076081"/>
                    </a:cubicBezTo>
                    <a:lnTo>
                      <a:pt x="0" y="1076081"/>
                    </a:lnTo>
                    <a:lnTo>
                      <a:pt x="0" y="0"/>
                    </a:lnTo>
                    <a:close/>
                    <a:moveTo>
                      <a:pt x="359675" y="1026869"/>
                    </a:moveTo>
                    <a:cubicBezTo>
                      <a:pt x="647650" y="1026869"/>
                      <a:pt x="791638" y="893124"/>
                      <a:pt x="791638" y="625634"/>
                    </a:cubicBezTo>
                    <a:lnTo>
                      <a:pt x="791638" y="448917"/>
                    </a:lnTo>
                    <a:cubicBezTo>
                      <a:pt x="791638" y="182486"/>
                      <a:pt x="647650" y="49213"/>
                      <a:pt x="359675" y="49213"/>
                    </a:cubicBezTo>
                    <a:lnTo>
                      <a:pt x="53804" y="49213"/>
                    </a:lnTo>
                    <a:lnTo>
                      <a:pt x="53804" y="1026869"/>
                    </a:lnTo>
                    <a:lnTo>
                      <a:pt x="359675" y="1026869"/>
                    </a:lnTo>
                    <a:close/>
                  </a:path>
                </a:pathLst>
              </a:custGeom>
              <a:solidFill>
                <a:srgbClr val="FFFFFF"/>
              </a:solidFill>
              <a:ln w="1174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rgbClr val="FFFFFF"/>
                  </a:solidFill>
                  <a:effectLst/>
                  <a:uLnTx/>
                  <a:uFillTx/>
                </a:endParaRPr>
              </a:p>
            </p:txBody>
          </p:sp>
          <p:sp>
            <p:nvSpPr>
              <p:cNvPr id="111" name="Freeform: Shape 53">
                <a:extLst>
                  <a:ext uri="{FF2B5EF4-FFF2-40B4-BE49-F238E27FC236}">
                    <a16:creationId xmlns:a16="http://schemas.microsoft.com/office/drawing/2014/main" id="{6F6A74C9-52C6-34A6-0137-7B7398338290}"/>
                  </a:ext>
                </a:extLst>
              </p:cNvPr>
              <p:cNvSpPr/>
              <p:nvPr/>
            </p:nvSpPr>
            <p:spPr>
              <a:xfrm>
                <a:off x="1790507" y="3931897"/>
                <a:ext cx="779393" cy="1094329"/>
              </a:xfrm>
              <a:custGeom>
                <a:avLst/>
                <a:gdLst>
                  <a:gd name="connsiteX0" fmla="*/ 107608 w 779393"/>
                  <a:gd name="connsiteY0" fmla="*/ 972358 h 1094329"/>
                  <a:gd name="connsiteX1" fmla="*/ 0 w 779393"/>
                  <a:gd name="connsiteY1" fmla="*/ 637996 h 1094329"/>
                  <a:gd name="connsiteX2" fmla="*/ 0 w 779393"/>
                  <a:gd name="connsiteY2" fmla="*/ 467401 h 1094329"/>
                  <a:gd name="connsiteX3" fmla="*/ 49212 w 779393"/>
                  <a:gd name="connsiteY3" fmla="*/ 220632 h 1094329"/>
                  <a:gd name="connsiteX4" fmla="*/ 189904 w 779393"/>
                  <a:gd name="connsiteY4" fmla="*/ 57689 h 1094329"/>
                  <a:gd name="connsiteX5" fmla="*/ 407474 w 779393"/>
                  <a:gd name="connsiteY5" fmla="*/ 0 h 1094329"/>
                  <a:gd name="connsiteX6" fmla="*/ 591138 w 779393"/>
                  <a:gd name="connsiteY6" fmla="*/ 36851 h 1094329"/>
                  <a:gd name="connsiteX7" fmla="*/ 716406 w 779393"/>
                  <a:gd name="connsiteY7" fmla="*/ 141397 h 1094329"/>
                  <a:gd name="connsiteX8" fmla="*/ 761027 w 779393"/>
                  <a:gd name="connsiteY8" fmla="*/ 295157 h 1094329"/>
                  <a:gd name="connsiteX9" fmla="*/ 707223 w 779393"/>
                  <a:gd name="connsiteY9" fmla="*/ 295157 h 1094329"/>
                  <a:gd name="connsiteX10" fmla="*/ 668724 w 779393"/>
                  <a:gd name="connsiteY10" fmla="*/ 166828 h 1094329"/>
                  <a:gd name="connsiteX11" fmla="*/ 561941 w 779393"/>
                  <a:gd name="connsiteY11" fmla="*/ 79941 h 1094329"/>
                  <a:gd name="connsiteX12" fmla="*/ 407474 w 779393"/>
                  <a:gd name="connsiteY12" fmla="*/ 49212 h 1094329"/>
                  <a:gd name="connsiteX13" fmla="*/ 219926 w 779393"/>
                  <a:gd name="connsiteY13" fmla="*/ 100662 h 1094329"/>
                  <a:gd name="connsiteX14" fmla="*/ 96894 w 779393"/>
                  <a:gd name="connsiteY14" fmla="*/ 247475 h 1094329"/>
                  <a:gd name="connsiteX15" fmla="*/ 53804 w 779393"/>
                  <a:gd name="connsiteY15" fmla="*/ 468814 h 1094329"/>
                  <a:gd name="connsiteX16" fmla="*/ 53804 w 779393"/>
                  <a:gd name="connsiteY16" fmla="*/ 662485 h 1094329"/>
                  <a:gd name="connsiteX17" fmla="*/ 56865 w 779393"/>
                  <a:gd name="connsiteY17" fmla="*/ 662485 h 1094329"/>
                  <a:gd name="connsiteX18" fmla="*/ 172950 w 779393"/>
                  <a:gd name="connsiteY18" fmla="*/ 488004 h 1094329"/>
                  <a:gd name="connsiteX19" fmla="*/ 407357 w 779393"/>
                  <a:gd name="connsiteY19" fmla="*/ 422662 h 1094329"/>
                  <a:gd name="connsiteX20" fmla="*/ 606444 w 779393"/>
                  <a:gd name="connsiteY20" fmla="*/ 462574 h 1094329"/>
                  <a:gd name="connsiteX21" fmla="*/ 734773 w 779393"/>
                  <a:gd name="connsiteY21" fmla="*/ 574773 h 1094329"/>
                  <a:gd name="connsiteX22" fmla="*/ 779394 w 779393"/>
                  <a:gd name="connsiteY22" fmla="*/ 740777 h 1094329"/>
                  <a:gd name="connsiteX23" fmla="*/ 779394 w 779393"/>
                  <a:gd name="connsiteY23" fmla="*/ 769975 h 1094329"/>
                  <a:gd name="connsiteX24" fmla="*/ 731712 w 779393"/>
                  <a:gd name="connsiteY24" fmla="*/ 935979 h 1094329"/>
                  <a:gd name="connsiteX25" fmla="*/ 598791 w 779393"/>
                  <a:gd name="connsiteY25" fmla="*/ 1052064 h 1094329"/>
                  <a:gd name="connsiteX26" fmla="*/ 404296 w 779393"/>
                  <a:gd name="connsiteY26" fmla="*/ 1094330 h 1094329"/>
                  <a:gd name="connsiteX27" fmla="*/ 107608 w 779393"/>
                  <a:gd name="connsiteY27" fmla="*/ 972123 h 1094329"/>
                  <a:gd name="connsiteX28" fmla="*/ 116909 w 779393"/>
                  <a:gd name="connsiteY28" fmla="*/ 899364 h 1094329"/>
                  <a:gd name="connsiteX29" fmla="*/ 235231 w 779393"/>
                  <a:gd name="connsiteY29" fmla="*/ 1005441 h 1094329"/>
                  <a:gd name="connsiteX30" fmla="*/ 402765 w 779393"/>
                  <a:gd name="connsiteY30" fmla="*/ 1045353 h 1094329"/>
                  <a:gd name="connsiteX31" fmla="*/ 569593 w 779393"/>
                  <a:gd name="connsiteY31" fmla="*/ 1009209 h 1094329"/>
                  <a:gd name="connsiteX32" fmla="*/ 684030 w 779393"/>
                  <a:gd name="connsiteY32" fmla="*/ 910077 h 1094329"/>
                  <a:gd name="connsiteX33" fmla="*/ 725590 w 779393"/>
                  <a:gd name="connsiteY33" fmla="*/ 771741 h 1094329"/>
                  <a:gd name="connsiteX34" fmla="*/ 725590 w 779393"/>
                  <a:gd name="connsiteY34" fmla="*/ 742543 h 1094329"/>
                  <a:gd name="connsiteX35" fmla="*/ 638702 w 779393"/>
                  <a:gd name="connsiteY35" fmla="*/ 545811 h 1094329"/>
                  <a:gd name="connsiteX36" fmla="*/ 401235 w 779393"/>
                  <a:gd name="connsiteY36" fmla="*/ 471992 h 1094329"/>
                  <a:gd name="connsiteX37" fmla="*/ 237468 w 779393"/>
                  <a:gd name="connsiteY37" fmla="*/ 505075 h 1094329"/>
                  <a:gd name="connsiteX38" fmla="*/ 118322 w 779393"/>
                  <a:gd name="connsiteY38" fmla="*/ 599615 h 1094329"/>
                  <a:gd name="connsiteX39" fmla="*/ 73701 w 779393"/>
                  <a:gd name="connsiteY39" fmla="*/ 744074 h 1094329"/>
                  <a:gd name="connsiteX40" fmla="*/ 73701 w 779393"/>
                  <a:gd name="connsiteY40" fmla="*/ 754787 h 1094329"/>
                  <a:gd name="connsiteX41" fmla="*/ 116791 w 779393"/>
                  <a:gd name="connsiteY41" fmla="*/ 899246 h 10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779393" h="1094329">
                    <a:moveTo>
                      <a:pt x="107608" y="972358"/>
                    </a:moveTo>
                    <a:cubicBezTo>
                      <a:pt x="35791" y="890887"/>
                      <a:pt x="0" y="779394"/>
                      <a:pt x="0" y="637996"/>
                    </a:cubicBezTo>
                    <a:lnTo>
                      <a:pt x="0" y="467401"/>
                    </a:lnTo>
                    <a:cubicBezTo>
                      <a:pt x="0" y="373096"/>
                      <a:pt x="16365" y="290919"/>
                      <a:pt x="49212" y="220632"/>
                    </a:cubicBezTo>
                    <a:cubicBezTo>
                      <a:pt x="81942" y="150463"/>
                      <a:pt x="128918" y="96070"/>
                      <a:pt x="189904" y="57689"/>
                    </a:cubicBezTo>
                    <a:cubicBezTo>
                      <a:pt x="250889" y="19308"/>
                      <a:pt x="323413" y="0"/>
                      <a:pt x="407474" y="0"/>
                    </a:cubicBezTo>
                    <a:cubicBezTo>
                      <a:pt x="476113" y="0"/>
                      <a:pt x="537334" y="12244"/>
                      <a:pt x="591138" y="36851"/>
                    </a:cubicBezTo>
                    <a:cubicBezTo>
                      <a:pt x="644942" y="61457"/>
                      <a:pt x="686738" y="96306"/>
                      <a:pt x="716406" y="141397"/>
                    </a:cubicBezTo>
                    <a:cubicBezTo>
                      <a:pt x="746075" y="186489"/>
                      <a:pt x="761027" y="237703"/>
                      <a:pt x="761027" y="295157"/>
                    </a:cubicBezTo>
                    <a:lnTo>
                      <a:pt x="707223" y="295157"/>
                    </a:lnTo>
                    <a:cubicBezTo>
                      <a:pt x="707223" y="247004"/>
                      <a:pt x="694390" y="204267"/>
                      <a:pt x="668724" y="166828"/>
                    </a:cubicBezTo>
                    <a:cubicBezTo>
                      <a:pt x="643059" y="129389"/>
                      <a:pt x="607503" y="100544"/>
                      <a:pt x="561941" y="79941"/>
                    </a:cubicBezTo>
                    <a:cubicBezTo>
                      <a:pt x="516378" y="59455"/>
                      <a:pt x="464811" y="49212"/>
                      <a:pt x="407474" y="49212"/>
                    </a:cubicBezTo>
                    <a:cubicBezTo>
                      <a:pt x="335775" y="49212"/>
                      <a:pt x="273141" y="66402"/>
                      <a:pt x="219926" y="100662"/>
                    </a:cubicBezTo>
                    <a:cubicBezTo>
                      <a:pt x="166592" y="135040"/>
                      <a:pt x="125621" y="183899"/>
                      <a:pt x="96894" y="247475"/>
                    </a:cubicBezTo>
                    <a:cubicBezTo>
                      <a:pt x="68167" y="311051"/>
                      <a:pt x="53804" y="384870"/>
                      <a:pt x="53804" y="468814"/>
                    </a:cubicBezTo>
                    <a:lnTo>
                      <a:pt x="53804" y="662485"/>
                    </a:lnTo>
                    <a:lnTo>
                      <a:pt x="56865" y="662485"/>
                    </a:lnTo>
                    <a:cubicBezTo>
                      <a:pt x="69109" y="589725"/>
                      <a:pt x="107844" y="531565"/>
                      <a:pt x="172950" y="488004"/>
                    </a:cubicBezTo>
                    <a:cubicBezTo>
                      <a:pt x="238056" y="444443"/>
                      <a:pt x="316114" y="422662"/>
                      <a:pt x="407357" y="422662"/>
                    </a:cubicBezTo>
                    <a:cubicBezTo>
                      <a:pt x="484237" y="422662"/>
                      <a:pt x="550520" y="435966"/>
                      <a:pt x="606444" y="462574"/>
                    </a:cubicBezTo>
                    <a:cubicBezTo>
                      <a:pt x="662249" y="489299"/>
                      <a:pt x="704986" y="526620"/>
                      <a:pt x="734773" y="574773"/>
                    </a:cubicBezTo>
                    <a:cubicBezTo>
                      <a:pt x="764442" y="622926"/>
                      <a:pt x="779394" y="678261"/>
                      <a:pt x="779394" y="740777"/>
                    </a:cubicBezTo>
                    <a:lnTo>
                      <a:pt x="779394" y="769975"/>
                    </a:lnTo>
                    <a:cubicBezTo>
                      <a:pt x="779394" y="831432"/>
                      <a:pt x="763500" y="886766"/>
                      <a:pt x="731712" y="935979"/>
                    </a:cubicBezTo>
                    <a:cubicBezTo>
                      <a:pt x="699924" y="985191"/>
                      <a:pt x="655656" y="1023808"/>
                      <a:pt x="598791" y="1052064"/>
                    </a:cubicBezTo>
                    <a:cubicBezTo>
                      <a:pt x="541926" y="1080202"/>
                      <a:pt x="477055" y="1094330"/>
                      <a:pt x="404296" y="1094330"/>
                    </a:cubicBezTo>
                    <a:cubicBezTo>
                      <a:pt x="278203" y="1094330"/>
                      <a:pt x="179308" y="1053594"/>
                      <a:pt x="107608" y="972123"/>
                    </a:cubicBezTo>
                    <a:close/>
                    <a:moveTo>
                      <a:pt x="116909" y="899364"/>
                    </a:moveTo>
                    <a:cubicBezTo>
                      <a:pt x="145636" y="943396"/>
                      <a:pt x="185076" y="978834"/>
                      <a:pt x="235231" y="1005441"/>
                    </a:cubicBezTo>
                    <a:cubicBezTo>
                      <a:pt x="285385" y="1032167"/>
                      <a:pt x="341308" y="1045353"/>
                      <a:pt x="402765" y="1045353"/>
                    </a:cubicBezTo>
                    <a:cubicBezTo>
                      <a:pt x="464222" y="1045353"/>
                      <a:pt x="520852" y="1033344"/>
                      <a:pt x="569593" y="1009209"/>
                    </a:cubicBezTo>
                    <a:cubicBezTo>
                      <a:pt x="618217" y="985191"/>
                      <a:pt x="656480" y="952108"/>
                      <a:pt x="684030" y="910077"/>
                    </a:cubicBezTo>
                    <a:cubicBezTo>
                      <a:pt x="711697" y="868047"/>
                      <a:pt x="725590" y="821895"/>
                      <a:pt x="725590" y="771741"/>
                    </a:cubicBezTo>
                    <a:lnTo>
                      <a:pt x="725590" y="742543"/>
                    </a:lnTo>
                    <a:cubicBezTo>
                      <a:pt x="725590" y="660601"/>
                      <a:pt x="696627" y="595023"/>
                      <a:pt x="638702" y="545811"/>
                    </a:cubicBezTo>
                    <a:cubicBezTo>
                      <a:pt x="580778" y="496598"/>
                      <a:pt x="501661" y="471992"/>
                      <a:pt x="401235" y="471992"/>
                    </a:cubicBezTo>
                    <a:cubicBezTo>
                      <a:pt x="341779" y="471992"/>
                      <a:pt x="287151" y="483059"/>
                      <a:pt x="237468" y="505075"/>
                    </a:cubicBezTo>
                    <a:cubicBezTo>
                      <a:pt x="187784" y="527091"/>
                      <a:pt x="148108" y="558644"/>
                      <a:pt x="118322" y="599615"/>
                    </a:cubicBezTo>
                    <a:cubicBezTo>
                      <a:pt x="88535" y="640586"/>
                      <a:pt x="73701" y="688739"/>
                      <a:pt x="73701" y="744074"/>
                    </a:cubicBezTo>
                    <a:lnTo>
                      <a:pt x="73701" y="754787"/>
                    </a:lnTo>
                    <a:cubicBezTo>
                      <a:pt x="73701" y="807061"/>
                      <a:pt x="88064" y="855214"/>
                      <a:pt x="116791" y="899246"/>
                    </a:cubicBezTo>
                    <a:close/>
                  </a:path>
                </a:pathLst>
              </a:custGeom>
              <a:solidFill>
                <a:srgbClr val="FFFFFF"/>
              </a:solidFill>
              <a:ln w="1174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rgbClr val="FFFFFF"/>
                  </a:solidFill>
                  <a:effectLst/>
                  <a:uLnTx/>
                  <a:uFillTx/>
                </a:endParaRPr>
              </a:p>
            </p:txBody>
          </p:sp>
          <p:sp>
            <p:nvSpPr>
              <p:cNvPr id="112" name="Freeform: Shape 54">
                <a:extLst>
                  <a:ext uri="{FF2B5EF4-FFF2-40B4-BE49-F238E27FC236}">
                    <a16:creationId xmlns:a16="http://schemas.microsoft.com/office/drawing/2014/main" id="{9C13B2CC-076B-ABF6-4865-3D252D751459}"/>
                  </a:ext>
                </a:extLst>
              </p:cNvPr>
              <p:cNvSpPr/>
              <p:nvPr/>
            </p:nvSpPr>
            <p:spPr>
              <a:xfrm>
                <a:off x="2802188" y="3933427"/>
                <a:ext cx="785397" cy="1094329"/>
              </a:xfrm>
              <a:custGeom>
                <a:avLst/>
                <a:gdLst>
                  <a:gd name="connsiteX0" fmla="*/ 633640 w 785397"/>
                  <a:gd name="connsiteY0" fmla="*/ 66519 h 1094329"/>
                  <a:gd name="connsiteX1" fmla="*/ 633640 w 785397"/>
                  <a:gd name="connsiteY1" fmla="*/ 66519 h 1094329"/>
                  <a:gd name="connsiteX2" fmla="*/ 391934 w 785397"/>
                  <a:gd name="connsiteY2" fmla="*/ 0 h 1094329"/>
                  <a:gd name="connsiteX3" fmla="*/ 94540 w 785397"/>
                  <a:gd name="connsiteY3" fmla="*/ 122913 h 1094329"/>
                  <a:gd name="connsiteX4" fmla="*/ 0 w 785397"/>
                  <a:gd name="connsiteY4" fmla="*/ 462574 h 1094329"/>
                  <a:gd name="connsiteX5" fmla="*/ 0 w 785397"/>
                  <a:gd name="connsiteY5" fmla="*/ 634699 h 1094329"/>
                  <a:gd name="connsiteX6" fmla="*/ 93716 w 785397"/>
                  <a:gd name="connsiteY6" fmla="*/ 972947 h 1094329"/>
                  <a:gd name="connsiteX7" fmla="*/ 391934 w 785397"/>
                  <a:gd name="connsiteY7" fmla="*/ 1094330 h 1094329"/>
                  <a:gd name="connsiteX8" fmla="*/ 691682 w 785397"/>
                  <a:gd name="connsiteY8" fmla="*/ 969768 h 1094329"/>
                  <a:gd name="connsiteX9" fmla="*/ 785398 w 785397"/>
                  <a:gd name="connsiteY9" fmla="*/ 634699 h 1094329"/>
                  <a:gd name="connsiteX10" fmla="*/ 785398 w 785397"/>
                  <a:gd name="connsiteY10" fmla="*/ 462574 h 1094329"/>
                  <a:gd name="connsiteX11" fmla="*/ 666841 w 785397"/>
                  <a:gd name="connsiteY11" fmla="*/ 94540 h 1094329"/>
                  <a:gd name="connsiteX12" fmla="*/ 633758 w 785397"/>
                  <a:gd name="connsiteY12" fmla="*/ 66284 h 1094329"/>
                  <a:gd name="connsiteX13" fmla="*/ 53569 w 785397"/>
                  <a:gd name="connsiteY13" fmla="*/ 634817 h 1094329"/>
                  <a:gd name="connsiteX14" fmla="*/ 53569 w 785397"/>
                  <a:gd name="connsiteY14" fmla="*/ 462691 h 1094329"/>
                  <a:gd name="connsiteX15" fmla="*/ 391698 w 785397"/>
                  <a:gd name="connsiteY15" fmla="*/ 49212 h 1094329"/>
                  <a:gd name="connsiteX16" fmla="*/ 606090 w 785397"/>
                  <a:gd name="connsiteY16" fmla="*/ 113612 h 1094329"/>
                  <a:gd name="connsiteX17" fmla="*/ 129389 w 785397"/>
                  <a:gd name="connsiteY17" fmla="*/ 930798 h 1094329"/>
                  <a:gd name="connsiteX18" fmla="*/ 53569 w 785397"/>
                  <a:gd name="connsiteY18" fmla="*/ 634935 h 1094329"/>
                  <a:gd name="connsiteX19" fmla="*/ 731476 w 785397"/>
                  <a:gd name="connsiteY19" fmla="*/ 634817 h 1094329"/>
                  <a:gd name="connsiteX20" fmla="*/ 650005 w 785397"/>
                  <a:gd name="connsiteY20" fmla="*/ 936096 h 1094329"/>
                  <a:gd name="connsiteX21" fmla="*/ 391816 w 785397"/>
                  <a:gd name="connsiteY21" fmla="*/ 1045235 h 1094329"/>
                  <a:gd name="connsiteX22" fmla="*/ 159057 w 785397"/>
                  <a:gd name="connsiteY22" fmla="*/ 964941 h 1094329"/>
                  <a:gd name="connsiteX23" fmla="*/ 637761 w 785397"/>
                  <a:gd name="connsiteY23" fmla="*/ 144458 h 1094329"/>
                  <a:gd name="connsiteX24" fmla="*/ 650123 w 785397"/>
                  <a:gd name="connsiteY24" fmla="*/ 159057 h 1094329"/>
                  <a:gd name="connsiteX25" fmla="*/ 731594 w 785397"/>
                  <a:gd name="connsiteY25" fmla="*/ 462691 h 1094329"/>
                  <a:gd name="connsiteX26" fmla="*/ 731594 w 785397"/>
                  <a:gd name="connsiteY26" fmla="*/ 634817 h 10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5397" h="1094329">
                    <a:moveTo>
                      <a:pt x="633640" y="66519"/>
                    </a:moveTo>
                    <a:lnTo>
                      <a:pt x="633640" y="66519"/>
                    </a:lnTo>
                    <a:cubicBezTo>
                      <a:pt x="571830" y="22369"/>
                      <a:pt x="491418" y="0"/>
                      <a:pt x="391934" y="0"/>
                    </a:cubicBezTo>
                    <a:cubicBezTo>
                      <a:pt x="256658" y="0"/>
                      <a:pt x="157527" y="40971"/>
                      <a:pt x="94540" y="122913"/>
                    </a:cubicBezTo>
                    <a:cubicBezTo>
                      <a:pt x="31552" y="204856"/>
                      <a:pt x="0" y="318115"/>
                      <a:pt x="0" y="462574"/>
                    </a:cubicBezTo>
                    <a:lnTo>
                      <a:pt x="0" y="634699"/>
                    </a:lnTo>
                    <a:cubicBezTo>
                      <a:pt x="0" y="779158"/>
                      <a:pt x="31199" y="891946"/>
                      <a:pt x="93716" y="972947"/>
                    </a:cubicBezTo>
                    <a:cubicBezTo>
                      <a:pt x="156232" y="1053947"/>
                      <a:pt x="255599" y="1094330"/>
                      <a:pt x="391934" y="1094330"/>
                    </a:cubicBezTo>
                    <a:cubicBezTo>
                      <a:pt x="528269" y="1094330"/>
                      <a:pt x="629166" y="1052770"/>
                      <a:pt x="691682" y="969768"/>
                    </a:cubicBezTo>
                    <a:cubicBezTo>
                      <a:pt x="754199" y="886766"/>
                      <a:pt x="785398" y="775038"/>
                      <a:pt x="785398" y="634699"/>
                    </a:cubicBezTo>
                    <a:lnTo>
                      <a:pt x="785398" y="462574"/>
                    </a:lnTo>
                    <a:cubicBezTo>
                      <a:pt x="785398" y="293391"/>
                      <a:pt x="745722" y="170948"/>
                      <a:pt x="666841" y="94540"/>
                    </a:cubicBezTo>
                    <a:lnTo>
                      <a:pt x="633758" y="66284"/>
                    </a:lnTo>
                    <a:close/>
                    <a:moveTo>
                      <a:pt x="53569" y="634817"/>
                    </a:moveTo>
                    <a:lnTo>
                      <a:pt x="53569" y="462691"/>
                    </a:lnTo>
                    <a:cubicBezTo>
                      <a:pt x="53569" y="187078"/>
                      <a:pt x="166239" y="49212"/>
                      <a:pt x="391698" y="49212"/>
                    </a:cubicBezTo>
                    <a:cubicBezTo>
                      <a:pt x="481764" y="49212"/>
                      <a:pt x="553110" y="70758"/>
                      <a:pt x="606090" y="113612"/>
                    </a:cubicBezTo>
                    <a:lnTo>
                      <a:pt x="129389" y="930798"/>
                    </a:lnTo>
                    <a:cubicBezTo>
                      <a:pt x="78999" y="862631"/>
                      <a:pt x="53569" y="764206"/>
                      <a:pt x="53569" y="634935"/>
                    </a:cubicBezTo>
                    <a:close/>
                    <a:moveTo>
                      <a:pt x="731476" y="634817"/>
                    </a:moveTo>
                    <a:cubicBezTo>
                      <a:pt x="731476" y="762911"/>
                      <a:pt x="704280" y="863337"/>
                      <a:pt x="650005" y="936096"/>
                    </a:cubicBezTo>
                    <a:cubicBezTo>
                      <a:pt x="595730" y="1008856"/>
                      <a:pt x="509549" y="1045235"/>
                      <a:pt x="391816" y="1045235"/>
                    </a:cubicBezTo>
                    <a:cubicBezTo>
                      <a:pt x="292214" y="1045235"/>
                      <a:pt x="214628" y="1018392"/>
                      <a:pt x="159057" y="964941"/>
                    </a:cubicBezTo>
                    <a:lnTo>
                      <a:pt x="637761" y="144458"/>
                    </a:lnTo>
                    <a:cubicBezTo>
                      <a:pt x="641881" y="149286"/>
                      <a:pt x="646237" y="153877"/>
                      <a:pt x="650123" y="159057"/>
                    </a:cubicBezTo>
                    <a:cubicBezTo>
                      <a:pt x="704398" y="232288"/>
                      <a:pt x="731594" y="333538"/>
                      <a:pt x="731594" y="462691"/>
                    </a:cubicBezTo>
                    <a:lnTo>
                      <a:pt x="731594" y="634817"/>
                    </a:lnTo>
                    <a:close/>
                  </a:path>
                </a:pathLst>
              </a:custGeom>
              <a:solidFill>
                <a:srgbClr val="FFFFFF"/>
              </a:solidFill>
              <a:ln w="11741"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pt-BR" sz="1200" b="0" i="0" u="none" strike="noStrike" kern="0" cap="none" spc="0" normalizeH="0" baseline="0" noProof="0">
                  <a:ln>
                    <a:noFill/>
                  </a:ln>
                  <a:solidFill>
                    <a:srgbClr val="FFFFFF"/>
                  </a:solidFill>
                  <a:effectLst/>
                  <a:uLnTx/>
                  <a:uFillTx/>
                </a:endParaRPr>
              </a:p>
            </p:txBody>
          </p:sp>
        </p:grpSp>
        <p:pic>
          <p:nvPicPr>
            <p:cNvPr id="88" name="Graphic 51">
              <a:extLst>
                <a:ext uri="{FF2B5EF4-FFF2-40B4-BE49-F238E27FC236}">
                  <a16:creationId xmlns:a16="http://schemas.microsoft.com/office/drawing/2014/main" id="{8F28EC5C-AF20-4575-BB4A-2F59711552D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7380" y="1134629"/>
              <a:ext cx="1678785" cy="856181"/>
            </a:xfrm>
            <a:prstGeom prst="rect">
              <a:avLst/>
            </a:prstGeom>
          </p:spPr>
        </p:pic>
        <p:sp>
          <p:nvSpPr>
            <p:cNvPr id="85" name="CaixaDeTexto 6">
              <a:extLst>
                <a:ext uri="{FF2B5EF4-FFF2-40B4-BE49-F238E27FC236}">
                  <a16:creationId xmlns:a16="http://schemas.microsoft.com/office/drawing/2014/main" id="{0B361AA5-B7FA-4B38-3A5B-ED2FBCF5A752}"/>
                </a:ext>
              </a:extLst>
            </p:cNvPr>
            <p:cNvSpPr txBox="1"/>
            <p:nvPr/>
          </p:nvSpPr>
          <p:spPr>
            <a:xfrm>
              <a:off x="509101" y="776939"/>
              <a:ext cx="1740006" cy="276999"/>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200" b="1" i="0" u="none" strike="noStrike" kern="0" cap="none" spc="0" normalizeH="0" baseline="0" noProof="0">
                  <a:ln>
                    <a:noFill/>
                  </a:ln>
                  <a:solidFill>
                    <a:srgbClr val="FFFFFF"/>
                  </a:solidFill>
                  <a:effectLst/>
                  <a:uLnTx/>
                  <a:uFillTx/>
                  <a:latin typeface="Versos"/>
                </a:rPr>
                <a:t>BRADESCO TIVIO</a:t>
              </a:r>
            </a:p>
          </p:txBody>
        </p:sp>
      </p:grpSp>
    </p:spTree>
    <p:extLst>
      <p:ext uri="{BB962C8B-B14F-4D97-AF65-F5344CB8AC3E}">
        <p14:creationId xmlns:p14="http://schemas.microsoft.com/office/powerpoint/2010/main" val="510882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B6C2C9E6-A1EA-F281-17BD-4FAFB96622D9}"/>
              </a:ext>
            </a:extLst>
          </p:cNvPr>
          <p:cNvGrpSpPr/>
          <p:nvPr/>
        </p:nvGrpSpPr>
        <p:grpSpPr>
          <a:xfrm>
            <a:off x="441325" y="1090968"/>
            <a:ext cx="5932293" cy="303773"/>
            <a:chOff x="441325" y="1195743"/>
            <a:chExt cx="5975350" cy="303773"/>
          </a:xfrm>
        </p:grpSpPr>
        <p:sp>
          <p:nvSpPr>
            <p:cNvPr id="32" name="TextBox 31">
              <a:extLst>
                <a:ext uri="{FF2B5EF4-FFF2-40B4-BE49-F238E27FC236}">
                  <a16:creationId xmlns:a16="http://schemas.microsoft.com/office/drawing/2014/main" id="{4B90EDC5-4ADC-C158-724E-D6E4E163C5E5}"/>
                </a:ext>
              </a:extLst>
            </p:cNvPr>
            <p:cNvSpPr txBox="1"/>
            <p:nvPr/>
          </p:nvSpPr>
          <p:spPr>
            <a:xfrm>
              <a:off x="456569" y="1195743"/>
              <a:ext cx="3217227" cy="192360"/>
            </a:xfrm>
            <a:prstGeom prst="rect">
              <a:avLst/>
            </a:prstGeom>
            <a:noFill/>
          </p:spPr>
          <p:txBody>
            <a:bodyPr wrap="none" lIns="0" tIns="0" rIns="0" bIns="0" rtlCol="0">
              <a:spAutoFit/>
            </a:bodyPr>
            <a:lstStyle/>
            <a:p>
              <a:pPr defTabSz="914400">
                <a:defRPr/>
              </a:pPr>
              <a:r>
                <a:rPr lang="pt-BR" sz="1250">
                  <a:solidFill>
                    <a:srgbClr val="000000"/>
                  </a:solidFill>
                  <a:latin typeface="Versos" panose="020B0503020204030204" pitchFamily="34" charset="0"/>
                </a:rPr>
                <a:t>Alocação e Retorno Estimados da Carteira</a:t>
              </a:r>
            </a:p>
          </p:txBody>
        </p:sp>
        <p:cxnSp>
          <p:nvCxnSpPr>
            <p:cNvPr id="34" name="Straight Connector 33">
              <a:extLst>
                <a:ext uri="{FF2B5EF4-FFF2-40B4-BE49-F238E27FC236}">
                  <a16:creationId xmlns:a16="http://schemas.microsoft.com/office/drawing/2014/main" id="{B4387F42-51F7-54FB-600E-B149F11FF7F5}"/>
                </a:ext>
              </a:extLst>
            </p:cNvPr>
            <p:cNvCxnSpPr/>
            <p:nvPr/>
          </p:nvCxnSpPr>
          <p:spPr>
            <a:xfrm>
              <a:off x="441325" y="1499516"/>
              <a:ext cx="597535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grpSp>
        <p:nvGrpSpPr>
          <p:cNvPr id="56" name="Group 55">
            <a:extLst>
              <a:ext uri="{FF2B5EF4-FFF2-40B4-BE49-F238E27FC236}">
                <a16:creationId xmlns:a16="http://schemas.microsoft.com/office/drawing/2014/main" id="{5C716CDA-86FA-D525-4DA4-6EA755AF0C42}"/>
              </a:ext>
            </a:extLst>
          </p:cNvPr>
          <p:cNvGrpSpPr/>
          <p:nvPr/>
        </p:nvGrpSpPr>
        <p:grpSpPr>
          <a:xfrm>
            <a:off x="438035" y="3774217"/>
            <a:ext cx="5958958" cy="306068"/>
            <a:chOff x="421821" y="1193448"/>
            <a:chExt cx="11172164" cy="306068"/>
          </a:xfrm>
        </p:grpSpPr>
        <p:sp>
          <p:nvSpPr>
            <p:cNvPr id="57" name="TextBox 56">
              <a:extLst>
                <a:ext uri="{FF2B5EF4-FFF2-40B4-BE49-F238E27FC236}">
                  <a16:creationId xmlns:a16="http://schemas.microsoft.com/office/drawing/2014/main" id="{34197F65-75F1-1130-9BCB-8945A0643080}"/>
                </a:ext>
              </a:extLst>
            </p:cNvPr>
            <p:cNvSpPr txBox="1"/>
            <p:nvPr/>
          </p:nvSpPr>
          <p:spPr>
            <a:xfrm>
              <a:off x="421821" y="1193448"/>
              <a:ext cx="4389833" cy="19236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50">
                  <a:solidFill>
                    <a:srgbClr val="000000"/>
                  </a:solidFill>
                  <a:latin typeface="Versos" panose="020B0503020204030204" pitchFamily="34" charset="0"/>
                </a:rPr>
                <a:t>Exposição Setorial</a:t>
              </a:r>
            </a:p>
          </p:txBody>
        </p:sp>
        <p:cxnSp>
          <p:nvCxnSpPr>
            <p:cNvPr id="58" name="Straight Connector 57">
              <a:extLst>
                <a:ext uri="{FF2B5EF4-FFF2-40B4-BE49-F238E27FC236}">
                  <a16:creationId xmlns:a16="http://schemas.microsoft.com/office/drawing/2014/main" id="{995FA701-D449-20FF-998B-67634666E122}"/>
                </a:ext>
              </a:extLst>
            </p:cNvPr>
            <p:cNvCxnSpPr>
              <a:cxnSpLocks/>
            </p:cNvCxnSpPr>
            <p:nvPr/>
          </p:nvCxnSpPr>
          <p:spPr>
            <a:xfrm>
              <a:off x="471813" y="1499516"/>
              <a:ext cx="11122172"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sp>
        <p:nvSpPr>
          <p:cNvPr id="73" name="TextBox 72">
            <a:extLst>
              <a:ext uri="{FF2B5EF4-FFF2-40B4-BE49-F238E27FC236}">
                <a16:creationId xmlns:a16="http://schemas.microsoft.com/office/drawing/2014/main" id="{DDC3D514-2B3C-8D32-75E7-142879979AA7}"/>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sp>
        <p:nvSpPr>
          <p:cNvPr id="2" name="Rectangle 43">
            <a:extLst>
              <a:ext uri="{FF2B5EF4-FFF2-40B4-BE49-F238E27FC236}">
                <a16:creationId xmlns:a16="http://schemas.microsoft.com/office/drawing/2014/main" id="{01D7C0DB-C432-A115-BB9E-EEA0854EDC5F}"/>
              </a:ext>
            </a:extLst>
          </p:cNvPr>
          <p:cNvSpPr/>
          <p:nvPr/>
        </p:nvSpPr>
        <p:spPr>
          <a:xfrm>
            <a:off x="4762269" y="1525368"/>
            <a:ext cx="1210341" cy="2074718"/>
          </a:xfrm>
          <a:prstGeom prst="rect">
            <a:avLst/>
          </a:prstGeom>
          <a:solidFill>
            <a:srgbClr val="FFFFFF">
              <a:lumMod val="95000"/>
            </a:srgbClr>
          </a:solidFill>
          <a:ln w="19050" cap="flat" cmpd="sng" algn="ctr">
            <a:solidFill>
              <a:srgbClr val="FFFFFF">
                <a:lumMod val="85000"/>
              </a:srgbClr>
            </a:solidFill>
            <a:prstDash val="solid"/>
            <a:miter lim="800000"/>
          </a:ln>
          <a:effectLst/>
        </p:spPr>
        <p:txBody>
          <a:bodyPr lIns="108000" tIns="72000" rIns="0" bIns="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t>Retornos </a:t>
            </a:r>
            <a:b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br>
            <a: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t>Estimados</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600" b="1" i="0" u="none" strike="noStrike" kern="0" cap="none" spc="0" normalizeH="0" baseline="0" noProof="0">
                <a:ln>
                  <a:noFill/>
                </a:ln>
                <a:solidFill>
                  <a:srgbClr val="FFFFFF">
                    <a:lumMod val="50000"/>
                  </a:srgbClr>
                </a:solidFill>
                <a:effectLst/>
                <a:uLnTx/>
                <a:uFillTx/>
                <a:latin typeface="Versos" panose="020B0503020204030204" pitchFamily="34" charset="0"/>
                <a:ea typeface="+mn-ea"/>
                <a:cs typeface="+mn-cs"/>
              </a:rPr>
              <a:t>(bruto de taxas e custos)</a:t>
            </a:r>
          </a:p>
        </p:txBody>
      </p:sp>
      <p:sp>
        <p:nvSpPr>
          <p:cNvPr id="3" name="Rectangle 43">
            <a:extLst>
              <a:ext uri="{FF2B5EF4-FFF2-40B4-BE49-F238E27FC236}">
                <a16:creationId xmlns:a16="http://schemas.microsoft.com/office/drawing/2014/main" id="{7B0F9357-E590-E64E-12FA-F53BE4E66617}"/>
              </a:ext>
            </a:extLst>
          </p:cNvPr>
          <p:cNvSpPr/>
          <p:nvPr/>
        </p:nvSpPr>
        <p:spPr>
          <a:xfrm>
            <a:off x="3291940" y="1525368"/>
            <a:ext cx="1210341" cy="2074718"/>
          </a:xfrm>
          <a:prstGeom prst="rect">
            <a:avLst/>
          </a:prstGeom>
          <a:solidFill>
            <a:srgbClr val="FFFFFF">
              <a:lumMod val="95000"/>
            </a:srgbClr>
          </a:solidFill>
          <a:ln w="19050" cap="flat" cmpd="sng" algn="ctr">
            <a:solidFill>
              <a:srgbClr val="FFFFFF">
                <a:lumMod val="85000"/>
              </a:srgbClr>
            </a:solidFill>
            <a:prstDash val="solid"/>
            <a:miter lim="800000"/>
          </a:ln>
          <a:effectLst/>
        </p:spPr>
        <p:txBody>
          <a:bodyPr lIns="108000" tIns="72000" rIns="0" bIns="0"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t>Previsão </a:t>
            </a:r>
            <a:b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br>
            <a:r>
              <a:rPr kumimoji="0" lang="pt-BR" sz="1000" b="1" i="0" u="none" strike="noStrike" kern="0" cap="none" spc="0" normalizeH="0" baseline="0" noProof="0">
                <a:ln>
                  <a:noFill/>
                </a:ln>
                <a:solidFill>
                  <a:srgbClr val="000000"/>
                </a:solidFill>
                <a:effectLst/>
                <a:uLnTx/>
                <a:uFillTx/>
                <a:latin typeface="Versos" panose="020B0503020204030204" pitchFamily="34" charset="0"/>
                <a:ea typeface="+mn-ea"/>
                <a:cs typeface="+mn-cs"/>
              </a:rPr>
              <a:t>de Alocação</a:t>
            </a:r>
          </a:p>
          <a:p>
            <a:pPr marL="0" marR="0" lvl="0" indent="0" defTabSz="914400" eaLnBrk="1" fontAlgn="auto" latinLnBrk="0" hangingPunct="1">
              <a:lnSpc>
                <a:spcPct val="100000"/>
              </a:lnSpc>
              <a:spcBef>
                <a:spcPts val="0"/>
              </a:spcBef>
              <a:spcAft>
                <a:spcPts val="0"/>
              </a:spcAft>
              <a:buClrTx/>
              <a:buSzTx/>
              <a:buFontTx/>
              <a:buNone/>
              <a:tabLst/>
              <a:defRPr/>
            </a:pPr>
            <a:r>
              <a:rPr kumimoji="0" lang="pt-BR" sz="600" b="1" i="0" u="none" strike="noStrike" kern="0" cap="none" spc="0" normalizeH="0" baseline="0" noProof="0">
                <a:ln>
                  <a:noFill/>
                </a:ln>
                <a:solidFill>
                  <a:srgbClr val="FFFFFF">
                    <a:lumMod val="50000"/>
                  </a:srgbClr>
                </a:solidFill>
                <a:effectLst/>
                <a:uLnTx/>
                <a:uFillTx/>
                <a:latin typeface="Versos" panose="020B0503020204030204" pitchFamily="34" charset="0"/>
                <a:ea typeface="+mn-ea"/>
                <a:cs typeface="+mn-cs"/>
              </a:rPr>
              <a:t>(% patrimônio líquido)</a:t>
            </a:r>
          </a:p>
        </p:txBody>
      </p:sp>
      <p:sp>
        <p:nvSpPr>
          <p:cNvPr id="4" name="Rectangle 53">
            <a:extLst>
              <a:ext uri="{FF2B5EF4-FFF2-40B4-BE49-F238E27FC236}">
                <a16:creationId xmlns:a16="http://schemas.microsoft.com/office/drawing/2014/main" id="{E827407A-4069-39A3-1877-930CA03F099E}"/>
              </a:ext>
            </a:extLst>
          </p:cNvPr>
          <p:cNvSpPr/>
          <p:nvPr/>
        </p:nvSpPr>
        <p:spPr>
          <a:xfrm>
            <a:off x="743805" y="2079223"/>
            <a:ext cx="5370389" cy="396198"/>
          </a:xfrm>
          <a:prstGeom prst="rect">
            <a:avLst/>
          </a:prstGeom>
          <a:solidFill>
            <a:srgbClr val="4B9D74"/>
          </a:solidFill>
          <a:ln w="19050" cap="flat" cmpd="sng" algn="ctr">
            <a:solidFill>
              <a:srgbClr val="E6EDF1">
                <a:lumMod val="25000"/>
              </a:srgbClr>
            </a:solidFill>
            <a:prstDash val="solid"/>
            <a:miter lim="800000"/>
          </a:ln>
          <a:effectLst/>
        </p:spPr>
        <p:txBody>
          <a:bodyPr lIns="57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100" b="1" i="0" u="none" strike="noStrike" kern="0" cap="none" spc="0" normalizeH="0" baseline="0" noProof="0">
                <a:ln>
                  <a:noFill/>
                </a:ln>
                <a:solidFill>
                  <a:srgbClr val="FFFFFF"/>
                </a:solidFill>
                <a:effectLst/>
                <a:uLnTx/>
                <a:uFillTx/>
                <a:latin typeface="Versos" panose="020B0503020204030204" pitchFamily="34" charset="0"/>
                <a:ea typeface="+mn-ea"/>
                <a:cs typeface="+mn-cs"/>
              </a:rPr>
              <a:t>Crédito High Grade</a:t>
            </a:r>
          </a:p>
        </p:txBody>
      </p:sp>
      <p:sp>
        <p:nvSpPr>
          <p:cNvPr id="8" name="TextBox 54">
            <a:extLst>
              <a:ext uri="{FF2B5EF4-FFF2-40B4-BE49-F238E27FC236}">
                <a16:creationId xmlns:a16="http://schemas.microsoft.com/office/drawing/2014/main" id="{30677816-743B-1871-2BE2-F4A464720182}"/>
              </a:ext>
            </a:extLst>
          </p:cNvPr>
          <p:cNvSpPr txBox="1"/>
          <p:nvPr/>
        </p:nvSpPr>
        <p:spPr>
          <a:xfrm>
            <a:off x="3601893" y="2168268"/>
            <a:ext cx="956782"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sz="1100" b="1" kern="0">
                <a:solidFill>
                  <a:srgbClr val="FFFFFF"/>
                </a:solidFill>
                <a:latin typeface="Versos" panose="020B0503020204030204" pitchFamily="34" charset="0"/>
              </a:rPr>
              <a:t>64,6</a:t>
            </a:r>
            <a:r>
              <a:rPr kumimoji="0" lang="pt-BR" sz="1100" b="1" i="0" u="none" strike="noStrike" kern="0" cap="none" spc="0" normalizeH="0" baseline="0" noProof="0">
                <a:ln>
                  <a:noFill/>
                </a:ln>
                <a:solidFill>
                  <a:srgbClr val="FFFFFF"/>
                </a:solidFill>
                <a:effectLst/>
                <a:uLnTx/>
                <a:uFillTx/>
                <a:latin typeface="Versos" panose="020B0503020204030204" pitchFamily="34" charset="0"/>
              </a:rPr>
              <a:t>%</a:t>
            </a:r>
          </a:p>
        </p:txBody>
      </p:sp>
      <p:sp>
        <p:nvSpPr>
          <p:cNvPr id="9" name="Rectangle 55">
            <a:extLst>
              <a:ext uri="{FF2B5EF4-FFF2-40B4-BE49-F238E27FC236}">
                <a16:creationId xmlns:a16="http://schemas.microsoft.com/office/drawing/2014/main" id="{057EACA2-B790-5AC8-FC09-6E797558267D}"/>
              </a:ext>
            </a:extLst>
          </p:cNvPr>
          <p:cNvSpPr/>
          <p:nvPr/>
        </p:nvSpPr>
        <p:spPr>
          <a:xfrm>
            <a:off x="513489" y="2054096"/>
            <a:ext cx="312555" cy="446453"/>
          </a:xfrm>
          <a:prstGeom prst="rect">
            <a:avLst/>
          </a:prstGeom>
          <a:solidFill>
            <a:srgbClr val="4B9D74"/>
          </a:solidFill>
          <a:ln w="19050" cap="flat" cmpd="sng" algn="ctr">
            <a:solidFill>
              <a:srgbClr val="759DB3">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100" b="0" i="0" u="none" strike="noStrike" kern="0" cap="none" spc="0" normalizeH="0" baseline="0" noProof="0">
              <a:ln>
                <a:noFill/>
              </a:ln>
              <a:solidFill>
                <a:srgbClr val="FFFFFF"/>
              </a:solidFill>
              <a:effectLst/>
              <a:uLnTx/>
              <a:uFillTx/>
              <a:latin typeface="Aptos" panose="02110004020202020204"/>
              <a:ea typeface="+mn-ea"/>
              <a:cs typeface="+mn-cs"/>
            </a:endParaRPr>
          </a:p>
        </p:txBody>
      </p:sp>
      <p:sp>
        <p:nvSpPr>
          <p:cNvPr id="10" name="Rectangle 50">
            <a:extLst>
              <a:ext uri="{FF2B5EF4-FFF2-40B4-BE49-F238E27FC236}">
                <a16:creationId xmlns:a16="http://schemas.microsoft.com/office/drawing/2014/main" id="{86B7A187-F129-ABC1-F956-2FE3827764E5}"/>
              </a:ext>
            </a:extLst>
          </p:cNvPr>
          <p:cNvSpPr/>
          <p:nvPr/>
        </p:nvSpPr>
        <p:spPr>
          <a:xfrm>
            <a:off x="743805" y="2609140"/>
            <a:ext cx="5370389" cy="396198"/>
          </a:xfrm>
          <a:prstGeom prst="rect">
            <a:avLst/>
          </a:prstGeom>
          <a:solidFill>
            <a:srgbClr val="92D3AB"/>
          </a:solidFill>
          <a:ln w="19050" cap="flat" cmpd="sng" algn="ctr">
            <a:solidFill>
              <a:srgbClr val="92D3AB">
                <a:lumMod val="75000"/>
              </a:srgbClr>
            </a:solidFill>
            <a:prstDash val="solid"/>
            <a:miter lim="800000"/>
          </a:ln>
          <a:effectLst/>
        </p:spPr>
        <p:txBody>
          <a:bodyPr lIns="57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100" b="1" i="0" u="none" strike="noStrike" kern="0" cap="none" spc="0" normalizeH="0" baseline="0" noProof="0">
                <a:ln>
                  <a:noFill/>
                </a:ln>
                <a:effectLst/>
                <a:uLnTx/>
                <a:uFillTx/>
                <a:latin typeface="Versos" panose="020B0503020204030204" pitchFamily="34" charset="0"/>
                <a:ea typeface="+mn-ea"/>
                <a:cs typeface="+mn-cs"/>
              </a:rPr>
              <a:t>Crédito High </a:t>
            </a:r>
            <a:r>
              <a:rPr kumimoji="0" lang="pt-BR" sz="1100" b="1" i="0" u="none" strike="noStrike" kern="0" cap="none" spc="0" normalizeH="0" baseline="0" noProof="0" err="1">
                <a:ln>
                  <a:noFill/>
                </a:ln>
                <a:effectLst/>
                <a:uLnTx/>
                <a:uFillTx/>
                <a:latin typeface="Versos" panose="020B0503020204030204" pitchFamily="34" charset="0"/>
                <a:ea typeface="+mn-ea"/>
                <a:cs typeface="+mn-cs"/>
              </a:rPr>
              <a:t>Yield</a:t>
            </a:r>
            <a:endParaRPr kumimoji="0" lang="pt-BR" sz="1100" b="1" i="0" u="none" strike="noStrike" kern="0" cap="none" spc="0" normalizeH="0" baseline="0" noProof="0">
              <a:ln>
                <a:noFill/>
              </a:ln>
              <a:effectLst/>
              <a:uLnTx/>
              <a:uFillTx/>
              <a:latin typeface="Versos" panose="020B0503020204030204" pitchFamily="34" charset="0"/>
              <a:ea typeface="+mn-ea"/>
              <a:cs typeface="+mn-cs"/>
            </a:endParaRPr>
          </a:p>
        </p:txBody>
      </p:sp>
      <p:sp>
        <p:nvSpPr>
          <p:cNvPr id="11" name="TextBox 51">
            <a:extLst>
              <a:ext uri="{FF2B5EF4-FFF2-40B4-BE49-F238E27FC236}">
                <a16:creationId xmlns:a16="http://schemas.microsoft.com/office/drawing/2014/main" id="{EEF32F48-C6D4-0BF0-941B-9085E7C580A9}"/>
              </a:ext>
            </a:extLst>
          </p:cNvPr>
          <p:cNvSpPr txBox="1"/>
          <p:nvPr/>
        </p:nvSpPr>
        <p:spPr>
          <a:xfrm>
            <a:off x="3601893" y="2698185"/>
            <a:ext cx="956782"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sz="1100" b="1" kern="0">
                <a:latin typeface="Versos" panose="020B0503020204030204" pitchFamily="34" charset="0"/>
              </a:rPr>
              <a:t>15,3</a:t>
            </a:r>
            <a:r>
              <a:rPr kumimoji="0" lang="pt-BR" sz="1100" b="1" i="0" u="none" strike="noStrike" kern="0" cap="none" spc="0" normalizeH="0" baseline="0" noProof="0">
                <a:ln>
                  <a:noFill/>
                </a:ln>
                <a:effectLst/>
                <a:uLnTx/>
                <a:uFillTx/>
                <a:latin typeface="Versos" panose="020B0503020204030204" pitchFamily="34" charset="0"/>
              </a:rPr>
              <a:t>%</a:t>
            </a:r>
          </a:p>
        </p:txBody>
      </p:sp>
      <p:sp>
        <p:nvSpPr>
          <p:cNvPr id="12" name="Rectangle 52">
            <a:extLst>
              <a:ext uri="{FF2B5EF4-FFF2-40B4-BE49-F238E27FC236}">
                <a16:creationId xmlns:a16="http://schemas.microsoft.com/office/drawing/2014/main" id="{6C9961AA-F7E7-1B3E-EEBA-876A5683F1E0}"/>
              </a:ext>
            </a:extLst>
          </p:cNvPr>
          <p:cNvSpPr/>
          <p:nvPr/>
        </p:nvSpPr>
        <p:spPr>
          <a:xfrm>
            <a:off x="513489" y="2584013"/>
            <a:ext cx="312555" cy="446453"/>
          </a:xfrm>
          <a:prstGeom prst="rect">
            <a:avLst/>
          </a:prstGeom>
          <a:solidFill>
            <a:srgbClr val="92D3AB"/>
          </a:solidFill>
          <a:ln w="19050" cap="flat" cmpd="sng" algn="ctr">
            <a:solidFill>
              <a:srgbClr val="92D3AB">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100" b="0" i="0" u="none" strike="noStrike" kern="0" cap="none" spc="0" normalizeH="0" baseline="0" noProof="0">
              <a:ln>
                <a:noFill/>
              </a:ln>
              <a:solidFill>
                <a:srgbClr val="FFFFFF"/>
              </a:solidFill>
              <a:effectLst/>
              <a:uLnTx/>
              <a:uFillTx/>
              <a:latin typeface="Aptos" panose="02110004020202020204"/>
              <a:ea typeface="+mn-ea"/>
              <a:cs typeface="+mn-cs"/>
            </a:endParaRPr>
          </a:p>
        </p:txBody>
      </p:sp>
      <p:sp>
        <p:nvSpPr>
          <p:cNvPr id="13" name="Rectangle 47">
            <a:extLst>
              <a:ext uri="{FF2B5EF4-FFF2-40B4-BE49-F238E27FC236}">
                <a16:creationId xmlns:a16="http://schemas.microsoft.com/office/drawing/2014/main" id="{1DC1F502-CDBD-DFDC-2CF7-E4EB2E714E93}"/>
              </a:ext>
            </a:extLst>
          </p:cNvPr>
          <p:cNvSpPr/>
          <p:nvPr/>
        </p:nvSpPr>
        <p:spPr>
          <a:xfrm>
            <a:off x="743805" y="3139056"/>
            <a:ext cx="5370389" cy="396198"/>
          </a:xfrm>
          <a:prstGeom prst="rect">
            <a:avLst/>
          </a:prstGeom>
          <a:solidFill>
            <a:srgbClr val="000000">
              <a:lumMod val="50000"/>
              <a:lumOff val="50000"/>
            </a:srgbClr>
          </a:solidFill>
          <a:ln w="19050" cap="flat" cmpd="sng" algn="ctr">
            <a:solidFill>
              <a:srgbClr val="000000">
                <a:lumMod val="65000"/>
                <a:lumOff val="35000"/>
              </a:srgbClr>
            </a:solidFill>
            <a:prstDash val="solid"/>
            <a:miter lim="800000"/>
          </a:ln>
          <a:effectLst/>
        </p:spPr>
        <p:txBody>
          <a:bodyPr lIns="57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100" b="1" i="0" u="none" strike="noStrike" kern="0" cap="none" spc="0" normalizeH="0" baseline="0" noProof="0">
                <a:ln>
                  <a:noFill/>
                </a:ln>
                <a:solidFill>
                  <a:srgbClr val="FFFFFF"/>
                </a:solidFill>
                <a:effectLst/>
                <a:uLnTx/>
                <a:uFillTx/>
                <a:latin typeface="Versos" panose="020B0503020204030204" pitchFamily="34" charset="0"/>
                <a:ea typeface="+mn-ea"/>
                <a:cs typeface="+mn-cs"/>
              </a:rPr>
              <a:t>Caixa</a:t>
            </a:r>
          </a:p>
        </p:txBody>
      </p:sp>
      <p:sp>
        <p:nvSpPr>
          <p:cNvPr id="14" name="TextBox 48">
            <a:extLst>
              <a:ext uri="{FF2B5EF4-FFF2-40B4-BE49-F238E27FC236}">
                <a16:creationId xmlns:a16="http://schemas.microsoft.com/office/drawing/2014/main" id="{A792DB4B-0091-7169-7295-5D7E31C50858}"/>
              </a:ext>
            </a:extLst>
          </p:cNvPr>
          <p:cNvSpPr txBox="1"/>
          <p:nvPr/>
        </p:nvSpPr>
        <p:spPr>
          <a:xfrm>
            <a:off x="3601894" y="3228103"/>
            <a:ext cx="956782"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pt-BR" sz="1100" b="1" kern="0">
                <a:solidFill>
                  <a:srgbClr val="FFFFFF"/>
                </a:solidFill>
                <a:latin typeface="Versos" panose="020B0503020204030204" pitchFamily="34" charset="0"/>
              </a:rPr>
              <a:t>20,2</a:t>
            </a:r>
            <a:r>
              <a:rPr kumimoji="0" lang="pt-BR" sz="1100" b="1" i="0" u="none" strike="noStrike" kern="0" cap="none" spc="0" normalizeH="0" baseline="0" noProof="0">
                <a:ln>
                  <a:noFill/>
                </a:ln>
                <a:solidFill>
                  <a:srgbClr val="FFFFFF"/>
                </a:solidFill>
                <a:effectLst/>
                <a:uLnTx/>
                <a:uFillTx/>
                <a:latin typeface="Versos" panose="020B0503020204030204" pitchFamily="34" charset="0"/>
              </a:rPr>
              <a:t>%</a:t>
            </a:r>
          </a:p>
        </p:txBody>
      </p:sp>
      <p:sp>
        <p:nvSpPr>
          <p:cNvPr id="15" name="Rectangle 49">
            <a:extLst>
              <a:ext uri="{FF2B5EF4-FFF2-40B4-BE49-F238E27FC236}">
                <a16:creationId xmlns:a16="http://schemas.microsoft.com/office/drawing/2014/main" id="{C9C81648-CAC0-589F-3C3B-A753B747BF18}"/>
              </a:ext>
            </a:extLst>
          </p:cNvPr>
          <p:cNvSpPr/>
          <p:nvPr/>
        </p:nvSpPr>
        <p:spPr>
          <a:xfrm>
            <a:off x="502014" y="3113930"/>
            <a:ext cx="312555" cy="446453"/>
          </a:xfrm>
          <a:prstGeom prst="rect">
            <a:avLst/>
          </a:prstGeom>
          <a:solidFill>
            <a:srgbClr val="7F7F7F"/>
          </a:solidFill>
          <a:ln w="19050" cap="flat" cmpd="sng" algn="ctr">
            <a:solidFill>
              <a:srgbClr val="000000">
                <a:lumMod val="75000"/>
                <a:lumOff val="2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pt-BR" sz="1100" b="0" i="0" u="none" strike="noStrike" kern="0" cap="none" spc="0" normalizeH="0" baseline="0" noProof="0">
              <a:ln>
                <a:noFill/>
              </a:ln>
              <a:solidFill>
                <a:srgbClr val="FFFFFF"/>
              </a:solidFill>
              <a:effectLst/>
              <a:uLnTx/>
              <a:uFillTx/>
              <a:latin typeface="Aptos" panose="02110004020202020204"/>
              <a:ea typeface="+mn-ea"/>
              <a:cs typeface="+mn-cs"/>
            </a:endParaRPr>
          </a:p>
        </p:txBody>
      </p:sp>
      <p:sp>
        <p:nvSpPr>
          <p:cNvPr id="16" name="TextBox 54">
            <a:extLst>
              <a:ext uri="{FF2B5EF4-FFF2-40B4-BE49-F238E27FC236}">
                <a16:creationId xmlns:a16="http://schemas.microsoft.com/office/drawing/2014/main" id="{60A8A2E6-AC91-3756-9FC8-59E10BFF0E08}"/>
              </a:ext>
            </a:extLst>
          </p:cNvPr>
          <p:cNvSpPr txBox="1"/>
          <p:nvPr/>
        </p:nvSpPr>
        <p:spPr>
          <a:xfrm>
            <a:off x="4889048" y="2168268"/>
            <a:ext cx="1083562" cy="224127"/>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pt-BR" sz="1100" b="1" i="0" u="none" strike="noStrike" kern="0" cap="none" spc="0" normalizeH="0" baseline="0" noProof="0">
                <a:ln>
                  <a:noFill/>
                </a:ln>
                <a:solidFill>
                  <a:srgbClr val="FFFFFF"/>
                </a:solidFill>
                <a:effectLst/>
                <a:uLnTx/>
                <a:uFillTx/>
                <a:latin typeface="Versos" panose="020B0503020204030204" pitchFamily="34" charset="0"/>
              </a:rPr>
              <a:t>CDI+1,20%</a:t>
            </a:r>
          </a:p>
        </p:txBody>
      </p:sp>
      <p:sp>
        <p:nvSpPr>
          <p:cNvPr id="17" name="TextBox 51">
            <a:extLst>
              <a:ext uri="{FF2B5EF4-FFF2-40B4-BE49-F238E27FC236}">
                <a16:creationId xmlns:a16="http://schemas.microsoft.com/office/drawing/2014/main" id="{5DB81129-40FD-6E33-E7A0-88CB369376C1}"/>
              </a:ext>
            </a:extLst>
          </p:cNvPr>
          <p:cNvSpPr txBox="1"/>
          <p:nvPr/>
        </p:nvSpPr>
        <p:spPr>
          <a:xfrm>
            <a:off x="4889048" y="2698185"/>
            <a:ext cx="1142908" cy="261610"/>
          </a:xfrm>
          <a:prstGeom prst="rect">
            <a:avLst/>
          </a:prstGeom>
          <a:noFill/>
        </p:spPr>
        <p:txBody>
          <a:bodyPr wrap="square" rtlCol="0">
            <a:spAutoFit/>
          </a:bodyPr>
          <a:lstStyle/>
          <a:p>
            <a:pPr lvl="0" defTabSz="914400">
              <a:defRPr/>
            </a:pPr>
            <a:r>
              <a:rPr lang="pt-BR" sz="1100" b="1" kern="0">
                <a:latin typeface="Versos" panose="020B0503020204030204" pitchFamily="34" charset="0"/>
              </a:rPr>
              <a:t>CDI+3,00%</a:t>
            </a:r>
          </a:p>
        </p:txBody>
      </p:sp>
      <p:sp>
        <p:nvSpPr>
          <p:cNvPr id="18" name="TextBox 48">
            <a:extLst>
              <a:ext uri="{FF2B5EF4-FFF2-40B4-BE49-F238E27FC236}">
                <a16:creationId xmlns:a16="http://schemas.microsoft.com/office/drawing/2014/main" id="{73404DD0-BDC9-F253-97EE-BCDAC36518B4}"/>
              </a:ext>
            </a:extLst>
          </p:cNvPr>
          <p:cNvSpPr txBox="1"/>
          <p:nvPr/>
        </p:nvSpPr>
        <p:spPr>
          <a:xfrm>
            <a:off x="4889048" y="3228103"/>
            <a:ext cx="1365037" cy="224127"/>
          </a:xfrm>
          <a:prstGeom prst="rect">
            <a:avLst/>
          </a:prstGeom>
          <a:noFill/>
        </p:spPr>
        <p:txBody>
          <a:bodyPr wrap="square" rtlCol="0">
            <a:spAutoFit/>
          </a:bodyPr>
          <a:lstStyle/>
          <a:p>
            <a:pPr defTabSz="914400">
              <a:defRPr/>
            </a:pPr>
            <a:r>
              <a:rPr lang="pt-BR" sz="1100" b="1" kern="0">
                <a:solidFill>
                  <a:srgbClr val="FFFFFF"/>
                </a:solidFill>
                <a:latin typeface="Versos" panose="020B0503020204030204" pitchFamily="34" charset="0"/>
              </a:rPr>
              <a:t>100% do CDI</a:t>
            </a:r>
          </a:p>
        </p:txBody>
      </p:sp>
      <p:grpSp>
        <p:nvGrpSpPr>
          <p:cNvPr id="27" name="Group 26">
            <a:extLst>
              <a:ext uri="{FF2B5EF4-FFF2-40B4-BE49-F238E27FC236}">
                <a16:creationId xmlns:a16="http://schemas.microsoft.com/office/drawing/2014/main" id="{9B4A0F0B-CE6D-DF92-1CEC-F03426565EA4}"/>
              </a:ext>
            </a:extLst>
          </p:cNvPr>
          <p:cNvGrpSpPr/>
          <p:nvPr/>
        </p:nvGrpSpPr>
        <p:grpSpPr>
          <a:xfrm>
            <a:off x="456459" y="7104697"/>
            <a:ext cx="5940424" cy="306068"/>
            <a:chOff x="456569" y="1193448"/>
            <a:chExt cx="11137416" cy="306068"/>
          </a:xfrm>
        </p:grpSpPr>
        <p:sp>
          <p:nvSpPr>
            <p:cNvPr id="28" name="TextBox 27">
              <a:extLst>
                <a:ext uri="{FF2B5EF4-FFF2-40B4-BE49-F238E27FC236}">
                  <a16:creationId xmlns:a16="http://schemas.microsoft.com/office/drawing/2014/main" id="{7D6F8D3D-2F24-2D7C-1AB7-7D0A07C3E597}"/>
                </a:ext>
              </a:extLst>
            </p:cNvPr>
            <p:cNvSpPr txBox="1"/>
            <p:nvPr/>
          </p:nvSpPr>
          <p:spPr>
            <a:xfrm>
              <a:off x="456569" y="1193448"/>
              <a:ext cx="9629279" cy="19236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50">
                  <a:solidFill>
                    <a:srgbClr val="000000"/>
                  </a:solidFill>
                  <a:latin typeface="Versos" panose="020B0503020204030204" pitchFamily="34" charset="0"/>
                </a:rPr>
                <a:t>Distribuição de Rating da Carteira — Exposição de Rating Externo*</a:t>
              </a:r>
            </a:p>
          </p:txBody>
        </p:sp>
        <p:cxnSp>
          <p:nvCxnSpPr>
            <p:cNvPr id="29" name="Straight Connector 28">
              <a:extLst>
                <a:ext uri="{FF2B5EF4-FFF2-40B4-BE49-F238E27FC236}">
                  <a16:creationId xmlns:a16="http://schemas.microsoft.com/office/drawing/2014/main" id="{7CEF3168-409D-A19B-DAEE-9966B1D54B09}"/>
                </a:ext>
              </a:extLst>
            </p:cNvPr>
            <p:cNvCxnSpPr>
              <a:cxnSpLocks/>
            </p:cNvCxnSpPr>
            <p:nvPr/>
          </p:nvCxnSpPr>
          <p:spPr>
            <a:xfrm>
              <a:off x="471813" y="1499516"/>
              <a:ext cx="11122172"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sp>
        <p:nvSpPr>
          <p:cNvPr id="6" name="TextBox 27">
            <a:extLst>
              <a:ext uri="{FF2B5EF4-FFF2-40B4-BE49-F238E27FC236}">
                <a16:creationId xmlns:a16="http://schemas.microsoft.com/office/drawing/2014/main" id="{0424CF54-08B6-1FE1-F506-89F496B30994}"/>
              </a:ext>
            </a:extLst>
          </p:cNvPr>
          <p:cNvSpPr txBox="1"/>
          <p:nvPr/>
        </p:nvSpPr>
        <p:spPr>
          <a:xfrm>
            <a:off x="513489" y="9228208"/>
            <a:ext cx="2005357" cy="123111"/>
          </a:xfrm>
          <a:prstGeom prst="rect">
            <a:avLst/>
          </a:prstGeom>
          <a:noFill/>
        </p:spPr>
        <p:txBody>
          <a:bodyPr wrap="none" lIns="0" tIns="0" rIns="0" bIns="0" rtlCol="0">
            <a:spAutoFit/>
          </a:bodyPr>
          <a:lstStyle/>
          <a:p>
            <a:r>
              <a:rPr lang="pt-BR" sz="800"/>
              <a:t>*Não incluindo a parte de crédito estruturado</a:t>
            </a:r>
          </a:p>
        </p:txBody>
      </p:sp>
      <p:pic>
        <p:nvPicPr>
          <p:cNvPr id="7" name="Imagem 6">
            <a:extLst>
              <a:ext uri="{FF2B5EF4-FFF2-40B4-BE49-F238E27FC236}">
                <a16:creationId xmlns:a16="http://schemas.microsoft.com/office/drawing/2014/main" id="{CE6A735C-6413-ABBF-BAF1-CE980B69D65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03830" y="4155205"/>
            <a:ext cx="4207282" cy="3071351"/>
          </a:xfrm>
          <a:prstGeom prst="rect">
            <a:avLst/>
          </a:prstGeom>
        </p:spPr>
      </p:pic>
      <p:graphicFrame>
        <p:nvGraphicFramePr>
          <p:cNvPr id="20" name="Chart 6">
            <a:extLst>
              <a:ext uri="{FF2B5EF4-FFF2-40B4-BE49-F238E27FC236}">
                <a16:creationId xmlns:a16="http://schemas.microsoft.com/office/drawing/2014/main" id="{E9CDCF79-AC66-3C5A-3F3F-4748F39A0D50}"/>
              </a:ext>
            </a:extLst>
          </p:cNvPr>
          <p:cNvGraphicFramePr>
            <a:graphicFrameLocks/>
          </p:cNvGraphicFramePr>
          <p:nvPr>
            <p:extLst>
              <p:ext uri="{D42A27DB-BD31-4B8C-83A1-F6EECF244321}">
                <p14:modId xmlns:p14="http://schemas.microsoft.com/office/powerpoint/2010/main" val="3809680867"/>
              </p:ext>
            </p:extLst>
          </p:nvPr>
        </p:nvGraphicFramePr>
        <p:xfrm>
          <a:off x="441325" y="7524474"/>
          <a:ext cx="5841313" cy="15161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92377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8C614D39-3892-2F1E-7645-9A0F0C7DB1D4}"/>
            </a:ext>
          </a:extLst>
        </p:cNvPr>
        <p:cNvGrpSpPr/>
        <p:nvPr/>
      </p:nvGrpSpPr>
      <p:grpSpPr>
        <a:xfrm>
          <a:off x="0" y="0"/>
          <a:ext cx="0" cy="0"/>
          <a:chOff x="0" y="0"/>
          <a:chExt cx="0" cy="0"/>
        </a:xfrm>
      </p:grpSpPr>
      <p:grpSp>
        <p:nvGrpSpPr>
          <p:cNvPr id="49" name="Group 48">
            <a:extLst>
              <a:ext uri="{FF2B5EF4-FFF2-40B4-BE49-F238E27FC236}">
                <a16:creationId xmlns:a16="http://schemas.microsoft.com/office/drawing/2014/main" id="{5A7531B1-90A9-8303-5456-36A8ADEE0306}"/>
              </a:ext>
            </a:extLst>
          </p:cNvPr>
          <p:cNvGrpSpPr/>
          <p:nvPr/>
        </p:nvGrpSpPr>
        <p:grpSpPr>
          <a:xfrm>
            <a:off x="358598" y="739839"/>
            <a:ext cx="6140805" cy="5956496"/>
            <a:chOff x="395288" y="1184741"/>
            <a:chExt cx="6769100" cy="6565934"/>
          </a:xfrm>
        </p:grpSpPr>
        <p:sp>
          <p:nvSpPr>
            <p:cNvPr id="46" name="object 9">
              <a:extLst>
                <a:ext uri="{FF2B5EF4-FFF2-40B4-BE49-F238E27FC236}">
                  <a16:creationId xmlns:a16="http://schemas.microsoft.com/office/drawing/2014/main" id="{9F02B252-86D5-FEBE-F751-315108B848F9}"/>
                </a:ext>
              </a:extLst>
            </p:cNvPr>
            <p:cNvSpPr txBox="1">
              <a:spLocks/>
            </p:cNvSpPr>
            <p:nvPr/>
          </p:nvSpPr>
          <p:spPr>
            <a:xfrm>
              <a:off x="395288" y="1184741"/>
              <a:ext cx="6370650" cy="215434"/>
            </a:xfrm>
            <a:prstGeom prst="rect">
              <a:avLst/>
            </a:prstGeom>
          </p:spPr>
          <p:txBody>
            <a:bodyPr vert="horz" wrap="square" lIns="0" tIns="0" rIns="0" bIns="0" rtlCol="0">
              <a:sp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defTabSz="685812">
                <a:lnSpc>
                  <a:spcPct val="100000"/>
                </a:lnSpc>
                <a:spcBef>
                  <a:spcPts val="0"/>
                </a:spcBef>
                <a:defRPr/>
              </a:pPr>
              <a:r>
                <a:rPr lang="pt-BR" sz="1270" b="1" err="1">
                  <a:solidFill>
                    <a:srgbClr val="FFFFFF"/>
                  </a:solidFill>
                  <a:latin typeface="Versos"/>
                </a:rPr>
                <a:t>Disclaimer</a:t>
              </a:r>
              <a:endParaRPr lang="pt-BR" sz="1270" b="1">
                <a:solidFill>
                  <a:srgbClr val="FFFFFF"/>
                </a:solidFill>
                <a:latin typeface="Versos"/>
              </a:endParaRPr>
            </a:p>
          </p:txBody>
        </p:sp>
        <p:sp>
          <p:nvSpPr>
            <p:cNvPr id="47" name="object 4">
              <a:extLst>
                <a:ext uri="{FF2B5EF4-FFF2-40B4-BE49-F238E27FC236}">
                  <a16:creationId xmlns:a16="http://schemas.microsoft.com/office/drawing/2014/main" id="{6B604025-1D2F-EBAF-415A-BB4E0C65D17E}"/>
                </a:ext>
              </a:extLst>
            </p:cNvPr>
            <p:cNvSpPr txBox="1"/>
            <p:nvPr/>
          </p:nvSpPr>
          <p:spPr>
            <a:xfrm>
              <a:off x="395288" y="1846586"/>
              <a:ext cx="6769100" cy="5904089"/>
            </a:xfrm>
            <a:prstGeom prst="rect">
              <a:avLst/>
            </a:prstGeom>
          </p:spPr>
          <p:txBody>
            <a:bodyPr vert="horz" wrap="square" lIns="0" tIns="0" rIns="0" bIns="0" rtlCol="0">
              <a:spAutoFit/>
            </a:bodyPr>
            <a:lstStyle/>
            <a:p>
              <a:pPr marR="4399" algn="just" defTabSz="791832">
                <a:spcBef>
                  <a:spcPts val="91"/>
                </a:spcBef>
                <a:spcAft>
                  <a:spcPts val="91"/>
                </a:spcAft>
                <a:defRPr/>
              </a:pPr>
              <a:r>
                <a:rPr lang="pt-BR" sz="953" kern="0">
                  <a:solidFill>
                    <a:srgbClr val="FFFFFF"/>
                  </a:solidFill>
                  <a:latin typeface="Versos Light" panose="020B0403020204030204" pitchFamily="34" charset="0"/>
                  <a:cs typeface="Versos"/>
                </a:rPr>
                <a:t>Este material foi elaborado pela </a:t>
              </a:r>
              <a:r>
                <a:rPr lang="pt-BR" sz="953" kern="0" err="1">
                  <a:solidFill>
                    <a:srgbClr val="FFFFFF"/>
                  </a:solidFill>
                  <a:latin typeface="Versos Light" panose="020B0403020204030204" pitchFamily="34" charset="0"/>
                  <a:cs typeface="Versos"/>
                </a:rPr>
                <a:t>Tivio</a:t>
              </a:r>
              <a:r>
                <a:rPr lang="pt-BR" sz="953" kern="0">
                  <a:solidFill>
                    <a:srgbClr val="FFFFFF"/>
                  </a:solidFill>
                  <a:latin typeface="Versos Light" panose="020B0403020204030204" pitchFamily="34" charset="0"/>
                  <a:cs typeface="Versos"/>
                </a:rPr>
                <a:t>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marR="4399" algn="just" defTabSz="791832">
                <a:spcBef>
                  <a:spcPts val="91"/>
                </a:spcBef>
                <a:spcAft>
                  <a:spcPts val="91"/>
                </a:spcAft>
                <a:defRPr/>
              </a:pPr>
              <a:r>
                <a:rPr lang="pt-BR" sz="953" kern="0">
                  <a:solidFill>
                    <a:srgbClr val="FFFFFF"/>
                  </a:solidFill>
                  <a:latin typeface="Versos Light" panose="020B0403020204030204" pitchFamily="34" charset="0"/>
                  <a:cs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Principais Fatores de Risco: (i) Crédito: risco de os emissores dos ativos financeiros e/ou das contrapartes não cumprirem suas obrigações de pagamento e/ou de liquidação das operações contratadas; (</a:t>
              </a:r>
              <a:r>
                <a:rPr lang="pt-BR" sz="953" kern="0" err="1">
                  <a:solidFill>
                    <a:srgbClr val="FFFFFF"/>
                  </a:solidFill>
                  <a:latin typeface="Versos Light" panose="020B0403020204030204" pitchFamily="34" charset="0"/>
                  <a:cs typeface="Versos"/>
                </a:rPr>
                <a:t>ii</a:t>
              </a:r>
              <a:r>
                <a:rPr lang="pt-BR" sz="953" kern="0">
                  <a:solidFill>
                    <a:srgbClr val="FFFFFF"/>
                  </a:solidFill>
                  <a:latin typeface="Versos Light" panose="020B0403020204030204" pitchFamily="34" charset="0"/>
                  <a:cs typeface="Versos"/>
                </a:rPr>
                <a:t>) Liquidez: risco de redução ou inexistência de demanda pelos ativos financeiros nos respectivos mercados em que são negociados; (</a:t>
              </a:r>
              <a:r>
                <a:rPr lang="pt-BR" sz="953" kern="0" err="1">
                  <a:solidFill>
                    <a:srgbClr val="FFFFFF"/>
                  </a:solidFill>
                  <a:latin typeface="Versos Light" panose="020B0403020204030204" pitchFamily="34" charset="0"/>
                  <a:cs typeface="Versos"/>
                </a:rPr>
                <a:t>iii</a:t>
              </a:r>
              <a:r>
                <a:rPr lang="pt-BR" sz="953" kern="0">
                  <a:solidFill>
                    <a:srgbClr val="FFFFFF"/>
                  </a:solidFill>
                  <a:latin typeface="Versos Light" panose="020B0403020204030204" pitchFamily="34" charset="0"/>
                  <a:cs typeface="Versos"/>
                </a:rPr>
                <a:t>) Mercado: Risco de oscilações decorrentes das flutuações de preços e cotações de mercado; (</a:t>
              </a:r>
              <a:r>
                <a:rPr lang="pt-BR" sz="953" kern="0" err="1">
                  <a:solidFill>
                    <a:srgbClr val="FFFFFF"/>
                  </a:solidFill>
                  <a:latin typeface="Versos Light" panose="020B0403020204030204" pitchFamily="34" charset="0"/>
                  <a:cs typeface="Versos"/>
                </a:rPr>
                <a:t>iv</a:t>
              </a:r>
              <a:r>
                <a:rPr lang="pt-BR" sz="953" kern="0">
                  <a:solidFill>
                    <a:srgbClr val="FFFFFF"/>
                  </a:solidFill>
                  <a:latin typeface="Versos Light" panose="020B0403020204030204" pitchFamily="34" charset="0"/>
                  <a:cs typeface="Versos"/>
                </a:rPr>
                <a:t>)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marR="4399" algn="just" defTabSz="791832">
                <a:spcBef>
                  <a:spcPts val="91"/>
                </a:spcBef>
                <a:spcAft>
                  <a:spcPts val="91"/>
                </a:spcAft>
                <a:defRPr/>
              </a:pPr>
              <a:r>
                <a:rPr lang="pt-BR" sz="953" kern="0">
                  <a:solidFill>
                    <a:srgbClr val="FFFFFF"/>
                  </a:solidFill>
                  <a:latin typeface="Versos Light" panose="020B0403020204030204" pitchFamily="34" charset="0"/>
                  <a:cs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marR="4399" algn="just" defTabSz="791832">
                <a:spcBef>
                  <a:spcPts val="91"/>
                </a:spcBef>
                <a:spcAft>
                  <a:spcPts val="91"/>
                </a:spcAft>
                <a:defRPr/>
              </a:pPr>
              <a:r>
                <a:rPr lang="pt-BR" sz="953" kern="0">
                  <a:solidFill>
                    <a:srgbClr val="FFFFFF"/>
                  </a:solidFill>
                  <a:latin typeface="Versos Light" panose="020B0403020204030204" pitchFamily="34" charset="0"/>
                  <a:cs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a:t>
              </a:r>
              <a:r>
                <a:rPr lang="pt-BR" sz="953" kern="0" err="1">
                  <a:solidFill>
                    <a:srgbClr val="FFFFFF"/>
                  </a:solidFill>
                  <a:latin typeface="Versos Light" panose="020B0403020204030204" pitchFamily="34" charset="0"/>
                  <a:cs typeface="Versos"/>
                </a:rPr>
                <a:t>Suitability</a:t>
              </a:r>
              <a:r>
                <a:rPr lang="pt-BR" sz="953" kern="0">
                  <a:solidFill>
                    <a:srgbClr val="FFFFFF"/>
                  </a:solidFill>
                  <a:latin typeface="Versos Light" panose="020B0403020204030204" pitchFamily="34" charset="0"/>
                  <a:cs typeface="Versos"/>
                </a:rPr>
                <a:t> é essencial para garantir a adequação do perfil do cliente ao produto de investimento escolhido. Os indicadores aqui apresentados devem ser utilizados como referência econômica e não parâmetro objetivo do fundo. Material de Divulgação. </a:t>
              </a:r>
            </a:p>
          </p:txBody>
        </p:sp>
      </p:grpSp>
      <p:grpSp>
        <p:nvGrpSpPr>
          <p:cNvPr id="52" name="Group 51">
            <a:extLst>
              <a:ext uri="{FF2B5EF4-FFF2-40B4-BE49-F238E27FC236}">
                <a16:creationId xmlns:a16="http://schemas.microsoft.com/office/drawing/2014/main" id="{0C128051-C543-2834-162F-BA159BB76B79}"/>
              </a:ext>
            </a:extLst>
          </p:cNvPr>
          <p:cNvGrpSpPr/>
          <p:nvPr/>
        </p:nvGrpSpPr>
        <p:grpSpPr>
          <a:xfrm>
            <a:off x="358600" y="7026911"/>
            <a:ext cx="5037333" cy="929287"/>
            <a:chOff x="585786" y="9950303"/>
            <a:chExt cx="5552727" cy="1024367"/>
          </a:xfrm>
        </p:grpSpPr>
        <p:sp>
          <p:nvSpPr>
            <p:cNvPr id="50" name="object 4">
              <a:extLst>
                <a:ext uri="{FF2B5EF4-FFF2-40B4-BE49-F238E27FC236}">
                  <a16:creationId xmlns:a16="http://schemas.microsoft.com/office/drawing/2014/main" id="{FA5743DF-5E65-08CD-E7DD-8D6EA2C07117}"/>
                </a:ext>
              </a:extLst>
            </p:cNvPr>
            <p:cNvSpPr txBox="1"/>
            <p:nvPr/>
          </p:nvSpPr>
          <p:spPr>
            <a:xfrm>
              <a:off x="594513" y="9950303"/>
              <a:ext cx="5544000" cy="323293"/>
            </a:xfrm>
            <a:prstGeom prst="rect">
              <a:avLst/>
            </a:prstGeom>
          </p:spPr>
          <p:txBody>
            <a:bodyPr vert="horz" wrap="square" lIns="0" tIns="0" rIns="0" bIns="0" rtlCol="0" anchor="ctr" anchorCtr="0">
              <a:spAutoFit/>
            </a:bodyPr>
            <a:lstStyle/>
            <a:p>
              <a:pPr marR="4399" defTabSz="791832">
                <a:spcBef>
                  <a:spcPts val="260"/>
                </a:spcBef>
                <a:spcAft>
                  <a:spcPts val="260"/>
                </a:spcAft>
                <a:defRPr/>
              </a:pPr>
              <a:r>
                <a:rPr lang="pt-BR" sz="953" kern="0">
                  <a:solidFill>
                    <a:srgbClr val="FFFFFF"/>
                  </a:solidFill>
                  <a:latin typeface="Versos Light" panose="020B0403020204030204" pitchFamily="34" charset="0"/>
                  <a:cs typeface="Versos"/>
                </a:rPr>
                <a:t>SAC:  0800 704 8383</a:t>
              </a:r>
              <a:br>
                <a:rPr lang="pt-BR" sz="953" kern="0">
                  <a:solidFill>
                    <a:srgbClr val="FFFFFF"/>
                  </a:solidFill>
                  <a:latin typeface="Versos Light" panose="020B0403020204030204" pitchFamily="34" charset="0"/>
                  <a:cs typeface="Versos"/>
                </a:rPr>
              </a:br>
              <a:r>
                <a:rPr lang="pt-BR" sz="953" kern="0">
                  <a:solidFill>
                    <a:srgbClr val="FFFFFF"/>
                  </a:solidFill>
                  <a:latin typeface="Versos Light" panose="020B0403020204030204" pitchFamily="34" charset="0"/>
                  <a:cs typeface="Versos"/>
                </a:rPr>
                <a:t>Atendimento 24 horas</a:t>
              </a:r>
            </a:p>
          </p:txBody>
        </p:sp>
        <p:sp>
          <p:nvSpPr>
            <p:cNvPr id="51" name="object 4">
              <a:extLst>
                <a:ext uri="{FF2B5EF4-FFF2-40B4-BE49-F238E27FC236}">
                  <a16:creationId xmlns:a16="http://schemas.microsoft.com/office/drawing/2014/main" id="{BB8B1C8A-02B8-F09E-0644-ACB3204A31DB}"/>
                </a:ext>
              </a:extLst>
            </p:cNvPr>
            <p:cNvSpPr txBox="1"/>
            <p:nvPr/>
          </p:nvSpPr>
          <p:spPr>
            <a:xfrm>
              <a:off x="585786" y="10489729"/>
              <a:ext cx="3122824" cy="484941"/>
            </a:xfrm>
            <a:prstGeom prst="rect">
              <a:avLst/>
            </a:prstGeom>
          </p:spPr>
          <p:txBody>
            <a:bodyPr vert="horz" wrap="square" lIns="0" tIns="0" rIns="0" bIns="0" rtlCol="0" anchor="ctr" anchorCtr="0">
              <a:spAutoFit/>
            </a:bodyPr>
            <a:lstStyle/>
            <a:p>
              <a:pPr marR="4399" defTabSz="791832">
                <a:spcBef>
                  <a:spcPts val="260"/>
                </a:spcBef>
                <a:spcAft>
                  <a:spcPts val="260"/>
                </a:spcAft>
                <a:defRPr/>
              </a:pPr>
              <a:r>
                <a:rPr lang="pt-BR" sz="953" kern="0">
                  <a:solidFill>
                    <a:srgbClr val="FFFFFF"/>
                  </a:solidFill>
                  <a:latin typeface="Versos Light" panose="020B0403020204030204" pitchFamily="34" charset="0"/>
                  <a:cs typeface="Versos"/>
                </a:rPr>
                <a:t>Ouvidoria: 0800 727 9933</a:t>
              </a:r>
              <a:br>
                <a:rPr lang="pt-BR" sz="953" kern="0">
                  <a:solidFill>
                    <a:srgbClr val="FFFFFF"/>
                  </a:solidFill>
                  <a:latin typeface="Versos Light" panose="020B0403020204030204" pitchFamily="34" charset="0"/>
                  <a:cs typeface="Versos"/>
                </a:rPr>
              </a:br>
              <a:r>
                <a:rPr lang="pt-BR" sz="953" kern="0">
                  <a:solidFill>
                    <a:srgbClr val="FFFFFF"/>
                  </a:solidFill>
                  <a:latin typeface="Versos Light" panose="020B0403020204030204" pitchFamily="34" charset="0"/>
                  <a:cs typeface="Versos"/>
                </a:rPr>
                <a:t>Atendimento das 9h às 18h, de </a:t>
              </a:r>
              <a:br>
                <a:rPr lang="pt-BR" sz="953" kern="0">
                  <a:solidFill>
                    <a:srgbClr val="FFFFFF"/>
                  </a:solidFill>
                  <a:latin typeface="Versos Light" panose="020B0403020204030204" pitchFamily="34" charset="0"/>
                  <a:cs typeface="Versos"/>
                </a:rPr>
              </a:br>
              <a:r>
                <a:rPr lang="pt-BR" sz="953" kern="0">
                  <a:solidFill>
                    <a:srgbClr val="FFFFFF"/>
                  </a:solidFill>
                  <a:latin typeface="Versos Light" panose="020B0403020204030204" pitchFamily="34" charset="0"/>
                  <a:cs typeface="Versos"/>
                </a:rPr>
                <a:t>segunda a sexta-feira, exceto feriados nacionais</a:t>
              </a:r>
            </a:p>
          </p:txBody>
        </p:sp>
      </p:grpSp>
      <p:grpSp>
        <p:nvGrpSpPr>
          <p:cNvPr id="59" name="Group 58">
            <a:extLst>
              <a:ext uri="{FF2B5EF4-FFF2-40B4-BE49-F238E27FC236}">
                <a16:creationId xmlns:a16="http://schemas.microsoft.com/office/drawing/2014/main" id="{59E657EF-0C69-295C-A999-F629ADC50C00}"/>
              </a:ext>
            </a:extLst>
          </p:cNvPr>
          <p:cNvGrpSpPr/>
          <p:nvPr/>
        </p:nvGrpSpPr>
        <p:grpSpPr>
          <a:xfrm>
            <a:off x="3952188" y="8857298"/>
            <a:ext cx="1443744" cy="294384"/>
            <a:chOff x="-2248329" y="8167138"/>
            <a:chExt cx="1591460" cy="324503"/>
          </a:xfrm>
        </p:grpSpPr>
        <p:sp>
          <p:nvSpPr>
            <p:cNvPr id="57" name="Retângulo 3">
              <a:extLst>
                <a:ext uri="{FF2B5EF4-FFF2-40B4-BE49-F238E27FC236}">
                  <a16:creationId xmlns:a16="http://schemas.microsoft.com/office/drawing/2014/main" id="{7798B5FB-48A4-DAAD-0323-1677538ECD80}"/>
                </a:ext>
              </a:extLst>
            </p:cNvPr>
            <p:cNvSpPr/>
            <p:nvPr/>
          </p:nvSpPr>
          <p:spPr>
            <a:xfrm>
              <a:off x="-2248329" y="8216198"/>
              <a:ext cx="618328" cy="275443"/>
            </a:xfrm>
            <a:prstGeom prst="rect">
              <a:avLst/>
            </a:prstGeom>
          </p:spPr>
          <p:txBody>
            <a:bodyPr wrap="square" lIns="0" tIns="0" rIns="0" bIns="0">
              <a:spAutoFit/>
            </a:bodyPr>
            <a:lstStyle/>
            <a:p>
              <a:pPr defTabSz="396810">
                <a:defRPr/>
              </a:pPr>
              <a:r>
                <a:rPr lang="pt-BR" sz="521">
                  <a:solidFill>
                    <a:srgbClr val="FFFFFF"/>
                  </a:solidFill>
                  <a:latin typeface="Versos" panose="020B0503020204030204" pitchFamily="34" charset="0"/>
                  <a:cs typeface="Arial"/>
                  <a:sym typeface="Arial"/>
                </a:rPr>
                <a:t>RATING S&amp;P:</a:t>
              </a:r>
            </a:p>
            <a:p>
              <a:pPr defTabSz="396810">
                <a:defRPr/>
              </a:pPr>
              <a:r>
                <a:rPr lang="pt-BR" sz="1103" b="1">
                  <a:solidFill>
                    <a:srgbClr val="FFFFFF"/>
                  </a:solidFill>
                  <a:latin typeface="Versos" panose="020B0503020204030204" pitchFamily="34" charset="0"/>
                  <a:cs typeface="Arial"/>
                  <a:sym typeface="Arial"/>
                </a:rPr>
                <a:t>AMP-1</a:t>
              </a:r>
            </a:p>
          </p:txBody>
        </p:sp>
        <p:pic>
          <p:nvPicPr>
            <p:cNvPr id="58" name="Imagem 3">
              <a:extLst>
                <a:ext uri="{FF2B5EF4-FFF2-40B4-BE49-F238E27FC236}">
                  <a16:creationId xmlns:a16="http://schemas.microsoft.com/office/drawing/2014/main" id="{6F0AE1C5-3B37-D675-A9B2-CA6739E64149}"/>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1437747" y="8167138"/>
              <a:ext cx="780878" cy="289762"/>
            </a:xfrm>
            <a:prstGeom prst="rect">
              <a:avLst/>
            </a:prstGeom>
          </p:spPr>
        </p:pic>
      </p:grpSp>
      <p:grpSp>
        <p:nvGrpSpPr>
          <p:cNvPr id="67" name="Group 66">
            <a:extLst>
              <a:ext uri="{FF2B5EF4-FFF2-40B4-BE49-F238E27FC236}">
                <a16:creationId xmlns:a16="http://schemas.microsoft.com/office/drawing/2014/main" id="{C59F2723-DE13-BACA-A03E-27D4E5B0A802}"/>
              </a:ext>
            </a:extLst>
          </p:cNvPr>
          <p:cNvGrpSpPr/>
          <p:nvPr/>
        </p:nvGrpSpPr>
        <p:grpSpPr>
          <a:xfrm>
            <a:off x="358598" y="8503124"/>
            <a:ext cx="3388546" cy="631701"/>
            <a:chOff x="594513" y="9022922"/>
            <a:chExt cx="3735245" cy="696333"/>
          </a:xfrm>
        </p:grpSpPr>
        <p:sp>
          <p:nvSpPr>
            <p:cNvPr id="68" name="Rectangle 67">
              <a:extLst>
                <a:ext uri="{FF2B5EF4-FFF2-40B4-BE49-F238E27FC236}">
                  <a16:creationId xmlns:a16="http://schemas.microsoft.com/office/drawing/2014/main" id="{B3E49AF1-D23A-1DD3-009F-458C796B0504}"/>
                </a:ext>
              </a:extLst>
            </p:cNvPr>
            <p:cNvSpPr/>
            <p:nvPr/>
          </p:nvSpPr>
          <p:spPr>
            <a:xfrm flipH="1">
              <a:off x="2735847" y="9022923"/>
              <a:ext cx="696317" cy="696332"/>
            </a:xfrm>
            <a:prstGeom prst="rect">
              <a:avLst/>
            </a:prstGeom>
            <a:blipFill dpi="0" rotWithShape="1">
              <a:blip r:embed="rId5"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791832">
                <a:defRPr/>
              </a:pPr>
              <a:endParaRPr lang="pt-BR" sz="1558" kern="0">
                <a:solidFill>
                  <a:srgbClr val="FFFFFF"/>
                </a:solidFill>
                <a:latin typeface="Calibri"/>
              </a:endParaRPr>
            </a:p>
          </p:txBody>
        </p:sp>
        <p:sp>
          <p:nvSpPr>
            <p:cNvPr id="69" name="Holder 4">
              <a:extLst>
                <a:ext uri="{FF2B5EF4-FFF2-40B4-BE49-F238E27FC236}">
                  <a16:creationId xmlns:a16="http://schemas.microsoft.com/office/drawing/2014/main" id="{86F18C45-DAB0-9011-C93E-8509F13F43B1}"/>
                </a:ext>
              </a:extLst>
            </p:cNvPr>
            <p:cNvSpPr txBox="1">
              <a:spLocks/>
            </p:cNvSpPr>
            <p:nvPr/>
          </p:nvSpPr>
          <p:spPr>
            <a:xfrm>
              <a:off x="3511797" y="9205842"/>
              <a:ext cx="817961" cy="330785"/>
            </a:xfrm>
            <a:prstGeom prst="rect">
              <a:avLst/>
            </a:prstGeom>
          </p:spPr>
          <p:txBody>
            <a:bodyPr wrap="square" lIns="0" tIns="0" rIns="0" bIns="0">
              <a:spAutoFit/>
            </a:bodyPr>
            <a:lstStyle>
              <a:defPPr>
                <a:defRPr kern="0"/>
              </a:defPPr>
              <a:lvl1pPr>
                <a:defRPr sz="750" b="0" i="0">
                  <a:solidFill>
                    <a:srgbClr val="4C5D63"/>
                  </a:solidFill>
                  <a:latin typeface="Versos"/>
                  <a:cs typeface="Versos"/>
                </a:defRPr>
              </a:lvl1pPr>
            </a:lstStyle>
            <a:p>
              <a:pPr marR="4399" defTabSz="791832">
                <a:defRPr/>
              </a:pPr>
              <a:r>
                <a:rPr lang="pt-BR" sz="650" kern="0">
                  <a:solidFill>
                    <a:srgbClr val="FFFFFF"/>
                  </a:solidFill>
                </a:rPr>
                <a:t>Leia o QR </a:t>
              </a:r>
              <a:r>
                <a:rPr lang="pt-BR" sz="650" kern="0" err="1">
                  <a:solidFill>
                    <a:srgbClr val="FFFFFF"/>
                  </a:solidFill>
                </a:rPr>
                <a:t>Code</a:t>
              </a:r>
              <a:r>
                <a:rPr lang="pt-BR" sz="650" kern="0">
                  <a:solidFill>
                    <a:srgbClr val="FFFFFF"/>
                  </a:solidFill>
                </a:rPr>
                <a:t> </a:t>
              </a:r>
              <a:br>
                <a:rPr lang="pt-BR" sz="650" kern="0">
                  <a:solidFill>
                    <a:srgbClr val="FFFFFF"/>
                  </a:solidFill>
                </a:rPr>
              </a:br>
              <a:r>
                <a:rPr lang="pt-BR" sz="650" kern="0">
                  <a:solidFill>
                    <a:srgbClr val="FFFFFF"/>
                  </a:solidFill>
                </a:rPr>
                <a:t>e acesse as redes </a:t>
              </a:r>
              <a:br>
                <a:rPr lang="pt-BR" sz="650" kern="0">
                  <a:solidFill>
                    <a:srgbClr val="FFFFFF"/>
                  </a:solidFill>
                </a:rPr>
              </a:br>
              <a:r>
                <a:rPr lang="pt-BR" sz="650" kern="0">
                  <a:solidFill>
                    <a:srgbClr val="FFFFFF"/>
                  </a:solidFill>
                </a:rPr>
                <a:t>da </a:t>
              </a:r>
              <a:r>
                <a:rPr lang="pt-BR" sz="650" kern="0" err="1">
                  <a:solidFill>
                    <a:srgbClr val="FFFFFF"/>
                  </a:solidFill>
                </a:rPr>
                <a:t>Tivio</a:t>
              </a:r>
              <a:r>
                <a:rPr lang="pt-BR" sz="650" kern="0">
                  <a:solidFill>
                    <a:srgbClr val="FFFFFF"/>
                  </a:solidFill>
                </a:rPr>
                <a:t> Capital</a:t>
              </a:r>
            </a:p>
          </p:txBody>
        </p:sp>
        <p:grpSp>
          <p:nvGrpSpPr>
            <p:cNvPr id="70" name="Group 69">
              <a:extLst>
                <a:ext uri="{FF2B5EF4-FFF2-40B4-BE49-F238E27FC236}">
                  <a16:creationId xmlns:a16="http://schemas.microsoft.com/office/drawing/2014/main" id="{C294BFF7-5C12-655E-A74F-0E1BF2315BCD}"/>
                </a:ext>
              </a:extLst>
            </p:cNvPr>
            <p:cNvGrpSpPr/>
            <p:nvPr/>
          </p:nvGrpSpPr>
          <p:grpSpPr>
            <a:xfrm>
              <a:off x="594513" y="9022922"/>
              <a:ext cx="1867324" cy="692555"/>
              <a:chOff x="322261" y="9810629"/>
              <a:chExt cx="1956338" cy="725568"/>
            </a:xfrm>
          </p:grpSpPr>
          <p:sp>
            <p:nvSpPr>
              <p:cNvPr id="71" name="object 69">
                <a:hlinkClick r:id="rId6"/>
                <a:extLst>
                  <a:ext uri="{FF2B5EF4-FFF2-40B4-BE49-F238E27FC236}">
                    <a16:creationId xmlns:a16="http://schemas.microsoft.com/office/drawing/2014/main" id="{64DB23EC-F4C1-D818-8447-2A93919DAED3}"/>
                  </a:ext>
                </a:extLst>
              </p:cNvPr>
              <p:cNvSpPr txBox="1"/>
              <p:nvPr/>
            </p:nvSpPr>
            <p:spPr>
              <a:xfrm>
                <a:off x="322261" y="9810629"/>
                <a:ext cx="1956338" cy="725568"/>
              </a:xfrm>
              <a:prstGeom prst="round2DiagRect">
                <a:avLst/>
              </a:prstGeom>
              <a:noFill/>
              <a:ln w="12700">
                <a:solidFill>
                  <a:schemeClr val="bg2">
                    <a:lumMod val="25000"/>
                  </a:schemeClr>
                </a:solidFill>
              </a:ln>
            </p:spPr>
            <p:txBody>
              <a:bodyPr vert="horz" wrap="square" lIns="311726" tIns="0" rIns="0" bIns="0" rtlCol="0" anchor="ctr" anchorCtr="0">
                <a:noAutofit/>
              </a:bodyPr>
              <a:lstStyle/>
              <a:p>
                <a:pPr marL="10997" algn="ctr" defTabSz="791832">
                  <a:spcBef>
                    <a:spcPts val="34"/>
                  </a:spcBef>
                  <a:defRPr/>
                </a:pPr>
                <a:r>
                  <a:rPr sz="1039" b="1" kern="0">
                    <a:solidFill>
                      <a:srgbClr val="FFFFFF"/>
                    </a:solidFill>
                    <a:latin typeface="Versos"/>
                    <a:cs typeface="Versos"/>
                  </a:rPr>
                  <a:t>tivio.com</a:t>
                </a:r>
                <a:r>
                  <a:rPr lang="pt-BR" sz="1039" b="1" kern="0">
                    <a:solidFill>
                      <a:srgbClr val="FFFFFF"/>
                    </a:solidFill>
                    <a:latin typeface="Versos"/>
                    <a:cs typeface="Versos"/>
                  </a:rPr>
                  <a:t>/fundos</a:t>
                </a:r>
                <a:endParaRPr sz="1039" b="1" kern="0">
                  <a:solidFill>
                    <a:srgbClr val="FFFFFF"/>
                  </a:solidFill>
                  <a:latin typeface="Versos"/>
                  <a:cs typeface="Versos"/>
                </a:endParaRPr>
              </a:p>
            </p:txBody>
          </p:sp>
          <p:pic>
            <p:nvPicPr>
              <p:cNvPr id="72" name="Graphic 71">
                <a:extLst>
                  <a:ext uri="{FF2B5EF4-FFF2-40B4-BE49-F238E27FC236}">
                    <a16:creationId xmlns:a16="http://schemas.microsoft.com/office/drawing/2014/main" id="{C2098D6F-6845-1970-9CE3-B9690FEC6ED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2668" y="10021013"/>
                <a:ext cx="304800" cy="304800"/>
              </a:xfrm>
              <a:prstGeom prst="rect">
                <a:avLst/>
              </a:prstGeom>
            </p:spPr>
          </p:pic>
        </p:grpSp>
      </p:grpSp>
      <p:pic>
        <p:nvPicPr>
          <p:cNvPr id="85" name="Picture 8">
            <a:hlinkClick r:id="rId8"/>
            <a:extLst>
              <a:ext uri="{FF2B5EF4-FFF2-40B4-BE49-F238E27FC236}">
                <a16:creationId xmlns:a16="http://schemas.microsoft.com/office/drawing/2014/main" id="{0A98E702-DCD4-C89C-C654-0F1859477BE0}"/>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9"/>
              </a:ext>
            </a:extLst>
          </a:blip>
          <a:srcRect l="-8117" t="-23966" r="-8117" b="-23966"/>
          <a:stretch/>
        </p:blipFill>
        <p:spPr>
          <a:xfrm>
            <a:off x="5701033" y="8807859"/>
            <a:ext cx="843642" cy="365334"/>
          </a:xfrm>
          <a:prstGeom prst="rect">
            <a:avLst/>
          </a:prstGeom>
        </p:spPr>
      </p:pic>
      <p:sp>
        <p:nvSpPr>
          <p:cNvPr id="3" name="TextBox 2">
            <a:extLst>
              <a:ext uri="{FF2B5EF4-FFF2-40B4-BE49-F238E27FC236}">
                <a16:creationId xmlns:a16="http://schemas.microsoft.com/office/drawing/2014/main" id="{5B11D683-0792-05E1-0C7D-F9E1EFA7EFDA}"/>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grpSp>
        <p:nvGrpSpPr>
          <p:cNvPr id="6" name="Group 5">
            <a:extLst>
              <a:ext uri="{FF2B5EF4-FFF2-40B4-BE49-F238E27FC236}">
                <a16:creationId xmlns:a16="http://schemas.microsoft.com/office/drawing/2014/main" id="{59ADB6E1-5D86-16E4-8D68-E0962A7EB68F}"/>
              </a:ext>
            </a:extLst>
          </p:cNvPr>
          <p:cNvGrpSpPr/>
          <p:nvPr/>
        </p:nvGrpSpPr>
        <p:grpSpPr>
          <a:xfrm>
            <a:off x="3952188" y="8401280"/>
            <a:ext cx="1278675" cy="412811"/>
            <a:chOff x="3952188" y="8353658"/>
            <a:chExt cx="1426182" cy="460433"/>
          </a:xfrm>
        </p:grpSpPr>
        <p:pic>
          <p:nvPicPr>
            <p:cNvPr id="7" name="anbima-distribuicao-de-produtos-de-investimento">
              <a:extLst>
                <a:ext uri="{FF2B5EF4-FFF2-40B4-BE49-F238E27FC236}">
                  <a16:creationId xmlns:a16="http://schemas.microsoft.com/office/drawing/2014/main" id="{626357B3-5D73-4322-92C1-E177EFACC825}"/>
                </a:ext>
              </a:extLst>
            </p:cNvPr>
            <p:cNvPicPr>
              <a:picLocks noChangeAspect="1"/>
            </p:cNvPicPr>
            <p:nvPr/>
          </p:nvPicPr>
          <p:blipFill>
            <a:blip r:embed="rId10" cstate="screen">
              <a:extLst>
                <a:ext uri="{28A0092B-C50C-407E-A947-70E740481C1C}">
                  <a14:useLocalDpi xmlns:a14="http://schemas.microsoft.com/office/drawing/2010/main"/>
                </a:ext>
              </a:extLst>
            </a:blip>
            <a:srcRect/>
            <a:stretch/>
          </p:blipFill>
          <p:spPr>
            <a:xfrm>
              <a:off x="4769791" y="8357547"/>
              <a:ext cx="608579" cy="456544"/>
            </a:xfrm>
            <a:prstGeom prst="rect">
              <a:avLst/>
            </a:prstGeom>
          </p:spPr>
        </p:pic>
        <p:pic>
          <p:nvPicPr>
            <p:cNvPr id="8" name="anbima-gestao-de-recursos">
              <a:extLst>
                <a:ext uri="{FF2B5EF4-FFF2-40B4-BE49-F238E27FC236}">
                  <a16:creationId xmlns:a16="http://schemas.microsoft.com/office/drawing/2014/main" id="{02D545B3-BC0D-C0DC-4ED8-D3294C51F6D3}"/>
                </a:ext>
              </a:extLst>
            </p:cNvPr>
            <p:cNvPicPr>
              <a:picLocks noChangeAspect="1"/>
            </p:cNvPicPr>
            <p:nvPr/>
          </p:nvPicPr>
          <p:blipFill>
            <a:blip r:embed="rId11" cstate="screen">
              <a:extLst>
                <a:ext uri="{28A0092B-C50C-407E-A947-70E740481C1C}">
                  <a14:useLocalDpi xmlns:a14="http://schemas.microsoft.com/office/drawing/2010/main"/>
                </a:ext>
              </a:extLst>
            </a:blip>
            <a:srcRect/>
            <a:stretch/>
          </p:blipFill>
          <p:spPr>
            <a:xfrm>
              <a:off x="3952188" y="8353658"/>
              <a:ext cx="609030" cy="456544"/>
            </a:xfrm>
            <a:prstGeom prst="rect">
              <a:avLst/>
            </a:prstGeom>
            <a:blipFill dpi="0" rotWithShape="1">
              <a:blip r:embed="rId12" cstate="screen">
                <a:extLst>
                  <a:ext uri="{28A0092B-C50C-407E-A947-70E740481C1C}">
                    <a14:useLocalDpi xmlns:a14="http://schemas.microsoft.com/office/drawing/2010/main"/>
                  </a:ext>
                </a:extLst>
              </a:blip>
              <a:srcRect/>
              <a:stretch>
                <a:fillRect/>
              </a:stretch>
            </a:blipFill>
          </p:spPr>
        </p:pic>
      </p:grpSp>
    </p:spTree>
    <p:extLst>
      <p:ext uri="{BB962C8B-B14F-4D97-AF65-F5344CB8AC3E}">
        <p14:creationId xmlns:p14="http://schemas.microsoft.com/office/powerpoint/2010/main" val="2935557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a:extLst>
            <a:ext uri="{FF2B5EF4-FFF2-40B4-BE49-F238E27FC236}">
              <a16:creationId xmlns:a16="http://schemas.microsoft.com/office/drawing/2014/main" id="{CD6A56D1-E866-EE8B-3CEA-054542A6BC02}"/>
            </a:ext>
          </a:extLst>
        </p:cNvPr>
        <p:cNvGrpSpPr/>
        <p:nvPr/>
      </p:nvGrpSpPr>
      <p:grpSpPr>
        <a:xfrm>
          <a:off x="0" y="0"/>
          <a:ext cx="0" cy="0"/>
          <a:chOff x="0" y="0"/>
          <a:chExt cx="0" cy="0"/>
        </a:xfrm>
      </p:grpSpPr>
      <p:pic>
        <p:nvPicPr>
          <p:cNvPr id="25" name="Picture 8">
            <a:hlinkClick r:id="rId3"/>
            <a:extLst>
              <a:ext uri="{FF2B5EF4-FFF2-40B4-BE49-F238E27FC236}">
                <a16:creationId xmlns:a16="http://schemas.microsoft.com/office/drawing/2014/main" id="{50443E18-B1C3-1D2E-A0DC-E7651E56C204}"/>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17" t="-23966" r="-8117" b="-23966"/>
          <a:stretch/>
        </p:blipFill>
        <p:spPr>
          <a:xfrm>
            <a:off x="2879654" y="3295652"/>
            <a:ext cx="1098694" cy="475784"/>
          </a:xfrm>
          <a:prstGeom prst="rect">
            <a:avLst/>
          </a:prstGeom>
        </p:spPr>
      </p:pic>
      <p:sp>
        <p:nvSpPr>
          <p:cNvPr id="26" name="CaixaDeTexto 5">
            <a:extLst>
              <a:ext uri="{FF2B5EF4-FFF2-40B4-BE49-F238E27FC236}">
                <a16:creationId xmlns:a16="http://schemas.microsoft.com/office/drawing/2014/main" id="{E20DEAF1-55D1-0FC4-9D3A-45059F16008F}"/>
              </a:ext>
            </a:extLst>
          </p:cNvPr>
          <p:cNvSpPr txBox="1"/>
          <p:nvPr/>
        </p:nvSpPr>
        <p:spPr>
          <a:xfrm>
            <a:off x="2041412" y="4350592"/>
            <a:ext cx="2775177" cy="930383"/>
          </a:xfrm>
          <a:prstGeom prst="rect">
            <a:avLst/>
          </a:prstGeom>
          <a:noFill/>
        </p:spPr>
        <p:txBody>
          <a:bodyPr wrap="square">
            <a:spAutoFit/>
          </a:bodyPr>
          <a:lstStyle/>
          <a:p>
            <a:pPr algn="ctr" defTabSz="414789"/>
            <a:r>
              <a:rPr lang="it-IT" sz="1089" kern="0">
                <a:solidFill>
                  <a:srgbClr val="FFFFFF"/>
                </a:solidFill>
                <a:latin typeface="Versos Light" panose="020B0403020204030204" pitchFamily="34" charset="0"/>
                <a:ea typeface="Times New Roman" panose="02020603050405020304" pitchFamily="18" charset="0"/>
                <a:cs typeface="Times New Roman" panose="02020603050405020304" pitchFamily="18" charset="0"/>
              </a:rPr>
              <a:t>Avenida Brigadeiro Faria Lima, 4.300</a:t>
            </a:r>
          </a:p>
          <a:p>
            <a:pPr algn="ctr" defTabSz="414789"/>
            <a:r>
              <a:rPr lang="it-IT" sz="1089" kern="0">
                <a:solidFill>
                  <a:srgbClr val="FFFFFF"/>
                </a:solidFill>
                <a:latin typeface="Versos Light" panose="020B0403020204030204" pitchFamily="34" charset="0"/>
                <a:ea typeface="Times New Roman" panose="02020603050405020304" pitchFamily="18" charset="0"/>
                <a:cs typeface="Times New Roman" panose="02020603050405020304" pitchFamily="18" charset="0"/>
              </a:rPr>
              <a:t>7º andar | Vila Olímpia</a:t>
            </a:r>
          </a:p>
          <a:p>
            <a:pPr algn="ctr" defTabSz="414789"/>
            <a:r>
              <a:rPr lang="it-IT" sz="1089" kern="0">
                <a:solidFill>
                  <a:srgbClr val="FFFFFF"/>
                </a:solidFill>
                <a:latin typeface="Versos Light" panose="020B0403020204030204" pitchFamily="34" charset="0"/>
                <a:ea typeface="Times New Roman" panose="02020603050405020304" pitchFamily="18" charset="0"/>
                <a:cs typeface="Times New Roman" panose="02020603050405020304" pitchFamily="18" charset="0"/>
              </a:rPr>
              <a:t>CEP 04538-132 | São Paulo</a:t>
            </a:r>
          </a:p>
          <a:p>
            <a:pPr algn="ctr" defTabSz="414789"/>
            <a:endParaRPr lang="it-IT" sz="1089">
              <a:solidFill>
                <a:srgbClr val="FFFFFF"/>
              </a:solidFill>
              <a:latin typeface="Versos Light" panose="020B0403020204030204" pitchFamily="34" charset="0"/>
              <a:cs typeface="Times New Roman" panose="02020603050405020304" pitchFamily="18" charset="0"/>
            </a:endParaRPr>
          </a:p>
          <a:p>
            <a:pPr algn="ctr" defTabSz="414789"/>
            <a:r>
              <a:rPr lang="it-IT" sz="1089">
                <a:solidFill>
                  <a:srgbClr val="FFFFFF"/>
                </a:solidFill>
                <a:latin typeface="Versos Light" panose="020B0403020204030204" pitchFamily="34" charset="0"/>
                <a:cs typeface="Times New Roman" panose="02020603050405020304" pitchFamily="18" charset="0"/>
              </a:rPr>
              <a:t>www.tivio.com</a:t>
            </a:r>
            <a:endParaRPr lang="pt-BR" sz="1089">
              <a:solidFill>
                <a:srgbClr val="FFFFFF"/>
              </a:solidFill>
              <a:latin typeface="Versos Light" panose="020B0403020204030204" pitchFamily="34" charset="0"/>
            </a:endParaRPr>
          </a:p>
        </p:txBody>
      </p:sp>
      <p:grpSp>
        <p:nvGrpSpPr>
          <p:cNvPr id="2" name="Group 1">
            <a:extLst>
              <a:ext uri="{FF2B5EF4-FFF2-40B4-BE49-F238E27FC236}">
                <a16:creationId xmlns:a16="http://schemas.microsoft.com/office/drawing/2014/main" id="{129B9757-C58B-3222-A3D8-17654EDB2CDA}"/>
              </a:ext>
            </a:extLst>
          </p:cNvPr>
          <p:cNvGrpSpPr/>
          <p:nvPr/>
        </p:nvGrpSpPr>
        <p:grpSpPr>
          <a:xfrm>
            <a:off x="-14788001" y="1406357"/>
            <a:ext cx="22723905" cy="7093284"/>
            <a:chOff x="-62630" y="4026544"/>
            <a:chExt cx="12254630" cy="3825292"/>
          </a:xfrm>
        </p:grpSpPr>
        <p:sp>
          <p:nvSpPr>
            <p:cNvPr id="3" name="Freeform: Shape 2">
              <a:extLst>
                <a:ext uri="{FF2B5EF4-FFF2-40B4-BE49-F238E27FC236}">
                  <a16:creationId xmlns:a16="http://schemas.microsoft.com/office/drawing/2014/main" id="{2D55D0A0-F6B0-DCEF-FE09-6DF9B60AE9A2}"/>
                </a:ext>
              </a:extLst>
            </p:cNvPr>
            <p:cNvSpPr/>
            <p:nvPr/>
          </p:nvSpPr>
          <p:spPr>
            <a:xfrm flipV="1">
              <a:off x="-62630" y="5210522"/>
              <a:ext cx="12254630" cy="200722"/>
            </a:xfrm>
            <a:custGeom>
              <a:avLst/>
              <a:gdLst>
                <a:gd name="connsiteX0" fmla="*/ 0 w 12225403"/>
                <a:gd name="connsiteY0" fmla="*/ 0 h 0"/>
                <a:gd name="connsiteX1" fmla="*/ 12225403 w 12225403"/>
                <a:gd name="connsiteY1" fmla="*/ 0 h 0"/>
              </a:gdLst>
              <a:ahLst/>
              <a:cxnLst>
                <a:cxn ang="0">
                  <a:pos x="connsiteX0" y="connsiteY0"/>
                </a:cxn>
                <a:cxn ang="0">
                  <a:pos x="connsiteX1" y="connsiteY1"/>
                </a:cxn>
              </a:cxnLst>
              <a:rect l="l" t="t" r="r" b="b"/>
              <a:pathLst>
                <a:path w="12225403">
                  <a:moveTo>
                    <a:pt x="0" y="0"/>
                  </a:moveTo>
                  <a:lnTo>
                    <a:pt x="12225403" y="0"/>
                  </a:lnTo>
                </a:path>
              </a:pathLst>
            </a:cu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sp>
          <p:nvSpPr>
            <p:cNvPr id="4" name="Freeform: Shape 3">
              <a:extLst>
                <a:ext uri="{FF2B5EF4-FFF2-40B4-BE49-F238E27FC236}">
                  <a16:creationId xmlns:a16="http://schemas.microsoft.com/office/drawing/2014/main" id="{A9716AD2-C9E6-13F5-C3BA-302E03AA31BF}"/>
                </a:ext>
              </a:extLst>
            </p:cNvPr>
            <p:cNvSpPr/>
            <p:nvPr/>
          </p:nvSpPr>
          <p:spPr>
            <a:xfrm>
              <a:off x="6860147" y="4026544"/>
              <a:ext cx="4988424" cy="3825292"/>
            </a:xfrm>
            <a:custGeom>
              <a:avLst/>
              <a:gdLst>
                <a:gd name="connsiteX0" fmla="*/ 0 w 5087815"/>
                <a:gd name="connsiteY0" fmla="*/ 3845169 h 3845169"/>
                <a:gd name="connsiteX1" fmla="*/ 5087815 w 5087815"/>
                <a:gd name="connsiteY1" fmla="*/ 0 h 3845169"/>
                <a:gd name="connsiteX0" fmla="*/ 0 w 5048059"/>
                <a:gd name="connsiteY0" fmla="*/ 3954500 h 3954500"/>
                <a:gd name="connsiteX1" fmla="*/ 5048059 w 5048059"/>
                <a:gd name="connsiteY1" fmla="*/ 0 h 3954500"/>
                <a:gd name="connsiteX0" fmla="*/ 0 w 5048059"/>
                <a:gd name="connsiteY0" fmla="*/ 3954500 h 3954500"/>
                <a:gd name="connsiteX1" fmla="*/ 5048059 w 5048059"/>
                <a:gd name="connsiteY1" fmla="*/ 0 h 3954500"/>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35231 h 3835231"/>
                <a:gd name="connsiteX1" fmla="*/ 4988424 w 4988424"/>
                <a:gd name="connsiteY1" fmla="*/ 0 h 3835231"/>
                <a:gd name="connsiteX0" fmla="*/ 0 w 4988424"/>
                <a:gd name="connsiteY0" fmla="*/ 3825292 h 3825292"/>
                <a:gd name="connsiteX1" fmla="*/ 4988424 w 4988424"/>
                <a:gd name="connsiteY1" fmla="*/ 0 h 3825292"/>
              </a:gdLst>
              <a:ahLst/>
              <a:cxnLst>
                <a:cxn ang="0">
                  <a:pos x="connsiteX0" y="connsiteY0"/>
                </a:cxn>
                <a:cxn ang="0">
                  <a:pos x="connsiteX1" y="connsiteY1"/>
                </a:cxn>
              </a:cxnLst>
              <a:rect l="l" t="t" r="r" b="b"/>
              <a:pathLst>
                <a:path w="4988424" h="3825292">
                  <a:moveTo>
                    <a:pt x="0" y="3825292"/>
                  </a:moveTo>
                  <a:cubicBezTo>
                    <a:pt x="1384087" y="1839675"/>
                    <a:pt x="2310976" y="251621"/>
                    <a:pt x="4988424" y="0"/>
                  </a:cubicBezTo>
                </a:path>
              </a:pathLst>
            </a:cu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1400" b="0" i="0" u="none" strike="noStrike" kern="0" cap="none" spc="0" normalizeH="0" baseline="0" noProof="0">
                <a:ln>
                  <a:noFill/>
                </a:ln>
                <a:solidFill>
                  <a:srgbClr val="FFFFFF"/>
                </a:solidFill>
                <a:effectLst/>
                <a:uLnTx/>
                <a:uFillTx/>
                <a:latin typeface="Calibri"/>
                <a:ea typeface="+mn-ea"/>
                <a:cs typeface="+mn-cs"/>
                <a:sym typeface="Arial"/>
              </a:endParaRPr>
            </a:p>
          </p:txBody>
        </p:sp>
      </p:grpSp>
      <p:sp>
        <p:nvSpPr>
          <p:cNvPr id="6" name="TextBox 5">
            <a:extLst>
              <a:ext uri="{FF2B5EF4-FFF2-40B4-BE49-F238E27FC236}">
                <a16:creationId xmlns:a16="http://schemas.microsoft.com/office/drawing/2014/main" id="{83CB5C87-E9A0-98FA-3F8D-A95AE27D31DE}"/>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spTree>
    <p:extLst>
      <p:ext uri="{BB962C8B-B14F-4D97-AF65-F5344CB8AC3E}">
        <p14:creationId xmlns:p14="http://schemas.microsoft.com/office/powerpoint/2010/main" val="673503834"/>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3" name="TextBox 72">
            <a:extLst>
              <a:ext uri="{FF2B5EF4-FFF2-40B4-BE49-F238E27FC236}">
                <a16:creationId xmlns:a16="http://schemas.microsoft.com/office/drawing/2014/main" id="{DDC3D514-2B3C-8D32-75E7-142879979AA7}"/>
              </a:ext>
            </a:extLst>
          </p:cNvPr>
          <p:cNvSpPr txBox="1"/>
          <p:nvPr/>
        </p:nvSpPr>
        <p:spPr>
          <a:xfrm>
            <a:off x="2536127" y="9624649"/>
            <a:ext cx="1785746"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i="0" u="none" strike="noStrike" kern="1200" cap="none" spc="0" normalizeH="0" baseline="0" noProof="0">
                <a:ln>
                  <a:noFill/>
                </a:ln>
                <a:solidFill>
                  <a:schemeClr val="bg1">
                    <a:lumMod val="75000"/>
                  </a:schemeClr>
                </a:solidFill>
                <a:effectLst/>
                <a:uLnTx/>
                <a:uFillTx/>
                <a:latin typeface="Versos Light" panose="020B0403020204030204" pitchFamily="34" charset="0"/>
              </a:rPr>
              <a:t>MATERIAL DE USO INTERNO</a:t>
            </a:r>
          </a:p>
        </p:txBody>
      </p:sp>
      <p:grpSp>
        <p:nvGrpSpPr>
          <p:cNvPr id="35" name="Group 34">
            <a:extLst>
              <a:ext uri="{FF2B5EF4-FFF2-40B4-BE49-F238E27FC236}">
                <a16:creationId xmlns:a16="http://schemas.microsoft.com/office/drawing/2014/main" id="{B6C2C9E6-A1EA-F281-17BD-4FAFB96622D9}"/>
              </a:ext>
            </a:extLst>
          </p:cNvPr>
          <p:cNvGrpSpPr/>
          <p:nvPr/>
        </p:nvGrpSpPr>
        <p:grpSpPr>
          <a:xfrm>
            <a:off x="441325" y="1092200"/>
            <a:ext cx="5932293" cy="303773"/>
            <a:chOff x="441325" y="1195743"/>
            <a:chExt cx="5975350" cy="303773"/>
          </a:xfrm>
        </p:grpSpPr>
        <p:sp>
          <p:nvSpPr>
            <p:cNvPr id="32" name="TextBox 31">
              <a:extLst>
                <a:ext uri="{FF2B5EF4-FFF2-40B4-BE49-F238E27FC236}">
                  <a16:creationId xmlns:a16="http://schemas.microsoft.com/office/drawing/2014/main" id="{4B90EDC5-4ADC-C158-724E-D6E4E163C5E5}"/>
                </a:ext>
              </a:extLst>
            </p:cNvPr>
            <p:cNvSpPr txBox="1"/>
            <p:nvPr/>
          </p:nvSpPr>
          <p:spPr>
            <a:xfrm>
              <a:off x="456569" y="1195743"/>
              <a:ext cx="3217227" cy="192360"/>
            </a:xfrm>
            <a:prstGeom prst="rect">
              <a:avLst/>
            </a:prstGeom>
            <a:noFill/>
          </p:spPr>
          <p:txBody>
            <a:bodyPr wrap="none" lIns="0" tIns="0" rIns="0" bIns="0" rtlCol="0">
              <a:spAutoFit/>
            </a:bodyPr>
            <a:lstStyle/>
            <a:p>
              <a:pPr defTabSz="914400">
                <a:defRPr/>
              </a:pPr>
              <a:r>
                <a:rPr lang="pt-BR" sz="1250">
                  <a:solidFill>
                    <a:srgbClr val="000000"/>
                  </a:solidFill>
                  <a:latin typeface="Versos" panose="020B0503020204030204" pitchFamily="34" charset="0"/>
                </a:rPr>
                <a:t>Rentabilidade</a:t>
              </a:r>
            </a:p>
          </p:txBody>
        </p:sp>
        <p:cxnSp>
          <p:nvCxnSpPr>
            <p:cNvPr id="34" name="Straight Connector 33">
              <a:extLst>
                <a:ext uri="{FF2B5EF4-FFF2-40B4-BE49-F238E27FC236}">
                  <a16:creationId xmlns:a16="http://schemas.microsoft.com/office/drawing/2014/main" id="{B4387F42-51F7-54FB-600E-B149F11FF7F5}"/>
                </a:ext>
              </a:extLst>
            </p:cNvPr>
            <p:cNvCxnSpPr/>
            <p:nvPr/>
          </p:nvCxnSpPr>
          <p:spPr>
            <a:xfrm>
              <a:off x="441325" y="1499516"/>
              <a:ext cx="597535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graphicFrame>
        <p:nvGraphicFramePr>
          <p:cNvPr id="74" name="Table 73"/>
          <p:cNvGraphicFramePr>
            <a:graphicFrameLocks noGrp="1"/>
          </p:cNvGraphicFramePr>
          <p:nvPr/>
        </p:nvGraphicFramePr>
        <p:xfrm>
          <a:off x="457200" y="1549400"/>
          <a:ext cx="5943600" cy="1676400"/>
        </p:xfrm>
        <a:graphic>
          <a:graphicData uri="http://schemas.openxmlformats.org/drawingml/2006/table">
            <a:tbl>
              <a:tblPr firstRow="1" bandRow="1">
                <a:tableStyleId>{5C22544A-7EE6-4342-B048-85BDC9FD1C3A}</a:tableStyleId>
              </a:tblPr>
              <a:tblGrid>
                <a:gridCol w="2133600"/>
                <a:gridCol w="1905000"/>
                <a:gridCol w="1905000"/>
              </a:tblGrid>
              <a:tr h="279400">
                <a:tc>
                  <a:txBody>
                    <a:bodyPr/>
                    <a:lstStyle/>
                    <a:p>
                      <a:pPr algn="l"/>
                      <a:r>
                        <a:rPr sz="900" b="1">
                          <a:solidFill>
                            <a:srgbClr val="000000"/>
                          </a:solidFill>
                          <a:latin typeface="Versos"/>
                        </a:rPr>
                        <a:t/>
                      </a:r>
                    </a:p>
                  </a:txBody>
                  <a:tcPr marL="25400" marR="25400" marT="38100" marB="38100">
                    <a:noFill/>
                    <a:lnL w="0">
                      <a:noFill/>
                    </a:lnL>
                    <a:lnR w="0">
                      <a:noFill/>
                    </a:lnR>
                    <a:lnT w="0">
                      <a:noFill/>
                    </a:lnT>
                    <a:lnB w="9525">
                      <a:solidFill>
                        <a:srgbClr val="BFBFBF"/>
                      </a:solidFill>
                    </a:lnB>
                  </a:tcPr>
                </a:tc>
                <a:tc>
                  <a:txBody>
                    <a:bodyPr/>
                    <a:lstStyle/>
                    <a:p>
                      <a:pPr algn="ctr"/>
                      <a:r>
                        <a:rPr sz="900" b="1">
                          <a:solidFill>
                            <a:srgbClr val="000000"/>
                          </a:solidFill>
                          <a:latin typeface="Versos"/>
                        </a:rPr>
                        <a:t>Mês</a:t>
                      </a:r>
                    </a:p>
                  </a:txBody>
                  <a:tcPr marL="25400" marR="25400" marT="38100" marB="38100">
                    <a:noFill/>
                    <a:lnL w="0">
                      <a:noFill/>
                    </a:lnL>
                    <a:lnR w="0">
                      <a:noFill/>
                    </a:lnR>
                    <a:lnT w="0">
                      <a:noFill/>
                    </a:lnT>
                    <a:lnB w="9525">
                      <a:solidFill>
                        <a:srgbClr val="BFBFBF"/>
                      </a:solidFill>
                    </a:lnB>
                  </a:tcPr>
                </a:tc>
                <a:tc>
                  <a:txBody>
                    <a:bodyPr/>
                    <a:lstStyle/>
                    <a:p>
                      <a:pPr algn="ctr"/>
                      <a:r>
                        <a:rPr sz="900" b="1">
                          <a:solidFill>
                            <a:srgbClr val="000000"/>
                          </a:solidFill>
                          <a:latin typeface="Versos"/>
                        </a:rPr>
                        <a:t>Desde o Início</a:t>
                      </a:r>
                    </a:p>
                  </a:txBody>
                  <a:tcPr marL="25400" marR="25400" marT="38100" marB="38100">
                    <a:noFill/>
                    <a:lnL w="0">
                      <a:noFill/>
                    </a:lnL>
                    <a:lnR w="0">
                      <a:noFill/>
                    </a:lnR>
                    <a:lnT w="0">
                      <a:noFill/>
                    </a:lnT>
                    <a:lnB w="9525">
                      <a:solidFill>
                        <a:srgbClr val="BFBFBF"/>
                      </a:solidFill>
                    </a:lnB>
                  </a:tcPr>
                </a:tc>
              </a:tr>
              <a:tr h="279400">
                <a:tc>
                  <a:txBody>
                    <a:bodyPr/>
                    <a:lstStyle/>
                    <a:p>
                      <a:pPr algn="l"/>
                      <a:r>
                        <a:rPr sz="900" b="1">
                          <a:solidFill>
                            <a:srgbClr val="000000"/>
                          </a:solidFill>
                          <a:latin typeface="Versos"/>
                        </a:rPr>
                        <a:t>Fundo</a:t>
                      </a:r>
                    </a:p>
                  </a:txBody>
                  <a:tcPr marL="25400" marR="25400" marT="38100" marB="38100">
                    <a:noFill/>
                    <a:lnL w="0">
                      <a:noFill/>
                    </a:lnL>
                    <a:lnR w="0">
                      <a:noFill/>
                    </a:lnR>
                    <a:lnT w="0">
                      <a:noFill/>
                    </a:lnT>
                    <a:lnB w="9525">
                      <a:solidFill>
                        <a:srgbClr val="BFBFBF"/>
                      </a:solidFill>
                    </a:lnB>
                  </a:tcPr>
                </a:tc>
                <a:tc>
                  <a:txBody>
                    <a:bodyPr/>
                    <a:lstStyle/>
                    <a:p>
                      <a:pPr algn="ctr"/>
                      <a:r>
                        <a:rPr sz="900" b="1">
                          <a:solidFill>
                            <a:srgbClr val="337F51"/>
                          </a:solidFill>
                          <a:latin typeface="Versos"/>
                        </a:rPr>
                        <a:t>1,063%</a:t>
                      </a:r>
                    </a:p>
                  </a:txBody>
                  <a:tcPr marL="25400" marR="25400" marT="38100" marB="38100">
                    <a:noFill/>
                    <a:lnL w="0">
                      <a:noFill/>
                    </a:lnL>
                    <a:lnR w="0">
                      <a:noFill/>
                    </a:lnR>
                    <a:lnT w="0">
                      <a:noFill/>
                    </a:lnT>
                    <a:lnB w="9525">
                      <a:solidFill>
                        <a:srgbClr val="BFBFBF"/>
                      </a:solidFill>
                    </a:lnB>
                  </a:tcPr>
                </a:tc>
                <a:tc>
                  <a:txBody>
                    <a:bodyPr/>
                    <a:lstStyle/>
                    <a:p>
                      <a:pPr algn="ctr"/>
                      <a:r>
                        <a:rPr sz="900" b="1">
                          <a:solidFill>
                            <a:srgbClr val="337F51"/>
                          </a:solidFill>
                          <a:latin typeface="Versos"/>
                        </a:rPr>
                        <a:t>8,73%</a:t>
                      </a:r>
                    </a:p>
                  </a:txBody>
                  <a:tcPr marL="25400" marR="25400" marT="38100" marB="38100">
                    <a:noFill/>
                    <a:lnL w="0">
                      <a:noFill/>
                    </a:lnL>
                    <a:lnR w="0">
                      <a:noFill/>
                    </a:lnR>
                    <a:lnT w="0">
                      <a:noFill/>
                    </a:lnT>
                    <a:lnB w="9525">
                      <a:solidFill>
                        <a:srgbClr val="BFBFBF"/>
                      </a:solidFill>
                    </a:lnB>
                  </a:tcPr>
                </a:tc>
              </a:tr>
              <a:tr h="279400">
                <a:tc>
                  <a:txBody>
                    <a:bodyPr/>
                    <a:lstStyle/>
                    <a:p>
                      <a:pPr algn="l"/>
                      <a:r>
                        <a:rPr sz="900" b="1">
                          <a:solidFill>
                            <a:srgbClr val="000000"/>
                          </a:solidFill>
                          <a:latin typeface="Versos"/>
                        </a:rPr>
                        <a:t>CDI</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1,083%</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7,98%</a:t>
                      </a:r>
                    </a:p>
                  </a:txBody>
                  <a:tcPr marL="25400" marR="25400" marT="38100" marB="38100">
                    <a:noFill/>
                    <a:lnL w="0">
                      <a:noFill/>
                    </a:lnL>
                    <a:lnR w="0">
                      <a:noFill/>
                    </a:lnR>
                    <a:lnT w="0">
                      <a:noFill/>
                    </a:lnT>
                    <a:lnB w="9525">
                      <a:solidFill>
                        <a:srgbClr val="BFBFBF"/>
                      </a:solidFill>
                    </a:lnB>
                  </a:tcPr>
                </a:tc>
              </a:tr>
              <a:tr h="279400">
                <a:tc>
                  <a:txBody>
                    <a:bodyPr/>
                    <a:lstStyle/>
                    <a:p>
                      <a:pPr algn="l"/>
                      <a:r>
                        <a:rPr sz="900" b="1">
                          <a:solidFill>
                            <a:srgbClr val="000000"/>
                          </a:solidFill>
                          <a:latin typeface="Versos"/>
                        </a:rPr>
                        <a:t>Alfa</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−0,02%</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0,75%</a:t>
                      </a:r>
                    </a:p>
                  </a:txBody>
                  <a:tcPr marL="25400" marR="25400" marT="38100" marB="38100">
                    <a:noFill/>
                    <a:lnL w="0">
                      <a:noFill/>
                    </a:lnL>
                    <a:lnR w="0">
                      <a:noFill/>
                    </a:lnR>
                    <a:lnT w="0">
                      <a:noFill/>
                    </a:lnT>
                    <a:lnB w="9525">
                      <a:solidFill>
                        <a:srgbClr val="BFBFBF"/>
                      </a:solidFill>
                    </a:lnB>
                  </a:tcPr>
                </a:tc>
              </a:tr>
              <a:tr h="279400">
                <a:tc>
                  <a:txBody>
                    <a:bodyPr/>
                    <a:lstStyle/>
                    <a:p>
                      <a:pPr algn="l"/>
                      <a:r>
                        <a:rPr sz="900" b="1">
                          <a:solidFill>
                            <a:srgbClr val="000000"/>
                          </a:solidFill>
                          <a:latin typeface="Versos"/>
                        </a:rPr>
                        <a:t>%</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98%</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109%</a:t>
                      </a:r>
                    </a:p>
                  </a:txBody>
                  <a:tcPr marL="25400" marR="25400" marT="38100" marB="38100">
                    <a:noFill/>
                    <a:lnL w="0">
                      <a:noFill/>
                    </a:lnL>
                    <a:lnR w="0">
                      <a:noFill/>
                    </a:lnR>
                    <a:lnT w="0">
                      <a:noFill/>
                    </a:lnT>
                    <a:lnB w="9525">
                      <a:solidFill>
                        <a:srgbClr val="BFBFBF"/>
                      </a:solidFill>
                    </a:lnB>
                  </a:tcPr>
                </a:tc>
              </a:tr>
              <a:tr h="279400">
                <a:tc>
                  <a:txBody>
                    <a:bodyPr/>
                    <a:lstStyle/>
                    <a:p>
                      <a:pPr algn="l"/>
                      <a:r>
                        <a:rPr sz="900" b="1">
                          <a:solidFill>
                            <a:srgbClr val="000000"/>
                          </a:solidFill>
                          <a:latin typeface="Versos"/>
                        </a:rPr>
                        <a:t>CDI +</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−0,24%</a:t>
                      </a:r>
                    </a:p>
                  </a:txBody>
                  <a:tcPr marL="25400" marR="25400" marT="38100" marB="38100">
                    <a:noFill/>
                    <a:lnL w="0">
                      <a:noFill/>
                    </a:lnL>
                    <a:lnR w="0">
                      <a:noFill/>
                    </a:lnR>
                    <a:lnT w="0">
                      <a:noFill/>
                    </a:lnT>
                    <a:lnB w="9525">
                      <a:solidFill>
                        <a:srgbClr val="BFBFBF"/>
                      </a:solidFill>
                    </a:lnB>
                  </a:tcPr>
                </a:tc>
                <a:tc>
                  <a:txBody>
                    <a:bodyPr/>
                    <a:lstStyle/>
                    <a:p>
                      <a:pPr algn="ctr"/>
                      <a:r>
                        <a:rPr sz="900" b="0">
                          <a:solidFill>
                            <a:srgbClr val="808080"/>
                          </a:solidFill>
                          <a:latin typeface="Versos"/>
                        </a:rPr>
                        <a:t>1,21%</a:t>
                      </a:r>
                    </a:p>
                  </a:txBody>
                  <a:tcPr marL="25400" marR="25400" marT="38100" marB="38100">
                    <a:noFill/>
                    <a:lnL w="0">
                      <a:noFill/>
                    </a:lnL>
                    <a:lnR w="0">
                      <a:noFill/>
                    </a:lnR>
                    <a:lnT w="0">
                      <a:noFill/>
                    </a:lnT>
                    <a:lnB w="9525">
                      <a:solidFill>
                        <a:srgbClr val="BFBFBF"/>
                      </a:solidFill>
                    </a:lnB>
                  </a:tcPr>
                </a:tc>
              </a:tr>
            </a:tbl>
          </a:graphicData>
        </a:graphic>
      </p:graphicFrame>
      <p:grpSp>
        <p:nvGrpSpPr>
          <p:cNvPr id="35" name="Group 34">
            <a:extLst>
              <a:ext uri="{FF2B5EF4-FFF2-40B4-BE49-F238E27FC236}">
                <a16:creationId xmlns:a16="http://schemas.microsoft.com/office/drawing/2014/main" id="{B6C2C9E6-A1EA-F281-17BD-4FAFB96622D9}"/>
              </a:ext>
            </a:extLst>
          </p:cNvPr>
          <p:cNvGrpSpPr/>
          <p:nvPr/>
        </p:nvGrpSpPr>
        <p:grpSpPr>
          <a:xfrm>
            <a:off x="441325" y="3810000"/>
            <a:ext cx="5932293" cy="303773"/>
            <a:chOff x="441325" y="1195743"/>
            <a:chExt cx="5975350" cy="303773"/>
          </a:xfrm>
        </p:grpSpPr>
        <p:sp>
          <p:nvSpPr>
            <p:cNvPr id="32" name="TextBox 31">
              <a:extLst>
                <a:ext uri="{FF2B5EF4-FFF2-40B4-BE49-F238E27FC236}">
                  <a16:creationId xmlns:a16="http://schemas.microsoft.com/office/drawing/2014/main" id="{4B90EDC5-4ADC-C158-724E-D6E4E163C5E5}"/>
                </a:ext>
              </a:extLst>
            </p:cNvPr>
            <p:cNvSpPr txBox="1"/>
            <p:nvPr/>
          </p:nvSpPr>
          <p:spPr>
            <a:xfrm>
              <a:off x="456569" y="1195743"/>
              <a:ext cx="3217227" cy="192360"/>
            </a:xfrm>
            <a:prstGeom prst="rect">
              <a:avLst/>
            </a:prstGeom>
            <a:noFill/>
          </p:spPr>
          <p:txBody>
            <a:bodyPr wrap="none" lIns="0" tIns="0" rIns="0" bIns="0" rtlCol="0">
              <a:spAutoFit/>
            </a:bodyPr>
            <a:lstStyle/>
            <a:p>
              <a:pPr defTabSz="914400">
                <a:defRPr/>
              </a:pPr>
              <a:r>
                <a:rPr lang="pt-BR" sz="1250">
                  <a:solidFill>
                    <a:srgbClr val="000000"/>
                  </a:solidFill>
                  <a:latin typeface="Versos" panose="020B0503020204030204" pitchFamily="34" charset="0"/>
                </a:rPr>
                <a:t>Rentabilidade Histórica</a:t>
              </a:r>
            </a:p>
          </p:txBody>
        </p:sp>
        <p:cxnSp>
          <p:nvCxnSpPr>
            <p:cNvPr id="34" name="Straight Connector 33">
              <a:extLst>
                <a:ext uri="{FF2B5EF4-FFF2-40B4-BE49-F238E27FC236}">
                  <a16:creationId xmlns:a16="http://schemas.microsoft.com/office/drawing/2014/main" id="{B4387F42-51F7-54FB-600E-B149F11FF7F5}"/>
                </a:ext>
              </a:extLst>
            </p:cNvPr>
            <p:cNvCxnSpPr/>
            <p:nvPr/>
          </p:nvCxnSpPr>
          <p:spPr>
            <a:xfrm>
              <a:off x="441325" y="1499516"/>
              <a:ext cx="5975350"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graphicFrame>
        <p:nvGraphicFramePr>
          <p:cNvPr id="75" name="Chart 74"/>
          <p:cNvGraphicFramePr>
            <a:graphicFrameLocks noGrp="1"/>
          </p:cNvGraphicFramePr>
          <p:nvPr/>
        </p:nvGraphicFramePr>
        <p:xfrm>
          <a:off x="457200" y="4267200"/>
          <a:ext cx="5943600" cy="3175000"/>
        </p:xfrm>
        <a:graphic>
          <a:graphicData uri="http://schemas.openxmlformats.org/drawingml/2006/chart">
            <c:chart xmlns:c="http://schemas.openxmlformats.org/drawingml/2006/chart" r:id="rId2"/>
          </a:graphicData>
        </a:graphic>
      </p:graphicFrame>
    </p:spTree>
  </p:cSld>
  <p:clrMapOvr>
    <a:masterClrMapping/>
  </p:clrMapOvr>
</p:sld>
</file>

<file path=ppt/theme/theme1.xml><?xml version="1.0" encoding="utf-8"?>
<a:theme xmlns:a="http://schemas.openxmlformats.org/drawingml/2006/main" name="Tema do Office">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Tivio - Paleta de Cores">
      <a:dk1>
        <a:srgbClr val="000000"/>
      </a:dk1>
      <a:lt1>
        <a:srgbClr val="FFFFFF"/>
      </a:lt1>
      <a:dk2>
        <a:srgbClr val="637881"/>
      </a:dk2>
      <a:lt2>
        <a:srgbClr val="E6EDF1"/>
      </a:lt2>
      <a:accent1>
        <a:srgbClr val="759DB3"/>
      </a:accent1>
      <a:accent2>
        <a:srgbClr val="C0F4D3"/>
      </a:accent2>
      <a:accent3>
        <a:srgbClr val="92D3AB"/>
      </a:accent3>
      <a:accent4>
        <a:srgbClr val="3C4A60"/>
      </a:accent4>
      <a:accent5>
        <a:srgbClr val="E6EDF1"/>
      </a:accent5>
      <a:accent6>
        <a:srgbClr val="ABC6CD"/>
      </a:accent6>
      <a:hlink>
        <a:srgbClr val="63E392"/>
      </a:hlink>
      <a:folHlink>
        <a:srgbClr val="ACC4D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Tema do Office">
  <a:themeElements>
    <a:clrScheme name="Tivio - Paleta de Cores">
      <a:dk1>
        <a:srgbClr val="000000"/>
      </a:dk1>
      <a:lt1>
        <a:srgbClr val="FFFFFF"/>
      </a:lt1>
      <a:dk2>
        <a:srgbClr val="637881"/>
      </a:dk2>
      <a:lt2>
        <a:srgbClr val="E6EDF1"/>
      </a:lt2>
      <a:accent1>
        <a:srgbClr val="759DB3"/>
      </a:accent1>
      <a:accent2>
        <a:srgbClr val="C0F4D3"/>
      </a:accent2>
      <a:accent3>
        <a:srgbClr val="92D3AB"/>
      </a:accent3>
      <a:accent4>
        <a:srgbClr val="3C4A60"/>
      </a:accent4>
      <a:accent5>
        <a:srgbClr val="E6EDF1"/>
      </a:accent5>
      <a:accent6>
        <a:srgbClr val="ABC6CD"/>
      </a:accent6>
      <a:hlink>
        <a:srgbClr val="63E392"/>
      </a:hlink>
      <a:folHlink>
        <a:srgbClr val="ACC4D1"/>
      </a:folHlink>
    </a:clrScheme>
    <a:fontScheme name="Tivio">
      <a:majorFont>
        <a:latin typeface="Versos"/>
        <a:ea typeface=""/>
        <a:cs typeface=""/>
      </a:majorFont>
      <a:minorFont>
        <a:latin typeface="Versos Light"/>
        <a:ea typeface=""/>
        <a:cs typeface=""/>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4.xml><?xml version="1.0" encoding="utf-8"?>
<a:theme xmlns:a="http://schemas.openxmlformats.org/drawingml/2006/main" name="2_Tema do Office">
  <a:themeElements>
    <a:clrScheme name="Tivio - Paleta de Cores">
      <a:dk1>
        <a:srgbClr val="000000"/>
      </a:dk1>
      <a:lt1>
        <a:srgbClr val="FFFFFF"/>
      </a:lt1>
      <a:dk2>
        <a:srgbClr val="637881"/>
      </a:dk2>
      <a:lt2>
        <a:srgbClr val="E6EDF1"/>
      </a:lt2>
      <a:accent1>
        <a:srgbClr val="759DB3"/>
      </a:accent1>
      <a:accent2>
        <a:srgbClr val="C0F4D3"/>
      </a:accent2>
      <a:accent3>
        <a:srgbClr val="92D3AB"/>
      </a:accent3>
      <a:accent4>
        <a:srgbClr val="3C4A60"/>
      </a:accent4>
      <a:accent5>
        <a:srgbClr val="E6EDF1"/>
      </a:accent5>
      <a:accent6>
        <a:srgbClr val="ABC6CD"/>
      </a:accent6>
      <a:hlink>
        <a:srgbClr val="63E392"/>
      </a:hlink>
      <a:folHlink>
        <a:srgbClr val="ACC4D1"/>
      </a:folHlink>
    </a:clrScheme>
    <a:fontScheme name="Tivio">
      <a:majorFont>
        <a:latin typeface="Versos"/>
        <a:ea typeface=""/>
        <a:cs typeface=""/>
      </a:majorFont>
      <a:minorFont>
        <a:latin typeface="Versos Light"/>
        <a:ea typeface=""/>
        <a:cs typeface=""/>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5.xml><?xml version="1.0" encoding="utf-8"?>
<a:theme xmlns:a="http://schemas.openxmlformats.org/drawingml/2006/main" name="3_Tema do Office">
  <a:themeElements>
    <a:clrScheme name="Tivio Capital">
      <a:dk1>
        <a:srgbClr val="000000"/>
      </a:dk1>
      <a:lt1>
        <a:srgbClr val="FFFFFF"/>
      </a:lt1>
      <a:dk2>
        <a:srgbClr val="637881"/>
      </a:dk2>
      <a:lt2>
        <a:srgbClr val="E6EDF1"/>
      </a:lt2>
      <a:accent1>
        <a:srgbClr val="92D3AB"/>
      </a:accent1>
      <a:accent2>
        <a:srgbClr val="C1F4D4"/>
      </a:accent2>
      <a:accent3>
        <a:srgbClr val="3C4A60"/>
      </a:accent3>
      <a:accent4>
        <a:srgbClr val="759DB4"/>
      </a:accent4>
      <a:accent5>
        <a:srgbClr val="637881"/>
      </a:accent5>
      <a:accent6>
        <a:srgbClr val="ABC6CD"/>
      </a:accent6>
      <a:hlink>
        <a:srgbClr val="E6EDF1"/>
      </a:hlink>
      <a:folHlink>
        <a:srgbClr val="C1F4D4"/>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1c0b7a1-8647-479a-bc8f-582142d8bc0f">
      <Terms xmlns="http://schemas.microsoft.com/office/infopath/2007/PartnerControls"/>
    </lcf76f155ced4ddcb4097134ff3c332f>
    <TaxCatchAll xmlns="9a684d71-d6fd-4deb-80ab-4273818deab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CF9B3E74B8F57042982E3E9D39FC0152" ma:contentTypeVersion="14" ma:contentTypeDescription="Crie um novo documento." ma:contentTypeScope="" ma:versionID="3fd0dc2c73f6478acced112ab3406c62">
  <xsd:schema xmlns:xsd="http://www.w3.org/2001/XMLSchema" xmlns:xs="http://www.w3.org/2001/XMLSchema" xmlns:p="http://schemas.microsoft.com/office/2006/metadata/properties" xmlns:ns2="e1c0b7a1-8647-479a-bc8f-582142d8bc0f" xmlns:ns3="9a684d71-d6fd-4deb-80ab-4273818deab9" targetNamespace="http://schemas.microsoft.com/office/2006/metadata/properties" ma:root="true" ma:fieldsID="73d7f55b3be2760303eeb4385bcb2cf7" ns2:_="" ns3:_="">
    <xsd:import namespace="e1c0b7a1-8647-479a-bc8f-582142d8bc0f"/>
    <xsd:import namespace="9a684d71-d6fd-4deb-80ab-4273818dea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c0b7a1-8647-479a-bc8f-582142d8bc0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Marcações de imagem" ma:readOnly="false" ma:fieldId="{5cf76f15-5ced-4ddc-b409-7134ff3c332f}" ma:taxonomyMulti="true" ma:sspId="c4e30347-7a5e-4e48-9fe7-ea4e92c09b1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a684d71-d6fd-4deb-80ab-4273818deab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b44a9ff-42ad-4979-a12e-387190d0cadf}" ma:internalName="TaxCatchAll" ma:showField="CatchAllData" ma:web="9a684d71-d6fd-4deb-80ab-4273818dea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3CC2841-DC69-4BFA-BD36-A80031A005B0}">
  <ds:schemaRefs>
    <ds:schemaRef ds:uri="http://schemas.openxmlformats.org/package/2006/metadata/core-properties"/>
    <ds:schemaRef ds:uri="http://purl.org/dc/terms/"/>
    <ds:schemaRef ds:uri="http://schemas.microsoft.com/office/2006/documentManagement/types"/>
    <ds:schemaRef ds:uri="http://purl.org/dc/elements/1.1/"/>
    <ds:schemaRef ds:uri="e1c0b7a1-8647-479a-bc8f-582142d8bc0f"/>
    <ds:schemaRef ds:uri="http://www.w3.org/XML/1998/namespace"/>
    <ds:schemaRef ds:uri="http://schemas.microsoft.com/office/infopath/2007/PartnerControls"/>
    <ds:schemaRef ds:uri="9a684d71-d6fd-4deb-80ab-4273818deab9"/>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D31AAAAE-36FE-4EE9-A4A4-CD9323852896}">
  <ds:schemaRefs>
    <ds:schemaRef ds:uri="9a684d71-d6fd-4deb-80ab-4273818deab9"/>
    <ds:schemaRef ds:uri="e1c0b7a1-8647-479a-bc8f-582142d8bc0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90B77D0-CAE5-44B4-9820-91BD4DB9A597}">
  <ds:schemaRefs>
    <ds:schemaRef ds:uri="http://schemas.microsoft.com/sharepoint/v3/contenttype/forms"/>
  </ds:schemaRefs>
</ds:datastoreItem>
</file>

<file path=docMetadata/LabelInfo.xml><?xml version="1.0" encoding="utf-8"?>
<clbl:labelList xmlns:clbl="http://schemas.microsoft.com/office/2020/mipLabelMetadata">
  <clbl:label id="{1b68a0e7-8c4a-4119-a9fe-c55d0d05c305}" enabled="1" method="Standard" siteId="{28bfc1cb-5aa5-436f-9b59-4bbea6096aee}"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1412</Words>
  <Application>Microsoft Office PowerPoint</Application>
  <PresentationFormat>A4 Paper (210x297 mm)</PresentationFormat>
  <Paragraphs>101</Paragraphs>
  <Slides>7</Slides>
  <Notes>2</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7</vt:i4>
      </vt:variant>
    </vt:vector>
  </HeadingPairs>
  <TitlesOfParts>
    <vt:vector size="18" baseType="lpstr">
      <vt:lpstr>Arial</vt:lpstr>
      <vt:lpstr>Versos</vt:lpstr>
      <vt:lpstr>Aptos</vt:lpstr>
      <vt:lpstr>Versos Light</vt:lpstr>
      <vt:lpstr>Aptos Display</vt:lpstr>
      <vt:lpstr>Calibri</vt:lpstr>
      <vt:lpstr>Tema do Office</vt:lpstr>
      <vt:lpstr>1_Office Theme</vt:lpstr>
      <vt:lpstr>1_Tema do Office</vt:lpstr>
      <vt:lpstr>2_Tema do Office</vt:lpstr>
      <vt:lpstr>3_Tema do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Thais Arias</dc:creator>
  <cp:lastModifiedBy>Renan Chaves</cp:lastModifiedBy>
  <cp:revision>1</cp:revision>
  <dcterms:created xsi:type="dcterms:W3CDTF">2025-11-13T14:17:54Z</dcterms:created>
  <dcterms:modified xsi:type="dcterms:W3CDTF">2026-10-06T13:16:26Z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0x010100CF9B3E74B8F57042982E3E9D39FC0152</vt:lpwstr>
  </property>
  <property fmtid="{D5CDD505-2E9C-101B-9397-08002B2CF9AE}" pid="3" name="MediaServiceImageTags">
    <vt:lpwstr/>
  </property>
</Properties>
</file>