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2147474430" r:id="rId29"/>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tx>
            <c:strRef>
              <c:f>Sheet1!$B$1</c:f>
              <c:strCache>
                <c:ptCount val="1"/>
                <c:pt idx="0">
                  <c:v/>
                </c:pt>
              </c:strCache>
            </c:strRef>
          </c:tx>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AA-</c:v>
                </c:pt>
                <c:pt idx="3">
                  <c:v>AA</c:v>
                </c:pt>
                <c:pt idx="4">
                  <c:v>A+</c:v>
                </c:pt>
                <c:pt idx="5">
                  <c:v>A</c:v>
                </c:pt>
                <c:pt idx="6">
                  <c:v>BB</c:v>
                </c:pt>
              </c:strCache>
            </c:strRef>
          </c:cat>
          <c:val>
            <c:numRef>
              <c:f>Sheet1!$B$2:$B$8</c:f>
              <c:numCache>
                <c:formatCode>0.00%</c:formatCode>
                <c:ptCount val="7"/>
                <c:pt idx="0">
                  <c:v>0.322599</c:v>
                </c:pt>
                <c:pt idx="1">
                  <c:v>0.118128</c:v>
                </c:pt>
                <c:pt idx="2">
                  <c:v>0.075324</c:v>
                </c:pt>
                <c:pt idx="3">
                  <c:v>0.055506</c:v>
                </c:pt>
                <c:pt idx="4">
                  <c:v>0.054019000000000005</c:v>
                </c:pt>
                <c:pt idx="5">
                  <c:v>0.045292000000000006</c:v>
                </c:pt>
                <c:pt idx="6">
                  <c:v>0.005111</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Fundo</c:v>
                </c:pt>
              </c:strCache>
            </c:strRef>
          </c:tx>
          <c:spPr>
            <a:ln w="28575">
              <a:solidFill>
                <a:srgbClr val="4B9D74"/>
              </a:solidFill>
            </a:ln>
          </c:spPr>
          <c:marker>
            <c:symbol val="none"/>
          </c:marker>
          <c:dLbls>
            <c:dLbl>
              <c:idx val="6"/>
              <c:spPr/>
              <c:txPr>
                <a:bodyPr/>
                <a:lstStyle/>
                <a:p>
                  <a:pPr>
                    <a:defRPr sz="800" b="1">
                      <a:solidFill>
                        <a:srgbClr val="4B9D74"/>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Sheet1!$B$2:$B$8</c:f>
              <c:numCache>
                <c:formatCode>0.00%</c:formatCode>
                <c:ptCount val="7"/>
                <c:pt idx="0">
                  <c:v>0.0123</c:v>
                </c:pt>
                <c:pt idx="1">
                  <c:v>0.0248</c:v>
                </c:pt>
                <c:pt idx="2">
                  <c:v>0.0375</c:v>
                </c:pt>
                <c:pt idx="3">
                  <c:v>0.050300000000000004</c:v>
                </c:pt>
                <c:pt idx="4">
                  <c:v>0.0639</c:v>
                </c:pt>
                <c:pt idx="5">
                  <c:v>0.0759</c:v>
                </c:pt>
                <c:pt idx="6">
                  <c:v>0.0873</c:v>
                </c:pt>
              </c:numCache>
            </c:numRef>
          </c:val>
          <c:smooth val="0"/>
        </c:ser>
        <c:ser>
          <c:idx val="1"/>
          <c:order val="1"/>
          <c:tx>
            <c:strRef>
              <c:f>Sheet1!$C$1</c:f>
              <c:strCache>
                <c:ptCount val="1"/>
                <c:pt idx="0">
                  <c:v>CDI</c:v>
                </c:pt>
              </c:strCache>
            </c:strRef>
          </c:tx>
          <c:spPr>
            <a:ln w="22225">
              <a:solidFill>
                <a:srgbClr val="92D3AB"/>
              </a:solidFill>
            </a:ln>
          </c:spPr>
          <c:marker>
            <c:symbol val="none"/>
          </c:marker>
          <c:dLbls>
            <c:dLbl>
              <c:idx val="6"/>
              <c:spPr/>
              <c:txPr>
                <a:bodyPr/>
                <a:lstStyle/>
                <a:p>
                  <a:pPr>
                    <a:defRPr sz="800" b="1">
                      <a:solidFill>
                        <a:srgbClr val="92D3AB"/>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Sheet1!$C$2:$C$8</c:f>
              <c:numCache>
                <c:formatCode>0.00%</c:formatCode>
                <c:ptCount val="7"/>
                <c:pt idx="0">
                  <c:v>0.0105</c:v>
                </c:pt>
                <c:pt idx="1">
                  <c:v>0.0215</c:v>
                </c:pt>
                <c:pt idx="2">
                  <c:v>0.032400000000000005</c:v>
                </c:pt>
                <c:pt idx="3">
                  <c:v>0.044000000000000004</c:v>
                </c:pt>
                <c:pt idx="4">
                  <c:v>0.0567</c:v>
                </c:pt>
                <c:pt idx="5">
                  <c:v>0.0683</c:v>
                </c:pt>
                <c:pt idx="6">
                  <c:v>0.07980000000000001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a:solidFill>
                <a:srgbClr val="D9D9D9"/>
              </a:solidFill>
            </a:ln>
          </c:spPr>
        </c:majorGridlines>
        <c:numFmt formatCode="0.0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595959"/>
          </a:solidFill>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non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Setembro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968" b="1"/>
              <a:t>Sobre o Fundo</a:t>
            </a:r>
          </a:p>
          <a:p>
            <a:endParaRPr lang="pt-BR" sz="968"/>
          </a:p>
          <a:p>
            <a:pPr marL="171450" lvl="0" indent="-171450">
              <a:buFont typeface="Arial" panose="020B0604020202020204" pitchFamily="34" charset="0"/>
              <a:buChar char="•"/>
            </a:pPr>
            <a:r>
              <a:rPr lang="pt-BR" sz="968" b="0"/>
              <a:t>O </a:t>
            </a:r>
            <a:r>
              <a:rPr lang="pt-BR" sz="968" b="1"/>
              <a:t>Tivio HYD60</a:t>
            </a:r>
            <a:r>
              <a:rPr lang="pt-BR" sz="968" b="0"/>
              <a:t> combina </a:t>
            </a:r>
            <a:r>
              <a:rPr lang="pt-BR" sz="968" b="1"/>
              <a:t>duas estratégias complementares de geração de alfa</a:t>
            </a:r>
            <a:r>
              <a:rPr lang="pt-BR" sz="968" b="0"/>
              <a:t>, apoiadas na ampla expertise da área de crédito da Tivio Capital.</a:t>
            </a:r>
          </a:p>
          <a:p>
            <a:pPr marL="171450" lvl="0" indent="-171450">
              <a:buFont typeface="Arial" panose="020B0604020202020204" pitchFamily="34" charset="0"/>
              <a:buChar char="•"/>
            </a:pPr>
            <a:r>
              <a:rPr lang="pt-BR" sz="968" b="0"/>
              <a:t>Equilíbrio entre </a:t>
            </a:r>
            <a:r>
              <a:rPr lang="pt-BR" sz="968" b="1"/>
              <a:t>75% em ativos líquidos e 25% em operações estruturadas</a:t>
            </a:r>
            <a:r>
              <a:rPr lang="pt-BR" sz="968" b="0"/>
              <a:t>.</a:t>
            </a:r>
          </a:p>
          <a:p>
            <a:endParaRPr lang="pt-BR" sz="968"/>
          </a:p>
          <a:p>
            <a:r>
              <a:rPr lang="pt-BR" sz="968" b="1"/>
              <a:t>Visão de Mercado | Setembro</a:t>
            </a:r>
          </a:p>
          <a:p>
            <a:endParaRPr lang="pt-BR" sz="968"/>
          </a:p>
          <a:p>
            <a:pPr lvl="0"/>
            <a:r>
              <a:rPr lang="pt-BR" sz="968" b="0"/>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endParaRPr lang="pt-BR" sz="968"/>
          </a:p>
          <a:p>
            <a:endParaRPr lang="pt-BR" sz="968"/>
          </a:p>
          <a:p>
            <a:pPr lvl="0"/>
            <a:r>
              <a:rPr lang="pt-BR" sz="968" b="0"/>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endParaRPr lang="pt-BR" sz="968"/>
          </a:p>
          <a:p>
            <a:endParaRPr lang="pt-BR" sz="968"/>
          </a:p>
          <a:p>
            <a:pPr lvl="0"/>
            <a:r>
              <a:rPr lang="pt-BR" sz="968" b="0"/>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endParaRPr lang="pt-BR" sz="968"/>
          </a:p>
          <a:p>
            <a:endParaRPr lang="pt-BR" sz="968"/>
          </a:p>
          <a:p>
            <a:pPr lvl="0"/>
            <a:r>
              <a:rPr lang="pt-BR" sz="968" b="0"/>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endParaRPr lang="pt-BR" sz="968"/>
          </a:p>
          <a:p>
            <a:endParaRPr lang="pt-BR" sz="968"/>
          </a:p>
          <a:p>
            <a:pPr lvl="0"/>
            <a:r>
              <a:rPr lang="pt-BR" sz="968" b="0"/>
              <a:t>Nesse cenário, o </a:t>
            </a:r>
            <a:r>
              <a:rPr lang="pt-BR" sz="968" b="1"/>
              <a:t>Tivio HYD60 apresentou rentabilidade de 1,06% no mês (98% do CDI), acumulando 8,73% (109% do CDI) desde o início.</a:t>
            </a:r>
            <a:r>
              <a:rPr lang="pt-BR" sz="968" b="0"/>
              <a:t> A carteira encerrou o mês com carrego de </a:t>
            </a:r>
            <a:r>
              <a:rPr lang="pt-BR" sz="968" b="1"/>
              <a:t>CDI + 1,16%</a:t>
            </a:r>
            <a:r>
              <a:rPr lang="pt-BR" sz="968" b="0"/>
              <a:t> e duration média de </a:t>
            </a:r>
            <a:r>
              <a:rPr lang="pt-BR" sz="968" b="1"/>
              <a:t>1,89 ano</a:t>
            </a:r>
            <a:r>
              <a:rPr lang="pt-BR" sz="968" b="0"/>
              <a:t>.</a:t>
            </a:r>
            <a:endParaRPr lang="pt-BR" sz="968"/>
          </a:p>
          <a:p>
            <a:endParaRPr lang="pt-BR" sz="968"/>
          </a:p>
          <a:p>
            <a:r>
              <a:rPr lang="pt-BR" sz="968" b="1"/>
              <a:t>Destaques da atuação da gestão em setembro</a:t>
            </a:r>
          </a:p>
          <a:p>
            <a:endParaRPr lang="pt-BR" sz="968"/>
          </a:p>
          <a:p>
            <a:pPr marL="171450" lvl="0" indent="-171450">
              <a:buFont typeface="Arial" panose="020B0604020202020204" pitchFamily="34" charset="0"/>
              <a:buChar char="•"/>
            </a:pPr>
            <a:r>
              <a:rPr lang="pt-BR" sz="968" b="0"/>
              <a:t>Na parcela de </a:t>
            </a:r>
            <a:r>
              <a:rPr lang="pt-BR" sz="968" b="1"/>
              <a:t>crédito estruturado</a:t>
            </a:r>
            <a:r>
              <a:rPr lang="pt-BR" sz="968" b="0"/>
              <a:t>, avanço na </a:t>
            </a:r>
            <a:r>
              <a:rPr lang="pt-BR" sz="968" b="1"/>
              <a:t>diversificação da carteira</a:t>
            </a:r>
            <a:r>
              <a:rPr lang="pt-BR" sz="968" b="0"/>
              <a:t>, com a inclusão de novas posições em </a:t>
            </a:r>
            <a:r>
              <a:rPr lang="pt-BR" sz="968" b="1"/>
              <a:t>FIDCs</a:t>
            </a:r>
            <a:r>
              <a:rPr lang="pt-BR" sz="968" b="0"/>
              <a:t>.</a:t>
            </a:r>
          </a:p>
          <a:p>
            <a:pPr marL="171450" lvl="0" indent="-171450">
              <a:buFont typeface="Arial" panose="020B0604020202020204" pitchFamily="34" charset="0"/>
              <a:buChar char="•"/>
            </a:pPr>
            <a:r>
              <a:rPr lang="pt-BR" sz="968" b="0"/>
              <a:t>Destaque para o investimento em um </a:t>
            </a:r>
            <a:r>
              <a:rPr lang="pt-BR" sz="968" b="1"/>
              <a:t>FIDC de antecipação de recebíveis de cartões de crédito</a:t>
            </a:r>
            <a:r>
              <a:rPr lang="pt-BR" sz="968" b="0"/>
              <a:t>, caracterizado por </a:t>
            </a:r>
            <a:r>
              <a:rPr lang="pt-BR" sz="968" b="1"/>
              <a:t>prazo médio reduzido</a:t>
            </a:r>
            <a:r>
              <a:rPr lang="pt-BR" sz="968" b="0"/>
              <a:t>, </a:t>
            </a:r>
            <a:r>
              <a:rPr lang="pt-BR" sz="968" b="1"/>
              <a:t>elevada pulverização da carteira (mais de 125 mil contratos)</a:t>
            </a:r>
            <a:r>
              <a:rPr lang="pt-BR" sz="968" b="0"/>
              <a:t> e </a:t>
            </a:r>
            <a:r>
              <a:rPr lang="pt-BR" sz="968" b="1"/>
              <a:t>baixo valor médio por operação</a:t>
            </a:r>
            <a:r>
              <a:rPr lang="pt-BR" sz="968" b="0"/>
              <a:t>.</a:t>
            </a:r>
          </a:p>
          <a:p>
            <a:pPr marL="171450" lvl="0" indent="-171450">
              <a:buFont typeface="Arial" panose="020B0604020202020204" pitchFamily="34" charset="0"/>
              <a:buChar char="•"/>
            </a:pPr>
            <a:r>
              <a:rPr lang="pt-BR" sz="968" b="0"/>
              <a:t>Os investimentos contam com </a:t>
            </a:r>
            <a:r>
              <a:rPr lang="pt-BR" sz="968" b="1"/>
              <a:t>elevados níveis de subordinação</a:t>
            </a:r>
            <a:r>
              <a:rPr lang="pt-BR" sz="968" b="0"/>
              <a:t> e </a:t>
            </a:r>
            <a:r>
              <a:rPr lang="pt-BR" sz="968" b="1"/>
              <a:t>ampla diversificação</a:t>
            </a:r>
            <a:r>
              <a:rPr lang="pt-BR" sz="968" b="0"/>
              <a:t> em diferentes teses, setores e emissores, contribuindo para a </a:t>
            </a:r>
            <a:r>
              <a:rPr lang="pt-BR" sz="968" b="1"/>
              <a:t>mitigação da concentração de risco</a:t>
            </a:r>
            <a:r>
              <a:rPr lang="pt-BR" sz="968" b="0"/>
              <a:t> e reduzindo a dependência de nomes específicos.</a:t>
            </a:r>
          </a:p>
          <a:p>
            <a:pPr marL="171450" lvl="0" indent="-171450">
              <a:buFont typeface="Arial" panose="020B0604020202020204" pitchFamily="34" charset="0"/>
              <a:buChar char="•"/>
            </a:pPr>
            <a:r>
              <a:rPr lang="pt-BR" sz="968" b="0"/>
              <a:t>Gestão segue </a:t>
            </a:r>
            <a:r>
              <a:rPr lang="pt-BR" sz="968" b="1"/>
              <a:t>acompanhando de perto a evolução dos fundamentos dos emissores</a:t>
            </a:r>
            <a:r>
              <a:rPr lang="pt-BR" sz="968" b="0"/>
              <a:t>, com atenção especial aos indicadores operacionais, à geração de caixa e à preservação de estruturas de capital adequadas.</a:t>
            </a:r>
          </a:p>
          <a:p>
            <a:pPr marL="171450" lvl="0" indent="-171450">
              <a:buFont typeface="Arial" panose="020B0604020202020204" pitchFamily="34" charset="0"/>
              <a:buChar char="•"/>
            </a:pPr>
            <a:r>
              <a:rPr lang="pt-BR" sz="968" b="0"/>
              <a:t>Ambiente técnico para o crédito segue </a:t>
            </a:r>
            <a:r>
              <a:rPr lang="pt-BR" sz="968" b="1"/>
              <a:t>favorável</a:t>
            </a:r>
            <a:r>
              <a:rPr lang="pt-BR" sz="968" b="0"/>
              <a:t>, com forte demanda pela classe, mas os </a:t>
            </a:r>
            <a:r>
              <a:rPr lang="pt-BR" sz="968" b="1"/>
              <a:t>spreads permanecem historicamente comprimidos</a:t>
            </a:r>
            <a:r>
              <a:rPr lang="pt-BR" sz="968" b="0"/>
              <a:t>.</a:t>
            </a:r>
          </a:p>
          <a:p>
            <a:pPr marL="171450" lvl="0" indent="-171450">
              <a:buFont typeface="Arial" panose="020B0604020202020204" pitchFamily="34" charset="0"/>
              <a:buChar char="•"/>
            </a:pPr>
            <a:r>
              <a:rPr lang="pt-BR" sz="968" b="1"/>
              <a:t>Disciplina na alocação</a:t>
            </a:r>
            <a:r>
              <a:rPr lang="pt-BR" sz="968" b="0"/>
              <a:t> dos recursos, priorizando operações com adequada relação entre risco e retorno.</a:t>
            </a:r>
          </a:p>
          <a:p>
            <a:pPr marL="171450" lvl="0" indent="-171450">
              <a:buFont typeface="Arial" panose="020B0604020202020204" pitchFamily="34" charset="0"/>
              <a:buChar char="•"/>
            </a:pPr>
            <a:r>
              <a:rPr lang="pt-BR" sz="968" b="1"/>
              <a:t>Preservação de flexibilidade</a:t>
            </a:r>
            <a:r>
              <a:rPr lang="pt-BR" sz="968" b="0"/>
              <a:t> para capturar oportunidades em eventuais momentos de maior volatilidade do mercado.</a:t>
            </a: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Setembro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64,6</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15,3</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20,2</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35" name="Group 34">
            <a:extLst>
              <a:ext uri="{FF2B5EF4-FFF2-40B4-BE49-F238E27FC236}">
                <a16:creationId xmlns:a16="http://schemas.microsoft.com/office/drawing/2014/main" id="{B6C2C9E6-A1EA-F281-17BD-4FAFB96622D9}"/>
              </a:ext>
            </a:extLst>
          </p:cNvPr>
          <p:cNvGrpSpPr/>
          <p:nvPr/>
        </p:nvGrpSpPr>
        <p:grpSpPr>
          <a:xfrm>
            <a:off x="441325" y="10922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4" name="Table 73"/>
          <p:cNvGraphicFramePr>
            <a:graphicFrameLocks noGrp="1"/>
          </p:cNvGraphicFramePr>
          <p:nvPr/>
        </p:nvGraphicFramePr>
        <p:xfrm>
          <a:off x="457200" y="1549400"/>
          <a:ext cx="5943600" cy="1676400"/>
        </p:xfrm>
        <a:graphic>
          <a:graphicData uri="http://schemas.openxmlformats.org/drawingml/2006/table">
            <a:tbl>
              <a:tblPr firstRow="1" bandRow="1">
                <a:tableStyleId>{5C22544A-7EE6-4342-B048-85BDC9FD1C3A}</a:tableStyleId>
              </a:tblPr>
              <a:tblGrid>
                <a:gridCol w="2133600"/>
                <a:gridCol w="1905000"/>
                <a:gridCol w="1905000"/>
              </a:tblGrid>
              <a:tr h="279400">
                <a:tc>
                  <a:txBody>
                    <a:bodyPr/>
                    <a:lstStyle/>
                    <a:p>
                      <a:pPr algn="l"/>
                      <a:r>
                        <a:rPr sz="900" b="1">
                          <a:solidFill>
                            <a:srgbClr val="000000"/>
                          </a:solidFill>
                          <a:latin typeface="Versos"/>
                        </a:rPr>
                        <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Mês</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Desde o Início</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Fundo</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1,063%</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8,73%</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1,083%</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7,98%</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Alfa</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−0,02%</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0,75%</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98%</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109%</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 +</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−0,24%</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1,21%</a:t>
                      </a:r>
                    </a:p>
                  </a:txBody>
                  <a:tcPr marL="25400" marR="25400" marT="38100" marB="38100">
                    <a:noFill/>
                    <a:lnL w="0">
                      <a:noFill/>
                    </a:lnL>
                    <a:lnR w="0">
                      <a:noFill/>
                    </a:lnR>
                    <a:lnT w="0">
                      <a:noFill/>
                    </a:lnT>
                    <a:lnB w="9525">
                      <a:solidFill>
                        <a:srgbClr val="BFBFBF"/>
                      </a:solidFill>
                    </a:lnB>
                  </a:tcPr>
                </a:tc>
              </a:tr>
            </a:tbl>
          </a:graphicData>
        </a:graphic>
      </p:graphicFrame>
      <p:grpSp>
        <p:nvGrpSpPr>
          <p:cNvPr id="35" name="Group 34">
            <a:extLst>
              <a:ext uri="{FF2B5EF4-FFF2-40B4-BE49-F238E27FC236}">
                <a16:creationId xmlns:a16="http://schemas.microsoft.com/office/drawing/2014/main" id="{B6C2C9E6-A1EA-F281-17BD-4FAFB96622D9}"/>
              </a:ext>
            </a:extLst>
          </p:cNvPr>
          <p:cNvGrpSpPr/>
          <p:nvPr/>
        </p:nvGrpSpPr>
        <p:grpSpPr>
          <a:xfrm>
            <a:off x="441325" y="38100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 Histórica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5" name="Chart 74"/>
          <p:cNvGraphicFramePr>
            <a:graphicFrameLocks noGrp="1"/>
          </p:cNvGraphicFramePr>
          <p:nvPr/>
        </p:nvGraphicFramePr>
        <p:xfrm>
          <a:off x="457200" y="4267200"/>
          <a:ext cx="5943600" cy="31750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