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0.0123</c:v>
                </c:pt>
                <c:pt idx="1">
                  <c:v>0.0248</c:v>
                </c:pt>
                <c:pt idx="2">
                  <c:v>0.0375</c:v>
                </c:pt>
                <c:pt idx="3">
                  <c:v>0.050300000000000004</c:v>
                </c:pt>
                <c:pt idx="4">
                  <c:v>0.0639</c:v>
                </c:pt>
                <c:pt idx="5">
                  <c:v>0.0759</c:v>
                </c:pt>
                <c:pt idx="6">
                  <c:v>0.0873</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latin typeface="Verso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968" b="1">
                <a:latin typeface="Versos"/>
              </a:rPr>
              <a:t>Sobre o Fundo</a:t>
            </a:r>
          </a:p>
          <a:p>
            <a:endParaRPr lang="pt-BR" sz="968"/>
          </a:p>
          <a:p>
            <a:pPr marL="171450" lvl="0" indent="-171450">
              <a:buFont typeface="Arial" panose="020B0604020202020204" pitchFamily="34" charset="0"/>
              <a:buChar char="•"/>
            </a:pPr>
            <a:r>
              <a:rPr lang="pt-BR" sz="968" b="0">
                <a:latin typeface="Versos"/>
              </a:rPr>
              <a:t>O </a:t>
            </a:r>
            <a:r>
              <a:rPr lang="pt-BR" sz="968" b="1">
                <a:latin typeface="Versos"/>
              </a:rPr>
              <a:t>Tivio HYD60</a:t>
            </a:r>
            <a:r>
              <a:rPr lang="pt-BR" sz="968" b="0">
                <a:latin typeface="Versos"/>
              </a:rPr>
              <a:t> combina </a:t>
            </a:r>
            <a:r>
              <a:rPr lang="pt-BR" sz="968" b="1">
                <a:latin typeface="Versos"/>
              </a:rPr>
              <a:t>duas estratégias complementares de geração de alfa</a:t>
            </a:r>
            <a:r>
              <a:rPr lang="pt-BR" sz="968" b="0">
                <a:latin typeface="Versos"/>
              </a:rPr>
              <a:t>, apoiadas na ampla expertise da área de crédito da Tivio Capital.</a:t>
            </a:r>
          </a:p>
          <a:p>
            <a:pPr marL="171450" lvl="0" indent="-171450">
              <a:buFont typeface="Arial" panose="020B0604020202020204" pitchFamily="34" charset="0"/>
              <a:buChar char="•"/>
            </a:pPr>
            <a:r>
              <a:rPr lang="pt-BR" sz="968" b="0">
                <a:latin typeface="Versos"/>
              </a:rPr>
              <a:t>Equilíbrio entre </a:t>
            </a:r>
            <a:r>
              <a:rPr lang="pt-BR" sz="968" b="1">
                <a:latin typeface="Versos"/>
              </a:rPr>
              <a:t>75% em ativos líquidos e 25% em operações estruturadas</a:t>
            </a:r>
            <a:r>
              <a:rPr lang="pt-BR" sz="968" b="0">
                <a:latin typeface="Versos"/>
              </a:rPr>
              <a:t>.</a:t>
            </a:r>
          </a:p>
          <a:p>
            <a:endParaRPr lang="pt-BR" sz="968"/>
          </a:p>
          <a:p>
            <a:r>
              <a:rPr lang="pt-BR" sz="968" b="1">
                <a:latin typeface="Versos"/>
              </a:rPr>
              <a:t>Visão de Mercado | Setembro</a:t>
            </a:r>
          </a:p>
          <a:p>
            <a:endParaRPr lang="pt-BR" sz="968"/>
          </a:p>
          <a:p>
            <a:pPr lvl="0"/>
            <a:r>
              <a:rPr lang="pt-BR" sz="968" b="0">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endParaRPr lang="pt-BR" sz="968"/>
          </a:p>
          <a:p>
            <a:endParaRPr lang="pt-BR" sz="968"/>
          </a:p>
          <a:p>
            <a:pPr lvl="0"/>
            <a:r>
              <a:rPr lang="pt-BR" sz="968" b="0">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endParaRPr lang="pt-BR" sz="968"/>
          </a:p>
          <a:p>
            <a:endParaRPr lang="pt-BR" sz="968"/>
          </a:p>
          <a:p>
            <a:pPr lvl="0"/>
            <a:r>
              <a:rPr lang="pt-BR" sz="968" b="0">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endParaRPr lang="pt-BR" sz="968"/>
          </a:p>
          <a:p>
            <a:endParaRPr lang="pt-BR" sz="968"/>
          </a:p>
          <a:p>
            <a:pPr lvl="0"/>
            <a:r>
              <a:rPr lang="pt-BR" sz="968" b="0">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endParaRPr lang="pt-BR" sz="968"/>
          </a:p>
          <a:p>
            <a:endParaRPr lang="pt-BR" sz="968"/>
          </a:p>
          <a:p>
            <a:pPr lvl="0"/>
            <a:r>
              <a:rPr lang="pt-BR" sz="968" b="0">
                <a:latin typeface="Versos"/>
              </a:rPr>
              <a:t>Nesse cenário, o </a:t>
            </a:r>
            <a:r>
              <a:rPr lang="pt-BR" sz="968" b="1">
                <a:latin typeface="Versos"/>
              </a:rPr>
              <a:t>Tivio HYD60 apresentou rentabilidade de 1,06% no mês (98% do CDI), acumulando 8,73% (109% do CDI) desde o início.</a:t>
            </a:r>
            <a:r>
              <a:rPr lang="pt-BR" sz="968" b="0">
                <a:latin typeface="Versos"/>
              </a:rPr>
              <a:t> A carteira encerrou o mês com carrego de </a:t>
            </a:r>
            <a:r>
              <a:rPr lang="pt-BR" sz="968" b="1">
                <a:latin typeface="Versos"/>
              </a:rPr>
              <a:t>CDI + 1,16%</a:t>
            </a:r>
            <a:r>
              <a:rPr lang="pt-BR" sz="968" b="0">
                <a:latin typeface="Versos"/>
              </a:rPr>
              <a:t> e duration média de </a:t>
            </a:r>
            <a:r>
              <a:rPr lang="pt-BR" sz="968" b="1">
                <a:latin typeface="Versos"/>
              </a:rPr>
              <a:t>1,89 ano</a:t>
            </a:r>
            <a:r>
              <a:rPr lang="pt-BR" sz="968" b="0">
                <a:latin typeface="Versos"/>
              </a:rPr>
              <a:t>.</a:t>
            </a:r>
            <a:endParaRPr lang="pt-BR" sz="968"/>
          </a:p>
          <a:p>
            <a:endParaRPr lang="pt-BR" sz="968"/>
          </a:p>
          <a:p>
            <a:r>
              <a:rPr lang="pt-BR" sz="968" b="1">
                <a:latin typeface="Versos"/>
              </a:rPr>
              <a:t>Destaques da atuação da gestão em setembro</a:t>
            </a:r>
          </a:p>
          <a:p>
            <a:endParaRPr lang="pt-BR" sz="968"/>
          </a:p>
          <a:p>
            <a:pPr marL="171450" lvl="0" indent="-171450">
              <a:buFont typeface="Arial" panose="020B0604020202020204" pitchFamily="34" charset="0"/>
              <a:buChar char="•"/>
            </a:pPr>
            <a:r>
              <a:rPr lang="pt-BR" sz="968" b="0">
                <a:latin typeface="Versos"/>
              </a:rPr>
              <a:t>Na parcela de </a:t>
            </a:r>
            <a:r>
              <a:rPr lang="pt-BR" sz="968" b="1">
                <a:latin typeface="Versos"/>
              </a:rPr>
              <a:t>crédito estruturado</a:t>
            </a:r>
            <a:r>
              <a:rPr lang="pt-BR" sz="968" b="0">
                <a:latin typeface="Versos"/>
              </a:rPr>
              <a:t>, avanço na </a:t>
            </a:r>
            <a:r>
              <a:rPr lang="pt-BR" sz="968" b="1">
                <a:latin typeface="Versos"/>
              </a:rPr>
              <a:t>diversificação da carteira</a:t>
            </a:r>
            <a:r>
              <a:rPr lang="pt-BR" sz="968" b="0">
                <a:latin typeface="Versos"/>
              </a:rPr>
              <a:t>, com a inclusão de novas posições em </a:t>
            </a:r>
            <a:r>
              <a:rPr lang="pt-BR" sz="968" b="1">
                <a:latin typeface="Versos"/>
              </a:rPr>
              <a:t>FIDCs</a:t>
            </a:r>
            <a:r>
              <a:rPr lang="pt-BR" sz="968" b="0">
                <a:latin typeface="Versos"/>
              </a:rPr>
              <a:t>.</a:t>
            </a:r>
          </a:p>
          <a:p>
            <a:pPr marL="171450" lvl="0" indent="-171450">
              <a:buFont typeface="Arial" panose="020B0604020202020204" pitchFamily="34" charset="0"/>
              <a:buChar char="•"/>
            </a:pPr>
            <a:r>
              <a:rPr lang="pt-BR" sz="968" b="0">
                <a:latin typeface="Versos"/>
              </a:rPr>
              <a:t>Destaque para o investimento em um </a:t>
            </a:r>
            <a:r>
              <a:rPr lang="pt-BR" sz="968" b="1">
                <a:latin typeface="Versos"/>
              </a:rPr>
              <a:t>FIDC de antecipação de recebíveis de cartões de crédito</a:t>
            </a:r>
            <a:r>
              <a:rPr lang="pt-BR" sz="968" b="0">
                <a:latin typeface="Versos"/>
              </a:rPr>
              <a:t>, caracterizado por </a:t>
            </a:r>
            <a:r>
              <a:rPr lang="pt-BR" sz="968" b="1">
                <a:latin typeface="Versos"/>
              </a:rPr>
              <a:t>prazo médio reduzido</a:t>
            </a:r>
            <a:r>
              <a:rPr lang="pt-BR" sz="968" b="0">
                <a:latin typeface="Versos"/>
              </a:rPr>
              <a:t>, </a:t>
            </a:r>
            <a:r>
              <a:rPr lang="pt-BR" sz="968" b="1">
                <a:latin typeface="Versos"/>
              </a:rPr>
              <a:t>elevada pulverização da carteira (mais de 125 mil contratos)</a:t>
            </a:r>
            <a:r>
              <a:rPr lang="pt-BR" sz="968" b="0">
                <a:latin typeface="Versos"/>
              </a:rPr>
              <a:t> e </a:t>
            </a:r>
            <a:r>
              <a:rPr lang="pt-BR" sz="968" b="1">
                <a:latin typeface="Versos"/>
              </a:rPr>
              <a:t>baixo valor médio por operação</a:t>
            </a:r>
            <a:r>
              <a:rPr lang="pt-BR" sz="968" b="0">
                <a:latin typeface="Versos"/>
              </a:rPr>
              <a:t>.</a:t>
            </a:r>
          </a:p>
          <a:p>
            <a:pPr marL="171450" lvl="0" indent="-171450">
              <a:buFont typeface="Arial" panose="020B0604020202020204" pitchFamily="34" charset="0"/>
              <a:buChar char="•"/>
            </a:pPr>
            <a:r>
              <a:rPr lang="pt-BR" sz="968" b="0">
                <a:latin typeface="Versos"/>
              </a:rPr>
              <a:t>Os investimentos contam com </a:t>
            </a:r>
            <a:r>
              <a:rPr lang="pt-BR" sz="968" b="1">
                <a:latin typeface="Versos"/>
              </a:rPr>
              <a:t>elevados níveis de subordinação</a:t>
            </a:r>
            <a:r>
              <a:rPr lang="pt-BR" sz="968" b="0">
                <a:latin typeface="Versos"/>
              </a:rPr>
              <a:t> e </a:t>
            </a:r>
            <a:r>
              <a:rPr lang="pt-BR" sz="968" b="1">
                <a:latin typeface="Versos"/>
              </a:rPr>
              <a:t>ampla diversificação</a:t>
            </a:r>
            <a:r>
              <a:rPr lang="pt-BR" sz="968" b="0">
                <a:latin typeface="Versos"/>
              </a:rPr>
              <a:t> em diferentes teses, setores e emissores, contribuindo para a </a:t>
            </a:r>
            <a:r>
              <a:rPr lang="pt-BR" sz="968" b="1">
                <a:latin typeface="Versos"/>
              </a:rPr>
              <a:t>mitigação da concentração de risco</a:t>
            </a:r>
            <a:r>
              <a:rPr lang="pt-BR" sz="968" b="0">
                <a:latin typeface="Versos"/>
              </a:rPr>
              <a:t> e reduzindo a dependência de nomes específicos.</a:t>
            </a:r>
          </a:p>
          <a:p>
            <a:pPr marL="171450" lvl="0" indent="-171450">
              <a:buFont typeface="Arial" panose="020B0604020202020204" pitchFamily="34" charset="0"/>
              <a:buChar char="•"/>
            </a:pPr>
            <a:r>
              <a:rPr lang="pt-BR" sz="968" b="0">
                <a:latin typeface="Versos"/>
              </a:rPr>
              <a:t>Gestão segue </a:t>
            </a:r>
            <a:r>
              <a:rPr lang="pt-BR" sz="968" b="1">
                <a:latin typeface="Versos"/>
              </a:rPr>
              <a:t>acompanhando de perto a evolução dos fundamentos dos emissores</a:t>
            </a:r>
            <a:r>
              <a:rPr lang="pt-BR" sz="968" b="0">
                <a:latin typeface="Versos"/>
              </a:rPr>
              <a:t>, com atenção especial aos indicadores operacionais, à geração de caixa e à preservação de estruturas de capital adequadas.</a:t>
            </a:r>
          </a:p>
          <a:p>
            <a:pPr marL="171450" lvl="0" indent="-171450">
              <a:buFont typeface="Arial" panose="020B0604020202020204" pitchFamily="34" charset="0"/>
              <a:buChar char="•"/>
            </a:pPr>
            <a:r>
              <a:rPr lang="pt-BR" sz="968" b="0">
                <a:latin typeface="Versos"/>
              </a:rPr>
              <a:t>Ambiente técnico para o crédito segue </a:t>
            </a:r>
            <a:r>
              <a:rPr lang="pt-BR" sz="968" b="1">
                <a:latin typeface="Versos"/>
              </a:rPr>
              <a:t>favorável</a:t>
            </a:r>
            <a:r>
              <a:rPr lang="pt-BR" sz="968" b="0">
                <a:latin typeface="Versos"/>
              </a:rPr>
              <a:t>, com forte demanda pela classe, mas os </a:t>
            </a:r>
            <a:r>
              <a:rPr lang="pt-BR" sz="968" b="1">
                <a:latin typeface="Versos"/>
              </a:rPr>
              <a:t>spreads permanecem historicamente comprimidos</a:t>
            </a:r>
            <a:r>
              <a:rPr lang="pt-BR" sz="968" b="0">
                <a:latin typeface="Versos"/>
              </a:rPr>
              <a:t>.</a:t>
            </a:r>
          </a:p>
          <a:p>
            <a:pPr marL="171450" lvl="0" indent="-171450">
              <a:buFont typeface="Arial" panose="020B0604020202020204" pitchFamily="34" charset="0"/>
              <a:buChar char="•"/>
            </a:pPr>
            <a:r>
              <a:rPr lang="pt-BR" sz="968" b="1">
                <a:latin typeface="Versos"/>
              </a:rPr>
              <a:t>Disciplina na alocação</a:t>
            </a:r>
            <a:r>
              <a:rPr lang="pt-BR" sz="968" b="0">
                <a:latin typeface="Versos"/>
              </a:rPr>
              <a:t> dos recursos, priorizando operações com adequada relação entre risco e retorno.</a:t>
            </a:r>
          </a:p>
          <a:p>
            <a:pPr marL="171450" lvl="0" indent="-171450">
              <a:buFont typeface="Arial" panose="020B0604020202020204" pitchFamily="34" charset="0"/>
              <a:buChar char="•"/>
            </a:pPr>
            <a:r>
              <a:rPr lang="pt-BR" sz="968" b="1">
                <a:latin typeface="Versos"/>
              </a:rPr>
              <a:t>Preservação de flexibilidade</a:t>
            </a:r>
            <a:r>
              <a:rPr lang="pt-BR" sz="968" b="0">
                <a:latin typeface="Versos"/>
              </a:rPr>
              <a:t> para capturar oportunidades em eventuais momentos de maior volatilidade do mercado.</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1,063%</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8,73%</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1,083%</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−0,02%</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0,75%</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98%</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−0,24%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1,21%</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