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embeddedFontLst>
    <p:embeddedFont>
      <p:font typeface="Versos" panose="020B0503020204030204" pitchFamily="34" charset="0"/>
      <p:regular r:id="rId14"/>
      <p:bold r:id="rId15"/>
    </p:embeddedFont>
    <p:embeddedFont>
      <p:font typeface="Versos Light" panose="020B0303020204030204" pitchFamily="34" charset="0"/>
      <p:regular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font" Target="fonts/font2.fntdata"/><Relationship Id="rId10" Type="http://schemas.openxmlformats.org/officeDocument/2006/relationships/slide" Target="slides/slide4.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font" Target="fonts/font1.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Caixa</c:v>
                </c:pt>
                <c:pt idx="1">
                  <c:v>FIDC</c:v>
                </c:pt>
                <c:pt idx="2">
                  <c:v>Bancário</c:v>
                </c:pt>
                <c:pt idx="3">
                  <c:v>Corporativo</c:v>
                </c:pt>
              </c:strCache>
            </c:strRef>
          </c:cat>
          <c:val>
            <c:numRef>
              <c:f>Sheet1!$B$2:$B$5</c:f>
              <c:numCache>
                <c:formatCode>0.0%</c:formatCode>
                <c:ptCount val="4"/>
                <c:pt idx="0">
                  <c:v>0.28350000000000003</c:v>
                </c:pt>
                <c:pt idx="1">
                  <c:v>7.22E-2</c:v>
                </c:pt>
                <c:pt idx="2">
                  <c:v>0.36119999999999997</c:v>
                </c:pt>
                <c:pt idx="3">
                  <c:v>0.28309999999999996</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c:v>
                </c:pt>
                <c:pt idx="3">
                  <c:v>AA-</c:v>
                </c:pt>
                <c:pt idx="4">
                  <c:v>AA</c:v>
                </c:pt>
                <c:pt idx="5">
                  <c:v>A+</c:v>
                </c:pt>
                <c:pt idx="6">
                  <c:v>BB</c:v>
                </c:pt>
              </c:strCache>
            </c:strRef>
          </c:cat>
          <c:val>
            <c:numRef>
              <c:f>Sheet1!$B$2:$B$8</c:f>
              <c:numCache>
                <c:formatCode>0.00%</c:formatCode>
                <c:ptCount val="7"/>
                <c:pt idx="0">
                  <c:v>0.365452</c:v>
                </c:pt>
                <c:pt idx="1">
                  <c:v>0.101691</c:v>
                </c:pt>
                <c:pt idx="2">
                  <c:v>5.6292999999999996E-2</c:v>
                </c:pt>
                <c:pt idx="3">
                  <c:v>4.7176000000000003E-2</c:v>
                </c:pt>
                <c:pt idx="4">
                  <c:v>4.0136000000000005E-2</c:v>
                </c:pt>
                <c:pt idx="5">
                  <c:v>3.4393E-2</c:v>
                </c:pt>
                <c:pt idx="6">
                  <c:v>8.0450000000000001E-3</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3.xml"/><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8.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sv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15.xml"/><Relationship Id="rId6" Type="http://schemas.openxmlformats.org/officeDocument/2006/relationships/image" Target="../media/image11.png"/><Relationship Id="rId5" Type="http://schemas.openxmlformats.org/officeDocument/2006/relationships/image" Target="../media/image6.sv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1.xml"/><Relationship Id="rId16" Type="http://schemas.openxmlformats.org/officeDocument/2006/relationships/image" Target="../media/image24.png"/><Relationship Id="rId1" Type="http://schemas.openxmlformats.org/officeDocument/2006/relationships/slideLayout" Target="../slideLayouts/slideLayout18.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svg"/><Relationship Id="rId15" Type="http://schemas.microsoft.com/office/2007/relationships/hdphoto" Target="../media/hdphoto2.wdp"/><Relationship Id="rId10" Type="http://schemas.openxmlformats.org/officeDocument/2006/relationships/image" Target="../media/image19.png"/><Relationship Id="rId4" Type="http://schemas.openxmlformats.org/officeDocument/2006/relationships/hyperlink" Target="../../../07_Cr&#233;dito%20Estruturado%20-%20Julho%202025/tivio.com/fundos" TargetMode="External"/><Relationship Id="rId9" Type="http://schemas.openxmlformats.org/officeDocument/2006/relationships/image" Target="../media/image18.png"/><Relationship Id="rId1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056" b="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056">
                <a:latin typeface="Versos" panose="020B0503020204030204" pitchFamily="34" charset="0"/>
              </a:rPr>
              <a:t> </a:t>
            </a:r>
          </a:p>
          <a:p>
            <a:pPr lvl="0" algn="just"/>
            <a:r>
              <a:rPr lang="pt-BR" sz="1056" b="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056">
                <a:latin typeface="Versos" panose="020B0503020204030204" pitchFamily="34" charset="0"/>
              </a:rPr>
              <a:t> </a:t>
            </a:r>
          </a:p>
          <a:p>
            <a:pPr lvl="0" algn="just"/>
            <a:r>
              <a:rPr lang="pt-BR" sz="1056" b="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056">
                <a:latin typeface="Versos" panose="020B0503020204030204" pitchFamily="34" charset="0"/>
              </a:rPr>
              <a:t> </a:t>
            </a:r>
          </a:p>
          <a:p>
            <a:pPr lvl="0" algn="just"/>
            <a:r>
              <a:rPr lang="pt-BR" sz="1056" b="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056">
                <a:latin typeface="Versos" panose="020B0503020204030204" pitchFamily="34" charset="0"/>
              </a:rPr>
              <a:t> </a:t>
            </a:r>
          </a:p>
          <a:p>
            <a:pPr lvl="0" algn="just"/>
            <a:r>
              <a:rPr lang="pt-BR" sz="1056" b="0">
                <a:latin typeface="Versos" panose="020B0503020204030204" pitchFamily="34" charset="0"/>
              </a:rPr>
              <a:t>Nesse cenário, o </a:t>
            </a:r>
            <a:r>
              <a:rPr lang="pt-BR" sz="1056" b="1">
                <a:latin typeface="Versos" panose="020B0503020204030204" pitchFamily="34" charset="0"/>
              </a:rPr>
              <a:t>Tivio HGD30 apresentou rentabilidade de 1,09% no mês (100% do CDI), acumulando 14,66% (101% do CDI) em 12 meses.</a:t>
            </a:r>
          </a:p>
          <a:p>
            <a:pPr lvl="0" algn="just"/>
            <a:r>
              <a:rPr lang="pt-BR" sz="1056">
                <a:latin typeface="Versos" panose="020B0503020204030204" pitchFamily="34" charset="0"/>
              </a:rPr>
              <a:t> </a:t>
            </a:r>
          </a:p>
          <a:p>
            <a:pPr lvl="0" algn="just"/>
            <a:r>
              <a:rPr lang="pt-BR" sz="1056" b="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LFs perpétuas.</a:t>
            </a:r>
          </a:p>
          <a:p>
            <a:pPr lvl="0" algn="just"/>
            <a:r>
              <a:rPr lang="pt-BR" sz="1056">
                <a:latin typeface="Versos" panose="020B0503020204030204" pitchFamily="34" charset="0"/>
              </a:rPr>
              <a:t> </a:t>
            </a:r>
          </a:p>
          <a:p>
            <a:pPr lvl="0" algn="just"/>
            <a:r>
              <a:rPr lang="pt-BR" sz="1056" b="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30/09/2026</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28,4</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908</Words>
  <Application>Microsoft Office PowerPoint</Application>
  <PresentationFormat>A4 Paper (210x297 mm)</PresentationFormat>
  <Paragraphs>95</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Versos</vt:lpstr>
      <vt:lpstr>Calibri</vt:lpstr>
      <vt:lpstr>Aptos Display</vt:lpstr>
      <vt:lpstr>Arial</vt:lpstr>
      <vt:lpstr>Aptos</vt:lpstr>
      <vt:lpstr>Versos-Light</vt:lpstr>
      <vt:lpstr>Versos Light</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2</cp:revision>
  <dcterms:created xsi:type="dcterms:W3CDTF">2025-11-13T14:17:54Z</dcterms:created>
  <dcterms:modified xsi:type="dcterms:W3CDTF">2026-10-06T17:40:52Z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