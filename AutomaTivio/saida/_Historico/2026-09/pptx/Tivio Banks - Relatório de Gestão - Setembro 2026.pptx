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51200"/>
          </a:xfrm>
          <a:prstGeom prst="rect">
            <a:avLst/>
          </a:prstGeom>
          <a:noFill/>
        </p:spPr>
        <p:txBody>
          <a:bodyPr wrap="none" lIns="0" rIns="0" tIns="0" bIns="0" anchor="t"/>
          <a:lstStyle/>
          <a:p>
            <a:pPr algn="l">
              <a:lnSpc>
                <a:spcPts val="1214"/>
              </a:lnSpc>
            </a:pPr>
            <a:r>
              <a:rPr sz="1012" b="0" i="0">
                <a:solidFill>
                  <a:srgbClr val="FFFFFF"/>
                </a:solidFill>
                <a:latin typeface="Versos"/>
              </a:rPr>
              <a:t>TIVIO BANKS RENDA FIXA CRÉDITO PRIVADO FIF – RL </a:t>
            </a:r>
            <a:r>
              <a:rPr sz="829" b="0" i="0">
                <a:solidFill>
                  <a:srgbClr val="FFFFFF"/>
                </a:solidFill>
                <a:latin typeface="Versos"/>
              </a:rPr>
              <a:t>/ CNPJ 10.347.493/0001-94</a:t>
            </a:r>
          </a:p>
        </p:txBody>
      </p:sp>
      <p:sp>
        <p:nvSpPr>
          <p:cNvPr id="4" name="TextBox 3"/>
          <p:cNvSpPr txBox="1"/>
          <p:nvPr/>
        </p:nvSpPr>
        <p:spPr>
          <a:xfrm>
            <a:off x="400680" y="11264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 (Bancário e Corporativo). Ele busca superar a variação do CDI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1,08%</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10,54%</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14,53%</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30,06%</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45,38%</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450,56%</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1,08%</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10,51%</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14,48%</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29,81%</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44,25%</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414,43%</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0,00%</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0,03%</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0,05%</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0,25%</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1,13%</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36,14%</a:t>
            </a:r>
          </a:p>
        </p:txBody>
      </p:sp>
      <p:sp>
        <p:nvSpPr>
          <p:cNvPr id="34" name="TextBox 33"/>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5" name="TextBox 34"/>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100,04%</a:t>
            </a:r>
          </a:p>
        </p:txBody>
      </p:sp>
      <p:sp>
        <p:nvSpPr>
          <p:cNvPr id="36" name="TextBox 35"/>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100,28%</a:t>
            </a:r>
          </a:p>
        </p:txBody>
      </p:sp>
      <p:sp>
        <p:nvSpPr>
          <p:cNvPr id="37" name="TextBox 36"/>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100,35%</a:t>
            </a:r>
          </a:p>
        </p:txBody>
      </p:sp>
      <p:sp>
        <p:nvSpPr>
          <p:cNvPr id="38" name="TextBox 37"/>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100,85%</a:t>
            </a:r>
          </a:p>
        </p:txBody>
      </p:sp>
      <p:sp>
        <p:nvSpPr>
          <p:cNvPr id="39" name="TextBox 38"/>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102,56%</a:t>
            </a:r>
          </a:p>
        </p:txBody>
      </p:sp>
      <p:sp>
        <p:nvSpPr>
          <p:cNvPr id="40" name="TextBox 39"/>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108,72%</a:t>
            </a:r>
          </a:p>
        </p:txBody>
      </p:sp>
      <p:sp>
        <p:nvSpPr>
          <p:cNvPr id="41" name="TextBox 40"/>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30/09/2026</a:t>
            </a:r>
          </a:p>
        </p:txBody>
      </p:sp>
      <p:sp>
        <p:nvSpPr>
          <p:cNvPr id="42" name="TextBox 41"/>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3" name="TextBox 42"/>
          <p:cNvSpPr txBox="1"/>
          <p:nvPr/>
        </p:nvSpPr>
        <p:spPr>
          <a:xfrm>
            <a:off x="400680" y="564802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XP</a:t>
            </a:r>
          </a:p>
        </p:txBody>
      </p:sp>
      <p:sp>
        <p:nvSpPr>
          <p:cNvPr id="44" name="TextBox 43"/>
          <p:cNvSpPr txBox="1"/>
          <p:nvPr/>
        </p:nvSpPr>
        <p:spPr>
          <a:xfrm>
            <a:off x="2831928" y="5646138"/>
            <a:ext cx="379606" cy="143640"/>
          </a:xfrm>
          <a:prstGeom prst="rect">
            <a:avLst/>
          </a:prstGeom>
          <a:noFill/>
        </p:spPr>
        <p:txBody>
          <a:bodyPr wrap="none" lIns="0" rIns="0" tIns="0" bIns="0" anchor="t"/>
          <a:lstStyle/>
          <a:p>
            <a:pPr algn="l">
              <a:lnSpc>
                <a:spcPts val="1107"/>
              </a:lnSpc>
            </a:pPr>
            <a:r>
              <a:rPr sz="922" b="0" i="0">
                <a:solidFill>
                  <a:srgbClr val="5A82A0"/>
                </a:solidFill>
                <a:latin typeface="Versos"/>
              </a:rPr>
              <a:t>6,26%</a:t>
            </a:r>
          </a:p>
        </p:txBody>
      </p:sp>
      <p:sp>
        <p:nvSpPr>
          <p:cNvPr id="45" name="TextBox 44"/>
          <p:cNvSpPr txBox="1"/>
          <p:nvPr/>
        </p:nvSpPr>
        <p:spPr>
          <a:xfrm>
            <a:off x="400680" y="613186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ABC</a:t>
            </a:r>
          </a:p>
        </p:txBody>
      </p:sp>
      <p:sp>
        <p:nvSpPr>
          <p:cNvPr id="46" name="TextBox 45"/>
          <p:cNvSpPr txBox="1"/>
          <p:nvPr/>
        </p:nvSpPr>
        <p:spPr>
          <a:xfrm>
            <a:off x="2745106" y="6129978"/>
            <a:ext cx="380466" cy="143640"/>
          </a:xfrm>
          <a:prstGeom prst="rect">
            <a:avLst/>
          </a:prstGeom>
          <a:noFill/>
        </p:spPr>
        <p:txBody>
          <a:bodyPr wrap="none" lIns="0" rIns="0" tIns="0" bIns="0" anchor="t"/>
          <a:lstStyle/>
          <a:p>
            <a:pPr algn="l">
              <a:lnSpc>
                <a:spcPts val="1107"/>
              </a:lnSpc>
            </a:pPr>
            <a:r>
              <a:rPr sz="922" b="0" i="0">
                <a:solidFill>
                  <a:srgbClr val="5A82A0"/>
                </a:solidFill>
                <a:latin typeface="Versos"/>
              </a:rPr>
              <a:t>5,93%</a:t>
            </a:r>
          </a:p>
        </p:txBody>
      </p:sp>
      <p:sp>
        <p:nvSpPr>
          <p:cNvPr id="47" name="TextBox 46"/>
          <p:cNvSpPr txBox="1"/>
          <p:nvPr/>
        </p:nvSpPr>
        <p:spPr>
          <a:xfrm>
            <a:off x="400680" y="661570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BTG</a:t>
            </a:r>
          </a:p>
        </p:txBody>
      </p:sp>
      <p:sp>
        <p:nvSpPr>
          <p:cNvPr id="48" name="TextBox 47"/>
          <p:cNvSpPr txBox="1"/>
          <p:nvPr/>
        </p:nvSpPr>
        <p:spPr>
          <a:xfrm>
            <a:off x="2724316" y="6613818"/>
            <a:ext cx="378746" cy="143640"/>
          </a:xfrm>
          <a:prstGeom prst="rect">
            <a:avLst/>
          </a:prstGeom>
          <a:noFill/>
        </p:spPr>
        <p:txBody>
          <a:bodyPr wrap="none" lIns="0" rIns="0" tIns="0" bIns="0" anchor="t"/>
          <a:lstStyle/>
          <a:p>
            <a:pPr algn="l">
              <a:lnSpc>
                <a:spcPts val="1107"/>
              </a:lnSpc>
            </a:pPr>
            <a:r>
              <a:rPr sz="922" b="0" i="0">
                <a:solidFill>
                  <a:srgbClr val="5A82A0"/>
                </a:solidFill>
                <a:latin typeface="Versos"/>
              </a:rPr>
              <a:t>5,85%</a:t>
            </a:r>
          </a:p>
        </p:txBody>
      </p:sp>
      <p:sp>
        <p:nvSpPr>
          <p:cNvPr id="49" name="TextBox 48"/>
          <p:cNvSpPr txBox="1"/>
          <p:nvPr/>
        </p:nvSpPr>
        <p:spPr>
          <a:xfrm>
            <a:off x="400680" y="709954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NUBANK</a:t>
            </a:r>
          </a:p>
        </p:txBody>
      </p:sp>
      <p:sp>
        <p:nvSpPr>
          <p:cNvPr id="50" name="TextBox 49"/>
          <p:cNvSpPr txBox="1"/>
          <p:nvPr/>
        </p:nvSpPr>
        <p:spPr>
          <a:xfrm>
            <a:off x="2639503" y="7097658"/>
            <a:ext cx="379852" cy="143640"/>
          </a:xfrm>
          <a:prstGeom prst="rect">
            <a:avLst/>
          </a:prstGeom>
          <a:noFill/>
        </p:spPr>
        <p:txBody>
          <a:bodyPr wrap="none" lIns="0" rIns="0" tIns="0" bIns="0" anchor="t"/>
          <a:lstStyle/>
          <a:p>
            <a:pPr algn="l">
              <a:lnSpc>
                <a:spcPts val="1107"/>
              </a:lnSpc>
            </a:pPr>
            <a:r>
              <a:rPr sz="922" b="0" i="0">
                <a:solidFill>
                  <a:srgbClr val="5A82A0"/>
                </a:solidFill>
                <a:latin typeface="Versos"/>
              </a:rPr>
              <a:t>5,53%</a:t>
            </a:r>
          </a:p>
        </p:txBody>
      </p:sp>
      <p:sp>
        <p:nvSpPr>
          <p:cNvPr id="51" name="TextBox 50"/>
          <p:cNvSpPr txBox="1"/>
          <p:nvPr/>
        </p:nvSpPr>
        <p:spPr>
          <a:xfrm>
            <a:off x="400680" y="758338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BRADESCO</a:t>
            </a:r>
          </a:p>
        </p:txBody>
      </p:sp>
      <p:sp>
        <p:nvSpPr>
          <p:cNvPr id="52" name="TextBox 51"/>
          <p:cNvSpPr txBox="1"/>
          <p:nvPr/>
        </p:nvSpPr>
        <p:spPr>
          <a:xfrm>
            <a:off x="2549610" y="7581498"/>
            <a:ext cx="344102" cy="143640"/>
          </a:xfrm>
          <a:prstGeom prst="rect">
            <a:avLst/>
          </a:prstGeom>
          <a:noFill/>
        </p:spPr>
        <p:txBody>
          <a:bodyPr wrap="none" lIns="0" rIns="0" tIns="0" bIns="0" anchor="t"/>
          <a:lstStyle/>
          <a:p>
            <a:pPr algn="l">
              <a:lnSpc>
                <a:spcPts val="1107"/>
              </a:lnSpc>
            </a:pPr>
            <a:r>
              <a:rPr sz="922" b="0" i="0">
                <a:solidFill>
                  <a:srgbClr val="5A82A0"/>
                </a:solidFill>
                <a:latin typeface="Versos"/>
              </a:rPr>
              <a:t>5,18%</a:t>
            </a:r>
          </a:p>
        </p:txBody>
      </p:sp>
      <p:sp>
        <p:nvSpPr>
          <p:cNvPr id="53" name="TextBox 52"/>
          <p:cNvSpPr txBox="1"/>
          <p:nvPr/>
        </p:nvSpPr>
        <p:spPr>
          <a:xfrm>
            <a:off x="400680" y="8234493"/>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4" name="TextBox 53"/>
          <p:cNvSpPr txBox="1"/>
          <p:nvPr/>
        </p:nvSpPr>
        <p:spPr>
          <a:xfrm>
            <a:off x="400680" y="865253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5" name="TextBox 54"/>
          <p:cNvSpPr txBox="1"/>
          <p:nvPr/>
        </p:nvSpPr>
        <p:spPr>
          <a:xfrm>
            <a:off x="2960448" y="8650648"/>
            <a:ext cx="437100" cy="143640"/>
          </a:xfrm>
          <a:prstGeom prst="rect">
            <a:avLst/>
          </a:prstGeom>
          <a:noFill/>
        </p:spPr>
        <p:txBody>
          <a:bodyPr wrap="none" lIns="0" rIns="0" tIns="0" bIns="0" anchor="t"/>
          <a:lstStyle/>
          <a:p>
            <a:pPr algn="l">
              <a:lnSpc>
                <a:spcPts val="1142"/>
              </a:lnSpc>
            </a:pPr>
            <a:r>
              <a:rPr sz="952" b="0" i="0">
                <a:solidFill>
                  <a:srgbClr val="111111"/>
                </a:solidFill>
                <a:latin typeface="Versos"/>
              </a:rPr>
              <a:t>51,63%</a:t>
            </a:r>
          </a:p>
        </p:txBody>
      </p:sp>
      <p:sp>
        <p:nvSpPr>
          <p:cNvPr id="56" name="TextBox 55"/>
          <p:cNvSpPr txBox="1"/>
          <p:nvPr/>
        </p:nvSpPr>
        <p:spPr>
          <a:xfrm>
            <a:off x="400680" y="894525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7" name="TextBox 56"/>
          <p:cNvSpPr txBox="1"/>
          <p:nvPr/>
        </p:nvSpPr>
        <p:spPr>
          <a:xfrm>
            <a:off x="1560903" y="8943361"/>
            <a:ext cx="436240" cy="143640"/>
          </a:xfrm>
          <a:prstGeom prst="rect">
            <a:avLst/>
          </a:prstGeom>
          <a:noFill/>
        </p:spPr>
        <p:txBody>
          <a:bodyPr wrap="none" lIns="0" rIns="0" tIns="0" bIns="0" anchor="t"/>
          <a:lstStyle/>
          <a:p>
            <a:pPr algn="l">
              <a:lnSpc>
                <a:spcPts val="1142"/>
              </a:lnSpc>
            </a:pPr>
            <a:r>
              <a:rPr sz="952" b="0" i="0">
                <a:solidFill>
                  <a:srgbClr val="111111"/>
                </a:solidFill>
                <a:latin typeface="Versos"/>
              </a:rPr>
              <a:t>13,94%</a:t>
            </a:r>
          </a:p>
        </p:txBody>
      </p:sp>
      <p:sp>
        <p:nvSpPr>
          <p:cNvPr id="58" name="TextBox 57"/>
          <p:cNvSpPr txBox="1"/>
          <p:nvPr/>
        </p:nvSpPr>
        <p:spPr>
          <a:xfrm>
            <a:off x="400680" y="9237965"/>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9" name="TextBox 58"/>
          <p:cNvSpPr txBox="1"/>
          <p:nvPr/>
        </p:nvSpPr>
        <p:spPr>
          <a:xfrm>
            <a:off x="1169319" y="9236075"/>
            <a:ext cx="396191" cy="143640"/>
          </a:xfrm>
          <a:prstGeom prst="rect">
            <a:avLst/>
          </a:prstGeom>
          <a:noFill/>
        </p:spPr>
        <p:txBody>
          <a:bodyPr wrap="none" lIns="0" rIns="0" tIns="0" bIns="0" anchor="t"/>
          <a:lstStyle/>
          <a:p>
            <a:pPr algn="l">
              <a:lnSpc>
                <a:spcPts val="1142"/>
              </a:lnSpc>
            </a:pPr>
            <a:r>
              <a:rPr sz="952" b="0" i="0">
                <a:solidFill>
                  <a:srgbClr val="111111"/>
                </a:solidFill>
                <a:latin typeface="Versos"/>
              </a:rPr>
              <a:t>3,39%</a:t>
            </a:r>
          </a:p>
        </p:txBody>
      </p:sp>
      <p:sp>
        <p:nvSpPr>
          <p:cNvPr id="60" name="TextBox 59"/>
          <p:cNvSpPr txBox="1"/>
          <p:nvPr/>
        </p:nvSpPr>
        <p:spPr>
          <a:xfrm>
            <a:off x="400680" y="9530679"/>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1" name="TextBox 60"/>
          <p:cNvSpPr txBox="1"/>
          <p:nvPr/>
        </p:nvSpPr>
        <p:spPr>
          <a:xfrm>
            <a:off x="1118525" y="9528789"/>
            <a:ext cx="394717" cy="143640"/>
          </a:xfrm>
          <a:prstGeom prst="rect">
            <a:avLst/>
          </a:prstGeom>
          <a:noFill/>
        </p:spPr>
        <p:txBody>
          <a:bodyPr wrap="none" lIns="0" rIns="0" tIns="0" bIns="0" anchor="t"/>
          <a:lstStyle/>
          <a:p>
            <a:pPr algn="l">
              <a:lnSpc>
                <a:spcPts val="1142"/>
              </a:lnSpc>
            </a:pPr>
            <a:r>
              <a:rPr sz="952" b="0" i="0">
                <a:solidFill>
                  <a:srgbClr val="111111"/>
                </a:solidFill>
                <a:latin typeface="Versos"/>
              </a:rPr>
              <a:t>2,03%</a:t>
            </a:r>
          </a:p>
        </p:txBody>
      </p:sp>
      <p:sp>
        <p:nvSpPr>
          <p:cNvPr id="62" name="TextBox 61"/>
          <p:cNvSpPr txBox="1"/>
          <p:nvPr/>
        </p:nvSpPr>
        <p:spPr>
          <a:xfrm>
            <a:off x="400680" y="982339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3" name="TextBox 62"/>
          <p:cNvSpPr txBox="1"/>
          <p:nvPr/>
        </p:nvSpPr>
        <p:spPr>
          <a:xfrm>
            <a:off x="1110611" y="9821503"/>
            <a:ext cx="326412" cy="143640"/>
          </a:xfrm>
          <a:prstGeom prst="rect">
            <a:avLst/>
          </a:prstGeom>
          <a:noFill/>
        </p:spPr>
        <p:txBody>
          <a:bodyPr wrap="none" lIns="0" rIns="0" tIns="0" bIns="0" anchor="t"/>
          <a:lstStyle/>
          <a:p>
            <a:pPr algn="l">
              <a:lnSpc>
                <a:spcPts val="1142"/>
              </a:lnSpc>
            </a:pPr>
            <a:r>
              <a:rPr sz="952" b="0" i="0">
                <a:solidFill>
                  <a:srgbClr val="111111"/>
                </a:solidFill>
                <a:latin typeface="Versos"/>
              </a:rPr>
              <a:t>1,81%</a:t>
            </a:r>
          </a:p>
        </p:txBody>
      </p:sp>
      <p:sp>
        <p:nvSpPr>
          <p:cNvPr id="64" name="TextBox 63"/>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5" name="TextBox 64"/>
          <p:cNvSpPr txBox="1"/>
          <p:nvPr/>
        </p:nvSpPr>
        <p:spPr>
          <a:xfrm>
            <a:off x="3802680" y="6542825"/>
            <a:ext cx="1603929" cy="143640"/>
          </a:xfrm>
          <a:prstGeom prst="rect">
            <a:avLst/>
          </a:prstGeom>
          <a:noFill/>
        </p:spPr>
        <p:txBody>
          <a:bodyPr wrap="none" lIns="0" rIns="0" tIns="0" bIns="0" anchor="t"/>
          <a:lstStyle/>
          <a:p>
            <a:pPr algn="r">
              <a:lnSpc>
                <a:spcPts val="1047"/>
              </a:lnSpc>
            </a:pPr>
            <a:r>
              <a:rPr sz="952" b="0" i="0">
                <a:solidFill>
                  <a:srgbClr val="222222"/>
                </a:solidFill>
                <a:latin typeface="Versos"/>
              </a:rPr>
              <a:t>Financeiro</a:t>
            </a:r>
          </a:p>
        </p:txBody>
      </p:sp>
      <p:sp>
        <p:nvSpPr>
          <p:cNvPr id="66" name="TextBox 65"/>
          <p:cNvSpPr txBox="1"/>
          <p:nvPr/>
        </p:nvSpPr>
        <p:spPr>
          <a:xfrm>
            <a:off x="6752497" y="6533730"/>
            <a:ext cx="519901" cy="166320"/>
          </a:xfrm>
          <a:prstGeom prst="rect">
            <a:avLst/>
          </a:prstGeom>
          <a:noFill/>
        </p:spPr>
        <p:txBody>
          <a:bodyPr wrap="none" lIns="0" rIns="0" tIns="0" bIns="0" anchor="t"/>
          <a:lstStyle/>
          <a:p>
            <a:pPr algn="l">
              <a:lnSpc>
                <a:spcPts val="1285"/>
              </a:lnSpc>
            </a:pPr>
            <a:r>
              <a:rPr sz="1071" b="0" i="0">
                <a:solidFill>
                  <a:srgbClr val="5A82A0"/>
                </a:solidFill>
                <a:latin typeface="Versos"/>
              </a:rPr>
              <a:t>74,68%</a:t>
            </a:r>
          </a:p>
        </p:txBody>
      </p:sp>
      <p:sp>
        <p:nvSpPr>
          <p:cNvPr id="67" name="TextBox 66"/>
          <p:cNvSpPr txBox="1"/>
          <p:nvPr/>
        </p:nvSpPr>
        <p:spPr>
          <a:xfrm>
            <a:off x="3802680" y="8824646"/>
            <a:ext cx="1603929" cy="143640"/>
          </a:xfrm>
          <a:prstGeom prst="rect">
            <a:avLst/>
          </a:prstGeom>
          <a:noFill/>
        </p:spPr>
        <p:txBody>
          <a:bodyPr wrap="none" lIns="0" rIns="0" tIns="0" bIns="0" anchor="t"/>
          <a:lstStyle/>
          <a:p>
            <a:pPr algn="r">
              <a:lnSpc>
                <a:spcPts val="1047"/>
              </a:lnSpc>
            </a:pPr>
            <a:r>
              <a:rPr sz="952" b="0" i="0">
                <a:solidFill>
                  <a:srgbClr val="222222"/>
                </a:solidFill>
                <a:latin typeface="Versos"/>
              </a:rPr>
              <a:t>Caixa</a:t>
            </a:r>
          </a:p>
        </p:txBody>
      </p:sp>
      <p:sp>
        <p:nvSpPr>
          <p:cNvPr id="68" name="TextBox 67"/>
          <p:cNvSpPr txBox="1"/>
          <p:nvPr/>
        </p:nvSpPr>
        <p:spPr>
          <a:xfrm>
            <a:off x="5919007" y="8815550"/>
            <a:ext cx="526780" cy="166320"/>
          </a:xfrm>
          <a:prstGeom prst="rect">
            <a:avLst/>
          </a:prstGeom>
          <a:noFill/>
        </p:spPr>
        <p:txBody>
          <a:bodyPr wrap="none" lIns="0" rIns="0" tIns="0" bIns="0" anchor="t"/>
          <a:lstStyle/>
          <a:p>
            <a:pPr algn="l">
              <a:lnSpc>
                <a:spcPts val="1285"/>
              </a:lnSpc>
            </a:pPr>
            <a:r>
              <a:rPr sz="1071" b="0" i="0">
                <a:solidFill>
                  <a:srgbClr val="5A82A0"/>
                </a:solidFill>
                <a:latin typeface="Versos"/>
              </a:rPr>
              <a:t>25,44%</a:t>
            </a:r>
          </a:p>
        </p:txBody>
      </p:sp>
      <p:sp>
        <p:nvSpPr>
          <p:cNvPr id="69" name="TextBox 68"/>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O Fundo Tivio Banks obteve retorno de 1,08% (100,04% do CDI) no mês e acumula 10,54% (100,28% do CDI) em 2026. A alocação em crédito era de 75%, integralmente concentrada em emissores do setor bancário. O carrego da carteira encontra-se em CDI +0,25%, com duration média de 1,03 ano.</a:t>
            </a:r>
          </a:p>
        </p:txBody>
      </p:sp>
      <p:sp>
        <p:nvSpPr>
          <p:cNvPr id="7" name="TextBox 6"/>
          <p:cNvSpPr txBox="1"/>
          <p:nvPr/>
        </p:nvSpPr>
        <p:spPr>
          <a:xfrm>
            <a:off x="529200" y="6086036"/>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setembro, o mercado de crédito apresentou reabertura dos spreads e liquidez reduzida no mercado secundário. Os spreads médios dos títulos corporativos indexados ao CDI avançaram cerca de 5 bps, passando de CDI + 1,23% para CDI + 1,28% ao ano, interrompendo parcialmente o movimento de compressão observado nos últimos meses.</a:t>
            </a:r>
          </a:p>
        </p:txBody>
      </p:sp>
      <p:sp>
        <p:nvSpPr>
          <p:cNvPr id="8" name="TextBox 7"/>
          <p:cNvSpPr txBox="1"/>
          <p:nvPr/>
        </p:nvSpPr>
        <p:spPr>
          <a:xfrm>
            <a:off x="529200" y="6955554"/>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No mercado secundário, a liquidez permaneceu limitada, especialmente em ativos corporativos, resultando em uma formação de preços mais seletiva. No mercado primário, as emissões bancárias seguiram registrando demanda consistente, embora com menor intensidade em comparação aos meses anteriores. Já o pipeline de emissões corporativas permaneceu restrito, mantendo a oferta de ativos em níveis reduzidos.</a:t>
            </a:r>
          </a:p>
        </p:txBody>
      </p:sp>
      <p:sp>
        <p:nvSpPr>
          <p:cNvPr id="9" name="TextBox 8"/>
          <p:cNvSpPr txBox="1"/>
          <p:nvPr/>
        </p:nvSpPr>
        <p:spPr>
          <a:xfrm>
            <a:off x="529200" y="8014899"/>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relação aos fluxos, os fundos com alocação mínima de 15% em crédito e ao menos 1% em debêntures registraram resgates líquidos próximos de R$ 10 bilhões no período, movimento que contribuiu para a reabertura dos spreads e para uma piora da dinâmica técnica da classe.</a:t>
            </a:r>
          </a:p>
        </p:txBody>
      </p:sp>
      <p:sp>
        <p:nvSpPr>
          <p:cNvPr id="10" name="TextBox 9"/>
          <p:cNvSpPr txBox="1"/>
          <p:nvPr/>
        </p:nvSpPr>
        <p:spPr>
          <a:xfrm>
            <a:off x="529200" y="8884417"/>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Apesar desse cenário, os fundamentos corporativos permanecem resilientes e os níveis de inadimplência seguem controlados. Sob a ótica da gestão, mantemos uma postura disciplinada e seletiva na alocação dos recursos, buscando capturar oportunidades geradas pela recente abertura dos spreads sem abrir mão da qualidade de crédito das carteiras.</a:t>
            </a:r>
          </a:p>
        </p:txBody>
      </p:sp>
      <p:sp>
        <p:nvSpPr>
          <p:cNvPr id="11" name="TextBox 10"/>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30/04/2009</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0,25%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R$ 1.826.931.618,96</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R$ 1.510.000.753,13</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63800"/>
            <a:ext cx="6758640" cy="398790"/>
          </a:xfrm>
          <a:prstGeom prst="rect">
            <a:avLst/>
          </a:prstGeom>
          <a:noFill/>
        </p:spPr>
        <p:txBody>
          <a:bodyPr wrap="square" lIns="0" rIns="0" tIns="0" bIns="0" anchor="t"/>
          <a:lstStyle/>
          <a:p>
            <a:pPr algn="just">
              <a:lnSpc>
                <a:spcPts val="1034"/>
              </a:lnSpc>
            </a:pPr>
            <a:r>
              <a:rPr sz="848" b="0" i="0">
                <a:solidFill>
                  <a:srgbClr val="E9E9E9"/>
                </a:solidFill>
                <a:latin typeface="Versos"/>
              </a:rPr>
              <a:t>*Para solicitações de resgates que representem até 95% (noventa e cinco por cento) do Patrimônio Líquido do FUNDO, o pagamento dos resgates ocorrerá no dia da solicitação do resgate (D+0). Para solicitações de resgates superiores a 95% (noventa e cinco) do Patrimônio Líquido do FUNDO, o pagamento dos resgates ocorrerá no primeiro dia útil após a solicitação dos resgates (D+1).</a:t>
            </a:r>
          </a:p>
        </p:txBody>
      </p:sp>
      <p:sp>
        <p:nvSpPr>
          <p:cNvPr id="23" name="TextBox 22"/>
          <p:cNvSpPr txBox="1"/>
          <p:nvPr/>
        </p:nvSpPr>
        <p:spPr>
          <a:xfrm>
            <a:off x="400680" y="6895546"/>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4" name="TextBox 23"/>
          <p:cNvSpPr txBox="1"/>
          <p:nvPr/>
        </p:nvSpPr>
        <p:spPr>
          <a:xfrm>
            <a:off x="400680" y="7195938"/>
            <a:ext cx="6758640" cy="398790"/>
          </a:xfrm>
          <a:prstGeom prst="rect">
            <a:avLst/>
          </a:prstGeom>
          <a:noFill/>
        </p:spPr>
        <p:txBody>
          <a:bodyPr wrap="square" lIns="0" rIns="0" tIns="0" bIns="0" anchor="t"/>
          <a:lstStyle/>
          <a:p>
            <a:pPr algn="just">
              <a:lnSpc>
                <a:spcPts val="1034"/>
              </a:lnSpc>
            </a:pPr>
            <a:r>
              <a:rPr sz="848"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5" name="TextBox 24"/>
          <p:cNvSpPr txBox="1"/>
          <p:nvPr/>
        </p:nvSpPr>
        <p:spPr>
          <a:xfrm>
            <a:off x="400680" y="7627685"/>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Os investimentos envolvem riscos. Consulte os documentos do fundo para conhecer sua estratégia, público-alvo, condições e principais fatores de risco.</a:t>
            </a:r>
          </a:p>
        </p:txBody>
      </p:sp>
      <p:sp>
        <p:nvSpPr>
          <p:cNvPr id="26" name="TextBox 25"/>
          <p:cNvSpPr txBox="1"/>
          <p:nvPr/>
        </p:nvSpPr>
        <p:spPr>
          <a:xfrm>
            <a:off x="400680" y="7928077"/>
            <a:ext cx="7028985" cy="136080"/>
          </a:xfrm>
          <a:prstGeom prst="rect">
            <a:avLst/>
          </a:prstGeom>
          <a:noFill/>
        </p:spPr>
        <p:txBody>
          <a:bodyPr wrap="none" lIns="0" rIns="0" tIns="0" bIns="0" anchor="t"/>
          <a:lstStyle/>
          <a:p>
            <a:pPr algn="just">
              <a:lnSpc>
                <a:spcPts val="1034"/>
              </a:lnSpc>
            </a:pPr>
            <a:r>
              <a:rPr sz="848" b="0" i="0">
                <a:solidFill>
                  <a:srgbClr val="E9E9E9"/>
                </a:solidFill>
                <a:latin typeface="Versos"/>
              </a:rPr>
              <a:t>Rentabilidade obtida no passado não representa garantia de resultados futuros. A rentabilidade divulgada não é líquida de impostos.</a:t>
            </a:r>
          </a:p>
        </p:txBody>
      </p:sp>
      <p:sp>
        <p:nvSpPr>
          <p:cNvPr id="27" name="TextBox 26"/>
          <p:cNvSpPr txBox="1"/>
          <p:nvPr/>
        </p:nvSpPr>
        <p:spPr>
          <a:xfrm>
            <a:off x="400680" y="8097114"/>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Os investimentos em fundos não são garantidos pelo administrador, pelo gestor, por qualquer mecanismo de seguro ou pelo Fundo Garantidor de Crédito – FGC.</a:t>
            </a:r>
          </a:p>
        </p:txBody>
      </p:sp>
      <p:sp>
        <p:nvSpPr>
          <p:cNvPr id="28" name="TextBox 27"/>
          <p:cNvSpPr txBox="1"/>
          <p:nvPr/>
        </p:nvSpPr>
        <p:spPr>
          <a:xfrm>
            <a:off x="400680" y="8397506"/>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A Tivio Capital Distribuidora de Títulos e Valores Mobiliários S.A. integra o conglomerado prudencial liderado pelo Banco Bradesco S.A.</a:t>
            </a:r>
          </a:p>
        </p:txBody>
      </p:sp>
      <p:sp>
        <p:nvSpPr>
          <p:cNvPr id="29" name="TextBox 28"/>
          <p:cNvSpPr txBox="1"/>
          <p:nvPr/>
        </p:nvSpPr>
        <p:spPr>
          <a:xfrm>
            <a:off x="400680" y="9013055"/>
            <a:ext cx="1134000" cy="270742"/>
          </a:xfrm>
          <a:prstGeom prst="rect">
            <a:avLst/>
          </a:prstGeom>
          <a:noFill/>
        </p:spPr>
        <p:txBody>
          <a:bodyPr wrap="square" lIns="0" rIns="0" tIns="0" bIns="0" anchor="t"/>
          <a:lstStyle/>
          <a:p>
            <a:pPr algn="l">
              <a:lnSpc>
                <a:spcPts val="1060"/>
              </a:lnSpc>
            </a:pPr>
            <a:r>
              <a:rPr sz="848" b="0" i="0">
                <a:solidFill>
                  <a:srgbClr val="E9E9E9"/>
                </a:solidFill>
                <a:latin typeface="Versos"/>
              </a:rPr>
              <a:t>SAC: 0800 704 8383</a:t>
            </a:r>
          </a:p>
          <a:p>
            <a:pPr algn="l">
              <a:lnSpc>
                <a:spcPts val="1060"/>
              </a:lnSpc>
            </a:pPr>
            <a:r>
              <a:rPr sz="848" b="0" i="0">
                <a:solidFill>
                  <a:srgbClr val="E9E9E9"/>
                </a:solidFill>
                <a:latin typeface="Versos"/>
              </a:rPr>
              <a:t>Atendimento 24 horas</a:t>
            </a:r>
          </a:p>
        </p:txBody>
      </p:sp>
      <p:sp>
        <p:nvSpPr>
          <p:cNvPr id="30" name="TextBox 29"/>
          <p:cNvSpPr txBox="1"/>
          <p:nvPr/>
        </p:nvSpPr>
        <p:spPr>
          <a:xfrm>
            <a:off x="1655640" y="9013055"/>
            <a:ext cx="4024164" cy="270742"/>
          </a:xfrm>
          <a:prstGeom prst="rect">
            <a:avLst/>
          </a:prstGeom>
          <a:noFill/>
        </p:spPr>
        <p:txBody>
          <a:bodyPr wrap="square" lIns="0" rIns="0" tIns="0" bIns="0" anchor="t"/>
          <a:lstStyle/>
          <a:p>
            <a:pPr algn="l">
              <a:lnSpc>
                <a:spcPts val="1060"/>
              </a:lnSpc>
            </a:pPr>
            <a:r>
              <a:rPr sz="848" b="0" i="0">
                <a:solidFill>
                  <a:srgbClr val="E9E9E9"/>
                </a:solidFill>
                <a:latin typeface="Versos"/>
              </a:rPr>
              <a:t>Ouvidoria: 0800 727 9933</a:t>
            </a:r>
          </a:p>
          <a:p>
            <a:pPr algn="l">
              <a:lnSpc>
                <a:spcPts val="1060"/>
              </a:lnSpc>
            </a:pPr>
            <a:r>
              <a:rPr sz="848" b="0" i="0">
                <a:solidFill>
                  <a:srgbClr val="E9E9E9"/>
                </a:solidFill>
                <a:latin typeface="Versos"/>
              </a:rPr>
              <a:t>Atendimento das 9h às 18h, de segunda a sexta-feira, exceto feriados nacionais</a:t>
            </a:r>
          </a:p>
        </p:txBody>
      </p:sp>
      <p:sp>
        <p:nvSpPr>
          <p:cNvPr id="31" name="TextBox 30"/>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2" name="TextBox 31"/>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3" name="TextBox 32"/>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4" name="TextBox 33"/>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