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748440"/>
            <a:ext cx="6266332" cy="151200"/>
          </a:xfrm>
          <a:prstGeom prst="rect">
            <a:avLst/>
          </a:prstGeom>
          <a:noFill/>
        </p:spPr>
        <p:txBody>
          <a:bodyPr wrap="none" lIns="0" rIns="0" tIns="0" bIns="0" anchor="t"/>
          <a:lstStyle/>
          <a:p>
            <a:pPr algn="l">
              <a:lnSpc>
                <a:spcPts val="1214"/>
              </a:lnSpc>
            </a:pPr>
            <a:r>
              <a:rPr sz="1012" b="0" i="0">
                <a:solidFill>
                  <a:srgbClr val="FFFFFF"/>
                </a:solidFill>
                <a:latin typeface="Versos"/>
              </a:rPr>
              <a:t>TIVIO INSTITUCIONAL 15 FIF – RF CP LP – RL </a:t>
            </a:r>
            <a:r>
              <a:rPr sz="829" b="0" i="0">
                <a:solidFill>
                  <a:srgbClr val="FFFFFF"/>
                </a:solidFill>
                <a:latin typeface="Versos"/>
              </a:rPr>
              <a:t>/ CNPJ 04.240.128/0001-83</a:t>
            </a:r>
          </a:p>
        </p:txBody>
      </p:sp>
      <p:sp>
        <p:nvSpPr>
          <p:cNvPr id="4" name="TextBox 3"/>
          <p:cNvSpPr txBox="1"/>
          <p:nvPr/>
        </p:nvSpPr>
        <p:spPr>
          <a:xfrm>
            <a:off x="400680" y="1126440"/>
            <a:ext cx="6266332"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5" name="TextBox 4"/>
          <p:cNvSpPr txBox="1"/>
          <p:nvPr/>
        </p:nvSpPr>
        <p:spPr>
          <a:xfrm>
            <a:off x="355320" y="1859760"/>
            <a:ext cx="7076160" cy="151200"/>
          </a:xfrm>
          <a:prstGeom prst="rect">
            <a:avLst/>
          </a:prstGeom>
          <a:noFill/>
        </p:spPr>
        <p:txBody>
          <a:bodyPr wrap="none" lIns="0" rIns="0" tIns="0" bIns="0" anchor="t"/>
          <a:lstStyle/>
          <a:p>
            <a:pPr algn="l">
              <a:lnSpc>
                <a:spcPts val="1214"/>
              </a:lnSpc>
            </a:pPr>
            <a:r>
              <a:rPr sz="1012" b="0" i="0">
                <a:solidFill>
                  <a:srgbClr val="141414"/>
                </a:solidFill>
                <a:latin typeface="Versos"/>
              </a:rPr>
              <a:t>OBJETIVO DA CARTEIRA</a:t>
            </a:r>
          </a:p>
        </p:txBody>
      </p:sp>
      <p:sp>
        <p:nvSpPr>
          <p:cNvPr id="6" name="TextBox 5"/>
          <p:cNvSpPr txBox="1"/>
          <p:nvPr/>
        </p:nvSpPr>
        <p:spPr>
          <a:xfrm>
            <a:off x="355320" y="2026080"/>
            <a:ext cx="6350400" cy="338900"/>
          </a:xfrm>
          <a:prstGeom prst="rect">
            <a:avLst/>
          </a:prstGeom>
          <a:noFill/>
        </p:spPr>
        <p:txBody>
          <a:bodyPr wrap="square" lIns="0" rIns="0" tIns="0" bIns="0" anchor="t"/>
          <a:lstStyle/>
          <a:p>
            <a:pPr algn="l">
              <a:lnSpc>
                <a:spcPts val="1299"/>
              </a:lnSpc>
            </a:pPr>
            <a:r>
              <a:rPr sz="1101" b="0" i="0">
                <a:solidFill>
                  <a:srgbClr val="1E1E1E"/>
                </a:solidFill>
                <a:latin typeface="Versos"/>
              </a:rPr>
              <a:t>O fundo tem como objetivo identificar oportunidades em ativos de crédito high grade/mid grade (Bancário, Corporativo e FIDC). Ele busca superar a variação do CDI no longo prazo.</a:t>
            </a:r>
          </a:p>
        </p:txBody>
      </p:sp>
      <p:sp>
        <p:nvSpPr>
          <p:cNvPr id="7" name="TextBox 6"/>
          <p:cNvSpPr txBox="1"/>
          <p:nvPr/>
        </p:nvSpPr>
        <p:spPr>
          <a:xfrm>
            <a:off x="1126440"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Mês</a:t>
            </a:r>
          </a:p>
        </p:txBody>
      </p:sp>
      <p:sp>
        <p:nvSpPr>
          <p:cNvPr id="8" name="TextBox 7"/>
          <p:cNvSpPr txBox="1"/>
          <p:nvPr/>
        </p:nvSpPr>
        <p:spPr>
          <a:xfrm>
            <a:off x="2136881"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Ano</a:t>
            </a:r>
          </a:p>
        </p:txBody>
      </p:sp>
      <p:sp>
        <p:nvSpPr>
          <p:cNvPr id="9" name="TextBox 8"/>
          <p:cNvSpPr txBox="1"/>
          <p:nvPr/>
        </p:nvSpPr>
        <p:spPr>
          <a:xfrm>
            <a:off x="3147322"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12M</a:t>
            </a:r>
          </a:p>
        </p:txBody>
      </p:sp>
      <p:sp>
        <p:nvSpPr>
          <p:cNvPr id="10" name="TextBox 9"/>
          <p:cNvSpPr txBox="1"/>
          <p:nvPr/>
        </p:nvSpPr>
        <p:spPr>
          <a:xfrm>
            <a:off x="4157763"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24M</a:t>
            </a:r>
          </a:p>
        </p:txBody>
      </p:sp>
      <p:sp>
        <p:nvSpPr>
          <p:cNvPr id="11" name="TextBox 10"/>
          <p:cNvSpPr txBox="1"/>
          <p:nvPr/>
        </p:nvSpPr>
        <p:spPr>
          <a:xfrm>
            <a:off x="5168205" y="2590481"/>
            <a:ext cx="987959" cy="143640"/>
          </a:xfrm>
          <a:prstGeom prst="rect">
            <a:avLst/>
          </a:prstGeom>
          <a:noFill/>
        </p:spPr>
        <p:txBody>
          <a:bodyPr wrap="none" lIns="0" rIns="0" tIns="0" bIns="0" anchor="t"/>
          <a:lstStyle/>
          <a:p>
            <a:pPr algn="ctr">
              <a:lnSpc>
                <a:spcPts val="1142"/>
              </a:lnSpc>
            </a:pPr>
            <a:r>
              <a:rPr sz="952" b="1" i="0">
                <a:solidFill>
                  <a:srgbClr val="111111"/>
                </a:solidFill>
                <a:latin typeface="Versos"/>
              </a:rPr>
              <a:t>36M</a:t>
            </a:r>
          </a:p>
        </p:txBody>
      </p:sp>
      <p:sp>
        <p:nvSpPr>
          <p:cNvPr id="12" name="TextBox 11"/>
          <p:cNvSpPr txBox="1"/>
          <p:nvPr/>
        </p:nvSpPr>
        <p:spPr>
          <a:xfrm>
            <a:off x="6178646" y="2590481"/>
            <a:ext cx="988451" cy="143640"/>
          </a:xfrm>
          <a:prstGeom prst="rect">
            <a:avLst/>
          </a:prstGeom>
          <a:noFill/>
        </p:spPr>
        <p:txBody>
          <a:bodyPr wrap="none" lIns="0" rIns="0" tIns="0" bIns="0" anchor="t"/>
          <a:lstStyle/>
          <a:p>
            <a:pPr algn="ctr">
              <a:lnSpc>
                <a:spcPts val="1142"/>
              </a:lnSpc>
            </a:pPr>
            <a:r>
              <a:rPr sz="952" b="1" i="0">
                <a:solidFill>
                  <a:srgbClr val="111111"/>
                </a:solidFill>
                <a:latin typeface="Versos"/>
              </a:rPr>
              <a:t>Desde o Início</a:t>
            </a:r>
          </a:p>
        </p:txBody>
      </p:sp>
      <p:sp>
        <p:nvSpPr>
          <p:cNvPr id="13" name="TextBox 12"/>
          <p:cNvSpPr txBox="1"/>
          <p:nvPr/>
        </p:nvSpPr>
        <p:spPr>
          <a:xfrm>
            <a:off x="340200" y="296659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Fundo</a:t>
            </a:r>
          </a:p>
        </p:txBody>
      </p:sp>
      <p:sp>
        <p:nvSpPr>
          <p:cNvPr id="14" name="TextBox 13"/>
          <p:cNvSpPr txBox="1"/>
          <p:nvPr/>
        </p:nvSpPr>
        <p:spPr>
          <a:xfrm>
            <a:off x="1126440"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1,09%</a:t>
            </a:r>
          </a:p>
        </p:txBody>
      </p:sp>
      <p:sp>
        <p:nvSpPr>
          <p:cNvPr id="15" name="TextBox 14"/>
          <p:cNvSpPr txBox="1"/>
          <p:nvPr/>
        </p:nvSpPr>
        <p:spPr>
          <a:xfrm>
            <a:off x="2136881"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10,73%</a:t>
            </a:r>
          </a:p>
        </p:txBody>
      </p:sp>
      <p:sp>
        <p:nvSpPr>
          <p:cNvPr id="16" name="TextBox 15"/>
          <p:cNvSpPr txBox="1"/>
          <p:nvPr/>
        </p:nvSpPr>
        <p:spPr>
          <a:xfrm>
            <a:off x="3147322"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14,78%</a:t>
            </a:r>
          </a:p>
        </p:txBody>
      </p:sp>
      <p:sp>
        <p:nvSpPr>
          <p:cNvPr id="17" name="TextBox 16"/>
          <p:cNvSpPr txBox="1"/>
          <p:nvPr/>
        </p:nvSpPr>
        <p:spPr>
          <a:xfrm>
            <a:off x="4157763"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31,02%</a:t>
            </a:r>
          </a:p>
        </p:txBody>
      </p:sp>
      <p:sp>
        <p:nvSpPr>
          <p:cNvPr id="18" name="TextBox 17"/>
          <p:cNvSpPr txBox="1"/>
          <p:nvPr/>
        </p:nvSpPr>
        <p:spPr>
          <a:xfrm>
            <a:off x="5168205" y="2962811"/>
            <a:ext cx="987959" cy="151200"/>
          </a:xfrm>
          <a:prstGeom prst="rect">
            <a:avLst/>
          </a:prstGeom>
          <a:noFill/>
        </p:spPr>
        <p:txBody>
          <a:bodyPr wrap="none" lIns="0" rIns="0" tIns="0" bIns="0" anchor="t"/>
          <a:lstStyle/>
          <a:p>
            <a:pPr algn="ctr">
              <a:lnSpc>
                <a:spcPts val="1214"/>
              </a:lnSpc>
            </a:pPr>
            <a:r>
              <a:rPr sz="1012" b="1" i="0">
                <a:solidFill>
                  <a:srgbClr val="5B8299"/>
                </a:solidFill>
                <a:latin typeface="Versos"/>
              </a:rPr>
              <a:t>50,90%</a:t>
            </a:r>
          </a:p>
        </p:txBody>
      </p:sp>
      <p:sp>
        <p:nvSpPr>
          <p:cNvPr id="19" name="TextBox 18"/>
          <p:cNvSpPr txBox="1"/>
          <p:nvPr/>
        </p:nvSpPr>
        <p:spPr>
          <a:xfrm>
            <a:off x="6178646" y="2962811"/>
            <a:ext cx="988451" cy="151200"/>
          </a:xfrm>
          <a:prstGeom prst="rect">
            <a:avLst/>
          </a:prstGeom>
          <a:noFill/>
        </p:spPr>
        <p:txBody>
          <a:bodyPr wrap="none" lIns="0" rIns="0" tIns="0" bIns="0" anchor="t"/>
          <a:lstStyle/>
          <a:p>
            <a:pPr algn="ctr">
              <a:lnSpc>
                <a:spcPts val="1214"/>
              </a:lnSpc>
            </a:pPr>
            <a:r>
              <a:rPr sz="1012" b="1" i="0">
                <a:solidFill>
                  <a:srgbClr val="5B8299"/>
                </a:solidFill>
                <a:latin typeface="Versos"/>
              </a:rPr>
              <a:t>1.663,46%</a:t>
            </a:r>
          </a:p>
        </p:txBody>
      </p:sp>
      <p:sp>
        <p:nvSpPr>
          <p:cNvPr id="20" name="TextBox 19"/>
          <p:cNvSpPr txBox="1"/>
          <p:nvPr/>
        </p:nvSpPr>
        <p:spPr>
          <a:xfrm>
            <a:off x="340200" y="335782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CDI</a:t>
            </a:r>
          </a:p>
        </p:txBody>
      </p:sp>
      <p:sp>
        <p:nvSpPr>
          <p:cNvPr id="21" name="TextBox 20"/>
          <p:cNvSpPr txBox="1"/>
          <p:nvPr/>
        </p:nvSpPr>
        <p:spPr>
          <a:xfrm>
            <a:off x="1126440"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1,08%</a:t>
            </a:r>
          </a:p>
        </p:txBody>
      </p:sp>
      <p:sp>
        <p:nvSpPr>
          <p:cNvPr id="22" name="TextBox 21"/>
          <p:cNvSpPr txBox="1"/>
          <p:nvPr/>
        </p:nvSpPr>
        <p:spPr>
          <a:xfrm>
            <a:off x="2136881"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10,51%</a:t>
            </a:r>
          </a:p>
        </p:txBody>
      </p:sp>
      <p:sp>
        <p:nvSpPr>
          <p:cNvPr id="23" name="TextBox 22"/>
          <p:cNvSpPr txBox="1"/>
          <p:nvPr/>
        </p:nvSpPr>
        <p:spPr>
          <a:xfrm>
            <a:off x="3147322"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14,48%</a:t>
            </a:r>
          </a:p>
        </p:txBody>
      </p:sp>
      <p:sp>
        <p:nvSpPr>
          <p:cNvPr id="24" name="TextBox 23"/>
          <p:cNvSpPr txBox="1"/>
          <p:nvPr/>
        </p:nvSpPr>
        <p:spPr>
          <a:xfrm>
            <a:off x="4157763"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29,81%</a:t>
            </a:r>
          </a:p>
        </p:txBody>
      </p:sp>
      <p:sp>
        <p:nvSpPr>
          <p:cNvPr id="25" name="TextBox 24"/>
          <p:cNvSpPr txBox="1"/>
          <p:nvPr/>
        </p:nvSpPr>
        <p:spPr>
          <a:xfrm>
            <a:off x="5168205" y="335404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44,25%</a:t>
            </a:r>
          </a:p>
        </p:txBody>
      </p:sp>
      <p:sp>
        <p:nvSpPr>
          <p:cNvPr id="26" name="TextBox 25"/>
          <p:cNvSpPr txBox="1"/>
          <p:nvPr/>
        </p:nvSpPr>
        <p:spPr>
          <a:xfrm>
            <a:off x="6178646" y="335404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1.424,46%</a:t>
            </a:r>
          </a:p>
        </p:txBody>
      </p:sp>
      <p:sp>
        <p:nvSpPr>
          <p:cNvPr id="27" name="TextBox 26"/>
          <p:cNvSpPr txBox="1"/>
          <p:nvPr/>
        </p:nvSpPr>
        <p:spPr>
          <a:xfrm>
            <a:off x="340200" y="375094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Alfa</a:t>
            </a:r>
          </a:p>
        </p:txBody>
      </p:sp>
      <p:sp>
        <p:nvSpPr>
          <p:cNvPr id="28" name="TextBox 27"/>
          <p:cNvSpPr txBox="1"/>
          <p:nvPr/>
        </p:nvSpPr>
        <p:spPr>
          <a:xfrm>
            <a:off x="1126440"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0,01%</a:t>
            </a:r>
          </a:p>
        </p:txBody>
      </p:sp>
      <p:sp>
        <p:nvSpPr>
          <p:cNvPr id="29" name="TextBox 28"/>
          <p:cNvSpPr txBox="1"/>
          <p:nvPr/>
        </p:nvSpPr>
        <p:spPr>
          <a:xfrm>
            <a:off x="2136881"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0,21%</a:t>
            </a:r>
          </a:p>
        </p:txBody>
      </p:sp>
      <p:sp>
        <p:nvSpPr>
          <p:cNvPr id="30" name="TextBox 29"/>
          <p:cNvSpPr txBox="1"/>
          <p:nvPr/>
        </p:nvSpPr>
        <p:spPr>
          <a:xfrm>
            <a:off x="3147322"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0,30%</a:t>
            </a:r>
          </a:p>
        </p:txBody>
      </p:sp>
      <p:sp>
        <p:nvSpPr>
          <p:cNvPr id="31" name="TextBox 30"/>
          <p:cNvSpPr txBox="1"/>
          <p:nvPr/>
        </p:nvSpPr>
        <p:spPr>
          <a:xfrm>
            <a:off x="4157763"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1,21%</a:t>
            </a:r>
          </a:p>
        </p:txBody>
      </p:sp>
      <p:sp>
        <p:nvSpPr>
          <p:cNvPr id="32" name="TextBox 31"/>
          <p:cNvSpPr txBox="1"/>
          <p:nvPr/>
        </p:nvSpPr>
        <p:spPr>
          <a:xfrm>
            <a:off x="5168205" y="374716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6,65%</a:t>
            </a:r>
          </a:p>
        </p:txBody>
      </p:sp>
      <p:sp>
        <p:nvSpPr>
          <p:cNvPr id="33" name="TextBox 32"/>
          <p:cNvSpPr txBox="1"/>
          <p:nvPr/>
        </p:nvSpPr>
        <p:spPr>
          <a:xfrm>
            <a:off x="6178646" y="374716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239,00%</a:t>
            </a:r>
          </a:p>
        </p:txBody>
      </p:sp>
      <p:sp>
        <p:nvSpPr>
          <p:cNvPr id="34" name="TextBox 33"/>
          <p:cNvSpPr txBox="1"/>
          <p:nvPr/>
        </p:nvSpPr>
        <p:spPr>
          <a:xfrm>
            <a:off x="340200" y="4144061"/>
            <a:ext cx="754790" cy="143640"/>
          </a:xfrm>
          <a:prstGeom prst="rect">
            <a:avLst/>
          </a:prstGeom>
          <a:noFill/>
        </p:spPr>
        <p:txBody>
          <a:bodyPr wrap="none" lIns="0" rIns="0" tIns="0" bIns="0" anchor="t"/>
          <a:lstStyle/>
          <a:p>
            <a:pPr algn="l">
              <a:lnSpc>
                <a:spcPts val="1142"/>
              </a:lnSpc>
            </a:pPr>
            <a:r>
              <a:rPr sz="952" b="1" i="0">
                <a:solidFill>
                  <a:srgbClr val="111111"/>
                </a:solidFill>
                <a:latin typeface="Versos"/>
              </a:rPr>
              <a:t>%</a:t>
            </a:r>
          </a:p>
        </p:txBody>
      </p:sp>
      <p:sp>
        <p:nvSpPr>
          <p:cNvPr id="35" name="TextBox 34"/>
          <p:cNvSpPr txBox="1"/>
          <p:nvPr/>
        </p:nvSpPr>
        <p:spPr>
          <a:xfrm>
            <a:off x="1126440"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101%</a:t>
            </a:r>
          </a:p>
        </p:txBody>
      </p:sp>
      <p:sp>
        <p:nvSpPr>
          <p:cNvPr id="36" name="TextBox 35"/>
          <p:cNvSpPr txBox="1"/>
          <p:nvPr/>
        </p:nvSpPr>
        <p:spPr>
          <a:xfrm>
            <a:off x="2136881"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7" name="TextBox 36"/>
          <p:cNvSpPr txBox="1"/>
          <p:nvPr/>
        </p:nvSpPr>
        <p:spPr>
          <a:xfrm>
            <a:off x="3147322"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102%</a:t>
            </a:r>
          </a:p>
        </p:txBody>
      </p:sp>
      <p:sp>
        <p:nvSpPr>
          <p:cNvPr id="38" name="TextBox 37"/>
          <p:cNvSpPr txBox="1"/>
          <p:nvPr/>
        </p:nvSpPr>
        <p:spPr>
          <a:xfrm>
            <a:off x="4157763"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104%</a:t>
            </a:r>
          </a:p>
        </p:txBody>
      </p:sp>
      <p:sp>
        <p:nvSpPr>
          <p:cNvPr id="39" name="TextBox 38"/>
          <p:cNvSpPr txBox="1"/>
          <p:nvPr/>
        </p:nvSpPr>
        <p:spPr>
          <a:xfrm>
            <a:off x="5168205" y="4140281"/>
            <a:ext cx="987959" cy="151200"/>
          </a:xfrm>
          <a:prstGeom prst="rect">
            <a:avLst/>
          </a:prstGeom>
          <a:noFill/>
        </p:spPr>
        <p:txBody>
          <a:bodyPr wrap="none" lIns="0" rIns="0" tIns="0" bIns="0" anchor="t"/>
          <a:lstStyle/>
          <a:p>
            <a:pPr algn="ctr">
              <a:lnSpc>
                <a:spcPts val="1214"/>
              </a:lnSpc>
            </a:pPr>
            <a:r>
              <a:rPr sz="1012" b="0" i="0">
                <a:solidFill>
                  <a:srgbClr val="444444"/>
                </a:solidFill>
                <a:latin typeface="Versos"/>
              </a:rPr>
              <a:t>115%</a:t>
            </a:r>
          </a:p>
        </p:txBody>
      </p:sp>
      <p:sp>
        <p:nvSpPr>
          <p:cNvPr id="40" name="TextBox 39"/>
          <p:cNvSpPr txBox="1"/>
          <p:nvPr/>
        </p:nvSpPr>
        <p:spPr>
          <a:xfrm>
            <a:off x="6178646" y="4140281"/>
            <a:ext cx="988451" cy="151200"/>
          </a:xfrm>
          <a:prstGeom prst="rect">
            <a:avLst/>
          </a:prstGeom>
          <a:noFill/>
        </p:spPr>
        <p:txBody>
          <a:bodyPr wrap="none" lIns="0" rIns="0" tIns="0" bIns="0" anchor="t"/>
          <a:lstStyle/>
          <a:p>
            <a:pPr algn="ctr">
              <a:lnSpc>
                <a:spcPts val="1214"/>
              </a:lnSpc>
            </a:pPr>
            <a:r>
              <a:rPr sz="1012" b="0" i="0">
                <a:solidFill>
                  <a:srgbClr val="444444"/>
                </a:solidFill>
                <a:latin typeface="Versos"/>
              </a:rPr>
              <a:t>117%</a:t>
            </a:r>
          </a:p>
        </p:txBody>
      </p:sp>
      <p:sp>
        <p:nvSpPr>
          <p:cNvPr id="41" name="TextBox 40"/>
          <p:cNvSpPr txBox="1"/>
          <p:nvPr/>
        </p:nvSpPr>
        <p:spPr>
          <a:xfrm>
            <a:off x="355320" y="4476701"/>
            <a:ext cx="7076160" cy="113400"/>
          </a:xfrm>
          <a:prstGeom prst="rect">
            <a:avLst/>
          </a:prstGeom>
          <a:noFill/>
        </p:spPr>
        <p:txBody>
          <a:bodyPr wrap="none" lIns="0" rIns="0" tIns="0" bIns="0" anchor="t"/>
          <a:lstStyle/>
          <a:p>
            <a:pPr algn="r">
              <a:lnSpc>
                <a:spcPts val="892"/>
              </a:lnSpc>
            </a:pPr>
            <a:r>
              <a:rPr sz="744" b="1" i="0">
                <a:solidFill>
                  <a:srgbClr val="444444"/>
                </a:solidFill>
                <a:latin typeface="Versos"/>
              </a:rPr>
              <a:t>Data base:</a:t>
            </a:r>
            <a:r>
              <a:rPr sz="744" b="0" i="0">
                <a:solidFill>
                  <a:srgbClr val="444444"/>
                </a:solidFill>
                <a:latin typeface="Versos"/>
              </a:rPr>
              <a:t> 30/09/2026</a:t>
            </a:r>
          </a:p>
        </p:txBody>
      </p:sp>
      <p:sp>
        <p:nvSpPr>
          <p:cNvPr id="42" name="TextBox 41"/>
          <p:cNvSpPr txBox="1"/>
          <p:nvPr/>
        </p:nvSpPr>
        <p:spPr>
          <a:xfrm>
            <a:off x="400680" y="5134421"/>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PRINCIPAIS EMISSORES</a:t>
            </a:r>
          </a:p>
        </p:txBody>
      </p:sp>
      <p:sp>
        <p:nvSpPr>
          <p:cNvPr id="43" name="TextBox 42"/>
          <p:cNvSpPr txBox="1"/>
          <p:nvPr/>
        </p:nvSpPr>
        <p:spPr>
          <a:xfrm>
            <a:off x="400680" y="562215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C6</a:t>
            </a:r>
          </a:p>
        </p:txBody>
      </p:sp>
      <p:sp>
        <p:nvSpPr>
          <p:cNvPr id="44" name="TextBox 43"/>
          <p:cNvSpPr txBox="1"/>
          <p:nvPr/>
        </p:nvSpPr>
        <p:spPr>
          <a:xfrm>
            <a:off x="2831928" y="5620269"/>
            <a:ext cx="346068" cy="143640"/>
          </a:xfrm>
          <a:prstGeom prst="rect">
            <a:avLst/>
          </a:prstGeom>
          <a:noFill/>
        </p:spPr>
        <p:txBody>
          <a:bodyPr wrap="none" lIns="0" rIns="0" tIns="0" bIns="0" anchor="t"/>
          <a:lstStyle/>
          <a:p>
            <a:pPr algn="l">
              <a:lnSpc>
                <a:spcPts val="1107"/>
              </a:lnSpc>
            </a:pPr>
            <a:r>
              <a:rPr sz="922" b="0" i="0">
                <a:solidFill>
                  <a:srgbClr val="5A82A0"/>
                </a:solidFill>
                <a:latin typeface="Versos"/>
              </a:rPr>
              <a:t>5,10%</a:t>
            </a:r>
          </a:p>
        </p:txBody>
      </p:sp>
      <p:sp>
        <p:nvSpPr>
          <p:cNvPr id="45" name="TextBox 44"/>
          <p:cNvSpPr txBox="1"/>
          <p:nvPr/>
        </p:nvSpPr>
        <p:spPr>
          <a:xfrm>
            <a:off x="400680" y="6054496"/>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ABC</a:t>
            </a:r>
          </a:p>
        </p:txBody>
      </p:sp>
      <p:sp>
        <p:nvSpPr>
          <p:cNvPr id="46" name="TextBox 45"/>
          <p:cNvSpPr txBox="1"/>
          <p:nvPr/>
        </p:nvSpPr>
        <p:spPr>
          <a:xfrm>
            <a:off x="2251462" y="6052606"/>
            <a:ext cx="386240" cy="143640"/>
          </a:xfrm>
          <a:prstGeom prst="rect">
            <a:avLst/>
          </a:prstGeom>
          <a:noFill/>
        </p:spPr>
        <p:txBody>
          <a:bodyPr wrap="none" lIns="0" rIns="0" tIns="0" bIns="0" anchor="t"/>
          <a:lstStyle/>
          <a:p>
            <a:pPr algn="l">
              <a:lnSpc>
                <a:spcPts val="1107"/>
              </a:lnSpc>
            </a:pPr>
            <a:r>
              <a:rPr sz="922" b="0" i="0">
                <a:solidFill>
                  <a:srgbClr val="5A82A0"/>
                </a:solidFill>
                <a:latin typeface="Versos"/>
              </a:rPr>
              <a:t>3,30%</a:t>
            </a:r>
          </a:p>
        </p:txBody>
      </p:sp>
      <p:sp>
        <p:nvSpPr>
          <p:cNvPr id="47" name="TextBox 46"/>
          <p:cNvSpPr txBox="1"/>
          <p:nvPr/>
        </p:nvSpPr>
        <p:spPr>
          <a:xfrm>
            <a:off x="400680" y="6486834"/>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XP</a:t>
            </a:r>
          </a:p>
        </p:txBody>
      </p:sp>
      <p:sp>
        <p:nvSpPr>
          <p:cNvPr id="48" name="TextBox 47"/>
          <p:cNvSpPr txBox="1"/>
          <p:nvPr/>
        </p:nvSpPr>
        <p:spPr>
          <a:xfrm>
            <a:off x="2202440" y="6484944"/>
            <a:ext cx="337223" cy="143640"/>
          </a:xfrm>
          <a:prstGeom prst="rect">
            <a:avLst/>
          </a:prstGeom>
          <a:noFill/>
        </p:spPr>
        <p:txBody>
          <a:bodyPr wrap="none" lIns="0" rIns="0" tIns="0" bIns="0" anchor="t"/>
          <a:lstStyle/>
          <a:p>
            <a:pPr algn="l">
              <a:lnSpc>
                <a:spcPts val="1107"/>
              </a:lnSpc>
            </a:pPr>
            <a:r>
              <a:rPr sz="922" b="0" i="0">
                <a:solidFill>
                  <a:srgbClr val="5A82A0"/>
                </a:solidFill>
                <a:latin typeface="Versos"/>
              </a:rPr>
              <a:t>3,15%</a:t>
            </a:r>
          </a:p>
        </p:txBody>
      </p:sp>
      <p:sp>
        <p:nvSpPr>
          <p:cNvPr id="49" name="TextBox 48"/>
          <p:cNvSpPr txBox="1"/>
          <p:nvPr/>
        </p:nvSpPr>
        <p:spPr>
          <a:xfrm>
            <a:off x="400680" y="6919171"/>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BTG</a:t>
            </a:r>
          </a:p>
        </p:txBody>
      </p:sp>
      <p:sp>
        <p:nvSpPr>
          <p:cNvPr id="50" name="TextBox 49"/>
          <p:cNvSpPr txBox="1"/>
          <p:nvPr/>
        </p:nvSpPr>
        <p:spPr>
          <a:xfrm>
            <a:off x="2163577" y="6917281"/>
            <a:ext cx="383169" cy="143640"/>
          </a:xfrm>
          <a:prstGeom prst="rect">
            <a:avLst/>
          </a:prstGeom>
          <a:noFill/>
        </p:spPr>
        <p:txBody>
          <a:bodyPr wrap="none" lIns="0" rIns="0" tIns="0" bIns="0" anchor="t"/>
          <a:lstStyle/>
          <a:p>
            <a:pPr algn="l">
              <a:lnSpc>
                <a:spcPts val="1107"/>
              </a:lnSpc>
            </a:pPr>
            <a:r>
              <a:rPr sz="922" b="0" i="0">
                <a:solidFill>
                  <a:srgbClr val="5A82A0"/>
                </a:solidFill>
                <a:latin typeface="Versos"/>
              </a:rPr>
              <a:t>3,03%</a:t>
            </a:r>
          </a:p>
        </p:txBody>
      </p:sp>
      <p:sp>
        <p:nvSpPr>
          <p:cNvPr id="51" name="TextBox 50"/>
          <p:cNvSpPr txBox="1"/>
          <p:nvPr/>
        </p:nvSpPr>
        <p:spPr>
          <a:xfrm>
            <a:off x="400680" y="7351509"/>
            <a:ext cx="676166" cy="136080"/>
          </a:xfrm>
          <a:prstGeom prst="rect">
            <a:avLst/>
          </a:prstGeom>
          <a:noFill/>
        </p:spPr>
        <p:txBody>
          <a:bodyPr wrap="none" lIns="0" rIns="0" tIns="0" bIns="0" anchor="t"/>
          <a:lstStyle/>
          <a:p>
            <a:pPr algn="r">
              <a:lnSpc>
                <a:spcPts val="982"/>
              </a:lnSpc>
            </a:pPr>
            <a:r>
              <a:rPr sz="892" b="0" i="0">
                <a:solidFill>
                  <a:srgbClr val="222222"/>
                </a:solidFill>
                <a:latin typeface="Versos"/>
              </a:rPr>
              <a:t>BRADESCO</a:t>
            </a:r>
          </a:p>
        </p:txBody>
      </p:sp>
      <p:sp>
        <p:nvSpPr>
          <p:cNvPr id="52" name="TextBox 51"/>
          <p:cNvSpPr txBox="1"/>
          <p:nvPr/>
        </p:nvSpPr>
        <p:spPr>
          <a:xfrm>
            <a:off x="1973986" y="7349619"/>
            <a:ext cx="378500" cy="143640"/>
          </a:xfrm>
          <a:prstGeom prst="rect">
            <a:avLst/>
          </a:prstGeom>
          <a:noFill/>
        </p:spPr>
        <p:txBody>
          <a:bodyPr wrap="none" lIns="0" rIns="0" tIns="0" bIns="0" anchor="t"/>
          <a:lstStyle/>
          <a:p>
            <a:pPr algn="l">
              <a:lnSpc>
                <a:spcPts val="1107"/>
              </a:lnSpc>
            </a:pPr>
            <a:r>
              <a:rPr sz="922" b="0" i="0">
                <a:solidFill>
                  <a:srgbClr val="5A82A0"/>
                </a:solidFill>
                <a:latin typeface="Versos"/>
              </a:rPr>
              <a:t>2,44%</a:t>
            </a:r>
          </a:p>
        </p:txBody>
      </p:sp>
      <p:sp>
        <p:nvSpPr>
          <p:cNvPr id="53" name="TextBox 52"/>
          <p:cNvSpPr txBox="1"/>
          <p:nvPr/>
        </p:nvSpPr>
        <p:spPr>
          <a:xfrm>
            <a:off x="400680" y="7849288"/>
            <a:ext cx="3412281" cy="143640"/>
          </a:xfrm>
          <a:prstGeom prst="rect">
            <a:avLst/>
          </a:prstGeom>
          <a:noFill/>
        </p:spPr>
        <p:txBody>
          <a:bodyPr wrap="none" lIns="0" rIns="0" tIns="0" bIns="0" anchor="t"/>
          <a:lstStyle/>
          <a:p>
            <a:pPr algn="l">
              <a:lnSpc>
                <a:spcPts val="1142"/>
              </a:lnSpc>
            </a:pPr>
            <a:r>
              <a:rPr sz="952" b="0" i="0">
                <a:solidFill>
                  <a:srgbClr val="111111"/>
                </a:solidFill>
                <a:latin typeface="Versos"/>
              </a:rPr>
              <a:t>DISTRIBUIÇÃO DE RATING DA CARTEIRA DE CRÉDITO</a:t>
            </a:r>
          </a:p>
        </p:txBody>
      </p:sp>
      <p:sp>
        <p:nvSpPr>
          <p:cNvPr id="54" name="TextBox 53"/>
          <p:cNvSpPr txBox="1"/>
          <p:nvPr/>
        </p:nvSpPr>
        <p:spPr>
          <a:xfrm>
            <a:off x="400680" y="825292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a:t>
            </a:r>
          </a:p>
        </p:txBody>
      </p:sp>
      <p:sp>
        <p:nvSpPr>
          <p:cNvPr id="55" name="TextBox 54"/>
          <p:cNvSpPr txBox="1"/>
          <p:nvPr/>
        </p:nvSpPr>
        <p:spPr>
          <a:xfrm>
            <a:off x="2960448" y="8251031"/>
            <a:ext cx="428377" cy="143640"/>
          </a:xfrm>
          <a:prstGeom prst="rect">
            <a:avLst/>
          </a:prstGeom>
          <a:noFill/>
        </p:spPr>
        <p:txBody>
          <a:bodyPr wrap="none" lIns="0" rIns="0" tIns="0" bIns="0" anchor="t"/>
          <a:lstStyle/>
          <a:p>
            <a:pPr algn="l">
              <a:lnSpc>
                <a:spcPts val="1142"/>
              </a:lnSpc>
            </a:pPr>
            <a:r>
              <a:rPr sz="952" b="0" i="0">
                <a:solidFill>
                  <a:srgbClr val="111111"/>
                </a:solidFill>
                <a:latin typeface="Versos"/>
              </a:rPr>
              <a:t>31,97%</a:t>
            </a:r>
          </a:p>
        </p:txBody>
      </p:sp>
      <p:sp>
        <p:nvSpPr>
          <p:cNvPr id="56" name="TextBox 55"/>
          <p:cNvSpPr txBox="1"/>
          <p:nvPr/>
        </p:nvSpPr>
        <p:spPr>
          <a:xfrm>
            <a:off x="400680" y="851704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57" name="TextBox 56"/>
          <p:cNvSpPr txBox="1"/>
          <p:nvPr/>
        </p:nvSpPr>
        <p:spPr>
          <a:xfrm>
            <a:off x="1466167" y="8515158"/>
            <a:ext cx="374201" cy="143640"/>
          </a:xfrm>
          <a:prstGeom prst="rect">
            <a:avLst/>
          </a:prstGeom>
          <a:noFill/>
        </p:spPr>
        <p:txBody>
          <a:bodyPr wrap="none" lIns="0" rIns="0" tIns="0" bIns="0" anchor="t"/>
          <a:lstStyle/>
          <a:p>
            <a:pPr algn="l">
              <a:lnSpc>
                <a:spcPts val="1142"/>
              </a:lnSpc>
            </a:pPr>
            <a:r>
              <a:rPr sz="952" b="0" i="0">
                <a:solidFill>
                  <a:srgbClr val="111111"/>
                </a:solidFill>
                <a:latin typeface="Versos"/>
              </a:rPr>
              <a:t>7,05%</a:t>
            </a:r>
          </a:p>
        </p:txBody>
      </p:sp>
      <p:sp>
        <p:nvSpPr>
          <p:cNvPr id="58" name="TextBox 57"/>
          <p:cNvSpPr txBox="1"/>
          <p:nvPr/>
        </p:nvSpPr>
        <p:spPr>
          <a:xfrm>
            <a:off x="400680" y="878117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59" name="TextBox 58"/>
          <p:cNvSpPr txBox="1"/>
          <p:nvPr/>
        </p:nvSpPr>
        <p:spPr>
          <a:xfrm>
            <a:off x="1390213" y="8779286"/>
            <a:ext cx="383660" cy="143640"/>
          </a:xfrm>
          <a:prstGeom prst="rect">
            <a:avLst/>
          </a:prstGeom>
          <a:noFill/>
        </p:spPr>
        <p:txBody>
          <a:bodyPr wrap="none" lIns="0" rIns="0" tIns="0" bIns="0" anchor="t"/>
          <a:lstStyle/>
          <a:p>
            <a:pPr algn="l">
              <a:lnSpc>
                <a:spcPts val="1142"/>
              </a:lnSpc>
            </a:pPr>
            <a:r>
              <a:rPr sz="952" b="0" i="0">
                <a:solidFill>
                  <a:srgbClr val="111111"/>
                </a:solidFill>
                <a:latin typeface="Versos"/>
              </a:rPr>
              <a:t>5,79%</a:t>
            </a:r>
          </a:p>
        </p:txBody>
      </p:sp>
      <p:sp>
        <p:nvSpPr>
          <p:cNvPr id="60" name="TextBox 59"/>
          <p:cNvSpPr txBox="1"/>
          <p:nvPr/>
        </p:nvSpPr>
        <p:spPr>
          <a:xfrm>
            <a:off x="400680" y="9045303"/>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1" name="TextBox 60"/>
          <p:cNvSpPr txBox="1"/>
          <p:nvPr/>
        </p:nvSpPr>
        <p:spPr>
          <a:xfrm>
            <a:off x="1335403" y="9043413"/>
            <a:ext cx="387591" cy="143640"/>
          </a:xfrm>
          <a:prstGeom prst="rect">
            <a:avLst/>
          </a:prstGeom>
          <a:noFill/>
        </p:spPr>
        <p:txBody>
          <a:bodyPr wrap="none" lIns="0" rIns="0" tIns="0" bIns="0" anchor="t"/>
          <a:lstStyle/>
          <a:p>
            <a:pPr algn="l">
              <a:lnSpc>
                <a:spcPts val="1142"/>
              </a:lnSpc>
            </a:pPr>
            <a:r>
              <a:rPr sz="952" b="0" i="0">
                <a:solidFill>
                  <a:srgbClr val="111111"/>
                </a:solidFill>
                <a:latin typeface="Versos"/>
              </a:rPr>
              <a:t>4,87%</a:t>
            </a:r>
          </a:p>
        </p:txBody>
      </p:sp>
      <p:sp>
        <p:nvSpPr>
          <p:cNvPr id="62" name="TextBox 61"/>
          <p:cNvSpPr txBox="1"/>
          <p:nvPr/>
        </p:nvSpPr>
        <p:spPr>
          <a:xfrm>
            <a:off x="400680" y="9309431"/>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t>
            </a:r>
          </a:p>
        </p:txBody>
      </p:sp>
      <p:sp>
        <p:nvSpPr>
          <p:cNvPr id="63" name="TextBox 62"/>
          <p:cNvSpPr txBox="1"/>
          <p:nvPr/>
        </p:nvSpPr>
        <p:spPr>
          <a:xfrm>
            <a:off x="1284255" y="9307541"/>
            <a:ext cx="394717" cy="143640"/>
          </a:xfrm>
          <a:prstGeom prst="rect">
            <a:avLst/>
          </a:prstGeom>
          <a:noFill/>
        </p:spPr>
        <p:txBody>
          <a:bodyPr wrap="none" lIns="0" rIns="0" tIns="0" bIns="0" anchor="t"/>
          <a:lstStyle/>
          <a:p>
            <a:pPr algn="l">
              <a:lnSpc>
                <a:spcPts val="1142"/>
              </a:lnSpc>
            </a:pPr>
            <a:r>
              <a:rPr sz="952" b="0" i="0">
                <a:solidFill>
                  <a:srgbClr val="111111"/>
                </a:solidFill>
                <a:latin typeface="Versos"/>
              </a:rPr>
              <a:t>4,02%</a:t>
            </a:r>
          </a:p>
        </p:txBody>
      </p:sp>
      <p:sp>
        <p:nvSpPr>
          <p:cNvPr id="64" name="TextBox 63"/>
          <p:cNvSpPr txBox="1"/>
          <p:nvPr/>
        </p:nvSpPr>
        <p:spPr>
          <a:xfrm>
            <a:off x="400680" y="9573558"/>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AA</a:t>
            </a:r>
          </a:p>
        </p:txBody>
      </p:sp>
      <p:sp>
        <p:nvSpPr>
          <p:cNvPr id="65" name="TextBox 64"/>
          <p:cNvSpPr txBox="1"/>
          <p:nvPr/>
        </p:nvSpPr>
        <p:spPr>
          <a:xfrm>
            <a:off x="1258858" y="9571668"/>
            <a:ext cx="393979" cy="143640"/>
          </a:xfrm>
          <a:prstGeom prst="rect">
            <a:avLst/>
          </a:prstGeom>
          <a:noFill/>
        </p:spPr>
        <p:txBody>
          <a:bodyPr wrap="none" lIns="0" rIns="0" tIns="0" bIns="0" anchor="t"/>
          <a:lstStyle/>
          <a:p>
            <a:pPr algn="l">
              <a:lnSpc>
                <a:spcPts val="1142"/>
              </a:lnSpc>
            </a:pPr>
            <a:r>
              <a:rPr sz="952" b="0" i="0">
                <a:solidFill>
                  <a:srgbClr val="111111"/>
                </a:solidFill>
                <a:latin typeface="Versos"/>
              </a:rPr>
              <a:t>3,59%</a:t>
            </a:r>
          </a:p>
        </p:txBody>
      </p:sp>
      <p:sp>
        <p:nvSpPr>
          <p:cNvPr id="66" name="TextBox 65"/>
          <p:cNvSpPr txBox="1"/>
          <p:nvPr/>
        </p:nvSpPr>
        <p:spPr>
          <a:xfrm>
            <a:off x="400680" y="9837686"/>
            <a:ext cx="518918" cy="136080"/>
          </a:xfrm>
          <a:prstGeom prst="rect">
            <a:avLst/>
          </a:prstGeom>
          <a:noFill/>
        </p:spPr>
        <p:txBody>
          <a:bodyPr wrap="none" lIns="0" rIns="0" tIns="0" bIns="0" anchor="t"/>
          <a:lstStyle/>
          <a:p>
            <a:pPr algn="r">
              <a:lnSpc>
                <a:spcPts val="982"/>
              </a:lnSpc>
            </a:pPr>
            <a:r>
              <a:rPr sz="892" b="0" i="0">
                <a:solidFill>
                  <a:srgbClr val="222222"/>
                </a:solidFill>
                <a:latin typeface="Versos"/>
              </a:rPr>
              <a:t>BB</a:t>
            </a:r>
          </a:p>
        </p:txBody>
      </p:sp>
      <p:sp>
        <p:nvSpPr>
          <p:cNvPr id="67" name="TextBox 66"/>
          <p:cNvSpPr txBox="1"/>
          <p:nvPr/>
        </p:nvSpPr>
        <p:spPr>
          <a:xfrm>
            <a:off x="1082497" y="9835796"/>
            <a:ext cx="398648" cy="143640"/>
          </a:xfrm>
          <a:prstGeom prst="rect">
            <a:avLst/>
          </a:prstGeom>
          <a:noFill/>
        </p:spPr>
        <p:txBody>
          <a:bodyPr wrap="none" lIns="0" rIns="0" tIns="0" bIns="0" anchor="t"/>
          <a:lstStyle/>
          <a:p>
            <a:pPr algn="l">
              <a:lnSpc>
                <a:spcPts val="1142"/>
              </a:lnSpc>
            </a:pPr>
            <a:r>
              <a:rPr sz="952" b="0" i="0">
                <a:solidFill>
                  <a:srgbClr val="111111"/>
                </a:solidFill>
                <a:latin typeface="Versos"/>
              </a:rPr>
              <a:t>0,66%</a:t>
            </a:r>
          </a:p>
        </p:txBody>
      </p:sp>
      <p:sp>
        <p:nvSpPr>
          <p:cNvPr id="68" name="TextBox 67"/>
          <p:cNvSpPr txBox="1"/>
          <p:nvPr/>
        </p:nvSpPr>
        <p:spPr>
          <a:xfrm>
            <a:off x="3802680" y="5134421"/>
            <a:ext cx="3490905" cy="143640"/>
          </a:xfrm>
          <a:prstGeom prst="rect">
            <a:avLst/>
          </a:prstGeom>
          <a:noFill/>
        </p:spPr>
        <p:txBody>
          <a:bodyPr wrap="none" lIns="0" rIns="0" tIns="0" bIns="0" anchor="t"/>
          <a:lstStyle/>
          <a:p>
            <a:pPr algn="l">
              <a:lnSpc>
                <a:spcPts val="1142"/>
              </a:lnSpc>
            </a:pPr>
            <a:r>
              <a:rPr sz="952" b="0" i="0">
                <a:solidFill>
                  <a:srgbClr val="111111"/>
                </a:solidFill>
                <a:latin typeface="Versos"/>
              </a:rPr>
              <a:t>ALOCAÇÃO DA CARTEIRA DE CRÉDITO POR SETOR</a:t>
            </a:r>
          </a:p>
        </p:txBody>
      </p:sp>
      <p:sp>
        <p:nvSpPr>
          <p:cNvPr id="69" name="TextBox 68"/>
          <p:cNvSpPr txBox="1"/>
          <p:nvPr/>
        </p:nvSpPr>
        <p:spPr>
          <a:xfrm>
            <a:off x="3802680" y="55260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Caixa</a:t>
            </a:r>
          </a:p>
        </p:txBody>
      </p:sp>
      <p:sp>
        <p:nvSpPr>
          <p:cNvPr id="70" name="TextBox 69"/>
          <p:cNvSpPr txBox="1"/>
          <p:nvPr/>
        </p:nvSpPr>
        <p:spPr>
          <a:xfrm>
            <a:off x="6752497" y="5518209"/>
            <a:ext cx="433414" cy="143640"/>
          </a:xfrm>
          <a:prstGeom prst="rect">
            <a:avLst/>
          </a:prstGeom>
          <a:noFill/>
        </p:spPr>
        <p:txBody>
          <a:bodyPr wrap="none" lIns="0" rIns="0" tIns="0" bIns="0" anchor="t"/>
          <a:lstStyle/>
          <a:p>
            <a:pPr algn="l">
              <a:lnSpc>
                <a:spcPts val="1142"/>
              </a:lnSpc>
            </a:pPr>
            <a:r>
              <a:rPr sz="952" b="0" i="0">
                <a:solidFill>
                  <a:srgbClr val="111111"/>
                </a:solidFill>
                <a:latin typeface="Versos"/>
              </a:rPr>
              <a:t>30,12%</a:t>
            </a:r>
          </a:p>
        </p:txBody>
      </p:sp>
      <p:sp>
        <p:nvSpPr>
          <p:cNvPr id="71" name="TextBox 70"/>
          <p:cNvSpPr txBox="1"/>
          <p:nvPr/>
        </p:nvSpPr>
        <p:spPr>
          <a:xfrm>
            <a:off x="3802680" y="575410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a:t>
            </a:r>
          </a:p>
        </p:txBody>
      </p:sp>
      <p:sp>
        <p:nvSpPr>
          <p:cNvPr id="72" name="TextBox 71"/>
          <p:cNvSpPr txBox="1"/>
          <p:nvPr/>
        </p:nvSpPr>
        <p:spPr>
          <a:xfrm>
            <a:off x="6644176" y="5746426"/>
            <a:ext cx="447911" cy="143640"/>
          </a:xfrm>
          <a:prstGeom prst="rect">
            <a:avLst/>
          </a:prstGeom>
          <a:noFill/>
        </p:spPr>
        <p:txBody>
          <a:bodyPr wrap="none" lIns="0" rIns="0" tIns="0" bIns="0" anchor="t"/>
          <a:lstStyle/>
          <a:p>
            <a:pPr algn="l">
              <a:lnSpc>
                <a:spcPts val="1142"/>
              </a:lnSpc>
            </a:pPr>
            <a:r>
              <a:rPr sz="952" b="0" i="0">
                <a:solidFill>
                  <a:srgbClr val="111111"/>
                </a:solidFill>
                <a:latin typeface="Versos"/>
              </a:rPr>
              <a:t>27,54%</a:t>
            </a:r>
          </a:p>
        </p:txBody>
      </p:sp>
      <p:sp>
        <p:nvSpPr>
          <p:cNvPr id="73" name="TextBox 72"/>
          <p:cNvSpPr txBox="1"/>
          <p:nvPr/>
        </p:nvSpPr>
        <p:spPr>
          <a:xfrm>
            <a:off x="3802680" y="598232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FIDC</a:t>
            </a:r>
          </a:p>
        </p:txBody>
      </p:sp>
      <p:sp>
        <p:nvSpPr>
          <p:cNvPr id="74" name="TextBox 73"/>
          <p:cNvSpPr txBox="1"/>
          <p:nvPr/>
        </p:nvSpPr>
        <p:spPr>
          <a:xfrm>
            <a:off x="6031935" y="5974526"/>
            <a:ext cx="434889" cy="143640"/>
          </a:xfrm>
          <a:prstGeom prst="rect">
            <a:avLst/>
          </a:prstGeom>
          <a:noFill/>
        </p:spPr>
        <p:txBody>
          <a:bodyPr wrap="none" lIns="0" rIns="0" tIns="0" bIns="0" anchor="t"/>
          <a:lstStyle/>
          <a:p>
            <a:pPr algn="l">
              <a:lnSpc>
                <a:spcPts val="1142"/>
              </a:lnSpc>
            </a:pPr>
            <a:r>
              <a:rPr sz="952" b="0" i="0">
                <a:solidFill>
                  <a:srgbClr val="111111"/>
                </a:solidFill>
                <a:latin typeface="Versos"/>
              </a:rPr>
              <a:t>12,95%</a:t>
            </a:r>
          </a:p>
        </p:txBody>
      </p:sp>
      <p:sp>
        <p:nvSpPr>
          <p:cNvPr id="75" name="TextBox 74"/>
          <p:cNvSpPr txBox="1"/>
          <p:nvPr/>
        </p:nvSpPr>
        <p:spPr>
          <a:xfrm>
            <a:off x="3802680" y="621042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 Elétrica</a:t>
            </a:r>
          </a:p>
        </p:txBody>
      </p:sp>
      <p:sp>
        <p:nvSpPr>
          <p:cNvPr id="76" name="TextBox 75"/>
          <p:cNvSpPr txBox="1"/>
          <p:nvPr/>
        </p:nvSpPr>
        <p:spPr>
          <a:xfrm>
            <a:off x="5775249" y="6202743"/>
            <a:ext cx="395699" cy="143640"/>
          </a:xfrm>
          <a:prstGeom prst="rect">
            <a:avLst/>
          </a:prstGeom>
          <a:noFill/>
        </p:spPr>
        <p:txBody>
          <a:bodyPr wrap="none" lIns="0" rIns="0" tIns="0" bIns="0" anchor="t"/>
          <a:lstStyle/>
          <a:p>
            <a:pPr algn="l">
              <a:lnSpc>
                <a:spcPts val="1142"/>
              </a:lnSpc>
            </a:pPr>
            <a:r>
              <a:rPr sz="952" b="0" i="0">
                <a:solidFill>
                  <a:srgbClr val="111111"/>
                </a:solidFill>
                <a:latin typeface="Versos"/>
              </a:rPr>
              <a:t>6,83%</a:t>
            </a:r>
          </a:p>
        </p:txBody>
      </p:sp>
      <p:sp>
        <p:nvSpPr>
          <p:cNvPr id="77" name="TextBox 76"/>
          <p:cNvSpPr txBox="1"/>
          <p:nvPr/>
        </p:nvSpPr>
        <p:spPr>
          <a:xfrm>
            <a:off x="3802680" y="643863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Saneamento</a:t>
            </a:r>
          </a:p>
        </p:txBody>
      </p:sp>
      <p:sp>
        <p:nvSpPr>
          <p:cNvPr id="78" name="TextBox 77"/>
          <p:cNvSpPr txBox="1"/>
          <p:nvPr/>
        </p:nvSpPr>
        <p:spPr>
          <a:xfrm>
            <a:off x="5624994" y="6430843"/>
            <a:ext cx="386486" cy="143640"/>
          </a:xfrm>
          <a:prstGeom prst="rect">
            <a:avLst/>
          </a:prstGeom>
          <a:noFill/>
        </p:spPr>
        <p:txBody>
          <a:bodyPr wrap="none" lIns="0" rIns="0" tIns="0" bIns="0" anchor="t"/>
          <a:lstStyle/>
          <a:p>
            <a:pPr algn="l">
              <a:lnSpc>
                <a:spcPts val="1142"/>
              </a:lnSpc>
            </a:pPr>
            <a:r>
              <a:rPr sz="952" b="0" i="0">
                <a:solidFill>
                  <a:srgbClr val="111111"/>
                </a:solidFill>
                <a:latin typeface="Versos"/>
              </a:rPr>
              <a:t>3,25%</a:t>
            </a:r>
          </a:p>
        </p:txBody>
      </p:sp>
      <p:sp>
        <p:nvSpPr>
          <p:cNvPr id="79" name="TextBox 78"/>
          <p:cNvSpPr txBox="1"/>
          <p:nvPr/>
        </p:nvSpPr>
        <p:spPr>
          <a:xfrm>
            <a:off x="3802680" y="6610275"/>
            <a:ext cx="1542240" cy="234005"/>
          </a:xfrm>
          <a:prstGeom prst="rect">
            <a:avLst/>
          </a:prstGeom>
          <a:noFill/>
        </p:spPr>
        <p:txBody>
          <a:bodyPr wrap="square" lIns="0" rIns="0" tIns="0" bIns="0" anchor="t"/>
          <a:lstStyle/>
          <a:p>
            <a:pPr algn="r">
              <a:lnSpc>
                <a:spcPts val="890"/>
              </a:lnSpc>
            </a:pPr>
            <a:r>
              <a:rPr sz="809" b="0" i="0">
                <a:solidFill>
                  <a:srgbClr val="222222"/>
                </a:solidFill>
                <a:latin typeface="Versos"/>
              </a:rPr>
              <a:t>Comércio atacadista e varejista</a:t>
            </a:r>
          </a:p>
        </p:txBody>
      </p:sp>
      <p:sp>
        <p:nvSpPr>
          <p:cNvPr id="80" name="TextBox 79"/>
          <p:cNvSpPr txBox="1"/>
          <p:nvPr/>
        </p:nvSpPr>
        <p:spPr>
          <a:xfrm>
            <a:off x="5619678" y="6659060"/>
            <a:ext cx="350122" cy="143640"/>
          </a:xfrm>
          <a:prstGeom prst="rect">
            <a:avLst/>
          </a:prstGeom>
          <a:noFill/>
        </p:spPr>
        <p:txBody>
          <a:bodyPr wrap="none" lIns="0" rIns="0" tIns="0" bIns="0" anchor="t"/>
          <a:lstStyle/>
          <a:p>
            <a:pPr algn="l">
              <a:lnSpc>
                <a:spcPts val="1142"/>
              </a:lnSpc>
            </a:pPr>
            <a:r>
              <a:rPr sz="952" b="0" i="0">
                <a:solidFill>
                  <a:srgbClr val="111111"/>
                </a:solidFill>
                <a:latin typeface="Versos"/>
              </a:rPr>
              <a:t>3,12%</a:t>
            </a:r>
          </a:p>
        </p:txBody>
      </p:sp>
      <p:sp>
        <p:nvSpPr>
          <p:cNvPr id="81" name="TextBox 80"/>
          <p:cNvSpPr txBox="1"/>
          <p:nvPr/>
        </p:nvSpPr>
        <p:spPr>
          <a:xfrm>
            <a:off x="3802680" y="689495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Locação de veículos</a:t>
            </a:r>
          </a:p>
        </p:txBody>
      </p:sp>
      <p:sp>
        <p:nvSpPr>
          <p:cNvPr id="82" name="TextBox 81"/>
          <p:cNvSpPr txBox="1"/>
          <p:nvPr/>
        </p:nvSpPr>
        <p:spPr>
          <a:xfrm>
            <a:off x="5604204" y="6887160"/>
            <a:ext cx="383169" cy="143640"/>
          </a:xfrm>
          <a:prstGeom prst="rect">
            <a:avLst/>
          </a:prstGeom>
          <a:noFill/>
        </p:spPr>
        <p:txBody>
          <a:bodyPr wrap="none" lIns="0" rIns="0" tIns="0" bIns="0" anchor="t"/>
          <a:lstStyle/>
          <a:p>
            <a:pPr algn="l">
              <a:lnSpc>
                <a:spcPts val="1142"/>
              </a:lnSpc>
            </a:pPr>
            <a:r>
              <a:rPr sz="952" b="0" i="0">
                <a:solidFill>
                  <a:srgbClr val="111111"/>
                </a:solidFill>
                <a:latin typeface="Versos"/>
              </a:rPr>
              <a:t>2,76%</a:t>
            </a:r>
          </a:p>
        </p:txBody>
      </p:sp>
      <p:sp>
        <p:nvSpPr>
          <p:cNvPr id="83" name="TextBox 82"/>
          <p:cNvSpPr txBox="1"/>
          <p:nvPr/>
        </p:nvSpPr>
        <p:spPr>
          <a:xfrm>
            <a:off x="3802680" y="7123055"/>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Transporte e Logística</a:t>
            </a:r>
          </a:p>
        </p:txBody>
      </p:sp>
      <p:sp>
        <p:nvSpPr>
          <p:cNvPr id="84" name="TextBox 83"/>
          <p:cNvSpPr txBox="1"/>
          <p:nvPr/>
        </p:nvSpPr>
        <p:spPr>
          <a:xfrm>
            <a:off x="5585304" y="7115377"/>
            <a:ext cx="357124" cy="143640"/>
          </a:xfrm>
          <a:prstGeom prst="rect">
            <a:avLst/>
          </a:prstGeom>
          <a:noFill/>
        </p:spPr>
        <p:txBody>
          <a:bodyPr wrap="none" lIns="0" rIns="0" tIns="0" bIns="0" anchor="t"/>
          <a:lstStyle/>
          <a:p>
            <a:pPr algn="l">
              <a:lnSpc>
                <a:spcPts val="1142"/>
              </a:lnSpc>
            </a:pPr>
            <a:r>
              <a:rPr sz="952" b="0" i="0">
                <a:solidFill>
                  <a:srgbClr val="111111"/>
                </a:solidFill>
                <a:latin typeface="Versos"/>
              </a:rPr>
              <a:t>2,31%</a:t>
            </a:r>
          </a:p>
        </p:txBody>
      </p:sp>
      <p:sp>
        <p:nvSpPr>
          <p:cNvPr id="85" name="TextBox 84"/>
          <p:cNvSpPr txBox="1"/>
          <p:nvPr/>
        </p:nvSpPr>
        <p:spPr>
          <a:xfrm>
            <a:off x="3802680" y="7351273"/>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Assistência médica</a:t>
            </a:r>
          </a:p>
        </p:txBody>
      </p:sp>
      <p:sp>
        <p:nvSpPr>
          <p:cNvPr id="86" name="TextBox 85"/>
          <p:cNvSpPr txBox="1"/>
          <p:nvPr/>
        </p:nvSpPr>
        <p:spPr>
          <a:xfrm>
            <a:off x="5575618" y="7343476"/>
            <a:ext cx="397296" cy="143640"/>
          </a:xfrm>
          <a:prstGeom prst="rect">
            <a:avLst/>
          </a:prstGeom>
          <a:noFill/>
        </p:spPr>
        <p:txBody>
          <a:bodyPr wrap="none" lIns="0" rIns="0" tIns="0" bIns="0" anchor="t"/>
          <a:lstStyle/>
          <a:p>
            <a:pPr algn="l">
              <a:lnSpc>
                <a:spcPts val="1142"/>
              </a:lnSpc>
            </a:pPr>
            <a:r>
              <a:rPr sz="952" b="0" i="0">
                <a:solidFill>
                  <a:srgbClr val="111111"/>
                </a:solidFill>
                <a:latin typeface="Versos"/>
              </a:rPr>
              <a:t>2,08%</a:t>
            </a:r>
          </a:p>
        </p:txBody>
      </p:sp>
      <p:sp>
        <p:nvSpPr>
          <p:cNvPr id="87" name="TextBox 86"/>
          <p:cNvSpPr txBox="1"/>
          <p:nvPr/>
        </p:nvSpPr>
        <p:spPr>
          <a:xfrm>
            <a:off x="3802680" y="7579372"/>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Indústria e Comércio</a:t>
            </a:r>
          </a:p>
        </p:txBody>
      </p:sp>
      <p:sp>
        <p:nvSpPr>
          <p:cNvPr id="88" name="TextBox 87"/>
          <p:cNvSpPr txBox="1"/>
          <p:nvPr/>
        </p:nvSpPr>
        <p:spPr>
          <a:xfrm>
            <a:off x="5566404" y="7571694"/>
            <a:ext cx="366461" cy="143640"/>
          </a:xfrm>
          <a:prstGeom prst="rect">
            <a:avLst/>
          </a:prstGeom>
          <a:noFill/>
        </p:spPr>
        <p:txBody>
          <a:bodyPr wrap="none" lIns="0" rIns="0" tIns="0" bIns="0" anchor="t"/>
          <a:lstStyle/>
          <a:p>
            <a:pPr algn="l">
              <a:lnSpc>
                <a:spcPts val="1142"/>
              </a:lnSpc>
            </a:pPr>
            <a:r>
              <a:rPr sz="952" b="0" i="0">
                <a:solidFill>
                  <a:srgbClr val="111111"/>
                </a:solidFill>
                <a:latin typeface="Versos"/>
              </a:rPr>
              <a:t>1,86%</a:t>
            </a:r>
          </a:p>
        </p:txBody>
      </p:sp>
      <p:sp>
        <p:nvSpPr>
          <p:cNvPr id="89" name="TextBox 88"/>
          <p:cNvSpPr txBox="1"/>
          <p:nvPr/>
        </p:nvSpPr>
        <p:spPr>
          <a:xfrm>
            <a:off x="3802680" y="7807590"/>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TI e Telecomunicações</a:t>
            </a:r>
          </a:p>
        </p:txBody>
      </p:sp>
      <p:sp>
        <p:nvSpPr>
          <p:cNvPr id="90" name="TextBox 89"/>
          <p:cNvSpPr txBox="1"/>
          <p:nvPr/>
        </p:nvSpPr>
        <p:spPr>
          <a:xfrm>
            <a:off x="5554355" y="7799793"/>
            <a:ext cx="348525" cy="143640"/>
          </a:xfrm>
          <a:prstGeom prst="rect">
            <a:avLst/>
          </a:prstGeom>
          <a:noFill/>
        </p:spPr>
        <p:txBody>
          <a:bodyPr wrap="none" lIns="0" rIns="0" tIns="0" bIns="0" anchor="t"/>
          <a:lstStyle/>
          <a:p>
            <a:pPr algn="l">
              <a:lnSpc>
                <a:spcPts val="1142"/>
              </a:lnSpc>
            </a:pPr>
            <a:r>
              <a:rPr sz="952" b="0" i="0">
                <a:solidFill>
                  <a:srgbClr val="111111"/>
                </a:solidFill>
                <a:latin typeface="Versos"/>
              </a:rPr>
              <a:t>1,57%</a:t>
            </a:r>
          </a:p>
        </p:txBody>
      </p:sp>
      <p:sp>
        <p:nvSpPr>
          <p:cNvPr id="91" name="TextBox 90"/>
          <p:cNvSpPr txBox="1"/>
          <p:nvPr/>
        </p:nvSpPr>
        <p:spPr>
          <a:xfrm>
            <a:off x="3802680" y="803568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Petróleo e Gás</a:t>
            </a:r>
          </a:p>
        </p:txBody>
      </p:sp>
      <p:sp>
        <p:nvSpPr>
          <p:cNvPr id="92" name="TextBox 91"/>
          <p:cNvSpPr txBox="1"/>
          <p:nvPr/>
        </p:nvSpPr>
        <p:spPr>
          <a:xfrm>
            <a:off x="5536400" y="8028011"/>
            <a:ext cx="318058" cy="143640"/>
          </a:xfrm>
          <a:prstGeom prst="rect">
            <a:avLst/>
          </a:prstGeom>
          <a:noFill/>
        </p:spPr>
        <p:txBody>
          <a:bodyPr wrap="none" lIns="0" rIns="0" tIns="0" bIns="0" anchor="t"/>
          <a:lstStyle/>
          <a:p>
            <a:pPr algn="l">
              <a:lnSpc>
                <a:spcPts val="1142"/>
              </a:lnSpc>
            </a:pPr>
            <a:r>
              <a:rPr sz="952" b="0" i="0">
                <a:solidFill>
                  <a:srgbClr val="111111"/>
                </a:solidFill>
                <a:latin typeface="Versos"/>
              </a:rPr>
              <a:t>1,14%</a:t>
            </a:r>
          </a:p>
        </p:txBody>
      </p:sp>
      <p:sp>
        <p:nvSpPr>
          <p:cNvPr id="93" name="TextBox 92"/>
          <p:cNvSpPr txBox="1"/>
          <p:nvPr/>
        </p:nvSpPr>
        <p:spPr>
          <a:xfrm>
            <a:off x="3802680" y="826390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Educação</a:t>
            </a:r>
          </a:p>
        </p:txBody>
      </p:sp>
      <p:sp>
        <p:nvSpPr>
          <p:cNvPr id="94" name="TextBox 93"/>
          <p:cNvSpPr txBox="1"/>
          <p:nvPr/>
        </p:nvSpPr>
        <p:spPr>
          <a:xfrm>
            <a:off x="5530494" y="8256228"/>
            <a:ext cx="369778" cy="143640"/>
          </a:xfrm>
          <a:prstGeom prst="rect">
            <a:avLst/>
          </a:prstGeom>
          <a:noFill/>
        </p:spPr>
        <p:txBody>
          <a:bodyPr wrap="none" lIns="0" rIns="0" tIns="0" bIns="0" anchor="t"/>
          <a:lstStyle/>
          <a:p>
            <a:pPr algn="l">
              <a:lnSpc>
                <a:spcPts val="1142"/>
              </a:lnSpc>
            </a:pPr>
            <a:r>
              <a:rPr sz="952" b="0" i="0">
                <a:solidFill>
                  <a:srgbClr val="111111"/>
                </a:solidFill>
                <a:latin typeface="Versos"/>
              </a:rPr>
              <a:t>1,00%</a:t>
            </a:r>
          </a:p>
        </p:txBody>
      </p:sp>
      <p:sp>
        <p:nvSpPr>
          <p:cNvPr id="95" name="TextBox 94"/>
          <p:cNvSpPr txBox="1"/>
          <p:nvPr/>
        </p:nvSpPr>
        <p:spPr>
          <a:xfrm>
            <a:off x="3802680" y="849212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Metalurgia e Siderurgia</a:t>
            </a:r>
          </a:p>
        </p:txBody>
      </p:sp>
      <p:sp>
        <p:nvSpPr>
          <p:cNvPr id="96" name="TextBox 95"/>
          <p:cNvSpPr txBox="1"/>
          <p:nvPr/>
        </p:nvSpPr>
        <p:spPr>
          <a:xfrm>
            <a:off x="5525651" y="8484446"/>
            <a:ext cx="401473" cy="143640"/>
          </a:xfrm>
          <a:prstGeom prst="rect">
            <a:avLst/>
          </a:prstGeom>
          <a:noFill/>
        </p:spPr>
        <p:txBody>
          <a:bodyPr wrap="none" lIns="0" rIns="0" tIns="0" bIns="0" anchor="t"/>
          <a:lstStyle/>
          <a:p>
            <a:pPr algn="l">
              <a:lnSpc>
                <a:spcPts val="1142"/>
              </a:lnSpc>
            </a:pPr>
            <a:r>
              <a:rPr sz="952" b="0" i="0">
                <a:solidFill>
                  <a:srgbClr val="111111"/>
                </a:solidFill>
                <a:latin typeface="Versos"/>
              </a:rPr>
              <a:t>0,88%</a:t>
            </a:r>
          </a:p>
        </p:txBody>
      </p:sp>
      <p:sp>
        <p:nvSpPr>
          <p:cNvPr id="97" name="TextBox 96"/>
          <p:cNvSpPr txBox="1"/>
          <p:nvPr/>
        </p:nvSpPr>
        <p:spPr>
          <a:xfrm>
            <a:off x="3802680" y="872034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Agrícola</a:t>
            </a:r>
          </a:p>
        </p:txBody>
      </p:sp>
      <p:sp>
        <p:nvSpPr>
          <p:cNvPr id="98" name="TextBox 97"/>
          <p:cNvSpPr txBox="1"/>
          <p:nvPr/>
        </p:nvSpPr>
        <p:spPr>
          <a:xfrm>
            <a:off x="5513130" y="8712663"/>
            <a:ext cx="396682" cy="143640"/>
          </a:xfrm>
          <a:prstGeom prst="rect">
            <a:avLst/>
          </a:prstGeom>
          <a:noFill/>
        </p:spPr>
        <p:txBody>
          <a:bodyPr wrap="none" lIns="0" rIns="0" tIns="0" bIns="0" anchor="t"/>
          <a:lstStyle/>
          <a:p>
            <a:pPr algn="l">
              <a:lnSpc>
                <a:spcPts val="1142"/>
              </a:lnSpc>
            </a:pPr>
            <a:r>
              <a:rPr sz="952" b="0" i="0">
                <a:solidFill>
                  <a:srgbClr val="111111"/>
                </a:solidFill>
                <a:latin typeface="Versos"/>
              </a:rPr>
              <a:t>0,59%</a:t>
            </a:r>
          </a:p>
        </p:txBody>
      </p:sp>
      <p:sp>
        <p:nvSpPr>
          <p:cNvPr id="99" name="TextBox 98"/>
          <p:cNvSpPr txBox="1"/>
          <p:nvPr/>
        </p:nvSpPr>
        <p:spPr>
          <a:xfrm>
            <a:off x="3802680" y="894855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Energia</a:t>
            </a:r>
          </a:p>
        </p:txBody>
      </p:sp>
      <p:sp>
        <p:nvSpPr>
          <p:cNvPr id="100" name="TextBox 99"/>
          <p:cNvSpPr txBox="1"/>
          <p:nvPr/>
        </p:nvSpPr>
        <p:spPr>
          <a:xfrm>
            <a:off x="5511358" y="8940881"/>
            <a:ext cx="391031" cy="143640"/>
          </a:xfrm>
          <a:prstGeom prst="rect">
            <a:avLst/>
          </a:prstGeom>
          <a:noFill/>
        </p:spPr>
        <p:txBody>
          <a:bodyPr wrap="none" lIns="0" rIns="0" tIns="0" bIns="0" anchor="t"/>
          <a:lstStyle/>
          <a:p>
            <a:pPr algn="l">
              <a:lnSpc>
                <a:spcPts val="1142"/>
              </a:lnSpc>
            </a:pPr>
            <a:r>
              <a:rPr sz="952" b="0" i="0">
                <a:solidFill>
                  <a:srgbClr val="111111"/>
                </a:solidFill>
                <a:latin typeface="Versos"/>
              </a:rPr>
              <a:t>0,55%</a:t>
            </a:r>
          </a:p>
        </p:txBody>
      </p:sp>
      <p:sp>
        <p:nvSpPr>
          <p:cNvPr id="101" name="TextBox 100"/>
          <p:cNvSpPr txBox="1"/>
          <p:nvPr/>
        </p:nvSpPr>
        <p:spPr>
          <a:xfrm>
            <a:off x="3802680" y="9176776"/>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Financeiro Corp</a:t>
            </a:r>
          </a:p>
        </p:txBody>
      </p:sp>
      <p:sp>
        <p:nvSpPr>
          <p:cNvPr id="102" name="TextBox 101"/>
          <p:cNvSpPr txBox="1"/>
          <p:nvPr/>
        </p:nvSpPr>
        <p:spPr>
          <a:xfrm>
            <a:off x="5507460" y="9169098"/>
            <a:ext cx="394594" cy="143640"/>
          </a:xfrm>
          <a:prstGeom prst="rect">
            <a:avLst/>
          </a:prstGeom>
          <a:noFill/>
        </p:spPr>
        <p:txBody>
          <a:bodyPr wrap="none" lIns="0" rIns="0" tIns="0" bIns="0" anchor="t"/>
          <a:lstStyle/>
          <a:p>
            <a:pPr algn="l">
              <a:lnSpc>
                <a:spcPts val="1142"/>
              </a:lnSpc>
            </a:pPr>
            <a:r>
              <a:rPr sz="952" b="0" i="0">
                <a:solidFill>
                  <a:srgbClr val="111111"/>
                </a:solidFill>
                <a:latin typeface="Versos"/>
              </a:rPr>
              <a:t>0,45%</a:t>
            </a:r>
          </a:p>
        </p:txBody>
      </p:sp>
      <p:sp>
        <p:nvSpPr>
          <p:cNvPr id="103" name="TextBox 102"/>
          <p:cNvSpPr txBox="1"/>
          <p:nvPr/>
        </p:nvSpPr>
        <p:spPr>
          <a:xfrm>
            <a:off x="3802680" y="9404994"/>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Alimentos e bebidas</a:t>
            </a:r>
          </a:p>
        </p:txBody>
      </p:sp>
      <p:sp>
        <p:nvSpPr>
          <p:cNvPr id="104" name="TextBox 103"/>
          <p:cNvSpPr txBox="1"/>
          <p:nvPr/>
        </p:nvSpPr>
        <p:spPr>
          <a:xfrm>
            <a:off x="5506042" y="9397316"/>
            <a:ext cx="395331" cy="143640"/>
          </a:xfrm>
          <a:prstGeom prst="rect">
            <a:avLst/>
          </a:prstGeom>
          <a:noFill/>
        </p:spPr>
        <p:txBody>
          <a:bodyPr wrap="none" lIns="0" rIns="0" tIns="0" bIns="0" anchor="t"/>
          <a:lstStyle/>
          <a:p>
            <a:pPr algn="l">
              <a:lnSpc>
                <a:spcPts val="1142"/>
              </a:lnSpc>
            </a:pPr>
            <a:r>
              <a:rPr sz="952" b="0" i="0">
                <a:solidFill>
                  <a:srgbClr val="111111"/>
                </a:solidFill>
                <a:latin typeface="Versos"/>
              </a:rPr>
              <a:t>0,42%</a:t>
            </a:r>
          </a:p>
        </p:txBody>
      </p:sp>
      <p:sp>
        <p:nvSpPr>
          <p:cNvPr id="105" name="TextBox 104"/>
          <p:cNvSpPr txBox="1"/>
          <p:nvPr/>
        </p:nvSpPr>
        <p:spPr>
          <a:xfrm>
            <a:off x="3802680" y="9633211"/>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Outros</a:t>
            </a:r>
          </a:p>
        </p:txBody>
      </p:sp>
      <p:sp>
        <p:nvSpPr>
          <p:cNvPr id="106" name="TextBox 105"/>
          <p:cNvSpPr txBox="1"/>
          <p:nvPr/>
        </p:nvSpPr>
        <p:spPr>
          <a:xfrm>
            <a:off x="5498128" y="9625533"/>
            <a:ext cx="392137" cy="143640"/>
          </a:xfrm>
          <a:prstGeom prst="rect">
            <a:avLst/>
          </a:prstGeom>
          <a:noFill/>
        </p:spPr>
        <p:txBody>
          <a:bodyPr wrap="none" lIns="0" rIns="0" tIns="0" bIns="0" anchor="t"/>
          <a:lstStyle/>
          <a:p>
            <a:pPr algn="l">
              <a:lnSpc>
                <a:spcPts val="1142"/>
              </a:lnSpc>
            </a:pPr>
            <a:r>
              <a:rPr sz="952" b="0" i="0">
                <a:solidFill>
                  <a:srgbClr val="111111"/>
                </a:solidFill>
                <a:latin typeface="Versos"/>
              </a:rPr>
              <a:t>0,23%</a:t>
            </a:r>
          </a:p>
        </p:txBody>
      </p:sp>
      <p:sp>
        <p:nvSpPr>
          <p:cNvPr id="107" name="TextBox 106"/>
          <p:cNvSpPr txBox="1"/>
          <p:nvPr/>
        </p:nvSpPr>
        <p:spPr>
          <a:xfrm>
            <a:off x="3802680" y="9861429"/>
            <a:ext cx="1603929" cy="120960"/>
          </a:xfrm>
          <a:prstGeom prst="rect">
            <a:avLst/>
          </a:prstGeom>
          <a:noFill/>
        </p:spPr>
        <p:txBody>
          <a:bodyPr wrap="none" lIns="0" rIns="0" tIns="0" bIns="0" anchor="t"/>
          <a:lstStyle/>
          <a:p>
            <a:pPr algn="r">
              <a:lnSpc>
                <a:spcPts val="890"/>
              </a:lnSpc>
            </a:pPr>
            <a:r>
              <a:rPr sz="809" b="0" i="0">
                <a:solidFill>
                  <a:srgbClr val="222222"/>
                </a:solidFill>
                <a:latin typeface="Versos"/>
              </a:rPr>
              <a:t>Distribuição</a:t>
            </a:r>
          </a:p>
        </p:txBody>
      </p:sp>
      <p:sp>
        <p:nvSpPr>
          <p:cNvPr id="108" name="TextBox 107"/>
          <p:cNvSpPr txBox="1"/>
          <p:nvPr/>
        </p:nvSpPr>
        <p:spPr>
          <a:xfrm>
            <a:off x="5498010" y="9853751"/>
            <a:ext cx="351965" cy="143640"/>
          </a:xfrm>
          <a:prstGeom prst="rect">
            <a:avLst/>
          </a:prstGeom>
          <a:noFill/>
        </p:spPr>
        <p:txBody>
          <a:bodyPr wrap="none" lIns="0" rIns="0" tIns="0" bIns="0" anchor="t"/>
          <a:lstStyle/>
          <a:p>
            <a:pPr algn="l">
              <a:lnSpc>
                <a:spcPts val="1142"/>
              </a:lnSpc>
            </a:pPr>
            <a:r>
              <a:rPr sz="952" b="0" i="0">
                <a:solidFill>
                  <a:srgbClr val="111111"/>
                </a:solidFill>
                <a:latin typeface="Versos"/>
              </a:rPr>
              <a:t>0,14%</a:t>
            </a:r>
          </a:p>
        </p:txBody>
      </p:sp>
      <p:sp>
        <p:nvSpPr>
          <p:cNvPr id="109" name="TextBox 108"/>
          <p:cNvSpPr txBox="1"/>
          <p:nvPr/>
        </p:nvSpPr>
        <p:spPr>
          <a:xfrm>
            <a:off x="7101793" y="10266480"/>
            <a:ext cx="44103" cy="136080"/>
          </a:xfrm>
          <a:prstGeom prst="rect">
            <a:avLst/>
          </a:prstGeom>
          <a:noFill/>
        </p:spPr>
        <p:txBody>
          <a:bodyPr wrap="none" lIns="0" rIns="0" tIns="0" bIns="0" anchor="t"/>
          <a:lstStyle/>
          <a:p>
            <a:pPr algn="l">
              <a:lnSpc>
                <a:spcPts val="892"/>
              </a:lnSpc>
            </a:pPr>
            <a:r>
              <a:rPr sz="892" b="0" i="0">
                <a:solidFill>
                  <a:srgbClr val="111111"/>
                </a:solidFill>
                <a:latin typeface="Versos"/>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RENTABILIDADE HISTÓRICA</a:t>
            </a:r>
          </a:p>
        </p:txBody>
      </p:sp>
      <p:sp>
        <p:nvSpPr>
          <p:cNvPr id="5" name="TextBox 4"/>
          <p:cNvSpPr txBox="1"/>
          <p:nvPr/>
        </p:nvSpPr>
        <p:spPr>
          <a:xfrm>
            <a:off x="400680" y="4604158"/>
            <a:ext cx="7028985" cy="279720"/>
          </a:xfrm>
          <a:prstGeom prst="rect">
            <a:avLst/>
          </a:prstGeom>
          <a:noFill/>
        </p:spPr>
        <p:txBody>
          <a:bodyPr wrap="none" lIns="0" rIns="0" tIns="0" bIns="0" anchor="t"/>
          <a:lstStyle/>
          <a:p>
            <a:pPr algn="ctr">
              <a:lnSpc>
                <a:spcPts val="2143"/>
              </a:lnSpc>
            </a:pPr>
            <a:r>
              <a:rPr sz="1785" b="1" i="0">
                <a:solidFill>
                  <a:srgbClr val="FFFFFF"/>
                </a:solidFill>
                <a:latin typeface="Versos"/>
              </a:rPr>
              <a:t>Comentário do Gestor e Análise de Mercado</a:t>
            </a:r>
          </a:p>
        </p:txBody>
      </p:sp>
      <p:sp>
        <p:nvSpPr>
          <p:cNvPr id="6" name="TextBox 5"/>
          <p:cNvSpPr txBox="1"/>
          <p:nvPr/>
        </p:nvSpPr>
        <p:spPr>
          <a:xfrm>
            <a:off x="529200" y="5216518"/>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setembro, o mercado de crédito apresentou reabertura dos spreads e liquidez reduzida no mercado secundário. Os spreads médios dos títulos corporativos indexados ao CDI avançaram cerca de 5 bps, passando de CDI + 1,23% para CDI + 1,28% ao ano, interrompendo parcialmente o movimento de compressão observado nos últimos meses.</a:t>
            </a:r>
          </a:p>
        </p:txBody>
      </p:sp>
      <p:sp>
        <p:nvSpPr>
          <p:cNvPr id="7" name="TextBox 6"/>
          <p:cNvSpPr txBox="1"/>
          <p:nvPr/>
        </p:nvSpPr>
        <p:spPr>
          <a:xfrm>
            <a:off x="529200" y="6086036"/>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No mercado secundário, a liquidez permaneceu limitada, especialmente em ativos corporativos, resultando em uma formação de preços mais seletiva. No mercado primário, as emissões bancárias seguiram registrando demanda consistente, embora com menor intensidade em comparação aos meses anteriores. Já o pipeline de emissões corporativas permaneceu restrito, mantendo a oferta de ativos em níveis reduzidos.</a:t>
            </a:r>
          </a:p>
        </p:txBody>
      </p:sp>
      <p:sp>
        <p:nvSpPr>
          <p:cNvPr id="8" name="TextBox 7"/>
          <p:cNvSpPr txBox="1"/>
          <p:nvPr/>
        </p:nvSpPr>
        <p:spPr>
          <a:xfrm>
            <a:off x="529200" y="7145381"/>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Em relação aos fluxos, os fundos com alocação mínima de 15% em crédito e ao menos 1% em debêntures registraram resgates líquidos próximos de R$ 10 bilhões no período, movimento que contribuiu para a reabertura dos spreads e para uma piora da dinâmica técnica da classe.</a:t>
            </a:r>
          </a:p>
        </p:txBody>
      </p:sp>
      <p:sp>
        <p:nvSpPr>
          <p:cNvPr id="9" name="TextBox 8"/>
          <p:cNvSpPr txBox="1"/>
          <p:nvPr/>
        </p:nvSpPr>
        <p:spPr>
          <a:xfrm>
            <a:off x="529200" y="8014899"/>
            <a:ext cx="6501600" cy="940747"/>
          </a:xfrm>
          <a:prstGeom prst="rect">
            <a:avLst/>
          </a:prstGeom>
          <a:noFill/>
        </p:spPr>
        <p:txBody>
          <a:bodyPr wrap="square" lIns="0" rIns="0" tIns="0" bIns="0" anchor="t"/>
          <a:lstStyle/>
          <a:p>
            <a:pPr algn="just">
              <a:lnSpc>
                <a:spcPts val="1494"/>
              </a:lnSpc>
            </a:pPr>
            <a:r>
              <a:rPr sz="1205" b="0" i="0">
                <a:solidFill>
                  <a:srgbClr val="F1F1F1"/>
                </a:solidFill>
                <a:latin typeface="Versos"/>
              </a:rPr>
              <a:t>Apesar desse cenário, os fundamentos corporativos permanecem resilientes e os níveis de inadimplência seguem controlados. Sob a ótica da gestão, mantemos uma postura disciplinada e seletiva na alocação dos recursos, buscando capturar oportunidades geradas pela recente abertura dos spreads sem abrir mão da qualidade de crédito das carteiras.</a:t>
            </a:r>
          </a:p>
        </p:txBody>
      </p:sp>
      <p:sp>
        <p:nvSpPr>
          <p:cNvPr id="10" name="TextBox 9"/>
          <p:cNvSpPr txBox="1"/>
          <p:nvPr/>
        </p:nvSpPr>
        <p:spPr>
          <a:xfrm>
            <a:off x="529200" y="9074244"/>
            <a:ext cx="6501600" cy="750920"/>
          </a:xfrm>
          <a:prstGeom prst="rect">
            <a:avLst/>
          </a:prstGeom>
          <a:noFill/>
        </p:spPr>
        <p:txBody>
          <a:bodyPr wrap="square" lIns="0" rIns="0" tIns="0" bIns="0" anchor="t"/>
          <a:lstStyle/>
          <a:p>
            <a:pPr algn="just">
              <a:lnSpc>
                <a:spcPts val="1494"/>
              </a:lnSpc>
            </a:pPr>
            <a:r>
              <a:rPr sz="1205" b="0" i="0">
                <a:solidFill>
                  <a:srgbClr val="F1F1F1"/>
                </a:solidFill>
                <a:latin typeface="Versos"/>
              </a:rPr>
              <a:t>Nesse cenário, o Tivio Institucional 15 apresentou rentabilidade de 1,09% no mês (101% do CDI), acumulando 10,73% (102% do CDI) no ano. Na parcela de corporativos, os maiores atribuidores de resultado foram para Tupy e Randon, enquanto Hapvida foi o maior detrator.</a:t>
            </a:r>
          </a:p>
        </p:txBody>
      </p:sp>
      <p:sp>
        <p:nvSpPr>
          <p:cNvPr id="11" name="TextBox 10"/>
          <p:cNvSpPr txBox="1"/>
          <p:nvPr/>
        </p:nvSpPr>
        <p:spPr>
          <a:xfrm>
            <a:off x="7073443" y="10266480"/>
            <a:ext cx="73587" cy="136080"/>
          </a:xfrm>
          <a:prstGeom prst="rect">
            <a:avLst/>
          </a:prstGeom>
          <a:noFill/>
        </p:spPr>
        <p:txBody>
          <a:bodyPr wrap="none" lIns="0" rIns="0" tIns="0" bIns="0" anchor="t"/>
          <a:lstStyle/>
          <a:p>
            <a:pPr algn="l">
              <a:lnSpc>
                <a:spcPts val="892"/>
              </a:lnSpc>
            </a:pPr>
            <a:r>
              <a:rPr sz="892" b="0" i="0">
                <a:solidFill>
                  <a:srgbClr val="FFFFFF"/>
                </a:solidFill>
                <a:latin typeface="Versos"/>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7359"/>
            <a:ext cx="7028985" cy="146120"/>
          </a:xfrm>
          <a:prstGeom prst="rect">
            <a:avLst/>
          </a:prstGeom>
          <a:noFill/>
        </p:spPr>
        <p:txBody>
          <a:bodyPr wrap="none" lIns="0" rIns="0" tIns="0" bIns="0" anchor="t"/>
          <a:lstStyle/>
          <a:p>
            <a:pPr algn="l">
              <a:lnSpc>
                <a:spcPts val="1142"/>
              </a:lnSpc>
            </a:pPr>
            <a:r>
              <a:rPr sz="952" b="0" i="0">
                <a:solidFill>
                  <a:srgbClr val="111111"/>
                </a:solidFill>
                <a:latin typeface="Versos"/>
              </a:rPr>
              <a:t>MERCADO DE CRÉDITO</a:t>
            </a:r>
            <a:r>
              <a:rPr sz="571" b="0" i="0">
                <a:solidFill>
                  <a:srgbClr val="111111"/>
                </a:solidFill>
                <a:latin typeface="Versos"/>
              </a:rPr>
              <a:t>1</a:t>
            </a:r>
          </a:p>
        </p:txBody>
      </p:sp>
      <p:sp>
        <p:nvSpPr>
          <p:cNvPr id="5" name="TextBox 4"/>
          <p:cNvSpPr txBox="1"/>
          <p:nvPr/>
        </p:nvSpPr>
        <p:spPr>
          <a:xfrm>
            <a:off x="2404080" y="1811801"/>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6" name="TextBox 5"/>
          <p:cNvSpPr txBox="1"/>
          <p:nvPr/>
        </p:nvSpPr>
        <p:spPr>
          <a:xfrm>
            <a:off x="3296160" y="1811801"/>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7" name="TextBox 6"/>
          <p:cNvSpPr txBox="1"/>
          <p:nvPr/>
        </p:nvSpPr>
        <p:spPr>
          <a:xfrm>
            <a:off x="3870720" y="1811801"/>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8" name="TextBox 7"/>
          <p:cNvSpPr txBox="1"/>
          <p:nvPr/>
        </p:nvSpPr>
        <p:spPr>
          <a:xfrm>
            <a:off x="4656960" y="1755337"/>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9" name="TextBox 8"/>
          <p:cNvSpPr txBox="1"/>
          <p:nvPr/>
        </p:nvSpPr>
        <p:spPr>
          <a:xfrm>
            <a:off x="567000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10" name="TextBox 9"/>
          <p:cNvSpPr txBox="1"/>
          <p:nvPr/>
        </p:nvSpPr>
        <p:spPr>
          <a:xfrm>
            <a:off x="6380640" y="1811801"/>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11" name="TextBox 10"/>
          <p:cNvSpPr txBox="1"/>
          <p:nvPr/>
        </p:nvSpPr>
        <p:spPr>
          <a:xfrm>
            <a:off x="2404080" y="2107586"/>
            <a:ext cx="833414" cy="151200"/>
          </a:xfrm>
          <a:prstGeom prst="rect">
            <a:avLst/>
          </a:prstGeom>
          <a:noFill/>
        </p:spPr>
        <p:txBody>
          <a:bodyPr wrap="none" lIns="0" rIns="0" tIns="0" bIns="0" anchor="t"/>
          <a:lstStyle/>
          <a:p>
            <a:pPr algn="ctr">
              <a:lnSpc>
                <a:spcPts val="1163"/>
              </a:lnSpc>
            </a:pPr>
            <a:r>
              <a:rPr sz="1012" b="1" i="0">
                <a:solidFill>
                  <a:srgbClr val="FFFFFF"/>
                </a:solidFill>
                <a:latin typeface="Versos"/>
              </a:rPr>
              <a:t>443.345</a:t>
            </a:r>
          </a:p>
        </p:txBody>
      </p:sp>
      <p:sp>
        <p:nvSpPr>
          <p:cNvPr id="12" name="TextBox 11"/>
          <p:cNvSpPr txBox="1"/>
          <p:nvPr/>
        </p:nvSpPr>
        <p:spPr>
          <a:xfrm>
            <a:off x="3296160" y="2107586"/>
            <a:ext cx="503193" cy="151200"/>
          </a:xfrm>
          <a:prstGeom prst="rect">
            <a:avLst/>
          </a:prstGeom>
          <a:noFill/>
        </p:spPr>
        <p:txBody>
          <a:bodyPr wrap="none" lIns="0" rIns="0" tIns="0" bIns="0" anchor="t"/>
          <a:lstStyle/>
          <a:p>
            <a:pPr algn="ctr">
              <a:lnSpc>
                <a:spcPts val="1163"/>
              </a:lnSpc>
            </a:pPr>
            <a:r>
              <a:rPr sz="1012" b="1" i="0">
                <a:solidFill>
                  <a:srgbClr val="FFFFFF"/>
                </a:solidFill>
                <a:latin typeface="Versos"/>
              </a:rPr>
              <a:t>100%</a:t>
            </a:r>
          </a:p>
        </p:txBody>
      </p:sp>
      <p:sp>
        <p:nvSpPr>
          <p:cNvPr id="13" name="TextBox 12"/>
          <p:cNvSpPr txBox="1"/>
          <p:nvPr/>
        </p:nvSpPr>
        <p:spPr>
          <a:xfrm>
            <a:off x="3870720" y="2107586"/>
            <a:ext cx="723340" cy="151200"/>
          </a:xfrm>
          <a:prstGeom prst="rect">
            <a:avLst/>
          </a:prstGeom>
          <a:noFill/>
        </p:spPr>
        <p:txBody>
          <a:bodyPr wrap="none" lIns="0" rIns="0" tIns="0" bIns="0" anchor="t"/>
          <a:lstStyle/>
          <a:p>
            <a:pPr algn="ctr">
              <a:lnSpc>
                <a:spcPts val="1163"/>
              </a:lnSpc>
            </a:pPr>
            <a:r>
              <a:rPr sz="1012" b="1" i="0">
                <a:solidFill>
                  <a:srgbClr val="FFFFFF"/>
                </a:solidFill>
                <a:latin typeface="Versos"/>
              </a:rPr>
              <a:t>1,22%</a:t>
            </a:r>
          </a:p>
        </p:txBody>
      </p:sp>
      <p:sp>
        <p:nvSpPr>
          <p:cNvPr id="14" name="TextBox 13"/>
          <p:cNvSpPr txBox="1"/>
          <p:nvPr/>
        </p:nvSpPr>
        <p:spPr>
          <a:xfrm>
            <a:off x="4656960" y="2107586"/>
            <a:ext cx="959212" cy="151200"/>
          </a:xfrm>
          <a:prstGeom prst="rect">
            <a:avLst/>
          </a:prstGeom>
          <a:noFill/>
        </p:spPr>
        <p:txBody>
          <a:bodyPr wrap="none" lIns="0" rIns="0" tIns="0" bIns="0" anchor="t"/>
          <a:lstStyle/>
          <a:p>
            <a:pPr algn="ctr">
              <a:lnSpc>
                <a:spcPts val="1163"/>
              </a:lnSpc>
            </a:pPr>
            <a:r>
              <a:rPr sz="1012" b="1" i="0">
                <a:solidFill>
                  <a:srgbClr val="FFFFFF"/>
                </a:solidFill>
                <a:latin typeface="Versos"/>
              </a:rPr>
              <a:t>1,19%</a:t>
            </a:r>
          </a:p>
        </p:txBody>
      </p:sp>
      <p:sp>
        <p:nvSpPr>
          <p:cNvPr id="15" name="TextBox 14"/>
          <p:cNvSpPr txBox="1"/>
          <p:nvPr/>
        </p:nvSpPr>
        <p:spPr>
          <a:xfrm>
            <a:off x="567000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0,03%</a:t>
            </a:r>
          </a:p>
        </p:txBody>
      </p:sp>
      <p:sp>
        <p:nvSpPr>
          <p:cNvPr id="16" name="TextBox 15"/>
          <p:cNvSpPr txBox="1"/>
          <p:nvPr/>
        </p:nvSpPr>
        <p:spPr>
          <a:xfrm>
            <a:off x="6380640" y="2107586"/>
            <a:ext cx="644716" cy="151200"/>
          </a:xfrm>
          <a:prstGeom prst="rect">
            <a:avLst/>
          </a:prstGeom>
          <a:noFill/>
        </p:spPr>
        <p:txBody>
          <a:bodyPr wrap="none" lIns="0" rIns="0" tIns="0" bIns="0" anchor="t"/>
          <a:lstStyle/>
          <a:p>
            <a:pPr algn="ctr">
              <a:lnSpc>
                <a:spcPts val="1163"/>
              </a:lnSpc>
            </a:pPr>
            <a:r>
              <a:rPr sz="1012" b="1" i="0">
                <a:solidFill>
                  <a:srgbClr val="FFFFFF"/>
                </a:solidFill>
                <a:latin typeface="Versos"/>
              </a:rPr>
              <a:t>2,71</a:t>
            </a:r>
          </a:p>
        </p:txBody>
      </p:sp>
      <p:sp>
        <p:nvSpPr>
          <p:cNvPr id="17" name="TextBox 16"/>
          <p:cNvSpPr txBox="1"/>
          <p:nvPr/>
        </p:nvSpPr>
        <p:spPr>
          <a:xfrm>
            <a:off x="559440" y="2604656"/>
            <a:ext cx="1824076" cy="113400"/>
          </a:xfrm>
          <a:prstGeom prst="rect">
            <a:avLst/>
          </a:prstGeom>
          <a:noFill/>
        </p:spPr>
        <p:txBody>
          <a:bodyPr wrap="none" lIns="0" rIns="0" tIns="0" bIns="0" anchor="t"/>
          <a:lstStyle/>
          <a:p>
            <a:pPr algn="ctr">
              <a:lnSpc>
                <a:spcPts val="889"/>
              </a:lnSpc>
            </a:pPr>
            <a:r>
              <a:rPr sz="773" b="1" i="0">
                <a:solidFill>
                  <a:srgbClr val="FFFFFF"/>
                </a:solidFill>
                <a:latin typeface="Versos"/>
              </a:rPr>
              <a:t>Setor</a:t>
            </a:r>
          </a:p>
        </p:txBody>
      </p:sp>
      <p:sp>
        <p:nvSpPr>
          <p:cNvPr id="18" name="TextBox 17"/>
          <p:cNvSpPr txBox="1"/>
          <p:nvPr/>
        </p:nvSpPr>
        <p:spPr>
          <a:xfrm>
            <a:off x="2404080" y="2604656"/>
            <a:ext cx="833414" cy="113400"/>
          </a:xfrm>
          <a:prstGeom prst="rect">
            <a:avLst/>
          </a:prstGeom>
          <a:noFill/>
        </p:spPr>
        <p:txBody>
          <a:bodyPr wrap="none" lIns="0" rIns="0" tIns="0" bIns="0" anchor="t"/>
          <a:lstStyle/>
          <a:p>
            <a:pPr algn="ctr">
              <a:lnSpc>
                <a:spcPts val="889"/>
              </a:lnSpc>
            </a:pPr>
            <a:r>
              <a:rPr sz="773" b="1" i="0">
                <a:solidFill>
                  <a:srgbClr val="FFFFFF"/>
                </a:solidFill>
                <a:latin typeface="Versos"/>
              </a:rPr>
              <a:t>Volume (R$ MM)</a:t>
            </a:r>
          </a:p>
        </p:txBody>
      </p:sp>
      <p:sp>
        <p:nvSpPr>
          <p:cNvPr id="19" name="TextBox 18"/>
          <p:cNvSpPr txBox="1"/>
          <p:nvPr/>
        </p:nvSpPr>
        <p:spPr>
          <a:xfrm>
            <a:off x="3296160" y="2604656"/>
            <a:ext cx="503193" cy="113400"/>
          </a:xfrm>
          <a:prstGeom prst="rect">
            <a:avLst/>
          </a:prstGeom>
          <a:noFill/>
        </p:spPr>
        <p:txBody>
          <a:bodyPr wrap="none" lIns="0" rIns="0" tIns="0" bIns="0" anchor="t"/>
          <a:lstStyle/>
          <a:p>
            <a:pPr algn="ctr">
              <a:lnSpc>
                <a:spcPts val="889"/>
              </a:lnSpc>
            </a:pPr>
            <a:r>
              <a:rPr sz="773" b="1" i="0">
                <a:solidFill>
                  <a:srgbClr val="FFFFFF"/>
                </a:solidFill>
                <a:latin typeface="Versos"/>
              </a:rPr>
              <a:t>%</a:t>
            </a:r>
          </a:p>
        </p:txBody>
      </p:sp>
      <p:sp>
        <p:nvSpPr>
          <p:cNvPr id="20" name="TextBox 19"/>
          <p:cNvSpPr txBox="1"/>
          <p:nvPr/>
        </p:nvSpPr>
        <p:spPr>
          <a:xfrm>
            <a:off x="3870720" y="2604656"/>
            <a:ext cx="723340" cy="113400"/>
          </a:xfrm>
          <a:prstGeom prst="rect">
            <a:avLst/>
          </a:prstGeom>
          <a:noFill/>
        </p:spPr>
        <p:txBody>
          <a:bodyPr wrap="none" lIns="0" rIns="0" tIns="0" bIns="0" anchor="t"/>
          <a:lstStyle/>
          <a:p>
            <a:pPr algn="ctr">
              <a:lnSpc>
                <a:spcPts val="889"/>
              </a:lnSpc>
            </a:pPr>
            <a:r>
              <a:rPr sz="773" b="1" i="0">
                <a:solidFill>
                  <a:srgbClr val="FFFFFF"/>
                </a:solidFill>
                <a:latin typeface="Versos"/>
              </a:rPr>
              <a:t>Spread Atual</a:t>
            </a:r>
          </a:p>
        </p:txBody>
      </p:sp>
      <p:sp>
        <p:nvSpPr>
          <p:cNvPr id="21" name="TextBox 20"/>
          <p:cNvSpPr txBox="1"/>
          <p:nvPr/>
        </p:nvSpPr>
        <p:spPr>
          <a:xfrm>
            <a:off x="4656960" y="2548192"/>
            <a:ext cx="922320" cy="226327"/>
          </a:xfrm>
          <a:prstGeom prst="rect">
            <a:avLst/>
          </a:prstGeom>
          <a:noFill/>
        </p:spPr>
        <p:txBody>
          <a:bodyPr wrap="square" lIns="0" rIns="0" tIns="0" bIns="0" anchor="t"/>
          <a:lstStyle/>
          <a:p>
            <a:pPr algn="ctr">
              <a:lnSpc>
                <a:spcPts val="889"/>
              </a:lnSpc>
            </a:pPr>
            <a:r>
              <a:rPr sz="773" b="1" i="0">
                <a:solidFill>
                  <a:srgbClr val="FFFFFF"/>
                </a:solidFill>
                <a:latin typeface="Versos"/>
              </a:rPr>
              <a:t>Spread mês anterior</a:t>
            </a:r>
          </a:p>
        </p:txBody>
      </p:sp>
      <p:sp>
        <p:nvSpPr>
          <p:cNvPr id="22" name="TextBox 21"/>
          <p:cNvSpPr txBox="1"/>
          <p:nvPr/>
        </p:nvSpPr>
        <p:spPr>
          <a:xfrm>
            <a:off x="567000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Variação</a:t>
            </a:r>
          </a:p>
        </p:txBody>
      </p:sp>
      <p:sp>
        <p:nvSpPr>
          <p:cNvPr id="23" name="TextBox 22"/>
          <p:cNvSpPr txBox="1"/>
          <p:nvPr/>
        </p:nvSpPr>
        <p:spPr>
          <a:xfrm>
            <a:off x="6380640" y="2604656"/>
            <a:ext cx="644716" cy="113400"/>
          </a:xfrm>
          <a:prstGeom prst="rect">
            <a:avLst/>
          </a:prstGeom>
          <a:noFill/>
        </p:spPr>
        <p:txBody>
          <a:bodyPr wrap="none" lIns="0" rIns="0" tIns="0" bIns="0" anchor="t"/>
          <a:lstStyle/>
          <a:p>
            <a:pPr algn="ctr">
              <a:lnSpc>
                <a:spcPts val="889"/>
              </a:lnSpc>
            </a:pPr>
            <a:r>
              <a:rPr sz="773" b="1" i="0">
                <a:solidFill>
                  <a:srgbClr val="FFFFFF"/>
                </a:solidFill>
                <a:latin typeface="Versos"/>
              </a:rPr>
              <a:t>Duration</a:t>
            </a:r>
          </a:p>
        </p:txBody>
      </p:sp>
      <p:sp>
        <p:nvSpPr>
          <p:cNvPr id="24" name="TextBox 23"/>
          <p:cNvSpPr txBox="1"/>
          <p:nvPr/>
        </p:nvSpPr>
        <p:spPr>
          <a:xfrm>
            <a:off x="604800" y="288414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Energia elétrica</a:t>
            </a:r>
          </a:p>
        </p:txBody>
      </p:sp>
      <p:sp>
        <p:nvSpPr>
          <p:cNvPr id="25" name="TextBox 24"/>
          <p:cNvSpPr txBox="1"/>
          <p:nvPr/>
        </p:nvSpPr>
        <p:spPr>
          <a:xfrm>
            <a:off x="2404080" y="288414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108.945</a:t>
            </a:r>
          </a:p>
        </p:txBody>
      </p:sp>
      <p:sp>
        <p:nvSpPr>
          <p:cNvPr id="26" name="TextBox 25"/>
          <p:cNvSpPr txBox="1"/>
          <p:nvPr/>
        </p:nvSpPr>
        <p:spPr>
          <a:xfrm>
            <a:off x="3296160" y="288414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24,6%</a:t>
            </a:r>
          </a:p>
        </p:txBody>
      </p:sp>
      <p:sp>
        <p:nvSpPr>
          <p:cNvPr id="27" name="TextBox 26"/>
          <p:cNvSpPr txBox="1"/>
          <p:nvPr/>
        </p:nvSpPr>
        <p:spPr>
          <a:xfrm>
            <a:off x="3870720" y="288414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8" name="TextBox 27"/>
          <p:cNvSpPr txBox="1"/>
          <p:nvPr/>
        </p:nvSpPr>
        <p:spPr>
          <a:xfrm>
            <a:off x="4656960" y="288414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29" name="TextBox 28"/>
          <p:cNvSpPr txBox="1"/>
          <p:nvPr/>
        </p:nvSpPr>
        <p:spPr>
          <a:xfrm>
            <a:off x="567000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30" name="TextBox 29"/>
          <p:cNvSpPr txBox="1"/>
          <p:nvPr/>
        </p:nvSpPr>
        <p:spPr>
          <a:xfrm>
            <a:off x="6380640" y="288414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31" name="TextBox 30"/>
          <p:cNvSpPr txBox="1"/>
          <p:nvPr/>
        </p:nvSpPr>
        <p:spPr>
          <a:xfrm>
            <a:off x="604800" y="316137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Assistência médica</a:t>
            </a:r>
          </a:p>
        </p:txBody>
      </p:sp>
      <p:sp>
        <p:nvSpPr>
          <p:cNvPr id="32" name="TextBox 31"/>
          <p:cNvSpPr txBox="1"/>
          <p:nvPr/>
        </p:nvSpPr>
        <p:spPr>
          <a:xfrm>
            <a:off x="2404080" y="316137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43.410</a:t>
            </a:r>
          </a:p>
        </p:txBody>
      </p:sp>
      <p:sp>
        <p:nvSpPr>
          <p:cNvPr id="33" name="TextBox 32"/>
          <p:cNvSpPr txBox="1"/>
          <p:nvPr/>
        </p:nvSpPr>
        <p:spPr>
          <a:xfrm>
            <a:off x="3296160" y="316137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9,8%</a:t>
            </a:r>
          </a:p>
        </p:txBody>
      </p:sp>
      <p:sp>
        <p:nvSpPr>
          <p:cNvPr id="34" name="TextBox 33"/>
          <p:cNvSpPr txBox="1"/>
          <p:nvPr/>
        </p:nvSpPr>
        <p:spPr>
          <a:xfrm>
            <a:off x="3870720" y="316137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2,55%</a:t>
            </a:r>
          </a:p>
        </p:txBody>
      </p:sp>
      <p:sp>
        <p:nvSpPr>
          <p:cNvPr id="35" name="TextBox 34"/>
          <p:cNvSpPr txBox="1"/>
          <p:nvPr/>
        </p:nvSpPr>
        <p:spPr>
          <a:xfrm>
            <a:off x="4656960" y="316137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2,23%</a:t>
            </a:r>
          </a:p>
        </p:txBody>
      </p:sp>
      <p:sp>
        <p:nvSpPr>
          <p:cNvPr id="36" name="TextBox 35"/>
          <p:cNvSpPr txBox="1"/>
          <p:nvPr/>
        </p:nvSpPr>
        <p:spPr>
          <a:xfrm>
            <a:off x="567000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0,32%</a:t>
            </a:r>
          </a:p>
        </p:txBody>
      </p:sp>
      <p:sp>
        <p:nvSpPr>
          <p:cNvPr id="37" name="TextBox 36"/>
          <p:cNvSpPr txBox="1"/>
          <p:nvPr/>
        </p:nvSpPr>
        <p:spPr>
          <a:xfrm>
            <a:off x="6380640" y="316137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38" name="TextBox 37"/>
          <p:cNvSpPr txBox="1"/>
          <p:nvPr/>
        </p:nvSpPr>
        <p:spPr>
          <a:xfrm>
            <a:off x="604800" y="343861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Saneamento</a:t>
            </a:r>
          </a:p>
        </p:txBody>
      </p:sp>
      <p:sp>
        <p:nvSpPr>
          <p:cNvPr id="39" name="TextBox 38"/>
          <p:cNvSpPr txBox="1"/>
          <p:nvPr/>
        </p:nvSpPr>
        <p:spPr>
          <a:xfrm>
            <a:off x="2404080" y="343861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39.943</a:t>
            </a:r>
          </a:p>
        </p:txBody>
      </p:sp>
      <p:sp>
        <p:nvSpPr>
          <p:cNvPr id="40" name="TextBox 39"/>
          <p:cNvSpPr txBox="1"/>
          <p:nvPr/>
        </p:nvSpPr>
        <p:spPr>
          <a:xfrm>
            <a:off x="3296160" y="343861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9,0%</a:t>
            </a:r>
          </a:p>
        </p:txBody>
      </p:sp>
      <p:sp>
        <p:nvSpPr>
          <p:cNvPr id="41" name="TextBox 40"/>
          <p:cNvSpPr txBox="1"/>
          <p:nvPr/>
        </p:nvSpPr>
        <p:spPr>
          <a:xfrm>
            <a:off x="3870720" y="343861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42" name="TextBox 41"/>
          <p:cNvSpPr txBox="1"/>
          <p:nvPr/>
        </p:nvSpPr>
        <p:spPr>
          <a:xfrm>
            <a:off x="4656960" y="343861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1,67%</a:t>
            </a:r>
          </a:p>
        </p:txBody>
      </p:sp>
      <p:sp>
        <p:nvSpPr>
          <p:cNvPr id="43" name="TextBox 42"/>
          <p:cNvSpPr txBox="1"/>
          <p:nvPr/>
        </p:nvSpPr>
        <p:spPr>
          <a:xfrm>
            <a:off x="567000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44" name="TextBox 43"/>
          <p:cNvSpPr txBox="1"/>
          <p:nvPr/>
        </p:nvSpPr>
        <p:spPr>
          <a:xfrm>
            <a:off x="6380640" y="343861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45" name="TextBox 44"/>
          <p:cNvSpPr txBox="1"/>
          <p:nvPr/>
        </p:nvSpPr>
        <p:spPr>
          <a:xfrm>
            <a:off x="604800" y="3715858"/>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Locação de veículos</a:t>
            </a:r>
          </a:p>
        </p:txBody>
      </p:sp>
      <p:sp>
        <p:nvSpPr>
          <p:cNvPr id="46" name="TextBox 45"/>
          <p:cNvSpPr txBox="1"/>
          <p:nvPr/>
        </p:nvSpPr>
        <p:spPr>
          <a:xfrm>
            <a:off x="2404080" y="371585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33.800</a:t>
            </a:r>
          </a:p>
        </p:txBody>
      </p:sp>
      <p:sp>
        <p:nvSpPr>
          <p:cNvPr id="47" name="TextBox 46"/>
          <p:cNvSpPr txBox="1"/>
          <p:nvPr/>
        </p:nvSpPr>
        <p:spPr>
          <a:xfrm>
            <a:off x="3296160" y="371585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7,6%</a:t>
            </a:r>
          </a:p>
        </p:txBody>
      </p:sp>
      <p:sp>
        <p:nvSpPr>
          <p:cNvPr id="48" name="TextBox 47"/>
          <p:cNvSpPr txBox="1"/>
          <p:nvPr/>
        </p:nvSpPr>
        <p:spPr>
          <a:xfrm>
            <a:off x="3870720" y="371585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1,62%</a:t>
            </a:r>
          </a:p>
        </p:txBody>
      </p:sp>
      <p:sp>
        <p:nvSpPr>
          <p:cNvPr id="49" name="TextBox 48"/>
          <p:cNvSpPr txBox="1"/>
          <p:nvPr/>
        </p:nvSpPr>
        <p:spPr>
          <a:xfrm>
            <a:off x="4656960" y="371585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1,65%</a:t>
            </a:r>
          </a:p>
        </p:txBody>
      </p:sp>
      <p:sp>
        <p:nvSpPr>
          <p:cNvPr id="50" name="TextBox 49"/>
          <p:cNvSpPr txBox="1"/>
          <p:nvPr/>
        </p:nvSpPr>
        <p:spPr>
          <a:xfrm>
            <a:off x="567000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51" name="TextBox 50"/>
          <p:cNvSpPr txBox="1"/>
          <p:nvPr/>
        </p:nvSpPr>
        <p:spPr>
          <a:xfrm>
            <a:off x="6380640" y="371585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52" name="TextBox 51"/>
          <p:cNvSpPr txBox="1"/>
          <p:nvPr/>
        </p:nvSpPr>
        <p:spPr>
          <a:xfrm>
            <a:off x="604800" y="3993097"/>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Petróleo e gás</a:t>
            </a:r>
          </a:p>
        </p:txBody>
      </p:sp>
      <p:sp>
        <p:nvSpPr>
          <p:cNvPr id="53" name="TextBox 52"/>
          <p:cNvSpPr txBox="1"/>
          <p:nvPr/>
        </p:nvSpPr>
        <p:spPr>
          <a:xfrm>
            <a:off x="2404080" y="3993097"/>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33.070</a:t>
            </a:r>
          </a:p>
        </p:txBody>
      </p:sp>
      <p:sp>
        <p:nvSpPr>
          <p:cNvPr id="54" name="TextBox 53"/>
          <p:cNvSpPr txBox="1"/>
          <p:nvPr/>
        </p:nvSpPr>
        <p:spPr>
          <a:xfrm>
            <a:off x="3296160" y="3993097"/>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7,5%</a:t>
            </a:r>
          </a:p>
        </p:txBody>
      </p:sp>
      <p:sp>
        <p:nvSpPr>
          <p:cNvPr id="55" name="TextBox 54"/>
          <p:cNvSpPr txBox="1"/>
          <p:nvPr/>
        </p:nvSpPr>
        <p:spPr>
          <a:xfrm>
            <a:off x="3870720" y="3993097"/>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0,80%</a:t>
            </a:r>
          </a:p>
        </p:txBody>
      </p:sp>
      <p:sp>
        <p:nvSpPr>
          <p:cNvPr id="56" name="TextBox 55"/>
          <p:cNvSpPr txBox="1"/>
          <p:nvPr/>
        </p:nvSpPr>
        <p:spPr>
          <a:xfrm>
            <a:off x="4656960" y="3993097"/>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0,82%</a:t>
            </a:r>
          </a:p>
        </p:txBody>
      </p:sp>
      <p:sp>
        <p:nvSpPr>
          <p:cNvPr id="57" name="TextBox 56"/>
          <p:cNvSpPr txBox="1"/>
          <p:nvPr/>
        </p:nvSpPr>
        <p:spPr>
          <a:xfrm>
            <a:off x="567000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58" name="TextBox 57"/>
          <p:cNvSpPr txBox="1"/>
          <p:nvPr/>
        </p:nvSpPr>
        <p:spPr>
          <a:xfrm>
            <a:off x="6380640" y="3993097"/>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2,8</a:t>
            </a:r>
          </a:p>
        </p:txBody>
      </p:sp>
      <p:sp>
        <p:nvSpPr>
          <p:cNvPr id="59" name="TextBox 58"/>
          <p:cNvSpPr txBox="1"/>
          <p:nvPr/>
        </p:nvSpPr>
        <p:spPr>
          <a:xfrm>
            <a:off x="604800" y="427033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Transporte e logística</a:t>
            </a:r>
          </a:p>
        </p:txBody>
      </p:sp>
      <p:sp>
        <p:nvSpPr>
          <p:cNvPr id="60" name="TextBox 59"/>
          <p:cNvSpPr txBox="1"/>
          <p:nvPr/>
        </p:nvSpPr>
        <p:spPr>
          <a:xfrm>
            <a:off x="2404080" y="427033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29.782</a:t>
            </a:r>
          </a:p>
        </p:txBody>
      </p:sp>
      <p:sp>
        <p:nvSpPr>
          <p:cNvPr id="61" name="TextBox 60"/>
          <p:cNvSpPr txBox="1"/>
          <p:nvPr/>
        </p:nvSpPr>
        <p:spPr>
          <a:xfrm>
            <a:off x="3296160" y="427033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6,7%</a:t>
            </a:r>
          </a:p>
        </p:txBody>
      </p:sp>
      <p:sp>
        <p:nvSpPr>
          <p:cNvPr id="62" name="TextBox 61"/>
          <p:cNvSpPr txBox="1"/>
          <p:nvPr/>
        </p:nvSpPr>
        <p:spPr>
          <a:xfrm>
            <a:off x="3870720" y="427033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63" name="TextBox 62"/>
          <p:cNvSpPr txBox="1"/>
          <p:nvPr/>
        </p:nvSpPr>
        <p:spPr>
          <a:xfrm>
            <a:off x="4656960" y="427033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64" name="TextBox 63"/>
          <p:cNvSpPr txBox="1"/>
          <p:nvPr/>
        </p:nvSpPr>
        <p:spPr>
          <a:xfrm>
            <a:off x="567000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0,08%</a:t>
            </a:r>
          </a:p>
        </p:txBody>
      </p:sp>
      <p:sp>
        <p:nvSpPr>
          <p:cNvPr id="65" name="TextBox 64"/>
          <p:cNvSpPr txBox="1"/>
          <p:nvPr/>
        </p:nvSpPr>
        <p:spPr>
          <a:xfrm>
            <a:off x="6380640" y="427033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66" name="TextBox 65"/>
          <p:cNvSpPr txBox="1"/>
          <p:nvPr/>
        </p:nvSpPr>
        <p:spPr>
          <a:xfrm>
            <a:off x="604800" y="4505878"/>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Comércio atacadista e varejista</a:t>
            </a:r>
          </a:p>
        </p:txBody>
      </p:sp>
      <p:sp>
        <p:nvSpPr>
          <p:cNvPr id="67" name="TextBox 66"/>
          <p:cNvSpPr txBox="1"/>
          <p:nvPr/>
        </p:nvSpPr>
        <p:spPr>
          <a:xfrm>
            <a:off x="2404080" y="457970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26.963</a:t>
            </a:r>
          </a:p>
        </p:txBody>
      </p:sp>
      <p:sp>
        <p:nvSpPr>
          <p:cNvPr id="68" name="TextBox 67"/>
          <p:cNvSpPr txBox="1"/>
          <p:nvPr/>
        </p:nvSpPr>
        <p:spPr>
          <a:xfrm>
            <a:off x="3296160" y="457970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6,1%</a:t>
            </a:r>
          </a:p>
        </p:txBody>
      </p:sp>
      <p:sp>
        <p:nvSpPr>
          <p:cNvPr id="69" name="TextBox 68"/>
          <p:cNvSpPr txBox="1"/>
          <p:nvPr/>
        </p:nvSpPr>
        <p:spPr>
          <a:xfrm>
            <a:off x="3870720" y="457970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1,34%</a:t>
            </a:r>
          </a:p>
        </p:txBody>
      </p:sp>
      <p:sp>
        <p:nvSpPr>
          <p:cNvPr id="70" name="TextBox 69"/>
          <p:cNvSpPr txBox="1"/>
          <p:nvPr/>
        </p:nvSpPr>
        <p:spPr>
          <a:xfrm>
            <a:off x="4656960" y="457970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1,32%</a:t>
            </a:r>
          </a:p>
        </p:txBody>
      </p:sp>
      <p:sp>
        <p:nvSpPr>
          <p:cNvPr id="71" name="TextBox 70"/>
          <p:cNvSpPr txBox="1"/>
          <p:nvPr/>
        </p:nvSpPr>
        <p:spPr>
          <a:xfrm>
            <a:off x="567000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72" name="TextBox 71"/>
          <p:cNvSpPr txBox="1"/>
          <p:nvPr/>
        </p:nvSpPr>
        <p:spPr>
          <a:xfrm>
            <a:off x="6380640" y="457970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73" name="TextBox 72"/>
          <p:cNvSpPr txBox="1"/>
          <p:nvPr/>
        </p:nvSpPr>
        <p:spPr>
          <a:xfrm>
            <a:off x="604800" y="488919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Financeiro</a:t>
            </a:r>
          </a:p>
        </p:txBody>
      </p:sp>
      <p:sp>
        <p:nvSpPr>
          <p:cNvPr id="74" name="TextBox 73"/>
          <p:cNvSpPr txBox="1"/>
          <p:nvPr/>
        </p:nvSpPr>
        <p:spPr>
          <a:xfrm>
            <a:off x="2404080" y="488919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23.678</a:t>
            </a:r>
          </a:p>
        </p:txBody>
      </p:sp>
      <p:sp>
        <p:nvSpPr>
          <p:cNvPr id="75" name="TextBox 74"/>
          <p:cNvSpPr txBox="1"/>
          <p:nvPr/>
        </p:nvSpPr>
        <p:spPr>
          <a:xfrm>
            <a:off x="3296160" y="488919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5,3%</a:t>
            </a:r>
          </a:p>
        </p:txBody>
      </p:sp>
      <p:sp>
        <p:nvSpPr>
          <p:cNvPr id="76" name="TextBox 75"/>
          <p:cNvSpPr txBox="1"/>
          <p:nvPr/>
        </p:nvSpPr>
        <p:spPr>
          <a:xfrm>
            <a:off x="3870720" y="488919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0,45%</a:t>
            </a:r>
          </a:p>
        </p:txBody>
      </p:sp>
      <p:sp>
        <p:nvSpPr>
          <p:cNvPr id="77" name="TextBox 76"/>
          <p:cNvSpPr txBox="1"/>
          <p:nvPr/>
        </p:nvSpPr>
        <p:spPr>
          <a:xfrm>
            <a:off x="4656960" y="488919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0,46%</a:t>
            </a:r>
          </a:p>
        </p:txBody>
      </p:sp>
      <p:sp>
        <p:nvSpPr>
          <p:cNvPr id="78" name="TextBox 77"/>
          <p:cNvSpPr txBox="1"/>
          <p:nvPr/>
        </p:nvSpPr>
        <p:spPr>
          <a:xfrm>
            <a:off x="567000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79" name="TextBox 78"/>
          <p:cNvSpPr txBox="1"/>
          <p:nvPr/>
        </p:nvSpPr>
        <p:spPr>
          <a:xfrm>
            <a:off x="6380640" y="488919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80" name="TextBox 79"/>
          <p:cNvSpPr txBox="1"/>
          <p:nvPr/>
        </p:nvSpPr>
        <p:spPr>
          <a:xfrm>
            <a:off x="604800" y="516643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Indústria e comércio</a:t>
            </a:r>
          </a:p>
        </p:txBody>
      </p:sp>
      <p:sp>
        <p:nvSpPr>
          <p:cNvPr id="81" name="TextBox 80"/>
          <p:cNvSpPr txBox="1"/>
          <p:nvPr/>
        </p:nvSpPr>
        <p:spPr>
          <a:xfrm>
            <a:off x="2404080" y="516643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22.210</a:t>
            </a:r>
          </a:p>
        </p:txBody>
      </p:sp>
      <p:sp>
        <p:nvSpPr>
          <p:cNvPr id="82" name="TextBox 81"/>
          <p:cNvSpPr txBox="1"/>
          <p:nvPr/>
        </p:nvSpPr>
        <p:spPr>
          <a:xfrm>
            <a:off x="3296160" y="516643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5,0%</a:t>
            </a:r>
          </a:p>
        </p:txBody>
      </p:sp>
      <p:sp>
        <p:nvSpPr>
          <p:cNvPr id="83" name="TextBox 82"/>
          <p:cNvSpPr txBox="1"/>
          <p:nvPr/>
        </p:nvSpPr>
        <p:spPr>
          <a:xfrm>
            <a:off x="3870720" y="516643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4" name="TextBox 83"/>
          <p:cNvSpPr txBox="1"/>
          <p:nvPr/>
        </p:nvSpPr>
        <p:spPr>
          <a:xfrm>
            <a:off x="4656960" y="516643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1,21%</a:t>
            </a:r>
          </a:p>
        </p:txBody>
      </p:sp>
      <p:sp>
        <p:nvSpPr>
          <p:cNvPr id="85" name="TextBox 84"/>
          <p:cNvSpPr txBox="1"/>
          <p:nvPr/>
        </p:nvSpPr>
        <p:spPr>
          <a:xfrm>
            <a:off x="567000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86" name="TextBox 85"/>
          <p:cNvSpPr txBox="1"/>
          <p:nvPr/>
        </p:nvSpPr>
        <p:spPr>
          <a:xfrm>
            <a:off x="6380640" y="516643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2,6</a:t>
            </a:r>
          </a:p>
        </p:txBody>
      </p:sp>
      <p:sp>
        <p:nvSpPr>
          <p:cNvPr id="87" name="TextBox 86"/>
          <p:cNvSpPr txBox="1"/>
          <p:nvPr/>
        </p:nvSpPr>
        <p:spPr>
          <a:xfrm>
            <a:off x="604800" y="544367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Ti e telecomunicações</a:t>
            </a:r>
          </a:p>
        </p:txBody>
      </p:sp>
      <p:sp>
        <p:nvSpPr>
          <p:cNvPr id="88" name="TextBox 87"/>
          <p:cNvSpPr txBox="1"/>
          <p:nvPr/>
        </p:nvSpPr>
        <p:spPr>
          <a:xfrm>
            <a:off x="2404080" y="544367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18.606</a:t>
            </a:r>
          </a:p>
        </p:txBody>
      </p:sp>
      <p:sp>
        <p:nvSpPr>
          <p:cNvPr id="89" name="TextBox 88"/>
          <p:cNvSpPr txBox="1"/>
          <p:nvPr/>
        </p:nvSpPr>
        <p:spPr>
          <a:xfrm>
            <a:off x="3296160" y="544367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4,2%</a:t>
            </a:r>
          </a:p>
        </p:txBody>
      </p:sp>
      <p:sp>
        <p:nvSpPr>
          <p:cNvPr id="90" name="TextBox 89"/>
          <p:cNvSpPr txBox="1"/>
          <p:nvPr/>
        </p:nvSpPr>
        <p:spPr>
          <a:xfrm>
            <a:off x="3870720" y="544367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1" name="TextBox 90"/>
          <p:cNvSpPr txBox="1"/>
          <p:nvPr/>
        </p:nvSpPr>
        <p:spPr>
          <a:xfrm>
            <a:off x="4656960" y="544367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1,00%</a:t>
            </a:r>
          </a:p>
        </p:txBody>
      </p:sp>
      <p:sp>
        <p:nvSpPr>
          <p:cNvPr id="92" name="TextBox 91"/>
          <p:cNvSpPr txBox="1"/>
          <p:nvPr/>
        </p:nvSpPr>
        <p:spPr>
          <a:xfrm>
            <a:off x="567000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93" name="TextBox 92"/>
          <p:cNvSpPr txBox="1"/>
          <p:nvPr/>
        </p:nvSpPr>
        <p:spPr>
          <a:xfrm>
            <a:off x="6380640" y="544367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94" name="TextBox 93"/>
          <p:cNvSpPr txBox="1"/>
          <p:nvPr/>
        </p:nvSpPr>
        <p:spPr>
          <a:xfrm>
            <a:off x="604800" y="572091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Bioenergia</a:t>
            </a:r>
          </a:p>
        </p:txBody>
      </p:sp>
      <p:sp>
        <p:nvSpPr>
          <p:cNvPr id="95" name="TextBox 94"/>
          <p:cNvSpPr txBox="1"/>
          <p:nvPr/>
        </p:nvSpPr>
        <p:spPr>
          <a:xfrm>
            <a:off x="2404080" y="572091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9.534</a:t>
            </a:r>
          </a:p>
        </p:txBody>
      </p:sp>
      <p:sp>
        <p:nvSpPr>
          <p:cNvPr id="96" name="TextBox 95"/>
          <p:cNvSpPr txBox="1"/>
          <p:nvPr/>
        </p:nvSpPr>
        <p:spPr>
          <a:xfrm>
            <a:off x="3296160" y="572091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97" name="TextBox 96"/>
          <p:cNvSpPr txBox="1"/>
          <p:nvPr/>
        </p:nvSpPr>
        <p:spPr>
          <a:xfrm>
            <a:off x="3870720" y="572091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1,69%</a:t>
            </a:r>
          </a:p>
        </p:txBody>
      </p:sp>
      <p:sp>
        <p:nvSpPr>
          <p:cNvPr id="98" name="TextBox 97"/>
          <p:cNvSpPr txBox="1"/>
          <p:nvPr/>
        </p:nvSpPr>
        <p:spPr>
          <a:xfrm>
            <a:off x="4656960" y="572091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1,66%</a:t>
            </a:r>
          </a:p>
        </p:txBody>
      </p:sp>
      <p:sp>
        <p:nvSpPr>
          <p:cNvPr id="99" name="TextBox 98"/>
          <p:cNvSpPr txBox="1"/>
          <p:nvPr/>
        </p:nvSpPr>
        <p:spPr>
          <a:xfrm>
            <a:off x="567000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0,03%</a:t>
            </a:r>
          </a:p>
        </p:txBody>
      </p:sp>
      <p:sp>
        <p:nvSpPr>
          <p:cNvPr id="100" name="TextBox 99"/>
          <p:cNvSpPr txBox="1"/>
          <p:nvPr/>
        </p:nvSpPr>
        <p:spPr>
          <a:xfrm>
            <a:off x="6380640" y="572091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3,0</a:t>
            </a:r>
          </a:p>
        </p:txBody>
      </p:sp>
      <p:sp>
        <p:nvSpPr>
          <p:cNvPr id="101" name="TextBox 100"/>
          <p:cNvSpPr txBox="1"/>
          <p:nvPr/>
        </p:nvSpPr>
        <p:spPr>
          <a:xfrm>
            <a:off x="604800" y="599815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Metalurgia e siderurgia</a:t>
            </a:r>
          </a:p>
        </p:txBody>
      </p:sp>
      <p:sp>
        <p:nvSpPr>
          <p:cNvPr id="102" name="TextBox 101"/>
          <p:cNvSpPr txBox="1"/>
          <p:nvPr/>
        </p:nvSpPr>
        <p:spPr>
          <a:xfrm>
            <a:off x="2404080" y="599815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9.897</a:t>
            </a:r>
          </a:p>
        </p:txBody>
      </p:sp>
      <p:sp>
        <p:nvSpPr>
          <p:cNvPr id="103" name="TextBox 102"/>
          <p:cNvSpPr txBox="1"/>
          <p:nvPr/>
        </p:nvSpPr>
        <p:spPr>
          <a:xfrm>
            <a:off x="3296160" y="599815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2,2%</a:t>
            </a:r>
          </a:p>
        </p:txBody>
      </p:sp>
      <p:sp>
        <p:nvSpPr>
          <p:cNvPr id="104" name="TextBox 103"/>
          <p:cNvSpPr txBox="1"/>
          <p:nvPr/>
        </p:nvSpPr>
        <p:spPr>
          <a:xfrm>
            <a:off x="3870720" y="599815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1,22%</a:t>
            </a:r>
          </a:p>
        </p:txBody>
      </p:sp>
      <p:sp>
        <p:nvSpPr>
          <p:cNvPr id="105" name="TextBox 104"/>
          <p:cNvSpPr txBox="1"/>
          <p:nvPr/>
        </p:nvSpPr>
        <p:spPr>
          <a:xfrm>
            <a:off x="4656960" y="599815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1,26%</a:t>
            </a:r>
          </a:p>
        </p:txBody>
      </p:sp>
      <p:sp>
        <p:nvSpPr>
          <p:cNvPr id="106" name="TextBox 105"/>
          <p:cNvSpPr txBox="1"/>
          <p:nvPr/>
        </p:nvSpPr>
        <p:spPr>
          <a:xfrm>
            <a:off x="567000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07" name="TextBox 106"/>
          <p:cNvSpPr txBox="1"/>
          <p:nvPr/>
        </p:nvSpPr>
        <p:spPr>
          <a:xfrm>
            <a:off x="6380640" y="599815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08" name="TextBox 107"/>
          <p:cNvSpPr txBox="1"/>
          <p:nvPr/>
        </p:nvSpPr>
        <p:spPr>
          <a:xfrm>
            <a:off x="604800" y="627539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Educação</a:t>
            </a:r>
          </a:p>
        </p:txBody>
      </p:sp>
      <p:sp>
        <p:nvSpPr>
          <p:cNvPr id="109" name="TextBox 108"/>
          <p:cNvSpPr txBox="1"/>
          <p:nvPr/>
        </p:nvSpPr>
        <p:spPr>
          <a:xfrm>
            <a:off x="2404080" y="627539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7.210</a:t>
            </a:r>
          </a:p>
        </p:txBody>
      </p:sp>
      <p:sp>
        <p:nvSpPr>
          <p:cNvPr id="110" name="TextBox 109"/>
          <p:cNvSpPr txBox="1"/>
          <p:nvPr/>
        </p:nvSpPr>
        <p:spPr>
          <a:xfrm>
            <a:off x="3296160" y="627539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1,6%</a:t>
            </a:r>
          </a:p>
        </p:txBody>
      </p:sp>
      <p:sp>
        <p:nvSpPr>
          <p:cNvPr id="111" name="TextBox 110"/>
          <p:cNvSpPr txBox="1"/>
          <p:nvPr/>
        </p:nvSpPr>
        <p:spPr>
          <a:xfrm>
            <a:off x="3870720" y="627539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1,13%</a:t>
            </a:r>
          </a:p>
        </p:txBody>
      </p:sp>
      <p:sp>
        <p:nvSpPr>
          <p:cNvPr id="112" name="TextBox 111"/>
          <p:cNvSpPr txBox="1"/>
          <p:nvPr/>
        </p:nvSpPr>
        <p:spPr>
          <a:xfrm>
            <a:off x="4656960" y="627539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1,17%</a:t>
            </a:r>
          </a:p>
        </p:txBody>
      </p:sp>
      <p:sp>
        <p:nvSpPr>
          <p:cNvPr id="113" name="TextBox 112"/>
          <p:cNvSpPr txBox="1"/>
          <p:nvPr/>
        </p:nvSpPr>
        <p:spPr>
          <a:xfrm>
            <a:off x="567000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-0,04%</a:t>
            </a:r>
          </a:p>
        </p:txBody>
      </p:sp>
      <p:sp>
        <p:nvSpPr>
          <p:cNvPr id="114" name="TextBox 113"/>
          <p:cNvSpPr txBox="1"/>
          <p:nvPr/>
        </p:nvSpPr>
        <p:spPr>
          <a:xfrm>
            <a:off x="6380640" y="627539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2,0</a:t>
            </a:r>
          </a:p>
        </p:txBody>
      </p:sp>
      <p:sp>
        <p:nvSpPr>
          <p:cNvPr id="115" name="TextBox 114"/>
          <p:cNvSpPr txBox="1"/>
          <p:nvPr/>
        </p:nvSpPr>
        <p:spPr>
          <a:xfrm>
            <a:off x="604800" y="6552630"/>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Serviços imobiliários</a:t>
            </a:r>
          </a:p>
        </p:txBody>
      </p:sp>
      <p:sp>
        <p:nvSpPr>
          <p:cNvPr id="116" name="TextBox 115"/>
          <p:cNvSpPr txBox="1"/>
          <p:nvPr/>
        </p:nvSpPr>
        <p:spPr>
          <a:xfrm>
            <a:off x="2404080" y="6552630"/>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5.994</a:t>
            </a:r>
          </a:p>
        </p:txBody>
      </p:sp>
      <p:sp>
        <p:nvSpPr>
          <p:cNvPr id="117" name="TextBox 116"/>
          <p:cNvSpPr txBox="1"/>
          <p:nvPr/>
        </p:nvSpPr>
        <p:spPr>
          <a:xfrm>
            <a:off x="3296160" y="6552630"/>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1,4%</a:t>
            </a:r>
          </a:p>
        </p:txBody>
      </p:sp>
      <p:sp>
        <p:nvSpPr>
          <p:cNvPr id="118" name="TextBox 117"/>
          <p:cNvSpPr txBox="1"/>
          <p:nvPr/>
        </p:nvSpPr>
        <p:spPr>
          <a:xfrm>
            <a:off x="3870720" y="6552630"/>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0,53%</a:t>
            </a:r>
          </a:p>
        </p:txBody>
      </p:sp>
      <p:sp>
        <p:nvSpPr>
          <p:cNvPr id="119" name="TextBox 118"/>
          <p:cNvSpPr txBox="1"/>
          <p:nvPr/>
        </p:nvSpPr>
        <p:spPr>
          <a:xfrm>
            <a:off x="4656960" y="6552630"/>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0,54%</a:t>
            </a:r>
          </a:p>
        </p:txBody>
      </p:sp>
      <p:sp>
        <p:nvSpPr>
          <p:cNvPr id="120" name="TextBox 119"/>
          <p:cNvSpPr txBox="1"/>
          <p:nvPr/>
        </p:nvSpPr>
        <p:spPr>
          <a:xfrm>
            <a:off x="567000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21" name="TextBox 120"/>
          <p:cNvSpPr txBox="1"/>
          <p:nvPr/>
        </p:nvSpPr>
        <p:spPr>
          <a:xfrm>
            <a:off x="6380640" y="6552630"/>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3,3</a:t>
            </a:r>
          </a:p>
        </p:txBody>
      </p:sp>
      <p:sp>
        <p:nvSpPr>
          <p:cNvPr id="122" name="TextBox 121"/>
          <p:cNvSpPr txBox="1"/>
          <p:nvPr/>
        </p:nvSpPr>
        <p:spPr>
          <a:xfrm>
            <a:off x="604800" y="6829869"/>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Outros serviços</a:t>
            </a:r>
          </a:p>
        </p:txBody>
      </p:sp>
      <p:sp>
        <p:nvSpPr>
          <p:cNvPr id="123" name="TextBox 122"/>
          <p:cNvSpPr txBox="1"/>
          <p:nvPr/>
        </p:nvSpPr>
        <p:spPr>
          <a:xfrm>
            <a:off x="2404080" y="6829869"/>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6.611</a:t>
            </a:r>
          </a:p>
        </p:txBody>
      </p:sp>
      <p:sp>
        <p:nvSpPr>
          <p:cNvPr id="124" name="TextBox 123"/>
          <p:cNvSpPr txBox="1"/>
          <p:nvPr/>
        </p:nvSpPr>
        <p:spPr>
          <a:xfrm>
            <a:off x="3296160" y="6829869"/>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1,5%</a:t>
            </a:r>
          </a:p>
        </p:txBody>
      </p:sp>
      <p:sp>
        <p:nvSpPr>
          <p:cNvPr id="125" name="TextBox 124"/>
          <p:cNvSpPr txBox="1"/>
          <p:nvPr/>
        </p:nvSpPr>
        <p:spPr>
          <a:xfrm>
            <a:off x="3870720" y="6829869"/>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1,25%</a:t>
            </a:r>
          </a:p>
        </p:txBody>
      </p:sp>
      <p:sp>
        <p:nvSpPr>
          <p:cNvPr id="126" name="TextBox 125"/>
          <p:cNvSpPr txBox="1"/>
          <p:nvPr/>
        </p:nvSpPr>
        <p:spPr>
          <a:xfrm>
            <a:off x="4656960" y="6829869"/>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1,09%</a:t>
            </a:r>
          </a:p>
        </p:txBody>
      </p:sp>
      <p:sp>
        <p:nvSpPr>
          <p:cNvPr id="127" name="TextBox 126"/>
          <p:cNvSpPr txBox="1"/>
          <p:nvPr/>
        </p:nvSpPr>
        <p:spPr>
          <a:xfrm>
            <a:off x="567000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0,16%</a:t>
            </a:r>
          </a:p>
        </p:txBody>
      </p:sp>
      <p:sp>
        <p:nvSpPr>
          <p:cNvPr id="128" name="TextBox 127"/>
          <p:cNvSpPr txBox="1"/>
          <p:nvPr/>
        </p:nvSpPr>
        <p:spPr>
          <a:xfrm>
            <a:off x="6380640" y="6829869"/>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2,7</a:t>
            </a:r>
          </a:p>
        </p:txBody>
      </p:sp>
      <p:sp>
        <p:nvSpPr>
          <p:cNvPr id="129" name="TextBox 128"/>
          <p:cNvSpPr txBox="1"/>
          <p:nvPr/>
        </p:nvSpPr>
        <p:spPr>
          <a:xfrm>
            <a:off x="604800" y="7065410"/>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Empreendimentos e participações</a:t>
            </a:r>
          </a:p>
        </p:txBody>
      </p:sp>
      <p:sp>
        <p:nvSpPr>
          <p:cNvPr id="130" name="TextBox 129"/>
          <p:cNvSpPr txBox="1"/>
          <p:nvPr/>
        </p:nvSpPr>
        <p:spPr>
          <a:xfrm>
            <a:off x="2404080" y="7139238"/>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9.181</a:t>
            </a:r>
          </a:p>
        </p:txBody>
      </p:sp>
      <p:sp>
        <p:nvSpPr>
          <p:cNvPr id="131" name="TextBox 130"/>
          <p:cNvSpPr txBox="1"/>
          <p:nvPr/>
        </p:nvSpPr>
        <p:spPr>
          <a:xfrm>
            <a:off x="3296160" y="7139238"/>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32" name="TextBox 131"/>
          <p:cNvSpPr txBox="1"/>
          <p:nvPr/>
        </p:nvSpPr>
        <p:spPr>
          <a:xfrm>
            <a:off x="3870720" y="7139238"/>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3" name="TextBox 132"/>
          <p:cNvSpPr txBox="1"/>
          <p:nvPr/>
        </p:nvSpPr>
        <p:spPr>
          <a:xfrm>
            <a:off x="4656960" y="7139238"/>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1,43%</a:t>
            </a:r>
          </a:p>
        </p:txBody>
      </p:sp>
      <p:sp>
        <p:nvSpPr>
          <p:cNvPr id="134" name="TextBox 133"/>
          <p:cNvSpPr txBox="1"/>
          <p:nvPr/>
        </p:nvSpPr>
        <p:spPr>
          <a:xfrm>
            <a:off x="567000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35" name="TextBox 134"/>
          <p:cNvSpPr txBox="1"/>
          <p:nvPr/>
        </p:nvSpPr>
        <p:spPr>
          <a:xfrm>
            <a:off x="6380640" y="7139238"/>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3,2</a:t>
            </a:r>
          </a:p>
        </p:txBody>
      </p:sp>
      <p:sp>
        <p:nvSpPr>
          <p:cNvPr id="136" name="TextBox 135"/>
          <p:cNvSpPr txBox="1"/>
          <p:nvPr/>
        </p:nvSpPr>
        <p:spPr>
          <a:xfrm>
            <a:off x="604800" y="7448726"/>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Papel e Celulose</a:t>
            </a:r>
          </a:p>
        </p:txBody>
      </p:sp>
      <p:sp>
        <p:nvSpPr>
          <p:cNvPr id="137" name="TextBox 136"/>
          <p:cNvSpPr txBox="1"/>
          <p:nvPr/>
        </p:nvSpPr>
        <p:spPr>
          <a:xfrm>
            <a:off x="2404080" y="7448726"/>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5.316</a:t>
            </a:r>
          </a:p>
        </p:txBody>
      </p:sp>
      <p:sp>
        <p:nvSpPr>
          <p:cNvPr id="138" name="TextBox 137"/>
          <p:cNvSpPr txBox="1"/>
          <p:nvPr/>
        </p:nvSpPr>
        <p:spPr>
          <a:xfrm>
            <a:off x="3296160" y="7448726"/>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1,2%</a:t>
            </a:r>
          </a:p>
        </p:txBody>
      </p:sp>
      <p:sp>
        <p:nvSpPr>
          <p:cNvPr id="139" name="TextBox 138"/>
          <p:cNvSpPr txBox="1"/>
          <p:nvPr/>
        </p:nvSpPr>
        <p:spPr>
          <a:xfrm>
            <a:off x="3870720" y="7448726"/>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0,52%</a:t>
            </a:r>
          </a:p>
        </p:txBody>
      </p:sp>
      <p:sp>
        <p:nvSpPr>
          <p:cNvPr id="140" name="TextBox 139"/>
          <p:cNvSpPr txBox="1"/>
          <p:nvPr/>
        </p:nvSpPr>
        <p:spPr>
          <a:xfrm>
            <a:off x="4656960" y="7448726"/>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0,49%</a:t>
            </a:r>
          </a:p>
        </p:txBody>
      </p:sp>
      <p:sp>
        <p:nvSpPr>
          <p:cNvPr id="141" name="TextBox 140"/>
          <p:cNvSpPr txBox="1"/>
          <p:nvPr/>
        </p:nvSpPr>
        <p:spPr>
          <a:xfrm>
            <a:off x="567000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0,02%</a:t>
            </a:r>
          </a:p>
        </p:txBody>
      </p:sp>
      <p:sp>
        <p:nvSpPr>
          <p:cNvPr id="142" name="TextBox 141"/>
          <p:cNvSpPr txBox="1"/>
          <p:nvPr/>
        </p:nvSpPr>
        <p:spPr>
          <a:xfrm>
            <a:off x="6380640" y="7448726"/>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4,4</a:t>
            </a:r>
          </a:p>
        </p:txBody>
      </p:sp>
      <p:sp>
        <p:nvSpPr>
          <p:cNvPr id="143" name="TextBox 142"/>
          <p:cNvSpPr txBox="1"/>
          <p:nvPr/>
        </p:nvSpPr>
        <p:spPr>
          <a:xfrm>
            <a:off x="604800" y="7684267"/>
            <a:ext cx="1708560" cy="298974"/>
          </a:xfrm>
          <a:prstGeom prst="rect">
            <a:avLst/>
          </a:prstGeom>
          <a:noFill/>
        </p:spPr>
        <p:txBody>
          <a:bodyPr wrap="square" lIns="0" rIns="0" tIns="0" bIns="0" anchor="t"/>
          <a:lstStyle/>
          <a:p>
            <a:pPr algn="l">
              <a:lnSpc>
                <a:spcPts val="1163"/>
              </a:lnSpc>
            </a:pPr>
            <a:r>
              <a:rPr sz="1012" b="0" i="0">
                <a:solidFill>
                  <a:srgbClr val="FFFFFF"/>
                </a:solidFill>
                <a:latin typeface="Versos"/>
              </a:rPr>
              <a:t>Materiais de construção e agregados</a:t>
            </a:r>
          </a:p>
        </p:txBody>
      </p:sp>
      <p:sp>
        <p:nvSpPr>
          <p:cNvPr id="144" name="TextBox 143"/>
          <p:cNvSpPr txBox="1"/>
          <p:nvPr/>
        </p:nvSpPr>
        <p:spPr>
          <a:xfrm>
            <a:off x="2404080" y="7758095"/>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3.551</a:t>
            </a:r>
          </a:p>
        </p:txBody>
      </p:sp>
      <p:sp>
        <p:nvSpPr>
          <p:cNvPr id="145" name="TextBox 144"/>
          <p:cNvSpPr txBox="1"/>
          <p:nvPr/>
        </p:nvSpPr>
        <p:spPr>
          <a:xfrm>
            <a:off x="3296160" y="7758095"/>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0,8%</a:t>
            </a:r>
          </a:p>
        </p:txBody>
      </p:sp>
      <p:sp>
        <p:nvSpPr>
          <p:cNvPr id="146" name="TextBox 145"/>
          <p:cNvSpPr txBox="1"/>
          <p:nvPr/>
        </p:nvSpPr>
        <p:spPr>
          <a:xfrm>
            <a:off x="3870720" y="7758095"/>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0,88%</a:t>
            </a:r>
          </a:p>
        </p:txBody>
      </p:sp>
      <p:sp>
        <p:nvSpPr>
          <p:cNvPr id="147" name="TextBox 146"/>
          <p:cNvSpPr txBox="1"/>
          <p:nvPr/>
        </p:nvSpPr>
        <p:spPr>
          <a:xfrm>
            <a:off x="4656960" y="7758095"/>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48" name="TextBox 147"/>
          <p:cNvSpPr txBox="1"/>
          <p:nvPr/>
        </p:nvSpPr>
        <p:spPr>
          <a:xfrm>
            <a:off x="567000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49" name="TextBox 148"/>
          <p:cNvSpPr txBox="1"/>
          <p:nvPr/>
        </p:nvSpPr>
        <p:spPr>
          <a:xfrm>
            <a:off x="6380640" y="7758095"/>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0" name="TextBox 149"/>
          <p:cNvSpPr txBox="1"/>
          <p:nvPr/>
        </p:nvSpPr>
        <p:spPr>
          <a:xfrm>
            <a:off x="604800" y="8067583"/>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Química e petroquímica</a:t>
            </a:r>
          </a:p>
        </p:txBody>
      </p:sp>
      <p:sp>
        <p:nvSpPr>
          <p:cNvPr id="151" name="TextBox 150"/>
          <p:cNvSpPr txBox="1"/>
          <p:nvPr/>
        </p:nvSpPr>
        <p:spPr>
          <a:xfrm>
            <a:off x="2404080" y="8067583"/>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2.512</a:t>
            </a:r>
          </a:p>
        </p:txBody>
      </p:sp>
      <p:sp>
        <p:nvSpPr>
          <p:cNvPr id="152" name="TextBox 151"/>
          <p:cNvSpPr txBox="1"/>
          <p:nvPr/>
        </p:nvSpPr>
        <p:spPr>
          <a:xfrm>
            <a:off x="3296160" y="8067583"/>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0,6%</a:t>
            </a:r>
          </a:p>
        </p:txBody>
      </p:sp>
      <p:sp>
        <p:nvSpPr>
          <p:cNvPr id="153" name="TextBox 152"/>
          <p:cNvSpPr txBox="1"/>
          <p:nvPr/>
        </p:nvSpPr>
        <p:spPr>
          <a:xfrm>
            <a:off x="3870720" y="8067583"/>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4" name="TextBox 153"/>
          <p:cNvSpPr txBox="1"/>
          <p:nvPr/>
        </p:nvSpPr>
        <p:spPr>
          <a:xfrm>
            <a:off x="4656960" y="8067583"/>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1,47%</a:t>
            </a:r>
          </a:p>
        </p:txBody>
      </p:sp>
      <p:sp>
        <p:nvSpPr>
          <p:cNvPr id="155" name="TextBox 154"/>
          <p:cNvSpPr txBox="1"/>
          <p:nvPr/>
        </p:nvSpPr>
        <p:spPr>
          <a:xfrm>
            <a:off x="567000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0,00%</a:t>
            </a:r>
          </a:p>
        </p:txBody>
      </p:sp>
      <p:sp>
        <p:nvSpPr>
          <p:cNvPr id="156" name="TextBox 155"/>
          <p:cNvSpPr txBox="1"/>
          <p:nvPr/>
        </p:nvSpPr>
        <p:spPr>
          <a:xfrm>
            <a:off x="6380640" y="8067583"/>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3,5</a:t>
            </a:r>
          </a:p>
        </p:txBody>
      </p:sp>
      <p:sp>
        <p:nvSpPr>
          <p:cNvPr id="157" name="TextBox 156"/>
          <p:cNvSpPr txBox="1"/>
          <p:nvPr/>
        </p:nvSpPr>
        <p:spPr>
          <a:xfrm>
            <a:off x="604800" y="8344822"/>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Alimentos e bebidas</a:t>
            </a:r>
          </a:p>
        </p:txBody>
      </p:sp>
      <p:sp>
        <p:nvSpPr>
          <p:cNvPr id="158" name="TextBox 157"/>
          <p:cNvSpPr txBox="1"/>
          <p:nvPr/>
        </p:nvSpPr>
        <p:spPr>
          <a:xfrm>
            <a:off x="2404080" y="8344822"/>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1.739</a:t>
            </a:r>
          </a:p>
        </p:txBody>
      </p:sp>
      <p:sp>
        <p:nvSpPr>
          <p:cNvPr id="159" name="TextBox 158"/>
          <p:cNvSpPr txBox="1"/>
          <p:nvPr/>
        </p:nvSpPr>
        <p:spPr>
          <a:xfrm>
            <a:off x="3296160" y="8344822"/>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0,4%</a:t>
            </a:r>
          </a:p>
        </p:txBody>
      </p:sp>
      <p:sp>
        <p:nvSpPr>
          <p:cNvPr id="160" name="TextBox 159"/>
          <p:cNvSpPr txBox="1"/>
          <p:nvPr/>
        </p:nvSpPr>
        <p:spPr>
          <a:xfrm>
            <a:off x="3870720" y="8344822"/>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1,51%</a:t>
            </a:r>
          </a:p>
        </p:txBody>
      </p:sp>
      <p:sp>
        <p:nvSpPr>
          <p:cNvPr id="161" name="TextBox 160"/>
          <p:cNvSpPr txBox="1"/>
          <p:nvPr/>
        </p:nvSpPr>
        <p:spPr>
          <a:xfrm>
            <a:off x="4656960" y="8344822"/>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1,46%</a:t>
            </a:r>
          </a:p>
        </p:txBody>
      </p:sp>
      <p:sp>
        <p:nvSpPr>
          <p:cNvPr id="162" name="TextBox 161"/>
          <p:cNvSpPr txBox="1"/>
          <p:nvPr/>
        </p:nvSpPr>
        <p:spPr>
          <a:xfrm>
            <a:off x="567000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0,05%</a:t>
            </a:r>
          </a:p>
        </p:txBody>
      </p:sp>
      <p:sp>
        <p:nvSpPr>
          <p:cNvPr id="163" name="TextBox 162"/>
          <p:cNvSpPr txBox="1"/>
          <p:nvPr/>
        </p:nvSpPr>
        <p:spPr>
          <a:xfrm>
            <a:off x="6380640" y="8344822"/>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64" name="TextBox 163"/>
          <p:cNvSpPr txBox="1"/>
          <p:nvPr/>
        </p:nvSpPr>
        <p:spPr>
          <a:xfrm>
            <a:off x="604800" y="862206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Têxtil e calçados</a:t>
            </a:r>
          </a:p>
        </p:txBody>
      </p:sp>
      <p:sp>
        <p:nvSpPr>
          <p:cNvPr id="165" name="TextBox 164"/>
          <p:cNvSpPr txBox="1"/>
          <p:nvPr/>
        </p:nvSpPr>
        <p:spPr>
          <a:xfrm>
            <a:off x="2404080" y="862206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261</a:t>
            </a:r>
          </a:p>
        </p:txBody>
      </p:sp>
      <p:sp>
        <p:nvSpPr>
          <p:cNvPr id="166" name="TextBox 165"/>
          <p:cNvSpPr txBox="1"/>
          <p:nvPr/>
        </p:nvSpPr>
        <p:spPr>
          <a:xfrm>
            <a:off x="3296160" y="862206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0,1%</a:t>
            </a:r>
          </a:p>
        </p:txBody>
      </p:sp>
      <p:sp>
        <p:nvSpPr>
          <p:cNvPr id="167" name="TextBox 166"/>
          <p:cNvSpPr txBox="1"/>
          <p:nvPr/>
        </p:nvSpPr>
        <p:spPr>
          <a:xfrm>
            <a:off x="3870720" y="862206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0,98%</a:t>
            </a:r>
          </a:p>
        </p:txBody>
      </p:sp>
      <p:sp>
        <p:nvSpPr>
          <p:cNvPr id="168" name="TextBox 167"/>
          <p:cNvSpPr txBox="1"/>
          <p:nvPr/>
        </p:nvSpPr>
        <p:spPr>
          <a:xfrm>
            <a:off x="4656960" y="862206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69" name="TextBox 168"/>
          <p:cNvSpPr txBox="1"/>
          <p:nvPr/>
        </p:nvSpPr>
        <p:spPr>
          <a:xfrm>
            <a:off x="567000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0,06%</a:t>
            </a:r>
          </a:p>
        </p:txBody>
      </p:sp>
      <p:sp>
        <p:nvSpPr>
          <p:cNvPr id="170" name="TextBox 169"/>
          <p:cNvSpPr txBox="1"/>
          <p:nvPr/>
        </p:nvSpPr>
        <p:spPr>
          <a:xfrm>
            <a:off x="6380640" y="862206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2,4</a:t>
            </a:r>
          </a:p>
        </p:txBody>
      </p:sp>
      <p:sp>
        <p:nvSpPr>
          <p:cNvPr id="171" name="TextBox 170"/>
          <p:cNvSpPr txBox="1"/>
          <p:nvPr/>
        </p:nvSpPr>
        <p:spPr>
          <a:xfrm>
            <a:off x="604800" y="889930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Mineração</a:t>
            </a:r>
          </a:p>
        </p:txBody>
      </p:sp>
      <p:sp>
        <p:nvSpPr>
          <p:cNvPr id="172" name="TextBox 171"/>
          <p:cNvSpPr txBox="1"/>
          <p:nvPr/>
        </p:nvSpPr>
        <p:spPr>
          <a:xfrm>
            <a:off x="2404080" y="889930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1.082</a:t>
            </a:r>
          </a:p>
        </p:txBody>
      </p:sp>
      <p:sp>
        <p:nvSpPr>
          <p:cNvPr id="173" name="TextBox 172"/>
          <p:cNvSpPr txBox="1"/>
          <p:nvPr/>
        </p:nvSpPr>
        <p:spPr>
          <a:xfrm>
            <a:off x="3296160" y="889930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0,2%</a:t>
            </a:r>
          </a:p>
        </p:txBody>
      </p:sp>
      <p:sp>
        <p:nvSpPr>
          <p:cNvPr id="174" name="TextBox 173"/>
          <p:cNvSpPr txBox="1"/>
          <p:nvPr/>
        </p:nvSpPr>
        <p:spPr>
          <a:xfrm>
            <a:off x="3870720" y="889930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0,71%</a:t>
            </a:r>
          </a:p>
        </p:txBody>
      </p:sp>
      <p:sp>
        <p:nvSpPr>
          <p:cNvPr id="175" name="TextBox 174"/>
          <p:cNvSpPr txBox="1"/>
          <p:nvPr/>
        </p:nvSpPr>
        <p:spPr>
          <a:xfrm>
            <a:off x="4656960" y="889930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0,72%</a:t>
            </a:r>
          </a:p>
        </p:txBody>
      </p:sp>
      <p:sp>
        <p:nvSpPr>
          <p:cNvPr id="176" name="TextBox 175"/>
          <p:cNvSpPr txBox="1"/>
          <p:nvPr/>
        </p:nvSpPr>
        <p:spPr>
          <a:xfrm>
            <a:off x="567000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77" name="TextBox 176"/>
          <p:cNvSpPr txBox="1"/>
          <p:nvPr/>
        </p:nvSpPr>
        <p:spPr>
          <a:xfrm>
            <a:off x="6380640" y="889930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2,1</a:t>
            </a:r>
          </a:p>
        </p:txBody>
      </p:sp>
      <p:sp>
        <p:nvSpPr>
          <p:cNvPr id="178" name="TextBox 177"/>
          <p:cNvSpPr txBox="1"/>
          <p:nvPr/>
        </p:nvSpPr>
        <p:spPr>
          <a:xfrm>
            <a:off x="604800" y="9177131"/>
            <a:ext cx="1776902" cy="151200"/>
          </a:xfrm>
          <a:prstGeom prst="rect">
            <a:avLst/>
          </a:prstGeom>
          <a:noFill/>
        </p:spPr>
        <p:txBody>
          <a:bodyPr wrap="none" lIns="0" rIns="0" tIns="0" bIns="0" anchor="t"/>
          <a:lstStyle/>
          <a:p>
            <a:pPr algn="l">
              <a:lnSpc>
                <a:spcPts val="1163"/>
              </a:lnSpc>
            </a:pPr>
            <a:r>
              <a:rPr sz="1012" b="0" i="0">
                <a:solidFill>
                  <a:srgbClr val="FFFFFF"/>
                </a:solidFill>
                <a:latin typeface="Versos"/>
              </a:rPr>
              <a:t>Construção civil</a:t>
            </a:r>
          </a:p>
        </p:txBody>
      </p:sp>
      <p:sp>
        <p:nvSpPr>
          <p:cNvPr id="179" name="TextBox 178"/>
          <p:cNvSpPr txBox="1"/>
          <p:nvPr/>
        </p:nvSpPr>
        <p:spPr>
          <a:xfrm>
            <a:off x="2404080" y="9177131"/>
            <a:ext cx="833414" cy="151200"/>
          </a:xfrm>
          <a:prstGeom prst="rect">
            <a:avLst/>
          </a:prstGeom>
          <a:noFill/>
        </p:spPr>
        <p:txBody>
          <a:bodyPr wrap="none" lIns="0" rIns="0" tIns="0" bIns="0" anchor="t"/>
          <a:lstStyle/>
          <a:p>
            <a:pPr algn="ctr">
              <a:lnSpc>
                <a:spcPts val="1163"/>
              </a:lnSpc>
            </a:pPr>
            <a:r>
              <a:rPr sz="1012" b="0" i="0">
                <a:solidFill>
                  <a:srgbClr val="BFDAEA"/>
                </a:solidFill>
                <a:latin typeface="Versos"/>
              </a:rPr>
              <a:t>51</a:t>
            </a:r>
          </a:p>
        </p:txBody>
      </p:sp>
      <p:sp>
        <p:nvSpPr>
          <p:cNvPr id="180" name="TextBox 179"/>
          <p:cNvSpPr txBox="1"/>
          <p:nvPr/>
        </p:nvSpPr>
        <p:spPr>
          <a:xfrm>
            <a:off x="3296160" y="9177131"/>
            <a:ext cx="503193" cy="151200"/>
          </a:xfrm>
          <a:prstGeom prst="rect">
            <a:avLst/>
          </a:prstGeom>
          <a:noFill/>
        </p:spPr>
        <p:txBody>
          <a:bodyPr wrap="none" lIns="0" rIns="0" tIns="0" bIns="0" anchor="t"/>
          <a:lstStyle/>
          <a:p>
            <a:pPr algn="ctr">
              <a:lnSpc>
                <a:spcPts val="1163"/>
              </a:lnSpc>
            </a:pPr>
            <a:r>
              <a:rPr sz="1012" b="0" i="0">
                <a:solidFill>
                  <a:srgbClr val="FFFFFF"/>
                </a:solidFill>
                <a:latin typeface="Versos"/>
              </a:rPr>
              <a:t>0,0%</a:t>
            </a:r>
          </a:p>
        </p:txBody>
      </p:sp>
      <p:sp>
        <p:nvSpPr>
          <p:cNvPr id="181" name="TextBox 180"/>
          <p:cNvSpPr txBox="1"/>
          <p:nvPr/>
        </p:nvSpPr>
        <p:spPr>
          <a:xfrm>
            <a:off x="3870720" y="9177131"/>
            <a:ext cx="723340" cy="151200"/>
          </a:xfrm>
          <a:prstGeom prst="rect">
            <a:avLst/>
          </a:prstGeom>
          <a:noFill/>
        </p:spPr>
        <p:txBody>
          <a:bodyPr wrap="none" lIns="0" rIns="0" tIns="0" bIns="0" anchor="t"/>
          <a:lstStyle/>
          <a:p>
            <a:pPr algn="ctr">
              <a:lnSpc>
                <a:spcPts val="1163"/>
              </a:lnSpc>
            </a:pPr>
            <a:r>
              <a:rPr sz="1012" b="0" i="0">
                <a:solidFill>
                  <a:srgbClr val="FFFFFF"/>
                </a:solidFill>
                <a:latin typeface="Versos"/>
              </a:rPr>
              <a:t>0,93%</a:t>
            </a:r>
          </a:p>
        </p:txBody>
      </p:sp>
      <p:sp>
        <p:nvSpPr>
          <p:cNvPr id="182" name="TextBox 181"/>
          <p:cNvSpPr txBox="1"/>
          <p:nvPr/>
        </p:nvSpPr>
        <p:spPr>
          <a:xfrm>
            <a:off x="4656960" y="9177131"/>
            <a:ext cx="959212" cy="151200"/>
          </a:xfrm>
          <a:prstGeom prst="rect">
            <a:avLst/>
          </a:prstGeom>
          <a:noFill/>
        </p:spPr>
        <p:txBody>
          <a:bodyPr wrap="none" lIns="0" rIns="0" tIns="0" bIns="0" anchor="t"/>
          <a:lstStyle/>
          <a:p>
            <a:pPr algn="ctr">
              <a:lnSpc>
                <a:spcPts val="1163"/>
              </a:lnSpc>
            </a:pPr>
            <a:r>
              <a:rPr sz="1012" b="0" i="0">
                <a:solidFill>
                  <a:srgbClr val="FFFFFF"/>
                </a:solidFill>
                <a:latin typeface="Versos"/>
              </a:rPr>
              <a:t>0,92%</a:t>
            </a:r>
          </a:p>
        </p:txBody>
      </p:sp>
      <p:sp>
        <p:nvSpPr>
          <p:cNvPr id="183" name="TextBox 182"/>
          <p:cNvSpPr txBox="1"/>
          <p:nvPr/>
        </p:nvSpPr>
        <p:spPr>
          <a:xfrm>
            <a:off x="567000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0,01%</a:t>
            </a:r>
          </a:p>
        </p:txBody>
      </p:sp>
      <p:sp>
        <p:nvSpPr>
          <p:cNvPr id="184" name="TextBox 183"/>
          <p:cNvSpPr txBox="1"/>
          <p:nvPr/>
        </p:nvSpPr>
        <p:spPr>
          <a:xfrm>
            <a:off x="6380640" y="9177131"/>
            <a:ext cx="644716" cy="151200"/>
          </a:xfrm>
          <a:prstGeom prst="rect">
            <a:avLst/>
          </a:prstGeom>
          <a:noFill/>
        </p:spPr>
        <p:txBody>
          <a:bodyPr wrap="none" lIns="0" rIns="0" tIns="0" bIns="0" anchor="t"/>
          <a:lstStyle/>
          <a:p>
            <a:pPr algn="ctr">
              <a:lnSpc>
                <a:spcPts val="1163"/>
              </a:lnSpc>
            </a:pPr>
            <a:r>
              <a:rPr sz="1012" b="0" i="0">
                <a:solidFill>
                  <a:srgbClr val="FFFFFF"/>
                </a:solidFill>
                <a:latin typeface="Versos"/>
              </a:rPr>
              <a:t>0,9</a:t>
            </a:r>
          </a:p>
        </p:txBody>
      </p:sp>
      <p:sp>
        <p:nvSpPr>
          <p:cNvPr id="185" name="TextBox 184"/>
          <p:cNvSpPr txBox="1"/>
          <p:nvPr/>
        </p:nvSpPr>
        <p:spPr>
          <a:xfrm>
            <a:off x="400680" y="9647268"/>
            <a:ext cx="6758640" cy="246054"/>
          </a:xfrm>
          <a:prstGeom prst="rect">
            <a:avLst/>
          </a:prstGeom>
          <a:noFill/>
        </p:spPr>
        <p:txBody>
          <a:bodyPr wrap="square" lIns="0" rIns="0" tIns="0" bIns="0" anchor="t"/>
          <a:lstStyle/>
          <a:p>
            <a:pPr algn="l">
              <a:lnSpc>
                <a:spcPts val="975"/>
              </a:lnSpc>
            </a:pPr>
            <a:r>
              <a:rPr sz="525" b="0" i="0">
                <a:solidFill>
                  <a:srgbClr val="222222"/>
                </a:solidFill>
                <a:latin typeface="Versos"/>
              </a:rPr>
              <a:t>1</a:t>
            </a:r>
            <a:r>
              <a:rPr sz="750" b="0" i="0">
                <a:solidFill>
                  <a:srgbClr val="222222"/>
                </a:solidFill>
                <a:latin typeface="Versos"/>
              </a:rPr>
              <a:t>Debêntures precificadas pela ANBIMA corrigidas por CDI + spread. Desconsideramos as debêntures que começaram a ser precificadas ou que venceram ao longo do mês, para que a comparação com o mês anterior seja feita com a mesma base de ativos.</a:t>
            </a:r>
          </a:p>
        </p:txBody>
      </p:sp>
      <p:sp>
        <p:nvSpPr>
          <p:cNvPr id="186" name="TextBox 185"/>
          <p:cNvSpPr txBox="1"/>
          <p:nvPr/>
        </p:nvSpPr>
        <p:spPr>
          <a:xfrm>
            <a:off x="7071553" y="10266480"/>
            <a:ext cx="75552" cy="136080"/>
          </a:xfrm>
          <a:prstGeom prst="rect">
            <a:avLst/>
          </a:prstGeom>
          <a:noFill/>
        </p:spPr>
        <p:txBody>
          <a:bodyPr wrap="none" lIns="0" rIns="0" tIns="0" bIns="0" anchor="t"/>
          <a:lstStyle/>
          <a:p>
            <a:pPr algn="l">
              <a:lnSpc>
                <a:spcPts val="892"/>
              </a:lnSpc>
            </a:pPr>
            <a:r>
              <a:rPr sz="892" b="0" i="0">
                <a:solidFill>
                  <a:srgbClr val="111111"/>
                </a:solidFill>
                <a:latin typeface="Versos"/>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7560000" cy="10692000"/>
          </a:xfrm>
          <a:prstGeom prst="rect">
            <a:avLst/>
          </a:prstGeom>
        </p:spPr>
      </p:pic>
      <p:sp>
        <p:nvSpPr>
          <p:cNvPr id="3" name="TextBox 2"/>
          <p:cNvSpPr txBox="1"/>
          <p:nvPr/>
        </p:nvSpPr>
        <p:spPr>
          <a:xfrm>
            <a:off x="400680" y="642600"/>
            <a:ext cx="1458475" cy="189000"/>
          </a:xfrm>
          <a:prstGeom prst="rect">
            <a:avLst/>
          </a:prstGeom>
          <a:noFill/>
        </p:spPr>
        <p:txBody>
          <a:bodyPr wrap="none" lIns="0" rIns="0" tIns="0" bIns="0" anchor="t"/>
          <a:lstStyle/>
          <a:p>
            <a:pPr algn="l">
              <a:lnSpc>
                <a:spcPts val="1500"/>
              </a:lnSpc>
            </a:pPr>
            <a:r>
              <a:rPr sz="1250" b="0" i="0">
                <a:solidFill>
                  <a:srgbClr val="FFFFFF"/>
                </a:solidFill>
                <a:latin typeface="Versos"/>
              </a:rPr>
              <a:t>Setembro de 2026</a:t>
            </a:r>
          </a:p>
        </p:txBody>
      </p:sp>
      <p:sp>
        <p:nvSpPr>
          <p:cNvPr id="4" name="TextBox 3"/>
          <p:cNvSpPr txBox="1"/>
          <p:nvPr/>
        </p:nvSpPr>
        <p:spPr>
          <a:xfrm>
            <a:off x="400680" y="1239840"/>
            <a:ext cx="7028985" cy="143640"/>
          </a:xfrm>
          <a:prstGeom prst="rect">
            <a:avLst/>
          </a:prstGeom>
          <a:noFill/>
        </p:spPr>
        <p:txBody>
          <a:bodyPr wrap="none" lIns="0" rIns="0" tIns="0" bIns="0" anchor="t"/>
          <a:lstStyle/>
          <a:p>
            <a:pPr algn="l">
              <a:lnSpc>
                <a:spcPts val="1142"/>
              </a:lnSpc>
            </a:pPr>
            <a:r>
              <a:rPr sz="952" b="0" i="0">
                <a:solidFill>
                  <a:srgbClr val="111111"/>
                </a:solidFill>
                <a:latin typeface="Versos"/>
              </a:rPr>
              <a:t>CARACTERÍSTICAS GERAIS DO FUNDO</a:t>
            </a:r>
          </a:p>
        </p:txBody>
      </p:sp>
      <p:sp>
        <p:nvSpPr>
          <p:cNvPr id="5" name="TextBox 4"/>
          <p:cNvSpPr txBox="1"/>
          <p:nvPr/>
        </p:nvSpPr>
        <p:spPr>
          <a:xfrm>
            <a:off x="400680" y="1694857"/>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Gestor</a:t>
            </a:r>
          </a:p>
        </p:txBody>
      </p:sp>
      <p:sp>
        <p:nvSpPr>
          <p:cNvPr id="6" name="TextBox 5"/>
          <p:cNvSpPr txBox="1"/>
          <p:nvPr/>
        </p:nvSpPr>
        <p:spPr>
          <a:xfrm>
            <a:off x="400680" y="1883857"/>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Tivio Capital</a:t>
            </a:r>
          </a:p>
        </p:txBody>
      </p:sp>
      <p:sp>
        <p:nvSpPr>
          <p:cNvPr id="7" name="TextBox 6"/>
          <p:cNvSpPr txBox="1"/>
          <p:nvPr/>
        </p:nvSpPr>
        <p:spPr>
          <a:xfrm>
            <a:off x="400680" y="238577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Público Alvo</a:t>
            </a:r>
          </a:p>
        </p:txBody>
      </p:sp>
      <p:sp>
        <p:nvSpPr>
          <p:cNvPr id="8" name="TextBox 7"/>
          <p:cNvSpPr txBox="1"/>
          <p:nvPr/>
        </p:nvSpPr>
        <p:spPr>
          <a:xfrm>
            <a:off x="400680" y="257477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Investidores em geral</a:t>
            </a:r>
          </a:p>
        </p:txBody>
      </p:sp>
      <p:sp>
        <p:nvSpPr>
          <p:cNvPr id="9" name="TextBox 8"/>
          <p:cNvSpPr txBox="1"/>
          <p:nvPr/>
        </p:nvSpPr>
        <p:spPr>
          <a:xfrm>
            <a:off x="400680" y="3076683"/>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Data de início</a:t>
            </a:r>
          </a:p>
        </p:txBody>
      </p:sp>
      <p:sp>
        <p:nvSpPr>
          <p:cNvPr id="10" name="TextBox 9"/>
          <p:cNvSpPr txBox="1"/>
          <p:nvPr/>
        </p:nvSpPr>
        <p:spPr>
          <a:xfrm>
            <a:off x="400680" y="3265683"/>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02/04/2001</a:t>
            </a:r>
          </a:p>
        </p:txBody>
      </p:sp>
      <p:sp>
        <p:nvSpPr>
          <p:cNvPr id="11" name="TextBox 10"/>
          <p:cNvSpPr txBox="1"/>
          <p:nvPr/>
        </p:nvSpPr>
        <p:spPr>
          <a:xfrm>
            <a:off x="400680" y="3767596"/>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global</a:t>
            </a:r>
          </a:p>
        </p:txBody>
      </p:sp>
      <p:sp>
        <p:nvSpPr>
          <p:cNvPr id="12" name="TextBox 11"/>
          <p:cNvSpPr txBox="1"/>
          <p:nvPr/>
        </p:nvSpPr>
        <p:spPr>
          <a:xfrm>
            <a:off x="400680" y="3956596"/>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0,50% a.a.</a:t>
            </a:r>
          </a:p>
        </p:txBody>
      </p:sp>
      <p:sp>
        <p:nvSpPr>
          <p:cNvPr id="13" name="TextBox 12"/>
          <p:cNvSpPr txBox="1"/>
          <p:nvPr/>
        </p:nvSpPr>
        <p:spPr>
          <a:xfrm>
            <a:off x="400680" y="4458510"/>
            <a:ext cx="2995574" cy="181440"/>
          </a:xfrm>
          <a:prstGeom prst="rect">
            <a:avLst/>
          </a:prstGeom>
          <a:noFill/>
        </p:spPr>
        <p:txBody>
          <a:bodyPr wrap="none" lIns="0" rIns="0" tIns="0" bIns="0" anchor="t"/>
          <a:lstStyle/>
          <a:p>
            <a:pPr algn="l">
              <a:lnSpc>
                <a:spcPts val="1369"/>
              </a:lnSpc>
            </a:pPr>
            <a:r>
              <a:rPr sz="1190" b="1" i="0">
                <a:solidFill>
                  <a:srgbClr val="111111"/>
                </a:solidFill>
                <a:latin typeface="Versos"/>
              </a:rPr>
              <a:t>Taxa de performance</a:t>
            </a:r>
          </a:p>
        </p:txBody>
      </p:sp>
      <p:sp>
        <p:nvSpPr>
          <p:cNvPr id="14" name="TextBox 13"/>
          <p:cNvSpPr txBox="1"/>
          <p:nvPr/>
        </p:nvSpPr>
        <p:spPr>
          <a:xfrm>
            <a:off x="400680" y="4647510"/>
            <a:ext cx="2995574" cy="181440"/>
          </a:xfrm>
          <a:prstGeom prst="rect">
            <a:avLst/>
          </a:prstGeom>
          <a:noFill/>
        </p:spPr>
        <p:txBody>
          <a:bodyPr wrap="none" lIns="0" rIns="0" tIns="0" bIns="0" anchor="t"/>
          <a:lstStyle/>
          <a:p>
            <a:pPr algn="l">
              <a:lnSpc>
                <a:spcPts val="1333"/>
              </a:lnSpc>
            </a:pPr>
            <a:r>
              <a:rPr sz="1190" b="0" i="0">
                <a:solidFill>
                  <a:srgbClr val="222222"/>
                </a:solidFill>
                <a:latin typeface="Versos"/>
              </a:rPr>
              <a:t>20% do que exceder 102,5% do CDI</a:t>
            </a:r>
          </a:p>
        </p:txBody>
      </p:sp>
      <p:sp>
        <p:nvSpPr>
          <p:cNvPr id="15" name="TextBox 14"/>
          <p:cNvSpPr txBox="1"/>
          <p:nvPr/>
        </p:nvSpPr>
        <p:spPr>
          <a:xfrm>
            <a:off x="3878280" y="1694857"/>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Informações Operacionais</a:t>
            </a:r>
          </a:p>
        </p:txBody>
      </p:sp>
      <p:sp>
        <p:nvSpPr>
          <p:cNvPr id="16" name="TextBox 15"/>
          <p:cNvSpPr txBox="1"/>
          <p:nvPr/>
        </p:nvSpPr>
        <p:spPr>
          <a:xfrm>
            <a:off x="3878280" y="1883857"/>
            <a:ext cx="3281040" cy="1704898"/>
          </a:xfrm>
          <a:prstGeom prst="rect">
            <a:avLst/>
          </a:prstGeom>
          <a:noFill/>
        </p:spPr>
        <p:txBody>
          <a:bodyPr wrap="square" lIns="0" rIns="0" tIns="0" bIns="0" anchor="t"/>
          <a:lstStyle/>
          <a:p>
            <a:pPr algn="l">
              <a:lnSpc>
                <a:spcPts val="1333"/>
              </a:lnSpc>
            </a:pPr>
            <a:r>
              <a:rPr sz="1190" b="0" i="0">
                <a:solidFill>
                  <a:srgbClr val="222222"/>
                </a:solidFill>
                <a:latin typeface="Versos"/>
              </a:rPr>
              <a:t>Aplicação:</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Resgate:</a:t>
            </a:r>
          </a:p>
          <a:p>
            <a:pPr algn="l">
              <a:lnSpc>
                <a:spcPts val="1333"/>
              </a:lnSpc>
            </a:pPr>
            <a:r>
              <a:rPr sz="1190" b="1" i="0">
                <a:solidFill>
                  <a:srgbClr val="222222"/>
                </a:solidFill>
                <a:latin typeface="Versos"/>
              </a:rPr>
              <a:t>D+0 Abertura</a:t>
            </a:r>
          </a:p>
          <a:p>
            <a:pPr algn="l">
              <a:lnSpc>
                <a:spcPts val="1333"/>
              </a:lnSpc>
            </a:pPr>
            <a:r>
              <a:rPr sz="1190" b="0" i="0">
                <a:solidFill>
                  <a:srgbClr val="222222"/>
                </a:solidFill>
                <a:latin typeface="Versos"/>
              </a:rPr>
              <a:t>Pagamento do Resgate:</a:t>
            </a:r>
          </a:p>
          <a:p>
            <a:pPr algn="l">
              <a:lnSpc>
                <a:spcPts val="1333"/>
              </a:lnSpc>
            </a:pPr>
            <a:r>
              <a:rPr sz="1190" b="1" i="0">
                <a:solidFill>
                  <a:srgbClr val="222222"/>
                </a:solidFill>
                <a:latin typeface="Versos"/>
              </a:rPr>
              <a:t>D+0*</a:t>
            </a:r>
          </a:p>
          <a:p>
            <a:pPr algn="l">
              <a:lnSpc>
                <a:spcPts val="1333"/>
              </a:lnSpc>
            </a:pPr>
            <a:r>
              <a:rPr sz="1190" b="0" i="0">
                <a:solidFill>
                  <a:srgbClr val="222222"/>
                </a:solidFill>
                <a:latin typeface="Versos"/>
              </a:rPr>
              <a:t>Aplicação mínima inicial:</a:t>
            </a:r>
          </a:p>
          <a:p>
            <a:pPr algn="l">
              <a:lnSpc>
                <a:spcPts val="1333"/>
              </a:lnSpc>
            </a:pPr>
            <a:r>
              <a:rPr sz="1190" b="1" i="0">
                <a:solidFill>
                  <a:srgbClr val="222222"/>
                </a:solidFill>
                <a:latin typeface="Versos"/>
              </a:rPr>
              <a:t>R$ 1.000,00</a:t>
            </a:r>
          </a:p>
          <a:p>
            <a:pPr algn="l">
              <a:lnSpc>
                <a:spcPts val="1333"/>
              </a:lnSpc>
            </a:pPr>
            <a:r>
              <a:rPr sz="1190" b="0" i="0">
                <a:solidFill>
                  <a:srgbClr val="222222"/>
                </a:solidFill>
                <a:latin typeface="Versos"/>
              </a:rPr>
              <a:t>Movimentação mínima:</a:t>
            </a:r>
          </a:p>
          <a:p>
            <a:pPr algn="l">
              <a:lnSpc>
                <a:spcPts val="1333"/>
              </a:lnSpc>
            </a:pPr>
            <a:r>
              <a:rPr sz="1190" b="1" i="0">
                <a:solidFill>
                  <a:srgbClr val="222222"/>
                </a:solidFill>
                <a:latin typeface="Versos"/>
              </a:rPr>
              <a:t>R$ 1.000,00</a:t>
            </a:r>
          </a:p>
        </p:txBody>
      </p:sp>
      <p:sp>
        <p:nvSpPr>
          <p:cNvPr id="17" name="TextBox 16"/>
          <p:cNvSpPr txBox="1"/>
          <p:nvPr/>
        </p:nvSpPr>
        <p:spPr>
          <a:xfrm>
            <a:off x="3878280" y="3909228"/>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a:t>
            </a:r>
          </a:p>
        </p:txBody>
      </p:sp>
      <p:sp>
        <p:nvSpPr>
          <p:cNvPr id="18" name="TextBox 17"/>
          <p:cNvSpPr txBox="1"/>
          <p:nvPr/>
        </p:nvSpPr>
        <p:spPr>
          <a:xfrm>
            <a:off x="3878280" y="4098228"/>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R$ 156.246.478,91</a:t>
            </a:r>
          </a:p>
        </p:txBody>
      </p:sp>
      <p:sp>
        <p:nvSpPr>
          <p:cNvPr id="19" name="TextBox 18"/>
          <p:cNvSpPr txBox="1"/>
          <p:nvPr/>
        </p:nvSpPr>
        <p:spPr>
          <a:xfrm>
            <a:off x="3878280" y="4600141"/>
            <a:ext cx="3412281" cy="181440"/>
          </a:xfrm>
          <a:prstGeom prst="rect">
            <a:avLst/>
          </a:prstGeom>
          <a:noFill/>
        </p:spPr>
        <p:txBody>
          <a:bodyPr wrap="none" lIns="0" rIns="0" tIns="0" bIns="0" anchor="t"/>
          <a:lstStyle/>
          <a:p>
            <a:pPr algn="l">
              <a:lnSpc>
                <a:spcPts val="1369"/>
              </a:lnSpc>
            </a:pPr>
            <a:r>
              <a:rPr sz="1190" b="1" i="0">
                <a:solidFill>
                  <a:srgbClr val="111111"/>
                </a:solidFill>
                <a:latin typeface="Versos"/>
              </a:rPr>
              <a:t>Patrimônio líquido médio (12 meses)</a:t>
            </a:r>
          </a:p>
        </p:txBody>
      </p:sp>
      <p:sp>
        <p:nvSpPr>
          <p:cNvPr id="20" name="TextBox 19"/>
          <p:cNvSpPr txBox="1"/>
          <p:nvPr/>
        </p:nvSpPr>
        <p:spPr>
          <a:xfrm>
            <a:off x="3878280" y="4789141"/>
            <a:ext cx="3412281" cy="181440"/>
          </a:xfrm>
          <a:prstGeom prst="rect">
            <a:avLst/>
          </a:prstGeom>
          <a:noFill/>
        </p:spPr>
        <p:txBody>
          <a:bodyPr wrap="none" lIns="0" rIns="0" tIns="0" bIns="0" anchor="t"/>
          <a:lstStyle/>
          <a:p>
            <a:pPr algn="l">
              <a:lnSpc>
                <a:spcPts val="1333"/>
              </a:lnSpc>
            </a:pPr>
            <a:r>
              <a:rPr sz="1190" b="0" i="0">
                <a:solidFill>
                  <a:srgbClr val="222222"/>
                </a:solidFill>
                <a:latin typeface="Versos"/>
              </a:rPr>
              <a:t>R$ 151.871.553,37</a:t>
            </a:r>
          </a:p>
        </p:txBody>
      </p:sp>
      <p:sp>
        <p:nvSpPr>
          <p:cNvPr id="21" name="TextBox 20"/>
          <p:cNvSpPr txBox="1"/>
          <p:nvPr/>
        </p:nvSpPr>
        <p:spPr>
          <a:xfrm>
            <a:off x="400680" y="6229440"/>
            <a:ext cx="7028985" cy="151200"/>
          </a:xfrm>
          <a:prstGeom prst="rect">
            <a:avLst/>
          </a:prstGeom>
          <a:noFill/>
        </p:spPr>
        <p:txBody>
          <a:bodyPr wrap="none" lIns="0" rIns="0" tIns="0" bIns="0" anchor="t"/>
          <a:lstStyle/>
          <a:p>
            <a:pPr algn="l">
              <a:lnSpc>
                <a:spcPts val="1214"/>
              </a:lnSpc>
            </a:pPr>
            <a:r>
              <a:rPr sz="1012" b="1" i="0">
                <a:solidFill>
                  <a:srgbClr val="FFFFFF"/>
                </a:solidFill>
                <a:latin typeface="Versos"/>
              </a:rPr>
              <a:t>MATERIAL TÉCNICO</a:t>
            </a:r>
          </a:p>
        </p:txBody>
      </p:sp>
      <p:sp>
        <p:nvSpPr>
          <p:cNvPr id="22" name="TextBox 21"/>
          <p:cNvSpPr txBox="1"/>
          <p:nvPr/>
        </p:nvSpPr>
        <p:spPr>
          <a:xfrm>
            <a:off x="400680" y="6463800"/>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*Para solicitações de resgates que representem até 95% (noventa e cinco por cento) do Patrimônio Líquido do FUNDO, o pagamento dos resgates ocorrerá no dia da solicitação do resgate (D+0). Para solicitações de resgates superiores a 95% (noventa e cinco) do Patrimônio Líquido do FUNDO, o pagamento dos resgates ocorrerá no primeiro dia útil após a solicitação dos resgates (D+1).</a:t>
            </a:r>
          </a:p>
        </p:txBody>
      </p:sp>
      <p:sp>
        <p:nvSpPr>
          <p:cNvPr id="23" name="TextBox 22"/>
          <p:cNvSpPr txBox="1"/>
          <p:nvPr/>
        </p:nvSpPr>
        <p:spPr>
          <a:xfrm>
            <a:off x="400680" y="689554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Este material foi elaborado pela Tivio Capital Distribuidora de Títulos e Valores Mobiliários S.A. e possui caráter meramente informativo. Não constitui oferta, recomendação ou aconselhamento de investimento.</a:t>
            </a:r>
          </a:p>
        </p:txBody>
      </p:sp>
      <p:sp>
        <p:nvSpPr>
          <p:cNvPr id="24" name="TextBox 23"/>
          <p:cNvSpPr txBox="1"/>
          <p:nvPr/>
        </p:nvSpPr>
        <p:spPr>
          <a:xfrm>
            <a:off x="400680" y="7195938"/>
            <a:ext cx="6758640" cy="398790"/>
          </a:xfrm>
          <a:prstGeom prst="rect">
            <a:avLst/>
          </a:prstGeom>
          <a:noFill/>
        </p:spPr>
        <p:txBody>
          <a:bodyPr wrap="square" lIns="0" rIns="0" tIns="0" bIns="0" anchor="t"/>
          <a:lstStyle/>
          <a:p>
            <a:pPr algn="just">
              <a:lnSpc>
                <a:spcPts val="1034"/>
              </a:lnSpc>
            </a:pPr>
            <a:r>
              <a:rPr sz="848" b="0" i="0">
                <a:solidFill>
                  <a:srgbClr val="E9E9E9"/>
                </a:solidFill>
                <a:latin typeface="Versos"/>
              </a:rPr>
              <a:t>Antes de investir, leia a lâmina de informações básicas, se aplicável, o regulamento, o formulário de informações complementares, seus anexos e apêndices. Esses documentos e informações sobre tributação estão disponíveis em tivio.com/fundos/ e tivio.com/documentos/.</a:t>
            </a:r>
          </a:p>
        </p:txBody>
      </p:sp>
      <p:sp>
        <p:nvSpPr>
          <p:cNvPr id="25" name="TextBox 24"/>
          <p:cNvSpPr txBox="1"/>
          <p:nvPr/>
        </p:nvSpPr>
        <p:spPr>
          <a:xfrm>
            <a:off x="400680" y="7627685"/>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envolvem riscos. Consulte os documentos do fundo para conhecer sua estratégia, público-alvo, condições e principais fatores de risco.</a:t>
            </a:r>
          </a:p>
        </p:txBody>
      </p:sp>
      <p:sp>
        <p:nvSpPr>
          <p:cNvPr id="26" name="TextBox 25"/>
          <p:cNvSpPr txBox="1"/>
          <p:nvPr/>
        </p:nvSpPr>
        <p:spPr>
          <a:xfrm>
            <a:off x="400680" y="7928077"/>
            <a:ext cx="7028985" cy="136080"/>
          </a:xfrm>
          <a:prstGeom prst="rect">
            <a:avLst/>
          </a:prstGeom>
          <a:noFill/>
        </p:spPr>
        <p:txBody>
          <a:bodyPr wrap="none" lIns="0" rIns="0" tIns="0" bIns="0" anchor="t"/>
          <a:lstStyle/>
          <a:p>
            <a:pPr algn="just">
              <a:lnSpc>
                <a:spcPts val="1034"/>
              </a:lnSpc>
            </a:pPr>
            <a:r>
              <a:rPr sz="848" b="0" i="0">
                <a:solidFill>
                  <a:srgbClr val="E9E9E9"/>
                </a:solidFill>
                <a:latin typeface="Versos"/>
              </a:rPr>
              <a:t>Rentabilidade obtida no passado não representa garantia de resultados futuros. A rentabilidade divulgada não é líquida de impostos.</a:t>
            </a:r>
          </a:p>
        </p:txBody>
      </p:sp>
      <p:sp>
        <p:nvSpPr>
          <p:cNvPr id="27" name="TextBox 26"/>
          <p:cNvSpPr txBox="1"/>
          <p:nvPr/>
        </p:nvSpPr>
        <p:spPr>
          <a:xfrm>
            <a:off x="400680" y="8097114"/>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Os investimentos em fundos não são garantidos pelo administrador, pelo gestor, por qualquer mecanismo de seguro ou pelo Fundo Garantidor de Crédito – FGC.</a:t>
            </a:r>
          </a:p>
        </p:txBody>
      </p:sp>
      <p:sp>
        <p:nvSpPr>
          <p:cNvPr id="28" name="TextBox 27"/>
          <p:cNvSpPr txBox="1"/>
          <p:nvPr/>
        </p:nvSpPr>
        <p:spPr>
          <a:xfrm>
            <a:off x="400680" y="8397506"/>
            <a:ext cx="6758640" cy="267435"/>
          </a:xfrm>
          <a:prstGeom prst="rect">
            <a:avLst/>
          </a:prstGeom>
          <a:noFill/>
        </p:spPr>
        <p:txBody>
          <a:bodyPr wrap="square" lIns="0" rIns="0" tIns="0" bIns="0" anchor="t"/>
          <a:lstStyle/>
          <a:p>
            <a:pPr algn="just">
              <a:lnSpc>
                <a:spcPts val="1034"/>
              </a:lnSpc>
            </a:pPr>
            <a:r>
              <a:rPr sz="848" b="0" i="0">
                <a:solidFill>
                  <a:srgbClr val="E9E9E9"/>
                </a:solidFill>
                <a:latin typeface="Versos"/>
              </a:rPr>
              <a:t>A Tivio Capital Distribuidora de Títulos e Valores Mobiliários S.A. integra o conglomerado prudencial liderado pelo Banco Bradesco S.A.</a:t>
            </a:r>
          </a:p>
        </p:txBody>
      </p:sp>
      <p:sp>
        <p:nvSpPr>
          <p:cNvPr id="29" name="TextBox 28"/>
          <p:cNvSpPr txBox="1"/>
          <p:nvPr/>
        </p:nvSpPr>
        <p:spPr>
          <a:xfrm>
            <a:off x="400680" y="9013055"/>
            <a:ext cx="1134000" cy="270742"/>
          </a:xfrm>
          <a:prstGeom prst="rect">
            <a:avLst/>
          </a:prstGeom>
          <a:noFill/>
        </p:spPr>
        <p:txBody>
          <a:bodyPr wrap="square" lIns="0" rIns="0" tIns="0" bIns="0" anchor="t"/>
          <a:lstStyle/>
          <a:p>
            <a:pPr algn="l">
              <a:lnSpc>
                <a:spcPts val="1060"/>
              </a:lnSpc>
            </a:pPr>
            <a:r>
              <a:rPr sz="848" b="0" i="0">
                <a:solidFill>
                  <a:srgbClr val="E9E9E9"/>
                </a:solidFill>
                <a:latin typeface="Versos"/>
              </a:rPr>
              <a:t>SAC: 0800 704 8383</a:t>
            </a:r>
          </a:p>
          <a:p>
            <a:pPr algn="l">
              <a:lnSpc>
                <a:spcPts val="1060"/>
              </a:lnSpc>
            </a:pPr>
            <a:r>
              <a:rPr sz="848" b="0" i="0">
                <a:solidFill>
                  <a:srgbClr val="E9E9E9"/>
                </a:solidFill>
                <a:latin typeface="Versos"/>
              </a:rPr>
              <a:t>Atendimento 24 horas</a:t>
            </a:r>
          </a:p>
        </p:txBody>
      </p:sp>
      <p:sp>
        <p:nvSpPr>
          <p:cNvPr id="30" name="TextBox 29"/>
          <p:cNvSpPr txBox="1"/>
          <p:nvPr/>
        </p:nvSpPr>
        <p:spPr>
          <a:xfrm>
            <a:off x="1655640" y="9013055"/>
            <a:ext cx="4024164" cy="270742"/>
          </a:xfrm>
          <a:prstGeom prst="rect">
            <a:avLst/>
          </a:prstGeom>
          <a:noFill/>
        </p:spPr>
        <p:txBody>
          <a:bodyPr wrap="square" lIns="0" rIns="0" tIns="0" bIns="0" anchor="t"/>
          <a:lstStyle/>
          <a:p>
            <a:pPr algn="l">
              <a:lnSpc>
                <a:spcPts val="1060"/>
              </a:lnSpc>
            </a:pPr>
            <a:r>
              <a:rPr sz="848" b="0" i="0">
                <a:solidFill>
                  <a:srgbClr val="E9E9E9"/>
                </a:solidFill>
                <a:latin typeface="Versos"/>
              </a:rPr>
              <a:t>Ouvidoria: 0800 727 9933</a:t>
            </a:r>
          </a:p>
          <a:p>
            <a:pPr algn="l">
              <a:lnSpc>
                <a:spcPts val="1060"/>
              </a:lnSpc>
            </a:pPr>
            <a:r>
              <a:rPr sz="848" b="0" i="0">
                <a:solidFill>
                  <a:srgbClr val="E9E9E9"/>
                </a:solidFill>
                <a:latin typeface="Versos"/>
              </a:rPr>
              <a:t>Atendimento das 9h às 18h, de segunda a sexta-feira, exceto feriados nacionais</a:t>
            </a:r>
          </a:p>
        </p:txBody>
      </p:sp>
      <p:sp>
        <p:nvSpPr>
          <p:cNvPr id="31" name="TextBox 30"/>
          <p:cNvSpPr txBox="1"/>
          <p:nvPr/>
        </p:nvSpPr>
        <p:spPr>
          <a:xfrm>
            <a:off x="876960" y="9843120"/>
            <a:ext cx="1274077" cy="181440"/>
          </a:xfrm>
          <a:prstGeom prst="rect">
            <a:avLst/>
          </a:prstGeom>
          <a:noFill/>
        </p:spPr>
        <p:txBody>
          <a:bodyPr wrap="none" lIns="0" rIns="0" tIns="0" bIns="0" anchor="t"/>
          <a:lstStyle/>
          <a:p>
            <a:pPr algn="l">
              <a:lnSpc>
                <a:spcPts val="1428"/>
              </a:lnSpc>
            </a:pPr>
            <a:r>
              <a:rPr sz="1190" b="0" i="0">
                <a:solidFill>
                  <a:srgbClr val="FFFFFF"/>
                </a:solidFill>
                <a:latin typeface="Versos"/>
              </a:rPr>
              <a:t>tivio.com/fundos</a:t>
            </a:r>
          </a:p>
        </p:txBody>
      </p:sp>
      <p:sp>
        <p:nvSpPr>
          <p:cNvPr id="32" name="TextBox 31"/>
          <p:cNvSpPr txBox="1"/>
          <p:nvPr/>
        </p:nvSpPr>
        <p:spPr>
          <a:xfrm>
            <a:off x="3341520" y="9756652"/>
            <a:ext cx="907200" cy="349650"/>
          </a:xfrm>
          <a:prstGeom prst="rect">
            <a:avLst/>
          </a:prstGeom>
          <a:noFill/>
        </p:spPr>
        <p:txBody>
          <a:bodyPr wrap="square" lIns="0" rIns="0" tIns="0" bIns="0" anchor="t"/>
          <a:lstStyle/>
          <a:p>
            <a:pPr algn="l">
              <a:lnSpc>
                <a:spcPts val="930"/>
              </a:lnSpc>
            </a:pPr>
            <a:r>
              <a:rPr sz="744" b="0" i="0">
                <a:solidFill>
                  <a:srgbClr val="FFFFFF"/>
                </a:solidFill>
                <a:latin typeface="Versos"/>
              </a:rPr>
              <a:t>Leia o QR Code e acesse as redes da Tivio Capital</a:t>
            </a:r>
          </a:p>
        </p:txBody>
      </p:sp>
      <p:sp>
        <p:nvSpPr>
          <p:cNvPr id="33" name="TextBox 32"/>
          <p:cNvSpPr txBox="1"/>
          <p:nvPr/>
        </p:nvSpPr>
        <p:spPr>
          <a:xfrm>
            <a:off x="4528440" y="10020071"/>
            <a:ext cx="527886" cy="98280"/>
          </a:xfrm>
          <a:prstGeom prst="rect">
            <a:avLst/>
          </a:prstGeom>
          <a:noFill/>
        </p:spPr>
        <p:txBody>
          <a:bodyPr wrap="none" lIns="0" rIns="0" tIns="0" bIns="0" anchor="t"/>
          <a:lstStyle/>
          <a:p>
            <a:pPr algn="l">
              <a:lnSpc>
                <a:spcPts val="714"/>
              </a:lnSpc>
            </a:pPr>
            <a:r>
              <a:rPr sz="595" b="0" i="0">
                <a:solidFill>
                  <a:srgbClr val="FFFFFF"/>
                </a:solidFill>
                <a:latin typeface="Versos"/>
              </a:rPr>
              <a:t>Rating S&amp;P</a:t>
            </a:r>
          </a:p>
        </p:txBody>
      </p:sp>
      <p:sp>
        <p:nvSpPr>
          <p:cNvPr id="34" name="TextBox 33"/>
          <p:cNvSpPr txBox="1"/>
          <p:nvPr/>
        </p:nvSpPr>
        <p:spPr>
          <a:xfrm>
            <a:off x="4528440" y="10110791"/>
            <a:ext cx="527886" cy="166320"/>
          </a:xfrm>
          <a:prstGeom prst="rect">
            <a:avLst/>
          </a:prstGeom>
          <a:noFill/>
        </p:spPr>
        <p:txBody>
          <a:bodyPr wrap="none" lIns="0" rIns="0" tIns="0" bIns="0" anchor="t"/>
          <a:lstStyle/>
          <a:p>
            <a:pPr algn="l">
              <a:lnSpc>
                <a:spcPts val="1285"/>
              </a:lnSpc>
            </a:pPr>
            <a:r>
              <a:rPr sz="1071" b="1" i="0">
                <a:solidFill>
                  <a:srgbClr val="FFFFFF"/>
                </a:solidFill>
                <a:latin typeface="Versos"/>
              </a:rPr>
              <a:t>brAMP1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