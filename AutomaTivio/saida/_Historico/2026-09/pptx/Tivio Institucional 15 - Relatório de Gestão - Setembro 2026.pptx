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31,02%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50,90%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1.663,46%</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1.424,46%</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1,21%</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6,65%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239,00%</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104%</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46068" cy="143640"/>
          </a:xfrm>
          <a:prstGeom prst="rect">
            <a:avLst/>
          </a:prstGeom>
          <a:noFill/>
        </p:spPr>
        <p:txBody>
          <a:bodyPr wrap="none" lIns="0" rIns="0" tIns="0" bIns="0" anchor="t"/>
          <a:lstStyle/>
          <a:p>
            <a:pPr algn="l">
              <a:lnSpc>
                <a:spcPts val="1107"/>
              </a:lnSpc>
            </a:pPr>
            <a:r>
              <a:rPr sz="922" b="0" i="0">
                <a:solidFill>
                  <a:srgbClr val="5A82A0"/>
                </a:solidFill>
                <a:latin typeface="Versos"/>
              </a:rPr>
              <a:t>5,10%</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51462" y="6052606"/>
            <a:ext cx="386240" cy="143640"/>
          </a:xfrm>
          <a:prstGeom prst="rect">
            <a:avLst/>
          </a:prstGeom>
          <a:noFill/>
        </p:spPr>
        <p:txBody>
          <a:bodyPr wrap="none" lIns="0" rIns="0" tIns="0" bIns="0" anchor="t"/>
          <a:lstStyle/>
          <a:p>
            <a:pPr algn="l">
              <a:lnSpc>
                <a:spcPts val="1107"/>
              </a:lnSpc>
            </a:pPr>
            <a:r>
              <a:rPr sz="922" b="0" i="0">
                <a:solidFill>
                  <a:srgbClr val="5A82A0"/>
                </a:solidFill>
                <a:latin typeface="Versos"/>
              </a:rPr>
              <a:t>3,30%</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202440" y="6484944"/>
            <a:ext cx="337223" cy="143640"/>
          </a:xfrm>
          <a:prstGeom prst="rect">
            <a:avLst/>
          </a:prstGeom>
          <a:noFill/>
        </p:spPr>
        <p:txBody>
          <a:bodyPr wrap="none" lIns="0" rIns="0" tIns="0" bIns="0" anchor="t"/>
          <a:lstStyle/>
          <a:p>
            <a:pPr algn="l">
              <a:lnSpc>
                <a:spcPts val="1107"/>
              </a:lnSpc>
            </a:pPr>
            <a:r>
              <a:rPr sz="922" b="0" i="0">
                <a:solidFill>
                  <a:srgbClr val="5A82A0"/>
                </a:solidFill>
                <a:latin typeface="Versos"/>
              </a:rPr>
              <a:t>3,15%</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63577" y="6917281"/>
            <a:ext cx="383169" cy="143640"/>
          </a:xfrm>
          <a:prstGeom prst="rect">
            <a:avLst/>
          </a:prstGeom>
          <a:noFill/>
        </p:spPr>
        <p:txBody>
          <a:bodyPr wrap="none" lIns="0" rIns="0" tIns="0" bIns="0" anchor="t"/>
          <a:lstStyle/>
          <a:p>
            <a:pPr algn="l">
              <a:lnSpc>
                <a:spcPts val="1107"/>
              </a:lnSpc>
            </a:pPr>
            <a:r>
              <a:rPr sz="922" b="0" i="0">
                <a:solidFill>
                  <a:srgbClr val="5A82A0"/>
                </a:solidFill>
                <a:latin typeface="Versos"/>
              </a:rPr>
              <a:t>3,03%</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973986" y="7349619"/>
            <a:ext cx="378500" cy="143640"/>
          </a:xfrm>
          <a:prstGeom prst="rect">
            <a:avLst/>
          </a:prstGeom>
          <a:noFill/>
        </p:spPr>
        <p:txBody>
          <a:bodyPr wrap="none" lIns="0" rIns="0" tIns="0" bIns="0" anchor="t"/>
          <a:lstStyle/>
          <a:p>
            <a:pPr algn="l">
              <a:lnSpc>
                <a:spcPts val="1107"/>
              </a:lnSpc>
            </a:pPr>
            <a:r>
              <a:rPr sz="922" b="0" i="0">
                <a:solidFill>
                  <a:srgbClr val="5A82A0"/>
                </a:solidFill>
                <a:latin typeface="Versos"/>
              </a:rPr>
              <a:t>2,44%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28377" cy="143640"/>
          </a:xfrm>
          <a:prstGeom prst="rect">
            <a:avLst/>
          </a:prstGeom>
          <a:noFill/>
        </p:spPr>
        <p:txBody>
          <a:bodyPr wrap="none" lIns="0" rIns="0" tIns="0" bIns="0" anchor="t"/>
          <a:lstStyle/>
          <a:p>
            <a:pPr algn="l">
              <a:lnSpc>
                <a:spcPts val="1142"/>
              </a:lnSpc>
            </a:pPr>
            <a:r>
              <a:rPr sz="952" b="0" i="0">
                <a:solidFill>
                  <a:srgbClr val="111111"/>
                </a:solidFill>
                <a:latin typeface="Versos"/>
              </a:rPr>
              <a:t>31,97%</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66167" y="8515158"/>
            <a:ext cx="374201" cy="143640"/>
          </a:xfrm>
          <a:prstGeom prst="rect">
            <a:avLst/>
          </a:prstGeom>
          <a:noFill/>
        </p:spPr>
        <p:txBody>
          <a:bodyPr wrap="none" lIns="0" rIns="0" tIns="0" bIns="0" anchor="t"/>
          <a:lstStyle/>
          <a:p>
            <a:pPr algn="l">
              <a:lnSpc>
                <a:spcPts val="1142"/>
              </a:lnSpc>
            </a:pPr>
            <a:r>
              <a:rPr sz="952" b="0" i="0">
                <a:solidFill>
                  <a:srgbClr val="111111"/>
                </a:solidFill>
                <a:latin typeface="Versos"/>
              </a:rPr>
              <a:t>7,05%</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390213" y="8779286"/>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5,79%</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35403" y="9043413"/>
            <a:ext cx="387591" cy="143640"/>
          </a:xfrm>
          <a:prstGeom prst="rect">
            <a:avLst/>
          </a:prstGeom>
          <a:noFill/>
        </p:spPr>
        <p:txBody>
          <a:bodyPr wrap="none" lIns="0" rIns="0" tIns="0" bIns="0" anchor="t"/>
          <a:lstStyle/>
          <a:p>
            <a:pPr algn="l">
              <a:lnSpc>
                <a:spcPts val="1142"/>
              </a:lnSpc>
            </a:pPr>
            <a:r>
              <a:rPr sz="952" b="0" i="0">
                <a:solidFill>
                  <a:srgbClr val="111111"/>
                </a:solidFill>
                <a:latin typeface="Versos"/>
              </a:rPr>
              <a:t>4,87%</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84255" y="9307541"/>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4,02%</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58858" y="9571668"/>
            <a:ext cx="393979" cy="143640"/>
          </a:xfrm>
          <a:prstGeom prst="rect">
            <a:avLst/>
          </a:prstGeom>
          <a:noFill/>
        </p:spPr>
        <p:txBody>
          <a:bodyPr wrap="none" lIns="0" rIns="0" tIns="0" bIns="0" anchor="t"/>
          <a:lstStyle/>
          <a:p>
            <a:pPr algn="l">
              <a:lnSpc>
                <a:spcPts val="1142"/>
              </a:lnSpc>
            </a:pPr>
            <a:r>
              <a:rPr sz="952" b="0" i="0">
                <a:solidFill>
                  <a:srgbClr val="111111"/>
                </a:solidFill>
                <a:latin typeface="Versos"/>
              </a:rPr>
              <a:t>3,59%</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2497" y="983579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0,66%</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752497" y="5518209"/>
            <a:ext cx="433414" cy="143640"/>
          </a:xfrm>
          <a:prstGeom prst="rect">
            <a:avLst/>
          </a:prstGeom>
          <a:noFill/>
        </p:spPr>
        <p:txBody>
          <a:bodyPr wrap="none" lIns="0" rIns="0" tIns="0" bIns="0" anchor="t"/>
          <a:lstStyle/>
          <a:p>
            <a:pPr algn="l">
              <a:lnSpc>
                <a:spcPts val="1142"/>
              </a:lnSpc>
            </a:pPr>
            <a:r>
              <a:rPr sz="952" b="0" i="0">
                <a:solidFill>
                  <a:srgbClr val="111111"/>
                </a:solidFill>
                <a:latin typeface="Versos"/>
              </a:rPr>
              <a:t>30,12%</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2" name="TextBox 71"/>
          <p:cNvSpPr txBox="1"/>
          <p:nvPr/>
        </p:nvSpPr>
        <p:spPr>
          <a:xfrm>
            <a:off x="6644176" y="5746426"/>
            <a:ext cx="447911" cy="143640"/>
          </a:xfrm>
          <a:prstGeom prst="rect">
            <a:avLst/>
          </a:prstGeom>
          <a:noFill/>
        </p:spPr>
        <p:txBody>
          <a:bodyPr wrap="none" lIns="0" rIns="0" tIns="0" bIns="0" anchor="t"/>
          <a:lstStyle/>
          <a:p>
            <a:pPr algn="l">
              <a:lnSpc>
                <a:spcPts val="1142"/>
              </a:lnSpc>
            </a:pPr>
            <a:r>
              <a:rPr sz="952" b="0" i="0">
                <a:solidFill>
                  <a:srgbClr val="111111"/>
                </a:solidFill>
                <a:latin typeface="Versos"/>
              </a:rPr>
              <a:t>27,54%</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31935" y="5974526"/>
            <a:ext cx="434889" cy="143640"/>
          </a:xfrm>
          <a:prstGeom prst="rect">
            <a:avLst/>
          </a:prstGeom>
          <a:noFill/>
        </p:spPr>
        <p:txBody>
          <a:bodyPr wrap="none" lIns="0" rIns="0" tIns="0" bIns="0" anchor="t"/>
          <a:lstStyle/>
          <a:p>
            <a:pPr algn="l">
              <a:lnSpc>
                <a:spcPts val="1142"/>
              </a:lnSpc>
            </a:pPr>
            <a:r>
              <a:rPr sz="952" b="0" i="0">
                <a:solidFill>
                  <a:srgbClr val="111111"/>
                </a:solidFill>
                <a:latin typeface="Versos"/>
              </a:rPr>
              <a:t>12,95%</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775249" y="6202743"/>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624994" y="6430843"/>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79" name="TextBox 78"/>
          <p:cNvSpPr txBox="1"/>
          <p:nvPr/>
        </p:nvSpPr>
        <p:spPr>
          <a:xfrm>
            <a:off x="3802680" y="661027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619678" y="6659060"/>
            <a:ext cx="350122" cy="143640"/>
          </a:xfrm>
          <a:prstGeom prst="rect">
            <a:avLst/>
          </a:prstGeom>
          <a:noFill/>
        </p:spPr>
        <p:txBody>
          <a:bodyPr wrap="none" lIns="0" rIns="0" tIns="0" bIns="0" anchor="t"/>
          <a:lstStyle/>
          <a:p>
            <a:pPr algn="l">
              <a:lnSpc>
                <a:spcPts val="1142"/>
              </a:lnSpc>
            </a:pPr>
            <a:r>
              <a:rPr sz="952" b="0" i="0">
                <a:solidFill>
                  <a:srgbClr val="111111"/>
                </a:solidFill>
                <a:latin typeface="Versos"/>
              </a:rPr>
              <a:t>3,12%</a:t>
            </a:r>
          </a:p>
        </p:txBody>
      </p:sp>
      <p:sp>
        <p:nvSpPr>
          <p:cNvPr id="81" name="TextBox 80"/>
          <p:cNvSpPr txBox="1"/>
          <p:nvPr/>
        </p:nvSpPr>
        <p:spPr>
          <a:xfrm>
            <a:off x="3802680" y="68949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604204" y="6887160"/>
            <a:ext cx="383169" cy="143640"/>
          </a:xfrm>
          <a:prstGeom prst="rect">
            <a:avLst/>
          </a:prstGeom>
          <a:noFill/>
        </p:spPr>
        <p:txBody>
          <a:bodyPr wrap="none" lIns="0" rIns="0" tIns="0" bIns="0" anchor="t"/>
          <a:lstStyle/>
          <a:p>
            <a:pPr algn="l">
              <a:lnSpc>
                <a:spcPts val="1142"/>
              </a:lnSpc>
            </a:pPr>
            <a:r>
              <a:rPr sz="952" b="0" i="0">
                <a:solidFill>
                  <a:srgbClr val="111111"/>
                </a:solidFill>
                <a:latin typeface="Versos"/>
              </a:rPr>
              <a:t>2,76%</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585304" y="7115377"/>
            <a:ext cx="357124" cy="143640"/>
          </a:xfrm>
          <a:prstGeom prst="rect">
            <a:avLst/>
          </a:prstGeom>
          <a:noFill/>
        </p:spPr>
        <p:txBody>
          <a:bodyPr wrap="none" lIns="0" rIns="0" tIns="0" bIns="0" anchor="t"/>
          <a:lstStyle/>
          <a:p>
            <a:pPr algn="l">
              <a:lnSpc>
                <a:spcPts val="1142"/>
              </a:lnSpc>
            </a:pPr>
            <a:r>
              <a:rPr sz="952" b="0" i="0">
                <a:solidFill>
                  <a:srgbClr val="111111"/>
                </a:solidFill>
                <a:latin typeface="Versos"/>
              </a:rPr>
              <a:t>2,31%</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75618" y="7343476"/>
            <a:ext cx="397296" cy="143640"/>
          </a:xfrm>
          <a:prstGeom prst="rect">
            <a:avLst/>
          </a:prstGeom>
          <a:noFill/>
        </p:spPr>
        <p:txBody>
          <a:bodyPr wrap="none" lIns="0" rIns="0" tIns="0" bIns="0" anchor="t"/>
          <a:lstStyle/>
          <a:p>
            <a:pPr algn="l">
              <a:lnSpc>
                <a:spcPts val="1142"/>
              </a:lnSpc>
            </a:pPr>
            <a:r>
              <a:rPr sz="952" b="0" i="0">
                <a:solidFill>
                  <a:srgbClr val="111111"/>
                </a:solidFill>
                <a:latin typeface="Versos"/>
              </a:rPr>
              <a:t>2,08%</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66404" y="7571694"/>
            <a:ext cx="366461" cy="143640"/>
          </a:xfrm>
          <a:prstGeom prst="rect">
            <a:avLst/>
          </a:prstGeom>
          <a:noFill/>
        </p:spPr>
        <p:txBody>
          <a:bodyPr wrap="none" lIns="0" rIns="0" tIns="0" bIns="0" anchor="t"/>
          <a:lstStyle/>
          <a:p>
            <a:pPr algn="l">
              <a:lnSpc>
                <a:spcPts val="1142"/>
              </a:lnSpc>
            </a:pPr>
            <a:r>
              <a:rPr sz="952" b="0" i="0">
                <a:solidFill>
                  <a:srgbClr val="111111"/>
                </a:solidFill>
                <a:latin typeface="Versos"/>
              </a:rPr>
              <a:t>1,86%</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54355" y="7799793"/>
            <a:ext cx="348525" cy="143640"/>
          </a:xfrm>
          <a:prstGeom prst="rect">
            <a:avLst/>
          </a:prstGeom>
          <a:noFill/>
        </p:spPr>
        <p:txBody>
          <a:bodyPr wrap="none" lIns="0" rIns="0" tIns="0" bIns="0" anchor="t"/>
          <a:lstStyle/>
          <a:p>
            <a:pPr algn="l">
              <a:lnSpc>
                <a:spcPts val="1142"/>
              </a:lnSpc>
            </a:pPr>
            <a:r>
              <a:rPr sz="952" b="0" i="0">
                <a:solidFill>
                  <a:srgbClr val="111111"/>
                </a:solidFill>
                <a:latin typeface="Versos"/>
              </a:rPr>
              <a:t>1,57%</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36400" y="8028011"/>
            <a:ext cx="318058" cy="143640"/>
          </a:xfrm>
          <a:prstGeom prst="rect">
            <a:avLst/>
          </a:prstGeom>
          <a:noFill/>
        </p:spPr>
        <p:txBody>
          <a:bodyPr wrap="none" lIns="0" rIns="0" tIns="0" bIns="0" anchor="t"/>
          <a:lstStyle/>
          <a:p>
            <a:pPr algn="l">
              <a:lnSpc>
                <a:spcPts val="1142"/>
              </a:lnSpc>
            </a:pPr>
            <a:r>
              <a:rPr sz="952" b="0" i="0">
                <a:solidFill>
                  <a:srgbClr val="111111"/>
                </a:solidFill>
                <a:latin typeface="Versos"/>
              </a:rPr>
              <a:t>1,14%</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0494" y="8256228"/>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5651" y="8484446"/>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0,88%</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98" name="TextBox 97"/>
          <p:cNvSpPr txBox="1"/>
          <p:nvPr/>
        </p:nvSpPr>
        <p:spPr>
          <a:xfrm>
            <a:off x="5513130" y="8712663"/>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100" name="TextBox 99"/>
          <p:cNvSpPr txBox="1"/>
          <p:nvPr/>
        </p:nvSpPr>
        <p:spPr>
          <a:xfrm>
            <a:off x="5511358" y="8940881"/>
            <a:ext cx="391031" cy="143640"/>
          </a:xfrm>
          <a:prstGeom prst="rect">
            <a:avLst/>
          </a:prstGeom>
          <a:noFill/>
        </p:spPr>
        <p:txBody>
          <a:bodyPr wrap="none" lIns="0" rIns="0" tIns="0" bIns="0" anchor="t"/>
          <a:lstStyle/>
          <a:p>
            <a:pPr algn="l">
              <a:lnSpc>
                <a:spcPts val="1142"/>
              </a:lnSpc>
            </a:pPr>
            <a:r>
              <a:rPr sz="952" b="0" i="0">
                <a:solidFill>
                  <a:srgbClr val="111111"/>
                </a:solidFill>
                <a:latin typeface="Versos"/>
              </a:rPr>
              <a:t>0,55%</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07460" y="9169098"/>
            <a:ext cx="394594" cy="143640"/>
          </a:xfrm>
          <a:prstGeom prst="rect">
            <a:avLst/>
          </a:prstGeom>
          <a:noFill/>
        </p:spPr>
        <p:txBody>
          <a:bodyPr wrap="none" lIns="0" rIns="0" tIns="0" bIns="0" anchor="t"/>
          <a:lstStyle/>
          <a:p>
            <a:pPr algn="l">
              <a:lnSpc>
                <a:spcPts val="1142"/>
              </a:lnSpc>
            </a:pPr>
            <a:r>
              <a:rPr sz="952" b="0" i="0">
                <a:solidFill>
                  <a:srgbClr val="111111"/>
                </a:solidFill>
                <a:latin typeface="Versos"/>
              </a:rPr>
              <a:t>0,45%</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4" name="TextBox 103"/>
          <p:cNvSpPr txBox="1"/>
          <p:nvPr/>
        </p:nvSpPr>
        <p:spPr>
          <a:xfrm>
            <a:off x="5506042" y="9397316"/>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0,42%</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6" name="TextBox 105"/>
          <p:cNvSpPr txBox="1"/>
          <p:nvPr/>
        </p:nvSpPr>
        <p:spPr>
          <a:xfrm>
            <a:off x="5498128" y="9625533"/>
            <a:ext cx="392137" cy="143640"/>
          </a:xfrm>
          <a:prstGeom prst="rect">
            <a:avLst/>
          </a:prstGeom>
          <a:noFill/>
        </p:spPr>
        <p:txBody>
          <a:bodyPr wrap="none" lIns="0" rIns="0" tIns="0" bIns="0" anchor="t"/>
          <a:lstStyle/>
          <a:p>
            <a:pPr algn="l">
              <a:lnSpc>
                <a:spcPts val="1142"/>
              </a:lnSpc>
            </a:pPr>
            <a:r>
              <a:rPr sz="952" b="0" i="0">
                <a:solidFill>
                  <a:srgbClr val="111111"/>
                </a:solidFill>
                <a:latin typeface="Versos"/>
              </a:rPr>
              <a:t>0,23%</a:t>
            </a:r>
          </a:p>
        </p:txBody>
      </p:sp>
      <p:sp>
        <p:nvSpPr>
          <p:cNvPr id="107" name="TextBox 106"/>
          <p:cNvSpPr txBox="1"/>
          <p:nvPr/>
        </p:nvSpPr>
        <p:spPr>
          <a:xfrm>
            <a:off x="3802680" y="986142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Distribuição</a:t>
            </a:r>
          </a:p>
        </p:txBody>
      </p:sp>
      <p:sp>
        <p:nvSpPr>
          <p:cNvPr id="108" name="TextBox 107"/>
          <p:cNvSpPr txBox="1"/>
          <p:nvPr/>
        </p:nvSpPr>
        <p:spPr>
          <a:xfrm>
            <a:off x="5498010" y="9853751"/>
            <a:ext cx="351965" cy="143640"/>
          </a:xfrm>
          <a:prstGeom prst="rect">
            <a:avLst/>
          </a:prstGeom>
          <a:noFill/>
        </p:spPr>
        <p:txBody>
          <a:bodyPr wrap="none" lIns="0" rIns="0" tIns="0" bIns="0" anchor="t"/>
          <a:lstStyle/>
          <a:p>
            <a:pPr algn="l">
              <a:lnSpc>
                <a:spcPts val="1142"/>
              </a:lnSpc>
            </a:pPr>
            <a:r>
              <a:rPr sz="952" b="0" i="0">
                <a:solidFill>
                  <a:srgbClr val="111111"/>
                </a:solidFill>
                <a:latin typeface="Versos"/>
              </a:rPr>
              <a:t>0,14%</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7" name="TextBox 6"/>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8" name="TextBox 7"/>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Institucional 15 apresentou rentabilidade de 1,09% no mês (101% do CDI), acumulando 10,73% (102% do CDI) no ano. Na parcela de corporativos, os maiores atribuidores de resultado foram para Tupy e Randon, enquanto Hapvida foi o maior detrator.</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02/04/2001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R$ 156.246.478,91</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R$ 151.871.553,37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