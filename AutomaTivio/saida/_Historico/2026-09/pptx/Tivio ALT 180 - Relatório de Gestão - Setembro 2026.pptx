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1005480"/>
            <a:ext cx="6266332" cy="173880"/>
          </a:xfrm>
          <a:prstGeom prst="rect">
            <a:avLst/>
          </a:prstGeom>
          <a:noFill/>
        </p:spPr>
        <p:txBody>
          <a:bodyPr wrap="none" lIns="0" rIns="0" tIns="0" bIns="0" anchor="t"/>
          <a:lstStyle/>
          <a:p>
            <a:pPr algn="l">
              <a:lnSpc>
                <a:spcPts val="1321"/>
              </a:lnSpc>
            </a:pPr>
            <a:r>
              <a:rPr sz="1101" b="0" i="0">
                <a:solidFill>
                  <a:srgbClr val="FFFFFF"/>
                </a:solidFill>
                <a:latin typeface="Versos"/>
              </a:rPr>
              <a:t>TIVIO ALT CRÉDITO HIGH YIELD 180 FIDC – RL </a:t>
            </a:r>
            <a:r>
              <a:rPr sz="903" b="0" i="0">
                <a:solidFill>
                  <a:srgbClr val="FFFFFF"/>
                </a:solidFill>
                <a:latin typeface="Versos"/>
              </a:rPr>
              <a:t>/ CNPJ 58.038.938/0001-80</a:t>
            </a:r>
          </a:p>
        </p:txBody>
      </p:sp>
      <p:sp>
        <p:nvSpPr>
          <p:cNvPr id="4" name="TextBox 3"/>
          <p:cNvSpPr txBox="1"/>
          <p:nvPr/>
        </p:nvSpPr>
        <p:spPr>
          <a:xfrm>
            <a:off x="400680" y="140616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85560" y="1980720"/>
            <a:ext cx="7044710" cy="151200"/>
          </a:xfrm>
          <a:prstGeom prst="rect">
            <a:avLst/>
          </a:prstGeom>
          <a:noFill/>
        </p:spPr>
        <p:txBody>
          <a:bodyPr wrap="none" lIns="0" rIns="0" tIns="0" bIns="0" anchor="t"/>
          <a:lstStyle/>
          <a:p>
            <a:pPr algn="l">
              <a:lnSpc>
                <a:spcPts val="1214"/>
              </a:lnSpc>
            </a:pPr>
            <a:r>
              <a:rPr sz="1012" b="0" i="0">
                <a:solidFill>
                  <a:srgbClr val="FFFFFF"/>
                </a:solidFill>
                <a:latin typeface="Versos"/>
              </a:rPr>
              <a:t>OBJETIVO DA CARTEIRA</a:t>
            </a:r>
          </a:p>
        </p:txBody>
      </p:sp>
      <p:sp>
        <p:nvSpPr>
          <p:cNvPr id="6" name="TextBox 5"/>
          <p:cNvSpPr txBox="1"/>
          <p:nvPr/>
        </p:nvSpPr>
        <p:spPr>
          <a:xfrm>
            <a:off x="385560" y="2154600"/>
            <a:ext cx="6773760" cy="553297"/>
          </a:xfrm>
          <a:prstGeom prst="rect">
            <a:avLst/>
          </a:prstGeom>
          <a:noFill/>
        </p:spPr>
        <p:txBody>
          <a:bodyPr wrap="square" lIns="0" rIns="0" tIns="0" bIns="0" anchor="t"/>
          <a:lstStyle/>
          <a:p>
            <a:pPr algn="l">
              <a:lnSpc>
                <a:spcPts val="1464"/>
              </a:lnSpc>
            </a:pPr>
            <a:r>
              <a:rPr sz="1220" b="0" i="0">
                <a:solidFill>
                  <a:srgbClr val="FFFFFF"/>
                </a:solidFill>
                <a:latin typeface="Versos"/>
              </a:rPr>
              <a:t>O </a:t>
            </a:r>
            <a:r>
              <a:rPr sz="1220" b="1" i="0">
                <a:solidFill>
                  <a:srgbClr val="FFFFFF"/>
                </a:solidFill>
                <a:latin typeface="Versos"/>
              </a:rPr>
              <a:t>Tivio ALT 180</a:t>
            </a:r>
            <a:r>
              <a:rPr sz="1220" b="0" i="0">
                <a:solidFill>
                  <a:srgbClr val="FFFFFF"/>
                </a:solidFill>
                <a:latin typeface="Versos"/>
              </a:rPr>
              <a:t> se destaca por buscar créditos </a:t>
            </a:r>
            <a:r>
              <a:rPr sz="1220" b="0" i="1">
                <a:solidFill>
                  <a:srgbClr val="FFFFFF"/>
                </a:solidFill>
                <a:latin typeface="Versos"/>
              </a:rPr>
              <a:t>high yield</a:t>
            </a:r>
            <a:r>
              <a:rPr sz="1220" b="0" i="0">
                <a:solidFill>
                  <a:srgbClr val="FFFFFF"/>
                </a:solidFill>
                <a:latin typeface="Versos"/>
              </a:rPr>
              <a:t> com ênfase em garantias reais, avais e recebíveis. O fundo oferece uma alternativa de investimento de alto valor agregado, descorrelacionado das classes de ativos tradicionais.</a:t>
            </a:r>
          </a:p>
        </p:txBody>
      </p:sp>
      <p:sp>
        <p:nvSpPr>
          <p:cNvPr id="7" name="TextBox 6"/>
          <p:cNvSpPr txBox="1"/>
          <p:nvPr/>
        </p:nvSpPr>
        <p:spPr>
          <a:xfrm>
            <a:off x="115668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Mês</a:t>
            </a:r>
          </a:p>
        </p:txBody>
      </p:sp>
      <p:sp>
        <p:nvSpPr>
          <p:cNvPr id="8" name="TextBox 7"/>
          <p:cNvSpPr txBox="1"/>
          <p:nvPr/>
        </p:nvSpPr>
        <p:spPr>
          <a:xfrm>
            <a:off x="216216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Ano</a:t>
            </a:r>
          </a:p>
        </p:txBody>
      </p:sp>
      <p:sp>
        <p:nvSpPr>
          <p:cNvPr id="9" name="TextBox 8"/>
          <p:cNvSpPr txBox="1"/>
          <p:nvPr/>
        </p:nvSpPr>
        <p:spPr>
          <a:xfrm>
            <a:off x="316764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12M</a:t>
            </a:r>
          </a:p>
        </p:txBody>
      </p:sp>
      <p:sp>
        <p:nvSpPr>
          <p:cNvPr id="10" name="TextBox 9"/>
          <p:cNvSpPr txBox="1"/>
          <p:nvPr/>
        </p:nvSpPr>
        <p:spPr>
          <a:xfrm>
            <a:off x="417312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24M</a:t>
            </a:r>
          </a:p>
        </p:txBody>
      </p:sp>
      <p:sp>
        <p:nvSpPr>
          <p:cNvPr id="11" name="TextBox 10"/>
          <p:cNvSpPr txBox="1"/>
          <p:nvPr/>
        </p:nvSpPr>
        <p:spPr>
          <a:xfrm>
            <a:off x="517860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36M</a:t>
            </a:r>
          </a:p>
        </p:txBody>
      </p:sp>
      <p:sp>
        <p:nvSpPr>
          <p:cNvPr id="12" name="TextBox 11"/>
          <p:cNvSpPr txBox="1"/>
          <p:nvPr/>
        </p:nvSpPr>
        <p:spPr>
          <a:xfrm>
            <a:off x="6184080" y="2848466"/>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Desde o Início</a:t>
            </a:r>
          </a:p>
        </p:txBody>
      </p:sp>
      <p:sp>
        <p:nvSpPr>
          <p:cNvPr id="13" name="TextBox 12"/>
          <p:cNvSpPr txBox="1"/>
          <p:nvPr/>
        </p:nvSpPr>
        <p:spPr>
          <a:xfrm>
            <a:off x="370440" y="3207566"/>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Fundo</a:t>
            </a:r>
          </a:p>
        </p:txBody>
      </p:sp>
      <p:sp>
        <p:nvSpPr>
          <p:cNvPr id="14" name="TextBox 13"/>
          <p:cNvSpPr txBox="1"/>
          <p:nvPr/>
        </p:nvSpPr>
        <p:spPr>
          <a:xfrm>
            <a:off x="115668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1,29%</a:t>
            </a:r>
          </a:p>
        </p:txBody>
      </p:sp>
      <p:sp>
        <p:nvSpPr>
          <p:cNvPr id="15" name="TextBox 14"/>
          <p:cNvSpPr txBox="1"/>
          <p:nvPr/>
        </p:nvSpPr>
        <p:spPr>
          <a:xfrm>
            <a:off x="216216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12,62%</a:t>
            </a:r>
          </a:p>
        </p:txBody>
      </p:sp>
      <p:sp>
        <p:nvSpPr>
          <p:cNvPr id="16" name="TextBox 15"/>
          <p:cNvSpPr txBox="1"/>
          <p:nvPr/>
        </p:nvSpPr>
        <p:spPr>
          <a:xfrm>
            <a:off x="316764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17,85%</a:t>
            </a:r>
          </a:p>
        </p:txBody>
      </p:sp>
      <p:sp>
        <p:nvSpPr>
          <p:cNvPr id="17" name="TextBox 16"/>
          <p:cNvSpPr txBox="1"/>
          <p:nvPr/>
        </p:nvSpPr>
        <p:spPr>
          <a:xfrm>
            <a:off x="417312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8" name="TextBox 17"/>
          <p:cNvSpPr txBox="1"/>
          <p:nvPr/>
        </p:nvSpPr>
        <p:spPr>
          <a:xfrm>
            <a:off x="517860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9" name="TextBox 18"/>
          <p:cNvSpPr txBox="1"/>
          <p:nvPr/>
        </p:nvSpPr>
        <p:spPr>
          <a:xfrm>
            <a:off x="6184080" y="3203786"/>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34,87%</a:t>
            </a:r>
          </a:p>
        </p:txBody>
      </p:sp>
      <p:sp>
        <p:nvSpPr>
          <p:cNvPr id="20" name="TextBox 19"/>
          <p:cNvSpPr txBox="1"/>
          <p:nvPr/>
        </p:nvSpPr>
        <p:spPr>
          <a:xfrm>
            <a:off x="370440" y="3593126"/>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21" name="TextBox 20"/>
          <p:cNvSpPr txBox="1"/>
          <p:nvPr/>
        </p:nvSpPr>
        <p:spPr>
          <a:xfrm>
            <a:off x="115668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1,08%</a:t>
            </a:r>
          </a:p>
        </p:txBody>
      </p:sp>
      <p:sp>
        <p:nvSpPr>
          <p:cNvPr id="22" name="TextBox 21"/>
          <p:cNvSpPr txBox="1"/>
          <p:nvPr/>
        </p:nvSpPr>
        <p:spPr>
          <a:xfrm>
            <a:off x="216216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10,51%</a:t>
            </a:r>
          </a:p>
        </p:txBody>
      </p:sp>
      <p:sp>
        <p:nvSpPr>
          <p:cNvPr id="23" name="TextBox 22"/>
          <p:cNvSpPr txBox="1"/>
          <p:nvPr/>
        </p:nvSpPr>
        <p:spPr>
          <a:xfrm>
            <a:off x="316764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14,48%</a:t>
            </a:r>
          </a:p>
        </p:txBody>
      </p:sp>
      <p:sp>
        <p:nvSpPr>
          <p:cNvPr id="24" name="TextBox 23"/>
          <p:cNvSpPr txBox="1"/>
          <p:nvPr/>
        </p:nvSpPr>
        <p:spPr>
          <a:xfrm>
            <a:off x="417312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5" name="TextBox 24"/>
          <p:cNvSpPr txBox="1"/>
          <p:nvPr/>
        </p:nvSpPr>
        <p:spPr>
          <a:xfrm>
            <a:off x="517860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6" name="TextBox 25"/>
          <p:cNvSpPr txBox="1"/>
          <p:nvPr/>
        </p:nvSpPr>
        <p:spPr>
          <a:xfrm>
            <a:off x="6184080" y="358934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26,79%</a:t>
            </a:r>
          </a:p>
        </p:txBody>
      </p:sp>
      <p:sp>
        <p:nvSpPr>
          <p:cNvPr id="27" name="TextBox 26"/>
          <p:cNvSpPr txBox="1"/>
          <p:nvPr/>
        </p:nvSpPr>
        <p:spPr>
          <a:xfrm>
            <a:off x="370440" y="3978686"/>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a:t>
            </a:r>
          </a:p>
        </p:txBody>
      </p:sp>
      <p:sp>
        <p:nvSpPr>
          <p:cNvPr id="28" name="TextBox 27"/>
          <p:cNvSpPr txBox="1"/>
          <p:nvPr/>
        </p:nvSpPr>
        <p:spPr>
          <a:xfrm>
            <a:off x="115668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119,45%</a:t>
            </a:r>
          </a:p>
        </p:txBody>
      </p:sp>
      <p:sp>
        <p:nvSpPr>
          <p:cNvPr id="29" name="TextBox 28"/>
          <p:cNvSpPr txBox="1"/>
          <p:nvPr/>
        </p:nvSpPr>
        <p:spPr>
          <a:xfrm>
            <a:off x="216216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120,09%</a:t>
            </a:r>
          </a:p>
        </p:txBody>
      </p:sp>
      <p:sp>
        <p:nvSpPr>
          <p:cNvPr id="30" name="TextBox 29"/>
          <p:cNvSpPr txBox="1"/>
          <p:nvPr/>
        </p:nvSpPr>
        <p:spPr>
          <a:xfrm>
            <a:off x="316764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123,25%</a:t>
            </a:r>
          </a:p>
        </p:txBody>
      </p:sp>
      <p:sp>
        <p:nvSpPr>
          <p:cNvPr id="31" name="TextBox 30"/>
          <p:cNvSpPr txBox="1"/>
          <p:nvPr/>
        </p:nvSpPr>
        <p:spPr>
          <a:xfrm>
            <a:off x="417312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2" name="TextBox 31"/>
          <p:cNvSpPr txBox="1"/>
          <p:nvPr/>
        </p:nvSpPr>
        <p:spPr>
          <a:xfrm>
            <a:off x="517860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3" name="TextBox 32"/>
          <p:cNvSpPr txBox="1"/>
          <p:nvPr/>
        </p:nvSpPr>
        <p:spPr>
          <a:xfrm>
            <a:off x="6184080" y="397490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130,15%</a:t>
            </a:r>
          </a:p>
        </p:txBody>
      </p:sp>
      <p:sp>
        <p:nvSpPr>
          <p:cNvPr id="34" name="TextBox 33"/>
          <p:cNvSpPr txBox="1"/>
          <p:nvPr/>
        </p:nvSpPr>
        <p:spPr>
          <a:xfrm>
            <a:off x="370440" y="4364246"/>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35" name="TextBox 34"/>
          <p:cNvSpPr txBox="1"/>
          <p:nvPr/>
        </p:nvSpPr>
        <p:spPr>
          <a:xfrm>
            <a:off x="115668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2,53%</a:t>
            </a:r>
          </a:p>
        </p:txBody>
      </p:sp>
      <p:sp>
        <p:nvSpPr>
          <p:cNvPr id="36" name="TextBox 35"/>
          <p:cNvSpPr txBox="1"/>
          <p:nvPr/>
        </p:nvSpPr>
        <p:spPr>
          <a:xfrm>
            <a:off x="216216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2,58%</a:t>
            </a:r>
          </a:p>
        </p:txBody>
      </p:sp>
      <p:sp>
        <p:nvSpPr>
          <p:cNvPr id="37" name="TextBox 36"/>
          <p:cNvSpPr txBox="1"/>
          <p:nvPr/>
        </p:nvSpPr>
        <p:spPr>
          <a:xfrm>
            <a:off x="316764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2,95%</a:t>
            </a:r>
          </a:p>
        </p:txBody>
      </p:sp>
      <p:sp>
        <p:nvSpPr>
          <p:cNvPr id="38" name="TextBox 37"/>
          <p:cNvSpPr txBox="1"/>
          <p:nvPr/>
        </p:nvSpPr>
        <p:spPr>
          <a:xfrm>
            <a:off x="417312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9" name="TextBox 38"/>
          <p:cNvSpPr txBox="1"/>
          <p:nvPr/>
        </p:nvSpPr>
        <p:spPr>
          <a:xfrm>
            <a:off x="517860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40" name="TextBox 39"/>
          <p:cNvSpPr txBox="1"/>
          <p:nvPr/>
        </p:nvSpPr>
        <p:spPr>
          <a:xfrm>
            <a:off x="6184080" y="4360466"/>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3,55%</a:t>
            </a:r>
          </a:p>
        </p:txBody>
      </p:sp>
      <p:sp>
        <p:nvSpPr>
          <p:cNvPr id="41" name="TextBox 40"/>
          <p:cNvSpPr txBox="1"/>
          <p:nvPr/>
        </p:nvSpPr>
        <p:spPr>
          <a:xfrm>
            <a:off x="385560" y="4708226"/>
            <a:ext cx="7044710" cy="113400"/>
          </a:xfrm>
          <a:prstGeom prst="rect">
            <a:avLst/>
          </a:prstGeom>
          <a:noFill/>
        </p:spPr>
        <p:txBody>
          <a:bodyPr wrap="none" lIns="0" rIns="0" tIns="0" bIns="0" anchor="t"/>
          <a:lstStyle/>
          <a:p>
            <a:pPr algn="r">
              <a:lnSpc>
                <a:spcPts val="892"/>
              </a:lnSpc>
            </a:pPr>
            <a:r>
              <a:rPr sz="744" b="1" i="0">
                <a:solidFill>
                  <a:srgbClr val="FFFFFF"/>
                </a:solidFill>
                <a:latin typeface="Versos"/>
              </a:rPr>
              <a:t>Data base:</a:t>
            </a:r>
            <a:r>
              <a:rPr sz="744" b="0" i="0">
                <a:solidFill>
                  <a:srgbClr val="FFFFFF"/>
                </a:solidFill>
                <a:latin typeface="Versos"/>
              </a:rPr>
              <a:t> 30/09/2026</a:t>
            </a:r>
          </a:p>
        </p:txBody>
      </p:sp>
      <p:sp>
        <p:nvSpPr>
          <p:cNvPr id="42" name="TextBox 41"/>
          <p:cNvSpPr txBox="1"/>
          <p:nvPr/>
        </p:nvSpPr>
        <p:spPr>
          <a:xfrm>
            <a:off x="400680" y="5214746"/>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REAL DA CARTEIRA DE CRÉDITO</a:t>
            </a:r>
          </a:p>
        </p:txBody>
      </p:sp>
      <p:sp>
        <p:nvSpPr>
          <p:cNvPr id="43" name="TextBox 42"/>
          <p:cNvSpPr txBox="1"/>
          <p:nvPr/>
        </p:nvSpPr>
        <p:spPr>
          <a:xfrm>
            <a:off x="498960" y="6275863"/>
            <a:ext cx="3125115" cy="292477"/>
          </a:xfrm>
          <a:prstGeom prst="rect">
            <a:avLst/>
          </a:prstGeom>
          <a:noFill/>
        </p:spPr>
        <p:txBody>
          <a:bodyPr wrap="square" lIns="0" rIns="0" tIns="0" bIns="0" anchor="t"/>
          <a:lstStyle/>
          <a:p>
            <a:pPr algn="l">
              <a:lnSpc>
                <a:spcPts val="1113"/>
              </a:lnSpc>
            </a:pPr>
            <a:r>
              <a:rPr sz="1012" b="0" i="0">
                <a:solidFill>
                  <a:srgbClr val="FFFFFF"/>
                </a:solidFill>
                <a:latin typeface="Versos"/>
              </a:rPr>
              <a:t>FIDCs</a:t>
            </a:r>
          </a:p>
          <a:p>
            <a:pPr algn="l">
              <a:lnSpc>
                <a:spcPts val="1113"/>
              </a:lnSpc>
            </a:pPr>
            <a:r>
              <a:rPr sz="1012" b="1" i="0">
                <a:solidFill>
                  <a:srgbClr val="FFFFFF"/>
                </a:solidFill>
                <a:latin typeface="Versos"/>
              </a:rPr>
              <a:t>Cota Sênior</a:t>
            </a:r>
          </a:p>
        </p:txBody>
      </p:sp>
      <p:sp>
        <p:nvSpPr>
          <p:cNvPr id="44" name="TextBox 43"/>
          <p:cNvSpPr txBox="1"/>
          <p:nvPr/>
        </p:nvSpPr>
        <p:spPr>
          <a:xfrm>
            <a:off x="498960" y="6573538"/>
            <a:ext cx="3250119" cy="189000"/>
          </a:xfrm>
          <a:prstGeom prst="rect">
            <a:avLst/>
          </a:prstGeom>
          <a:noFill/>
        </p:spPr>
        <p:txBody>
          <a:bodyPr wrap="none" lIns="0" rIns="0" tIns="0" bIns="0" anchor="t"/>
          <a:lstStyle/>
          <a:p>
            <a:pPr algn="l">
              <a:lnSpc>
                <a:spcPts val="1375"/>
              </a:lnSpc>
            </a:pPr>
            <a:r>
              <a:rPr sz="1250" b="1" i="0">
                <a:solidFill>
                  <a:srgbClr val="FFFFFF"/>
                </a:solidFill>
                <a:latin typeface="Versos"/>
              </a:rPr>
              <a:t>49,3%</a:t>
            </a:r>
          </a:p>
        </p:txBody>
      </p:sp>
      <p:sp>
        <p:nvSpPr>
          <p:cNvPr id="45" name="TextBox 44"/>
          <p:cNvSpPr txBox="1"/>
          <p:nvPr/>
        </p:nvSpPr>
        <p:spPr>
          <a:xfrm>
            <a:off x="3820635" y="6275863"/>
            <a:ext cx="1625281" cy="292477"/>
          </a:xfrm>
          <a:prstGeom prst="rect">
            <a:avLst/>
          </a:prstGeom>
          <a:noFill/>
        </p:spPr>
        <p:txBody>
          <a:bodyPr wrap="square" lIns="0" rIns="0" tIns="0" bIns="0" anchor="t"/>
          <a:lstStyle/>
          <a:p>
            <a:pPr algn="l">
              <a:lnSpc>
                <a:spcPts val="1113"/>
              </a:lnSpc>
            </a:pPr>
            <a:r>
              <a:rPr sz="1012" b="0" i="0">
                <a:solidFill>
                  <a:srgbClr val="2B3744"/>
                </a:solidFill>
                <a:latin typeface="Versos"/>
              </a:rPr>
              <a:t>FIDCs</a:t>
            </a:r>
          </a:p>
          <a:p>
            <a:pPr algn="l">
              <a:lnSpc>
                <a:spcPts val="1113"/>
              </a:lnSpc>
            </a:pPr>
            <a:r>
              <a:rPr sz="1012" b="1" i="0">
                <a:solidFill>
                  <a:srgbClr val="2B3744"/>
                </a:solidFill>
                <a:latin typeface="Versos"/>
              </a:rPr>
              <a:t>Cota Mezanino</a:t>
            </a:r>
          </a:p>
        </p:txBody>
      </p:sp>
      <p:sp>
        <p:nvSpPr>
          <p:cNvPr id="46" name="TextBox 45"/>
          <p:cNvSpPr txBox="1"/>
          <p:nvPr/>
        </p:nvSpPr>
        <p:spPr>
          <a:xfrm>
            <a:off x="3820635" y="6573538"/>
            <a:ext cx="1690293" cy="189000"/>
          </a:xfrm>
          <a:prstGeom prst="rect">
            <a:avLst/>
          </a:prstGeom>
          <a:noFill/>
        </p:spPr>
        <p:txBody>
          <a:bodyPr wrap="none" lIns="0" rIns="0" tIns="0" bIns="0" anchor="t"/>
          <a:lstStyle/>
          <a:p>
            <a:pPr algn="l">
              <a:lnSpc>
                <a:spcPts val="1375"/>
              </a:lnSpc>
            </a:pPr>
            <a:r>
              <a:rPr sz="1250" b="1" i="0">
                <a:solidFill>
                  <a:srgbClr val="2B3744"/>
                </a:solidFill>
                <a:latin typeface="Versos"/>
              </a:rPr>
              <a:t>27,0%</a:t>
            </a:r>
          </a:p>
        </p:txBody>
      </p:sp>
      <p:sp>
        <p:nvSpPr>
          <p:cNvPr id="47" name="TextBox 46"/>
          <p:cNvSpPr txBox="1"/>
          <p:nvPr/>
        </p:nvSpPr>
        <p:spPr>
          <a:xfrm>
            <a:off x="5622750" y="5949483"/>
            <a:ext cx="858967" cy="151200"/>
          </a:xfrm>
          <a:prstGeom prst="rect">
            <a:avLst/>
          </a:prstGeom>
          <a:noFill/>
        </p:spPr>
        <p:txBody>
          <a:bodyPr wrap="none" lIns="0" rIns="0" tIns="0" bIns="0" anchor="t"/>
          <a:lstStyle/>
          <a:p>
            <a:pPr algn="l">
              <a:lnSpc>
                <a:spcPts val="1113"/>
              </a:lnSpc>
            </a:pPr>
            <a:r>
              <a:rPr sz="1012" b="0" i="0">
                <a:solidFill>
                  <a:srgbClr val="FFFFFF"/>
                </a:solidFill>
                <a:latin typeface="Versos"/>
              </a:rPr>
              <a:t>Liquidez</a:t>
            </a:r>
          </a:p>
        </p:txBody>
      </p:sp>
      <p:sp>
        <p:nvSpPr>
          <p:cNvPr id="48" name="TextBox 47"/>
          <p:cNvSpPr txBox="1"/>
          <p:nvPr/>
        </p:nvSpPr>
        <p:spPr>
          <a:xfrm>
            <a:off x="5622750" y="6105881"/>
            <a:ext cx="858967" cy="189000"/>
          </a:xfrm>
          <a:prstGeom prst="rect">
            <a:avLst/>
          </a:prstGeom>
          <a:noFill/>
        </p:spPr>
        <p:txBody>
          <a:bodyPr wrap="none" lIns="0" rIns="0" tIns="0" bIns="0" anchor="t"/>
          <a:lstStyle/>
          <a:p>
            <a:pPr algn="l">
              <a:lnSpc>
                <a:spcPts val="1375"/>
              </a:lnSpc>
            </a:pPr>
            <a:r>
              <a:rPr sz="1250" b="1" i="0">
                <a:solidFill>
                  <a:srgbClr val="FFFFFF"/>
                </a:solidFill>
                <a:latin typeface="Versos"/>
              </a:rPr>
              <a:t>9,1%</a:t>
            </a:r>
          </a:p>
        </p:txBody>
      </p:sp>
      <p:sp>
        <p:nvSpPr>
          <p:cNvPr id="49" name="TextBox 48"/>
          <p:cNvSpPr txBox="1"/>
          <p:nvPr/>
        </p:nvSpPr>
        <p:spPr>
          <a:xfrm>
            <a:off x="5622750" y="6487425"/>
            <a:ext cx="858967" cy="98280"/>
          </a:xfrm>
          <a:prstGeom prst="rect">
            <a:avLst/>
          </a:prstGeom>
          <a:noFill/>
        </p:spPr>
        <p:txBody>
          <a:bodyPr wrap="none" lIns="0" rIns="0" tIns="0" bIns="0" anchor="t"/>
          <a:lstStyle/>
          <a:p>
            <a:pPr algn="l">
              <a:lnSpc>
                <a:spcPts val="713"/>
              </a:lnSpc>
            </a:pPr>
            <a:r>
              <a:rPr sz="648" b="0" i="0">
                <a:solidFill>
                  <a:srgbClr val="2B3744"/>
                </a:solidFill>
                <a:latin typeface="Versos"/>
              </a:rPr>
              <a:t>Crédito Estruturado</a:t>
            </a:r>
          </a:p>
        </p:txBody>
      </p:sp>
      <p:sp>
        <p:nvSpPr>
          <p:cNvPr id="50" name="TextBox 49"/>
          <p:cNvSpPr txBox="1"/>
          <p:nvPr/>
        </p:nvSpPr>
        <p:spPr>
          <a:xfrm>
            <a:off x="5622750" y="6593146"/>
            <a:ext cx="858967" cy="189000"/>
          </a:xfrm>
          <a:prstGeom prst="rect">
            <a:avLst/>
          </a:prstGeom>
          <a:noFill/>
        </p:spPr>
        <p:txBody>
          <a:bodyPr wrap="none" lIns="0" rIns="0" tIns="0" bIns="0" anchor="t"/>
          <a:lstStyle/>
          <a:p>
            <a:pPr algn="l">
              <a:lnSpc>
                <a:spcPts val="1375"/>
              </a:lnSpc>
            </a:pPr>
            <a:r>
              <a:rPr sz="1250" b="1" i="0">
                <a:solidFill>
                  <a:srgbClr val="2B3744"/>
                </a:solidFill>
                <a:latin typeface="Versos"/>
              </a:rPr>
              <a:t>5,5%</a:t>
            </a:r>
          </a:p>
        </p:txBody>
      </p:sp>
      <p:sp>
        <p:nvSpPr>
          <p:cNvPr id="51" name="TextBox 50"/>
          <p:cNvSpPr txBox="1"/>
          <p:nvPr/>
        </p:nvSpPr>
        <p:spPr>
          <a:xfrm>
            <a:off x="6577790" y="5614835"/>
            <a:ext cx="530853" cy="203056"/>
          </a:xfrm>
          <a:prstGeom prst="rect">
            <a:avLst/>
          </a:prstGeom>
          <a:noFill/>
        </p:spPr>
        <p:txBody>
          <a:bodyPr wrap="square" lIns="0" rIns="0" tIns="0" bIns="0" anchor="t"/>
          <a:lstStyle/>
          <a:p>
            <a:pPr algn="l">
              <a:lnSpc>
                <a:spcPts val="766"/>
              </a:lnSpc>
            </a:pPr>
            <a:r>
              <a:rPr sz="696" b="0" i="0">
                <a:solidFill>
                  <a:srgbClr val="2B3744"/>
                </a:solidFill>
                <a:latin typeface="Versos"/>
              </a:rPr>
              <a:t>Crédito</a:t>
            </a:r>
          </a:p>
          <a:p>
            <a:pPr algn="l">
              <a:lnSpc>
                <a:spcPts val="766"/>
              </a:lnSpc>
            </a:pPr>
            <a:r>
              <a:rPr sz="696" b="1" i="0">
                <a:solidFill>
                  <a:srgbClr val="2B3744"/>
                </a:solidFill>
                <a:latin typeface="Versos"/>
              </a:rPr>
              <a:t>Privado</a:t>
            </a:r>
          </a:p>
        </p:txBody>
      </p:sp>
      <p:sp>
        <p:nvSpPr>
          <p:cNvPr id="52" name="TextBox 51"/>
          <p:cNvSpPr txBox="1"/>
          <p:nvPr/>
        </p:nvSpPr>
        <p:spPr>
          <a:xfrm>
            <a:off x="6577790" y="5816829"/>
            <a:ext cx="552087" cy="166320"/>
          </a:xfrm>
          <a:prstGeom prst="rect">
            <a:avLst/>
          </a:prstGeom>
          <a:noFill/>
        </p:spPr>
        <p:txBody>
          <a:bodyPr wrap="none" lIns="0" rIns="0" tIns="0" bIns="0" anchor="t"/>
          <a:lstStyle/>
          <a:p>
            <a:pPr algn="l">
              <a:lnSpc>
                <a:spcPts val="1178"/>
              </a:lnSpc>
            </a:pPr>
            <a:r>
              <a:rPr sz="1071" b="1" i="0">
                <a:solidFill>
                  <a:srgbClr val="2B3744"/>
                </a:solidFill>
                <a:latin typeface="Versos"/>
              </a:rPr>
              <a:t>3,4%</a:t>
            </a:r>
          </a:p>
        </p:txBody>
      </p:sp>
      <p:sp>
        <p:nvSpPr>
          <p:cNvPr id="53" name="TextBox 52"/>
          <p:cNvSpPr txBox="1"/>
          <p:nvPr/>
        </p:nvSpPr>
        <p:spPr>
          <a:xfrm>
            <a:off x="6577790" y="6150532"/>
            <a:ext cx="552087" cy="105840"/>
          </a:xfrm>
          <a:prstGeom prst="rect">
            <a:avLst/>
          </a:prstGeom>
          <a:noFill/>
        </p:spPr>
        <p:txBody>
          <a:bodyPr wrap="none" lIns="0" rIns="0" tIns="0" bIns="0" anchor="t"/>
          <a:lstStyle/>
          <a:p>
            <a:pPr algn="l">
              <a:lnSpc>
                <a:spcPts val="766"/>
              </a:lnSpc>
            </a:pPr>
            <a:r>
              <a:rPr sz="696" b="0" i="0">
                <a:solidFill>
                  <a:srgbClr val="2B3744"/>
                </a:solidFill>
                <a:latin typeface="Versos"/>
              </a:rPr>
              <a:t>Fiagro</a:t>
            </a:r>
          </a:p>
        </p:txBody>
      </p:sp>
      <p:sp>
        <p:nvSpPr>
          <p:cNvPr id="54" name="TextBox 53"/>
          <p:cNvSpPr txBox="1"/>
          <p:nvPr/>
        </p:nvSpPr>
        <p:spPr>
          <a:xfrm>
            <a:off x="6577790" y="6255309"/>
            <a:ext cx="552087" cy="166320"/>
          </a:xfrm>
          <a:prstGeom prst="rect">
            <a:avLst/>
          </a:prstGeom>
          <a:noFill/>
        </p:spPr>
        <p:txBody>
          <a:bodyPr wrap="none" lIns="0" rIns="0" tIns="0" bIns="0" anchor="t"/>
          <a:lstStyle/>
          <a:p>
            <a:pPr algn="l">
              <a:lnSpc>
                <a:spcPts val="1178"/>
              </a:lnSpc>
            </a:pPr>
            <a:r>
              <a:rPr sz="1071" b="1" i="0">
                <a:solidFill>
                  <a:srgbClr val="2B3744"/>
                </a:solidFill>
                <a:latin typeface="Versos"/>
              </a:rPr>
              <a:t>3,2%</a:t>
            </a:r>
          </a:p>
        </p:txBody>
      </p:sp>
      <p:sp>
        <p:nvSpPr>
          <p:cNvPr id="55" name="TextBox 54"/>
          <p:cNvSpPr txBox="1"/>
          <p:nvPr/>
        </p:nvSpPr>
        <p:spPr>
          <a:xfrm>
            <a:off x="6577790" y="6542825"/>
            <a:ext cx="552087" cy="98280"/>
          </a:xfrm>
          <a:prstGeom prst="rect">
            <a:avLst/>
          </a:prstGeom>
          <a:noFill/>
        </p:spPr>
        <p:txBody>
          <a:bodyPr wrap="none" lIns="0" rIns="0" tIns="0" bIns="0" anchor="t"/>
          <a:lstStyle/>
          <a:p>
            <a:pPr algn="l">
              <a:lnSpc>
                <a:spcPts val="713"/>
              </a:lnSpc>
            </a:pPr>
            <a:r>
              <a:rPr sz="648" b="0" i="0">
                <a:solidFill>
                  <a:srgbClr val="FFFFFF"/>
                </a:solidFill>
                <a:latin typeface="Versos"/>
              </a:rPr>
              <a:t>Precatório</a:t>
            </a:r>
          </a:p>
        </p:txBody>
      </p:sp>
      <p:sp>
        <p:nvSpPr>
          <p:cNvPr id="56" name="TextBox 55"/>
          <p:cNvSpPr txBox="1"/>
          <p:nvPr/>
        </p:nvSpPr>
        <p:spPr>
          <a:xfrm>
            <a:off x="6577790" y="6648547"/>
            <a:ext cx="552087" cy="158760"/>
          </a:xfrm>
          <a:prstGeom prst="rect">
            <a:avLst/>
          </a:prstGeom>
          <a:noFill/>
        </p:spPr>
        <p:txBody>
          <a:bodyPr wrap="none" lIns="0" rIns="0" tIns="0" bIns="0" anchor="t"/>
          <a:lstStyle/>
          <a:p>
            <a:pPr algn="l">
              <a:lnSpc>
                <a:spcPts val="1159"/>
              </a:lnSpc>
            </a:pPr>
            <a:r>
              <a:rPr sz="1053" b="1" i="0">
                <a:solidFill>
                  <a:srgbClr val="FFFFFF"/>
                </a:solidFill>
                <a:latin typeface="Versos"/>
              </a:rPr>
              <a:t>2,8%</a:t>
            </a:r>
          </a:p>
        </p:txBody>
      </p:sp>
      <p:sp>
        <p:nvSpPr>
          <p:cNvPr id="57" name="TextBox 56"/>
          <p:cNvSpPr txBox="1"/>
          <p:nvPr/>
        </p:nvSpPr>
        <p:spPr>
          <a:xfrm>
            <a:off x="529200" y="6929566"/>
            <a:ext cx="1236116" cy="113400"/>
          </a:xfrm>
          <a:prstGeom prst="rect">
            <a:avLst/>
          </a:prstGeom>
          <a:noFill/>
        </p:spPr>
        <p:txBody>
          <a:bodyPr wrap="none" lIns="0" rIns="0" tIns="0" bIns="0" anchor="t"/>
          <a:lstStyle/>
          <a:p>
            <a:pPr algn="l">
              <a:lnSpc>
                <a:spcPts val="892"/>
              </a:lnSpc>
            </a:pPr>
            <a:r>
              <a:rPr sz="744" b="0" i="0">
                <a:solidFill>
                  <a:srgbClr val="333333"/>
                </a:solidFill>
                <a:latin typeface="Versos"/>
              </a:rPr>
              <a:t>FIDCs Cota Sênior </a:t>
            </a:r>
            <a:r>
              <a:rPr sz="744" b="1" i="0">
                <a:solidFill>
                  <a:srgbClr val="111111"/>
                </a:solidFill>
                <a:latin typeface="Versos"/>
              </a:rPr>
              <a:t>49,3%</a:t>
            </a:r>
          </a:p>
        </p:txBody>
      </p:sp>
      <p:sp>
        <p:nvSpPr>
          <p:cNvPr id="58" name="TextBox 57"/>
          <p:cNvSpPr txBox="1"/>
          <p:nvPr/>
        </p:nvSpPr>
        <p:spPr>
          <a:xfrm>
            <a:off x="1982373" y="6929566"/>
            <a:ext cx="1368426" cy="113400"/>
          </a:xfrm>
          <a:prstGeom prst="rect">
            <a:avLst/>
          </a:prstGeom>
          <a:noFill/>
        </p:spPr>
        <p:txBody>
          <a:bodyPr wrap="none" lIns="0" rIns="0" tIns="0" bIns="0" anchor="t"/>
          <a:lstStyle/>
          <a:p>
            <a:pPr algn="l">
              <a:lnSpc>
                <a:spcPts val="892"/>
              </a:lnSpc>
            </a:pPr>
            <a:r>
              <a:rPr sz="744" b="0" i="0">
                <a:solidFill>
                  <a:srgbClr val="333333"/>
                </a:solidFill>
                <a:latin typeface="Versos"/>
              </a:rPr>
              <a:t>FIDCs Cota Mezanino </a:t>
            </a:r>
            <a:r>
              <a:rPr sz="744" b="1" i="0">
                <a:solidFill>
                  <a:srgbClr val="111111"/>
                </a:solidFill>
                <a:latin typeface="Versos"/>
              </a:rPr>
              <a:t>27,0%</a:t>
            </a:r>
          </a:p>
        </p:txBody>
      </p:sp>
      <p:sp>
        <p:nvSpPr>
          <p:cNvPr id="59" name="TextBox 58"/>
          <p:cNvSpPr txBox="1"/>
          <p:nvPr/>
        </p:nvSpPr>
        <p:spPr>
          <a:xfrm>
            <a:off x="3562768" y="6929566"/>
            <a:ext cx="657984" cy="113400"/>
          </a:xfrm>
          <a:prstGeom prst="rect">
            <a:avLst/>
          </a:prstGeom>
          <a:noFill/>
        </p:spPr>
        <p:txBody>
          <a:bodyPr wrap="none" lIns="0" rIns="0" tIns="0" bIns="0" anchor="t"/>
          <a:lstStyle/>
          <a:p>
            <a:pPr algn="l">
              <a:lnSpc>
                <a:spcPts val="892"/>
              </a:lnSpc>
            </a:pPr>
            <a:r>
              <a:rPr sz="744" b="0" i="0">
                <a:solidFill>
                  <a:srgbClr val="333333"/>
                </a:solidFill>
                <a:latin typeface="Versos"/>
              </a:rPr>
              <a:t>Liquidez </a:t>
            </a:r>
            <a:r>
              <a:rPr sz="744" b="1" i="0">
                <a:solidFill>
                  <a:srgbClr val="111111"/>
                </a:solidFill>
                <a:latin typeface="Versos"/>
              </a:rPr>
              <a:t>9,1%</a:t>
            </a:r>
          </a:p>
        </p:txBody>
      </p:sp>
      <p:sp>
        <p:nvSpPr>
          <p:cNvPr id="60" name="TextBox 59"/>
          <p:cNvSpPr txBox="1"/>
          <p:nvPr/>
        </p:nvSpPr>
        <p:spPr>
          <a:xfrm>
            <a:off x="4460045" y="6929566"/>
            <a:ext cx="1217689" cy="113400"/>
          </a:xfrm>
          <a:prstGeom prst="rect">
            <a:avLst/>
          </a:prstGeom>
          <a:noFill/>
        </p:spPr>
        <p:txBody>
          <a:bodyPr wrap="none" lIns="0" rIns="0" tIns="0" bIns="0" anchor="t"/>
          <a:lstStyle/>
          <a:p>
            <a:pPr algn="l">
              <a:lnSpc>
                <a:spcPts val="892"/>
              </a:lnSpc>
            </a:pPr>
            <a:r>
              <a:rPr sz="744" b="0" i="0">
                <a:solidFill>
                  <a:srgbClr val="333333"/>
                </a:solidFill>
                <a:latin typeface="Versos"/>
              </a:rPr>
              <a:t>Crédito Estruturado </a:t>
            </a:r>
            <a:r>
              <a:rPr sz="744" b="1" i="0">
                <a:solidFill>
                  <a:srgbClr val="111111"/>
                </a:solidFill>
                <a:latin typeface="Versos"/>
              </a:rPr>
              <a:t>5,5%</a:t>
            </a:r>
          </a:p>
        </p:txBody>
      </p:sp>
      <p:sp>
        <p:nvSpPr>
          <p:cNvPr id="61" name="TextBox 60"/>
          <p:cNvSpPr txBox="1"/>
          <p:nvPr/>
        </p:nvSpPr>
        <p:spPr>
          <a:xfrm>
            <a:off x="5895500" y="6929566"/>
            <a:ext cx="1019532" cy="113400"/>
          </a:xfrm>
          <a:prstGeom prst="rect">
            <a:avLst/>
          </a:prstGeom>
          <a:noFill/>
        </p:spPr>
        <p:txBody>
          <a:bodyPr wrap="none" lIns="0" rIns="0" tIns="0" bIns="0" anchor="t"/>
          <a:lstStyle/>
          <a:p>
            <a:pPr algn="l">
              <a:lnSpc>
                <a:spcPts val="892"/>
              </a:lnSpc>
            </a:pPr>
            <a:r>
              <a:rPr sz="744" b="0" i="0">
                <a:solidFill>
                  <a:srgbClr val="333333"/>
                </a:solidFill>
                <a:latin typeface="Versos"/>
              </a:rPr>
              <a:t>Crédito Privado </a:t>
            </a:r>
            <a:r>
              <a:rPr sz="744" b="1" i="0">
                <a:solidFill>
                  <a:srgbClr val="111111"/>
                </a:solidFill>
                <a:latin typeface="Versos"/>
              </a:rPr>
              <a:t>3,4%</a:t>
            </a:r>
          </a:p>
        </p:txBody>
      </p:sp>
      <p:sp>
        <p:nvSpPr>
          <p:cNvPr id="62" name="TextBox 61"/>
          <p:cNvSpPr txBox="1"/>
          <p:nvPr/>
        </p:nvSpPr>
        <p:spPr>
          <a:xfrm>
            <a:off x="529200" y="7088326"/>
            <a:ext cx="585503" cy="113400"/>
          </a:xfrm>
          <a:prstGeom prst="rect">
            <a:avLst/>
          </a:prstGeom>
          <a:noFill/>
        </p:spPr>
        <p:txBody>
          <a:bodyPr wrap="none" lIns="0" rIns="0" tIns="0" bIns="0" anchor="t"/>
          <a:lstStyle/>
          <a:p>
            <a:pPr algn="l">
              <a:lnSpc>
                <a:spcPts val="892"/>
              </a:lnSpc>
            </a:pPr>
            <a:r>
              <a:rPr sz="744" b="0" i="0">
                <a:solidFill>
                  <a:srgbClr val="333333"/>
                </a:solidFill>
                <a:latin typeface="Versos"/>
              </a:rPr>
              <a:t>Fiagro </a:t>
            </a:r>
            <a:r>
              <a:rPr sz="744" b="1" i="0">
                <a:solidFill>
                  <a:srgbClr val="111111"/>
                </a:solidFill>
                <a:latin typeface="Versos"/>
              </a:rPr>
              <a:t>3,2%</a:t>
            </a:r>
          </a:p>
        </p:txBody>
      </p:sp>
      <p:sp>
        <p:nvSpPr>
          <p:cNvPr id="63" name="TextBox 62"/>
          <p:cNvSpPr txBox="1"/>
          <p:nvPr/>
        </p:nvSpPr>
        <p:spPr>
          <a:xfrm>
            <a:off x="1356783" y="7088326"/>
            <a:ext cx="784520" cy="113400"/>
          </a:xfrm>
          <a:prstGeom prst="rect">
            <a:avLst/>
          </a:prstGeom>
          <a:noFill/>
        </p:spPr>
        <p:txBody>
          <a:bodyPr wrap="none" lIns="0" rIns="0" tIns="0" bIns="0" anchor="t"/>
          <a:lstStyle/>
          <a:p>
            <a:pPr algn="l">
              <a:lnSpc>
                <a:spcPts val="892"/>
              </a:lnSpc>
            </a:pPr>
            <a:r>
              <a:rPr sz="744" b="0" i="0">
                <a:solidFill>
                  <a:srgbClr val="333333"/>
                </a:solidFill>
                <a:latin typeface="Versos"/>
              </a:rPr>
              <a:t>Precatório </a:t>
            </a:r>
            <a:r>
              <a:rPr sz="744" b="1" i="0">
                <a:solidFill>
                  <a:srgbClr val="111111"/>
                </a:solidFill>
                <a:latin typeface="Versos"/>
              </a:rPr>
              <a:t>2,8%</a:t>
            </a:r>
          </a:p>
        </p:txBody>
      </p:sp>
      <p:sp>
        <p:nvSpPr>
          <p:cNvPr id="64" name="TextBox 63"/>
          <p:cNvSpPr txBox="1"/>
          <p:nvPr/>
        </p:nvSpPr>
        <p:spPr>
          <a:xfrm>
            <a:off x="415800" y="7685566"/>
            <a:ext cx="6997536" cy="204120"/>
          </a:xfrm>
          <a:prstGeom prst="rect">
            <a:avLst/>
          </a:prstGeom>
          <a:noFill/>
        </p:spPr>
        <p:txBody>
          <a:bodyPr wrap="none" lIns="0" rIns="0" tIns="0" bIns="0" anchor="t"/>
          <a:lstStyle/>
          <a:p>
            <a:pPr algn="ctr">
              <a:lnSpc>
                <a:spcPts val="1571"/>
              </a:lnSpc>
            </a:pPr>
            <a:r>
              <a:rPr sz="1309" b="0" i="0">
                <a:solidFill>
                  <a:srgbClr val="707070"/>
                </a:solidFill>
                <a:latin typeface="Versos"/>
              </a:rPr>
              <a:t>Comentário do Gestor e Análise de Mercado</a:t>
            </a:r>
          </a:p>
        </p:txBody>
      </p:sp>
      <p:sp>
        <p:nvSpPr>
          <p:cNvPr id="65" name="TextBox 64"/>
          <p:cNvSpPr txBox="1"/>
          <p:nvPr/>
        </p:nvSpPr>
        <p:spPr>
          <a:xfrm>
            <a:off x="415800" y="8184526"/>
            <a:ext cx="6728400" cy="253378"/>
          </a:xfrm>
          <a:prstGeom prst="rect">
            <a:avLst/>
          </a:prstGeom>
          <a:noFill/>
        </p:spPr>
        <p:txBody>
          <a:bodyPr wrap="square" lIns="0" rIns="0" tIns="0" bIns="0" anchor="t"/>
          <a:lstStyle/>
          <a:p>
            <a:pPr algn="just">
              <a:lnSpc>
                <a:spcPts val="983"/>
              </a:lnSpc>
            </a:pPr>
            <a:r>
              <a:rPr sz="833" b="0" i="0">
                <a:solidFill>
                  <a:srgbClr val="222222"/>
                </a:solidFill>
                <a:latin typeface="Versos"/>
              </a:rPr>
              <a:t>O Tivio ALT 180 registrou rentabilidade de 1,29% no mês, equivalente a 119,45% do CDI no período. Desde o início da estratégia, o fundo acumula retorno de 34,87%, frente a 26,79% do CDI, o que corresponde a um desempenho anualizado de 130,15% do CDI.</a:t>
            </a:r>
          </a:p>
        </p:txBody>
      </p:sp>
      <p:sp>
        <p:nvSpPr>
          <p:cNvPr id="66" name="TextBox 65"/>
          <p:cNvSpPr txBox="1"/>
          <p:nvPr/>
        </p:nvSpPr>
        <p:spPr>
          <a:xfrm>
            <a:off x="415800" y="8497676"/>
            <a:ext cx="6728400" cy="627952"/>
          </a:xfrm>
          <a:prstGeom prst="rect">
            <a:avLst/>
          </a:prstGeom>
          <a:noFill/>
        </p:spPr>
        <p:txBody>
          <a:bodyPr wrap="square" lIns="0" rIns="0" tIns="0" bIns="0" anchor="t"/>
          <a:lstStyle/>
          <a:p>
            <a:pPr algn="just">
              <a:lnSpc>
                <a:spcPts val="983"/>
              </a:lnSpc>
            </a:pPr>
            <a:r>
              <a:rPr sz="833" b="0" i="0">
                <a:solidFill>
                  <a:srgbClr val="222222"/>
                </a:solidFill>
                <a:latin typeface="Versos"/>
              </a:rPr>
              <a:t>Em setembro, iniciamos posição em uma cota sênior de FIDC com exposição ao setor de telecomunicações. A tese de investimento está fundamentada na atuação consolidada do originador, que possui mais de 23 anos de experiência no segmento, bem como nas características estruturais do mercado em que atua, marcado por elevada pulverização, baixa bancarização, receitas recorrentes e oferta restrita de crédito. Adicionalmente, a operação apresenta carteira de recebíveis amplamente diversificada entre cedentes e sacados, além de mecanismos de proteção que incluem overcollateral mínimo de 25% sobre os ativos cedidos ao fundo.</a:t>
            </a:r>
          </a:p>
        </p:txBody>
      </p:sp>
      <p:sp>
        <p:nvSpPr>
          <p:cNvPr id="67" name="TextBox 66"/>
          <p:cNvSpPr txBox="1"/>
          <p:nvPr/>
        </p:nvSpPr>
        <p:spPr>
          <a:xfrm>
            <a:off x="415800" y="9185400"/>
            <a:ext cx="6728400" cy="627952"/>
          </a:xfrm>
          <a:prstGeom prst="rect">
            <a:avLst/>
          </a:prstGeom>
          <a:noFill/>
        </p:spPr>
        <p:txBody>
          <a:bodyPr wrap="square" lIns="0" rIns="0" tIns="0" bIns="0" anchor="t"/>
          <a:lstStyle/>
          <a:p>
            <a:pPr algn="just">
              <a:lnSpc>
                <a:spcPts val="983"/>
              </a:lnSpc>
            </a:pPr>
            <a:r>
              <a:rPr sz="833" b="0" i="0">
                <a:solidFill>
                  <a:srgbClr val="222222"/>
                </a:solidFill>
                <a:latin typeface="Versos"/>
              </a:rPr>
              <a:t>A nova alocação reforça nossa estratégia de buscar operações com perfil defensivo, adequada relação entre risco e retorno e estruturas robustas de mitigação de risco. Seguimos priorizando ativos com forte alinhamento de interesses entre as partes envolvidas, qualidade na originação dos créditos e mecanismos de proteção compatíveis com o cenário de mercado. Mantemos uma postura seletiva na alocação de capital, avaliando continuamente oportunidades que possam contribuir para a geração consistente de retornos ajustados ao risco para os cotistas.</a:t>
            </a:r>
          </a:p>
        </p:txBody>
      </p:sp>
      <p:sp>
        <p:nvSpPr>
          <p:cNvPr id="68" name="TextBox 67"/>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918986" y="37422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POR ESTRATÉGIA</a:t>
            </a:r>
          </a:p>
        </p:txBody>
      </p:sp>
      <p:sp>
        <p:nvSpPr>
          <p:cNvPr id="5" name="TextBox 4"/>
          <p:cNvSpPr txBox="1"/>
          <p:nvPr/>
        </p:nvSpPr>
        <p:spPr>
          <a:xfrm>
            <a:off x="400680" y="163071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6" name="TextBox 5"/>
          <p:cNvSpPr txBox="1"/>
          <p:nvPr/>
        </p:nvSpPr>
        <p:spPr>
          <a:xfrm>
            <a:off x="3217488" y="1623037"/>
            <a:ext cx="432186" cy="143640"/>
          </a:xfrm>
          <a:prstGeom prst="rect">
            <a:avLst/>
          </a:prstGeom>
          <a:noFill/>
        </p:spPr>
        <p:txBody>
          <a:bodyPr wrap="none" lIns="0" rIns="0" tIns="0" bIns="0" anchor="t"/>
          <a:lstStyle/>
          <a:p>
            <a:pPr algn="l">
              <a:lnSpc>
                <a:spcPts val="1107"/>
              </a:lnSpc>
            </a:pPr>
            <a:r>
              <a:rPr sz="922" b="1" i="0">
                <a:solidFill>
                  <a:srgbClr val="111111"/>
                </a:solidFill>
                <a:latin typeface="Versos"/>
              </a:rPr>
              <a:t>30,61%</a:t>
            </a:r>
          </a:p>
        </p:txBody>
      </p:sp>
      <p:sp>
        <p:nvSpPr>
          <p:cNvPr id="7" name="TextBox 6"/>
          <p:cNvSpPr txBox="1"/>
          <p:nvPr/>
        </p:nvSpPr>
        <p:spPr>
          <a:xfrm>
            <a:off x="400680" y="18877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Consignados</a:t>
            </a:r>
          </a:p>
        </p:txBody>
      </p:sp>
      <p:sp>
        <p:nvSpPr>
          <p:cNvPr id="8" name="TextBox 7"/>
          <p:cNvSpPr txBox="1"/>
          <p:nvPr/>
        </p:nvSpPr>
        <p:spPr>
          <a:xfrm>
            <a:off x="2638558" y="1880077"/>
            <a:ext cx="411301" cy="143640"/>
          </a:xfrm>
          <a:prstGeom prst="rect">
            <a:avLst/>
          </a:prstGeom>
          <a:noFill/>
        </p:spPr>
        <p:txBody>
          <a:bodyPr wrap="none" lIns="0" rIns="0" tIns="0" bIns="0" anchor="t"/>
          <a:lstStyle/>
          <a:p>
            <a:pPr algn="l">
              <a:lnSpc>
                <a:spcPts val="1107"/>
              </a:lnSpc>
            </a:pPr>
            <a:r>
              <a:rPr sz="922" b="1" i="0">
                <a:solidFill>
                  <a:srgbClr val="111111"/>
                </a:solidFill>
                <a:latin typeface="Versos"/>
              </a:rPr>
              <a:t>15,74%</a:t>
            </a:r>
          </a:p>
        </p:txBody>
      </p:sp>
      <p:sp>
        <p:nvSpPr>
          <p:cNvPr id="9" name="TextBox 8"/>
          <p:cNvSpPr txBox="1"/>
          <p:nvPr/>
        </p:nvSpPr>
        <p:spPr>
          <a:xfrm>
            <a:off x="400680" y="214479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Crédito PF</a:t>
            </a:r>
          </a:p>
        </p:txBody>
      </p:sp>
      <p:sp>
        <p:nvSpPr>
          <p:cNvPr id="10" name="TextBox 9"/>
          <p:cNvSpPr txBox="1"/>
          <p:nvPr/>
        </p:nvSpPr>
        <p:spPr>
          <a:xfrm>
            <a:off x="2271780" y="2137117"/>
            <a:ext cx="353070" cy="143640"/>
          </a:xfrm>
          <a:prstGeom prst="rect">
            <a:avLst/>
          </a:prstGeom>
          <a:noFill/>
        </p:spPr>
        <p:txBody>
          <a:bodyPr wrap="none" lIns="0" rIns="0" tIns="0" bIns="0" anchor="t"/>
          <a:lstStyle/>
          <a:p>
            <a:pPr algn="l">
              <a:lnSpc>
                <a:spcPts val="1107"/>
              </a:lnSpc>
            </a:pPr>
            <a:r>
              <a:rPr sz="922" b="1" i="0">
                <a:solidFill>
                  <a:srgbClr val="111111"/>
                </a:solidFill>
                <a:latin typeface="Versos"/>
              </a:rPr>
              <a:t>6,31%</a:t>
            </a:r>
          </a:p>
        </p:txBody>
      </p:sp>
      <p:sp>
        <p:nvSpPr>
          <p:cNvPr id="11" name="TextBox 10"/>
          <p:cNvSpPr txBox="1"/>
          <p:nvPr/>
        </p:nvSpPr>
        <p:spPr>
          <a:xfrm>
            <a:off x="400680" y="240183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12" name="TextBox 11"/>
          <p:cNvSpPr txBox="1"/>
          <p:nvPr/>
        </p:nvSpPr>
        <p:spPr>
          <a:xfrm>
            <a:off x="2264220" y="2394157"/>
            <a:ext cx="344839" cy="143640"/>
          </a:xfrm>
          <a:prstGeom prst="rect">
            <a:avLst/>
          </a:prstGeom>
          <a:noFill/>
        </p:spPr>
        <p:txBody>
          <a:bodyPr wrap="none" lIns="0" rIns="0" tIns="0" bIns="0" anchor="t"/>
          <a:lstStyle/>
          <a:p>
            <a:pPr algn="l">
              <a:lnSpc>
                <a:spcPts val="1107"/>
              </a:lnSpc>
            </a:pPr>
            <a:r>
              <a:rPr sz="922" b="1" i="0">
                <a:solidFill>
                  <a:srgbClr val="111111"/>
                </a:solidFill>
                <a:latin typeface="Versos"/>
              </a:rPr>
              <a:t>6,12%</a:t>
            </a:r>
          </a:p>
        </p:txBody>
      </p:sp>
      <p:sp>
        <p:nvSpPr>
          <p:cNvPr id="13" name="TextBox 12"/>
          <p:cNvSpPr txBox="1"/>
          <p:nvPr/>
        </p:nvSpPr>
        <p:spPr>
          <a:xfrm>
            <a:off x="400680" y="265887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Varejo Eletrodoméstico</a:t>
            </a:r>
          </a:p>
        </p:txBody>
      </p:sp>
      <p:sp>
        <p:nvSpPr>
          <p:cNvPr id="14" name="TextBox 13"/>
          <p:cNvSpPr txBox="1"/>
          <p:nvPr/>
        </p:nvSpPr>
        <p:spPr>
          <a:xfrm>
            <a:off x="2244965" y="2651197"/>
            <a:ext cx="380712" cy="143640"/>
          </a:xfrm>
          <a:prstGeom prst="rect">
            <a:avLst/>
          </a:prstGeom>
          <a:noFill/>
        </p:spPr>
        <p:txBody>
          <a:bodyPr wrap="none" lIns="0" rIns="0" tIns="0" bIns="0" anchor="t"/>
          <a:lstStyle/>
          <a:p>
            <a:pPr algn="l">
              <a:lnSpc>
                <a:spcPts val="1107"/>
              </a:lnSpc>
            </a:pPr>
            <a:r>
              <a:rPr sz="922" b="1" i="0">
                <a:solidFill>
                  <a:srgbClr val="111111"/>
                </a:solidFill>
                <a:latin typeface="Versos"/>
              </a:rPr>
              <a:t>5,62%</a:t>
            </a:r>
          </a:p>
        </p:txBody>
      </p:sp>
      <p:sp>
        <p:nvSpPr>
          <p:cNvPr id="15" name="TextBox 14"/>
          <p:cNvSpPr txBox="1"/>
          <p:nvPr/>
        </p:nvSpPr>
        <p:spPr>
          <a:xfrm>
            <a:off x="400680" y="291591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Açúcar, Álcool e Cana</a:t>
            </a:r>
          </a:p>
        </p:txBody>
      </p:sp>
      <p:sp>
        <p:nvSpPr>
          <p:cNvPr id="16" name="TextBox 15"/>
          <p:cNvSpPr txBox="1"/>
          <p:nvPr/>
        </p:nvSpPr>
        <p:spPr>
          <a:xfrm>
            <a:off x="2239413" y="2908237"/>
            <a:ext cx="391277" cy="143640"/>
          </a:xfrm>
          <a:prstGeom prst="rect">
            <a:avLst/>
          </a:prstGeom>
          <a:noFill/>
        </p:spPr>
        <p:txBody>
          <a:bodyPr wrap="none" lIns="0" rIns="0" tIns="0" bIns="0" anchor="t"/>
          <a:lstStyle/>
          <a:p>
            <a:pPr algn="l">
              <a:lnSpc>
                <a:spcPts val="1107"/>
              </a:lnSpc>
            </a:pPr>
            <a:r>
              <a:rPr sz="922" b="1" i="0">
                <a:solidFill>
                  <a:srgbClr val="111111"/>
                </a:solidFill>
                <a:latin typeface="Versos"/>
              </a:rPr>
              <a:t>5,48%</a:t>
            </a:r>
          </a:p>
        </p:txBody>
      </p:sp>
      <p:sp>
        <p:nvSpPr>
          <p:cNvPr id="17" name="TextBox 16"/>
          <p:cNvSpPr txBox="1"/>
          <p:nvPr/>
        </p:nvSpPr>
        <p:spPr>
          <a:xfrm>
            <a:off x="400680" y="31729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18" name="TextBox 17"/>
          <p:cNvSpPr txBox="1"/>
          <p:nvPr/>
        </p:nvSpPr>
        <p:spPr>
          <a:xfrm>
            <a:off x="2228073" y="3165277"/>
            <a:ext cx="348402" cy="143640"/>
          </a:xfrm>
          <a:prstGeom prst="rect">
            <a:avLst/>
          </a:prstGeom>
          <a:noFill/>
        </p:spPr>
        <p:txBody>
          <a:bodyPr wrap="none" lIns="0" rIns="0" tIns="0" bIns="0" anchor="t"/>
          <a:lstStyle/>
          <a:p>
            <a:pPr algn="l">
              <a:lnSpc>
                <a:spcPts val="1107"/>
              </a:lnSpc>
            </a:pPr>
            <a:r>
              <a:rPr sz="922" b="1" i="0">
                <a:solidFill>
                  <a:srgbClr val="111111"/>
                </a:solidFill>
                <a:latin typeface="Versos"/>
              </a:rPr>
              <a:t>5,19%</a:t>
            </a:r>
          </a:p>
        </p:txBody>
      </p:sp>
      <p:sp>
        <p:nvSpPr>
          <p:cNvPr id="19" name="TextBox 18"/>
          <p:cNvSpPr txBox="1"/>
          <p:nvPr/>
        </p:nvSpPr>
        <p:spPr>
          <a:xfrm>
            <a:off x="400680" y="3373531"/>
            <a:ext cx="148176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20" name="TextBox 19"/>
          <p:cNvSpPr txBox="1"/>
          <p:nvPr/>
        </p:nvSpPr>
        <p:spPr>
          <a:xfrm>
            <a:off x="2209528" y="3422317"/>
            <a:ext cx="350982" cy="143640"/>
          </a:xfrm>
          <a:prstGeom prst="rect">
            <a:avLst/>
          </a:prstGeom>
          <a:noFill/>
        </p:spPr>
        <p:txBody>
          <a:bodyPr wrap="none" lIns="0" rIns="0" tIns="0" bIns="0" anchor="t"/>
          <a:lstStyle/>
          <a:p>
            <a:pPr algn="l">
              <a:lnSpc>
                <a:spcPts val="1107"/>
              </a:lnSpc>
            </a:pPr>
            <a:r>
              <a:rPr sz="922" b="1" i="0">
                <a:solidFill>
                  <a:srgbClr val="111111"/>
                </a:solidFill>
                <a:latin typeface="Versos"/>
              </a:rPr>
              <a:t>4,71%</a:t>
            </a:r>
          </a:p>
        </p:txBody>
      </p:sp>
      <p:sp>
        <p:nvSpPr>
          <p:cNvPr id="21" name="TextBox 20"/>
          <p:cNvSpPr txBox="1"/>
          <p:nvPr/>
        </p:nvSpPr>
        <p:spPr>
          <a:xfrm>
            <a:off x="400680" y="368703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Serviços Imobiliários</a:t>
            </a:r>
          </a:p>
        </p:txBody>
      </p:sp>
      <p:sp>
        <p:nvSpPr>
          <p:cNvPr id="22" name="TextBox 21"/>
          <p:cNvSpPr txBox="1"/>
          <p:nvPr/>
        </p:nvSpPr>
        <p:spPr>
          <a:xfrm>
            <a:off x="2162396" y="3679357"/>
            <a:ext cx="348894" cy="143640"/>
          </a:xfrm>
          <a:prstGeom prst="rect">
            <a:avLst/>
          </a:prstGeom>
          <a:noFill/>
        </p:spPr>
        <p:txBody>
          <a:bodyPr wrap="none" lIns="0" rIns="0" tIns="0" bIns="0" anchor="t"/>
          <a:lstStyle/>
          <a:p>
            <a:pPr algn="l">
              <a:lnSpc>
                <a:spcPts val="1107"/>
              </a:lnSpc>
            </a:pPr>
            <a:r>
              <a:rPr sz="922" b="1" i="0">
                <a:solidFill>
                  <a:srgbClr val="111111"/>
                </a:solidFill>
                <a:latin typeface="Versos"/>
              </a:rPr>
              <a:t>3,51%</a:t>
            </a:r>
          </a:p>
        </p:txBody>
      </p:sp>
      <p:sp>
        <p:nvSpPr>
          <p:cNvPr id="23" name="TextBox 22"/>
          <p:cNvSpPr txBox="1"/>
          <p:nvPr/>
        </p:nvSpPr>
        <p:spPr>
          <a:xfrm>
            <a:off x="400680" y="394407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24" name="TextBox 23"/>
          <p:cNvSpPr txBox="1"/>
          <p:nvPr/>
        </p:nvSpPr>
        <p:spPr>
          <a:xfrm>
            <a:off x="2159915" y="3936397"/>
            <a:ext cx="385749" cy="143640"/>
          </a:xfrm>
          <a:prstGeom prst="rect">
            <a:avLst/>
          </a:prstGeom>
          <a:noFill/>
        </p:spPr>
        <p:txBody>
          <a:bodyPr wrap="none" lIns="0" rIns="0" tIns="0" bIns="0" anchor="t"/>
          <a:lstStyle/>
          <a:p>
            <a:pPr algn="l">
              <a:lnSpc>
                <a:spcPts val="1107"/>
              </a:lnSpc>
            </a:pPr>
            <a:r>
              <a:rPr sz="922" b="1" i="0">
                <a:solidFill>
                  <a:srgbClr val="111111"/>
                </a:solidFill>
                <a:latin typeface="Versos"/>
              </a:rPr>
              <a:t>3,44%</a:t>
            </a:r>
          </a:p>
        </p:txBody>
      </p:sp>
      <p:sp>
        <p:nvSpPr>
          <p:cNvPr id="25" name="TextBox 24"/>
          <p:cNvSpPr txBox="1"/>
          <p:nvPr/>
        </p:nvSpPr>
        <p:spPr>
          <a:xfrm>
            <a:off x="400680" y="420111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Agrícola</a:t>
            </a:r>
          </a:p>
        </p:txBody>
      </p:sp>
      <p:sp>
        <p:nvSpPr>
          <p:cNvPr id="26" name="TextBox 25"/>
          <p:cNvSpPr txBox="1"/>
          <p:nvPr/>
        </p:nvSpPr>
        <p:spPr>
          <a:xfrm>
            <a:off x="2149520" y="4193437"/>
            <a:ext cx="341031" cy="143640"/>
          </a:xfrm>
          <a:prstGeom prst="rect">
            <a:avLst/>
          </a:prstGeom>
          <a:noFill/>
        </p:spPr>
        <p:txBody>
          <a:bodyPr wrap="none" lIns="0" rIns="0" tIns="0" bIns="0" anchor="t"/>
          <a:lstStyle/>
          <a:p>
            <a:pPr algn="l">
              <a:lnSpc>
                <a:spcPts val="1107"/>
              </a:lnSpc>
            </a:pPr>
            <a:r>
              <a:rPr sz="922" b="1" i="0">
                <a:solidFill>
                  <a:srgbClr val="111111"/>
                </a:solidFill>
                <a:latin typeface="Versos"/>
              </a:rPr>
              <a:t>3,17%</a:t>
            </a:r>
          </a:p>
        </p:txBody>
      </p:sp>
      <p:sp>
        <p:nvSpPr>
          <p:cNvPr id="27" name="TextBox 26"/>
          <p:cNvSpPr txBox="1"/>
          <p:nvPr/>
        </p:nvSpPr>
        <p:spPr>
          <a:xfrm>
            <a:off x="400680" y="4458155"/>
            <a:ext cx="1541030"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28" name="TextBox 27"/>
          <p:cNvSpPr txBox="1"/>
          <p:nvPr/>
        </p:nvSpPr>
        <p:spPr>
          <a:xfrm>
            <a:off x="2133691" y="4450477"/>
            <a:ext cx="370761" cy="143640"/>
          </a:xfrm>
          <a:prstGeom prst="rect">
            <a:avLst/>
          </a:prstGeom>
          <a:noFill/>
        </p:spPr>
        <p:txBody>
          <a:bodyPr wrap="none" lIns="0" rIns="0" tIns="0" bIns="0" anchor="t"/>
          <a:lstStyle/>
          <a:p>
            <a:pPr algn="l">
              <a:lnSpc>
                <a:spcPts val="1107"/>
              </a:lnSpc>
            </a:pPr>
            <a:r>
              <a:rPr sz="922" b="1" i="0">
                <a:solidFill>
                  <a:srgbClr val="111111"/>
                </a:solidFill>
                <a:latin typeface="Versos"/>
              </a:rPr>
              <a:t>2,77%</a:t>
            </a:r>
          </a:p>
        </p:txBody>
      </p:sp>
      <p:sp>
        <p:nvSpPr>
          <p:cNvPr id="29" name="TextBox 28"/>
          <p:cNvSpPr txBox="1"/>
          <p:nvPr/>
        </p:nvSpPr>
        <p:spPr>
          <a:xfrm>
            <a:off x="396900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COLATERAIS</a:t>
            </a:r>
          </a:p>
        </p:txBody>
      </p:sp>
      <p:sp>
        <p:nvSpPr>
          <p:cNvPr id="30" name="TextBox 29"/>
          <p:cNvSpPr txBox="1"/>
          <p:nvPr/>
        </p:nvSpPr>
        <p:spPr>
          <a:xfrm>
            <a:off x="455868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imóveis</a:t>
            </a:r>
          </a:p>
        </p:txBody>
      </p:sp>
      <p:sp>
        <p:nvSpPr>
          <p:cNvPr id="31" name="TextBox 30"/>
          <p:cNvSpPr txBox="1"/>
          <p:nvPr/>
        </p:nvSpPr>
        <p:spPr>
          <a:xfrm>
            <a:off x="617652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automóveis</a:t>
            </a:r>
          </a:p>
        </p:txBody>
      </p:sp>
      <p:sp>
        <p:nvSpPr>
          <p:cNvPr id="32" name="TextBox 31"/>
          <p:cNvSpPr txBox="1"/>
          <p:nvPr/>
        </p:nvSpPr>
        <p:spPr>
          <a:xfrm>
            <a:off x="455868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maquinário</a:t>
            </a:r>
          </a:p>
        </p:txBody>
      </p:sp>
      <p:sp>
        <p:nvSpPr>
          <p:cNvPr id="33" name="TextBox 32"/>
          <p:cNvSpPr txBox="1"/>
          <p:nvPr/>
        </p:nvSpPr>
        <p:spPr>
          <a:xfrm>
            <a:off x="617652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CF de recebíveis</a:t>
            </a:r>
          </a:p>
        </p:txBody>
      </p:sp>
      <p:sp>
        <p:nvSpPr>
          <p:cNvPr id="34" name="TextBox 33"/>
          <p:cNvSpPr txBox="1"/>
          <p:nvPr/>
        </p:nvSpPr>
        <p:spPr>
          <a:xfrm>
            <a:off x="4558680" y="4061846"/>
            <a:ext cx="2091766" cy="166320"/>
          </a:xfrm>
          <a:prstGeom prst="rect">
            <a:avLst/>
          </a:prstGeom>
          <a:noFill/>
        </p:spPr>
        <p:txBody>
          <a:bodyPr wrap="none" lIns="0" rIns="0" tIns="0" bIns="0" anchor="t"/>
          <a:lstStyle/>
          <a:p>
            <a:pPr algn="l">
              <a:lnSpc>
                <a:spcPts val="1178"/>
              </a:lnSpc>
            </a:pPr>
            <a:r>
              <a:rPr sz="1071" b="1" i="0">
                <a:solidFill>
                  <a:srgbClr val="7A7A7A"/>
                </a:solidFill>
                <a:latin typeface="Versos"/>
              </a:rPr>
              <a:t>Coobrigação do cedente/Avais</a:t>
            </a:r>
          </a:p>
        </p:txBody>
      </p:sp>
      <p:sp>
        <p:nvSpPr>
          <p:cNvPr id="35" name="TextBox 34"/>
          <p:cNvSpPr txBox="1"/>
          <p:nvPr/>
        </p:nvSpPr>
        <p:spPr>
          <a:xfrm>
            <a:off x="400680" y="4983457"/>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36" name="TextBox 35"/>
          <p:cNvSpPr txBox="1"/>
          <p:nvPr/>
        </p:nvSpPr>
        <p:spPr>
          <a:xfrm>
            <a:off x="551880" y="5476275"/>
            <a:ext cx="3066336" cy="151200"/>
          </a:xfrm>
          <a:prstGeom prst="rect">
            <a:avLst/>
          </a:prstGeom>
          <a:noFill/>
        </p:spPr>
        <p:txBody>
          <a:bodyPr wrap="none" lIns="0" rIns="0" tIns="0" bIns="0" anchor="t"/>
          <a:lstStyle/>
          <a:p>
            <a:pPr algn="l">
              <a:lnSpc>
                <a:spcPts val="1178"/>
              </a:lnSpc>
            </a:pPr>
            <a:r>
              <a:rPr sz="982" b="1" i="0">
                <a:solidFill>
                  <a:srgbClr val="FFFFFF"/>
                </a:solidFill>
                <a:latin typeface="Versos"/>
              </a:rPr>
              <a:t>Rentabilidade</a:t>
            </a:r>
          </a:p>
        </p:txBody>
      </p:sp>
      <p:sp>
        <p:nvSpPr>
          <p:cNvPr id="37" name="TextBox 36"/>
          <p:cNvSpPr txBox="1"/>
          <p:nvPr/>
        </p:nvSpPr>
        <p:spPr>
          <a:xfrm>
            <a:off x="551880" y="5793795"/>
            <a:ext cx="896313" cy="136080"/>
          </a:xfrm>
          <a:prstGeom prst="rect">
            <a:avLst/>
          </a:prstGeom>
          <a:noFill/>
        </p:spPr>
        <p:txBody>
          <a:bodyPr wrap="none" lIns="0" rIns="0" tIns="0" bIns="0" anchor="t"/>
          <a:lstStyle/>
          <a:p>
            <a:pPr algn="l">
              <a:lnSpc>
                <a:spcPts val="1035"/>
              </a:lnSpc>
            </a:pPr>
            <a:r>
              <a:rPr sz="863" b="0" i="0">
                <a:solidFill>
                  <a:srgbClr val="FFFFFF"/>
                </a:solidFill>
                <a:latin typeface="Versos"/>
              </a:rPr>
              <a:t>Desde o início</a:t>
            </a:r>
          </a:p>
        </p:txBody>
      </p:sp>
      <p:sp>
        <p:nvSpPr>
          <p:cNvPr id="38" name="TextBox 37"/>
          <p:cNvSpPr txBox="1"/>
          <p:nvPr/>
        </p:nvSpPr>
        <p:spPr>
          <a:xfrm>
            <a:off x="551880" y="5975235"/>
            <a:ext cx="896313"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39" name="TextBox 38"/>
          <p:cNvSpPr txBox="1"/>
          <p:nvPr/>
        </p:nvSpPr>
        <p:spPr>
          <a:xfrm>
            <a:off x="551880" y="6111315"/>
            <a:ext cx="896313" cy="204120"/>
          </a:xfrm>
          <a:prstGeom prst="rect">
            <a:avLst/>
          </a:prstGeom>
          <a:noFill/>
        </p:spPr>
        <p:txBody>
          <a:bodyPr wrap="none" lIns="0" rIns="0" tIns="0" bIns="0" anchor="t"/>
          <a:lstStyle/>
          <a:p>
            <a:pPr algn="l">
              <a:lnSpc>
                <a:spcPts val="1440"/>
              </a:lnSpc>
            </a:pPr>
            <a:r>
              <a:rPr sz="1309" b="1" i="0">
                <a:solidFill>
                  <a:srgbClr val="FFFFFF"/>
                </a:solidFill>
                <a:latin typeface="Versos"/>
              </a:rPr>
              <a:t>3,55%</a:t>
            </a:r>
          </a:p>
        </p:txBody>
      </p:sp>
      <p:sp>
        <p:nvSpPr>
          <p:cNvPr id="40" name="TextBox 39"/>
          <p:cNvSpPr txBox="1"/>
          <p:nvPr/>
        </p:nvSpPr>
        <p:spPr>
          <a:xfrm>
            <a:off x="1663200" y="5793795"/>
            <a:ext cx="762652" cy="136080"/>
          </a:xfrm>
          <a:prstGeom prst="rect">
            <a:avLst/>
          </a:prstGeom>
          <a:noFill/>
        </p:spPr>
        <p:txBody>
          <a:bodyPr wrap="none" lIns="0" rIns="0" tIns="0" bIns="0" anchor="t"/>
          <a:lstStyle/>
          <a:p>
            <a:pPr algn="l">
              <a:lnSpc>
                <a:spcPts val="1035"/>
              </a:lnSpc>
            </a:pPr>
            <a:r>
              <a:rPr sz="863" b="0" i="0">
                <a:solidFill>
                  <a:srgbClr val="FFFFFF"/>
                </a:solidFill>
                <a:latin typeface="Versos"/>
              </a:rPr>
              <a:t>12M</a:t>
            </a:r>
          </a:p>
        </p:txBody>
      </p:sp>
      <p:sp>
        <p:nvSpPr>
          <p:cNvPr id="41" name="TextBox 40"/>
          <p:cNvSpPr txBox="1"/>
          <p:nvPr/>
        </p:nvSpPr>
        <p:spPr>
          <a:xfrm>
            <a:off x="1663200" y="5975235"/>
            <a:ext cx="762652"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2" name="TextBox 41"/>
          <p:cNvSpPr txBox="1"/>
          <p:nvPr/>
        </p:nvSpPr>
        <p:spPr>
          <a:xfrm>
            <a:off x="1663200" y="6111315"/>
            <a:ext cx="762652" cy="204120"/>
          </a:xfrm>
          <a:prstGeom prst="rect">
            <a:avLst/>
          </a:prstGeom>
          <a:noFill/>
        </p:spPr>
        <p:txBody>
          <a:bodyPr wrap="none" lIns="0" rIns="0" tIns="0" bIns="0" anchor="t"/>
          <a:lstStyle/>
          <a:p>
            <a:pPr algn="l">
              <a:lnSpc>
                <a:spcPts val="1440"/>
              </a:lnSpc>
            </a:pPr>
            <a:r>
              <a:rPr sz="1309" b="1" i="0">
                <a:solidFill>
                  <a:srgbClr val="FFFFFF"/>
                </a:solidFill>
                <a:latin typeface="Versos"/>
              </a:rPr>
              <a:t>2,95%</a:t>
            </a:r>
          </a:p>
        </p:txBody>
      </p:sp>
      <p:sp>
        <p:nvSpPr>
          <p:cNvPr id="43" name="TextBox 42"/>
          <p:cNvSpPr txBox="1"/>
          <p:nvPr/>
        </p:nvSpPr>
        <p:spPr>
          <a:xfrm>
            <a:off x="2646000" y="5793795"/>
            <a:ext cx="762652" cy="136080"/>
          </a:xfrm>
          <a:prstGeom prst="rect">
            <a:avLst/>
          </a:prstGeom>
          <a:noFill/>
        </p:spPr>
        <p:txBody>
          <a:bodyPr wrap="none" lIns="0" rIns="0" tIns="0" bIns="0" anchor="t"/>
          <a:lstStyle/>
          <a:p>
            <a:pPr algn="l">
              <a:lnSpc>
                <a:spcPts val="1035"/>
              </a:lnSpc>
            </a:pPr>
            <a:r>
              <a:rPr sz="863" b="0" i="0">
                <a:solidFill>
                  <a:srgbClr val="FFFFFF"/>
                </a:solidFill>
                <a:latin typeface="Versos"/>
              </a:rPr>
              <a:t>Mês</a:t>
            </a:r>
          </a:p>
        </p:txBody>
      </p:sp>
      <p:sp>
        <p:nvSpPr>
          <p:cNvPr id="44" name="TextBox 43"/>
          <p:cNvSpPr txBox="1"/>
          <p:nvPr/>
        </p:nvSpPr>
        <p:spPr>
          <a:xfrm>
            <a:off x="2646000" y="5975235"/>
            <a:ext cx="762652"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5" name="TextBox 44"/>
          <p:cNvSpPr txBox="1"/>
          <p:nvPr/>
        </p:nvSpPr>
        <p:spPr>
          <a:xfrm>
            <a:off x="2646000" y="6111315"/>
            <a:ext cx="762652" cy="204120"/>
          </a:xfrm>
          <a:prstGeom prst="rect">
            <a:avLst/>
          </a:prstGeom>
          <a:noFill/>
        </p:spPr>
        <p:txBody>
          <a:bodyPr wrap="none" lIns="0" rIns="0" tIns="0" bIns="0" anchor="t"/>
          <a:lstStyle/>
          <a:p>
            <a:pPr algn="l">
              <a:lnSpc>
                <a:spcPts val="1440"/>
              </a:lnSpc>
            </a:pPr>
            <a:r>
              <a:rPr sz="1309" b="1" i="0">
                <a:solidFill>
                  <a:srgbClr val="FFFFFF"/>
                </a:solidFill>
                <a:latin typeface="Versos"/>
              </a:rPr>
              <a:t>2,53%</a:t>
            </a:r>
          </a:p>
        </p:txBody>
      </p:sp>
      <p:sp>
        <p:nvSpPr>
          <p:cNvPr id="46" name="TextBox 45"/>
          <p:cNvSpPr txBox="1"/>
          <p:nvPr/>
        </p:nvSpPr>
        <p:spPr>
          <a:xfrm>
            <a:off x="2804641" y="6498292"/>
            <a:ext cx="645085"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47" name="TextBox 46"/>
          <p:cNvSpPr txBox="1"/>
          <p:nvPr/>
        </p:nvSpPr>
        <p:spPr>
          <a:xfrm>
            <a:off x="4513556" y="6498292"/>
            <a:ext cx="251473"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48" name="TextBox 47"/>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111111"/>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918986" y="37422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880360" cy="350713"/>
          </a:xfrm>
          <a:prstGeom prst="rect">
            <a:avLst/>
          </a:prstGeom>
          <a:noFill/>
        </p:spPr>
        <p:txBody>
          <a:bodyPr wrap="square" lIns="0" rIns="0" tIns="0" bIns="0" anchor="t"/>
          <a:lstStyle/>
          <a:p>
            <a:pPr algn="l">
              <a:lnSpc>
                <a:spcPts val="1333"/>
              </a:lnSpc>
            </a:pPr>
            <a:r>
              <a:rPr sz="1190" b="0" i="0">
                <a:solidFill>
                  <a:srgbClr val="222222"/>
                </a:solidFill>
                <a:latin typeface="Versos"/>
              </a:rPr>
              <a:t>Investidores qualificados, Family Offices e Multi Family</a:t>
            </a:r>
          </a:p>
        </p:txBody>
      </p:sp>
      <p:sp>
        <p:nvSpPr>
          <p:cNvPr id="9" name="TextBox 8"/>
          <p:cNvSpPr txBox="1"/>
          <p:nvPr/>
        </p:nvSpPr>
        <p:spPr>
          <a:xfrm>
            <a:off x="400680" y="324595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43495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18/12/2024</a:t>
            </a:r>
          </a:p>
        </p:txBody>
      </p:sp>
      <p:sp>
        <p:nvSpPr>
          <p:cNvPr id="11" name="TextBox 10"/>
          <p:cNvSpPr txBox="1"/>
          <p:nvPr/>
        </p:nvSpPr>
        <p:spPr>
          <a:xfrm>
            <a:off x="400680" y="39368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41258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1,15% a.a.</a:t>
            </a:r>
          </a:p>
        </p:txBody>
      </p:sp>
      <p:sp>
        <p:nvSpPr>
          <p:cNvPr id="13" name="TextBox 12"/>
          <p:cNvSpPr txBox="1"/>
          <p:nvPr/>
        </p:nvSpPr>
        <p:spPr>
          <a:xfrm>
            <a:off x="400680" y="46277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8167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20% do que exceder do CDI</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D+1</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D+180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93687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412587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R$ 153.589.286,51</a:t>
            </a:r>
          </a:p>
        </p:txBody>
      </p:sp>
      <p:sp>
        <p:nvSpPr>
          <p:cNvPr id="19" name="TextBox 18"/>
          <p:cNvSpPr txBox="1"/>
          <p:nvPr/>
        </p:nvSpPr>
        <p:spPr>
          <a:xfrm>
            <a:off x="3878280" y="4627783"/>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(12M)</a:t>
            </a:r>
          </a:p>
        </p:txBody>
      </p:sp>
      <p:sp>
        <p:nvSpPr>
          <p:cNvPr id="20" name="TextBox 19"/>
          <p:cNvSpPr txBox="1"/>
          <p:nvPr/>
        </p:nvSpPr>
        <p:spPr>
          <a:xfrm>
            <a:off x="3878280" y="4816783"/>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R$ 104.590.801,56</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