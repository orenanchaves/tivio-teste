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BANKS RENDA FIXA CRÉDITO PRIVADO FIF – RL </a:t>
            </a:r>
            <a:r>
              <a:rPr sz="829" b="0" i="0">
                <a:solidFill>
                  <a:srgbClr val="FFFFFF"/>
                </a:solidFill>
                <a:latin typeface="Versos"/>
              </a:rPr>
              <a:t>/ CNPJ 10.347.493/0001-94</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e Corporativo).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1,10%</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9,36%</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14,63%</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29,82%</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45,41%</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444,67%</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14,57%</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29,49%</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44,17%</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408,92%</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0,03%</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0,06%</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0,33%</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1,24%</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35,75%</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100,59%</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100,31%</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100,43%</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101,12%</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102,80%</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108,74%</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4802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BV</a:t>
            </a:r>
          </a:p>
        </p:txBody>
      </p:sp>
      <p:sp>
        <p:nvSpPr>
          <p:cNvPr id="44" name="TextBox 43"/>
          <p:cNvSpPr txBox="1"/>
          <p:nvPr/>
        </p:nvSpPr>
        <p:spPr>
          <a:xfrm>
            <a:off x="2831928" y="5646138"/>
            <a:ext cx="384029" cy="143640"/>
          </a:xfrm>
          <a:prstGeom prst="rect">
            <a:avLst/>
          </a:prstGeom>
          <a:noFill/>
        </p:spPr>
        <p:txBody>
          <a:bodyPr wrap="none" lIns="0" rIns="0" tIns="0" bIns="0" anchor="t"/>
          <a:lstStyle/>
          <a:p>
            <a:pPr algn="l">
              <a:lnSpc>
                <a:spcPts val="1107"/>
              </a:lnSpc>
            </a:pPr>
            <a:r>
              <a:rPr sz="922" b="0" i="0">
                <a:solidFill>
                  <a:srgbClr val="5A82A0"/>
                </a:solidFill>
                <a:latin typeface="Versos"/>
              </a:rPr>
              <a:t>6,36%</a:t>
            </a:r>
          </a:p>
        </p:txBody>
      </p:sp>
      <p:sp>
        <p:nvSpPr>
          <p:cNvPr id="45" name="TextBox 44"/>
          <p:cNvSpPr txBox="1"/>
          <p:nvPr/>
        </p:nvSpPr>
        <p:spPr>
          <a:xfrm>
            <a:off x="400680" y="613186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46" name="TextBox 45"/>
          <p:cNvSpPr txBox="1"/>
          <p:nvPr/>
        </p:nvSpPr>
        <p:spPr>
          <a:xfrm>
            <a:off x="2748650" y="6129978"/>
            <a:ext cx="379852" cy="143640"/>
          </a:xfrm>
          <a:prstGeom prst="rect">
            <a:avLst/>
          </a:prstGeom>
          <a:noFill/>
        </p:spPr>
        <p:txBody>
          <a:bodyPr wrap="none" lIns="0" rIns="0" tIns="0" bIns="0" anchor="t"/>
          <a:lstStyle/>
          <a:p>
            <a:pPr algn="l">
              <a:lnSpc>
                <a:spcPts val="1107"/>
              </a:lnSpc>
            </a:pPr>
            <a:r>
              <a:rPr sz="922" b="0" i="0">
                <a:solidFill>
                  <a:srgbClr val="5A82A0"/>
                </a:solidFill>
                <a:latin typeface="Versos"/>
              </a:rPr>
              <a:t>6,04%</a:t>
            </a:r>
          </a:p>
        </p:txBody>
      </p:sp>
      <p:sp>
        <p:nvSpPr>
          <p:cNvPr id="47" name="TextBox 46"/>
          <p:cNvSpPr txBox="1"/>
          <p:nvPr/>
        </p:nvSpPr>
        <p:spPr>
          <a:xfrm>
            <a:off x="400680" y="661570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48" name="TextBox 47"/>
          <p:cNvSpPr txBox="1"/>
          <p:nvPr/>
        </p:nvSpPr>
        <p:spPr>
          <a:xfrm>
            <a:off x="2730695" y="6613818"/>
            <a:ext cx="368550" cy="143640"/>
          </a:xfrm>
          <a:prstGeom prst="rect">
            <a:avLst/>
          </a:prstGeom>
          <a:noFill/>
        </p:spPr>
        <p:txBody>
          <a:bodyPr wrap="none" lIns="0" rIns="0" tIns="0" bIns="0" anchor="t"/>
          <a:lstStyle/>
          <a:p>
            <a:pPr algn="l">
              <a:lnSpc>
                <a:spcPts val="1107"/>
              </a:lnSpc>
            </a:pPr>
            <a:r>
              <a:rPr sz="922" b="0" i="0">
                <a:solidFill>
                  <a:srgbClr val="5A82A0"/>
                </a:solidFill>
                <a:latin typeface="Versos"/>
              </a:rPr>
              <a:t>5,97%</a:t>
            </a:r>
          </a:p>
        </p:txBody>
      </p:sp>
      <p:sp>
        <p:nvSpPr>
          <p:cNvPr id="49" name="TextBox 48"/>
          <p:cNvSpPr txBox="1"/>
          <p:nvPr/>
        </p:nvSpPr>
        <p:spPr>
          <a:xfrm>
            <a:off x="400680" y="709954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50" name="TextBox 49"/>
          <p:cNvSpPr txBox="1"/>
          <p:nvPr/>
        </p:nvSpPr>
        <p:spPr>
          <a:xfrm>
            <a:off x="2718765" y="7097658"/>
            <a:ext cx="375921" cy="143640"/>
          </a:xfrm>
          <a:prstGeom prst="rect">
            <a:avLst/>
          </a:prstGeom>
          <a:noFill/>
        </p:spPr>
        <p:txBody>
          <a:bodyPr wrap="none" lIns="0" rIns="0" tIns="0" bIns="0" anchor="t"/>
          <a:lstStyle/>
          <a:p>
            <a:pPr algn="l">
              <a:lnSpc>
                <a:spcPts val="1107"/>
              </a:lnSpc>
            </a:pPr>
            <a:r>
              <a:rPr sz="922" b="0" i="0">
                <a:solidFill>
                  <a:srgbClr val="5A82A0"/>
                </a:solidFill>
                <a:latin typeface="Versos"/>
              </a:rPr>
              <a:t>5,92%</a:t>
            </a:r>
          </a:p>
        </p:txBody>
      </p:sp>
      <p:sp>
        <p:nvSpPr>
          <p:cNvPr id="51" name="TextBox 50"/>
          <p:cNvSpPr txBox="1"/>
          <p:nvPr/>
        </p:nvSpPr>
        <p:spPr>
          <a:xfrm>
            <a:off x="400680" y="758338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NUBANK</a:t>
            </a:r>
          </a:p>
        </p:txBody>
      </p:sp>
      <p:sp>
        <p:nvSpPr>
          <p:cNvPr id="52" name="TextBox 51"/>
          <p:cNvSpPr txBox="1"/>
          <p:nvPr/>
        </p:nvSpPr>
        <p:spPr>
          <a:xfrm>
            <a:off x="2626745" y="7581498"/>
            <a:ext cx="367321" cy="143640"/>
          </a:xfrm>
          <a:prstGeom prst="rect">
            <a:avLst/>
          </a:prstGeom>
          <a:noFill/>
        </p:spPr>
        <p:txBody>
          <a:bodyPr wrap="none" lIns="0" rIns="0" tIns="0" bIns="0" anchor="t"/>
          <a:lstStyle/>
          <a:p>
            <a:pPr algn="l">
              <a:lnSpc>
                <a:spcPts val="1107"/>
              </a:lnSpc>
            </a:pPr>
            <a:r>
              <a:rPr sz="922" b="0" i="0">
                <a:solidFill>
                  <a:srgbClr val="5A82A0"/>
                </a:solidFill>
                <a:latin typeface="Versos"/>
              </a:rPr>
              <a:t>5,57%</a:t>
            </a:r>
          </a:p>
        </p:txBody>
      </p:sp>
      <p:sp>
        <p:nvSpPr>
          <p:cNvPr id="53" name="TextBox 52"/>
          <p:cNvSpPr txBox="1"/>
          <p:nvPr/>
        </p:nvSpPr>
        <p:spPr>
          <a:xfrm>
            <a:off x="400680" y="8234493"/>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65253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650648"/>
            <a:ext cx="481694" cy="143640"/>
          </a:xfrm>
          <a:prstGeom prst="rect">
            <a:avLst/>
          </a:prstGeom>
          <a:noFill/>
        </p:spPr>
        <p:txBody>
          <a:bodyPr wrap="none" lIns="0" rIns="0" tIns="0" bIns="0" anchor="t"/>
          <a:lstStyle/>
          <a:p>
            <a:pPr algn="l">
              <a:lnSpc>
                <a:spcPts val="1142"/>
              </a:lnSpc>
            </a:pPr>
            <a:r>
              <a:rPr sz="952" b="0" i="0">
                <a:solidFill>
                  <a:srgbClr val="111111"/>
                </a:solidFill>
                <a:latin typeface="Versos"/>
              </a:rPr>
              <a:t>50,80%</a:t>
            </a:r>
          </a:p>
        </p:txBody>
      </p:sp>
      <p:sp>
        <p:nvSpPr>
          <p:cNvPr id="56" name="TextBox 55"/>
          <p:cNvSpPr txBox="1"/>
          <p:nvPr/>
        </p:nvSpPr>
        <p:spPr>
          <a:xfrm>
            <a:off x="400680" y="894525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657884" y="8943361"/>
            <a:ext cx="439803" cy="143640"/>
          </a:xfrm>
          <a:prstGeom prst="rect">
            <a:avLst/>
          </a:prstGeom>
          <a:noFill/>
        </p:spPr>
        <p:txBody>
          <a:bodyPr wrap="none" lIns="0" rIns="0" tIns="0" bIns="0" anchor="t"/>
          <a:lstStyle/>
          <a:p>
            <a:pPr algn="l">
              <a:lnSpc>
                <a:spcPts val="1142"/>
              </a:lnSpc>
            </a:pPr>
            <a:r>
              <a:rPr sz="952" b="0" i="0">
                <a:solidFill>
                  <a:srgbClr val="111111"/>
                </a:solidFill>
                <a:latin typeface="Versos"/>
              </a:rPr>
              <a:t>16,28%</a:t>
            </a:r>
          </a:p>
        </p:txBody>
      </p:sp>
      <p:sp>
        <p:nvSpPr>
          <p:cNvPr id="58" name="TextBox 57"/>
          <p:cNvSpPr txBox="1"/>
          <p:nvPr/>
        </p:nvSpPr>
        <p:spPr>
          <a:xfrm>
            <a:off x="400680" y="9237965"/>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157743" y="9236075"/>
            <a:ext cx="395577" cy="143640"/>
          </a:xfrm>
          <a:prstGeom prst="rect">
            <a:avLst/>
          </a:prstGeom>
          <a:noFill/>
        </p:spPr>
        <p:txBody>
          <a:bodyPr wrap="none" lIns="0" rIns="0" tIns="0" bIns="0" anchor="t"/>
          <a:lstStyle/>
          <a:p>
            <a:pPr algn="l">
              <a:lnSpc>
                <a:spcPts val="1142"/>
              </a:lnSpc>
            </a:pPr>
            <a:r>
              <a:rPr sz="952" b="0" i="0">
                <a:solidFill>
                  <a:srgbClr val="111111"/>
                </a:solidFill>
                <a:latin typeface="Versos"/>
              </a:rPr>
              <a:t>3,03%</a:t>
            </a:r>
          </a:p>
        </p:txBody>
      </p:sp>
      <p:sp>
        <p:nvSpPr>
          <p:cNvPr id="60" name="TextBox 59"/>
          <p:cNvSpPr txBox="1"/>
          <p:nvPr/>
        </p:nvSpPr>
        <p:spPr>
          <a:xfrm>
            <a:off x="400680" y="953067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120415" y="9528789"/>
            <a:ext cx="390908" cy="143640"/>
          </a:xfrm>
          <a:prstGeom prst="rect">
            <a:avLst/>
          </a:prstGeom>
          <a:noFill/>
        </p:spPr>
        <p:txBody>
          <a:bodyPr wrap="none" lIns="0" rIns="0" tIns="0" bIns="0" anchor="t"/>
          <a:lstStyle/>
          <a:p>
            <a:pPr algn="l">
              <a:lnSpc>
                <a:spcPts val="1142"/>
              </a:lnSpc>
            </a:pPr>
            <a:r>
              <a:rPr sz="952" b="0" i="0">
                <a:solidFill>
                  <a:srgbClr val="111111"/>
                </a:solidFill>
                <a:latin typeface="Versos"/>
              </a:rPr>
              <a:t>2,04%</a:t>
            </a:r>
          </a:p>
        </p:txBody>
      </p:sp>
      <p:sp>
        <p:nvSpPr>
          <p:cNvPr id="62" name="TextBox 61"/>
          <p:cNvSpPr txBox="1"/>
          <p:nvPr/>
        </p:nvSpPr>
        <p:spPr>
          <a:xfrm>
            <a:off x="400680" y="98233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115808" y="9821503"/>
            <a:ext cx="357370" cy="143640"/>
          </a:xfrm>
          <a:prstGeom prst="rect">
            <a:avLst/>
          </a:prstGeom>
          <a:noFill/>
        </p:spPr>
        <p:txBody>
          <a:bodyPr wrap="none" lIns="0" rIns="0" tIns="0" bIns="0" anchor="t"/>
          <a:lstStyle/>
          <a:p>
            <a:pPr algn="l">
              <a:lnSpc>
                <a:spcPts val="1142"/>
              </a:lnSpc>
            </a:pPr>
            <a:r>
              <a:rPr sz="952" b="0" i="0">
                <a:solidFill>
                  <a:srgbClr val="111111"/>
                </a:solidFill>
                <a:latin typeface="Versos"/>
              </a:rPr>
              <a:t>1,92%</a:t>
            </a:r>
          </a:p>
        </p:txBody>
      </p:sp>
      <p:sp>
        <p:nvSpPr>
          <p:cNvPr id="64" name="TextBox 63"/>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5" name="TextBox 64"/>
          <p:cNvSpPr txBox="1"/>
          <p:nvPr/>
        </p:nvSpPr>
        <p:spPr>
          <a:xfrm>
            <a:off x="3802680" y="6542825"/>
            <a:ext cx="1603929" cy="143640"/>
          </a:xfrm>
          <a:prstGeom prst="rect">
            <a:avLst/>
          </a:prstGeom>
          <a:noFill/>
        </p:spPr>
        <p:txBody>
          <a:bodyPr wrap="none" lIns="0" rIns="0" tIns="0" bIns="0" anchor="t"/>
          <a:lstStyle/>
          <a:p>
            <a:pPr algn="r">
              <a:lnSpc>
                <a:spcPts val="1047"/>
              </a:lnSpc>
            </a:pPr>
            <a:r>
              <a:rPr sz="952" b="0" i="0">
                <a:solidFill>
                  <a:srgbClr val="222222"/>
                </a:solidFill>
                <a:latin typeface="Versos"/>
              </a:rPr>
              <a:t>Financeiro</a:t>
            </a:r>
          </a:p>
        </p:txBody>
      </p:sp>
      <p:sp>
        <p:nvSpPr>
          <p:cNvPr id="66" name="TextBox 65"/>
          <p:cNvSpPr txBox="1"/>
          <p:nvPr/>
        </p:nvSpPr>
        <p:spPr>
          <a:xfrm>
            <a:off x="6752497" y="6533730"/>
            <a:ext cx="524569" cy="166320"/>
          </a:xfrm>
          <a:prstGeom prst="rect">
            <a:avLst/>
          </a:prstGeom>
          <a:noFill/>
        </p:spPr>
        <p:txBody>
          <a:bodyPr wrap="none" lIns="0" rIns="0" tIns="0" bIns="0" anchor="t"/>
          <a:lstStyle/>
          <a:p>
            <a:pPr algn="l">
              <a:lnSpc>
                <a:spcPts val="1285"/>
              </a:lnSpc>
            </a:pPr>
            <a:r>
              <a:rPr sz="1071" b="0" i="0">
                <a:solidFill>
                  <a:srgbClr val="5A82A0"/>
                </a:solidFill>
                <a:latin typeface="Versos"/>
              </a:rPr>
              <a:t>75,69%</a:t>
            </a:r>
          </a:p>
        </p:txBody>
      </p:sp>
      <p:sp>
        <p:nvSpPr>
          <p:cNvPr id="67" name="TextBox 66"/>
          <p:cNvSpPr txBox="1"/>
          <p:nvPr/>
        </p:nvSpPr>
        <p:spPr>
          <a:xfrm>
            <a:off x="3802680" y="8824646"/>
            <a:ext cx="1603929" cy="143640"/>
          </a:xfrm>
          <a:prstGeom prst="rect">
            <a:avLst/>
          </a:prstGeom>
          <a:noFill/>
        </p:spPr>
        <p:txBody>
          <a:bodyPr wrap="none" lIns="0" rIns="0" tIns="0" bIns="0" anchor="t"/>
          <a:lstStyle/>
          <a:p>
            <a:pPr algn="r">
              <a:lnSpc>
                <a:spcPts val="1047"/>
              </a:lnSpc>
            </a:pPr>
            <a:r>
              <a:rPr sz="952" b="0" i="0">
                <a:solidFill>
                  <a:srgbClr val="222222"/>
                </a:solidFill>
                <a:latin typeface="Versos"/>
              </a:rPr>
              <a:t>Caixa</a:t>
            </a:r>
          </a:p>
        </p:txBody>
      </p:sp>
      <p:sp>
        <p:nvSpPr>
          <p:cNvPr id="68" name="TextBox 67"/>
          <p:cNvSpPr txBox="1"/>
          <p:nvPr/>
        </p:nvSpPr>
        <p:spPr>
          <a:xfrm>
            <a:off x="5892075" y="8815550"/>
            <a:ext cx="475675" cy="166320"/>
          </a:xfrm>
          <a:prstGeom prst="rect">
            <a:avLst/>
          </a:prstGeom>
          <a:noFill/>
        </p:spPr>
        <p:txBody>
          <a:bodyPr wrap="none" lIns="0" rIns="0" tIns="0" bIns="0" anchor="t"/>
          <a:lstStyle/>
          <a:p>
            <a:pPr algn="l">
              <a:lnSpc>
                <a:spcPts val="1285"/>
              </a:lnSpc>
            </a:pPr>
            <a:r>
              <a:rPr sz="1071" b="0" i="0">
                <a:solidFill>
                  <a:srgbClr val="5A82A0"/>
                </a:solidFill>
                <a:latin typeface="Versos"/>
              </a:rPr>
              <a:t>24,17%</a:t>
            </a:r>
          </a:p>
        </p:txBody>
      </p:sp>
      <p:sp>
        <p:nvSpPr>
          <p:cNvPr id="69" name="TextBox 6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08958"/>
            <a:ext cx="6501600" cy="403042"/>
          </a:xfrm>
          <a:prstGeom prst="rect">
            <a:avLst/>
          </a:prstGeom>
          <a:noFill/>
        </p:spPr>
        <p:txBody>
          <a:bodyPr wrap="square" lIns="0" rIns="0" tIns="0" bIns="0" anchor="t"/>
          <a:lstStyle/>
          <a:p>
            <a:pPr algn="just">
              <a:lnSpc>
                <a:spcPts val="1051"/>
              </a:lnSpc>
            </a:pPr>
            <a:r>
              <a:rPr sz="848" b="0" i="0">
                <a:solidFill>
                  <a:srgbClr val="F1F1F1"/>
                </a:solidFill>
                <a:latin typeface="Versos"/>
              </a:rPr>
              <a:t>O Fundo Tivio Banks obteve retorno de 1,10% (100,59% do CDI) no mês e acumula 9,36% (100,31% do CDI) em 2026. A alocação em crédito era de 76%, integralmente concentrada em emissores do setor bancário. O carrego da carteira encontra-se em CDI +0,25%, com duration média de 1,05 ano.</a:t>
            </a:r>
          </a:p>
        </p:txBody>
      </p:sp>
      <p:sp>
        <p:nvSpPr>
          <p:cNvPr id="7" name="TextBox 6"/>
          <p:cNvSpPr txBox="1"/>
          <p:nvPr/>
        </p:nvSpPr>
        <p:spPr>
          <a:xfrm>
            <a:off x="529200" y="5686891"/>
            <a:ext cx="6501600" cy="670005"/>
          </a:xfrm>
          <a:prstGeom prst="rect">
            <a:avLst/>
          </a:prstGeom>
          <a:noFill/>
        </p:spPr>
        <p:txBody>
          <a:bodyPr wrap="square" lIns="0" rIns="0" tIns="0" bIns="0" anchor="t"/>
          <a:lstStyle/>
          <a:p>
            <a:pPr algn="just">
              <a:lnSpc>
                <a:spcPts val="1051"/>
              </a:lnSpc>
            </a:pPr>
            <a:r>
              <a:rPr sz="848" b="0" i="0">
                <a:solidFill>
                  <a:srgbClr val="F1F1F1"/>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p:txBody>
      </p:sp>
      <p:sp>
        <p:nvSpPr>
          <p:cNvPr id="8" name="TextBox 7"/>
          <p:cNvSpPr txBox="1"/>
          <p:nvPr/>
        </p:nvSpPr>
        <p:spPr>
          <a:xfrm>
            <a:off x="529200" y="6431788"/>
            <a:ext cx="6501600" cy="403042"/>
          </a:xfrm>
          <a:prstGeom prst="rect">
            <a:avLst/>
          </a:prstGeom>
          <a:noFill/>
        </p:spPr>
        <p:txBody>
          <a:bodyPr wrap="square" lIns="0" rIns="0" tIns="0" bIns="0" anchor="t"/>
          <a:lstStyle/>
          <a:p>
            <a:pPr algn="just">
              <a:lnSpc>
                <a:spcPts val="1051"/>
              </a:lnSpc>
            </a:pPr>
            <a:r>
              <a:rPr sz="848" b="0" i="0">
                <a:solidFill>
                  <a:srgbClr val="F1F1F1"/>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p:txBody>
      </p:sp>
      <p:sp>
        <p:nvSpPr>
          <p:cNvPr id="9" name="TextBox 8"/>
          <p:cNvSpPr txBox="1"/>
          <p:nvPr/>
        </p:nvSpPr>
        <p:spPr>
          <a:xfrm>
            <a:off x="529200" y="6909721"/>
            <a:ext cx="6501600" cy="670005"/>
          </a:xfrm>
          <a:prstGeom prst="rect">
            <a:avLst/>
          </a:prstGeom>
          <a:noFill/>
        </p:spPr>
        <p:txBody>
          <a:bodyPr wrap="square" lIns="0" rIns="0" tIns="0" bIns="0" anchor="t"/>
          <a:lstStyle/>
          <a:p>
            <a:pPr algn="just">
              <a:lnSpc>
                <a:spcPts val="1051"/>
              </a:lnSpc>
            </a:pPr>
            <a:r>
              <a:rPr sz="848" b="0" i="0">
                <a:solidFill>
                  <a:srgbClr val="F1F1F1"/>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a:t>
            </a:r>
          </a:p>
        </p:txBody>
      </p:sp>
      <p:sp>
        <p:nvSpPr>
          <p:cNvPr id="10" name="TextBox 9"/>
          <p:cNvSpPr txBox="1"/>
          <p:nvPr/>
        </p:nvSpPr>
        <p:spPr>
          <a:xfrm>
            <a:off x="529200" y="7654618"/>
            <a:ext cx="6501600" cy="670005"/>
          </a:xfrm>
          <a:prstGeom prst="rect">
            <a:avLst/>
          </a:prstGeom>
          <a:noFill/>
        </p:spPr>
        <p:txBody>
          <a:bodyPr wrap="square" lIns="0" rIns="0" tIns="0" bIns="0" anchor="t"/>
          <a:lstStyle/>
          <a:p>
            <a:pPr algn="just">
              <a:lnSpc>
                <a:spcPts val="1051"/>
              </a:lnSpc>
            </a:pPr>
            <a:r>
              <a:rPr sz="848" b="0" i="0">
                <a:solidFill>
                  <a:srgbClr val="F1F1F1"/>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p:txBody>
      </p:sp>
      <p:sp>
        <p:nvSpPr>
          <p:cNvPr id="11" name="TextBox 10"/>
          <p:cNvSpPr txBox="1"/>
          <p:nvPr/>
        </p:nvSpPr>
        <p:spPr>
          <a:xfrm>
            <a:off x="529200" y="8399514"/>
            <a:ext cx="6501600" cy="536523"/>
          </a:xfrm>
          <a:prstGeom prst="rect">
            <a:avLst/>
          </a:prstGeom>
          <a:noFill/>
        </p:spPr>
        <p:txBody>
          <a:bodyPr wrap="square" lIns="0" rIns="0" tIns="0" bIns="0" anchor="t"/>
          <a:lstStyle/>
          <a:p>
            <a:pPr algn="just">
              <a:lnSpc>
                <a:spcPts val="1051"/>
              </a:lnSpc>
            </a:pPr>
            <a:r>
              <a:rPr sz="848" b="0" i="0">
                <a:solidFill>
                  <a:srgbClr val="F1F1F1"/>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p:txBody>
      </p:sp>
      <p:sp>
        <p:nvSpPr>
          <p:cNvPr id="12" name="TextBox 11"/>
          <p:cNvSpPr txBox="1"/>
          <p:nvPr/>
        </p:nvSpPr>
        <p:spPr>
          <a:xfrm>
            <a:off x="529200" y="9010929"/>
            <a:ext cx="6501600" cy="803486"/>
          </a:xfrm>
          <a:prstGeom prst="rect">
            <a:avLst/>
          </a:prstGeom>
          <a:noFill/>
        </p:spPr>
        <p:txBody>
          <a:bodyPr wrap="square" lIns="0" rIns="0" tIns="0" bIns="0" anchor="t"/>
          <a:lstStyle/>
          <a:p>
            <a:pPr algn="just">
              <a:lnSpc>
                <a:spcPts val="1051"/>
              </a:lnSpc>
            </a:pPr>
            <a:r>
              <a:rPr sz="848" b="0" i="0">
                <a:solidFill>
                  <a:srgbClr val="F1F1F1"/>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p:txBody>
      </p:sp>
      <p:sp>
        <p:nvSpPr>
          <p:cNvPr id="13" name="TextBox 12"/>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30/04/2009</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R$ 1.793.381.077,96</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R$ 1.449.683.179,97</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63800"/>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89554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7195938"/>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627685"/>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928077"/>
            <a:ext cx="7028985" cy="136080"/>
          </a:xfrm>
          <a:prstGeom prst="rect">
            <a:avLst/>
          </a:prstGeom>
          <a:noFill/>
        </p:spPr>
        <p:txBody>
          <a:bodyPr wrap="none" lIns="0" rIns="0" tIns="0" bIns="0" anchor="t"/>
          <a:lstStyle/>
          <a:p>
            <a:pPr algn="just">
              <a:lnSpc>
                <a:spcPts val="1034"/>
              </a:lnSpc>
            </a:pPr>
            <a:r>
              <a:rPr sz="848"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8097114"/>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9750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9013055"/>
            <a:ext cx="1134000" cy="270742"/>
          </a:xfrm>
          <a:prstGeom prst="rect">
            <a:avLst/>
          </a:prstGeom>
          <a:noFill/>
        </p:spPr>
        <p:txBody>
          <a:bodyPr wrap="square" lIns="0" rIns="0" tIns="0" bIns="0" anchor="t"/>
          <a:lstStyle/>
          <a:p>
            <a:pPr algn="l">
              <a:lnSpc>
                <a:spcPts val="1060"/>
              </a:lnSpc>
            </a:pPr>
            <a:r>
              <a:rPr sz="848" b="0" i="0">
                <a:solidFill>
                  <a:srgbClr val="E9E9E9"/>
                </a:solidFill>
                <a:latin typeface="Versos"/>
              </a:rPr>
              <a:t>SAC: 0800 704 8383</a:t>
            </a:r>
          </a:p>
          <a:p>
            <a:pPr algn="l">
              <a:lnSpc>
                <a:spcPts val="1060"/>
              </a:lnSpc>
            </a:pPr>
            <a:r>
              <a:rPr sz="848" b="0" i="0">
                <a:solidFill>
                  <a:srgbClr val="E9E9E9"/>
                </a:solidFill>
                <a:latin typeface="Versos"/>
              </a:rPr>
              <a:t>Atendimento 24 horas</a:t>
            </a:r>
          </a:p>
        </p:txBody>
      </p:sp>
      <p:sp>
        <p:nvSpPr>
          <p:cNvPr id="30" name="TextBox 29"/>
          <p:cNvSpPr txBox="1"/>
          <p:nvPr/>
        </p:nvSpPr>
        <p:spPr>
          <a:xfrm>
            <a:off x="1655640" y="9013055"/>
            <a:ext cx="4024164" cy="270742"/>
          </a:xfrm>
          <a:prstGeom prst="rect">
            <a:avLst/>
          </a:prstGeom>
          <a:noFill/>
        </p:spPr>
        <p:txBody>
          <a:bodyPr wrap="square" lIns="0" rIns="0" tIns="0" bIns="0" anchor="t"/>
          <a:lstStyle/>
          <a:p>
            <a:pPr algn="l">
              <a:lnSpc>
                <a:spcPts val="1060"/>
              </a:lnSpc>
            </a:pPr>
            <a:r>
              <a:rPr sz="848" b="0" i="0">
                <a:solidFill>
                  <a:srgbClr val="E9E9E9"/>
                </a:solidFill>
                <a:latin typeface="Versos"/>
              </a:rPr>
              <a:t>Ouvidoria: 0800 727 9933</a:t>
            </a:r>
          </a:p>
          <a:p>
            <a:pPr algn="l">
              <a:lnSpc>
                <a:spcPts val="1060"/>
              </a:lnSpc>
            </a:pPr>
            <a:r>
              <a:rPr sz="848"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