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INFRA PLUS CDI 30 FIF CIC RF RL </a:t>
            </a:r>
            <a:r>
              <a:rPr sz="829" b="0" i="0">
                <a:solidFill>
                  <a:srgbClr val="FFFFFF"/>
                </a:solidFill>
                <a:latin typeface="Versos"/>
              </a:rPr>
              <a:t>/ CNPJ 62.791.756/0001-53</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668941"/>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entregar retornos acima do CDI, buscando oportunidades em debêntures incentivadas de diversos setores de infraestrutura por meio de uma gestão ativa e diversificada. A estratégia combina o benefício da isenção de Imposto de Renda para pessoas físicas com a busca por retorno superior ao CDI.</a:t>
            </a:r>
          </a:p>
        </p:txBody>
      </p:sp>
      <p:sp>
        <p:nvSpPr>
          <p:cNvPr id="7" name="TextBox 6"/>
          <p:cNvSpPr txBox="1"/>
          <p:nvPr/>
        </p:nvSpPr>
        <p:spPr>
          <a:xfrm>
            <a:off x="1126440"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920522"/>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920522"/>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329663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0,97%</a:t>
            </a:r>
          </a:p>
        </p:txBody>
      </p:sp>
      <p:sp>
        <p:nvSpPr>
          <p:cNvPr id="15" name="TextBox 14"/>
          <p:cNvSpPr txBox="1"/>
          <p:nvPr/>
        </p:nvSpPr>
        <p:spPr>
          <a:xfrm>
            <a:off x="2136881"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8,80%</a:t>
            </a:r>
          </a:p>
        </p:txBody>
      </p:sp>
      <p:sp>
        <p:nvSpPr>
          <p:cNvPr id="16" name="TextBox 15"/>
          <p:cNvSpPr txBox="1"/>
          <p:nvPr/>
        </p:nvSpPr>
        <p:spPr>
          <a:xfrm>
            <a:off x="3147322"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7" name="TextBox 16"/>
          <p:cNvSpPr txBox="1"/>
          <p:nvPr/>
        </p:nvSpPr>
        <p:spPr>
          <a:xfrm>
            <a:off x="4157763"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8" name="TextBox 17"/>
          <p:cNvSpPr txBox="1"/>
          <p:nvPr/>
        </p:nvSpPr>
        <p:spPr>
          <a:xfrm>
            <a:off x="5168205" y="3292852"/>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a:t>
            </a:r>
          </a:p>
        </p:txBody>
      </p:sp>
      <p:sp>
        <p:nvSpPr>
          <p:cNvPr id="19" name="TextBox 18"/>
          <p:cNvSpPr txBox="1"/>
          <p:nvPr/>
        </p:nvSpPr>
        <p:spPr>
          <a:xfrm>
            <a:off x="6178646" y="3292852"/>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12,11%</a:t>
            </a:r>
          </a:p>
        </p:txBody>
      </p:sp>
      <p:sp>
        <p:nvSpPr>
          <p:cNvPr id="20" name="TextBox 19"/>
          <p:cNvSpPr txBox="1"/>
          <p:nvPr/>
        </p:nvSpPr>
        <p:spPr>
          <a:xfrm>
            <a:off x="340200" y="368786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1,09%</a:t>
            </a:r>
          </a:p>
        </p:txBody>
      </p:sp>
      <p:sp>
        <p:nvSpPr>
          <p:cNvPr id="22" name="TextBox 21"/>
          <p:cNvSpPr txBox="1"/>
          <p:nvPr/>
        </p:nvSpPr>
        <p:spPr>
          <a:xfrm>
            <a:off x="2136881"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9,33%</a:t>
            </a:r>
          </a:p>
        </p:txBody>
      </p:sp>
      <p:sp>
        <p:nvSpPr>
          <p:cNvPr id="23" name="TextBox 22"/>
          <p:cNvSpPr txBox="1"/>
          <p:nvPr/>
        </p:nvSpPr>
        <p:spPr>
          <a:xfrm>
            <a:off x="3147322"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4" name="TextBox 23"/>
          <p:cNvSpPr txBox="1"/>
          <p:nvPr/>
        </p:nvSpPr>
        <p:spPr>
          <a:xfrm>
            <a:off x="4157763"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5" name="TextBox 24"/>
          <p:cNvSpPr txBox="1"/>
          <p:nvPr/>
        </p:nvSpPr>
        <p:spPr>
          <a:xfrm>
            <a:off x="5168205" y="368408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26" name="TextBox 25"/>
          <p:cNvSpPr txBox="1"/>
          <p:nvPr/>
        </p:nvSpPr>
        <p:spPr>
          <a:xfrm>
            <a:off x="6178646" y="3684082"/>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12,38%</a:t>
            </a:r>
          </a:p>
        </p:txBody>
      </p:sp>
      <p:sp>
        <p:nvSpPr>
          <p:cNvPr id="27" name="TextBox 26"/>
          <p:cNvSpPr txBox="1"/>
          <p:nvPr/>
        </p:nvSpPr>
        <p:spPr>
          <a:xfrm>
            <a:off x="340200" y="4080982"/>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28" name="TextBox 27"/>
          <p:cNvSpPr txBox="1"/>
          <p:nvPr/>
        </p:nvSpPr>
        <p:spPr>
          <a:xfrm>
            <a:off x="1126440"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89%</a:t>
            </a:r>
          </a:p>
        </p:txBody>
      </p:sp>
      <p:sp>
        <p:nvSpPr>
          <p:cNvPr id="29" name="TextBox 28"/>
          <p:cNvSpPr txBox="1"/>
          <p:nvPr/>
        </p:nvSpPr>
        <p:spPr>
          <a:xfrm>
            <a:off x="2136881"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94%</a:t>
            </a:r>
          </a:p>
        </p:txBody>
      </p:sp>
      <p:sp>
        <p:nvSpPr>
          <p:cNvPr id="30" name="TextBox 29"/>
          <p:cNvSpPr txBox="1"/>
          <p:nvPr/>
        </p:nvSpPr>
        <p:spPr>
          <a:xfrm>
            <a:off x="3147322"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1" name="TextBox 30"/>
          <p:cNvSpPr txBox="1"/>
          <p:nvPr/>
        </p:nvSpPr>
        <p:spPr>
          <a:xfrm>
            <a:off x="4157763"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2" name="TextBox 31"/>
          <p:cNvSpPr txBox="1"/>
          <p:nvPr/>
        </p:nvSpPr>
        <p:spPr>
          <a:xfrm>
            <a:off x="5168205" y="4077202"/>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a:t>
            </a:r>
          </a:p>
        </p:txBody>
      </p:sp>
      <p:sp>
        <p:nvSpPr>
          <p:cNvPr id="33" name="TextBox 32"/>
          <p:cNvSpPr txBox="1"/>
          <p:nvPr/>
        </p:nvSpPr>
        <p:spPr>
          <a:xfrm>
            <a:off x="6178646" y="4077202"/>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98%</a:t>
            </a:r>
          </a:p>
        </p:txBody>
      </p:sp>
      <p:sp>
        <p:nvSpPr>
          <p:cNvPr id="34" name="TextBox 33"/>
          <p:cNvSpPr txBox="1"/>
          <p:nvPr/>
        </p:nvSpPr>
        <p:spPr>
          <a:xfrm>
            <a:off x="355320" y="4413622"/>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31/08/2026</a:t>
            </a:r>
          </a:p>
        </p:txBody>
      </p:sp>
      <p:sp>
        <p:nvSpPr>
          <p:cNvPr id="35" name="TextBox 34"/>
          <p:cNvSpPr txBox="1"/>
          <p:nvPr/>
        </p:nvSpPr>
        <p:spPr>
          <a:xfrm>
            <a:off x="400680" y="5071342"/>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580579"/>
            <a:ext cx="762898" cy="136080"/>
          </a:xfrm>
          <a:prstGeom prst="rect">
            <a:avLst/>
          </a:prstGeom>
          <a:noFill/>
        </p:spPr>
        <p:txBody>
          <a:bodyPr wrap="none" lIns="0" rIns="0" tIns="0" bIns="0" anchor="t"/>
          <a:lstStyle/>
          <a:p>
            <a:pPr algn="r">
              <a:lnSpc>
                <a:spcPts val="982"/>
              </a:lnSpc>
            </a:pPr>
            <a:r>
              <a:rPr sz="892" b="0" i="0">
                <a:solidFill>
                  <a:srgbClr val="222222"/>
                </a:solidFill>
                <a:latin typeface="Versos"/>
              </a:rPr>
              <a:t>EQUATORIAL</a:t>
            </a:r>
          </a:p>
        </p:txBody>
      </p:sp>
      <p:sp>
        <p:nvSpPr>
          <p:cNvPr id="37" name="TextBox 36"/>
          <p:cNvSpPr txBox="1"/>
          <p:nvPr/>
        </p:nvSpPr>
        <p:spPr>
          <a:xfrm>
            <a:off x="2831928" y="5578689"/>
            <a:ext cx="379852" cy="143640"/>
          </a:xfrm>
          <a:prstGeom prst="rect">
            <a:avLst/>
          </a:prstGeom>
          <a:noFill/>
        </p:spPr>
        <p:txBody>
          <a:bodyPr wrap="none" lIns="0" rIns="0" tIns="0" bIns="0" anchor="t"/>
          <a:lstStyle/>
          <a:p>
            <a:pPr algn="l">
              <a:lnSpc>
                <a:spcPts val="1107"/>
              </a:lnSpc>
            </a:pPr>
            <a:r>
              <a:rPr sz="922" b="0" i="0">
                <a:solidFill>
                  <a:srgbClr val="5A82A0"/>
                </a:solidFill>
                <a:latin typeface="Versos"/>
              </a:rPr>
              <a:t>3,82%</a:t>
            </a:r>
          </a:p>
        </p:txBody>
      </p:sp>
      <p:sp>
        <p:nvSpPr>
          <p:cNvPr id="38" name="TextBox 37"/>
          <p:cNvSpPr txBox="1"/>
          <p:nvPr/>
        </p:nvSpPr>
        <p:spPr>
          <a:xfrm>
            <a:off x="400680" y="605591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CEMIG</a:t>
            </a:r>
          </a:p>
        </p:txBody>
      </p:sp>
      <p:sp>
        <p:nvSpPr>
          <p:cNvPr id="39" name="TextBox 38"/>
          <p:cNvSpPr txBox="1"/>
          <p:nvPr/>
        </p:nvSpPr>
        <p:spPr>
          <a:xfrm>
            <a:off x="2657103" y="6054024"/>
            <a:ext cx="345577" cy="143640"/>
          </a:xfrm>
          <a:prstGeom prst="rect">
            <a:avLst/>
          </a:prstGeom>
          <a:noFill/>
        </p:spPr>
        <p:txBody>
          <a:bodyPr wrap="none" lIns="0" rIns="0" tIns="0" bIns="0" anchor="t"/>
          <a:lstStyle/>
          <a:p>
            <a:pPr algn="l">
              <a:lnSpc>
                <a:spcPts val="1107"/>
              </a:lnSpc>
            </a:pPr>
            <a:r>
              <a:rPr sz="922" b="0" i="0">
                <a:solidFill>
                  <a:srgbClr val="5A82A0"/>
                </a:solidFill>
                <a:latin typeface="Versos"/>
              </a:rPr>
              <a:t>3,41%</a:t>
            </a:r>
          </a:p>
        </p:txBody>
      </p:sp>
      <p:sp>
        <p:nvSpPr>
          <p:cNvPr id="40" name="TextBox 39"/>
          <p:cNvSpPr txBox="1"/>
          <p:nvPr/>
        </p:nvSpPr>
        <p:spPr>
          <a:xfrm>
            <a:off x="400680" y="653113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COPEL</a:t>
            </a:r>
          </a:p>
        </p:txBody>
      </p:sp>
      <p:sp>
        <p:nvSpPr>
          <p:cNvPr id="41" name="TextBox 40"/>
          <p:cNvSpPr txBox="1"/>
          <p:nvPr/>
        </p:nvSpPr>
        <p:spPr>
          <a:xfrm>
            <a:off x="2497753" y="6529241"/>
            <a:ext cx="379606" cy="143640"/>
          </a:xfrm>
          <a:prstGeom prst="rect">
            <a:avLst/>
          </a:prstGeom>
          <a:noFill/>
        </p:spPr>
        <p:txBody>
          <a:bodyPr wrap="none" lIns="0" rIns="0" tIns="0" bIns="0" anchor="t"/>
          <a:lstStyle/>
          <a:p>
            <a:pPr algn="l">
              <a:lnSpc>
                <a:spcPts val="1107"/>
              </a:lnSpc>
            </a:pPr>
            <a:r>
              <a:rPr sz="922" b="0" i="0">
                <a:solidFill>
                  <a:srgbClr val="5A82A0"/>
                </a:solidFill>
                <a:latin typeface="Versos"/>
              </a:rPr>
              <a:t>3,04%</a:t>
            </a:r>
          </a:p>
        </p:txBody>
      </p:sp>
      <p:sp>
        <p:nvSpPr>
          <p:cNvPr id="42" name="TextBox 41"/>
          <p:cNvSpPr txBox="1"/>
          <p:nvPr/>
        </p:nvSpPr>
        <p:spPr>
          <a:xfrm>
            <a:off x="400680" y="700646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SABESP</a:t>
            </a:r>
          </a:p>
        </p:txBody>
      </p:sp>
      <p:sp>
        <p:nvSpPr>
          <p:cNvPr id="43" name="TextBox 42"/>
          <p:cNvSpPr txBox="1"/>
          <p:nvPr/>
        </p:nvSpPr>
        <p:spPr>
          <a:xfrm>
            <a:off x="2479443" y="7004576"/>
            <a:ext cx="198894" cy="143640"/>
          </a:xfrm>
          <a:prstGeom prst="rect">
            <a:avLst/>
          </a:prstGeom>
          <a:noFill/>
        </p:spPr>
        <p:txBody>
          <a:bodyPr wrap="none" lIns="0" rIns="0" tIns="0" bIns="0" anchor="t"/>
          <a:lstStyle/>
          <a:p>
            <a:pPr algn="l">
              <a:lnSpc>
                <a:spcPts val="1107"/>
              </a:lnSpc>
            </a:pPr>
            <a:r>
              <a:rPr sz="922" b="0" i="0">
                <a:solidFill>
                  <a:srgbClr val="5A82A0"/>
                </a:solidFill>
                <a:latin typeface="Versos"/>
              </a:rPr>
              <a:t>3%</a:t>
            </a:r>
          </a:p>
        </p:txBody>
      </p:sp>
      <p:sp>
        <p:nvSpPr>
          <p:cNvPr id="44" name="TextBox 43"/>
          <p:cNvSpPr txBox="1"/>
          <p:nvPr/>
        </p:nvSpPr>
        <p:spPr>
          <a:xfrm>
            <a:off x="400680" y="7481801"/>
            <a:ext cx="773340" cy="136080"/>
          </a:xfrm>
          <a:prstGeom prst="rect">
            <a:avLst/>
          </a:prstGeom>
          <a:noFill/>
        </p:spPr>
        <p:txBody>
          <a:bodyPr wrap="none" lIns="0" rIns="0" tIns="0" bIns="0" anchor="t"/>
          <a:lstStyle/>
          <a:p>
            <a:pPr algn="r">
              <a:lnSpc>
                <a:spcPts val="982"/>
              </a:lnSpc>
            </a:pPr>
            <a:r>
              <a:rPr sz="892" b="0" i="0">
                <a:solidFill>
                  <a:srgbClr val="222222"/>
                </a:solidFill>
                <a:latin typeface="Versos"/>
              </a:rPr>
              <a:t>ELETROBRAS</a:t>
            </a:r>
          </a:p>
        </p:txBody>
      </p:sp>
      <p:sp>
        <p:nvSpPr>
          <p:cNvPr id="45" name="TextBox 44"/>
          <p:cNvSpPr txBox="1"/>
          <p:nvPr/>
        </p:nvSpPr>
        <p:spPr>
          <a:xfrm>
            <a:off x="2444478" y="7479911"/>
            <a:ext cx="375429" cy="143640"/>
          </a:xfrm>
          <a:prstGeom prst="rect">
            <a:avLst/>
          </a:prstGeom>
          <a:noFill/>
        </p:spPr>
        <p:txBody>
          <a:bodyPr wrap="none" lIns="0" rIns="0" tIns="0" bIns="0" anchor="t"/>
          <a:lstStyle/>
          <a:p>
            <a:pPr algn="l">
              <a:lnSpc>
                <a:spcPts val="1107"/>
              </a:lnSpc>
            </a:pPr>
            <a:r>
              <a:rPr sz="922" b="0" i="0">
                <a:solidFill>
                  <a:srgbClr val="5A82A0"/>
                </a:solidFill>
                <a:latin typeface="Versos"/>
              </a:rPr>
              <a:t>2,92%</a:t>
            </a:r>
          </a:p>
        </p:txBody>
      </p:sp>
      <p:sp>
        <p:nvSpPr>
          <p:cNvPr id="46" name="TextBox 45"/>
          <p:cNvSpPr txBox="1"/>
          <p:nvPr/>
        </p:nvSpPr>
        <p:spPr>
          <a:xfrm>
            <a:off x="400680" y="800107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41416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412271"/>
            <a:ext cx="435626" cy="143640"/>
          </a:xfrm>
          <a:prstGeom prst="rect">
            <a:avLst/>
          </a:prstGeom>
          <a:noFill/>
        </p:spPr>
        <p:txBody>
          <a:bodyPr wrap="none" lIns="0" rIns="0" tIns="0" bIns="0" anchor="t"/>
          <a:lstStyle/>
          <a:p>
            <a:pPr algn="l">
              <a:lnSpc>
                <a:spcPts val="1142"/>
              </a:lnSpc>
            </a:pPr>
            <a:r>
              <a:rPr sz="952" b="0" i="0">
                <a:solidFill>
                  <a:srgbClr val="111111"/>
                </a:solidFill>
                <a:latin typeface="Versos"/>
              </a:rPr>
              <a:t>30,13%</a:t>
            </a:r>
          </a:p>
        </p:txBody>
      </p:sp>
      <p:sp>
        <p:nvSpPr>
          <p:cNvPr id="49" name="TextBox 48"/>
          <p:cNvSpPr txBox="1"/>
          <p:nvPr/>
        </p:nvSpPr>
        <p:spPr>
          <a:xfrm>
            <a:off x="400680" y="869695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2169365" y="8695063"/>
            <a:ext cx="416215" cy="143640"/>
          </a:xfrm>
          <a:prstGeom prst="rect">
            <a:avLst/>
          </a:prstGeom>
          <a:noFill/>
        </p:spPr>
        <p:txBody>
          <a:bodyPr wrap="none" lIns="0" rIns="0" tIns="0" bIns="0" anchor="t"/>
          <a:lstStyle/>
          <a:p>
            <a:pPr algn="l">
              <a:lnSpc>
                <a:spcPts val="1142"/>
              </a:lnSpc>
            </a:pPr>
            <a:r>
              <a:rPr sz="952" b="0" i="0">
                <a:solidFill>
                  <a:srgbClr val="111111"/>
                </a:solidFill>
                <a:latin typeface="Versos"/>
              </a:rPr>
              <a:t>17,70%</a:t>
            </a:r>
          </a:p>
        </p:txBody>
      </p:sp>
      <p:sp>
        <p:nvSpPr>
          <p:cNvPr id="51" name="TextBox 50"/>
          <p:cNvSpPr txBox="1"/>
          <p:nvPr/>
        </p:nvSpPr>
        <p:spPr>
          <a:xfrm>
            <a:off x="400680" y="8979862"/>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2064116" y="8977972"/>
            <a:ext cx="438943" cy="143640"/>
          </a:xfrm>
          <a:prstGeom prst="rect">
            <a:avLst/>
          </a:prstGeom>
          <a:noFill/>
        </p:spPr>
        <p:txBody>
          <a:bodyPr wrap="none" lIns="0" rIns="0" tIns="0" bIns="0" anchor="t"/>
          <a:lstStyle/>
          <a:p>
            <a:pPr algn="l">
              <a:lnSpc>
                <a:spcPts val="1142"/>
              </a:lnSpc>
            </a:pPr>
            <a:r>
              <a:rPr sz="952" b="0" i="0">
                <a:solidFill>
                  <a:srgbClr val="111111"/>
                </a:solidFill>
                <a:latin typeface="Versos"/>
              </a:rPr>
              <a:t>16,04%</a:t>
            </a:r>
          </a:p>
        </p:txBody>
      </p:sp>
      <p:sp>
        <p:nvSpPr>
          <p:cNvPr id="53" name="TextBox 52"/>
          <p:cNvSpPr txBox="1"/>
          <p:nvPr/>
        </p:nvSpPr>
        <p:spPr>
          <a:xfrm>
            <a:off x="400680" y="926265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790184" y="9260763"/>
            <a:ext cx="385134" cy="143640"/>
          </a:xfrm>
          <a:prstGeom prst="rect">
            <a:avLst/>
          </a:prstGeom>
          <a:noFill/>
        </p:spPr>
        <p:txBody>
          <a:bodyPr wrap="none" lIns="0" rIns="0" tIns="0" bIns="0" anchor="t"/>
          <a:lstStyle/>
          <a:p>
            <a:pPr algn="l">
              <a:lnSpc>
                <a:spcPts val="1142"/>
              </a:lnSpc>
            </a:pPr>
            <a:r>
              <a:rPr sz="952" b="0" i="0">
                <a:solidFill>
                  <a:srgbClr val="111111"/>
                </a:solidFill>
                <a:latin typeface="Versos"/>
              </a:rPr>
              <a:t>11,74%</a:t>
            </a:r>
          </a:p>
        </p:txBody>
      </p:sp>
      <p:sp>
        <p:nvSpPr>
          <p:cNvPr id="55" name="TextBox 54"/>
          <p:cNvSpPr txBox="1"/>
          <p:nvPr/>
        </p:nvSpPr>
        <p:spPr>
          <a:xfrm>
            <a:off x="400680" y="954556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538578" y="9543673"/>
            <a:ext cx="367321" cy="143640"/>
          </a:xfrm>
          <a:prstGeom prst="rect">
            <a:avLst/>
          </a:prstGeom>
          <a:noFill/>
        </p:spPr>
        <p:txBody>
          <a:bodyPr wrap="none" lIns="0" rIns="0" tIns="0" bIns="0" anchor="t"/>
          <a:lstStyle/>
          <a:p>
            <a:pPr algn="l">
              <a:lnSpc>
                <a:spcPts val="1142"/>
              </a:lnSpc>
            </a:pPr>
            <a:r>
              <a:rPr sz="952" b="0" i="0">
                <a:solidFill>
                  <a:srgbClr val="111111"/>
                </a:solidFill>
                <a:latin typeface="Versos"/>
              </a:rPr>
              <a:t>7,78%</a:t>
            </a:r>
          </a:p>
        </p:txBody>
      </p:sp>
      <p:sp>
        <p:nvSpPr>
          <p:cNvPr id="57" name="TextBox 56"/>
          <p:cNvSpPr txBox="1"/>
          <p:nvPr/>
        </p:nvSpPr>
        <p:spPr>
          <a:xfrm>
            <a:off x="400680" y="9828354"/>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61168" y="9826464"/>
            <a:ext cx="360196" cy="143640"/>
          </a:xfrm>
          <a:prstGeom prst="rect">
            <a:avLst/>
          </a:prstGeom>
          <a:noFill/>
        </p:spPr>
        <p:txBody>
          <a:bodyPr wrap="none" lIns="0" rIns="0" tIns="0" bIns="0" anchor="t"/>
          <a:lstStyle/>
          <a:p>
            <a:pPr algn="l">
              <a:lnSpc>
                <a:spcPts val="1142"/>
              </a:lnSpc>
            </a:pPr>
            <a:r>
              <a:rPr sz="952" b="0" i="0">
                <a:solidFill>
                  <a:srgbClr val="111111"/>
                </a:solidFill>
                <a:latin typeface="Versos"/>
              </a:rPr>
              <a:t>1,85%</a:t>
            </a:r>
          </a:p>
        </p:txBody>
      </p:sp>
      <p:sp>
        <p:nvSpPr>
          <p:cNvPr id="59" name="TextBox 58"/>
          <p:cNvSpPr txBox="1"/>
          <p:nvPr/>
        </p:nvSpPr>
        <p:spPr>
          <a:xfrm>
            <a:off x="3802680" y="5071342"/>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5831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575500"/>
            <a:ext cx="436117" cy="143640"/>
          </a:xfrm>
          <a:prstGeom prst="rect">
            <a:avLst/>
          </a:prstGeom>
          <a:noFill/>
        </p:spPr>
        <p:txBody>
          <a:bodyPr wrap="none" lIns="0" rIns="0" tIns="0" bIns="0" anchor="t"/>
          <a:lstStyle/>
          <a:p>
            <a:pPr algn="l">
              <a:lnSpc>
                <a:spcPts val="1142"/>
              </a:lnSpc>
            </a:pPr>
            <a:r>
              <a:rPr sz="952" b="0" i="0">
                <a:solidFill>
                  <a:srgbClr val="111111"/>
                </a:solidFill>
                <a:latin typeface="Versos"/>
              </a:rPr>
              <a:t>38,13%</a:t>
            </a:r>
          </a:p>
        </p:txBody>
      </p:sp>
      <p:sp>
        <p:nvSpPr>
          <p:cNvPr id="62" name="TextBox 61"/>
          <p:cNvSpPr txBox="1"/>
          <p:nvPr/>
        </p:nvSpPr>
        <p:spPr>
          <a:xfrm>
            <a:off x="3802680" y="605189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63" name="TextBox 62"/>
          <p:cNvSpPr txBox="1"/>
          <p:nvPr/>
        </p:nvSpPr>
        <p:spPr>
          <a:xfrm>
            <a:off x="6209358" y="6044220"/>
            <a:ext cx="421866" cy="143640"/>
          </a:xfrm>
          <a:prstGeom prst="rect">
            <a:avLst/>
          </a:prstGeom>
          <a:noFill/>
        </p:spPr>
        <p:txBody>
          <a:bodyPr wrap="none" lIns="0" rIns="0" tIns="0" bIns="0" anchor="t"/>
          <a:lstStyle/>
          <a:p>
            <a:pPr algn="l">
              <a:lnSpc>
                <a:spcPts val="1142"/>
              </a:lnSpc>
            </a:pPr>
            <a:r>
              <a:rPr sz="952" b="0" i="0">
                <a:solidFill>
                  <a:srgbClr val="111111"/>
                </a:solidFill>
                <a:latin typeface="Versos"/>
              </a:rPr>
              <a:t>21,75%</a:t>
            </a:r>
          </a:p>
        </p:txBody>
      </p:sp>
      <p:sp>
        <p:nvSpPr>
          <p:cNvPr id="64" name="TextBox 63"/>
          <p:cNvSpPr txBox="1"/>
          <p:nvPr/>
        </p:nvSpPr>
        <p:spPr>
          <a:xfrm>
            <a:off x="3802680" y="652061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5" name="TextBox 64"/>
          <p:cNvSpPr txBox="1"/>
          <p:nvPr/>
        </p:nvSpPr>
        <p:spPr>
          <a:xfrm>
            <a:off x="5887468" y="6512940"/>
            <a:ext cx="437837" cy="143640"/>
          </a:xfrm>
          <a:prstGeom prst="rect">
            <a:avLst/>
          </a:prstGeom>
          <a:noFill/>
        </p:spPr>
        <p:txBody>
          <a:bodyPr wrap="none" lIns="0" rIns="0" tIns="0" bIns="0" anchor="t"/>
          <a:lstStyle/>
          <a:p>
            <a:pPr algn="l">
              <a:lnSpc>
                <a:spcPts val="1142"/>
              </a:lnSpc>
            </a:pPr>
            <a:r>
              <a:rPr sz="952" b="0" i="0">
                <a:solidFill>
                  <a:srgbClr val="111111"/>
                </a:solidFill>
                <a:latin typeface="Versos"/>
              </a:rPr>
              <a:t>12,04%</a:t>
            </a:r>
          </a:p>
        </p:txBody>
      </p:sp>
      <p:sp>
        <p:nvSpPr>
          <p:cNvPr id="66" name="TextBox 65"/>
          <p:cNvSpPr txBox="1"/>
          <p:nvPr/>
        </p:nvSpPr>
        <p:spPr>
          <a:xfrm>
            <a:off x="3802680" y="698933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67" name="TextBox 66"/>
          <p:cNvSpPr txBox="1"/>
          <p:nvPr/>
        </p:nvSpPr>
        <p:spPr>
          <a:xfrm>
            <a:off x="5791196" y="6981660"/>
            <a:ext cx="352579" cy="143640"/>
          </a:xfrm>
          <a:prstGeom prst="rect">
            <a:avLst/>
          </a:prstGeom>
          <a:noFill/>
        </p:spPr>
        <p:txBody>
          <a:bodyPr wrap="none" lIns="0" rIns="0" tIns="0" bIns="0" anchor="t"/>
          <a:lstStyle/>
          <a:p>
            <a:pPr algn="l">
              <a:lnSpc>
                <a:spcPts val="1142"/>
              </a:lnSpc>
            </a:pPr>
            <a:r>
              <a:rPr sz="952" b="0" i="0">
                <a:solidFill>
                  <a:srgbClr val="111111"/>
                </a:solidFill>
                <a:latin typeface="Versos"/>
              </a:rPr>
              <a:t>9,13%</a:t>
            </a:r>
          </a:p>
        </p:txBody>
      </p:sp>
      <p:sp>
        <p:nvSpPr>
          <p:cNvPr id="68" name="TextBox 67"/>
          <p:cNvSpPr txBox="1"/>
          <p:nvPr/>
        </p:nvSpPr>
        <p:spPr>
          <a:xfrm>
            <a:off x="3802680" y="745805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9" name="TextBox 68"/>
          <p:cNvSpPr txBox="1"/>
          <p:nvPr/>
        </p:nvSpPr>
        <p:spPr>
          <a:xfrm>
            <a:off x="5731306" y="7450380"/>
            <a:ext cx="376166" cy="143640"/>
          </a:xfrm>
          <a:prstGeom prst="rect">
            <a:avLst/>
          </a:prstGeom>
          <a:noFill/>
        </p:spPr>
        <p:txBody>
          <a:bodyPr wrap="none" lIns="0" rIns="0" tIns="0" bIns="0" anchor="t"/>
          <a:lstStyle/>
          <a:p>
            <a:pPr algn="l">
              <a:lnSpc>
                <a:spcPts val="1142"/>
              </a:lnSpc>
            </a:pPr>
            <a:r>
              <a:rPr sz="952" b="0" i="0">
                <a:solidFill>
                  <a:srgbClr val="111111"/>
                </a:solidFill>
                <a:latin typeface="Versos"/>
              </a:rPr>
              <a:t>7,33%</a:t>
            </a:r>
          </a:p>
        </p:txBody>
      </p:sp>
      <p:sp>
        <p:nvSpPr>
          <p:cNvPr id="70" name="TextBox 69"/>
          <p:cNvSpPr txBox="1"/>
          <p:nvPr/>
        </p:nvSpPr>
        <p:spPr>
          <a:xfrm>
            <a:off x="3802680" y="792677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1" name="TextBox 70"/>
          <p:cNvSpPr txBox="1"/>
          <p:nvPr/>
        </p:nvSpPr>
        <p:spPr>
          <a:xfrm>
            <a:off x="5726818" y="7919100"/>
            <a:ext cx="337837" cy="143640"/>
          </a:xfrm>
          <a:prstGeom prst="rect">
            <a:avLst/>
          </a:prstGeom>
          <a:noFill/>
        </p:spPr>
        <p:txBody>
          <a:bodyPr wrap="none" lIns="0" rIns="0" tIns="0" bIns="0" anchor="t"/>
          <a:lstStyle/>
          <a:p>
            <a:pPr algn="l">
              <a:lnSpc>
                <a:spcPts val="1142"/>
              </a:lnSpc>
            </a:pPr>
            <a:r>
              <a:rPr sz="952" b="0" i="0">
                <a:solidFill>
                  <a:srgbClr val="111111"/>
                </a:solidFill>
                <a:latin typeface="Versos"/>
              </a:rPr>
              <a:t>7,19%</a:t>
            </a:r>
          </a:p>
        </p:txBody>
      </p:sp>
      <p:sp>
        <p:nvSpPr>
          <p:cNvPr id="72" name="TextBox 71"/>
          <p:cNvSpPr txBox="1"/>
          <p:nvPr/>
        </p:nvSpPr>
        <p:spPr>
          <a:xfrm>
            <a:off x="3802680" y="839549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73" name="TextBox 72"/>
          <p:cNvSpPr txBox="1"/>
          <p:nvPr/>
        </p:nvSpPr>
        <p:spPr>
          <a:xfrm>
            <a:off x="5583178" y="8387820"/>
            <a:ext cx="396682" cy="143640"/>
          </a:xfrm>
          <a:prstGeom prst="rect">
            <a:avLst/>
          </a:prstGeom>
          <a:noFill/>
        </p:spPr>
        <p:txBody>
          <a:bodyPr wrap="none" lIns="0" rIns="0" tIns="0" bIns="0" anchor="t"/>
          <a:lstStyle/>
          <a:p>
            <a:pPr algn="l">
              <a:lnSpc>
                <a:spcPts val="1142"/>
              </a:lnSpc>
            </a:pPr>
            <a:r>
              <a:rPr sz="952" b="0" i="0">
                <a:solidFill>
                  <a:srgbClr val="111111"/>
                </a:solidFill>
                <a:latin typeface="Versos"/>
              </a:rPr>
              <a:t>2,86%</a:t>
            </a:r>
          </a:p>
        </p:txBody>
      </p:sp>
      <p:sp>
        <p:nvSpPr>
          <p:cNvPr id="74" name="TextBox 73"/>
          <p:cNvSpPr txBox="1"/>
          <p:nvPr/>
        </p:nvSpPr>
        <p:spPr>
          <a:xfrm>
            <a:off x="3802680" y="8864218"/>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5" name="TextBox 74"/>
          <p:cNvSpPr txBox="1"/>
          <p:nvPr/>
        </p:nvSpPr>
        <p:spPr>
          <a:xfrm>
            <a:off x="5538290" y="8856540"/>
            <a:ext cx="365355" cy="143640"/>
          </a:xfrm>
          <a:prstGeom prst="rect">
            <a:avLst/>
          </a:prstGeom>
          <a:noFill/>
        </p:spPr>
        <p:txBody>
          <a:bodyPr wrap="none" lIns="0" rIns="0" tIns="0" bIns="0" anchor="t"/>
          <a:lstStyle/>
          <a:p>
            <a:pPr algn="l">
              <a:lnSpc>
                <a:spcPts val="1142"/>
              </a:lnSpc>
            </a:pPr>
            <a:r>
              <a:rPr sz="952" b="0" i="0">
                <a:solidFill>
                  <a:srgbClr val="111111"/>
                </a:solidFill>
                <a:latin typeface="Versos"/>
              </a:rPr>
              <a:t>1,50%</a:t>
            </a:r>
          </a:p>
        </p:txBody>
      </p:sp>
      <p:sp>
        <p:nvSpPr>
          <p:cNvPr id="76" name="TextBox 75"/>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08958"/>
            <a:ext cx="6501600" cy="1214325"/>
          </a:xfrm>
          <a:prstGeom prst="rect">
            <a:avLst/>
          </a:prstGeom>
          <a:noFill/>
        </p:spPr>
        <p:txBody>
          <a:bodyPr wrap="square" lIns="0" rIns="0" tIns="0" bIns="0" anchor="t"/>
          <a:lstStyle/>
          <a:p>
            <a:pPr algn="just">
              <a:lnSpc>
                <a:spcPts val="1365"/>
              </a:lnSpc>
            </a:pPr>
            <a:r>
              <a:rPr sz="1101" b="0" i="0">
                <a:solidFill>
                  <a:srgbClr val="F1F1F1"/>
                </a:solidFill>
                <a:latin typeface="Versos"/>
              </a:rPr>
              <a:t>Em agosto, os títulos de crédito indexados ao IPCA precificados pela ANBIMA apresentaram desempenho positivo, refletindo principalmente o movimento de fechamento da curva real de juros observado ao longo do período. Embora os spreads de crédito tenham registrado abertura média de aproximadamente 5 bps em relação a julho, a redução das taxas reais ao longo da estrutura a termo mais do que compensou esse movimento. Como resultado, as taxas médias dos títulos incentivados precificados pela ANBIMA encerraram o mês com fechamento próximo de 16 bps, proporcionando valorização dos ativos no mercado secundário.</a:t>
            </a:r>
          </a:p>
        </p:txBody>
      </p:sp>
      <p:sp>
        <p:nvSpPr>
          <p:cNvPr id="7" name="TextBox 6"/>
          <p:cNvSpPr txBox="1"/>
          <p:nvPr/>
        </p:nvSpPr>
        <p:spPr>
          <a:xfrm>
            <a:off x="529200" y="6523453"/>
            <a:ext cx="6501600" cy="694102"/>
          </a:xfrm>
          <a:prstGeom prst="rect">
            <a:avLst/>
          </a:prstGeom>
          <a:noFill/>
        </p:spPr>
        <p:txBody>
          <a:bodyPr wrap="square" lIns="0" rIns="0" tIns="0" bIns="0" anchor="t"/>
          <a:lstStyle/>
          <a:p>
            <a:pPr algn="just">
              <a:lnSpc>
                <a:spcPts val="1365"/>
              </a:lnSpc>
            </a:pPr>
            <a:r>
              <a:rPr sz="1101" b="0" i="0">
                <a:solidFill>
                  <a:srgbClr val="F1F1F1"/>
                </a:solidFill>
                <a:latin typeface="Versos"/>
              </a:rPr>
              <a:t>No mercado primário, manteve-se o cenário de oferta restrita de ativos, com parcela relevante das emissões sendo absorvida diretamente pelos balanços dos bancos distribuidores. Já no mercado secundário, observou-se um nível de liquidez inferior à média observada ao longo de 2025, contribuindo para um ambiente de maior equilíbrio entre oferta e demanda dos ativos negociados.</a:t>
            </a:r>
          </a:p>
        </p:txBody>
      </p:sp>
      <p:sp>
        <p:nvSpPr>
          <p:cNvPr id="8" name="TextBox 7"/>
          <p:cNvSpPr txBox="1"/>
          <p:nvPr/>
        </p:nvSpPr>
        <p:spPr>
          <a:xfrm>
            <a:off x="529200" y="7317725"/>
            <a:ext cx="6501600" cy="1561140"/>
          </a:xfrm>
          <a:prstGeom prst="rect">
            <a:avLst/>
          </a:prstGeom>
          <a:noFill/>
        </p:spPr>
        <p:txBody>
          <a:bodyPr wrap="square" lIns="0" rIns="0" tIns="0" bIns="0" anchor="t"/>
          <a:lstStyle/>
          <a:p>
            <a:pPr algn="just">
              <a:lnSpc>
                <a:spcPts val="1365"/>
              </a:lnSpc>
            </a:pPr>
            <a:r>
              <a:rPr sz="1101" b="0" i="0">
                <a:solidFill>
                  <a:srgbClr val="F1F1F1"/>
                </a:solidFill>
                <a:latin typeface="Versos"/>
              </a:rPr>
              <a:t>Sob a ótica da gestão, mantivemos uma postura cautelosa ao longo do período, priorizando o encurtamento da duration da carteira como forma de mitigar a volatilidade e reduzir a sensibilidade do portfólio a eventuais movimentos adversos nos spreads de crédito. Apesar da melhora observada no desempenho dos ativos incentivados no mês, seguimos avaliando que os níveis atuais de prêmio ainda oferecem pouca margem de segurança frente aos riscos inerentes à classe. Dessa forma, permanecemos atentos à evolução das condições de mercado e à dinâmica de precificação dos ativos, buscando identificar oportunidades mais atrativas para aumentar a exposição ao risco de crédito de forma gradual e criteriosa, quando a relação risco-retorno se mostrar mais favorável.</a:t>
            </a:r>
          </a:p>
        </p:txBody>
      </p:sp>
      <p:sp>
        <p:nvSpPr>
          <p:cNvPr id="9" name="TextBox 8"/>
          <p:cNvSpPr txBox="1"/>
          <p:nvPr/>
        </p:nvSpPr>
        <p:spPr>
          <a:xfrm>
            <a:off x="529200" y="8979035"/>
            <a:ext cx="6501600" cy="694102"/>
          </a:xfrm>
          <a:prstGeom prst="rect">
            <a:avLst/>
          </a:prstGeom>
          <a:noFill/>
        </p:spPr>
        <p:txBody>
          <a:bodyPr wrap="square" lIns="0" rIns="0" tIns="0" bIns="0" anchor="t"/>
          <a:lstStyle/>
          <a:p>
            <a:pPr algn="just">
              <a:lnSpc>
                <a:spcPts val="1365"/>
              </a:lnSpc>
            </a:pPr>
            <a:r>
              <a:rPr sz="1101" b="0" i="0">
                <a:solidFill>
                  <a:srgbClr val="F1F1F1"/>
                </a:solidFill>
                <a:latin typeface="Versos"/>
              </a:rPr>
              <a:t>Nesse cenário, o Institucional Incentivado CDI apresentou rentabilidade, isenta de imposto de renda, de 0,97% no mês (89% do CDI), acumulando 8,80% (94% do CDI) no ano. Na atribuição de performance, pode-se destacar as debêntures de Copel e CPFL, enquanto as de Energisa foram as maiores detratoras.</a:t>
            </a:r>
          </a:p>
        </p:txBody>
      </p:sp>
      <p:sp>
        <p:nvSpPr>
          <p:cNvPr id="10" name="TextBox 9"/>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240170" cy="189000"/>
          </a:xfrm>
          <a:prstGeom prst="rect">
            <a:avLst/>
          </a:prstGeom>
          <a:noFill/>
        </p:spPr>
        <p:txBody>
          <a:bodyPr wrap="none" lIns="0" rIns="0" tIns="0" bIns="0" anchor="t"/>
          <a:lstStyle/>
          <a:p>
            <a:pPr algn="l">
              <a:lnSpc>
                <a:spcPts val="1500"/>
              </a:lnSpc>
            </a:pPr>
            <a:r>
              <a:rPr sz="1250" b="0" i="0">
                <a:solidFill>
                  <a:srgbClr val="FFFFFF"/>
                </a:solidFill>
                <a:latin typeface="Versos"/>
              </a:rPr>
              <a:t>Agosto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20/10/2025</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Não há</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R$ 43.888.829,70</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R$ 37.372.496,61</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