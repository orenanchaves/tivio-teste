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77868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BVP RF CP FIFE RL </a:t>
            </a:r>
            <a:r>
              <a:rPr sz="829" b="0" i="0">
                <a:solidFill>
                  <a:srgbClr val="FFFFFF"/>
                </a:solidFill>
                <a:latin typeface="Versos"/>
              </a:rPr>
              <a:t>/ CNPJ 55.726.312/0001-79</a:t>
            </a:r>
          </a:p>
        </p:txBody>
      </p:sp>
      <p:sp>
        <p:nvSpPr>
          <p:cNvPr id="5" name="TextBox 4"/>
          <p:cNvSpPr txBox="1"/>
          <p:nvPr/>
        </p:nvSpPr>
        <p:spPr>
          <a:xfrm>
            <a:off x="400680" y="115668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6" name="TextBox 5"/>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7" name="TextBox 6"/>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8" name="TextBox 7"/>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9" name="TextBox 8"/>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10" name="TextBox 9"/>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1" name="TextBox 10"/>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2" name="TextBox 11"/>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3" name="TextBox 12"/>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4" name="TextBox 13"/>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5" name="TextBox 14"/>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1,10%</a:t>
            </a:r>
          </a:p>
        </p:txBody>
      </p:sp>
      <p:sp>
        <p:nvSpPr>
          <p:cNvPr id="16" name="TextBox 15"/>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9,39%</a:t>
            </a:r>
          </a:p>
        </p:txBody>
      </p:sp>
      <p:sp>
        <p:nvSpPr>
          <p:cNvPr id="17" name="TextBox 16"/>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14,70%</a:t>
            </a:r>
          </a:p>
        </p:txBody>
      </p:sp>
      <p:sp>
        <p:nvSpPr>
          <p:cNvPr id="18" name="TextBox 17"/>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30,21%</a:t>
            </a:r>
          </a:p>
        </p:txBody>
      </p:sp>
      <p:sp>
        <p:nvSpPr>
          <p:cNvPr id="19" name="TextBox 18"/>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20" name="TextBox 19"/>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32,10%</a:t>
            </a:r>
          </a:p>
        </p:txBody>
      </p:sp>
      <p:sp>
        <p:nvSpPr>
          <p:cNvPr id="21" name="TextBox 20"/>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2" name="TextBox 21"/>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3" name="TextBox 22"/>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4" name="TextBox 23"/>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5" name="TextBox 24"/>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6" name="TextBox 25"/>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7" name="TextBox 26"/>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31,33%</a:t>
            </a:r>
          </a:p>
        </p:txBody>
      </p:sp>
      <p:sp>
        <p:nvSpPr>
          <p:cNvPr id="28" name="TextBox 27"/>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9" name="TextBox 28"/>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0,00%</a:t>
            </a:r>
          </a:p>
        </p:txBody>
      </p:sp>
      <p:sp>
        <p:nvSpPr>
          <p:cNvPr id="30" name="TextBox 29"/>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0,06%</a:t>
            </a:r>
          </a:p>
        </p:txBody>
      </p:sp>
      <p:sp>
        <p:nvSpPr>
          <p:cNvPr id="31" name="TextBox 30"/>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0,13%</a:t>
            </a:r>
          </a:p>
        </p:txBody>
      </p:sp>
      <p:sp>
        <p:nvSpPr>
          <p:cNvPr id="32" name="TextBox 31"/>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0,73%</a:t>
            </a:r>
          </a:p>
        </p:txBody>
      </p:sp>
      <p:sp>
        <p:nvSpPr>
          <p:cNvPr id="33" name="TextBox 32"/>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4" name="TextBox 33"/>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0,77%</a:t>
            </a:r>
          </a:p>
        </p:txBody>
      </p:sp>
      <p:sp>
        <p:nvSpPr>
          <p:cNvPr id="35" name="TextBox 34"/>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6" name="TextBox 35"/>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7" name="TextBox 36"/>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38" name="TextBox 37"/>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39" name="TextBox 38"/>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40" name="TextBox 39"/>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41" name="TextBox 40"/>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42" name="TextBox 41"/>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3" name="TextBox 42"/>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4" name="TextBox 43"/>
          <p:cNvSpPr txBox="1"/>
          <p:nvPr/>
        </p:nvSpPr>
        <p:spPr>
          <a:xfrm>
            <a:off x="400680" y="562215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5" name="TextBox 44"/>
          <p:cNvSpPr txBox="1"/>
          <p:nvPr/>
        </p:nvSpPr>
        <p:spPr>
          <a:xfrm>
            <a:off x="2831928" y="5620269"/>
            <a:ext cx="342751" cy="143640"/>
          </a:xfrm>
          <a:prstGeom prst="rect">
            <a:avLst/>
          </a:prstGeom>
          <a:noFill/>
        </p:spPr>
        <p:txBody>
          <a:bodyPr wrap="none" lIns="0" rIns="0" tIns="0" bIns="0" anchor="t"/>
          <a:lstStyle/>
          <a:p>
            <a:pPr algn="l">
              <a:lnSpc>
                <a:spcPts val="1107"/>
              </a:lnSpc>
            </a:pPr>
            <a:r>
              <a:rPr sz="922" b="0" i="0">
                <a:solidFill>
                  <a:srgbClr val="5A82A0"/>
                </a:solidFill>
                <a:latin typeface="Versos"/>
              </a:rPr>
              <a:t>3,51%</a:t>
            </a:r>
          </a:p>
        </p:txBody>
      </p:sp>
      <p:sp>
        <p:nvSpPr>
          <p:cNvPr id="46" name="TextBox 45"/>
          <p:cNvSpPr txBox="1"/>
          <p:nvPr/>
        </p:nvSpPr>
        <p:spPr>
          <a:xfrm>
            <a:off x="400680" y="605449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7" name="TextBox 46"/>
          <p:cNvSpPr txBox="1"/>
          <p:nvPr/>
        </p:nvSpPr>
        <p:spPr>
          <a:xfrm>
            <a:off x="2779717" y="6052606"/>
            <a:ext cx="383783" cy="143640"/>
          </a:xfrm>
          <a:prstGeom prst="rect">
            <a:avLst/>
          </a:prstGeom>
          <a:noFill/>
        </p:spPr>
        <p:txBody>
          <a:bodyPr wrap="none" lIns="0" rIns="0" tIns="0" bIns="0" anchor="t"/>
          <a:lstStyle/>
          <a:p>
            <a:pPr algn="l">
              <a:lnSpc>
                <a:spcPts val="1107"/>
              </a:lnSpc>
            </a:pPr>
            <a:r>
              <a:rPr sz="922" b="0" i="0">
                <a:solidFill>
                  <a:srgbClr val="5A82A0"/>
                </a:solidFill>
                <a:latin typeface="Versos"/>
              </a:rPr>
              <a:t>3,39%</a:t>
            </a:r>
          </a:p>
        </p:txBody>
      </p:sp>
      <p:sp>
        <p:nvSpPr>
          <p:cNvPr id="48" name="TextBox 47"/>
          <p:cNvSpPr txBox="1"/>
          <p:nvPr/>
        </p:nvSpPr>
        <p:spPr>
          <a:xfrm>
            <a:off x="400680" y="648683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NUBANK</a:t>
            </a:r>
          </a:p>
        </p:txBody>
      </p:sp>
      <p:sp>
        <p:nvSpPr>
          <p:cNvPr id="49" name="TextBox 48"/>
          <p:cNvSpPr txBox="1"/>
          <p:nvPr/>
        </p:nvSpPr>
        <p:spPr>
          <a:xfrm>
            <a:off x="2501060" y="6484944"/>
            <a:ext cx="386731" cy="143640"/>
          </a:xfrm>
          <a:prstGeom prst="rect">
            <a:avLst/>
          </a:prstGeom>
          <a:noFill/>
        </p:spPr>
        <p:txBody>
          <a:bodyPr wrap="none" lIns="0" rIns="0" tIns="0" bIns="0" anchor="t"/>
          <a:lstStyle/>
          <a:p>
            <a:pPr algn="l">
              <a:lnSpc>
                <a:spcPts val="1107"/>
              </a:lnSpc>
            </a:pPr>
            <a:r>
              <a:rPr sz="922" b="0" i="0">
                <a:solidFill>
                  <a:srgbClr val="5A82A0"/>
                </a:solidFill>
                <a:latin typeface="Versos"/>
              </a:rPr>
              <a:t>2,80%</a:t>
            </a:r>
          </a:p>
        </p:txBody>
      </p:sp>
      <p:sp>
        <p:nvSpPr>
          <p:cNvPr id="50" name="TextBox 49"/>
          <p:cNvSpPr txBox="1"/>
          <p:nvPr/>
        </p:nvSpPr>
        <p:spPr>
          <a:xfrm>
            <a:off x="400680" y="6919171"/>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51" name="TextBox 50"/>
          <p:cNvSpPr txBox="1"/>
          <p:nvPr/>
        </p:nvSpPr>
        <p:spPr>
          <a:xfrm>
            <a:off x="2419790" y="6917281"/>
            <a:ext cx="379975" cy="143640"/>
          </a:xfrm>
          <a:prstGeom prst="rect">
            <a:avLst/>
          </a:prstGeom>
          <a:noFill/>
        </p:spPr>
        <p:txBody>
          <a:bodyPr wrap="none" lIns="0" rIns="0" tIns="0" bIns="0" anchor="t"/>
          <a:lstStyle/>
          <a:p>
            <a:pPr algn="l">
              <a:lnSpc>
                <a:spcPts val="1107"/>
              </a:lnSpc>
            </a:pPr>
            <a:r>
              <a:rPr sz="922" b="0" i="0">
                <a:solidFill>
                  <a:srgbClr val="5A82A0"/>
                </a:solidFill>
                <a:latin typeface="Versos"/>
              </a:rPr>
              <a:t>2,63%</a:t>
            </a:r>
          </a:p>
        </p:txBody>
      </p:sp>
      <p:sp>
        <p:nvSpPr>
          <p:cNvPr id="52" name="TextBox 51"/>
          <p:cNvSpPr txBox="1"/>
          <p:nvPr/>
        </p:nvSpPr>
        <p:spPr>
          <a:xfrm>
            <a:off x="400680" y="73515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53" name="TextBox 52"/>
          <p:cNvSpPr txBox="1"/>
          <p:nvPr/>
        </p:nvSpPr>
        <p:spPr>
          <a:xfrm>
            <a:off x="2293987" y="7349619"/>
            <a:ext cx="382923" cy="143640"/>
          </a:xfrm>
          <a:prstGeom prst="rect">
            <a:avLst/>
          </a:prstGeom>
          <a:noFill/>
        </p:spPr>
        <p:txBody>
          <a:bodyPr wrap="none" lIns="0" rIns="0" tIns="0" bIns="0" anchor="t"/>
          <a:lstStyle/>
          <a:p>
            <a:pPr algn="l">
              <a:lnSpc>
                <a:spcPts val="1107"/>
              </a:lnSpc>
            </a:pPr>
            <a:r>
              <a:rPr sz="922" b="0" i="0">
                <a:solidFill>
                  <a:srgbClr val="5A82A0"/>
                </a:solidFill>
                <a:latin typeface="Versos"/>
              </a:rPr>
              <a:t>2,36%</a:t>
            </a:r>
          </a:p>
        </p:txBody>
      </p:sp>
      <p:sp>
        <p:nvSpPr>
          <p:cNvPr id="54" name="TextBox 53"/>
          <p:cNvSpPr txBox="1"/>
          <p:nvPr/>
        </p:nvSpPr>
        <p:spPr>
          <a:xfrm>
            <a:off x="400680" y="784928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5" name="TextBox 54"/>
          <p:cNvSpPr txBox="1"/>
          <p:nvPr/>
        </p:nvSpPr>
        <p:spPr>
          <a:xfrm>
            <a:off x="400680" y="825292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6" name="TextBox 55"/>
          <p:cNvSpPr txBox="1"/>
          <p:nvPr/>
        </p:nvSpPr>
        <p:spPr>
          <a:xfrm>
            <a:off x="2960448" y="8251031"/>
            <a:ext cx="428500" cy="143640"/>
          </a:xfrm>
          <a:prstGeom prst="rect">
            <a:avLst/>
          </a:prstGeom>
          <a:noFill/>
        </p:spPr>
        <p:txBody>
          <a:bodyPr wrap="none" lIns="0" rIns="0" tIns="0" bIns="0" anchor="t"/>
          <a:lstStyle/>
          <a:p>
            <a:pPr algn="l">
              <a:lnSpc>
                <a:spcPts val="1142"/>
              </a:lnSpc>
            </a:pPr>
            <a:r>
              <a:rPr sz="952" b="0" i="0">
                <a:solidFill>
                  <a:srgbClr val="111111"/>
                </a:solidFill>
                <a:latin typeface="Versos"/>
              </a:rPr>
              <a:t>32,12%</a:t>
            </a:r>
          </a:p>
        </p:txBody>
      </p:sp>
      <p:sp>
        <p:nvSpPr>
          <p:cNvPr id="57" name="TextBox 56"/>
          <p:cNvSpPr txBox="1"/>
          <p:nvPr/>
        </p:nvSpPr>
        <p:spPr>
          <a:xfrm>
            <a:off x="400680" y="85170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8" name="TextBox 57"/>
          <p:cNvSpPr txBox="1"/>
          <p:nvPr/>
        </p:nvSpPr>
        <p:spPr>
          <a:xfrm>
            <a:off x="1403206" y="8515158"/>
            <a:ext cx="395822" cy="143640"/>
          </a:xfrm>
          <a:prstGeom prst="rect">
            <a:avLst/>
          </a:prstGeom>
          <a:noFill/>
        </p:spPr>
        <p:txBody>
          <a:bodyPr wrap="none" lIns="0" rIns="0" tIns="0" bIns="0" anchor="t"/>
          <a:lstStyle/>
          <a:p>
            <a:pPr algn="l">
              <a:lnSpc>
                <a:spcPts val="1142"/>
              </a:lnSpc>
            </a:pPr>
            <a:r>
              <a:rPr sz="952" b="0" i="0">
                <a:solidFill>
                  <a:srgbClr val="111111"/>
                </a:solidFill>
                <a:latin typeface="Versos"/>
              </a:rPr>
              <a:t>6,03%</a:t>
            </a:r>
          </a:p>
        </p:txBody>
      </p:sp>
      <p:sp>
        <p:nvSpPr>
          <p:cNvPr id="59" name="TextBox 58"/>
          <p:cNvSpPr txBox="1"/>
          <p:nvPr/>
        </p:nvSpPr>
        <p:spPr>
          <a:xfrm>
            <a:off x="400680" y="87811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0" name="TextBox 59"/>
          <p:cNvSpPr txBox="1"/>
          <p:nvPr/>
        </p:nvSpPr>
        <p:spPr>
          <a:xfrm>
            <a:off x="1201449" y="8779286"/>
            <a:ext cx="388083" cy="143640"/>
          </a:xfrm>
          <a:prstGeom prst="rect">
            <a:avLst/>
          </a:prstGeom>
          <a:noFill/>
        </p:spPr>
        <p:txBody>
          <a:bodyPr wrap="none" lIns="0" rIns="0" tIns="0" bIns="0" anchor="t"/>
          <a:lstStyle/>
          <a:p>
            <a:pPr algn="l">
              <a:lnSpc>
                <a:spcPts val="1142"/>
              </a:lnSpc>
            </a:pPr>
            <a:r>
              <a:rPr sz="952" b="0" i="0">
                <a:solidFill>
                  <a:srgbClr val="111111"/>
                </a:solidFill>
                <a:latin typeface="Versos"/>
              </a:rPr>
              <a:t>2,65%</a:t>
            </a:r>
          </a:p>
        </p:txBody>
      </p:sp>
      <p:sp>
        <p:nvSpPr>
          <p:cNvPr id="61" name="TextBox 60"/>
          <p:cNvSpPr txBox="1"/>
          <p:nvPr/>
        </p:nvSpPr>
        <p:spPr>
          <a:xfrm>
            <a:off x="400680" y="904530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2" name="TextBox 61"/>
          <p:cNvSpPr txBox="1"/>
          <p:nvPr/>
        </p:nvSpPr>
        <p:spPr>
          <a:xfrm>
            <a:off x="1196133" y="9043413"/>
            <a:ext cx="392997" cy="143640"/>
          </a:xfrm>
          <a:prstGeom prst="rect">
            <a:avLst/>
          </a:prstGeom>
          <a:noFill/>
        </p:spPr>
        <p:txBody>
          <a:bodyPr wrap="none" lIns="0" rIns="0" tIns="0" bIns="0" anchor="t"/>
          <a:lstStyle/>
          <a:p>
            <a:pPr algn="l">
              <a:lnSpc>
                <a:spcPts val="1142"/>
              </a:lnSpc>
            </a:pPr>
            <a:r>
              <a:rPr sz="952" b="0" i="0">
                <a:solidFill>
                  <a:srgbClr val="111111"/>
                </a:solidFill>
                <a:latin typeface="Versos"/>
              </a:rPr>
              <a:t>2,56%</a:t>
            </a:r>
          </a:p>
        </p:txBody>
      </p:sp>
      <p:sp>
        <p:nvSpPr>
          <p:cNvPr id="63" name="TextBox 62"/>
          <p:cNvSpPr txBox="1"/>
          <p:nvPr/>
        </p:nvSpPr>
        <p:spPr>
          <a:xfrm>
            <a:off x="400680" y="930943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4" name="TextBox 63"/>
          <p:cNvSpPr txBox="1"/>
          <p:nvPr/>
        </p:nvSpPr>
        <p:spPr>
          <a:xfrm>
            <a:off x="1189636" y="9307541"/>
            <a:ext cx="390908" cy="143640"/>
          </a:xfrm>
          <a:prstGeom prst="rect">
            <a:avLst/>
          </a:prstGeom>
          <a:noFill/>
        </p:spPr>
        <p:txBody>
          <a:bodyPr wrap="none" lIns="0" rIns="0" tIns="0" bIns="0" anchor="t"/>
          <a:lstStyle/>
          <a:p>
            <a:pPr algn="l">
              <a:lnSpc>
                <a:spcPts val="1142"/>
              </a:lnSpc>
            </a:pPr>
            <a:r>
              <a:rPr sz="952" b="0" i="0">
                <a:solidFill>
                  <a:srgbClr val="111111"/>
                </a:solidFill>
                <a:latin typeface="Versos"/>
              </a:rPr>
              <a:t>2,45%</a:t>
            </a:r>
          </a:p>
        </p:txBody>
      </p:sp>
      <p:sp>
        <p:nvSpPr>
          <p:cNvPr id="65" name="TextBox 64"/>
          <p:cNvSpPr txBox="1"/>
          <p:nvPr/>
        </p:nvSpPr>
        <p:spPr>
          <a:xfrm>
            <a:off x="400680" y="957355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6" name="TextBox 65"/>
          <p:cNvSpPr txBox="1"/>
          <p:nvPr/>
        </p:nvSpPr>
        <p:spPr>
          <a:xfrm>
            <a:off x="1114391" y="9571668"/>
            <a:ext cx="323955" cy="143640"/>
          </a:xfrm>
          <a:prstGeom prst="rect">
            <a:avLst/>
          </a:prstGeom>
          <a:noFill/>
        </p:spPr>
        <p:txBody>
          <a:bodyPr wrap="none" lIns="0" rIns="0" tIns="0" bIns="0" anchor="t"/>
          <a:lstStyle/>
          <a:p>
            <a:pPr algn="l">
              <a:lnSpc>
                <a:spcPts val="1142"/>
              </a:lnSpc>
            </a:pPr>
            <a:r>
              <a:rPr sz="952" b="0" i="0">
                <a:solidFill>
                  <a:srgbClr val="111111"/>
                </a:solidFill>
                <a:latin typeface="Versos"/>
              </a:rPr>
              <a:t>1,19%</a:t>
            </a:r>
          </a:p>
        </p:txBody>
      </p:sp>
      <p:sp>
        <p:nvSpPr>
          <p:cNvPr id="67" name="TextBox 66"/>
          <p:cNvSpPr txBox="1"/>
          <p:nvPr/>
        </p:nvSpPr>
        <p:spPr>
          <a:xfrm>
            <a:off x="400680" y="98376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68" name="TextBox 67"/>
          <p:cNvSpPr txBox="1"/>
          <p:nvPr/>
        </p:nvSpPr>
        <p:spPr>
          <a:xfrm>
            <a:off x="1077772" y="9835796"/>
            <a:ext cx="397788" cy="143640"/>
          </a:xfrm>
          <a:prstGeom prst="rect">
            <a:avLst/>
          </a:prstGeom>
          <a:noFill/>
        </p:spPr>
        <p:txBody>
          <a:bodyPr wrap="none" lIns="0" rIns="0" tIns="0" bIns="0" anchor="t"/>
          <a:lstStyle/>
          <a:p>
            <a:pPr algn="l">
              <a:lnSpc>
                <a:spcPts val="1142"/>
              </a:lnSpc>
            </a:pPr>
            <a:r>
              <a:rPr sz="952" b="0" i="0">
                <a:solidFill>
                  <a:srgbClr val="111111"/>
                </a:solidFill>
                <a:latin typeface="Versos"/>
              </a:rPr>
              <a:t>0,58%</a:t>
            </a:r>
          </a:p>
        </p:txBody>
      </p:sp>
      <p:sp>
        <p:nvSpPr>
          <p:cNvPr id="69" name="TextBox 68"/>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70" name="TextBox 69"/>
          <p:cNvSpPr txBox="1"/>
          <p:nvPr/>
        </p:nvSpPr>
        <p:spPr>
          <a:xfrm>
            <a:off x="3802680" y="554608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1" name="TextBox 70"/>
          <p:cNvSpPr txBox="1"/>
          <p:nvPr/>
        </p:nvSpPr>
        <p:spPr>
          <a:xfrm>
            <a:off x="6752497" y="5538408"/>
            <a:ext cx="479729" cy="143640"/>
          </a:xfrm>
          <a:prstGeom prst="rect">
            <a:avLst/>
          </a:prstGeom>
          <a:noFill/>
        </p:spPr>
        <p:txBody>
          <a:bodyPr wrap="none" lIns="0" rIns="0" tIns="0" bIns="0" anchor="t"/>
          <a:lstStyle/>
          <a:p>
            <a:pPr algn="l">
              <a:lnSpc>
                <a:spcPts val="1142"/>
              </a:lnSpc>
            </a:pPr>
            <a:r>
              <a:rPr sz="952" b="0" i="0">
                <a:solidFill>
                  <a:srgbClr val="111111"/>
                </a:solidFill>
                <a:latin typeface="Versos"/>
              </a:rPr>
              <a:t>30,50%</a:t>
            </a:r>
          </a:p>
        </p:txBody>
      </p:sp>
      <p:sp>
        <p:nvSpPr>
          <p:cNvPr id="72" name="TextBox 71"/>
          <p:cNvSpPr txBox="1"/>
          <p:nvPr/>
        </p:nvSpPr>
        <p:spPr>
          <a:xfrm>
            <a:off x="3802680" y="581458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3" name="TextBox 72"/>
          <p:cNvSpPr txBox="1"/>
          <p:nvPr/>
        </p:nvSpPr>
        <p:spPr>
          <a:xfrm>
            <a:off x="6602006" y="5806788"/>
            <a:ext cx="473095" cy="143640"/>
          </a:xfrm>
          <a:prstGeom prst="rect">
            <a:avLst/>
          </a:prstGeom>
          <a:noFill/>
        </p:spPr>
        <p:txBody>
          <a:bodyPr wrap="none" lIns="0" rIns="0" tIns="0" bIns="0" anchor="t"/>
          <a:lstStyle/>
          <a:p>
            <a:pPr algn="l">
              <a:lnSpc>
                <a:spcPts val="1142"/>
              </a:lnSpc>
            </a:pPr>
            <a:r>
              <a:rPr sz="952" b="0" i="0">
                <a:solidFill>
                  <a:srgbClr val="111111"/>
                </a:solidFill>
                <a:latin typeface="Versos"/>
              </a:rPr>
              <a:t>26,86%</a:t>
            </a:r>
          </a:p>
        </p:txBody>
      </p:sp>
      <p:sp>
        <p:nvSpPr>
          <p:cNvPr id="74" name="TextBox 73"/>
          <p:cNvSpPr txBox="1"/>
          <p:nvPr/>
        </p:nvSpPr>
        <p:spPr>
          <a:xfrm>
            <a:off x="3802680" y="608296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5" name="TextBox 74"/>
          <p:cNvSpPr txBox="1"/>
          <p:nvPr/>
        </p:nvSpPr>
        <p:spPr>
          <a:xfrm>
            <a:off x="5678741" y="6075286"/>
            <a:ext cx="397665" cy="143640"/>
          </a:xfrm>
          <a:prstGeom prst="rect">
            <a:avLst/>
          </a:prstGeom>
          <a:noFill/>
        </p:spPr>
        <p:txBody>
          <a:bodyPr wrap="none" lIns="0" rIns="0" tIns="0" bIns="0" anchor="t"/>
          <a:lstStyle/>
          <a:p>
            <a:pPr algn="l">
              <a:lnSpc>
                <a:spcPts val="1142"/>
              </a:lnSpc>
            </a:pPr>
            <a:r>
              <a:rPr sz="952" b="0" i="0">
                <a:solidFill>
                  <a:srgbClr val="111111"/>
                </a:solidFill>
                <a:latin typeface="Versos"/>
              </a:rPr>
              <a:t>4,59%</a:t>
            </a:r>
          </a:p>
        </p:txBody>
      </p:sp>
      <p:sp>
        <p:nvSpPr>
          <p:cNvPr id="76" name="TextBox 75"/>
          <p:cNvSpPr txBox="1"/>
          <p:nvPr/>
        </p:nvSpPr>
        <p:spPr>
          <a:xfrm>
            <a:off x="3802680" y="635146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7" name="TextBox 76"/>
          <p:cNvSpPr txBox="1"/>
          <p:nvPr/>
        </p:nvSpPr>
        <p:spPr>
          <a:xfrm>
            <a:off x="5632436" y="6343666"/>
            <a:ext cx="383783" cy="143640"/>
          </a:xfrm>
          <a:prstGeom prst="rect">
            <a:avLst/>
          </a:prstGeom>
          <a:noFill/>
        </p:spPr>
        <p:txBody>
          <a:bodyPr wrap="none" lIns="0" rIns="0" tIns="0" bIns="0" anchor="t"/>
          <a:lstStyle/>
          <a:p>
            <a:pPr algn="l">
              <a:lnSpc>
                <a:spcPts val="1142"/>
              </a:lnSpc>
            </a:pPr>
            <a:r>
              <a:rPr sz="952" b="0" i="0">
                <a:solidFill>
                  <a:srgbClr val="111111"/>
                </a:solidFill>
                <a:latin typeface="Versos"/>
              </a:rPr>
              <a:t>3,47%</a:t>
            </a:r>
          </a:p>
        </p:txBody>
      </p:sp>
      <p:sp>
        <p:nvSpPr>
          <p:cNvPr id="78" name="TextBox 77"/>
          <p:cNvSpPr txBox="1"/>
          <p:nvPr/>
        </p:nvSpPr>
        <p:spPr>
          <a:xfrm>
            <a:off x="3802680" y="661984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9" name="TextBox 78"/>
          <p:cNvSpPr txBox="1"/>
          <p:nvPr/>
        </p:nvSpPr>
        <p:spPr>
          <a:xfrm>
            <a:off x="5592037" y="6612165"/>
            <a:ext cx="395577" cy="143640"/>
          </a:xfrm>
          <a:prstGeom prst="rect">
            <a:avLst/>
          </a:prstGeom>
          <a:noFill/>
        </p:spPr>
        <p:txBody>
          <a:bodyPr wrap="none" lIns="0" rIns="0" tIns="0" bIns="0" anchor="t"/>
          <a:lstStyle/>
          <a:p>
            <a:pPr algn="l">
              <a:lnSpc>
                <a:spcPts val="1142"/>
              </a:lnSpc>
            </a:pPr>
            <a:r>
              <a:rPr sz="952" b="0" i="0">
                <a:solidFill>
                  <a:srgbClr val="111111"/>
                </a:solidFill>
                <a:latin typeface="Versos"/>
              </a:rPr>
              <a:t>2,50%</a:t>
            </a:r>
          </a:p>
        </p:txBody>
      </p:sp>
      <p:sp>
        <p:nvSpPr>
          <p:cNvPr id="80" name="TextBox 79"/>
          <p:cNvSpPr txBox="1"/>
          <p:nvPr/>
        </p:nvSpPr>
        <p:spPr>
          <a:xfrm>
            <a:off x="3802680" y="6888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1" name="TextBox 80"/>
          <p:cNvSpPr txBox="1"/>
          <p:nvPr/>
        </p:nvSpPr>
        <p:spPr>
          <a:xfrm>
            <a:off x="5588966" y="6880545"/>
            <a:ext cx="391645" cy="143640"/>
          </a:xfrm>
          <a:prstGeom prst="rect">
            <a:avLst/>
          </a:prstGeom>
          <a:noFill/>
        </p:spPr>
        <p:txBody>
          <a:bodyPr wrap="none" lIns="0" rIns="0" tIns="0" bIns="0" anchor="t"/>
          <a:lstStyle/>
          <a:p>
            <a:pPr algn="l">
              <a:lnSpc>
                <a:spcPts val="1142"/>
              </a:lnSpc>
            </a:pPr>
            <a:r>
              <a:rPr sz="952" b="0" i="0">
                <a:solidFill>
                  <a:srgbClr val="111111"/>
                </a:solidFill>
                <a:latin typeface="Versos"/>
              </a:rPr>
              <a:t>2,42%</a:t>
            </a:r>
          </a:p>
        </p:txBody>
      </p:sp>
      <p:sp>
        <p:nvSpPr>
          <p:cNvPr id="82" name="TextBox 81"/>
          <p:cNvSpPr txBox="1"/>
          <p:nvPr/>
        </p:nvSpPr>
        <p:spPr>
          <a:xfrm>
            <a:off x="3802680" y="715672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3" name="TextBox 82"/>
          <p:cNvSpPr txBox="1"/>
          <p:nvPr/>
        </p:nvSpPr>
        <p:spPr>
          <a:xfrm>
            <a:off x="5554828" y="7149043"/>
            <a:ext cx="367321" cy="143640"/>
          </a:xfrm>
          <a:prstGeom prst="rect">
            <a:avLst/>
          </a:prstGeom>
          <a:noFill/>
        </p:spPr>
        <p:txBody>
          <a:bodyPr wrap="none" lIns="0" rIns="0" tIns="0" bIns="0" anchor="t"/>
          <a:lstStyle/>
          <a:p>
            <a:pPr algn="l">
              <a:lnSpc>
                <a:spcPts val="1142"/>
              </a:lnSpc>
            </a:pPr>
            <a:r>
              <a:rPr sz="952" b="0" i="0">
                <a:solidFill>
                  <a:srgbClr val="111111"/>
                </a:solidFill>
                <a:latin typeface="Versos"/>
              </a:rPr>
              <a:t>1,60%</a:t>
            </a:r>
          </a:p>
        </p:txBody>
      </p:sp>
      <p:sp>
        <p:nvSpPr>
          <p:cNvPr id="84" name="TextBox 83"/>
          <p:cNvSpPr txBox="1"/>
          <p:nvPr/>
        </p:nvSpPr>
        <p:spPr>
          <a:xfrm>
            <a:off x="3802680" y="742521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5" name="TextBox 84"/>
          <p:cNvSpPr txBox="1"/>
          <p:nvPr/>
        </p:nvSpPr>
        <p:spPr>
          <a:xfrm>
            <a:off x="5530494" y="7417423"/>
            <a:ext cx="326535" cy="143640"/>
          </a:xfrm>
          <a:prstGeom prst="rect">
            <a:avLst/>
          </a:prstGeom>
          <a:noFill/>
        </p:spPr>
        <p:txBody>
          <a:bodyPr wrap="none" lIns="0" rIns="0" tIns="0" bIns="0" anchor="t"/>
          <a:lstStyle/>
          <a:p>
            <a:pPr algn="l">
              <a:lnSpc>
                <a:spcPts val="1142"/>
              </a:lnSpc>
            </a:pPr>
            <a:r>
              <a:rPr sz="952" b="0" i="0">
                <a:solidFill>
                  <a:srgbClr val="111111"/>
                </a:solidFill>
                <a:latin typeface="Versos"/>
              </a:rPr>
              <a:t>1,01%</a:t>
            </a:r>
          </a:p>
        </p:txBody>
      </p:sp>
      <p:sp>
        <p:nvSpPr>
          <p:cNvPr id="86" name="TextBox 85"/>
          <p:cNvSpPr txBox="1"/>
          <p:nvPr/>
        </p:nvSpPr>
        <p:spPr>
          <a:xfrm>
            <a:off x="3802680" y="769359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87" name="TextBox 86"/>
          <p:cNvSpPr txBox="1"/>
          <p:nvPr/>
        </p:nvSpPr>
        <p:spPr>
          <a:xfrm>
            <a:off x="5523997" y="7685921"/>
            <a:ext cx="400368" cy="143640"/>
          </a:xfrm>
          <a:prstGeom prst="rect">
            <a:avLst/>
          </a:prstGeom>
          <a:noFill/>
        </p:spPr>
        <p:txBody>
          <a:bodyPr wrap="none" lIns="0" rIns="0" tIns="0" bIns="0" anchor="t"/>
          <a:lstStyle/>
          <a:p>
            <a:pPr algn="l">
              <a:lnSpc>
                <a:spcPts val="1142"/>
              </a:lnSpc>
            </a:pPr>
            <a:r>
              <a:rPr sz="952" b="0" i="0">
                <a:solidFill>
                  <a:srgbClr val="111111"/>
                </a:solidFill>
                <a:latin typeface="Versos"/>
              </a:rPr>
              <a:t>0,86%</a:t>
            </a:r>
          </a:p>
        </p:txBody>
      </p:sp>
      <p:sp>
        <p:nvSpPr>
          <p:cNvPr id="88" name="TextBox 87"/>
          <p:cNvSpPr txBox="1"/>
          <p:nvPr/>
        </p:nvSpPr>
        <p:spPr>
          <a:xfrm>
            <a:off x="3802680" y="7905515"/>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9" name="TextBox 88"/>
          <p:cNvSpPr txBox="1"/>
          <p:nvPr/>
        </p:nvSpPr>
        <p:spPr>
          <a:xfrm>
            <a:off x="5519508" y="7954301"/>
            <a:ext cx="379237" cy="143640"/>
          </a:xfrm>
          <a:prstGeom prst="rect">
            <a:avLst/>
          </a:prstGeom>
          <a:noFill/>
        </p:spPr>
        <p:txBody>
          <a:bodyPr wrap="none" lIns="0" rIns="0" tIns="0" bIns="0" anchor="t"/>
          <a:lstStyle/>
          <a:p>
            <a:pPr algn="l">
              <a:lnSpc>
                <a:spcPts val="1142"/>
              </a:lnSpc>
            </a:pPr>
            <a:r>
              <a:rPr sz="952" b="0" i="0">
                <a:solidFill>
                  <a:srgbClr val="111111"/>
                </a:solidFill>
                <a:latin typeface="Versos"/>
              </a:rPr>
              <a:t>0,75%</a:t>
            </a:r>
          </a:p>
        </p:txBody>
      </p:sp>
      <p:sp>
        <p:nvSpPr>
          <p:cNvPr id="90" name="TextBox 89"/>
          <p:cNvSpPr txBox="1"/>
          <p:nvPr/>
        </p:nvSpPr>
        <p:spPr>
          <a:xfrm>
            <a:off x="3802680" y="82304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91" name="TextBox 90"/>
          <p:cNvSpPr txBox="1"/>
          <p:nvPr/>
        </p:nvSpPr>
        <p:spPr>
          <a:xfrm>
            <a:off x="5504625" y="8222799"/>
            <a:ext cx="399016" cy="143640"/>
          </a:xfrm>
          <a:prstGeom prst="rect">
            <a:avLst/>
          </a:prstGeom>
          <a:noFill/>
        </p:spPr>
        <p:txBody>
          <a:bodyPr wrap="none" lIns="0" rIns="0" tIns="0" bIns="0" anchor="t"/>
          <a:lstStyle/>
          <a:p>
            <a:pPr algn="l">
              <a:lnSpc>
                <a:spcPts val="1142"/>
              </a:lnSpc>
            </a:pPr>
            <a:r>
              <a:rPr sz="952" b="0" i="0">
                <a:solidFill>
                  <a:srgbClr val="111111"/>
                </a:solidFill>
                <a:latin typeface="Versos"/>
              </a:rPr>
              <a:t>0,39%</a:t>
            </a:r>
          </a:p>
        </p:txBody>
      </p:sp>
      <p:sp>
        <p:nvSpPr>
          <p:cNvPr id="92" name="TextBox 91"/>
          <p:cNvSpPr txBox="1"/>
          <p:nvPr/>
        </p:nvSpPr>
        <p:spPr>
          <a:xfrm>
            <a:off x="3802680" y="84989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3" name="TextBox 92"/>
          <p:cNvSpPr txBox="1"/>
          <p:nvPr/>
        </p:nvSpPr>
        <p:spPr>
          <a:xfrm>
            <a:off x="5501790" y="8491179"/>
            <a:ext cx="392751" cy="143640"/>
          </a:xfrm>
          <a:prstGeom prst="rect">
            <a:avLst/>
          </a:prstGeom>
          <a:noFill/>
        </p:spPr>
        <p:txBody>
          <a:bodyPr wrap="none" lIns="0" rIns="0" tIns="0" bIns="0" anchor="t"/>
          <a:lstStyle/>
          <a:p>
            <a:pPr algn="l">
              <a:lnSpc>
                <a:spcPts val="1142"/>
              </a:lnSpc>
            </a:pPr>
            <a:r>
              <a:rPr sz="952" b="0" i="0">
                <a:solidFill>
                  <a:srgbClr val="111111"/>
                </a:solidFill>
                <a:latin typeface="Versos"/>
              </a:rPr>
              <a:t>0,32%</a:t>
            </a:r>
          </a:p>
        </p:txBody>
      </p:sp>
      <p:sp>
        <p:nvSpPr>
          <p:cNvPr id="94" name="TextBox 93"/>
          <p:cNvSpPr txBox="1"/>
          <p:nvPr/>
        </p:nvSpPr>
        <p:spPr>
          <a:xfrm>
            <a:off x="3802680" y="87673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95" name="TextBox 94"/>
          <p:cNvSpPr txBox="1"/>
          <p:nvPr/>
        </p:nvSpPr>
        <p:spPr>
          <a:xfrm>
            <a:off x="5500608" y="8759677"/>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0,29%</a:t>
            </a:r>
          </a:p>
        </p:txBody>
      </p:sp>
      <p:sp>
        <p:nvSpPr>
          <p:cNvPr id="96" name="TextBox 95"/>
          <p:cNvSpPr txBox="1"/>
          <p:nvPr/>
        </p:nvSpPr>
        <p:spPr>
          <a:xfrm>
            <a:off x="3802680" y="903585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7" name="TextBox 96"/>
          <p:cNvSpPr txBox="1"/>
          <p:nvPr/>
        </p:nvSpPr>
        <p:spPr>
          <a:xfrm>
            <a:off x="5499191" y="9028057"/>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0,26%</a:t>
            </a:r>
          </a:p>
        </p:txBody>
      </p:sp>
      <p:sp>
        <p:nvSpPr>
          <p:cNvPr id="98" name="TextBox 97"/>
          <p:cNvSpPr txBox="1"/>
          <p:nvPr/>
        </p:nvSpPr>
        <p:spPr>
          <a:xfrm>
            <a:off x="3802680" y="930435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99" name="TextBox 98"/>
          <p:cNvSpPr txBox="1"/>
          <p:nvPr/>
        </p:nvSpPr>
        <p:spPr>
          <a:xfrm>
            <a:off x="5498010" y="9296555"/>
            <a:ext cx="350859" cy="143640"/>
          </a:xfrm>
          <a:prstGeom prst="rect">
            <a:avLst/>
          </a:prstGeom>
          <a:noFill/>
        </p:spPr>
        <p:txBody>
          <a:bodyPr wrap="none" lIns="0" rIns="0" tIns="0" bIns="0" anchor="t"/>
          <a:lstStyle/>
          <a:p>
            <a:pPr algn="l">
              <a:lnSpc>
                <a:spcPts val="1142"/>
              </a:lnSpc>
            </a:pPr>
            <a:r>
              <a:rPr sz="952" b="0" i="0">
                <a:solidFill>
                  <a:srgbClr val="111111"/>
                </a:solidFill>
                <a:latin typeface="Versos"/>
              </a:rPr>
              <a:t>0,15%</a:t>
            </a:r>
          </a:p>
        </p:txBody>
      </p:sp>
      <p:sp>
        <p:nvSpPr>
          <p:cNvPr id="100" name="TextBox 99"/>
          <p:cNvSpPr txBox="1"/>
          <p:nvPr/>
        </p:nvSpPr>
        <p:spPr>
          <a:xfrm>
            <a:off x="3802680" y="95728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101" name="TextBox 100"/>
          <p:cNvSpPr txBox="1"/>
          <p:nvPr/>
        </p:nvSpPr>
        <p:spPr>
          <a:xfrm>
            <a:off x="5498010" y="9565053"/>
            <a:ext cx="360319" cy="143640"/>
          </a:xfrm>
          <a:prstGeom prst="rect">
            <a:avLst/>
          </a:prstGeom>
          <a:noFill/>
        </p:spPr>
        <p:txBody>
          <a:bodyPr wrap="none" lIns="0" rIns="0" tIns="0" bIns="0" anchor="t"/>
          <a:lstStyle/>
          <a:p>
            <a:pPr algn="l">
              <a:lnSpc>
                <a:spcPts val="1142"/>
              </a:lnSpc>
            </a:pPr>
            <a:r>
              <a:rPr sz="952" b="0" i="0">
                <a:solidFill>
                  <a:srgbClr val="111111"/>
                </a:solidFill>
                <a:latin typeface="Versos"/>
              </a:rPr>
              <a:t>0,10%</a:t>
            </a:r>
          </a:p>
        </p:txBody>
      </p:sp>
      <p:sp>
        <p:nvSpPr>
          <p:cNvPr id="102" name="TextBox 101"/>
          <p:cNvSpPr txBox="1"/>
          <p:nvPr/>
        </p:nvSpPr>
        <p:spPr>
          <a:xfrm>
            <a:off x="3802680" y="984134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3" name="TextBox 102"/>
          <p:cNvSpPr txBox="1"/>
          <p:nvPr/>
        </p:nvSpPr>
        <p:spPr>
          <a:xfrm>
            <a:off x="5498010" y="9833551"/>
            <a:ext cx="403562" cy="143640"/>
          </a:xfrm>
          <a:prstGeom prst="rect">
            <a:avLst/>
          </a:prstGeom>
          <a:noFill/>
        </p:spPr>
        <p:txBody>
          <a:bodyPr wrap="none" lIns="0" rIns="0" tIns="0" bIns="0" anchor="t"/>
          <a:lstStyle/>
          <a:p>
            <a:pPr algn="l">
              <a:lnSpc>
                <a:spcPts val="1142"/>
              </a:lnSpc>
            </a:pPr>
            <a:r>
              <a:rPr sz="952" b="0" i="0">
                <a:solidFill>
                  <a:srgbClr val="111111"/>
                </a:solidFill>
                <a:latin typeface="Versos"/>
              </a:rPr>
              <a:t>0,00%</a:t>
            </a:r>
          </a:p>
        </p:txBody>
      </p:sp>
      <p:sp>
        <p:nvSpPr>
          <p:cNvPr id="104" name="TextBox 103"/>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67284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6" name="TextBox 5"/>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7" name="TextBox 6"/>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8" name="TextBox 7"/>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9" name="TextBox 8"/>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10" name="TextBox 9"/>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1" name="TextBox 10"/>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2" name="TextBox 11"/>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3" name="TextBox 12"/>
          <p:cNvSpPr txBox="1"/>
          <p:nvPr/>
        </p:nvSpPr>
        <p:spPr>
          <a:xfrm>
            <a:off x="529200" y="9348294"/>
            <a:ext cx="6501600" cy="259756"/>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Tivio BVP apresentou rentabilidade de 1,10% no mês (100% do CDI), acumulando 9,39% (101% do CDI) no ano. Na parcela de corporativos, os maiores atribuidores de resultado foram para BRK e Randon, enquanto Hapvida foi o maior detrator.</a:t>
            </a:r>
          </a:p>
        </p:txBody>
      </p:sp>
      <p:sp>
        <p:nvSpPr>
          <p:cNvPr id="14" name="TextBox 13"/>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67284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6" name="TextBox 5"/>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7" name="TextBox 6"/>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8" name="TextBox 7"/>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9" name="TextBox 8"/>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10" name="TextBox 9"/>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1" name="TextBox 10"/>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2" name="TextBox 11"/>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3" name="TextBox 12"/>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4" name="TextBox 13"/>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5" name="TextBox 14"/>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6" name="TextBox 15"/>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7" name="TextBox 16"/>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8" name="TextBox 17"/>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9" name="TextBox 18"/>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20" name="TextBox 19"/>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1" name="TextBox 20"/>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2" name="TextBox 21"/>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3" name="TextBox 22"/>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4" name="TextBox 23"/>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5" name="TextBox 24"/>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6" name="TextBox 25"/>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7" name="TextBox 26"/>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8" name="TextBox 27"/>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30" name="TextBox 29"/>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1" name="TextBox 30"/>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2" name="TextBox 31"/>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3" name="TextBox 32"/>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4" name="TextBox 33"/>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5" name="TextBox 34"/>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6" name="TextBox 35"/>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7" name="TextBox 36"/>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8" name="TextBox 37"/>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9" name="TextBox 38"/>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40" name="TextBox 39"/>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1" name="TextBox 40"/>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2" name="TextBox 41"/>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3" name="TextBox 42"/>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4" name="TextBox 43"/>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5" name="TextBox 44"/>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6" name="TextBox 45"/>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7" name="TextBox 46"/>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8" name="TextBox 47"/>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9" name="TextBox 48"/>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50" name="TextBox 49"/>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1" name="TextBox 50"/>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2" name="TextBox 51"/>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3" name="TextBox 52"/>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4" name="TextBox 53"/>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5" name="TextBox 54"/>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6" name="TextBox 55"/>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7" name="TextBox 56"/>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8" name="TextBox 57"/>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9" name="TextBox 58"/>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60" name="TextBox 59"/>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1" name="TextBox 60"/>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2" name="TextBox 61"/>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3" name="TextBox 62"/>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4" name="TextBox 63"/>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5" name="TextBox 64"/>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6" name="TextBox 65"/>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7" name="TextBox 66"/>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8" name="TextBox 67"/>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9" name="TextBox 68"/>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70" name="TextBox 69"/>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1" name="TextBox 70"/>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2" name="TextBox 71"/>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3" name="TextBox 72"/>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4" name="TextBox 73"/>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5" name="TextBox 74"/>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6" name="TextBox 75"/>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7" name="TextBox 76"/>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8" name="TextBox 77"/>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9" name="TextBox 78"/>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80" name="TextBox 79"/>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1" name="TextBox 80"/>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2" name="TextBox 81"/>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3" name="TextBox 82"/>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4" name="TextBox 83"/>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6" name="TextBox 85"/>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7" name="TextBox 86"/>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8" name="TextBox 87"/>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9" name="TextBox 88"/>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90" name="TextBox 89"/>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1" name="TextBox 90"/>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3" name="TextBox 92"/>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4" name="TextBox 93"/>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5" name="TextBox 94"/>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6" name="TextBox 95"/>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7" name="TextBox 96"/>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8" name="TextBox 97"/>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9" name="TextBox 98"/>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100" name="TextBox 99"/>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1" name="TextBox 100"/>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2" name="TextBox 101"/>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3" name="TextBox 102"/>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4" name="TextBox 103"/>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5" name="TextBox 104"/>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6" name="TextBox 105"/>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7" name="TextBox 106"/>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8" name="TextBox 107"/>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9" name="TextBox 108"/>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10" name="TextBox 109"/>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1" name="TextBox 110"/>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2" name="TextBox 111"/>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3" name="TextBox 112"/>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4" name="TextBox 113"/>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5" name="TextBox 114"/>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6" name="TextBox 115"/>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7" name="TextBox 116"/>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8" name="TextBox 117"/>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9" name="TextBox 118"/>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20" name="TextBox 119"/>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1" name="TextBox 120"/>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2" name="TextBox 121"/>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3" name="TextBox 122"/>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4" name="TextBox 123"/>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5" name="TextBox 124"/>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6" name="TextBox 125"/>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7" name="TextBox 126"/>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8" name="TextBox 127"/>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9" name="TextBox 128"/>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30" name="TextBox 129"/>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1" name="TextBox 130"/>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2" name="TextBox 131"/>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3" name="TextBox 132"/>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5" name="TextBox 134"/>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6" name="TextBox 135"/>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7" name="TextBox 136"/>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8" name="TextBox 137"/>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9" name="TextBox 138"/>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40" name="TextBox 139"/>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1" name="TextBox 140"/>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2" name="TextBox 141"/>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3" name="TextBox 142"/>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4" name="TextBox 143"/>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5" name="TextBox 144"/>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6" name="TextBox 145"/>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7" name="TextBox 146"/>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8" name="TextBox 147"/>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9" name="TextBox 148"/>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50" name="TextBox 149"/>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1" name="TextBox 150"/>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2" name="TextBox 151"/>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3" name="TextBox 152"/>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4" name="TextBox 153"/>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6" name="TextBox 155"/>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7" name="TextBox 156"/>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8" name="TextBox 157"/>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9" name="TextBox 158"/>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60" name="TextBox 159"/>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1" name="TextBox 160"/>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2" name="TextBox 161"/>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3" name="TextBox 162"/>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4" name="TextBox 163"/>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5" name="TextBox 164"/>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6" name="TextBox 165"/>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7" name="TextBox 166"/>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8" name="TextBox 167"/>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9" name="TextBox 168"/>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70" name="TextBox 169"/>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1" name="TextBox 170"/>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2" name="TextBox 171"/>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3" name="TextBox 172"/>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4" name="TextBox 173"/>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5" name="TextBox 174"/>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6" name="TextBox 175"/>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7" name="TextBox 176"/>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8" name="TextBox 177"/>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9" name="TextBox 178"/>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80" name="TextBox 179"/>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1" name="TextBox 180"/>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2" name="TextBox 181"/>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3" name="TextBox 182"/>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4" name="TextBox 183"/>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5" name="TextBox 184"/>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6" name="TextBox 185"/>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7" name="TextBox 186"/>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302400"/>
            <a:ext cx="1226534" cy="309960"/>
          </a:xfrm>
          <a:prstGeom prst="rect">
            <a:avLst/>
          </a:prstGeom>
          <a:noFill/>
        </p:spPr>
        <p:txBody>
          <a:bodyPr wrap="none" lIns="0" rIns="0" tIns="0" bIns="0" anchor="t"/>
          <a:lstStyle/>
          <a:p>
            <a:pPr algn="l">
              <a:lnSpc>
                <a:spcPts val="2428"/>
              </a:lnSpc>
            </a:pPr>
            <a:r>
              <a:rPr sz="2024" b="1" i="0">
                <a:solidFill>
                  <a:srgbClr val="FFFFFF"/>
                </a:solidFill>
                <a:latin typeface="Versos"/>
              </a:rPr>
              <a:t>Tivio BVP</a:t>
            </a:r>
          </a:p>
        </p:txBody>
      </p:sp>
      <p:sp>
        <p:nvSpPr>
          <p:cNvPr id="4" name="TextBox 3"/>
          <p:cNvSpPr txBox="1"/>
          <p:nvPr/>
        </p:nvSpPr>
        <p:spPr>
          <a:xfrm>
            <a:off x="400680" y="67284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6" name="TextBox 5"/>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7" name="TextBox 6"/>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8" name="TextBox 7"/>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9" name="TextBox 8"/>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10" name="TextBox 9"/>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1" name="TextBox 10"/>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09/07/2024</a:t>
            </a:r>
          </a:p>
        </p:txBody>
      </p:sp>
      <p:sp>
        <p:nvSpPr>
          <p:cNvPr id="12" name="TextBox 11"/>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3" name="TextBox 12"/>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0,29% a.a.</a:t>
            </a:r>
          </a:p>
        </p:txBody>
      </p:sp>
      <p:sp>
        <p:nvSpPr>
          <p:cNvPr id="14" name="TextBox 13"/>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5" name="TextBox 14"/>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6" name="TextBox 15"/>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7" name="TextBox 16"/>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8" name="TextBox 17"/>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9" name="TextBox 18"/>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R$ 749.130.776,26</a:t>
            </a:r>
          </a:p>
        </p:txBody>
      </p:sp>
      <p:sp>
        <p:nvSpPr>
          <p:cNvPr id="20" name="TextBox 19"/>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1" name="TextBox 20"/>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R$ 761.087.741,99</a:t>
            </a:r>
          </a:p>
        </p:txBody>
      </p:sp>
      <p:sp>
        <p:nvSpPr>
          <p:cNvPr id="22" name="TextBox 21"/>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3" name="TextBox 22"/>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30" name="TextBox 29"/>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