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0680" y="1005480"/>
            <a:ext cx="6266332" cy="173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21"/>
              </a:lnSpc>
            </a:pPr>
            <a:r>
              <a:rPr sz="1101" b="0" i="0">
                <a:solidFill>
                  <a:srgbClr val="FFFFFF"/>
                </a:solidFill>
                <a:latin typeface="Versos"/>
              </a:rPr>
              <a:t>TIVIO ALT LIGHT XP PREV </a:t>
            </a:r>
            <a:r>
              <a:rPr sz="903" b="0" i="0">
                <a:solidFill>
                  <a:srgbClr val="FFFFFF"/>
                </a:solidFill>
                <a:latin typeface="Versos"/>
              </a:rPr>
              <a:t>/ CNPJ 53.991.177/0001-63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680" y="1406160"/>
            <a:ext cx="6266332" cy="189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00"/>
              </a:lnSpc>
            </a:pPr>
            <a:r>
              <a:rPr sz="1250" b="0" i="0">
                <a:solidFill>
                  <a:srgbClr val="FFFFFF"/>
                </a:solidFill>
                <a:latin typeface="Versos"/>
              </a:rPr>
              <a:t>Agosto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5560" y="1980720"/>
            <a:ext cx="704471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OBJETIVO DA CARTEIRA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5560" y="2154600"/>
            <a:ext cx="6773760" cy="367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64"/>
              </a:lnSpc>
            </a:pPr>
            <a:r>
              <a:rPr sz="1220" b="0" i="0">
                <a:solidFill>
                  <a:srgbClr val="FFFFFF"/>
                </a:solidFill>
                <a:latin typeface="Versos"/>
              </a:rPr>
              <a:t>Fundo de previdência de crédito com parcela máxima permitida em crédito estruturado. Além disso aloca em crédito privado e bancários.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6680" y="2662537"/>
            <a:ext cx="982800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142"/>
              </a:lnSpc>
            </a:pPr>
            <a:r>
              <a:rPr sz="952" b="1" i="0">
                <a:solidFill>
                  <a:srgbClr val="FFFFFF"/>
                </a:solidFill>
                <a:latin typeface="Versos"/>
              </a:rPr>
              <a:t>Mês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2160" y="2662537"/>
            <a:ext cx="982800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142"/>
              </a:lnSpc>
            </a:pPr>
            <a:r>
              <a:rPr sz="952" b="1" i="0">
                <a:solidFill>
                  <a:srgbClr val="FFFFFF"/>
                </a:solidFill>
                <a:latin typeface="Versos"/>
              </a:rPr>
              <a:t>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7640" y="2662537"/>
            <a:ext cx="982800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142"/>
              </a:lnSpc>
            </a:pPr>
            <a:r>
              <a:rPr sz="952" b="1" i="0">
                <a:solidFill>
                  <a:srgbClr val="FFFFFF"/>
                </a:solidFill>
                <a:latin typeface="Versos"/>
              </a:rPr>
              <a:t>12M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3120" y="2662537"/>
            <a:ext cx="982800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142"/>
              </a:lnSpc>
            </a:pPr>
            <a:r>
              <a:rPr sz="952" b="1" i="0">
                <a:solidFill>
                  <a:srgbClr val="FFFFFF"/>
                </a:solidFill>
                <a:latin typeface="Versos"/>
              </a:rPr>
              <a:t>24M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78600" y="2662537"/>
            <a:ext cx="982800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142"/>
              </a:lnSpc>
            </a:pPr>
            <a:r>
              <a:rPr sz="952" b="1" i="0">
                <a:solidFill>
                  <a:srgbClr val="FFFFFF"/>
                </a:solidFill>
                <a:latin typeface="Versos"/>
              </a:rPr>
              <a:t>36M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4080" y="2662537"/>
            <a:ext cx="982800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142"/>
              </a:lnSpc>
            </a:pPr>
            <a:r>
              <a:rPr sz="952" b="1" i="0">
                <a:solidFill>
                  <a:srgbClr val="FFFFFF"/>
                </a:solidFill>
                <a:latin typeface="Versos"/>
              </a:rPr>
              <a:t>Desde o Início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440" y="3021637"/>
            <a:ext cx="754790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2"/>
              </a:lnSpc>
            </a:pPr>
            <a:r>
              <a:rPr sz="952" b="1" i="0">
                <a:solidFill>
                  <a:srgbClr val="FFFFFF"/>
                </a:solidFill>
                <a:latin typeface="Versos"/>
              </a:rPr>
              <a:t>Fundo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6680" y="301785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1" i="0">
                <a:solidFill>
                  <a:srgbClr val="A8F0C6"/>
                </a:solidFill>
                <a:latin typeface="Versos"/>
              </a:rPr>
              <a:t>0,72%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2160" y="301785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1" i="0">
                <a:solidFill>
                  <a:srgbClr val="A8F0C6"/>
                </a:solidFill>
                <a:latin typeface="Versos"/>
              </a:rPr>
              <a:t>9,51%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7640" y="301785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1" i="0">
                <a:solidFill>
                  <a:srgbClr val="A8F0C6"/>
                </a:solidFill>
                <a:latin typeface="Versos"/>
              </a:rPr>
              <a:t>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3120" y="301785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1" i="0">
                <a:solidFill>
                  <a:srgbClr val="A8F0C6"/>
                </a:solidFill>
                <a:latin typeface="Versos"/>
              </a:rPr>
              <a:t>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8600" y="301785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1" i="0">
                <a:solidFill>
                  <a:srgbClr val="A8F0C6"/>
                </a:solidFill>
                <a:latin typeface="Versos"/>
              </a:rPr>
              <a:t>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4080" y="301785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1" i="0">
                <a:solidFill>
                  <a:srgbClr val="A8F0C6"/>
                </a:solidFill>
                <a:latin typeface="Versos"/>
              </a:rPr>
              <a:t>12,60%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440" y="3407197"/>
            <a:ext cx="754790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2"/>
              </a:lnSpc>
            </a:pPr>
            <a:r>
              <a:rPr sz="952" b="1" i="0">
                <a:solidFill>
                  <a:srgbClr val="FFFFFF"/>
                </a:solidFill>
                <a:latin typeface="Versos"/>
              </a:rPr>
              <a:t>CDI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6680" y="340341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1,09%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2160" y="340341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9,33%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7640" y="340341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3120" y="340341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8600" y="340341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4080" y="340341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11,40%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440" y="3792757"/>
            <a:ext cx="754790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2"/>
              </a:lnSpc>
            </a:pPr>
            <a:r>
              <a:rPr sz="952" b="1" i="0">
                <a:solidFill>
                  <a:srgbClr val="FFFFFF"/>
                </a:solidFill>
                <a:latin typeface="Versos"/>
              </a:rPr>
              <a:t>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6680" y="378897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65,59%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62160" y="378897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101,93%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7640" y="378897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3120" y="378897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8600" y="378897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4080" y="378897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110,53%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440" y="4178317"/>
            <a:ext cx="754790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2"/>
              </a:lnSpc>
            </a:pPr>
            <a:r>
              <a:rPr sz="952" b="1" i="0">
                <a:solidFill>
                  <a:srgbClr val="FFFFFF"/>
                </a:solidFill>
                <a:latin typeface="Versos"/>
              </a:rPr>
              <a:t>CDI+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6680" y="417453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−4,38%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62160" y="417453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0,25%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67640" y="417453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3120" y="417453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78600" y="417453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4080" y="4174537"/>
            <a:ext cx="982800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214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1,36%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560" y="4522297"/>
            <a:ext cx="704471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92"/>
              </a:lnSpc>
            </a:pPr>
            <a:r>
              <a:rPr sz="744" b="1" i="0">
                <a:solidFill>
                  <a:srgbClr val="FFFFFF"/>
                </a:solidFill>
                <a:latin typeface="Versos"/>
              </a:rPr>
              <a:t>Data base:</a:t>
            </a:r>
            <a:r>
              <a:rPr sz="744" b="0" i="0">
                <a:solidFill>
                  <a:srgbClr val="FFFFFF"/>
                </a:solidFill>
                <a:latin typeface="Versos"/>
              </a:rPr>
              <a:t> 31/08/2026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0680" y="5028817"/>
            <a:ext cx="7028985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2"/>
              </a:lnSpc>
            </a:pPr>
            <a:r>
              <a:rPr sz="952" b="0" i="0">
                <a:solidFill>
                  <a:srgbClr val="111111"/>
                </a:solidFill>
                <a:latin typeface="Versos"/>
              </a:rPr>
              <a:t>ALOCAÇÃO REAL DA CARTEIRA DE CRÉDITO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960" y="6231211"/>
            <a:ext cx="2665845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13"/>
              </a:lnSpc>
            </a:pPr>
            <a:r>
              <a:rPr sz="1012" b="0" i="0">
                <a:solidFill>
                  <a:srgbClr val="2B3744"/>
                </a:solidFill>
                <a:latin typeface="Versos"/>
              </a:rPr>
              <a:t>Bancário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8960" y="6387609"/>
            <a:ext cx="2665845" cy="189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3744"/>
                </a:solidFill>
                <a:latin typeface="Versos"/>
              </a:rPr>
              <a:t>40,7%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58832" y="6231211"/>
            <a:ext cx="1615231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13"/>
              </a:lnSpc>
            </a:pPr>
            <a:r>
              <a:rPr sz="1012" b="0" i="0">
                <a:solidFill>
                  <a:srgbClr val="FFFFFF"/>
                </a:solidFill>
                <a:latin typeface="Versos"/>
              </a:rPr>
              <a:t>Debêntures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58832" y="6387609"/>
            <a:ext cx="1615231" cy="189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FFFFFF"/>
                </a:solidFill>
                <a:latin typeface="Versos"/>
              </a:rPr>
              <a:t>25,8%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08500" y="6089934"/>
            <a:ext cx="1400490" cy="29247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13"/>
              </a:lnSpc>
            </a:pPr>
            <a:r>
              <a:rPr sz="1012" b="0" i="0">
                <a:solidFill>
                  <a:srgbClr val="2B3744"/>
                </a:solidFill>
                <a:latin typeface="Versos"/>
              </a:rPr>
              <a:t>FIDCs</a:t>
            </a:r>
          </a:p>
          <a:p>
            <a:pPr algn="l">
              <a:lnSpc>
                <a:spcPts val="1113"/>
              </a:lnSpc>
            </a:pPr>
            <a:r>
              <a:rPr sz="1012" b="1" i="0">
                <a:solidFill>
                  <a:srgbClr val="2B3744"/>
                </a:solidFill>
                <a:latin typeface="Versos"/>
              </a:rPr>
              <a:t>Cota Sênior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8500" y="6387609"/>
            <a:ext cx="1456509" cy="189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75"/>
              </a:lnSpc>
            </a:pPr>
            <a:r>
              <a:rPr sz="1250" b="1" i="0">
                <a:solidFill>
                  <a:srgbClr val="2B3744"/>
                </a:solidFill>
                <a:latin typeface="Versos"/>
              </a:rPr>
              <a:t>23,5%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59363" y="6086863"/>
            <a:ext cx="569655" cy="1058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792"/>
              </a:lnSpc>
            </a:pPr>
            <a:r>
              <a:rPr sz="720" b="0" i="0">
                <a:solidFill>
                  <a:srgbClr val="2B3744"/>
                </a:solidFill>
                <a:latin typeface="Versos"/>
              </a:rPr>
              <a:t>Liquidez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59363" y="6194947"/>
            <a:ext cx="569655" cy="173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17"/>
              </a:lnSpc>
            </a:pPr>
            <a:r>
              <a:rPr sz="1107" b="1" i="0">
                <a:solidFill>
                  <a:srgbClr val="2B3744"/>
                </a:solidFill>
                <a:latin typeface="Versos"/>
              </a:rPr>
              <a:t>7,8%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60190" y="6472423"/>
            <a:ext cx="205282" cy="1360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82"/>
              </a:lnSpc>
            </a:pPr>
            <a:r>
              <a:rPr sz="892" b="0" i="0">
                <a:solidFill>
                  <a:srgbClr val="FFFFFF"/>
                </a:solidFill>
                <a:latin typeface="Versos"/>
              </a:rPr>
              <a:t>FIP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97266" y="6470533"/>
            <a:ext cx="268304" cy="1360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92"/>
              </a:lnSpc>
            </a:pPr>
            <a:r>
              <a:rPr sz="892" b="1" i="0">
                <a:solidFill>
                  <a:srgbClr val="FFFFFF"/>
                </a:solidFill>
                <a:latin typeface="Versos"/>
              </a:rPr>
              <a:t>1,9%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9200" y="6743638"/>
            <a:ext cx="774569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92"/>
              </a:lnSpc>
            </a:pPr>
            <a:r>
              <a:rPr sz="744" b="0" i="0">
                <a:solidFill>
                  <a:srgbClr val="333333"/>
                </a:solidFill>
                <a:latin typeface="Versos"/>
              </a:rPr>
              <a:t>Bancário </a:t>
            </a:r>
            <a:r>
              <a:rPr sz="744" b="1" i="0">
                <a:solidFill>
                  <a:srgbClr val="111111"/>
                </a:solidFill>
                <a:latin typeface="Versos"/>
              </a:rPr>
              <a:t>40,7%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38578" y="6743638"/>
            <a:ext cx="90479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92"/>
              </a:lnSpc>
            </a:pPr>
            <a:r>
              <a:rPr sz="744" b="0" i="0">
                <a:solidFill>
                  <a:srgbClr val="333333"/>
                </a:solidFill>
                <a:latin typeface="Versos"/>
              </a:rPr>
              <a:t>Debêntures </a:t>
            </a:r>
            <a:r>
              <a:rPr sz="744" b="1" i="0">
                <a:solidFill>
                  <a:srgbClr val="111111"/>
                </a:solidFill>
                <a:latin typeface="Versos"/>
              </a:rPr>
              <a:t>25,8%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3168" y="6743638"/>
            <a:ext cx="122678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92"/>
              </a:lnSpc>
            </a:pPr>
            <a:r>
              <a:rPr sz="744" b="0" i="0">
                <a:solidFill>
                  <a:srgbClr val="333333"/>
                </a:solidFill>
                <a:latin typeface="Versos"/>
              </a:rPr>
              <a:t>FIDCs Cota Sênior </a:t>
            </a:r>
            <a:r>
              <a:rPr sz="744" b="1" i="0">
                <a:solidFill>
                  <a:srgbClr val="111111"/>
                </a:solidFill>
                <a:latin typeface="Versos"/>
              </a:rPr>
              <a:t>23,5%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7365" y="6743638"/>
            <a:ext cx="676657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92"/>
              </a:lnSpc>
            </a:pPr>
            <a:r>
              <a:rPr sz="744" b="0" i="0">
                <a:solidFill>
                  <a:srgbClr val="333333"/>
                </a:solidFill>
                <a:latin typeface="Versos"/>
              </a:rPr>
              <a:t>Liquidez </a:t>
            </a:r>
            <a:r>
              <a:rPr sz="744" b="1" i="0">
                <a:solidFill>
                  <a:srgbClr val="111111"/>
                </a:solidFill>
                <a:latin typeface="Versos"/>
              </a:rPr>
              <a:t>7,8%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32597" y="6743638"/>
            <a:ext cx="441768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92"/>
              </a:lnSpc>
            </a:pPr>
            <a:r>
              <a:rPr sz="744" b="0" i="0">
                <a:solidFill>
                  <a:srgbClr val="333333"/>
                </a:solidFill>
                <a:latin typeface="Versos"/>
              </a:rPr>
              <a:t>FIP </a:t>
            </a:r>
            <a:r>
              <a:rPr sz="744" b="1" i="0">
                <a:solidFill>
                  <a:srgbClr val="111111"/>
                </a:solidFill>
                <a:latin typeface="Versos"/>
              </a:rPr>
              <a:t>1,9%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5800" y="7340878"/>
            <a:ext cx="6997536" cy="2041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571"/>
              </a:lnSpc>
            </a:pPr>
            <a:r>
              <a:rPr sz="1309" b="0" i="0">
                <a:solidFill>
                  <a:srgbClr val="707070"/>
                </a:solidFill>
                <a:latin typeface="Versos"/>
              </a:rPr>
              <a:t>Comentário do Gestor e Análise de Mercado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5800" y="7922998"/>
            <a:ext cx="6997536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just">
              <a:lnSpc>
                <a:spcPts val="913"/>
              </a:lnSpc>
            </a:pPr>
            <a:r>
              <a:rPr sz="773" b="0" i="0">
                <a:solidFill>
                  <a:srgbClr val="8A99A3"/>
                </a:solidFill>
                <a:latin typeface="Versos"/>
              </a:rPr>
              <a:t>Comentário não preenchido em </a:t>
            </a:r>
            <a:r>
              <a:rPr sz="773" b="0" i="0">
                <a:solidFill>
                  <a:srgbClr val="8A99A3"/>
                </a:solidFill>
                <a:latin typeface="Versos"/>
              </a:rPr>
              <a:t>entrada/comentarios.md</a:t>
            </a:r>
            <a:r>
              <a:rPr sz="773" b="0" i="0">
                <a:solidFill>
                  <a:srgbClr val="8A99A3"/>
                </a:solidFill>
                <a:latin typeface="Versos"/>
              </a:rPr>
              <a:t> para </a:t>
            </a:r>
            <a:r>
              <a:rPr sz="773" b="1" i="0">
                <a:solidFill>
                  <a:srgbClr val="8A99A3"/>
                </a:solidFill>
                <a:latin typeface="Versos"/>
              </a:rPr>
              <a:t>Tivio ALT Light</a:t>
            </a:r>
            <a:r>
              <a:rPr sz="773" b="0" i="0">
                <a:solidFill>
                  <a:srgbClr val="8A99A3"/>
                </a:solidFill>
                <a:latin typeface="Versos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01793" y="10266480"/>
            <a:ext cx="44103" cy="1360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92"/>
              </a:lnSpc>
            </a:pPr>
            <a:r>
              <a:rPr sz="892" b="0" i="0">
                <a:solidFill>
                  <a:srgbClr val="111111"/>
                </a:solidFill>
                <a:latin typeface="Vers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9735" y="374220"/>
            <a:ext cx="1240170" cy="189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00"/>
              </a:lnSpc>
            </a:pPr>
            <a:r>
              <a:rPr sz="1250" b="0" i="0">
                <a:solidFill>
                  <a:srgbClr val="FFFFFF"/>
                </a:solidFill>
                <a:latin typeface="Versos"/>
              </a:rPr>
              <a:t>Agosto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680" y="1224720"/>
            <a:ext cx="3317932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2"/>
              </a:lnSpc>
            </a:pPr>
            <a:r>
              <a:rPr sz="952" b="0" i="0">
                <a:solidFill>
                  <a:srgbClr val="111111"/>
                </a:solidFill>
                <a:latin typeface="Versos"/>
              </a:rPr>
              <a:t>ALOCAÇÃO POR ESTRATÉGIA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680" y="1600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Financeiro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7488" y="1600357"/>
            <a:ext cx="408721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40,68%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680" y="1789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Indústria e Comércio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3770" y="1789357"/>
            <a:ext cx="375921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14,26%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680" y="1978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Caixa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3116" y="1978357"/>
            <a:ext cx="305282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7,75%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680" y="2167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Locação de veículos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3186" y="2167357"/>
            <a:ext cx="325921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5,37%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680" y="2356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Transporte e Logística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0428" y="2356357"/>
            <a:ext cx="337346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4,93%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680" y="2545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Comércio atacadista e varejista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8616" y="2545357"/>
            <a:ext cx="335011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4,52%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680" y="2734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Crédito PF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55781" y="2734357"/>
            <a:ext cx="339803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4,43%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680" y="2923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TI e Telecomunicações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3300" y="2923357"/>
            <a:ext cx="335011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4,34%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680" y="3112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Consignados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0661" y="3112357"/>
            <a:ext cx="330097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3,92%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680" y="3301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Energia Elétrica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94238" y="3301357"/>
            <a:ext cx="333660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2,33%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680" y="3490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Saneamento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90812" y="3490357"/>
            <a:ext cx="302211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2,21%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680" y="3679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Alimentos e bebidas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67069" y="3679357"/>
            <a:ext cx="313636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1,40%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680" y="3868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Assistência médica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65770" y="3868357"/>
            <a:ext cx="310319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1,36%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680" y="4057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Serviços Imobiliários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9509" y="4057357"/>
            <a:ext cx="270392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1,14%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680" y="4246948"/>
            <a:ext cx="1541030" cy="113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ts val="825"/>
              </a:lnSpc>
            </a:pPr>
            <a:r>
              <a:rPr sz="750" b="0" i="0">
                <a:solidFill>
                  <a:srgbClr val="222222"/>
                </a:solidFill>
                <a:latin typeface="Versos"/>
              </a:rPr>
              <a:t>Agropecuária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4430" y="4246357"/>
            <a:ext cx="326043" cy="1209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971"/>
              </a:lnSpc>
            </a:pPr>
            <a:r>
              <a:rPr sz="809" b="0" i="0">
                <a:solidFill>
                  <a:srgbClr val="4F7A93"/>
                </a:solidFill>
                <a:latin typeface="Versos"/>
              </a:rPr>
              <a:t>0,97%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9000" y="1224720"/>
            <a:ext cx="3317932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2"/>
              </a:lnSpc>
            </a:pPr>
            <a:r>
              <a:rPr sz="952" b="0" i="0">
                <a:solidFill>
                  <a:srgbClr val="111111"/>
                </a:solidFill>
                <a:latin typeface="Versos"/>
              </a:rPr>
              <a:t>COLATERAIS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8680" y="1900513"/>
            <a:ext cx="846720" cy="3159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8"/>
              </a:lnSpc>
            </a:pPr>
            <a:r>
              <a:rPr sz="1071" b="1" i="0">
                <a:solidFill>
                  <a:srgbClr val="7A7A7A"/>
                </a:solidFill>
                <a:latin typeface="Versos"/>
              </a:rPr>
              <a:t>AF de imóveis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6520" y="1900513"/>
            <a:ext cx="846720" cy="3159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8"/>
              </a:lnSpc>
            </a:pPr>
            <a:r>
              <a:rPr sz="1071" b="1" i="0">
                <a:solidFill>
                  <a:srgbClr val="7A7A7A"/>
                </a:solidFill>
                <a:latin typeface="Versos"/>
              </a:rPr>
              <a:t>AF de automóveis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8680" y="2943793"/>
            <a:ext cx="846720" cy="3159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8"/>
              </a:lnSpc>
            </a:pPr>
            <a:r>
              <a:rPr sz="1071" b="1" i="0">
                <a:solidFill>
                  <a:srgbClr val="7A7A7A"/>
                </a:solidFill>
                <a:latin typeface="Versos"/>
              </a:rPr>
              <a:t>AF de maquinário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6520" y="2943793"/>
            <a:ext cx="846720" cy="3159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78"/>
              </a:lnSpc>
            </a:pPr>
            <a:r>
              <a:rPr sz="1071" b="1" i="0">
                <a:solidFill>
                  <a:srgbClr val="7A7A7A"/>
                </a:solidFill>
                <a:latin typeface="Versos"/>
              </a:rPr>
              <a:t>CF de recebíveis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8680" y="4061846"/>
            <a:ext cx="2091766" cy="166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8"/>
              </a:lnSpc>
            </a:pPr>
            <a:r>
              <a:rPr sz="1071" b="1" i="0">
                <a:solidFill>
                  <a:srgbClr val="7A7A7A"/>
                </a:solidFill>
                <a:latin typeface="Versos"/>
              </a:rPr>
              <a:t>Coobrigação do cedente/Avais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0680" y="4983457"/>
            <a:ext cx="7028985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2"/>
              </a:lnSpc>
            </a:pPr>
            <a:r>
              <a:rPr sz="952" b="0" i="0">
                <a:solidFill>
                  <a:srgbClr val="111111"/>
                </a:solidFill>
                <a:latin typeface="Versos"/>
              </a:rPr>
              <a:t>RENTABILIDADE HISTÓRICA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1880" y="5476275"/>
            <a:ext cx="2044224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8"/>
              </a:lnSpc>
            </a:pPr>
            <a:r>
              <a:rPr sz="982" b="1" i="0">
                <a:solidFill>
                  <a:srgbClr val="FFFFFF"/>
                </a:solidFill>
                <a:latin typeface="Versos"/>
              </a:rPr>
              <a:t>Rentabilidade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1880" y="5793795"/>
            <a:ext cx="896313" cy="1360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35"/>
              </a:lnSpc>
            </a:pPr>
            <a:r>
              <a:rPr sz="863" b="0" i="0">
                <a:solidFill>
                  <a:srgbClr val="FFFFFF"/>
                </a:solidFill>
                <a:latin typeface="Versos"/>
              </a:rPr>
              <a:t>Desde o início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1880" y="5975235"/>
            <a:ext cx="896313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8"/>
              </a:lnSpc>
            </a:pPr>
            <a:r>
              <a:rPr sz="982" b="1" i="0">
                <a:solidFill>
                  <a:srgbClr val="FFFFFF"/>
                </a:solidFill>
                <a:latin typeface="Versos"/>
              </a:rPr>
              <a:t>CDI 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1880" y="6111315"/>
            <a:ext cx="896313" cy="2041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40"/>
              </a:lnSpc>
            </a:pPr>
            <a:r>
              <a:rPr sz="1309" b="1" i="0">
                <a:solidFill>
                  <a:srgbClr val="FFFFFF"/>
                </a:solidFill>
                <a:latin typeface="Versos"/>
              </a:rPr>
              <a:t>1,36%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63200" y="5793795"/>
            <a:ext cx="762652" cy="1360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035"/>
              </a:lnSpc>
            </a:pPr>
            <a:r>
              <a:rPr sz="863" b="0" i="0">
                <a:solidFill>
                  <a:srgbClr val="FFFFFF"/>
                </a:solidFill>
                <a:latin typeface="Versos"/>
              </a:rPr>
              <a:t>Mês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63200" y="5975235"/>
            <a:ext cx="762652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78"/>
              </a:lnSpc>
            </a:pPr>
            <a:r>
              <a:rPr sz="982" b="1" i="0">
                <a:solidFill>
                  <a:srgbClr val="FFFFFF"/>
                </a:solidFill>
                <a:latin typeface="Versos"/>
              </a:rPr>
              <a:t>CDI 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63200" y="6111315"/>
            <a:ext cx="762652" cy="2041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40"/>
              </a:lnSpc>
            </a:pPr>
            <a:r>
              <a:rPr sz="1309" b="1" i="0">
                <a:solidFill>
                  <a:srgbClr val="FFFFFF"/>
                </a:solidFill>
                <a:latin typeface="Versos"/>
              </a:rPr>
              <a:t>−4,38%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4641" y="6498292"/>
            <a:ext cx="645085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2"/>
              </a:lnSpc>
            </a:pPr>
            <a:r>
              <a:rPr sz="952" b="1" i="0">
                <a:solidFill>
                  <a:srgbClr val="111111"/>
                </a:solidFill>
                <a:latin typeface="Versos"/>
              </a:rPr>
              <a:t>Fundo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13556" y="6498292"/>
            <a:ext cx="251473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2"/>
              </a:lnSpc>
            </a:pPr>
            <a:r>
              <a:rPr sz="952" b="1" i="0">
                <a:solidFill>
                  <a:srgbClr val="111111"/>
                </a:solidFill>
                <a:latin typeface="Versos"/>
              </a:rPr>
              <a:t>CDI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3443" y="10266480"/>
            <a:ext cx="73587" cy="1360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892"/>
              </a:lnSpc>
            </a:pPr>
            <a:r>
              <a:rPr sz="892" b="0" i="0">
                <a:solidFill>
                  <a:srgbClr val="111111"/>
                </a:solidFill>
                <a:latin typeface="Vers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9735" y="374220"/>
            <a:ext cx="1240170" cy="189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500"/>
              </a:lnSpc>
            </a:pPr>
            <a:r>
              <a:rPr sz="1250" b="0" i="0">
                <a:solidFill>
                  <a:srgbClr val="FFFFFF"/>
                </a:solidFill>
                <a:latin typeface="Versos"/>
              </a:rPr>
              <a:t>Agosto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680" y="1239840"/>
            <a:ext cx="7028985" cy="143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142"/>
              </a:lnSpc>
            </a:pPr>
            <a:r>
              <a:rPr sz="952" b="0" i="0">
                <a:solidFill>
                  <a:srgbClr val="111111"/>
                </a:solidFill>
                <a:latin typeface="Versos"/>
              </a:rPr>
              <a:t>CARACTERÍSTICAS GERAIS DO FUNDO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680" y="1694857"/>
            <a:ext cx="2995574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69"/>
              </a:lnSpc>
            </a:pPr>
            <a:r>
              <a:rPr sz="1190" b="1" i="0">
                <a:solidFill>
                  <a:srgbClr val="111111"/>
                </a:solidFill>
                <a:latin typeface="Versos"/>
              </a:rPr>
              <a:t>Gestor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680" y="1883857"/>
            <a:ext cx="2995574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33"/>
              </a:lnSpc>
            </a:pPr>
            <a:r>
              <a:rPr sz="1190" b="0" i="0">
                <a:solidFill>
                  <a:srgbClr val="222222"/>
                </a:solidFill>
                <a:latin typeface="Versos"/>
              </a:rPr>
              <a:t>Tivio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680" y="2385770"/>
            <a:ext cx="2995574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69"/>
              </a:lnSpc>
            </a:pPr>
            <a:r>
              <a:rPr sz="1190" b="1" i="0">
                <a:solidFill>
                  <a:srgbClr val="111111"/>
                </a:solidFill>
                <a:latin typeface="Versos"/>
              </a:rPr>
              <a:t>Público Alvo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680" y="2574770"/>
            <a:ext cx="2995574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33"/>
              </a:lnSpc>
            </a:pPr>
            <a:r>
              <a:rPr sz="1190" b="0" i="0">
                <a:solidFill>
                  <a:srgbClr val="222222"/>
                </a:solidFill>
                <a:latin typeface="Versos"/>
              </a:rPr>
              <a:t>Investidor qualificado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680" y="3076683"/>
            <a:ext cx="2995574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69"/>
              </a:lnSpc>
            </a:pPr>
            <a:r>
              <a:rPr sz="1190" b="1" i="0">
                <a:solidFill>
                  <a:srgbClr val="111111"/>
                </a:solidFill>
                <a:latin typeface="Versos"/>
              </a:rPr>
              <a:t>Data de início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680" y="3265683"/>
            <a:ext cx="2995574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33"/>
              </a:lnSpc>
            </a:pPr>
            <a:r>
              <a:rPr sz="1190" b="0" i="0">
                <a:solidFill>
                  <a:srgbClr val="222222"/>
                </a:solidFill>
                <a:latin typeface="Versos"/>
              </a:rPr>
              <a:t>11/11/2025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680" y="3767596"/>
            <a:ext cx="2995574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69"/>
              </a:lnSpc>
            </a:pPr>
            <a:r>
              <a:rPr sz="1190" b="1" i="0">
                <a:solidFill>
                  <a:srgbClr val="111111"/>
                </a:solidFill>
                <a:latin typeface="Versos"/>
              </a:rPr>
              <a:t>Taxa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680" y="3956596"/>
            <a:ext cx="2995574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33"/>
              </a:lnSpc>
            </a:pPr>
            <a:r>
              <a:rPr sz="1190" b="0" i="0">
                <a:solidFill>
                  <a:srgbClr val="222222"/>
                </a:solidFill>
                <a:latin typeface="Versos"/>
              </a:rPr>
              <a:t>1,15% a.a.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680" y="4458510"/>
            <a:ext cx="2995574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69"/>
              </a:lnSpc>
            </a:pPr>
            <a:r>
              <a:rPr sz="1190" b="1" i="0">
                <a:solidFill>
                  <a:srgbClr val="111111"/>
                </a:solidFill>
                <a:latin typeface="Versos"/>
              </a:rPr>
              <a:t>Taxa de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680" y="4647510"/>
            <a:ext cx="2995574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33"/>
              </a:lnSpc>
            </a:pPr>
            <a:r>
              <a:rPr sz="1190" b="0" i="0">
                <a:solidFill>
                  <a:srgbClr val="222222"/>
                </a:solidFill>
                <a:latin typeface="Versos"/>
              </a:rPr>
              <a:t>15% do retorno que exceder CDI+0,65%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8280" y="1694857"/>
            <a:ext cx="3412281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69"/>
              </a:lnSpc>
            </a:pPr>
            <a:r>
              <a:rPr sz="1190" b="1" i="0">
                <a:solidFill>
                  <a:srgbClr val="111111"/>
                </a:solidFill>
                <a:latin typeface="Versos"/>
              </a:rPr>
              <a:t>Informações Operacionais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8280" y="1883857"/>
            <a:ext cx="3281040" cy="136635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33"/>
              </a:lnSpc>
            </a:pPr>
            <a:r>
              <a:rPr sz="1190" b="0" i="0">
                <a:solidFill>
                  <a:srgbClr val="222222"/>
                </a:solidFill>
                <a:latin typeface="Versos"/>
              </a:rPr>
              <a:t>Aplicação:</a:t>
            </a:r>
          </a:p>
          <a:p>
            <a:pPr algn="l">
              <a:lnSpc>
                <a:spcPts val="1333"/>
              </a:lnSpc>
            </a:pPr>
            <a:r>
              <a:rPr sz="1190" b="1" i="0">
                <a:solidFill>
                  <a:srgbClr val="222222"/>
                </a:solidFill>
                <a:latin typeface="Versos"/>
              </a:rPr>
              <a:t>D+1</a:t>
            </a:r>
          </a:p>
          <a:p>
            <a:pPr algn="l">
              <a:lnSpc>
                <a:spcPts val="1333"/>
              </a:lnSpc>
            </a:pPr>
            <a:r>
              <a:rPr sz="1190" b="0" i="0">
                <a:solidFill>
                  <a:srgbClr val="222222"/>
                </a:solidFill>
                <a:latin typeface="Versos"/>
              </a:rPr>
              <a:t>Resgate:</a:t>
            </a:r>
          </a:p>
          <a:p>
            <a:pPr algn="l">
              <a:lnSpc>
                <a:spcPts val="1333"/>
              </a:lnSpc>
            </a:pPr>
            <a:r>
              <a:rPr sz="1190" b="1" i="0">
                <a:solidFill>
                  <a:srgbClr val="222222"/>
                </a:solidFill>
                <a:latin typeface="Versos"/>
              </a:rPr>
              <a:t>D+50</a:t>
            </a:r>
          </a:p>
          <a:p>
            <a:pPr algn="l">
              <a:lnSpc>
                <a:spcPts val="1333"/>
              </a:lnSpc>
            </a:pPr>
            <a:r>
              <a:rPr sz="1190" b="0" i="0">
                <a:solidFill>
                  <a:srgbClr val="222222"/>
                </a:solidFill>
                <a:latin typeface="Versos"/>
              </a:rPr>
              <a:t>Aplicação mínima inicial:</a:t>
            </a:r>
          </a:p>
          <a:p>
            <a:pPr algn="l">
              <a:lnSpc>
                <a:spcPts val="1333"/>
              </a:lnSpc>
            </a:pPr>
            <a:r>
              <a:rPr sz="1190" b="1" i="0">
                <a:solidFill>
                  <a:srgbClr val="222222"/>
                </a:solidFill>
                <a:latin typeface="Versos"/>
              </a:rPr>
              <a:t>R$ 1.000,00</a:t>
            </a:r>
          </a:p>
          <a:p>
            <a:pPr algn="l">
              <a:lnSpc>
                <a:spcPts val="1333"/>
              </a:lnSpc>
            </a:pPr>
            <a:r>
              <a:rPr sz="1190" b="0" i="0">
                <a:solidFill>
                  <a:srgbClr val="222222"/>
                </a:solidFill>
                <a:latin typeface="Versos"/>
              </a:rPr>
              <a:t>Movimentação mínima:</a:t>
            </a:r>
          </a:p>
          <a:p>
            <a:pPr algn="l">
              <a:lnSpc>
                <a:spcPts val="1333"/>
              </a:lnSpc>
            </a:pPr>
            <a:r>
              <a:rPr sz="1190" b="1" i="0">
                <a:solidFill>
                  <a:srgbClr val="222222"/>
                </a:solidFill>
                <a:latin typeface="Versos"/>
              </a:rPr>
              <a:t>R$ 1.000,00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8280" y="3767596"/>
            <a:ext cx="3412281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69"/>
              </a:lnSpc>
            </a:pPr>
            <a:r>
              <a:rPr sz="1190" b="1" i="0">
                <a:solidFill>
                  <a:srgbClr val="111111"/>
                </a:solidFill>
                <a:latin typeface="Versos"/>
              </a:rPr>
              <a:t>Patrimônio líquido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78280" y="3956596"/>
            <a:ext cx="3412281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33"/>
              </a:lnSpc>
            </a:pPr>
            <a:r>
              <a:rPr sz="1190" b="0" i="0">
                <a:solidFill>
                  <a:srgbClr val="222222"/>
                </a:solidFill>
                <a:latin typeface="Versos"/>
              </a:rPr>
              <a:t>R$ 26.829.258,71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8280" y="4458510"/>
            <a:ext cx="3412281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69"/>
              </a:lnSpc>
            </a:pPr>
            <a:r>
              <a:rPr sz="1190" b="1" i="0">
                <a:solidFill>
                  <a:srgbClr val="111111"/>
                </a:solidFill>
                <a:latin typeface="Versos"/>
              </a:rPr>
              <a:t>Patrimônio líquido médio (12M)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8280" y="4647510"/>
            <a:ext cx="3412281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333"/>
              </a:lnSpc>
            </a:pPr>
            <a:r>
              <a:rPr sz="1190" b="0" i="0">
                <a:solidFill>
                  <a:srgbClr val="222222"/>
                </a:solidFill>
                <a:latin typeface="Versos"/>
              </a:rPr>
              <a:t>R$ 18.304.046,83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680" y="6229440"/>
            <a:ext cx="7028985" cy="1512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14"/>
              </a:lnSpc>
            </a:pPr>
            <a:r>
              <a:rPr sz="1012" b="1" i="0">
                <a:solidFill>
                  <a:srgbClr val="FFFFFF"/>
                </a:solidFill>
                <a:latin typeface="Versos"/>
              </a:rPr>
              <a:t>MATERIAL TÉCNICO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680" y="6471360"/>
            <a:ext cx="6758640" cy="29117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just">
              <a:lnSpc>
                <a:spcPts val="1162"/>
              </a:lnSpc>
            </a:pPr>
            <a:r>
              <a:rPr sz="952" b="0" i="0">
                <a:solidFill>
                  <a:srgbClr val="E9E9E9"/>
                </a:solidFill>
                <a:latin typeface="Versos"/>
              </a:rPr>
              <a:t>Este material foi elaborado pela Tivio Capital Distribuidora de Títulos e Valores Mobiliários S.A. e possui caráter meramente informativo. Não constitui oferta, recomendação ou aconselhamento de investimento.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680" y="6808725"/>
            <a:ext cx="6758640" cy="4387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just">
              <a:lnSpc>
                <a:spcPts val="1162"/>
              </a:lnSpc>
            </a:pPr>
            <a:r>
              <a:rPr sz="952" b="0" i="0">
                <a:solidFill>
                  <a:srgbClr val="E9E9E9"/>
                </a:solidFill>
                <a:latin typeface="Versos"/>
              </a:rPr>
              <a:t>Antes de investir, leia a lâmina de informações básicas, se aplicável, o regulamento, o formulário de informações complementares, seus anexos e apêndices. Esses documentos e informações sobre tributação estão disponíveis em tivio.com/fundos/ e tivio.com/documentos/.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680" y="7293628"/>
            <a:ext cx="6758640" cy="29117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just">
              <a:lnSpc>
                <a:spcPts val="1162"/>
              </a:lnSpc>
            </a:pPr>
            <a:r>
              <a:rPr sz="952" b="0" i="0">
                <a:solidFill>
                  <a:srgbClr val="E9E9E9"/>
                </a:solidFill>
                <a:latin typeface="Versos"/>
              </a:rPr>
              <a:t>Os investimentos envolvem riscos. Consulte os documentos do fundo para conhecer sua estratégia, público-alvo, condições e principais fatores de risco.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680" y="7630993"/>
            <a:ext cx="6758640" cy="29117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just">
              <a:lnSpc>
                <a:spcPts val="1162"/>
              </a:lnSpc>
            </a:pPr>
            <a:r>
              <a:rPr sz="952" b="0" i="0">
                <a:solidFill>
                  <a:srgbClr val="E9E9E9"/>
                </a:solidFill>
                <a:latin typeface="Versos"/>
              </a:rPr>
              <a:t>Rentabilidade obtida no passado não representa garantia de resultados futuros. A rentabilidade divulgada não é líquida de impostos.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680" y="7968358"/>
            <a:ext cx="6758640" cy="29117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just">
              <a:lnSpc>
                <a:spcPts val="1162"/>
              </a:lnSpc>
            </a:pPr>
            <a:r>
              <a:rPr sz="952" b="0" i="0">
                <a:solidFill>
                  <a:srgbClr val="E9E9E9"/>
                </a:solidFill>
                <a:latin typeface="Versos"/>
              </a:rPr>
              <a:t>Os investimentos em fundos não são garantidos pelo administrador, pelo gestor, por qualquer mecanismo de seguro ou pelo Fundo Garantidor de Crédito – FGC.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680" y="8305723"/>
            <a:ext cx="6758640" cy="29117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just">
              <a:lnSpc>
                <a:spcPts val="1162"/>
              </a:lnSpc>
            </a:pPr>
            <a:r>
              <a:rPr sz="952" b="0" i="0">
                <a:solidFill>
                  <a:srgbClr val="E9E9E9"/>
                </a:solidFill>
                <a:latin typeface="Versos"/>
              </a:rPr>
              <a:t>A Tivio Capital Distribuidora de Títulos e Valores Mobiliários S.A. integra o conglomerado prudencial liderado pelo Banco Bradesco S.A.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680" y="8987540"/>
            <a:ext cx="1273269" cy="294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90"/>
              </a:lnSpc>
            </a:pPr>
            <a:r>
              <a:rPr sz="952" b="0" i="0">
                <a:solidFill>
                  <a:srgbClr val="E9E9E9"/>
                </a:solidFill>
                <a:latin typeface="Versos"/>
              </a:rPr>
              <a:t>SAC: 0800 704 8383</a:t>
            </a:r>
          </a:p>
          <a:p>
            <a:pPr algn="l">
              <a:lnSpc>
                <a:spcPts val="1190"/>
              </a:lnSpc>
            </a:pPr>
            <a:r>
              <a:rPr sz="952" b="0" i="0">
                <a:solidFill>
                  <a:srgbClr val="E9E9E9"/>
                </a:solidFill>
                <a:latin typeface="Versos"/>
              </a:rPr>
              <a:t>Atendimento 24 horas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94909" y="8987540"/>
            <a:ext cx="4518399" cy="294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90"/>
              </a:lnSpc>
            </a:pPr>
            <a:r>
              <a:rPr sz="952" b="0" i="0">
                <a:solidFill>
                  <a:srgbClr val="E9E9E9"/>
                </a:solidFill>
                <a:latin typeface="Versos"/>
              </a:rPr>
              <a:t>Ouvidoria: 0800 727 9933</a:t>
            </a:r>
          </a:p>
          <a:p>
            <a:pPr algn="l">
              <a:lnSpc>
                <a:spcPts val="1190"/>
              </a:lnSpc>
            </a:pPr>
            <a:r>
              <a:rPr sz="952" b="0" i="0">
                <a:solidFill>
                  <a:srgbClr val="E9E9E9"/>
                </a:solidFill>
                <a:latin typeface="Versos"/>
              </a:rPr>
              <a:t>Atendimento das 9h às 18h, de segunda a sexta-feira, exceto feriados nacionais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960" y="9843120"/>
            <a:ext cx="1274077" cy="18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428"/>
              </a:lnSpc>
            </a:pPr>
            <a:r>
              <a:rPr sz="1190" b="0" i="0">
                <a:solidFill>
                  <a:srgbClr val="FFFFFF"/>
                </a:solidFill>
                <a:latin typeface="Versos"/>
              </a:rPr>
              <a:t>tivio.com/fundos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41520" y="9756652"/>
            <a:ext cx="907200" cy="349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930"/>
              </a:lnSpc>
            </a:pPr>
            <a:r>
              <a:rPr sz="744" b="0" i="0">
                <a:solidFill>
                  <a:srgbClr val="FFFFFF"/>
                </a:solidFill>
                <a:latin typeface="Versos"/>
              </a:rPr>
              <a:t>Leia o QR Code e acesse as redes da Tivio Capital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8440" y="10020071"/>
            <a:ext cx="527886" cy="982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714"/>
              </a:lnSpc>
            </a:pPr>
            <a:r>
              <a:rPr sz="595" b="0" i="0">
                <a:solidFill>
                  <a:srgbClr val="FFFFFF"/>
                </a:solidFill>
                <a:latin typeface="Versos"/>
              </a:rPr>
              <a:t>Rating S&amp;P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8440" y="10110791"/>
            <a:ext cx="527886" cy="166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285"/>
              </a:lnSpc>
            </a:pPr>
            <a:r>
              <a:rPr sz="1071" b="1" i="0">
                <a:solidFill>
                  <a:srgbClr val="FFFFFF"/>
                </a:solidFill>
                <a:latin typeface="Versos"/>
              </a:rPr>
              <a:t>brAMP1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