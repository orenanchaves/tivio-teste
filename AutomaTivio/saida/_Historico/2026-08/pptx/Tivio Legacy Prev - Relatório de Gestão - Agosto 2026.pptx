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43640"/>
          </a:xfrm>
          <a:prstGeom prst="rect">
            <a:avLst/>
          </a:prstGeom>
          <a:noFill/>
        </p:spPr>
        <p:txBody>
          <a:bodyPr wrap="none" lIns="0" rIns="0" tIns="0" bIns="0" anchor="t"/>
          <a:lstStyle/>
          <a:p>
            <a:pPr algn="l">
              <a:lnSpc>
                <a:spcPts val="1157"/>
              </a:lnSpc>
            </a:pPr>
            <a:r>
              <a:rPr sz="964" b="0" i="0">
                <a:solidFill>
                  <a:srgbClr val="FFFFFF"/>
                </a:solidFill>
                <a:latin typeface="Versos"/>
              </a:rPr>
              <a:t>BV ICATU SEG LEGACY PREV FIF - CIC RF CRED PRIV – RL </a:t>
            </a:r>
            <a:r>
              <a:rPr sz="790" b="0" i="0">
                <a:solidFill>
                  <a:srgbClr val="FFFFFF"/>
                </a:solidFill>
                <a:latin typeface="Versos"/>
              </a:rPr>
              <a:t>/ CNPJ 09.166.056/0001-95</a:t>
            </a:r>
          </a:p>
        </p:txBody>
      </p:sp>
      <p:sp>
        <p:nvSpPr>
          <p:cNvPr id="4" name="TextBox 3"/>
          <p:cNvSpPr txBox="1"/>
          <p:nvPr/>
        </p:nvSpPr>
        <p:spPr>
          <a:xfrm>
            <a:off x="400680" y="111888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1,07%</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8,91%</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14,07%</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28,79%</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46,53%</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435,43%</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454,48%</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−0,03%</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−0,42%</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−0,50%</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−0,69%</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2,36%</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−19,04%</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97,36%</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95,53%</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96,57%</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97,66%</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105,34%</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95,81%</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802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BV</a:t>
            </a:r>
          </a:p>
        </p:txBody>
      </p:sp>
      <p:sp>
        <p:nvSpPr>
          <p:cNvPr id="44" name="TextBox 43"/>
          <p:cNvSpPr txBox="1"/>
          <p:nvPr/>
        </p:nvSpPr>
        <p:spPr>
          <a:xfrm>
            <a:off x="2831928" y="5646138"/>
            <a:ext cx="430343" cy="143640"/>
          </a:xfrm>
          <a:prstGeom prst="rect">
            <a:avLst/>
          </a:prstGeom>
          <a:noFill/>
        </p:spPr>
        <p:txBody>
          <a:bodyPr wrap="none" lIns="0" rIns="0" tIns="0" bIns="0" anchor="t"/>
          <a:lstStyle/>
          <a:p>
            <a:pPr algn="l">
              <a:lnSpc>
                <a:spcPts val="1107"/>
              </a:lnSpc>
            </a:pPr>
            <a:r>
              <a:rPr sz="922" b="0" i="0">
                <a:solidFill>
                  <a:srgbClr val="5A82A0"/>
                </a:solidFill>
                <a:latin typeface="Versos"/>
              </a:rPr>
              <a:t>18,20%</a:t>
            </a:r>
          </a:p>
        </p:txBody>
      </p:sp>
      <p:sp>
        <p:nvSpPr>
          <p:cNvPr id="45" name="TextBox 44"/>
          <p:cNvSpPr txBox="1"/>
          <p:nvPr/>
        </p:nvSpPr>
        <p:spPr>
          <a:xfrm>
            <a:off x="400680" y="613186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46" name="TextBox 45"/>
          <p:cNvSpPr txBox="1"/>
          <p:nvPr/>
        </p:nvSpPr>
        <p:spPr>
          <a:xfrm>
            <a:off x="2595442" y="6129978"/>
            <a:ext cx="427763" cy="143640"/>
          </a:xfrm>
          <a:prstGeom prst="rect">
            <a:avLst/>
          </a:prstGeom>
          <a:noFill/>
        </p:spPr>
        <p:txBody>
          <a:bodyPr wrap="none" lIns="0" rIns="0" tIns="0" bIns="0" anchor="t"/>
          <a:lstStyle/>
          <a:p>
            <a:pPr algn="l">
              <a:lnSpc>
                <a:spcPts val="1107"/>
              </a:lnSpc>
            </a:pPr>
            <a:r>
              <a:rPr sz="922" b="0" i="0">
                <a:solidFill>
                  <a:srgbClr val="5A82A0"/>
                </a:solidFill>
                <a:latin typeface="Versos"/>
              </a:rPr>
              <a:t>15,58%</a:t>
            </a:r>
          </a:p>
        </p:txBody>
      </p:sp>
      <p:sp>
        <p:nvSpPr>
          <p:cNvPr id="47" name="TextBox 46"/>
          <p:cNvSpPr txBox="1"/>
          <p:nvPr/>
        </p:nvSpPr>
        <p:spPr>
          <a:xfrm>
            <a:off x="400680" y="661570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8" name="TextBox 47"/>
          <p:cNvSpPr txBox="1"/>
          <p:nvPr/>
        </p:nvSpPr>
        <p:spPr>
          <a:xfrm>
            <a:off x="2423925" y="6613818"/>
            <a:ext cx="428746" cy="143640"/>
          </a:xfrm>
          <a:prstGeom prst="rect">
            <a:avLst/>
          </a:prstGeom>
          <a:noFill/>
        </p:spPr>
        <p:txBody>
          <a:bodyPr wrap="none" lIns="0" rIns="0" tIns="0" bIns="0" anchor="t"/>
          <a:lstStyle/>
          <a:p>
            <a:pPr algn="l">
              <a:lnSpc>
                <a:spcPts val="1107"/>
              </a:lnSpc>
            </a:pPr>
            <a:r>
              <a:rPr sz="922" b="0" i="0">
                <a:solidFill>
                  <a:srgbClr val="5A82A0"/>
                </a:solidFill>
                <a:latin typeface="Versos"/>
              </a:rPr>
              <a:t>13,68%</a:t>
            </a:r>
          </a:p>
        </p:txBody>
      </p:sp>
      <p:sp>
        <p:nvSpPr>
          <p:cNvPr id="49" name="TextBox 48"/>
          <p:cNvSpPr txBox="1"/>
          <p:nvPr/>
        </p:nvSpPr>
        <p:spPr>
          <a:xfrm>
            <a:off x="400680" y="709954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50" name="TextBox 49"/>
          <p:cNvSpPr txBox="1"/>
          <p:nvPr/>
        </p:nvSpPr>
        <p:spPr>
          <a:xfrm>
            <a:off x="2372895" y="7097658"/>
            <a:ext cx="384643" cy="143640"/>
          </a:xfrm>
          <a:prstGeom prst="rect">
            <a:avLst/>
          </a:prstGeom>
          <a:noFill/>
        </p:spPr>
        <p:txBody>
          <a:bodyPr wrap="none" lIns="0" rIns="0" tIns="0" bIns="0" anchor="t"/>
          <a:lstStyle/>
          <a:p>
            <a:pPr algn="l">
              <a:lnSpc>
                <a:spcPts val="1107"/>
              </a:lnSpc>
            </a:pPr>
            <a:r>
              <a:rPr sz="922" b="0" i="0">
                <a:solidFill>
                  <a:srgbClr val="5A82A0"/>
                </a:solidFill>
                <a:latin typeface="Versos"/>
              </a:rPr>
              <a:t>13,12%</a:t>
            </a:r>
          </a:p>
        </p:txBody>
      </p:sp>
      <p:sp>
        <p:nvSpPr>
          <p:cNvPr id="51" name="TextBox 50"/>
          <p:cNvSpPr txBox="1"/>
          <p:nvPr/>
        </p:nvSpPr>
        <p:spPr>
          <a:xfrm>
            <a:off x="400680" y="7583388"/>
            <a:ext cx="712407" cy="136080"/>
          </a:xfrm>
          <a:prstGeom prst="rect">
            <a:avLst/>
          </a:prstGeom>
          <a:noFill/>
        </p:spPr>
        <p:txBody>
          <a:bodyPr wrap="none" lIns="0" rIns="0" tIns="0" bIns="0" anchor="t"/>
          <a:lstStyle/>
          <a:p>
            <a:pPr algn="r">
              <a:lnSpc>
                <a:spcPts val="982"/>
              </a:lnSpc>
            </a:pPr>
            <a:r>
              <a:rPr sz="892" b="0" i="0">
                <a:solidFill>
                  <a:srgbClr val="222222"/>
                </a:solidFill>
                <a:latin typeface="Versos"/>
              </a:rPr>
              <a:t>SANTANDER</a:t>
            </a:r>
          </a:p>
        </p:txBody>
      </p:sp>
      <p:sp>
        <p:nvSpPr>
          <p:cNvPr id="52" name="TextBox 51"/>
          <p:cNvSpPr txBox="1"/>
          <p:nvPr/>
        </p:nvSpPr>
        <p:spPr>
          <a:xfrm>
            <a:off x="2215198" y="7581498"/>
            <a:ext cx="399631" cy="143640"/>
          </a:xfrm>
          <a:prstGeom prst="rect">
            <a:avLst/>
          </a:prstGeom>
          <a:noFill/>
        </p:spPr>
        <p:txBody>
          <a:bodyPr wrap="none" lIns="0" rIns="0" tIns="0" bIns="0" anchor="t"/>
          <a:lstStyle/>
          <a:p>
            <a:pPr algn="l">
              <a:lnSpc>
                <a:spcPts val="1107"/>
              </a:lnSpc>
            </a:pPr>
            <a:r>
              <a:rPr sz="922" b="0" i="0">
                <a:solidFill>
                  <a:srgbClr val="5A82A0"/>
                </a:solidFill>
                <a:latin typeface="Versos"/>
              </a:rPr>
              <a:t>11,38%</a:t>
            </a:r>
          </a:p>
        </p:txBody>
      </p:sp>
      <p:sp>
        <p:nvSpPr>
          <p:cNvPr id="53" name="TextBox 52"/>
          <p:cNvSpPr txBox="1"/>
          <p:nvPr/>
        </p:nvSpPr>
        <p:spPr>
          <a:xfrm>
            <a:off x="400680" y="8234493"/>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65253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650648"/>
            <a:ext cx="468795" cy="143640"/>
          </a:xfrm>
          <a:prstGeom prst="rect">
            <a:avLst/>
          </a:prstGeom>
          <a:noFill/>
        </p:spPr>
        <p:txBody>
          <a:bodyPr wrap="none" lIns="0" rIns="0" tIns="0" bIns="0" anchor="t"/>
          <a:lstStyle/>
          <a:p>
            <a:pPr algn="l">
              <a:lnSpc>
                <a:spcPts val="1142"/>
              </a:lnSpc>
            </a:pPr>
            <a:r>
              <a:rPr sz="952" b="0" i="0">
                <a:solidFill>
                  <a:srgbClr val="111111"/>
                </a:solidFill>
                <a:latin typeface="Versos"/>
              </a:rPr>
              <a:t>92,95%</a:t>
            </a:r>
          </a:p>
        </p:txBody>
      </p:sp>
      <p:sp>
        <p:nvSpPr>
          <p:cNvPr id="56" name="TextBox 55"/>
          <p:cNvSpPr txBox="1"/>
          <p:nvPr/>
        </p:nvSpPr>
        <p:spPr>
          <a:xfrm>
            <a:off x="400680" y="894525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714230" y="8943361"/>
            <a:ext cx="470761" cy="143640"/>
          </a:xfrm>
          <a:prstGeom prst="rect">
            <a:avLst/>
          </a:prstGeom>
          <a:noFill/>
        </p:spPr>
        <p:txBody>
          <a:bodyPr wrap="none" lIns="0" rIns="0" tIns="0" bIns="0" anchor="t"/>
          <a:lstStyle/>
          <a:p>
            <a:pPr algn="l">
              <a:lnSpc>
                <a:spcPts val="1142"/>
              </a:lnSpc>
            </a:pPr>
            <a:r>
              <a:rPr sz="952" b="0" i="0">
                <a:solidFill>
                  <a:srgbClr val="111111"/>
                </a:solidFill>
                <a:latin typeface="Versos"/>
              </a:rPr>
              <a:t>32,53%</a:t>
            </a:r>
          </a:p>
        </p:txBody>
      </p:sp>
      <p:sp>
        <p:nvSpPr>
          <p:cNvPr id="58" name="TextBox 57"/>
          <p:cNvSpPr txBox="1"/>
          <p:nvPr/>
        </p:nvSpPr>
        <p:spPr>
          <a:xfrm>
            <a:off x="400680" y="9237965"/>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227318" y="9236075"/>
            <a:ext cx="391645" cy="143640"/>
          </a:xfrm>
          <a:prstGeom prst="rect">
            <a:avLst/>
          </a:prstGeom>
          <a:noFill/>
        </p:spPr>
        <p:txBody>
          <a:bodyPr wrap="none" lIns="0" rIns="0" tIns="0" bIns="0" anchor="t"/>
          <a:lstStyle/>
          <a:p>
            <a:pPr algn="l">
              <a:lnSpc>
                <a:spcPts val="1142"/>
              </a:lnSpc>
            </a:pPr>
            <a:r>
              <a:rPr sz="952" b="0" i="0">
                <a:solidFill>
                  <a:srgbClr val="111111"/>
                </a:solidFill>
                <a:latin typeface="Versos"/>
              </a:rPr>
              <a:t>8,92%</a:t>
            </a:r>
          </a:p>
        </p:txBody>
      </p:sp>
      <p:sp>
        <p:nvSpPr>
          <p:cNvPr id="60" name="TextBox 59"/>
          <p:cNvSpPr txBox="1"/>
          <p:nvPr/>
        </p:nvSpPr>
        <p:spPr>
          <a:xfrm>
            <a:off x="400680" y="953067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218459" y="9528789"/>
            <a:ext cx="400736" cy="143640"/>
          </a:xfrm>
          <a:prstGeom prst="rect">
            <a:avLst/>
          </a:prstGeom>
          <a:noFill/>
        </p:spPr>
        <p:txBody>
          <a:bodyPr wrap="none" lIns="0" rIns="0" tIns="0" bIns="0" anchor="t"/>
          <a:lstStyle/>
          <a:p>
            <a:pPr algn="l">
              <a:lnSpc>
                <a:spcPts val="1142"/>
              </a:lnSpc>
            </a:pPr>
            <a:r>
              <a:rPr sz="952" b="0" i="0">
                <a:solidFill>
                  <a:srgbClr val="111111"/>
                </a:solidFill>
                <a:latin typeface="Versos"/>
              </a:rPr>
              <a:t>8,49%</a:t>
            </a:r>
          </a:p>
        </p:txBody>
      </p:sp>
      <p:sp>
        <p:nvSpPr>
          <p:cNvPr id="62" name="TextBox 61"/>
          <p:cNvSpPr txBox="1"/>
          <p:nvPr/>
        </p:nvSpPr>
        <p:spPr>
          <a:xfrm>
            <a:off x="400680" y="98233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172626" y="9821503"/>
            <a:ext cx="392874" cy="143640"/>
          </a:xfrm>
          <a:prstGeom prst="rect">
            <a:avLst/>
          </a:prstGeom>
          <a:noFill/>
        </p:spPr>
        <p:txBody>
          <a:bodyPr wrap="none" lIns="0" rIns="0" tIns="0" bIns="0" anchor="t"/>
          <a:lstStyle/>
          <a:p>
            <a:pPr algn="l">
              <a:lnSpc>
                <a:spcPts val="1142"/>
              </a:lnSpc>
            </a:pPr>
            <a:r>
              <a:rPr sz="952" b="0" i="0">
                <a:solidFill>
                  <a:srgbClr val="111111"/>
                </a:solidFill>
                <a:latin typeface="Versos"/>
              </a:rPr>
              <a:t>6,28%</a:t>
            </a:r>
          </a:p>
        </p:txBody>
      </p:sp>
      <p:sp>
        <p:nvSpPr>
          <p:cNvPr id="64" name="TextBox 63"/>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5" name="TextBox 64"/>
          <p:cNvSpPr txBox="1"/>
          <p:nvPr/>
        </p:nvSpPr>
        <p:spPr>
          <a:xfrm>
            <a:off x="3802680" y="56462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6" name="TextBox 65"/>
          <p:cNvSpPr txBox="1"/>
          <p:nvPr/>
        </p:nvSpPr>
        <p:spPr>
          <a:xfrm>
            <a:off x="6752497" y="5638578"/>
            <a:ext cx="562161" cy="143640"/>
          </a:xfrm>
          <a:prstGeom prst="rect">
            <a:avLst/>
          </a:prstGeom>
          <a:noFill/>
        </p:spPr>
        <p:txBody>
          <a:bodyPr wrap="none" lIns="0" rIns="0" tIns="0" bIns="0" anchor="t"/>
          <a:lstStyle/>
          <a:p>
            <a:pPr algn="l">
              <a:lnSpc>
                <a:spcPts val="1142"/>
              </a:lnSpc>
            </a:pPr>
            <a:r>
              <a:rPr sz="952" b="0" i="0">
                <a:solidFill>
                  <a:srgbClr val="111111"/>
                </a:solidFill>
                <a:latin typeface="Versos"/>
              </a:rPr>
              <a:t>398,98%</a:t>
            </a:r>
          </a:p>
        </p:txBody>
      </p:sp>
      <p:sp>
        <p:nvSpPr>
          <p:cNvPr id="67" name="TextBox 66"/>
          <p:cNvSpPr txBox="1"/>
          <p:nvPr/>
        </p:nvSpPr>
        <p:spPr>
          <a:xfrm>
            <a:off x="3802680" y="61149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68" name="TextBox 67"/>
          <p:cNvSpPr txBox="1"/>
          <p:nvPr/>
        </p:nvSpPr>
        <p:spPr>
          <a:xfrm>
            <a:off x="5785408" y="6107298"/>
            <a:ext cx="465724" cy="143640"/>
          </a:xfrm>
          <a:prstGeom prst="rect">
            <a:avLst/>
          </a:prstGeom>
          <a:noFill/>
        </p:spPr>
        <p:txBody>
          <a:bodyPr wrap="none" lIns="0" rIns="0" tIns="0" bIns="0" anchor="t"/>
          <a:lstStyle/>
          <a:p>
            <a:pPr algn="l">
              <a:lnSpc>
                <a:spcPts val="1142"/>
              </a:lnSpc>
            </a:pPr>
            <a:r>
              <a:rPr sz="952" b="0" i="0">
                <a:solidFill>
                  <a:srgbClr val="111111"/>
                </a:solidFill>
                <a:latin typeface="Versos"/>
              </a:rPr>
              <a:t>93,73%</a:t>
            </a:r>
          </a:p>
        </p:txBody>
      </p:sp>
      <p:sp>
        <p:nvSpPr>
          <p:cNvPr id="69" name="TextBox 68"/>
          <p:cNvSpPr txBox="1"/>
          <p:nvPr/>
        </p:nvSpPr>
        <p:spPr>
          <a:xfrm>
            <a:off x="3802680" y="65836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0" name="TextBox 69"/>
          <p:cNvSpPr txBox="1"/>
          <p:nvPr/>
        </p:nvSpPr>
        <p:spPr>
          <a:xfrm>
            <a:off x="5535101" y="6576018"/>
            <a:ext cx="446559" cy="143640"/>
          </a:xfrm>
          <a:prstGeom prst="rect">
            <a:avLst/>
          </a:prstGeom>
          <a:noFill/>
        </p:spPr>
        <p:txBody>
          <a:bodyPr wrap="none" lIns="0" rIns="0" tIns="0" bIns="0" anchor="t"/>
          <a:lstStyle/>
          <a:p>
            <a:pPr algn="l">
              <a:lnSpc>
                <a:spcPts val="1142"/>
              </a:lnSpc>
            </a:pPr>
            <a:r>
              <a:rPr sz="952" b="0" i="0">
                <a:solidFill>
                  <a:srgbClr val="111111"/>
                </a:solidFill>
                <a:latin typeface="Versos"/>
              </a:rPr>
              <a:t>14,69%</a:t>
            </a:r>
          </a:p>
        </p:txBody>
      </p:sp>
      <p:sp>
        <p:nvSpPr>
          <p:cNvPr id="71" name="TextBox 70"/>
          <p:cNvSpPr txBox="1"/>
          <p:nvPr/>
        </p:nvSpPr>
        <p:spPr>
          <a:xfrm>
            <a:off x="3802680" y="70524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2" name="TextBox 71"/>
          <p:cNvSpPr txBox="1"/>
          <p:nvPr/>
        </p:nvSpPr>
        <p:spPr>
          <a:xfrm>
            <a:off x="5526241" y="7044738"/>
            <a:ext cx="408844" cy="143640"/>
          </a:xfrm>
          <a:prstGeom prst="rect">
            <a:avLst/>
          </a:prstGeom>
          <a:noFill/>
        </p:spPr>
        <p:txBody>
          <a:bodyPr wrap="none" lIns="0" rIns="0" tIns="0" bIns="0" anchor="t"/>
          <a:lstStyle/>
          <a:p>
            <a:pPr algn="l">
              <a:lnSpc>
                <a:spcPts val="1142"/>
              </a:lnSpc>
            </a:pPr>
            <a:r>
              <a:rPr sz="952" b="0" i="0">
                <a:solidFill>
                  <a:srgbClr val="111111"/>
                </a:solidFill>
                <a:latin typeface="Versos"/>
              </a:rPr>
              <a:t>11,93%</a:t>
            </a:r>
          </a:p>
        </p:txBody>
      </p:sp>
      <p:sp>
        <p:nvSpPr>
          <p:cNvPr id="73" name="TextBox 72"/>
          <p:cNvSpPr txBox="1"/>
          <p:nvPr/>
        </p:nvSpPr>
        <p:spPr>
          <a:xfrm>
            <a:off x="3802680" y="752113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4" name="TextBox 73"/>
          <p:cNvSpPr txBox="1"/>
          <p:nvPr/>
        </p:nvSpPr>
        <p:spPr>
          <a:xfrm>
            <a:off x="5516437" y="7513458"/>
            <a:ext cx="395577" cy="143640"/>
          </a:xfrm>
          <a:prstGeom prst="rect">
            <a:avLst/>
          </a:prstGeom>
          <a:noFill/>
        </p:spPr>
        <p:txBody>
          <a:bodyPr wrap="none" lIns="0" rIns="0" tIns="0" bIns="0" anchor="t"/>
          <a:lstStyle/>
          <a:p>
            <a:pPr algn="l">
              <a:lnSpc>
                <a:spcPts val="1142"/>
              </a:lnSpc>
            </a:pPr>
            <a:r>
              <a:rPr sz="952" b="0" i="0">
                <a:solidFill>
                  <a:srgbClr val="111111"/>
                </a:solidFill>
                <a:latin typeface="Versos"/>
              </a:rPr>
              <a:t>8,84%</a:t>
            </a:r>
          </a:p>
        </p:txBody>
      </p:sp>
      <p:sp>
        <p:nvSpPr>
          <p:cNvPr id="75" name="TextBox 74"/>
          <p:cNvSpPr txBox="1"/>
          <p:nvPr/>
        </p:nvSpPr>
        <p:spPr>
          <a:xfrm>
            <a:off x="3802680" y="7933393"/>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76" name="TextBox 75"/>
          <p:cNvSpPr txBox="1"/>
          <p:nvPr/>
        </p:nvSpPr>
        <p:spPr>
          <a:xfrm>
            <a:off x="5509468" y="7982178"/>
            <a:ext cx="389188" cy="143640"/>
          </a:xfrm>
          <a:prstGeom prst="rect">
            <a:avLst/>
          </a:prstGeom>
          <a:noFill/>
        </p:spPr>
        <p:txBody>
          <a:bodyPr wrap="none" lIns="0" rIns="0" tIns="0" bIns="0" anchor="t"/>
          <a:lstStyle/>
          <a:p>
            <a:pPr algn="l">
              <a:lnSpc>
                <a:spcPts val="1142"/>
              </a:lnSpc>
            </a:pPr>
            <a:r>
              <a:rPr sz="952" b="0" i="0">
                <a:solidFill>
                  <a:srgbClr val="111111"/>
                </a:solidFill>
                <a:latin typeface="Versos"/>
              </a:rPr>
              <a:t>6,65%</a:t>
            </a:r>
          </a:p>
        </p:txBody>
      </p:sp>
      <p:sp>
        <p:nvSpPr>
          <p:cNvPr id="77" name="TextBox 76"/>
          <p:cNvSpPr txBox="1"/>
          <p:nvPr/>
        </p:nvSpPr>
        <p:spPr>
          <a:xfrm>
            <a:off x="3802680" y="84585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8" name="TextBox 77"/>
          <p:cNvSpPr txBox="1"/>
          <p:nvPr/>
        </p:nvSpPr>
        <p:spPr>
          <a:xfrm>
            <a:off x="5508877" y="8450898"/>
            <a:ext cx="396191" cy="143640"/>
          </a:xfrm>
          <a:prstGeom prst="rect">
            <a:avLst/>
          </a:prstGeom>
          <a:noFill/>
        </p:spPr>
        <p:txBody>
          <a:bodyPr wrap="none" lIns="0" rIns="0" tIns="0" bIns="0" anchor="t"/>
          <a:lstStyle/>
          <a:p>
            <a:pPr algn="l">
              <a:lnSpc>
                <a:spcPts val="1142"/>
              </a:lnSpc>
            </a:pPr>
            <a:r>
              <a:rPr sz="952" b="0" i="0">
                <a:solidFill>
                  <a:srgbClr val="111111"/>
                </a:solidFill>
                <a:latin typeface="Versos"/>
              </a:rPr>
              <a:t>6,43%</a:t>
            </a:r>
          </a:p>
        </p:txBody>
      </p:sp>
      <p:sp>
        <p:nvSpPr>
          <p:cNvPr id="79" name="TextBox 78"/>
          <p:cNvSpPr txBox="1"/>
          <p:nvPr/>
        </p:nvSpPr>
        <p:spPr>
          <a:xfrm>
            <a:off x="3802680" y="89272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80" name="TextBox 79"/>
          <p:cNvSpPr txBox="1"/>
          <p:nvPr/>
        </p:nvSpPr>
        <p:spPr>
          <a:xfrm>
            <a:off x="5508050" y="8919618"/>
            <a:ext cx="346682" cy="143640"/>
          </a:xfrm>
          <a:prstGeom prst="rect">
            <a:avLst/>
          </a:prstGeom>
          <a:noFill/>
        </p:spPr>
        <p:txBody>
          <a:bodyPr wrap="none" lIns="0" rIns="0" tIns="0" bIns="0" anchor="t"/>
          <a:lstStyle/>
          <a:p>
            <a:pPr algn="l">
              <a:lnSpc>
                <a:spcPts val="1142"/>
              </a:lnSpc>
            </a:pPr>
            <a:r>
              <a:rPr sz="952" b="0" i="0">
                <a:solidFill>
                  <a:srgbClr val="111111"/>
                </a:solidFill>
                <a:latin typeface="Versos"/>
              </a:rPr>
              <a:t>6,17%</a:t>
            </a:r>
          </a:p>
        </p:txBody>
      </p:sp>
      <p:sp>
        <p:nvSpPr>
          <p:cNvPr id="81" name="TextBox 80"/>
          <p:cNvSpPr txBox="1"/>
          <p:nvPr/>
        </p:nvSpPr>
        <p:spPr>
          <a:xfrm>
            <a:off x="3802680" y="93960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2" name="TextBox 81"/>
          <p:cNvSpPr txBox="1"/>
          <p:nvPr/>
        </p:nvSpPr>
        <p:spPr>
          <a:xfrm>
            <a:off x="5498010" y="9388338"/>
            <a:ext cx="357862" cy="143640"/>
          </a:xfrm>
          <a:prstGeom prst="rect">
            <a:avLst/>
          </a:prstGeom>
          <a:noFill/>
        </p:spPr>
        <p:txBody>
          <a:bodyPr wrap="none" lIns="0" rIns="0" tIns="0" bIns="0" anchor="t"/>
          <a:lstStyle/>
          <a:p>
            <a:pPr algn="l">
              <a:lnSpc>
                <a:spcPts val="1142"/>
              </a:lnSpc>
            </a:pPr>
            <a:r>
              <a:rPr sz="952" b="0" i="0">
                <a:solidFill>
                  <a:srgbClr val="111111"/>
                </a:solidFill>
                <a:latin typeface="Versos"/>
              </a:rPr>
              <a:t>1,95%</a:t>
            </a:r>
          </a:p>
        </p:txBody>
      </p:sp>
      <p:sp>
        <p:nvSpPr>
          <p:cNvPr id="83" name="TextBox 82"/>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7" name="TextBox 6"/>
          <p:cNvSpPr txBox="1"/>
          <p:nvPr/>
        </p:nvSpPr>
        <p:spPr>
          <a:xfrm>
            <a:off x="529200" y="5948893"/>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8" name="TextBox 7"/>
          <p:cNvSpPr txBox="1"/>
          <p:nvPr/>
        </p:nvSpPr>
        <p:spPr>
          <a:xfrm>
            <a:off x="529200" y="6418794"/>
            <a:ext cx="6501600" cy="784704"/>
          </a:xfrm>
          <a:prstGeom prst="rect">
            <a:avLst/>
          </a:prstGeom>
          <a:noFill/>
        </p:spPr>
        <p:txBody>
          <a:bodyPr wrap="square" lIns="0" rIns="0" tIns="0" bIns="0" anchor="t"/>
          <a:lstStyle/>
          <a:p>
            <a:pPr algn="just">
              <a:lnSpc>
                <a:spcPts val="1033"/>
              </a:lnSpc>
            </a:pPr>
            <a:r>
              <a:rPr sz="833"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p:txBody>
      </p:sp>
      <p:sp>
        <p:nvSpPr>
          <p:cNvPr id="9" name="TextBox 8"/>
          <p:cNvSpPr txBox="1"/>
          <p:nvPr/>
        </p:nvSpPr>
        <p:spPr>
          <a:xfrm>
            <a:off x="529200" y="7282406"/>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0" name="TextBox 9"/>
          <p:cNvSpPr txBox="1"/>
          <p:nvPr/>
        </p:nvSpPr>
        <p:spPr>
          <a:xfrm>
            <a:off x="529200" y="8014781"/>
            <a:ext cx="6501600" cy="522230"/>
          </a:xfrm>
          <a:prstGeom prst="rect">
            <a:avLst/>
          </a:prstGeom>
          <a:noFill/>
        </p:spPr>
        <p:txBody>
          <a:bodyPr wrap="square" lIns="0" rIns="0" tIns="0" bIns="0" anchor="t"/>
          <a:lstStyle/>
          <a:p>
            <a:pPr algn="just">
              <a:lnSpc>
                <a:spcPts val="1033"/>
              </a:lnSpc>
            </a:pPr>
            <a:r>
              <a:rPr sz="833"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1" name="TextBox 10"/>
          <p:cNvSpPr txBox="1"/>
          <p:nvPr/>
        </p:nvSpPr>
        <p:spPr>
          <a:xfrm>
            <a:off x="529200" y="8615919"/>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2" name="TextBox 11"/>
          <p:cNvSpPr txBox="1"/>
          <p:nvPr/>
        </p:nvSpPr>
        <p:spPr>
          <a:xfrm>
            <a:off x="529200" y="9348294"/>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Nesse cenário, o Tivio Legacy Prev apresentou rentabilidade de 1,07% no mês (97,36% do CDI) , acumulando 8,91% (95,53% do CDI) no ano. Na parcela de corporativos, os maiores atribuidores de resultado foram para Tupy e Randon, enquanto Hapvida foi o maior detrator.</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14/08/2008</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0,50%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D+2</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R$ 15.553.614,72</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R$ 19.596.377,99</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