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15 FIF – RF CP LP – RL </a:t>
            </a:r>
            <a:r>
              <a:rPr sz="829" b="0" i="0">
                <a:solidFill>
                  <a:srgbClr val="FFFFFF"/>
                </a:solidFill>
                <a:latin typeface="Versos"/>
              </a:rPr>
              <a:t>/ CNPJ 04.240.128/0001-83</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grade/mid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1,11%</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9,53%</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14,94%</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30,92%</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51,22%</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1.644,37%</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1.408,13%</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0,02%</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0,20%</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0,36%</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1,43%</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7,05%</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236,24%</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103%</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116%</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117%</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44" name="TextBox 43"/>
          <p:cNvSpPr txBox="1"/>
          <p:nvPr/>
        </p:nvSpPr>
        <p:spPr>
          <a:xfrm>
            <a:off x="2831928" y="5620269"/>
            <a:ext cx="379237" cy="143640"/>
          </a:xfrm>
          <a:prstGeom prst="rect">
            <a:avLst/>
          </a:prstGeom>
          <a:noFill/>
        </p:spPr>
        <p:txBody>
          <a:bodyPr wrap="none" lIns="0" rIns="0" tIns="0" bIns="0" anchor="t"/>
          <a:lstStyle/>
          <a:p>
            <a:pPr algn="l">
              <a:lnSpc>
                <a:spcPts val="1107"/>
              </a:lnSpc>
            </a:pPr>
            <a:r>
              <a:rPr sz="922" b="0" i="0">
                <a:solidFill>
                  <a:srgbClr val="5A82A0"/>
                </a:solidFill>
                <a:latin typeface="Versos"/>
              </a:rPr>
              <a:t>5,45%</a:t>
            </a:r>
          </a:p>
        </p:txBody>
      </p:sp>
      <p:sp>
        <p:nvSpPr>
          <p:cNvPr id="45" name="TextBox 44"/>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6" name="TextBox 45"/>
          <p:cNvSpPr txBox="1"/>
          <p:nvPr/>
        </p:nvSpPr>
        <p:spPr>
          <a:xfrm>
            <a:off x="2223703" y="6052606"/>
            <a:ext cx="383537" cy="143640"/>
          </a:xfrm>
          <a:prstGeom prst="rect">
            <a:avLst/>
          </a:prstGeom>
          <a:noFill/>
        </p:spPr>
        <p:txBody>
          <a:bodyPr wrap="none" lIns="0" rIns="0" tIns="0" bIns="0" anchor="t"/>
          <a:lstStyle/>
          <a:p>
            <a:pPr algn="l">
              <a:lnSpc>
                <a:spcPts val="1107"/>
              </a:lnSpc>
            </a:pPr>
            <a:r>
              <a:rPr sz="922" b="0" i="0">
                <a:solidFill>
                  <a:srgbClr val="5A82A0"/>
                </a:solidFill>
                <a:latin typeface="Versos"/>
              </a:rPr>
              <a:t>3,43%</a:t>
            </a:r>
          </a:p>
        </p:txBody>
      </p:sp>
      <p:sp>
        <p:nvSpPr>
          <p:cNvPr id="47" name="TextBox 46"/>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8" name="TextBox 47"/>
          <p:cNvSpPr txBox="1"/>
          <p:nvPr/>
        </p:nvSpPr>
        <p:spPr>
          <a:xfrm>
            <a:off x="2178579" y="6484944"/>
            <a:ext cx="380466" cy="143640"/>
          </a:xfrm>
          <a:prstGeom prst="rect">
            <a:avLst/>
          </a:prstGeom>
          <a:noFill/>
        </p:spPr>
        <p:txBody>
          <a:bodyPr wrap="none" lIns="0" rIns="0" tIns="0" bIns="0" anchor="t"/>
          <a:lstStyle/>
          <a:p>
            <a:pPr algn="l">
              <a:lnSpc>
                <a:spcPts val="1107"/>
              </a:lnSpc>
            </a:pPr>
            <a:r>
              <a:rPr sz="922" b="0" i="0">
                <a:solidFill>
                  <a:srgbClr val="5A82A0"/>
                </a:solidFill>
                <a:latin typeface="Versos"/>
              </a:rPr>
              <a:t>3,28%</a:t>
            </a:r>
          </a:p>
        </p:txBody>
      </p:sp>
      <p:sp>
        <p:nvSpPr>
          <p:cNvPr id="49" name="TextBox 48"/>
          <p:cNvSpPr txBox="1"/>
          <p:nvPr/>
        </p:nvSpPr>
        <p:spPr>
          <a:xfrm>
            <a:off x="400680" y="691917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50" name="TextBox 49"/>
          <p:cNvSpPr txBox="1"/>
          <p:nvPr/>
        </p:nvSpPr>
        <p:spPr>
          <a:xfrm>
            <a:off x="2177634" y="6917281"/>
            <a:ext cx="380466" cy="143640"/>
          </a:xfrm>
          <a:prstGeom prst="rect">
            <a:avLst/>
          </a:prstGeom>
          <a:noFill/>
        </p:spPr>
        <p:txBody>
          <a:bodyPr wrap="none" lIns="0" rIns="0" tIns="0" bIns="0" anchor="t"/>
          <a:lstStyle/>
          <a:p>
            <a:pPr algn="l">
              <a:lnSpc>
                <a:spcPts val="1107"/>
              </a:lnSpc>
            </a:pPr>
            <a:r>
              <a:rPr sz="922" b="0" i="0">
                <a:solidFill>
                  <a:srgbClr val="5A82A0"/>
                </a:solidFill>
                <a:latin typeface="Versos"/>
              </a:rPr>
              <a:t>3,28%</a:t>
            </a:r>
          </a:p>
        </p:txBody>
      </p:sp>
      <p:sp>
        <p:nvSpPr>
          <p:cNvPr id="51" name="TextBox 50"/>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1717773" y="7349619"/>
            <a:ext cx="341891" cy="143640"/>
          </a:xfrm>
          <a:prstGeom prst="rect">
            <a:avLst/>
          </a:prstGeom>
          <a:noFill/>
        </p:spPr>
        <p:txBody>
          <a:bodyPr wrap="none" lIns="0" rIns="0" tIns="0" bIns="0" anchor="t"/>
          <a:lstStyle/>
          <a:p>
            <a:pPr algn="l">
              <a:lnSpc>
                <a:spcPts val="1107"/>
              </a:lnSpc>
            </a:pPr>
            <a:r>
              <a:rPr sz="922" b="0" i="0">
                <a:solidFill>
                  <a:srgbClr val="5A82A0"/>
                </a:solidFill>
                <a:latin typeface="Versos"/>
              </a:rPr>
              <a:t>1,76%</a:t>
            </a:r>
          </a:p>
        </p:txBody>
      </p:sp>
      <p:sp>
        <p:nvSpPr>
          <p:cNvPr id="53" name="TextBox 52"/>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251031"/>
            <a:ext cx="474201" cy="143640"/>
          </a:xfrm>
          <a:prstGeom prst="rect">
            <a:avLst/>
          </a:prstGeom>
          <a:noFill/>
        </p:spPr>
        <p:txBody>
          <a:bodyPr wrap="none" lIns="0" rIns="0" tIns="0" bIns="0" anchor="t"/>
          <a:lstStyle/>
          <a:p>
            <a:pPr algn="l">
              <a:lnSpc>
                <a:spcPts val="1142"/>
              </a:lnSpc>
            </a:pPr>
            <a:r>
              <a:rPr sz="952" b="0" i="0">
                <a:solidFill>
                  <a:srgbClr val="111111"/>
                </a:solidFill>
                <a:latin typeface="Versos"/>
              </a:rPr>
              <a:t>32,66%</a:t>
            </a:r>
          </a:p>
        </p:txBody>
      </p:sp>
      <p:sp>
        <p:nvSpPr>
          <p:cNvPr id="56" name="TextBox 55"/>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99242" y="8515158"/>
            <a:ext cx="360564" cy="143640"/>
          </a:xfrm>
          <a:prstGeom prst="rect">
            <a:avLst/>
          </a:prstGeom>
          <a:noFill/>
        </p:spPr>
        <p:txBody>
          <a:bodyPr wrap="none" lIns="0" rIns="0" tIns="0" bIns="0" anchor="t"/>
          <a:lstStyle/>
          <a:p>
            <a:pPr algn="l">
              <a:lnSpc>
                <a:spcPts val="1142"/>
              </a:lnSpc>
            </a:pPr>
            <a:r>
              <a:rPr sz="952" b="0" i="0">
                <a:solidFill>
                  <a:srgbClr val="111111"/>
                </a:solidFill>
                <a:latin typeface="Versos"/>
              </a:rPr>
              <a:t>7,77%</a:t>
            </a:r>
          </a:p>
        </p:txBody>
      </p:sp>
      <p:sp>
        <p:nvSpPr>
          <p:cNvPr id="58" name="TextBox 57"/>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406986" y="8779286"/>
            <a:ext cx="394348" cy="143640"/>
          </a:xfrm>
          <a:prstGeom prst="rect">
            <a:avLst/>
          </a:prstGeom>
          <a:noFill/>
        </p:spPr>
        <p:txBody>
          <a:bodyPr wrap="none" lIns="0" rIns="0" tIns="0" bIns="0" anchor="t"/>
          <a:lstStyle/>
          <a:p>
            <a:pPr algn="l">
              <a:lnSpc>
                <a:spcPts val="1142"/>
              </a:lnSpc>
            </a:pPr>
            <a:r>
              <a:rPr sz="952" b="0" i="0">
                <a:solidFill>
                  <a:srgbClr val="111111"/>
                </a:solidFill>
                <a:latin typeface="Versos"/>
              </a:rPr>
              <a:t>6,20%</a:t>
            </a:r>
          </a:p>
        </p:txBody>
      </p:sp>
      <p:sp>
        <p:nvSpPr>
          <p:cNvPr id="60" name="TextBox 59"/>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375329" y="9043413"/>
            <a:ext cx="395454" cy="143640"/>
          </a:xfrm>
          <a:prstGeom prst="rect">
            <a:avLst/>
          </a:prstGeom>
          <a:noFill/>
        </p:spPr>
        <p:txBody>
          <a:bodyPr wrap="none" lIns="0" rIns="0" tIns="0" bIns="0" anchor="t"/>
          <a:lstStyle/>
          <a:p>
            <a:pPr algn="l">
              <a:lnSpc>
                <a:spcPts val="1142"/>
              </a:lnSpc>
            </a:pPr>
            <a:r>
              <a:rPr sz="952" b="0" i="0">
                <a:solidFill>
                  <a:srgbClr val="111111"/>
                </a:solidFill>
                <a:latin typeface="Versos"/>
              </a:rPr>
              <a:t>5,66%</a:t>
            </a:r>
          </a:p>
        </p:txBody>
      </p:sp>
      <p:sp>
        <p:nvSpPr>
          <p:cNvPr id="62" name="TextBox 61"/>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291696" y="9307541"/>
            <a:ext cx="393120" cy="143640"/>
          </a:xfrm>
          <a:prstGeom prst="rect">
            <a:avLst/>
          </a:prstGeom>
          <a:noFill/>
        </p:spPr>
        <p:txBody>
          <a:bodyPr wrap="none" lIns="0" rIns="0" tIns="0" bIns="0" anchor="t"/>
          <a:lstStyle/>
          <a:p>
            <a:pPr algn="l">
              <a:lnSpc>
                <a:spcPts val="1142"/>
              </a:lnSpc>
            </a:pPr>
            <a:r>
              <a:rPr sz="952" b="0" i="0">
                <a:solidFill>
                  <a:srgbClr val="111111"/>
                </a:solidFill>
                <a:latin typeface="Versos"/>
              </a:rPr>
              <a:t>4,23%</a:t>
            </a:r>
          </a:p>
        </p:txBody>
      </p:sp>
      <p:sp>
        <p:nvSpPr>
          <p:cNvPr id="64" name="TextBox 63"/>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5" name="TextBox 64"/>
          <p:cNvSpPr txBox="1"/>
          <p:nvPr/>
        </p:nvSpPr>
        <p:spPr>
          <a:xfrm>
            <a:off x="1284018" y="9571668"/>
            <a:ext cx="361301" cy="143640"/>
          </a:xfrm>
          <a:prstGeom prst="rect">
            <a:avLst/>
          </a:prstGeom>
          <a:noFill/>
        </p:spPr>
        <p:txBody>
          <a:bodyPr wrap="none" lIns="0" rIns="0" tIns="0" bIns="0" anchor="t"/>
          <a:lstStyle/>
          <a:p>
            <a:pPr algn="l">
              <a:lnSpc>
                <a:spcPts val="1142"/>
              </a:lnSpc>
            </a:pPr>
            <a:r>
              <a:rPr sz="952" b="0" i="0">
                <a:solidFill>
                  <a:srgbClr val="111111"/>
                </a:solidFill>
                <a:latin typeface="Versos"/>
              </a:rPr>
              <a:t>4,10%</a:t>
            </a:r>
          </a:p>
        </p:txBody>
      </p:sp>
      <p:sp>
        <p:nvSpPr>
          <p:cNvPr id="66" name="TextBox 65"/>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7" name="TextBox 66"/>
          <p:cNvSpPr txBox="1"/>
          <p:nvPr/>
        </p:nvSpPr>
        <p:spPr>
          <a:xfrm>
            <a:off x="1083206" y="9835796"/>
            <a:ext cx="398525" cy="143640"/>
          </a:xfrm>
          <a:prstGeom prst="rect">
            <a:avLst/>
          </a:prstGeom>
          <a:noFill/>
        </p:spPr>
        <p:txBody>
          <a:bodyPr wrap="none" lIns="0" rIns="0" tIns="0" bIns="0" anchor="t"/>
          <a:lstStyle/>
          <a:p>
            <a:pPr algn="l">
              <a:lnSpc>
                <a:spcPts val="1142"/>
              </a:lnSpc>
            </a:pPr>
            <a:r>
              <a:rPr sz="952" b="0" i="0">
                <a:solidFill>
                  <a:srgbClr val="111111"/>
                </a:solidFill>
                <a:latin typeface="Versos"/>
              </a:rPr>
              <a:t>0,68%</a:t>
            </a:r>
          </a:p>
        </p:txBody>
      </p:sp>
      <p:sp>
        <p:nvSpPr>
          <p:cNvPr id="68" name="TextBox 67"/>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9" name="TextBox 68"/>
          <p:cNvSpPr txBox="1"/>
          <p:nvPr/>
        </p:nvSpPr>
        <p:spPr>
          <a:xfrm>
            <a:off x="3802680" y="55260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0" name="TextBox 69"/>
          <p:cNvSpPr txBox="1"/>
          <p:nvPr/>
        </p:nvSpPr>
        <p:spPr>
          <a:xfrm>
            <a:off x="6752497" y="5518209"/>
            <a:ext cx="447542" cy="143640"/>
          </a:xfrm>
          <a:prstGeom prst="rect">
            <a:avLst/>
          </a:prstGeom>
          <a:noFill/>
        </p:spPr>
        <p:txBody>
          <a:bodyPr wrap="none" lIns="0" rIns="0" tIns="0" bIns="0" anchor="t"/>
          <a:lstStyle/>
          <a:p>
            <a:pPr algn="l">
              <a:lnSpc>
                <a:spcPts val="1142"/>
              </a:lnSpc>
            </a:pPr>
            <a:r>
              <a:rPr sz="952" b="0" i="0">
                <a:solidFill>
                  <a:srgbClr val="111111"/>
                </a:solidFill>
                <a:latin typeface="Versos"/>
              </a:rPr>
              <a:t>27,95%</a:t>
            </a:r>
          </a:p>
        </p:txBody>
      </p:sp>
      <p:sp>
        <p:nvSpPr>
          <p:cNvPr id="71" name="TextBox 70"/>
          <p:cNvSpPr txBox="1"/>
          <p:nvPr/>
        </p:nvSpPr>
        <p:spPr>
          <a:xfrm>
            <a:off x="3802680" y="57541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2" name="TextBox 71"/>
          <p:cNvSpPr txBox="1"/>
          <p:nvPr/>
        </p:nvSpPr>
        <p:spPr>
          <a:xfrm>
            <a:off x="6716233" y="5746426"/>
            <a:ext cx="406756" cy="143640"/>
          </a:xfrm>
          <a:prstGeom prst="rect">
            <a:avLst/>
          </a:prstGeom>
          <a:noFill/>
        </p:spPr>
        <p:txBody>
          <a:bodyPr wrap="none" lIns="0" rIns="0" tIns="0" bIns="0" anchor="t"/>
          <a:lstStyle/>
          <a:p>
            <a:pPr algn="l">
              <a:lnSpc>
                <a:spcPts val="1142"/>
              </a:lnSpc>
            </a:pPr>
            <a:r>
              <a:rPr sz="952" b="0" i="0">
                <a:solidFill>
                  <a:srgbClr val="111111"/>
                </a:solidFill>
                <a:latin typeface="Versos"/>
              </a:rPr>
              <a:t>27,15%</a:t>
            </a:r>
          </a:p>
        </p:txBody>
      </p:sp>
      <p:sp>
        <p:nvSpPr>
          <p:cNvPr id="73" name="TextBox 72"/>
          <p:cNvSpPr txBox="1"/>
          <p:nvPr/>
        </p:nvSpPr>
        <p:spPr>
          <a:xfrm>
            <a:off x="3802680" y="598232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6078121" y="5974526"/>
            <a:ext cx="438697" cy="143640"/>
          </a:xfrm>
          <a:prstGeom prst="rect">
            <a:avLst/>
          </a:prstGeom>
          <a:noFill/>
        </p:spPr>
        <p:txBody>
          <a:bodyPr wrap="none" lIns="0" rIns="0" tIns="0" bIns="0" anchor="t"/>
          <a:lstStyle/>
          <a:p>
            <a:pPr algn="l">
              <a:lnSpc>
                <a:spcPts val="1142"/>
              </a:lnSpc>
            </a:pPr>
            <a:r>
              <a:rPr sz="952" b="0" i="0">
                <a:solidFill>
                  <a:srgbClr val="111111"/>
                </a:solidFill>
                <a:latin typeface="Versos"/>
              </a:rPr>
              <a:t>13,04%</a:t>
            </a:r>
          </a:p>
        </p:txBody>
      </p:sp>
      <p:sp>
        <p:nvSpPr>
          <p:cNvPr id="75" name="TextBox 74"/>
          <p:cNvSpPr txBox="1"/>
          <p:nvPr/>
        </p:nvSpPr>
        <p:spPr>
          <a:xfrm>
            <a:off x="3802680" y="62104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6" name="TextBox 75"/>
          <p:cNvSpPr txBox="1"/>
          <p:nvPr/>
        </p:nvSpPr>
        <p:spPr>
          <a:xfrm>
            <a:off x="5809387" y="6202743"/>
            <a:ext cx="340294" cy="143640"/>
          </a:xfrm>
          <a:prstGeom prst="rect">
            <a:avLst/>
          </a:prstGeom>
          <a:noFill/>
        </p:spPr>
        <p:txBody>
          <a:bodyPr wrap="none" lIns="0" rIns="0" tIns="0" bIns="0" anchor="t"/>
          <a:lstStyle/>
          <a:p>
            <a:pPr algn="l">
              <a:lnSpc>
                <a:spcPts val="1142"/>
              </a:lnSpc>
            </a:pPr>
            <a:r>
              <a:rPr sz="952" b="0" i="0">
                <a:solidFill>
                  <a:srgbClr val="111111"/>
                </a:solidFill>
                <a:latin typeface="Versos"/>
              </a:rPr>
              <a:t>7,10%</a:t>
            </a:r>
          </a:p>
        </p:txBody>
      </p:sp>
      <p:sp>
        <p:nvSpPr>
          <p:cNvPr id="77" name="TextBox 76"/>
          <p:cNvSpPr txBox="1"/>
          <p:nvPr/>
        </p:nvSpPr>
        <p:spPr>
          <a:xfrm>
            <a:off x="3802680" y="643863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8" name="TextBox 77"/>
          <p:cNvSpPr txBox="1"/>
          <p:nvPr/>
        </p:nvSpPr>
        <p:spPr>
          <a:xfrm>
            <a:off x="5661967" y="6430843"/>
            <a:ext cx="392260" cy="143640"/>
          </a:xfrm>
          <a:prstGeom prst="rect">
            <a:avLst/>
          </a:prstGeom>
          <a:noFill/>
        </p:spPr>
        <p:txBody>
          <a:bodyPr wrap="none" lIns="0" rIns="0" tIns="0" bIns="0" anchor="t"/>
          <a:lstStyle/>
          <a:p>
            <a:pPr algn="l">
              <a:lnSpc>
                <a:spcPts val="1142"/>
              </a:lnSpc>
            </a:pPr>
            <a:r>
              <a:rPr sz="952" b="0" i="0">
                <a:solidFill>
                  <a:srgbClr val="111111"/>
                </a:solidFill>
                <a:latin typeface="Versos"/>
              </a:rPr>
              <a:t>3,84%</a:t>
            </a:r>
          </a:p>
        </p:txBody>
      </p:sp>
      <p:sp>
        <p:nvSpPr>
          <p:cNvPr id="79" name="TextBox 78"/>
          <p:cNvSpPr txBox="1"/>
          <p:nvPr/>
        </p:nvSpPr>
        <p:spPr>
          <a:xfrm>
            <a:off x="3802680" y="666673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80" name="TextBox 79"/>
          <p:cNvSpPr txBox="1"/>
          <p:nvPr/>
        </p:nvSpPr>
        <p:spPr>
          <a:xfrm>
            <a:off x="5644603" y="6659060"/>
            <a:ext cx="391768" cy="143640"/>
          </a:xfrm>
          <a:prstGeom prst="rect">
            <a:avLst/>
          </a:prstGeom>
          <a:noFill/>
        </p:spPr>
        <p:txBody>
          <a:bodyPr wrap="none" lIns="0" rIns="0" tIns="0" bIns="0" anchor="t"/>
          <a:lstStyle/>
          <a:p>
            <a:pPr algn="l">
              <a:lnSpc>
                <a:spcPts val="1142"/>
              </a:lnSpc>
            </a:pPr>
            <a:r>
              <a:rPr sz="952" b="0" i="0">
                <a:solidFill>
                  <a:srgbClr val="111111"/>
                </a:solidFill>
                <a:latin typeface="Versos"/>
              </a:rPr>
              <a:t>3,45%</a:t>
            </a:r>
          </a:p>
        </p:txBody>
      </p:sp>
      <p:sp>
        <p:nvSpPr>
          <p:cNvPr id="81" name="TextBox 80"/>
          <p:cNvSpPr txBox="1"/>
          <p:nvPr/>
        </p:nvSpPr>
        <p:spPr>
          <a:xfrm>
            <a:off x="3802680" y="6838374"/>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2" name="TextBox 81"/>
          <p:cNvSpPr txBox="1"/>
          <p:nvPr/>
        </p:nvSpPr>
        <p:spPr>
          <a:xfrm>
            <a:off x="5641768" y="6887160"/>
            <a:ext cx="396191" cy="143640"/>
          </a:xfrm>
          <a:prstGeom prst="rect">
            <a:avLst/>
          </a:prstGeom>
          <a:noFill/>
        </p:spPr>
        <p:txBody>
          <a:bodyPr wrap="none" lIns="0" rIns="0" tIns="0" bIns="0" anchor="t"/>
          <a:lstStyle/>
          <a:p>
            <a:pPr algn="l">
              <a:lnSpc>
                <a:spcPts val="1142"/>
              </a:lnSpc>
            </a:pPr>
            <a:r>
              <a:rPr sz="952" b="0" i="0">
                <a:solidFill>
                  <a:srgbClr val="111111"/>
                </a:solidFill>
                <a:latin typeface="Versos"/>
              </a:rPr>
              <a:t>3,39%</a:t>
            </a:r>
          </a:p>
        </p:txBody>
      </p:sp>
      <p:sp>
        <p:nvSpPr>
          <p:cNvPr id="83" name="TextBox 82"/>
          <p:cNvSpPr txBox="1"/>
          <p:nvPr/>
        </p:nvSpPr>
        <p:spPr>
          <a:xfrm>
            <a:off x="3802680" y="71230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4" name="TextBox 83"/>
          <p:cNvSpPr txBox="1"/>
          <p:nvPr/>
        </p:nvSpPr>
        <p:spPr>
          <a:xfrm>
            <a:off x="5609047" y="7115377"/>
            <a:ext cx="379975" cy="143640"/>
          </a:xfrm>
          <a:prstGeom prst="rect">
            <a:avLst/>
          </a:prstGeom>
          <a:noFill/>
        </p:spPr>
        <p:txBody>
          <a:bodyPr wrap="none" lIns="0" rIns="0" tIns="0" bIns="0" anchor="t"/>
          <a:lstStyle/>
          <a:p>
            <a:pPr algn="l">
              <a:lnSpc>
                <a:spcPts val="1142"/>
              </a:lnSpc>
            </a:pPr>
            <a:r>
              <a:rPr sz="952" b="0" i="0">
                <a:solidFill>
                  <a:srgbClr val="111111"/>
                </a:solidFill>
                <a:latin typeface="Versos"/>
              </a:rPr>
              <a:t>2,67%</a:t>
            </a:r>
          </a:p>
        </p:txBody>
      </p:sp>
      <p:sp>
        <p:nvSpPr>
          <p:cNvPr id="85" name="TextBox 84"/>
          <p:cNvSpPr txBox="1"/>
          <p:nvPr/>
        </p:nvSpPr>
        <p:spPr>
          <a:xfrm>
            <a:off x="3802680" y="7351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6" name="TextBox 85"/>
          <p:cNvSpPr txBox="1"/>
          <p:nvPr/>
        </p:nvSpPr>
        <p:spPr>
          <a:xfrm>
            <a:off x="5590620" y="7343476"/>
            <a:ext cx="390663" cy="143640"/>
          </a:xfrm>
          <a:prstGeom prst="rect">
            <a:avLst/>
          </a:prstGeom>
          <a:noFill/>
        </p:spPr>
        <p:txBody>
          <a:bodyPr wrap="none" lIns="0" rIns="0" tIns="0" bIns="0" anchor="t"/>
          <a:lstStyle/>
          <a:p>
            <a:pPr algn="l">
              <a:lnSpc>
                <a:spcPts val="1142"/>
              </a:lnSpc>
            </a:pPr>
            <a:r>
              <a:rPr sz="952" b="0" i="0">
                <a:solidFill>
                  <a:srgbClr val="111111"/>
                </a:solidFill>
                <a:latin typeface="Versos"/>
              </a:rPr>
              <a:t>2,26%</a:t>
            </a:r>
          </a:p>
        </p:txBody>
      </p:sp>
      <p:sp>
        <p:nvSpPr>
          <p:cNvPr id="87" name="TextBox 86"/>
          <p:cNvSpPr txBox="1"/>
          <p:nvPr/>
        </p:nvSpPr>
        <p:spPr>
          <a:xfrm>
            <a:off x="3802680" y="757937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8" name="TextBox 87"/>
          <p:cNvSpPr txBox="1"/>
          <p:nvPr/>
        </p:nvSpPr>
        <p:spPr>
          <a:xfrm>
            <a:off x="5578453" y="7571694"/>
            <a:ext cx="364741" cy="143640"/>
          </a:xfrm>
          <a:prstGeom prst="rect">
            <a:avLst/>
          </a:prstGeom>
          <a:noFill/>
        </p:spPr>
        <p:txBody>
          <a:bodyPr wrap="none" lIns="0" rIns="0" tIns="0" bIns="0" anchor="t"/>
          <a:lstStyle/>
          <a:p>
            <a:pPr algn="l">
              <a:lnSpc>
                <a:spcPts val="1142"/>
              </a:lnSpc>
            </a:pPr>
            <a:r>
              <a:rPr sz="952" b="0" i="0">
                <a:solidFill>
                  <a:srgbClr val="111111"/>
                </a:solidFill>
                <a:latin typeface="Versos"/>
              </a:rPr>
              <a:t>1,99%</a:t>
            </a:r>
          </a:p>
        </p:txBody>
      </p:sp>
      <p:sp>
        <p:nvSpPr>
          <p:cNvPr id="89" name="TextBox 88"/>
          <p:cNvSpPr txBox="1"/>
          <p:nvPr/>
        </p:nvSpPr>
        <p:spPr>
          <a:xfrm>
            <a:off x="3802680" y="780759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572192" y="7799793"/>
            <a:ext cx="360196" cy="143640"/>
          </a:xfrm>
          <a:prstGeom prst="rect">
            <a:avLst/>
          </a:prstGeom>
          <a:noFill/>
        </p:spPr>
        <p:txBody>
          <a:bodyPr wrap="none" lIns="0" rIns="0" tIns="0" bIns="0" anchor="t"/>
          <a:lstStyle/>
          <a:p>
            <a:pPr algn="l">
              <a:lnSpc>
                <a:spcPts val="1142"/>
              </a:lnSpc>
            </a:pPr>
            <a:r>
              <a:rPr sz="952" b="0" i="0">
                <a:solidFill>
                  <a:srgbClr val="111111"/>
                </a:solidFill>
                <a:latin typeface="Versos"/>
              </a:rPr>
              <a:t>1,85%</a:t>
            </a:r>
          </a:p>
        </p:txBody>
      </p:sp>
      <p:sp>
        <p:nvSpPr>
          <p:cNvPr id="91" name="TextBox 90"/>
          <p:cNvSpPr txBox="1"/>
          <p:nvPr/>
        </p:nvSpPr>
        <p:spPr>
          <a:xfrm>
            <a:off x="3802680" y="803568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92" name="TextBox 91"/>
          <p:cNvSpPr txBox="1"/>
          <p:nvPr/>
        </p:nvSpPr>
        <p:spPr>
          <a:xfrm>
            <a:off x="5543133" y="8028011"/>
            <a:ext cx="325429" cy="143640"/>
          </a:xfrm>
          <a:prstGeom prst="rect">
            <a:avLst/>
          </a:prstGeom>
          <a:noFill/>
        </p:spPr>
        <p:txBody>
          <a:bodyPr wrap="none" lIns="0" rIns="0" tIns="0" bIns="0" anchor="t"/>
          <a:lstStyle/>
          <a:p>
            <a:pPr algn="l">
              <a:lnSpc>
                <a:spcPts val="1142"/>
              </a:lnSpc>
            </a:pPr>
            <a:r>
              <a:rPr sz="952" b="0" i="0">
                <a:solidFill>
                  <a:srgbClr val="111111"/>
                </a:solidFill>
                <a:latin typeface="Versos"/>
              </a:rPr>
              <a:t>1,21%</a:t>
            </a:r>
          </a:p>
        </p:txBody>
      </p:sp>
      <p:sp>
        <p:nvSpPr>
          <p:cNvPr id="93" name="TextBox 92"/>
          <p:cNvSpPr txBox="1"/>
          <p:nvPr/>
        </p:nvSpPr>
        <p:spPr>
          <a:xfrm>
            <a:off x="3802680" y="82639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535573" y="8256228"/>
            <a:ext cx="360687" cy="143640"/>
          </a:xfrm>
          <a:prstGeom prst="rect">
            <a:avLst/>
          </a:prstGeom>
          <a:noFill/>
        </p:spPr>
        <p:txBody>
          <a:bodyPr wrap="none" lIns="0" rIns="0" tIns="0" bIns="0" anchor="t"/>
          <a:lstStyle/>
          <a:p>
            <a:pPr algn="l">
              <a:lnSpc>
                <a:spcPts val="1142"/>
              </a:lnSpc>
            </a:pPr>
            <a:r>
              <a:rPr sz="952" b="0" i="0">
                <a:solidFill>
                  <a:srgbClr val="111111"/>
                </a:solidFill>
                <a:latin typeface="Versos"/>
              </a:rPr>
              <a:t>1,04%</a:t>
            </a:r>
          </a:p>
        </p:txBody>
      </p:sp>
      <p:sp>
        <p:nvSpPr>
          <p:cNvPr id="95" name="TextBox 94"/>
          <p:cNvSpPr txBox="1"/>
          <p:nvPr/>
        </p:nvSpPr>
        <p:spPr>
          <a:xfrm>
            <a:off x="3802680" y="849212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6" name="TextBox 95"/>
          <p:cNvSpPr txBox="1"/>
          <p:nvPr/>
        </p:nvSpPr>
        <p:spPr>
          <a:xfrm>
            <a:off x="5528013" y="8484446"/>
            <a:ext cx="386608" cy="143640"/>
          </a:xfrm>
          <a:prstGeom prst="rect">
            <a:avLst/>
          </a:prstGeom>
          <a:noFill/>
        </p:spPr>
        <p:txBody>
          <a:bodyPr wrap="none" lIns="0" rIns="0" tIns="0" bIns="0" anchor="t"/>
          <a:lstStyle/>
          <a:p>
            <a:pPr algn="l">
              <a:lnSpc>
                <a:spcPts val="1142"/>
              </a:lnSpc>
            </a:pPr>
            <a:r>
              <a:rPr sz="952" b="0" i="0">
                <a:solidFill>
                  <a:srgbClr val="111111"/>
                </a:solidFill>
                <a:latin typeface="Versos"/>
              </a:rPr>
              <a:t>0,87%</a:t>
            </a:r>
          </a:p>
        </p:txBody>
      </p:sp>
      <p:sp>
        <p:nvSpPr>
          <p:cNvPr id="97" name="TextBox 96"/>
          <p:cNvSpPr txBox="1"/>
          <p:nvPr/>
        </p:nvSpPr>
        <p:spPr>
          <a:xfrm>
            <a:off x="3802680" y="8720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Agropecuária</a:t>
            </a:r>
          </a:p>
        </p:txBody>
      </p:sp>
      <p:sp>
        <p:nvSpPr>
          <p:cNvPr id="98" name="TextBox 97"/>
          <p:cNvSpPr txBox="1"/>
          <p:nvPr/>
        </p:nvSpPr>
        <p:spPr>
          <a:xfrm>
            <a:off x="5516201" y="8712663"/>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0,61%</a:t>
            </a:r>
          </a:p>
        </p:txBody>
      </p:sp>
      <p:sp>
        <p:nvSpPr>
          <p:cNvPr id="99" name="TextBox 98"/>
          <p:cNvSpPr txBox="1"/>
          <p:nvPr/>
        </p:nvSpPr>
        <p:spPr>
          <a:xfrm>
            <a:off x="3802680" y="894855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0" name="TextBox 99"/>
          <p:cNvSpPr txBox="1"/>
          <p:nvPr/>
        </p:nvSpPr>
        <p:spPr>
          <a:xfrm>
            <a:off x="5512657" y="8940881"/>
            <a:ext cx="395208" cy="143640"/>
          </a:xfrm>
          <a:prstGeom prst="rect">
            <a:avLst/>
          </a:prstGeom>
          <a:noFill/>
        </p:spPr>
        <p:txBody>
          <a:bodyPr wrap="none" lIns="0" rIns="0" tIns="0" bIns="0" anchor="t"/>
          <a:lstStyle/>
          <a:p>
            <a:pPr algn="l">
              <a:lnSpc>
                <a:spcPts val="1142"/>
              </a:lnSpc>
            </a:pPr>
            <a:r>
              <a:rPr sz="952" b="0" i="0">
                <a:solidFill>
                  <a:srgbClr val="111111"/>
                </a:solidFill>
                <a:latin typeface="Versos"/>
              </a:rPr>
              <a:t>0,53%</a:t>
            </a:r>
          </a:p>
        </p:txBody>
      </p:sp>
      <p:sp>
        <p:nvSpPr>
          <p:cNvPr id="101" name="TextBox 100"/>
          <p:cNvSpPr txBox="1"/>
          <p:nvPr/>
        </p:nvSpPr>
        <p:spPr>
          <a:xfrm>
            <a:off x="3802680" y="91767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102" name="TextBox 101"/>
          <p:cNvSpPr txBox="1"/>
          <p:nvPr/>
        </p:nvSpPr>
        <p:spPr>
          <a:xfrm>
            <a:off x="5511358" y="9169098"/>
            <a:ext cx="356633" cy="143640"/>
          </a:xfrm>
          <a:prstGeom prst="rect">
            <a:avLst/>
          </a:prstGeom>
          <a:noFill/>
        </p:spPr>
        <p:txBody>
          <a:bodyPr wrap="none" lIns="0" rIns="0" tIns="0" bIns="0" anchor="t"/>
          <a:lstStyle/>
          <a:p>
            <a:pPr algn="l">
              <a:lnSpc>
                <a:spcPts val="1142"/>
              </a:lnSpc>
            </a:pPr>
            <a:r>
              <a:rPr sz="952" b="0" i="0">
                <a:solidFill>
                  <a:srgbClr val="111111"/>
                </a:solidFill>
                <a:latin typeface="Versos"/>
              </a:rPr>
              <a:t>0,51%</a:t>
            </a:r>
          </a:p>
        </p:txBody>
      </p:sp>
      <p:sp>
        <p:nvSpPr>
          <p:cNvPr id="103" name="TextBox 102"/>
          <p:cNvSpPr txBox="1"/>
          <p:nvPr/>
        </p:nvSpPr>
        <p:spPr>
          <a:xfrm>
            <a:off x="3802680" y="940499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04" name="TextBox 103"/>
          <p:cNvSpPr txBox="1"/>
          <p:nvPr/>
        </p:nvSpPr>
        <p:spPr>
          <a:xfrm>
            <a:off x="5499191" y="9397316"/>
            <a:ext cx="385871" cy="143640"/>
          </a:xfrm>
          <a:prstGeom prst="rect">
            <a:avLst/>
          </a:prstGeom>
          <a:noFill/>
        </p:spPr>
        <p:txBody>
          <a:bodyPr wrap="none" lIns="0" rIns="0" tIns="0" bIns="0" anchor="t"/>
          <a:lstStyle/>
          <a:p>
            <a:pPr algn="l">
              <a:lnSpc>
                <a:spcPts val="1142"/>
              </a:lnSpc>
            </a:pPr>
            <a:r>
              <a:rPr sz="952" b="0" i="0">
                <a:solidFill>
                  <a:srgbClr val="111111"/>
                </a:solidFill>
                <a:latin typeface="Versos"/>
              </a:rPr>
              <a:t>0,24%</a:t>
            </a:r>
          </a:p>
        </p:txBody>
      </p:sp>
      <p:sp>
        <p:nvSpPr>
          <p:cNvPr id="105" name="TextBox 104"/>
          <p:cNvSpPr txBox="1"/>
          <p:nvPr/>
        </p:nvSpPr>
        <p:spPr>
          <a:xfrm>
            <a:off x="3802680" y="963321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Têxtil e Calçados</a:t>
            </a:r>
          </a:p>
        </p:txBody>
      </p:sp>
      <p:sp>
        <p:nvSpPr>
          <p:cNvPr id="106" name="TextBox 105"/>
          <p:cNvSpPr txBox="1"/>
          <p:nvPr/>
        </p:nvSpPr>
        <p:spPr>
          <a:xfrm>
            <a:off x="5498010" y="9625533"/>
            <a:ext cx="349139" cy="143640"/>
          </a:xfrm>
          <a:prstGeom prst="rect">
            <a:avLst/>
          </a:prstGeom>
          <a:noFill/>
        </p:spPr>
        <p:txBody>
          <a:bodyPr wrap="none" lIns="0" rIns="0" tIns="0" bIns="0" anchor="t"/>
          <a:lstStyle/>
          <a:p>
            <a:pPr algn="l">
              <a:lnSpc>
                <a:spcPts val="1142"/>
              </a:lnSpc>
            </a:pPr>
            <a:r>
              <a:rPr sz="952" b="0" i="0">
                <a:solidFill>
                  <a:srgbClr val="111111"/>
                </a:solidFill>
                <a:latin typeface="Versos"/>
              </a:rPr>
              <a:t>0,17%</a:t>
            </a:r>
          </a:p>
        </p:txBody>
      </p:sp>
      <p:sp>
        <p:nvSpPr>
          <p:cNvPr id="107" name="TextBox 106"/>
          <p:cNvSpPr txBox="1"/>
          <p:nvPr/>
        </p:nvSpPr>
        <p:spPr>
          <a:xfrm>
            <a:off x="3802680" y="9804965"/>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Empreendimentos e participações</a:t>
            </a:r>
          </a:p>
        </p:txBody>
      </p:sp>
      <p:sp>
        <p:nvSpPr>
          <p:cNvPr id="108" name="TextBox 107"/>
          <p:cNvSpPr txBox="1"/>
          <p:nvPr/>
        </p:nvSpPr>
        <p:spPr>
          <a:xfrm>
            <a:off x="5498010" y="9853751"/>
            <a:ext cx="357862" cy="143640"/>
          </a:xfrm>
          <a:prstGeom prst="rect">
            <a:avLst/>
          </a:prstGeom>
          <a:noFill/>
        </p:spPr>
        <p:txBody>
          <a:bodyPr wrap="none" lIns="0" rIns="0" tIns="0" bIns="0" anchor="t"/>
          <a:lstStyle/>
          <a:p>
            <a:pPr algn="l">
              <a:lnSpc>
                <a:spcPts val="1142"/>
              </a:lnSpc>
            </a:pPr>
            <a:r>
              <a:rPr sz="952" b="0" i="0">
                <a:solidFill>
                  <a:srgbClr val="111111"/>
                </a:solidFill>
                <a:latin typeface="Versos"/>
              </a:rPr>
              <a:t>0,16%</a:t>
            </a:r>
          </a:p>
        </p:txBody>
      </p:sp>
      <p:sp>
        <p:nvSpPr>
          <p:cNvPr id="109" name="TextBox 10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7" name="TextBox 6"/>
          <p:cNvSpPr txBox="1"/>
          <p:nvPr/>
        </p:nvSpPr>
        <p:spPr>
          <a:xfrm>
            <a:off x="529200" y="5948893"/>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8" name="TextBox 7"/>
          <p:cNvSpPr txBox="1"/>
          <p:nvPr/>
        </p:nvSpPr>
        <p:spPr>
          <a:xfrm>
            <a:off x="529200" y="6418794"/>
            <a:ext cx="6501600" cy="784704"/>
          </a:xfrm>
          <a:prstGeom prst="rect">
            <a:avLst/>
          </a:prstGeom>
          <a:noFill/>
        </p:spPr>
        <p:txBody>
          <a:bodyPr wrap="square" lIns="0" rIns="0" tIns="0" bIns="0" anchor="t"/>
          <a:lstStyle/>
          <a:p>
            <a:pPr algn="just">
              <a:lnSpc>
                <a:spcPts val="1033"/>
              </a:lnSpc>
            </a:pPr>
            <a:r>
              <a:rPr sz="833"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p:txBody>
      </p:sp>
      <p:sp>
        <p:nvSpPr>
          <p:cNvPr id="9" name="TextBox 8"/>
          <p:cNvSpPr txBox="1"/>
          <p:nvPr/>
        </p:nvSpPr>
        <p:spPr>
          <a:xfrm>
            <a:off x="529200" y="7282406"/>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0" name="TextBox 9"/>
          <p:cNvSpPr txBox="1"/>
          <p:nvPr/>
        </p:nvSpPr>
        <p:spPr>
          <a:xfrm>
            <a:off x="529200" y="8014781"/>
            <a:ext cx="6501600" cy="522230"/>
          </a:xfrm>
          <a:prstGeom prst="rect">
            <a:avLst/>
          </a:prstGeom>
          <a:noFill/>
        </p:spPr>
        <p:txBody>
          <a:bodyPr wrap="square" lIns="0" rIns="0" tIns="0" bIns="0" anchor="t"/>
          <a:lstStyle/>
          <a:p>
            <a:pPr algn="just">
              <a:lnSpc>
                <a:spcPts val="1033"/>
              </a:lnSpc>
            </a:pPr>
            <a:r>
              <a:rPr sz="833"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1" name="TextBox 10"/>
          <p:cNvSpPr txBox="1"/>
          <p:nvPr/>
        </p:nvSpPr>
        <p:spPr>
          <a:xfrm>
            <a:off x="529200" y="8615919"/>
            <a:ext cx="6501600" cy="653467"/>
          </a:xfrm>
          <a:prstGeom prst="rect">
            <a:avLst/>
          </a:prstGeom>
          <a:noFill/>
        </p:spPr>
        <p:txBody>
          <a:bodyPr wrap="square" lIns="0" rIns="0" tIns="0" bIns="0" anchor="t"/>
          <a:lstStyle/>
          <a:p>
            <a:pPr algn="just">
              <a:lnSpc>
                <a:spcPts val="1033"/>
              </a:lnSpc>
            </a:pPr>
            <a:r>
              <a:rPr sz="833"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2" name="TextBox 11"/>
          <p:cNvSpPr txBox="1"/>
          <p:nvPr/>
        </p:nvSpPr>
        <p:spPr>
          <a:xfrm>
            <a:off x="529200" y="9348294"/>
            <a:ext cx="6501600" cy="390993"/>
          </a:xfrm>
          <a:prstGeom prst="rect">
            <a:avLst/>
          </a:prstGeom>
          <a:noFill/>
        </p:spPr>
        <p:txBody>
          <a:bodyPr wrap="square" lIns="0" rIns="0" tIns="0" bIns="0" anchor="t"/>
          <a:lstStyle/>
          <a:p>
            <a:pPr algn="just">
              <a:lnSpc>
                <a:spcPts val="1033"/>
              </a:lnSpc>
            </a:pPr>
            <a:r>
              <a:rPr sz="833" b="0" i="0">
                <a:solidFill>
                  <a:srgbClr val="F1F1F1"/>
                </a:solidFill>
                <a:latin typeface="Versos"/>
              </a:rPr>
              <a:t>Nesse cenário, o Tivio Institucional 15 apresentou rentabilidade de 1,11% no mês (102% do CDI), acumulando 9,53% (102% do CDI) no ano. Na parcela de corporativos, os maiores atribuidores de resultado foram para Tupy e Randon, enquanto Hapvida foi o maior detrator.</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27/02/2002</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0,50%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102,5%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R$ 156.046.891,63</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R$ 146.843.921,67</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