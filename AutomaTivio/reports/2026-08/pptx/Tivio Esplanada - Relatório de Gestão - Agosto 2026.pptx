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0.0152</c:v>
                </c:pt>
                <c:pt idx="2">
                  <c:v>0.0158</c:v>
                </c:pt>
                <c:pt idx="3">
                  <c:v>0.0296</c:v>
                </c:pt>
                <c:pt idx="4">
                  <c:v>0.0359</c:v>
                </c:pt>
                <c:pt idx="5">
                  <c:v>0.0616</c:v>
                </c:pt>
                <c:pt idx="6">
                  <c:v>0.07150000000000001</c:v>
                </c:pt>
                <c:pt idx="7">
                  <c:v>0.0683</c:v>
                </c:pt>
                <c:pt idx="8">
                  <c:v>0.0699</c:v>
                </c:pt>
                <c:pt idx="9">
                  <c:v>0.073</c:v>
                </c:pt>
                <c:pt idx="10">
                  <c:v>0.07339999999999999</c:v>
                </c:pt>
                <c:pt idx="11">
                  <c:v>0.08529999999999999</c:v>
                </c:pt>
                <c:pt idx="12">
                  <c:v>0.0992</c:v>
                </c:pt>
              </c:numCache>
            </c:numRef>
          </c:val>
          <c:smooth val="0"/>
        </c:ser>
        <c:ser>
          <c:idx val="1"/>
          <c:order val="1"/>
          <c:tx>
            <c:strRef>
              <c:f>Sheet1!$C$1</c:f>
              <c:strCache>
                <c:ptCount val="1"/>
                <c:pt idx="0">
                  <c:v>IMA-B 5</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0.0066</c:v>
                </c:pt>
                <c:pt idx="2">
                  <c:v>0.0169</c:v>
                </c:pt>
                <c:pt idx="3">
                  <c:v>0.0278</c:v>
                </c:pt>
                <c:pt idx="4">
                  <c:v>0.037599999999999995</c:v>
                </c:pt>
                <c:pt idx="5">
                  <c:v>0.0501</c:v>
                </c:pt>
                <c:pt idx="6">
                  <c:v>0.0629</c:v>
                </c:pt>
                <c:pt idx="7">
                  <c:v>0.07769999999999999</c:v>
                </c:pt>
                <c:pt idx="8">
                  <c:v>0.0919</c:v>
                </c:pt>
                <c:pt idx="9">
                  <c:v>0.1024</c:v>
                </c:pt>
                <c:pt idx="10">
                  <c:v>0.1048</c:v>
                </c:pt>
                <c:pt idx="11">
                  <c:v>0.1185</c:v>
                </c:pt>
                <c:pt idx="12">
                  <c:v>0.1328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Esplanada</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54.853.793/0001-10  ·  Benchmark: IMA-B 5</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identificar oportunidades em ativos de crédito high grade (Bancário e Corporativo). Ele busca superar a variação do IMA-B 5 no longo prazo.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1,28%</a:t>
                      </a:r>
                    </a:p>
                  </a:txBody>
                  <a:tcPr marL="43200" marR="43200" marT="0" marB="0">
                    <a:solidFill>
                      <a:srgbClr val="F4F7F9"/>
                    </a:solidFill>
                  </a:tcPr>
                </a:tc>
                <a:tc>
                  <a:txBody>
                    <a:bodyPr/>
                    <a:lstStyle/>
                    <a:p>
                      <a:pPr algn="r"/>
                      <a:r>
                        <a:rPr sz="850" b="0">
                          <a:solidFill>
                            <a:srgbClr val="1A1A1A"/>
                          </a:solidFill>
                          <a:latin typeface="Versos"/>
                        </a:rPr>
                        <a:t>6,11%</a:t>
                      </a:r>
                    </a:p>
                  </a:txBody>
                  <a:tcPr marL="43200" marR="43200" marT="0" marB="0">
                    <a:solidFill>
                      <a:srgbClr val="F4F7F9"/>
                    </a:solidFill>
                  </a:tcPr>
                </a:tc>
                <a:tc>
                  <a:txBody>
                    <a:bodyPr/>
                    <a:lstStyle/>
                    <a:p>
                      <a:pPr algn="r"/>
                      <a:r>
                        <a:rPr sz="850" b="0">
                          <a:solidFill>
                            <a:srgbClr val="1A1A1A"/>
                          </a:solidFill>
                          <a:latin typeface="Versos"/>
                        </a:rPr>
                        <a:t>10,04%</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20,15%</a:t>
                      </a:r>
                    </a:p>
                  </a:txBody>
                  <a:tcPr marL="43200" marR="43200" marT="0" marB="0">
                    <a:solidFill>
                      <a:srgbClr val="F4F7F9"/>
                    </a:solidFill>
                  </a:tcPr>
                </a:tc>
              </a:tr>
              <a:tr h="187200">
                <a:tc>
                  <a:txBody>
                    <a:bodyPr/>
                    <a:lstStyle/>
                    <a:p>
                      <a:pPr algn="l"/>
                      <a:r>
                        <a:rPr sz="850" b="1">
                          <a:solidFill>
                            <a:srgbClr val="1A1A1A"/>
                          </a:solidFill>
                          <a:latin typeface="Versos"/>
                        </a:rPr>
                        <a:t>IMA-B 5</a:t>
                      </a:r>
                    </a:p>
                  </a:txBody>
                  <a:tcPr marL="43200" marR="43200" marT="0" marB="0">
                    <a:solidFill>
                      <a:srgbClr val="FFFFFF"/>
                    </a:solidFill>
                  </a:tcPr>
                </a:tc>
                <a:tc>
                  <a:txBody>
                    <a:bodyPr/>
                    <a:lstStyle/>
                    <a:p>
                      <a:pPr algn="r"/>
                      <a:r>
                        <a:rPr sz="850" b="0">
                          <a:solidFill>
                            <a:srgbClr val="1A1A1A"/>
                          </a:solidFill>
                          <a:latin typeface="Versos"/>
                        </a:rPr>
                        <a:t>1,28%</a:t>
                      </a:r>
                    </a:p>
                  </a:txBody>
                  <a:tcPr marL="43200" marR="43200" marT="0" marB="0">
                    <a:solidFill>
                      <a:srgbClr val="FFFFFF"/>
                    </a:solidFill>
                  </a:tcPr>
                </a:tc>
                <a:tc>
                  <a:txBody>
                    <a:bodyPr/>
                    <a:lstStyle/>
                    <a:p>
                      <a:pPr algn="r"/>
                      <a:r>
                        <a:rPr sz="850" b="0">
                          <a:solidFill>
                            <a:srgbClr val="1A1A1A"/>
                          </a:solidFill>
                          <a:latin typeface="Versos"/>
                        </a:rPr>
                        <a:t>9,18%</a:t>
                      </a:r>
                    </a:p>
                  </a:txBody>
                  <a:tcPr marL="43200" marR="43200" marT="0" marB="0">
                    <a:solidFill>
                      <a:srgbClr val="FFFFFF"/>
                    </a:solidFill>
                  </a:tcPr>
                </a:tc>
                <a:tc>
                  <a:txBody>
                    <a:bodyPr/>
                    <a:lstStyle/>
                    <a:p>
                      <a:pPr algn="r"/>
                      <a:r>
                        <a:rPr sz="850" b="0">
                          <a:solidFill>
                            <a:srgbClr val="1A1A1A"/>
                          </a:solidFill>
                          <a:latin typeface="Versos"/>
                        </a:rPr>
                        <a:t>13,34%</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22,20%</a:t>
                      </a:r>
                    </a:p>
                  </a:txBody>
                  <a:tcPr marL="43200" marR="43200" marT="0" marB="0">
                    <a:solidFill>
                      <a:srgbClr val="FFFFFF"/>
                    </a:solidFill>
                  </a:tcPr>
                </a:tc>
              </a:tr>
              <a:tr h="187200">
                <a:tc>
                  <a:txBody>
                    <a:bodyPr/>
                    <a:lstStyle/>
                    <a:p>
                      <a:pPr algn="l"/>
                      <a:r>
                        <a:rPr sz="850" b="1">
                          <a:solidFill>
                            <a:srgbClr val="1A1A1A"/>
                          </a:solidFill>
                          <a:latin typeface="Versos"/>
                        </a:rPr>
                        <a:t>Alfa</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−3,07%</a:t>
                      </a:r>
                    </a:p>
                  </a:txBody>
                  <a:tcPr marL="43200" marR="43200" marT="0" marB="0">
                    <a:solidFill>
                      <a:srgbClr val="F4F7F9"/>
                    </a:solidFill>
                  </a:tcPr>
                </a:tc>
                <a:tc>
                  <a:txBody>
                    <a:bodyPr/>
                    <a:lstStyle/>
                    <a:p>
                      <a:pPr algn="r"/>
                      <a:r>
                        <a:rPr sz="850" b="0">
                          <a:solidFill>
                            <a:srgbClr val="1A1A1A"/>
                          </a:solidFill>
                          <a:latin typeface="Versos"/>
                        </a:rPr>
                        <a:t>−3,31%</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−2,06%</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SABESP</a:t>
                      </a:r>
                    </a:p>
                  </a:txBody>
                  <a:tcPr marL="43200" marR="43200" marT="0" marB="0">
                    <a:solidFill>
                      <a:srgbClr val="FFFFFF"/>
                    </a:solidFill>
                  </a:tcPr>
                </a:tc>
                <a:tc>
                  <a:txBody>
                    <a:bodyPr/>
                    <a:lstStyle/>
                    <a:p>
                      <a:pPr algn="r"/>
                      <a:r>
                        <a:rPr sz="850" b="0">
                          <a:solidFill>
                            <a:srgbClr val="1A1A1A"/>
                          </a:solidFill>
                          <a:latin typeface="Versos"/>
                        </a:rPr>
                        <a:t>4,28%</a:t>
                      </a:r>
                    </a:p>
                  </a:txBody>
                  <a:tcPr marL="43200" marR="43200" marT="0" marB="0">
                    <a:solidFill>
                      <a:srgbClr val="FFFFFF"/>
                    </a:solidFill>
                  </a:tcPr>
                </a:tc>
              </a:tr>
              <a:tr h="187200">
                <a:tc>
                  <a:txBody>
                    <a:bodyPr/>
                    <a:lstStyle/>
                    <a:p>
                      <a:pPr algn="l"/>
                      <a:r>
                        <a:rPr sz="850" b="1">
                          <a:solidFill>
                            <a:srgbClr val="1A1A1A"/>
                          </a:solidFill>
                          <a:latin typeface="Versos"/>
                        </a:rPr>
                        <a:t>ELETROBRAS</a:t>
                      </a:r>
                    </a:p>
                  </a:txBody>
                  <a:tcPr marL="43200" marR="43200" marT="0" marB="0">
                    <a:solidFill>
                      <a:srgbClr val="F4F7F9"/>
                    </a:solidFill>
                  </a:tcPr>
                </a:tc>
                <a:tc>
                  <a:txBody>
                    <a:bodyPr/>
                    <a:lstStyle/>
                    <a:p>
                      <a:pPr algn="r"/>
                      <a:r>
                        <a:rPr sz="850" b="0">
                          <a:solidFill>
                            <a:srgbClr val="1A1A1A"/>
                          </a:solidFill>
                          <a:latin typeface="Versos"/>
                        </a:rPr>
                        <a:t>3,77%</a:t>
                      </a:r>
                    </a:p>
                  </a:txBody>
                  <a:tcPr marL="43200" marR="43200" marT="0" marB="0">
                    <a:solidFill>
                      <a:srgbClr val="F4F7F9"/>
                    </a:solidFill>
                  </a:tcPr>
                </a:tc>
              </a:tr>
              <a:tr h="187200">
                <a:tc>
                  <a:txBody>
                    <a:bodyPr/>
                    <a:lstStyle/>
                    <a:p>
                      <a:pPr algn="l"/>
                      <a:r>
                        <a:rPr sz="850" b="1">
                          <a:solidFill>
                            <a:srgbClr val="1A1A1A"/>
                          </a:solidFill>
                          <a:latin typeface="Versos"/>
                        </a:rPr>
                        <a:t>ENERGISA</a:t>
                      </a:r>
                    </a:p>
                  </a:txBody>
                  <a:tcPr marL="43200" marR="43200" marT="0" marB="0">
                    <a:solidFill>
                      <a:srgbClr val="FFFFFF"/>
                    </a:solidFill>
                  </a:tcPr>
                </a:tc>
                <a:tc>
                  <a:txBody>
                    <a:bodyPr/>
                    <a:lstStyle/>
                    <a:p>
                      <a:pPr algn="r"/>
                      <a:r>
                        <a:rPr sz="850" b="0">
                          <a:solidFill>
                            <a:srgbClr val="1A1A1A"/>
                          </a:solidFill>
                          <a:latin typeface="Versos"/>
                        </a:rPr>
                        <a:t>3,57%</a:t>
                      </a:r>
                    </a:p>
                  </a:txBody>
                  <a:tcPr marL="43200" marR="43200" marT="0" marB="0">
                    <a:solidFill>
                      <a:srgbClr val="FFFFFF"/>
                    </a:solidFill>
                  </a:tcPr>
                </a:tc>
              </a:tr>
              <a:tr h="187200">
                <a:tc>
                  <a:txBody>
                    <a:bodyPr/>
                    <a:lstStyle/>
                    <a:p>
                      <a:pPr algn="l"/>
                      <a:r>
                        <a:rPr sz="850" b="1">
                          <a:solidFill>
                            <a:srgbClr val="1A1A1A"/>
                          </a:solidFill>
                          <a:latin typeface="Versos"/>
                        </a:rPr>
                        <a:t>AUREN</a:t>
                      </a:r>
                    </a:p>
                  </a:txBody>
                  <a:tcPr marL="43200" marR="43200" marT="0" marB="0">
                    <a:solidFill>
                      <a:srgbClr val="F4F7F9"/>
                    </a:solidFill>
                  </a:tcPr>
                </a:tc>
                <a:tc>
                  <a:txBody>
                    <a:bodyPr/>
                    <a:lstStyle/>
                    <a:p>
                      <a:pPr algn="r"/>
                      <a:r>
                        <a:rPr sz="850" b="0">
                          <a:solidFill>
                            <a:srgbClr val="1A1A1A"/>
                          </a:solidFill>
                          <a:latin typeface="Versos"/>
                        </a:rPr>
                        <a:t>3,52%</a:t>
                      </a:r>
                    </a:p>
                  </a:txBody>
                  <a:tcPr marL="43200" marR="43200" marT="0" marB="0">
                    <a:solidFill>
                      <a:srgbClr val="F4F7F9"/>
                    </a:solidFill>
                  </a:tcPr>
                </a:tc>
              </a:tr>
              <a:tr h="187200">
                <a:tc>
                  <a:txBody>
                    <a:bodyPr/>
                    <a:lstStyle/>
                    <a:p>
                      <a:pPr algn="l"/>
                      <a:r>
                        <a:rPr sz="850" b="1">
                          <a:solidFill>
                            <a:srgbClr val="1A1A1A"/>
                          </a:solidFill>
                          <a:latin typeface="Versos"/>
                        </a:rPr>
                        <a:t>DESKTOP</a:t>
                      </a:r>
                    </a:p>
                  </a:txBody>
                  <a:tcPr marL="43200" marR="43200" marT="0" marB="0">
                    <a:solidFill>
                      <a:srgbClr val="FFFFFF"/>
                    </a:solidFill>
                  </a:tcPr>
                </a:tc>
                <a:tc>
                  <a:txBody>
                    <a:bodyPr/>
                    <a:lstStyle/>
                    <a:p>
                      <a:pPr algn="r"/>
                      <a:r>
                        <a:rPr sz="850" b="0">
                          <a:solidFill>
                            <a:srgbClr val="1A1A1A"/>
                          </a:solidFill>
                          <a:latin typeface="Versos"/>
                        </a:rPr>
                        <a:t>3,41%</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Energia Elétrica</a:t>
                      </a:r>
                    </a:p>
                  </a:txBody>
                  <a:tcPr marL="43200" marR="43200" marT="0" marB="0">
                    <a:solidFill>
                      <a:srgbClr val="FFFFFF"/>
                    </a:solidFill>
                  </a:tcPr>
                </a:tc>
                <a:tc>
                  <a:txBody>
                    <a:bodyPr/>
                    <a:lstStyle/>
                    <a:p>
                      <a:pPr algn="r"/>
                      <a:r>
                        <a:rPr sz="850" b="0">
                          <a:solidFill>
                            <a:srgbClr val="1A1A1A"/>
                          </a:solidFill>
                          <a:latin typeface="Versos"/>
                        </a:rPr>
                        <a:t>36,8%</a:t>
                      </a:r>
                    </a:p>
                  </a:txBody>
                  <a:tcPr marL="43200" marR="43200" marT="0" marB="0">
                    <a:solidFill>
                      <a:srgbClr val="FFFFFF"/>
                    </a:solidFill>
                  </a:tcPr>
                </a:tc>
              </a:tr>
              <a:tr h="187200">
                <a:tc>
                  <a:txBody>
                    <a:bodyPr/>
                    <a:lstStyle/>
                    <a:p>
                      <a:pPr algn="l"/>
                      <a:r>
                        <a:rPr sz="850" b="1">
                          <a:solidFill>
                            <a:srgbClr val="1A1A1A"/>
                          </a:solidFill>
                          <a:latin typeface="Versos"/>
                        </a:rPr>
                        <a:t>Transporte e Logística</a:t>
                      </a:r>
                    </a:p>
                  </a:txBody>
                  <a:tcPr marL="43200" marR="43200" marT="0" marB="0">
                    <a:solidFill>
                      <a:srgbClr val="F4F7F9"/>
                    </a:solidFill>
                  </a:tcPr>
                </a:tc>
                <a:tc>
                  <a:txBody>
                    <a:bodyPr/>
                    <a:lstStyle/>
                    <a:p>
                      <a:pPr algn="r"/>
                      <a:r>
                        <a:rPr sz="850" b="0">
                          <a:solidFill>
                            <a:srgbClr val="1A1A1A"/>
                          </a:solidFill>
                          <a:latin typeface="Versos"/>
                        </a:rPr>
                        <a:t>15,4%</a:t>
                      </a:r>
                    </a:p>
                  </a:txBody>
                  <a:tcPr marL="43200" marR="43200" marT="0" marB="0">
                    <a:solidFill>
                      <a:srgbClr val="F4F7F9"/>
                    </a:solidFill>
                  </a:tcPr>
                </a:tc>
              </a:tr>
              <a:tr h="187200">
                <a:tc>
                  <a:txBody>
                    <a:bodyPr/>
                    <a:lstStyle/>
                    <a:p>
                      <a:pPr algn="l"/>
                      <a:r>
                        <a:rPr sz="850" b="1">
                          <a:solidFill>
                            <a:srgbClr val="1A1A1A"/>
                          </a:solidFill>
                          <a:latin typeface="Versos"/>
                        </a:rPr>
                        <a:t>Saneamento</a:t>
                      </a:r>
                    </a:p>
                  </a:txBody>
                  <a:tcPr marL="43200" marR="43200" marT="0" marB="0">
                    <a:solidFill>
                      <a:srgbClr val="FFFFFF"/>
                    </a:solidFill>
                  </a:tcPr>
                </a:tc>
                <a:tc>
                  <a:txBody>
                    <a:bodyPr/>
                    <a:lstStyle/>
                    <a:p>
                      <a:pPr algn="r"/>
                      <a:r>
                        <a:rPr sz="850" b="0">
                          <a:solidFill>
                            <a:srgbClr val="1A1A1A"/>
                          </a:solidFill>
                          <a:latin typeface="Versos"/>
                        </a:rPr>
                        <a:t>9,6%</a:t>
                      </a:r>
                    </a:p>
                  </a:txBody>
                  <a:tcPr marL="43200" marR="43200" marT="0" marB="0">
                    <a:solidFill>
                      <a:srgbClr val="FFFFFF"/>
                    </a:solidFill>
                  </a:tcPr>
                </a:tc>
              </a:tr>
              <a:tr h="1872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4,5%</a:t>
                      </a:r>
                    </a:p>
                  </a:txBody>
                  <a:tcPr marL="43200" marR="43200" marT="0" marB="0">
                    <a:solidFill>
                      <a:srgbClr val="F4F7F9"/>
                    </a:solidFill>
                  </a:tcPr>
                </a:tc>
              </a:tr>
              <a:tr h="1872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4,5%</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26,6%</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37,8%</a:t>
                      </a:r>
                    </a:p>
                  </a:txBody>
                  <a:tcPr marL="43200" marR="43200" marT="0" marB="0">
                    <a:solidFill>
                      <a:srgbClr val="F4F7F9"/>
                    </a:solidFill>
                  </a:tcPr>
                </a:tc>
                <a:tc>
                  <a:txBody>
                    <a:bodyPr/>
                    <a:lstStyle/>
                    <a:p>
                      <a:pPr algn="r"/>
                      <a:r>
                        <a:rPr sz="850" b="0">
                          <a:solidFill>
                            <a:srgbClr val="1A1A1A"/>
                          </a:solidFill>
                          <a:latin typeface="Versos"/>
                        </a:rPr>
                        <a:t>18,2%</a:t>
                      </a:r>
                    </a:p>
                  </a:txBody>
                  <a:tcPr marL="43200" marR="43200" marT="0" marB="0">
                    <a:solidFill>
                      <a:srgbClr val="F4F7F9"/>
                    </a:solidFill>
                  </a:tcPr>
                </a:tc>
                <a:tc>
                  <a:txBody>
                    <a:bodyPr/>
                    <a:lstStyle/>
                    <a:p>
                      <a:pPr algn="r"/>
                      <a:r>
                        <a:rPr sz="850" b="0">
                          <a:solidFill>
                            <a:srgbClr val="1A1A1A"/>
                          </a:solidFill>
                          <a:latin typeface="Versos"/>
                        </a:rPr>
                        <a:t>4,6%</a:t>
                      </a:r>
                    </a:p>
                  </a:txBody>
                  <a:tcPr marL="43200" marR="43200" marT="0" marB="0">
                    <a:solidFill>
                      <a:srgbClr val="F4F7F9"/>
                    </a:solidFill>
                  </a:tcPr>
                </a:tc>
                <a:tc>
                  <a:txBody>
                    <a:bodyPr/>
                    <a:lstStyle/>
                    <a:p>
                      <a:pPr algn="r"/>
                      <a:r>
                        <a:rPr sz="850" b="0">
                          <a:solidFill>
                            <a:srgbClr val="1A1A1A"/>
                          </a:solidFill>
                          <a:latin typeface="Versos"/>
                        </a:rPr>
                        <a:t>4,6%</a:t>
                      </a:r>
                    </a:p>
                  </a:txBody>
                  <a:tcPr marL="43200" marR="43200" marT="0" marB="0">
                    <a:solidFill>
                      <a:srgbClr val="F4F7F9"/>
                    </a:solidFill>
                  </a:tcPr>
                </a:tc>
                <a:tc>
                  <a:txBody>
                    <a:bodyPr/>
                    <a:lstStyle/>
                    <a:p>
                      <a:pPr algn="r"/>
                      <a:r>
                        <a:rPr sz="850" b="0">
                          <a:solidFill>
                            <a:srgbClr val="1A1A1A"/>
                          </a:solidFill>
                          <a:latin typeface="Versos"/>
                        </a:rPr>
                        <a:t>3,4%</a:t>
                      </a:r>
                    </a:p>
                  </a:txBody>
                  <a:tcPr marL="43200" marR="43200" marT="0" marB="0">
                    <a:solidFill>
                      <a:srgbClr val="F4F7F9"/>
                    </a:solidFill>
                  </a:tcPr>
                </a:tc>
                <a:tc>
                  <a:txBody>
                    <a:bodyPr/>
                    <a:lstStyle/>
                    <a:p>
                      <a:pPr algn="r"/>
                      <a:r>
                        <a:rPr sz="850" b="0">
                          <a:solidFill>
                            <a:srgbClr val="1A1A1A"/>
                          </a:solidFill>
                          <a:latin typeface="Versos"/>
                        </a:rPr>
                        <a:t>1,8%</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Esplanada</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os títulos de crédito indexados ao IPCA precificados pela ANBIMA apresentaram desempenho positivo, refletindo principalmente o movimento de fechamento da curva real de juros observado ao longo do período. Embora os spreads de crédito tenham registrado abertura média de aproximadamente 5 bps em relação a julho, a redução das taxas reais ao longo da estrutura a termo mais do que compensou esse movimento. Como resultado, as taxas médias dos títulos incentivados precificados pela ANBIMA encerraram o mês com fechamento próximo de 16 bps, proporcionando valorização dos ativos no mercado secundário.</a:t>
            </a:r>
          </a:p>
          <a:p>
            <a:pPr algn="l"/>
            <a:r>
              <a:rPr sz="900" b="0">
                <a:solidFill>
                  <a:srgbClr val="1A1A1A"/>
                </a:solidFill>
                <a:latin typeface="Versos"/>
              </a:rPr>
              <a:t/>
            </a:r>
          </a:p>
          <a:p>
            <a:pPr algn="l"/>
            <a:r>
              <a:rPr sz="900" b="0">
                <a:solidFill>
                  <a:srgbClr val="1A1A1A"/>
                </a:solidFill>
                <a:latin typeface="Versos"/>
              </a:rPr>
              <a:t>No mercado primário, manteve-se o cenário de oferta restrita de ativos, com parcela relevante das emissões sendo absorvida diretamente pelos balanços dos bancos distribuidores. Já no mercado secundário, observou-se um nível de liquidez inferior à média observada ao longo de 2025, contribuindo para um ambiente de maior equilíbrio entre oferta e demanda dos ativos negociados.</a:t>
            </a:r>
          </a:p>
          <a:p>
            <a:pPr algn="l"/>
            <a:r>
              <a:rPr sz="900" b="0">
                <a:solidFill>
                  <a:srgbClr val="1A1A1A"/>
                </a:solidFill>
                <a:latin typeface="Versos"/>
              </a:rPr>
              <a:t/>
            </a:r>
          </a:p>
          <a:p>
            <a:pPr algn="l"/>
            <a:r>
              <a:rPr sz="900" b="0">
                <a:solidFill>
                  <a:srgbClr val="1A1A1A"/>
                </a:solidFill>
                <a:latin typeface="Versos"/>
              </a:rPr>
              <a:t>Sob a ótica da gestão, mantivemos uma postura cautelosa ao longo do período, priorizando o encurtamento da duration da carteira como forma de mitigar a volatilidade e reduzir a sensibilidade do portfólio a eventuais movimentos adversos nos spreads de crédito. Apesar da melhora observada no desempenho dos ativos incentivados no mês, seguimos avaliando que os níveis atuais de prêmio ainda oferecem pouca margem de segurança frente aos riscos inerentes à classe. Dessa forma, permanecemos atentos à evolução das condições de mercado e à dinâmica de precificação dos ativos, buscando identificar oportunidades mais atrativas para aumentar a exposição ao risco de crédito de forma gradual e criteriosa, quando a relação risco-retorno se mostrar mais favorável.</a:t>
            </a:r>
          </a:p>
          <a:p>
            <a:pPr algn="l"/>
            <a:r>
              <a:rPr sz="900" b="0">
                <a:solidFill>
                  <a:srgbClr val="1A1A1A"/>
                </a:solidFill>
                <a:latin typeface="Versos"/>
              </a:rPr>
              <a:t/>
            </a:r>
          </a:p>
          <a:p>
            <a:pPr algn="l"/>
            <a:r>
              <a:rPr sz="900" b="0">
                <a:solidFill>
                  <a:srgbClr val="1A1A1A"/>
                </a:solidFill>
                <a:latin typeface="Versos"/>
              </a:rPr>
              <a:t>Nesse cenário, o Tivio Esplanada apresentou rentabilidade, isenta de imposto de renda, de 1,28% no mês, acumulando 6,11% no ano. Na atribuição de performance, pode-se destacar as debêntures de Sabesp e Auren, enquanto as de Energisa foram as maiores detratoras.</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Esplanada</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8423996" cy="21528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gridCol w="648000"/>
                <a:gridCol w="648000"/>
                <a:gridCol w="648000"/>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Taxa Atual</a:t>
                      </a:r>
                    </a:p>
                  </a:txBody>
                  <a:tcPr marL="43200" marR="43200" marT="0" marB="0">
                    <a:solidFill>
                      <a:srgbClr val="3C4A60"/>
                    </a:solidFill>
                  </a:tcPr>
                </a:tc>
                <a:tc>
                  <a:txBody>
                    <a:bodyPr/>
                    <a:lstStyle/>
                    <a:p>
                      <a:pPr algn="r"/>
                      <a:r>
                        <a:rPr sz="850" b="1">
                          <a:solidFill>
                            <a:srgbClr val="FFFFFF"/>
                          </a:solidFill>
                          <a:latin typeface="Versos"/>
                        </a:rPr>
                        <a:t>Taxa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191.166</a:t>
                      </a:r>
                    </a:p>
                  </a:txBody>
                  <a:tcPr marL="43200" marR="43200" marT="0" marB="0">
                    <a:solidFill>
                      <a:srgbClr val="F4F7F9"/>
                    </a:solidFill>
                  </a:tcPr>
                </a:tc>
                <a:tc>
                  <a:txBody>
                    <a:bodyPr/>
                    <a:lstStyle/>
                    <a:p>
                      <a:pPr algn="r"/>
                      <a:r>
                        <a:rPr sz="850" b="0">
                          <a:solidFill>
                            <a:srgbClr val="1A1A1A"/>
                          </a:solidFill>
                          <a:latin typeface="Versos"/>
                        </a:rPr>
                        <a:t>48,71%</a:t>
                      </a:r>
                    </a:p>
                  </a:txBody>
                  <a:tcPr marL="43200" marR="43200" marT="0" marB="0">
                    <a:solidFill>
                      <a:srgbClr val="F4F7F9"/>
                    </a:solidFill>
                  </a:tcPr>
                </a:tc>
                <a:tc>
                  <a:txBody>
                    <a:bodyPr/>
                    <a:lstStyle/>
                    <a:p>
                      <a:pPr algn="r"/>
                      <a:r>
                        <a:rPr sz="850" b="0">
                          <a:solidFill>
                            <a:srgbClr val="1A1A1A"/>
                          </a:solidFill>
                          <a:latin typeface="Versos"/>
                        </a:rPr>
                        <a:t>7,93%</a:t>
                      </a:r>
                    </a:p>
                  </a:txBody>
                  <a:tcPr marL="43200" marR="43200" marT="0" marB="0">
                    <a:solidFill>
                      <a:srgbClr val="F4F7F9"/>
                    </a:solidFill>
                  </a:tcPr>
                </a:tc>
                <a:tc>
                  <a:txBody>
                    <a:bodyPr/>
                    <a:lstStyle/>
                    <a:p>
                      <a:pPr algn="r"/>
                      <a:r>
                        <a:rPr sz="850" b="0">
                          <a:solidFill>
                            <a:srgbClr val="1A1A1A"/>
                          </a:solidFill>
                          <a:latin typeface="Versos"/>
                        </a:rPr>
                        <a:t>8,13%</a:t>
                      </a:r>
                    </a:p>
                  </a:txBody>
                  <a:tcPr marL="43200" marR="43200" marT="0" marB="0">
                    <a:solidFill>
                      <a:srgbClr val="F4F7F9"/>
                    </a:solidFill>
                  </a:tcPr>
                </a:tc>
                <a:tc>
                  <a:txBody>
                    <a:bodyPr/>
                    <a:lstStyle/>
                    <a:p>
                      <a:pPr algn="r"/>
                      <a:r>
                        <a:rPr sz="850" b="0">
                          <a:solidFill>
                            <a:srgbClr val="1A1A1A"/>
                          </a:solidFill>
                          <a:latin typeface="Versos"/>
                        </a:rPr>
                        <a:t>-0,19%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5,35</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89.369</a:t>
                      </a:r>
                    </a:p>
                  </a:txBody>
                  <a:tcPr marL="43200" marR="43200" marT="0" marB="0">
                    <a:solidFill>
                      <a:srgbClr val="FFFFFF"/>
                    </a:solidFill>
                  </a:tcPr>
                </a:tc>
                <a:tc>
                  <a:txBody>
                    <a:bodyPr/>
                    <a:lstStyle/>
                    <a:p>
                      <a:pPr algn="r"/>
                      <a:r>
                        <a:rPr sz="850" b="0">
                          <a:solidFill>
                            <a:srgbClr val="1A1A1A"/>
                          </a:solidFill>
                          <a:latin typeface="Versos"/>
                        </a:rPr>
                        <a:t>22,77%</a:t>
                      </a:r>
                    </a:p>
                  </a:txBody>
                  <a:tcPr marL="43200" marR="43200" marT="0" marB="0">
                    <a:solidFill>
                      <a:srgbClr val="FFFFFF"/>
                    </a:solidFill>
                  </a:tcPr>
                </a:tc>
                <a:tc>
                  <a:txBody>
                    <a:bodyPr/>
                    <a:lstStyle/>
                    <a:p>
                      <a:pPr algn="r"/>
                      <a:r>
                        <a:rPr sz="850" b="0">
                          <a:solidFill>
                            <a:srgbClr val="1A1A1A"/>
                          </a:solidFill>
                          <a:latin typeface="Versos"/>
                        </a:rPr>
                        <a:t>8,32%</a:t>
                      </a:r>
                    </a:p>
                  </a:txBody>
                  <a:tcPr marL="43200" marR="43200" marT="0" marB="0">
                    <a:solidFill>
                      <a:srgbClr val="FFFFFF"/>
                    </a:solidFill>
                  </a:tcPr>
                </a:tc>
                <a:tc>
                  <a:txBody>
                    <a:bodyPr/>
                    <a:lstStyle/>
                    <a:p>
                      <a:pPr algn="r"/>
                      <a:r>
                        <a:rPr sz="850" b="0">
                          <a:solidFill>
                            <a:srgbClr val="1A1A1A"/>
                          </a:solidFill>
                          <a:latin typeface="Versos"/>
                        </a:rPr>
                        <a:t>8,48%</a:t>
                      </a:r>
                    </a:p>
                  </a:txBody>
                  <a:tcPr marL="43200" marR="43200" marT="0" marB="0">
                    <a:solidFill>
                      <a:srgbClr val="FFFFFF"/>
                    </a:solidFill>
                  </a:tcPr>
                </a:tc>
                <a:tc>
                  <a:txBody>
                    <a:bodyPr/>
                    <a:lstStyle/>
                    <a:p>
                      <a:pPr algn="r"/>
                      <a:r>
                        <a:rPr sz="850" b="0">
                          <a:solidFill>
                            <a:srgbClr val="1A1A1A"/>
                          </a:solidFill>
                          <a:latin typeface="Versos"/>
                        </a:rPr>
                        <a:t>-0,15%</a:t>
                      </a:r>
                    </a:p>
                  </a:txBody>
                  <a:tcPr marL="43200" marR="43200" marT="0" marB="0">
                    <a:solidFill>
                      <a:srgbClr val="FFFFFF"/>
                    </a:solidFill>
                  </a:tcPr>
                </a:tc>
                <a:tc>
                  <a:txBody>
                    <a:bodyPr/>
                    <a:lstStyle/>
                    <a:p>
                      <a:pPr algn="r"/>
                      <a:r>
                        <a:rPr sz="850" b="0">
                          <a:solidFill>
                            <a:srgbClr val="1A1A1A"/>
                          </a:solidFill>
                          <a:latin typeface="Versos"/>
                        </a:rPr>
                        <a:t>0,36%</a:t>
                      </a:r>
                    </a:p>
                  </a:txBody>
                  <a:tcPr marL="43200" marR="43200" marT="0" marB="0">
                    <a:solidFill>
                      <a:srgbClr val="FFFFFF"/>
                    </a:solidFill>
                  </a:tcPr>
                </a:tc>
                <a:tc>
                  <a:txBody>
                    <a:bodyPr/>
                    <a:lstStyle/>
                    <a:p>
                      <a:pPr algn="r"/>
                      <a:r>
                        <a:rPr sz="850" b="0">
                          <a:solidFill>
                            <a:srgbClr val="1A1A1A"/>
                          </a:solidFill>
                          <a:latin typeface="Versos"/>
                        </a:rPr>
                        <a:t>0,30%</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5,25</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35.248</a:t>
                      </a:r>
                    </a:p>
                  </a:txBody>
                  <a:tcPr marL="43200" marR="43200" marT="0" marB="0">
                    <a:solidFill>
                      <a:srgbClr val="F4F7F9"/>
                    </a:solidFill>
                  </a:tcPr>
                </a:tc>
                <a:tc>
                  <a:txBody>
                    <a:bodyPr/>
                    <a:lstStyle/>
                    <a:p>
                      <a:pPr algn="r"/>
                      <a:r>
                        <a:rPr sz="850" b="0">
                          <a:solidFill>
                            <a:srgbClr val="1A1A1A"/>
                          </a:solidFill>
                          <a:latin typeface="Versos"/>
                        </a:rPr>
                        <a:t>8,98%</a:t>
                      </a:r>
                    </a:p>
                  </a:txBody>
                  <a:tcPr marL="43200" marR="43200" marT="0" marB="0">
                    <a:solidFill>
                      <a:srgbClr val="F4F7F9"/>
                    </a:solidFill>
                  </a:tcPr>
                </a:tc>
                <a:tc>
                  <a:txBody>
                    <a:bodyPr/>
                    <a:lstStyle/>
                    <a:p>
                      <a:pPr algn="r"/>
                      <a:r>
                        <a:rPr sz="850" b="0">
                          <a:solidFill>
                            <a:srgbClr val="1A1A1A"/>
                          </a:solidFill>
                          <a:latin typeface="Versos"/>
                        </a:rPr>
                        <a:t>9,69%</a:t>
                      </a:r>
                    </a:p>
                  </a:txBody>
                  <a:tcPr marL="43200" marR="43200" marT="0" marB="0">
                    <a:solidFill>
                      <a:srgbClr val="F4F7F9"/>
                    </a:solidFill>
                  </a:tcPr>
                </a:tc>
                <a:tc>
                  <a:txBody>
                    <a:bodyPr/>
                    <a:lstStyle/>
                    <a:p>
                      <a:pPr algn="r"/>
                      <a:r>
                        <a:rPr sz="850" b="0">
                          <a:solidFill>
                            <a:srgbClr val="1A1A1A"/>
                          </a:solidFill>
                          <a:latin typeface="Versos"/>
                        </a:rPr>
                        <a:t>9,75%</a:t>
                      </a:r>
                    </a:p>
                  </a:txBody>
                  <a:tcPr marL="43200" marR="43200" marT="0" marB="0">
                    <a:solidFill>
                      <a:srgbClr val="F4F7F9"/>
                    </a:solidFill>
                  </a:tcPr>
                </a:tc>
                <a:tc>
                  <a:txBody>
                    <a:bodyPr/>
                    <a:lstStyle/>
                    <a:p>
                      <a:pPr algn="r"/>
                      <a:r>
                        <a:rPr sz="850" b="0">
                          <a:solidFill>
                            <a:srgbClr val="1A1A1A"/>
                          </a:solidFill>
                          <a:latin typeface="Versos"/>
                        </a:rPr>
                        <a:t>-0,05%</a:t>
                      </a:r>
                    </a:p>
                  </a:txBody>
                  <a:tcPr marL="43200" marR="43200" marT="0" marB="0">
                    <a:solidFill>
                      <a:srgbClr val="F4F7F9"/>
                    </a:solidFill>
                  </a:tcPr>
                </a:tc>
                <a:tc>
                  <a:txBody>
                    <a:bodyPr/>
                    <a:lstStyle/>
                    <a:p>
                      <a:pPr algn="r"/>
                      <a:r>
                        <a:rPr sz="850" b="0">
                          <a:solidFill>
                            <a:srgbClr val="1A1A1A"/>
                          </a:solidFill>
                          <a:latin typeface="Versos"/>
                        </a:rPr>
                        <a:t>1,68%</a:t>
                      </a:r>
                    </a:p>
                  </a:txBody>
                  <a:tcPr marL="43200" marR="43200" marT="0" marB="0">
                    <a:solidFill>
                      <a:srgbClr val="F4F7F9"/>
                    </a:solidFill>
                  </a:tcPr>
                </a:tc>
                <a:tc>
                  <a:txBody>
                    <a:bodyPr/>
                    <a:lstStyle/>
                    <a:p>
                      <a:pPr algn="r"/>
                      <a:r>
                        <a:rPr sz="850" b="0">
                          <a:solidFill>
                            <a:srgbClr val="1A1A1A"/>
                          </a:solidFill>
                          <a:latin typeface="Versos"/>
                        </a:rPr>
                        <a:t>1,51%</a:t>
                      </a:r>
                    </a:p>
                  </a:txBody>
                  <a:tcPr marL="43200" marR="43200" marT="0" marB="0">
                    <a:solidFill>
                      <a:srgbClr val="F4F7F9"/>
                    </a:solidFill>
                  </a:tcPr>
                </a:tc>
                <a:tc>
                  <a:txBody>
                    <a:bodyPr/>
                    <a:lstStyle/>
                    <a:p>
                      <a:pPr algn="r"/>
                      <a:r>
                        <a:rPr sz="850" b="0">
                          <a:solidFill>
                            <a:srgbClr val="1A1A1A"/>
                          </a:solidFill>
                          <a:latin typeface="Versos"/>
                        </a:rPr>
                        <a:t>0,17%</a:t>
                      </a:r>
                    </a:p>
                  </a:txBody>
                  <a:tcPr marL="43200" marR="43200" marT="0" marB="0">
                    <a:solidFill>
                      <a:srgbClr val="F4F7F9"/>
                    </a:solidFill>
                  </a:tcPr>
                </a:tc>
                <a:tc>
                  <a:txBody>
                    <a:bodyPr/>
                    <a:lstStyle/>
                    <a:p>
                      <a:pPr algn="r"/>
                      <a:r>
                        <a:rPr sz="850" b="0">
                          <a:solidFill>
                            <a:srgbClr val="1A1A1A"/>
                          </a:solidFill>
                          <a:latin typeface="Versos"/>
                        </a:rPr>
                        <a:t>6,23</a:t>
                      </a:r>
                    </a:p>
                  </a:txBody>
                  <a:tcPr marL="43200" marR="43200" marT="0" marB="0">
                    <a:solidFill>
                      <a:srgbClr val="F4F7F9"/>
                    </a:solidFill>
                  </a:tcPr>
                </a:tc>
              </a:tr>
              <a:tr h="165600">
                <a:tc>
                  <a:txBody>
                    <a:bodyPr/>
                    <a:lstStyle/>
                    <a:p>
                      <a:pPr algn="l"/>
                      <a:r>
                        <a:rPr sz="850" b="1">
                          <a:solidFill>
                            <a:srgbClr val="1A1A1A"/>
                          </a:solidFill>
                          <a:latin typeface="Versos"/>
                        </a:rPr>
                        <a:t>Petróleo e gás</a:t>
                      </a:r>
                    </a:p>
                  </a:txBody>
                  <a:tcPr marL="43200" marR="43200" marT="0" marB="0">
                    <a:solidFill>
                      <a:srgbClr val="FFFFFF"/>
                    </a:solidFill>
                  </a:tcPr>
                </a:tc>
                <a:tc>
                  <a:txBody>
                    <a:bodyPr/>
                    <a:lstStyle/>
                    <a:p>
                      <a:pPr algn="r"/>
                      <a:r>
                        <a:rPr sz="850" b="0">
                          <a:solidFill>
                            <a:srgbClr val="1A1A1A"/>
                          </a:solidFill>
                          <a:latin typeface="Versos"/>
                        </a:rPr>
                        <a:t>26.236</a:t>
                      </a:r>
                    </a:p>
                  </a:txBody>
                  <a:tcPr marL="43200" marR="43200" marT="0" marB="0">
                    <a:solidFill>
                      <a:srgbClr val="FFFFFF"/>
                    </a:solidFill>
                  </a:tcPr>
                </a:tc>
                <a:tc>
                  <a:txBody>
                    <a:bodyPr/>
                    <a:lstStyle/>
                    <a:p>
                      <a:pPr algn="r"/>
                      <a:r>
                        <a:rPr sz="850" b="0">
                          <a:solidFill>
                            <a:srgbClr val="1A1A1A"/>
                          </a:solidFill>
                          <a:latin typeface="Versos"/>
                        </a:rPr>
                        <a:t>6,68%</a:t>
                      </a:r>
                    </a:p>
                  </a:txBody>
                  <a:tcPr marL="43200" marR="43200" marT="0" marB="0">
                    <a:solidFill>
                      <a:srgbClr val="FFFFFF"/>
                    </a:solidFill>
                  </a:tcPr>
                </a:tc>
                <a:tc>
                  <a:txBody>
                    <a:bodyPr/>
                    <a:lstStyle/>
                    <a:p>
                      <a:pPr algn="r"/>
                      <a:r>
                        <a:rPr sz="850" b="0">
                          <a:solidFill>
                            <a:srgbClr val="1A1A1A"/>
                          </a:solidFill>
                          <a:latin typeface="Versos"/>
                        </a:rPr>
                        <a:t>7,91%</a:t>
                      </a:r>
                    </a:p>
                  </a:txBody>
                  <a:tcPr marL="43200" marR="43200" marT="0" marB="0">
                    <a:solidFill>
                      <a:srgbClr val="FFFFFF"/>
                    </a:solidFill>
                  </a:tcPr>
                </a:tc>
                <a:tc>
                  <a:txBody>
                    <a:bodyPr/>
                    <a:lstStyle/>
                    <a:p>
                      <a:pPr algn="r"/>
                      <a:r>
                        <a:rPr sz="850" b="0">
                          <a:solidFill>
                            <a:srgbClr val="1A1A1A"/>
                          </a:solidFill>
                          <a:latin typeface="Versos"/>
                        </a:rPr>
                        <a:t>8,08%</a:t>
                      </a:r>
                    </a:p>
                  </a:txBody>
                  <a:tcPr marL="43200" marR="43200" marT="0" marB="0">
                    <a:solidFill>
                      <a:srgbClr val="FFFFFF"/>
                    </a:solidFill>
                  </a:tcPr>
                </a:tc>
                <a:tc>
                  <a:txBody>
                    <a:bodyPr/>
                    <a:lstStyle/>
                    <a:p>
                      <a:pPr algn="r"/>
                      <a:r>
                        <a:rPr sz="850" b="0">
                          <a:solidFill>
                            <a:srgbClr val="1A1A1A"/>
                          </a:solidFill>
                          <a:latin typeface="Versos"/>
                        </a:rPr>
                        <a:t>-0,16%</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-0,07%</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5,20</a:t>
                      </a:r>
                    </a:p>
                  </a:txBody>
                  <a:tcPr marL="43200" marR="43200" marT="0" marB="0">
                    <a:solidFill>
                      <a:srgbClr val="FFFFFF"/>
                    </a:solidFill>
                  </a:tcPr>
                </a:tc>
              </a:tr>
              <a:tr h="165600">
                <a:tc>
                  <a:txBody>
                    <a:bodyPr/>
                    <a:lstStyle/>
                    <a:p>
                      <a:pPr algn="l"/>
                      <a:r>
                        <a:rPr sz="850" b="1">
                          <a:solidFill>
                            <a:srgbClr val="1A1A1A"/>
                          </a:solidFill>
                          <a:latin typeface="Versos"/>
                        </a:rPr>
                        <a:t>TI e Telecomunicações</a:t>
                      </a:r>
                    </a:p>
                  </a:txBody>
                  <a:tcPr marL="43200" marR="43200" marT="0" marB="0">
                    <a:solidFill>
                      <a:srgbClr val="F4F7F9"/>
                    </a:solidFill>
                  </a:tcPr>
                </a:tc>
                <a:tc>
                  <a:txBody>
                    <a:bodyPr/>
                    <a:lstStyle/>
                    <a:p>
                      <a:pPr algn="r"/>
                      <a:r>
                        <a:rPr sz="850" b="0">
                          <a:solidFill>
                            <a:srgbClr val="1A1A1A"/>
                          </a:solidFill>
                          <a:latin typeface="Versos"/>
                        </a:rPr>
                        <a:t>16.942</a:t>
                      </a:r>
                    </a:p>
                  </a:txBody>
                  <a:tcPr marL="43200" marR="43200" marT="0" marB="0">
                    <a:solidFill>
                      <a:srgbClr val="F4F7F9"/>
                    </a:solidFill>
                  </a:tcPr>
                </a:tc>
                <a:tc>
                  <a:txBody>
                    <a:bodyPr/>
                    <a:lstStyle/>
                    <a:p>
                      <a:pPr algn="r"/>
                      <a:r>
                        <a:rPr sz="850" b="0">
                          <a:solidFill>
                            <a:srgbClr val="1A1A1A"/>
                          </a:solidFill>
                          <a:latin typeface="Versos"/>
                        </a:rPr>
                        <a:t>4,32%</a:t>
                      </a:r>
                    </a:p>
                  </a:txBody>
                  <a:tcPr marL="43200" marR="43200" marT="0" marB="0">
                    <a:solidFill>
                      <a:srgbClr val="F4F7F9"/>
                    </a:solidFill>
                  </a:tcPr>
                </a:tc>
                <a:tc>
                  <a:txBody>
                    <a:bodyPr/>
                    <a:lstStyle/>
                    <a:p>
                      <a:pPr algn="r"/>
                      <a:r>
                        <a:rPr sz="850" b="0">
                          <a:solidFill>
                            <a:srgbClr val="1A1A1A"/>
                          </a:solidFill>
                          <a:latin typeface="Versos"/>
                        </a:rPr>
                        <a:t>9,41%</a:t>
                      </a:r>
                    </a:p>
                  </a:txBody>
                  <a:tcPr marL="43200" marR="43200" marT="0" marB="0">
                    <a:solidFill>
                      <a:srgbClr val="F4F7F9"/>
                    </a:solidFill>
                  </a:tcPr>
                </a:tc>
                <a:tc>
                  <a:txBody>
                    <a:bodyPr/>
                    <a:lstStyle/>
                    <a:p>
                      <a:pPr algn="r"/>
                      <a:r>
                        <a:rPr sz="850" b="0">
                          <a:solidFill>
                            <a:srgbClr val="1A1A1A"/>
                          </a:solidFill>
                          <a:latin typeface="Versos"/>
                        </a:rPr>
                        <a:t>9,53%</a:t>
                      </a:r>
                    </a:p>
                  </a:txBody>
                  <a:tcPr marL="43200" marR="43200" marT="0" marB="0">
                    <a:solidFill>
                      <a:srgbClr val="F4F7F9"/>
                    </a:solidFill>
                  </a:tcPr>
                </a:tc>
                <a:tc>
                  <a:txBody>
                    <a:bodyPr/>
                    <a:lstStyle/>
                    <a:p>
                      <a:pPr algn="r"/>
                      <a:r>
                        <a:rPr sz="850" b="0">
                          <a:solidFill>
                            <a:srgbClr val="1A1A1A"/>
                          </a:solidFill>
                          <a:latin typeface="Versos"/>
                        </a:rPr>
                        <a:t>-0,11%</a:t>
                      </a:r>
                    </a:p>
                  </a:txBody>
                  <a:tcPr marL="43200" marR="43200" marT="0" marB="0">
                    <a:solidFill>
                      <a:srgbClr val="F4F7F9"/>
                    </a:solidFill>
                  </a:tcPr>
                </a:tc>
                <a:tc>
                  <a:txBody>
                    <a:bodyPr/>
                    <a:lstStyle/>
                    <a:p>
                      <a:pPr algn="r"/>
                      <a:r>
                        <a:rPr sz="850" b="0">
                          <a:solidFill>
                            <a:srgbClr val="1A1A1A"/>
                          </a:solidFill>
                          <a:latin typeface="Versos"/>
                        </a:rPr>
                        <a:t>1,41%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0,19%</a:t>
                      </a:r>
                    </a:p>
                  </a:txBody>
                  <a:tcPr marL="43200" marR="43200" marT="0" marB="0">
                    <a:solidFill>
                      <a:srgbClr val="F4F7F9"/>
                    </a:solidFill>
                  </a:tcPr>
                </a:tc>
                <a:tc>
                  <a:txBody>
                    <a:bodyPr/>
                    <a:lstStyle/>
                    <a:p>
                      <a:pPr algn="r"/>
                      <a:r>
                        <a:rPr sz="850" b="0">
                          <a:solidFill>
                            <a:srgbClr val="1A1A1A"/>
                          </a:solidFill>
                          <a:latin typeface="Versos"/>
                        </a:rPr>
                        <a:t>3,93</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14.839</a:t>
                      </a:r>
                    </a:p>
                  </a:txBody>
                  <a:tcPr marL="43200" marR="43200" marT="0" marB="0">
                    <a:solidFill>
                      <a:srgbClr val="FFFFFF"/>
                    </a:solidFill>
                  </a:tcPr>
                </a:tc>
                <a:tc>
                  <a:txBody>
                    <a:bodyPr/>
                    <a:lstStyle/>
                    <a:p>
                      <a:pPr algn="r"/>
                      <a:r>
                        <a:rPr sz="850" b="0">
                          <a:solidFill>
                            <a:srgbClr val="1A1A1A"/>
                          </a:solidFill>
                          <a:latin typeface="Versos"/>
                        </a:rPr>
                        <a:t>3,78%</a:t>
                      </a:r>
                    </a:p>
                  </a:txBody>
                  <a:tcPr marL="43200" marR="43200" marT="0" marB="0">
                    <a:solidFill>
                      <a:srgbClr val="FFFFFF"/>
                    </a:solidFill>
                  </a:tcPr>
                </a:tc>
                <a:tc>
                  <a:txBody>
                    <a:bodyPr/>
                    <a:lstStyle/>
                    <a:p>
                      <a:pPr algn="r"/>
                      <a:r>
                        <a:rPr sz="850" b="0">
                          <a:solidFill>
                            <a:srgbClr val="1A1A1A"/>
                          </a:solidFill>
                          <a:latin typeface="Versos"/>
                        </a:rPr>
                        <a:t>8,09%</a:t>
                      </a:r>
                    </a:p>
                  </a:txBody>
                  <a:tcPr marL="43200" marR="43200" marT="0" marB="0">
                    <a:solidFill>
                      <a:srgbClr val="FFFFFF"/>
                    </a:solidFill>
                  </a:tcPr>
                </a:tc>
                <a:tc>
                  <a:txBody>
                    <a:bodyPr/>
                    <a:lstStyle/>
                    <a:p>
                      <a:pPr algn="r"/>
                      <a:r>
                        <a:rPr sz="850" b="0">
                          <a:solidFill>
                            <a:srgbClr val="1A1A1A"/>
                          </a:solidFill>
                          <a:latin typeface="Versos"/>
                        </a:rPr>
                        <a:t>8,30%</a:t>
                      </a:r>
                    </a:p>
                  </a:txBody>
                  <a:tcPr marL="43200" marR="43200" marT="0" marB="0">
                    <a:solidFill>
                      <a:srgbClr val="FFFFFF"/>
                    </a:solidFill>
                  </a:tcPr>
                </a:tc>
                <a:tc>
                  <a:txBody>
                    <a:bodyPr/>
                    <a:lstStyle/>
                    <a:p>
                      <a:pPr algn="r"/>
                      <a:r>
                        <a:rPr sz="850" b="0">
                          <a:solidFill>
                            <a:srgbClr val="1A1A1A"/>
                          </a:solidFill>
                          <a:latin typeface="Versos"/>
                        </a:rPr>
                        <a:t>-0,19%</a:t>
                      </a:r>
                    </a:p>
                  </a:txBody>
                  <a:tcPr marL="43200" marR="43200" marT="0" marB="0">
                    <a:solidFill>
                      <a:srgbClr val="FFFFFF"/>
                    </a:solidFill>
                  </a:tcPr>
                </a:tc>
                <a:tc>
                  <a:txBody>
                    <a:bodyPr/>
                    <a:lstStyle/>
                    <a:p>
                      <a:pPr algn="r"/>
                      <a:r>
                        <a:rPr sz="850" b="0">
                          <a:solidFill>
                            <a:srgbClr val="1A1A1A"/>
                          </a:solidFill>
                          <a:latin typeface="Versos"/>
                        </a:rPr>
                        <a:t>0,18%</a:t>
                      </a:r>
                    </a:p>
                  </a:txBody>
                  <a:tcPr marL="43200" marR="43200" marT="0" marB="0">
                    <a:solidFill>
                      <a:srgbClr val="FFFFFF"/>
                    </a:solidFill>
                  </a:tcPr>
                </a:tc>
                <a:tc>
                  <a:txBody>
                    <a:bodyPr/>
                    <a:lstStyle/>
                    <a:p>
                      <a:pPr algn="r"/>
                      <a:r>
                        <a:rPr sz="850" b="0">
                          <a:solidFill>
                            <a:srgbClr val="1A1A1A"/>
                          </a:solidFill>
                          <a:latin typeface="Versos"/>
                        </a:rPr>
                        <a:t>0,21%</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6,50</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6.924</a:t>
                      </a:r>
                    </a:p>
                  </a:txBody>
                  <a:tcPr marL="43200" marR="43200" marT="0" marB="0">
                    <a:solidFill>
                      <a:srgbClr val="F4F7F9"/>
                    </a:solidFill>
                  </a:tcPr>
                </a:tc>
                <a:tc>
                  <a:txBody>
                    <a:bodyPr/>
                    <a:lstStyle/>
                    <a:p>
                      <a:pPr algn="r"/>
                      <a:r>
                        <a:rPr sz="850" b="0">
                          <a:solidFill>
                            <a:srgbClr val="1A1A1A"/>
                          </a:solidFill>
                          <a:latin typeface="Versos"/>
                        </a:rPr>
                        <a:t>1,76%</a:t>
                      </a:r>
                    </a:p>
                  </a:txBody>
                  <a:tcPr marL="43200" marR="43200" marT="0" marB="0">
                    <a:solidFill>
                      <a:srgbClr val="F4F7F9"/>
                    </a:solidFill>
                  </a:tcPr>
                </a:tc>
                <a:tc>
                  <a:txBody>
                    <a:bodyPr/>
                    <a:lstStyle/>
                    <a:p>
                      <a:pPr algn="r"/>
                      <a:r>
                        <a:rPr sz="850" b="0">
                          <a:solidFill>
                            <a:srgbClr val="1A1A1A"/>
                          </a:solidFill>
                          <a:latin typeface="Versos"/>
                        </a:rPr>
                        <a:t>8,96%</a:t>
                      </a:r>
                    </a:p>
                  </a:txBody>
                  <a:tcPr marL="43200" marR="43200" marT="0" marB="0">
                    <a:solidFill>
                      <a:srgbClr val="F4F7F9"/>
                    </a:solidFill>
                  </a:tcPr>
                </a:tc>
                <a:tc>
                  <a:txBody>
                    <a:bodyPr/>
                    <a:lstStyle/>
                    <a:p>
                      <a:pPr algn="r"/>
                      <a:r>
                        <a:rPr sz="850" b="0">
                          <a:solidFill>
                            <a:srgbClr val="1A1A1A"/>
                          </a:solidFill>
                          <a:latin typeface="Versos"/>
                        </a:rPr>
                        <a:t>9,07%</a:t>
                      </a:r>
                    </a:p>
                  </a:txBody>
                  <a:tcPr marL="43200" marR="43200" marT="0" marB="0">
                    <a:solidFill>
                      <a:srgbClr val="F4F7F9"/>
                    </a:solidFill>
                  </a:tcPr>
                </a:tc>
                <a:tc>
                  <a:txBody>
                    <a:bodyPr/>
                    <a:lstStyle/>
                    <a:p>
                      <a:pPr algn="r"/>
                      <a:r>
                        <a:rPr sz="850" b="0">
                          <a:solidFill>
                            <a:srgbClr val="1A1A1A"/>
                          </a:solidFill>
                          <a:latin typeface="Versos"/>
                        </a:rPr>
                        <a:t>-0,11%</a:t>
                      </a:r>
                    </a:p>
                  </a:txBody>
                  <a:tcPr marL="43200" marR="43200" marT="0" marB="0">
                    <a:solidFill>
                      <a:srgbClr val="F4F7F9"/>
                    </a:solidFill>
                  </a:tcPr>
                </a:tc>
                <a:tc>
                  <a:txBody>
                    <a:bodyPr/>
                    <a:lstStyle/>
                    <a:p>
                      <a:pPr algn="r"/>
                      <a:r>
                        <a:rPr sz="850" b="0">
                          <a:solidFill>
                            <a:srgbClr val="1A1A1A"/>
                          </a:solidFill>
                          <a:latin typeface="Versos"/>
                        </a:rPr>
                        <a:t>0,86%</a:t>
                      </a:r>
                    </a:p>
                  </a:txBody>
                  <a:tcPr marL="43200" marR="43200" marT="0" marB="0">
                    <a:solidFill>
                      <a:srgbClr val="F4F7F9"/>
                    </a:solidFill>
                  </a:tcPr>
                </a:tc>
                <a:tc>
                  <a:txBody>
                    <a:bodyPr/>
                    <a:lstStyle/>
                    <a:p>
                      <a:pPr algn="r"/>
                      <a:r>
                        <a:rPr sz="850" b="0">
                          <a:solidFill>
                            <a:srgbClr val="1A1A1A"/>
                          </a:solidFill>
                          <a:latin typeface="Versos"/>
                        </a:rPr>
                        <a:t>0,76%</a:t>
                      </a:r>
                    </a:p>
                  </a:txBody>
                  <a:tcPr marL="43200" marR="43200" marT="0" marB="0">
                    <a:solidFill>
                      <a:srgbClr val="F4F7F9"/>
                    </a:solidFill>
                  </a:tcPr>
                </a:tc>
                <a:tc>
                  <a:txBody>
                    <a:bodyPr/>
                    <a:lstStyle/>
                    <a:p>
                      <a:pPr algn="r"/>
                      <a:r>
                        <a:rPr sz="850" b="0">
                          <a:solidFill>
                            <a:srgbClr val="1A1A1A"/>
                          </a:solidFill>
                          <a:latin typeface="Versos"/>
                        </a:rPr>
                        <a:t>0,10%</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Papel e celulose</a:t>
                      </a:r>
                    </a:p>
                  </a:txBody>
                  <a:tcPr marL="43200" marR="43200" marT="0" marB="0">
                    <a:solidFill>
                      <a:srgbClr val="FFFFFF"/>
                    </a:solidFill>
                  </a:tcPr>
                </a:tc>
                <a:tc>
                  <a:txBody>
                    <a:bodyPr/>
                    <a:lstStyle/>
                    <a:p>
                      <a:pPr algn="r"/>
                      <a:r>
                        <a:rPr sz="850" b="0">
                          <a:solidFill>
                            <a:srgbClr val="1A1A1A"/>
                          </a:solidFill>
                          <a:latin typeface="Versos"/>
                        </a:rPr>
                        <a:t>7.223</a:t>
                      </a:r>
                    </a:p>
                  </a:txBody>
                  <a:tcPr marL="43200" marR="43200" marT="0" marB="0">
                    <a:solidFill>
                      <a:srgbClr val="FFFFFF"/>
                    </a:solidFill>
                  </a:tcPr>
                </a:tc>
                <a:tc>
                  <a:txBody>
                    <a:bodyPr/>
                    <a:lstStyle/>
                    <a:p>
                      <a:pPr algn="r"/>
                      <a:r>
                        <a:rPr sz="850" b="0">
                          <a:solidFill>
                            <a:srgbClr val="1A1A1A"/>
                          </a:solidFill>
                          <a:latin typeface="Versos"/>
                        </a:rPr>
                        <a:t>1,84%</a:t>
                      </a:r>
                    </a:p>
                  </a:txBody>
                  <a:tcPr marL="43200" marR="43200" marT="0" marB="0">
                    <a:solidFill>
                      <a:srgbClr val="FFFFFF"/>
                    </a:solidFill>
                  </a:tcPr>
                </a:tc>
                <a:tc>
                  <a:txBody>
                    <a:bodyPr/>
                    <a:lstStyle/>
                    <a:p>
                      <a:pPr algn="r"/>
                      <a:r>
                        <a:rPr sz="850" b="0">
                          <a:solidFill>
                            <a:srgbClr val="1A1A1A"/>
                          </a:solidFill>
                          <a:latin typeface="Versos"/>
                        </a:rPr>
                        <a:t>7,65%</a:t>
                      </a:r>
                    </a:p>
                  </a:txBody>
                  <a:tcPr marL="43200" marR="43200" marT="0" marB="0">
                    <a:solidFill>
                      <a:srgbClr val="FFFFFF"/>
                    </a:solidFill>
                  </a:tcPr>
                </a:tc>
                <a:tc>
                  <a:txBody>
                    <a:bodyPr/>
                    <a:lstStyle/>
                    <a:p>
                      <a:pPr algn="r"/>
                      <a:r>
                        <a:rPr sz="850" b="0">
                          <a:solidFill>
                            <a:srgbClr val="1A1A1A"/>
                          </a:solidFill>
                          <a:latin typeface="Versos"/>
                        </a:rPr>
                        <a:t>7,87%</a:t>
                      </a:r>
                    </a:p>
                  </a:txBody>
                  <a:tcPr marL="43200" marR="43200" marT="0" marB="0">
                    <a:solidFill>
                      <a:srgbClr val="FFFFFF"/>
                    </a:solidFill>
                  </a:tcPr>
                </a:tc>
                <a:tc>
                  <a:txBody>
                    <a:bodyPr/>
                    <a:lstStyle/>
                    <a:p>
                      <a:pPr algn="r"/>
                      <a:r>
                        <a:rPr sz="850" b="0">
                          <a:solidFill>
                            <a:srgbClr val="1A1A1A"/>
                          </a:solidFill>
                          <a:latin typeface="Versos"/>
                        </a:rPr>
                        <a:t>-0,20%</a:t>
                      </a:r>
                    </a:p>
                  </a:txBody>
                  <a:tcPr marL="43200" marR="43200" marT="0" marB="0">
                    <a:solidFill>
                      <a:srgbClr val="FFFFFF"/>
                    </a:solidFill>
                  </a:tcPr>
                </a:tc>
                <a:tc>
                  <a:txBody>
                    <a:bodyPr/>
                    <a:lstStyle/>
                    <a:p>
                      <a:pPr algn="r"/>
                      <a:r>
                        <a:rPr sz="850" b="0">
                          <a:solidFill>
                            <a:srgbClr val="1A1A1A"/>
                          </a:solidFill>
                          <a:latin typeface="Versos"/>
                        </a:rPr>
                        <a:t>-0,23%</a:t>
                      </a:r>
                    </a:p>
                  </a:txBody>
                  <a:tcPr marL="43200" marR="43200" marT="0" marB="0">
                    <a:solidFill>
                      <a:srgbClr val="FFFFFF"/>
                    </a:solidFill>
                  </a:tcPr>
                </a:tc>
                <a:tc>
                  <a:txBody>
                    <a:bodyPr/>
                    <a:lstStyle/>
                    <a:p>
                      <a:pPr algn="r"/>
                      <a:r>
                        <a:rPr sz="850" b="0">
                          <a:solidFill>
                            <a:srgbClr val="1A1A1A"/>
                          </a:solidFill>
                          <a:latin typeface="Versos"/>
                        </a:rPr>
                        <a:t>-0,20%</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6,91</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1.671</a:t>
                      </a:r>
                    </a:p>
                  </a:txBody>
                  <a:tcPr marL="43200" marR="43200" marT="0" marB="0">
                    <a:solidFill>
                      <a:srgbClr val="F4F7F9"/>
                    </a:solidFill>
                  </a:tcPr>
                </a:tc>
                <a:tc>
                  <a:txBody>
                    <a:bodyPr/>
                    <a:lstStyle/>
                    <a:p>
                      <a:pPr algn="r"/>
                      <a:r>
                        <a:rPr sz="850" b="0">
                          <a:solidFill>
                            <a:srgbClr val="1A1A1A"/>
                          </a:solidFill>
                          <a:latin typeface="Versos"/>
                        </a:rPr>
                        <a:t>0,43%</a:t>
                      </a:r>
                    </a:p>
                  </a:txBody>
                  <a:tcPr marL="43200" marR="43200" marT="0" marB="0">
                    <a:solidFill>
                      <a:srgbClr val="F4F7F9"/>
                    </a:solidFill>
                  </a:tcPr>
                </a:tc>
                <a:tc>
                  <a:txBody>
                    <a:bodyPr/>
                    <a:lstStyle/>
                    <a:p>
                      <a:pPr algn="r"/>
                      <a:r>
                        <a:rPr sz="850" b="0">
                          <a:solidFill>
                            <a:srgbClr val="1A1A1A"/>
                          </a:solidFill>
                          <a:latin typeface="Versos"/>
                        </a:rPr>
                        <a:t>7,71%</a:t>
                      </a:r>
                    </a:p>
                  </a:txBody>
                  <a:tcPr marL="43200" marR="43200" marT="0" marB="0">
                    <a:solidFill>
                      <a:srgbClr val="F4F7F9"/>
                    </a:solidFill>
                  </a:tcPr>
                </a:tc>
                <a:tc>
                  <a:txBody>
                    <a:bodyPr/>
                    <a:lstStyle/>
                    <a:p>
                      <a:pPr algn="r"/>
                      <a:r>
                        <a:rPr sz="850" b="0">
                          <a:solidFill>
                            <a:srgbClr val="1A1A1A"/>
                          </a:solidFill>
                          <a:latin typeface="Versos"/>
                        </a:rPr>
                        <a:t>7,95%</a:t>
                      </a:r>
                    </a:p>
                  </a:txBody>
                  <a:tcPr marL="43200" marR="43200" marT="0" marB="0">
                    <a:solidFill>
                      <a:srgbClr val="F4F7F9"/>
                    </a:solidFill>
                  </a:tcPr>
                </a:tc>
                <a:tc>
                  <a:txBody>
                    <a:bodyPr/>
                    <a:lstStyle/>
                    <a:p>
                      <a:pPr algn="r"/>
                      <a:r>
                        <a:rPr sz="850" b="0">
                          <a:solidFill>
                            <a:srgbClr val="1A1A1A"/>
                          </a:solidFill>
                          <a:latin typeface="Versos"/>
                        </a:rPr>
                        <a:t>-0,23%</a:t>
                      </a:r>
                    </a:p>
                  </a:txBody>
                  <a:tcPr marL="43200" marR="43200" marT="0" marB="0">
                    <a:solidFill>
                      <a:srgbClr val="F4F7F9"/>
                    </a:solidFill>
                  </a:tcPr>
                </a:tc>
                <a:tc>
                  <a:txBody>
                    <a:bodyPr/>
                    <a:lstStyle/>
                    <a:p>
                      <a:pPr algn="r"/>
                      <a:r>
                        <a:rPr sz="850" b="0">
                          <a:solidFill>
                            <a:srgbClr val="1A1A1A"/>
                          </a:solidFill>
                          <a:latin typeface="Versos"/>
                        </a:rPr>
                        <a:t>-0,30%</a:t>
                      </a:r>
                    </a:p>
                  </a:txBody>
                  <a:tcPr marL="43200" marR="43200" marT="0" marB="0">
                    <a:solidFill>
                      <a:srgbClr val="F4F7F9"/>
                    </a:solidFill>
                  </a:tcPr>
                </a:tc>
                <a:tc>
                  <a:txBody>
                    <a:bodyPr/>
                    <a:lstStyle/>
                    <a:p>
                      <a:pPr algn="r"/>
                      <a:r>
                        <a:rPr sz="850" b="0">
                          <a:solidFill>
                            <a:srgbClr val="1A1A1A"/>
                          </a:solidFill>
                          <a:latin typeface="Versos"/>
                        </a:rPr>
                        <a:t>-0,27%</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3,29</a:t>
                      </a:r>
                    </a:p>
                  </a:txBody>
                  <a:tcPr marL="43200" marR="43200" marT="0" marB="0">
                    <a:solidFill>
                      <a:srgbClr val="F4F7F9"/>
                    </a:solidFill>
                  </a:tcPr>
                </a:tc>
              </a:tr>
              <a:tr h="165600">
                <a:tc>
                  <a:txBody>
                    <a:bodyPr/>
                    <a:lstStyle/>
                    <a:p>
                      <a:pPr algn="l"/>
                      <a:r>
                        <a:rPr sz="850" b="1">
                          <a:solidFill>
                            <a:srgbClr val="1A1A1A"/>
                          </a:solidFill>
                          <a:latin typeface="Versos"/>
                        </a:rPr>
                        <a:t>Comunicação</a:t>
                      </a:r>
                    </a:p>
                  </a:txBody>
                  <a:tcPr marL="43200" marR="43200" marT="0" marB="0">
                    <a:solidFill>
                      <a:srgbClr val="FFFFFF"/>
                    </a:solidFill>
                  </a:tcPr>
                </a:tc>
                <a:tc>
                  <a:txBody>
                    <a:bodyPr/>
                    <a:lstStyle/>
                    <a:p>
                      <a:pPr algn="r"/>
                      <a:r>
                        <a:rPr sz="850" b="0">
                          <a:solidFill>
                            <a:srgbClr val="1A1A1A"/>
                          </a:solidFill>
                          <a:latin typeface="Versos"/>
                        </a:rPr>
                        <a:t>1.747</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7,95%</a:t>
                      </a:r>
                    </a:p>
                  </a:txBody>
                  <a:tcPr marL="43200" marR="43200" marT="0" marB="0">
                    <a:solidFill>
                      <a:srgbClr val="FFFFFF"/>
                    </a:solidFill>
                  </a:tcPr>
                </a:tc>
                <a:tc>
                  <a:txBody>
                    <a:bodyPr/>
                    <a:lstStyle/>
                    <a:p>
                      <a:pPr algn="r"/>
                      <a:r>
                        <a:rPr sz="850" b="0">
                          <a:solidFill>
                            <a:srgbClr val="1A1A1A"/>
                          </a:solidFill>
                          <a:latin typeface="Versos"/>
                        </a:rPr>
                        <a:t>8,09%</a:t>
                      </a:r>
                    </a:p>
                  </a:txBody>
                  <a:tcPr marL="43200" marR="43200" marT="0" marB="0">
                    <a:solidFill>
                      <a:srgbClr val="FFFFFF"/>
                    </a:solidFill>
                  </a:tcPr>
                </a:tc>
                <a:tc>
                  <a:txBody>
                    <a:bodyPr/>
                    <a:lstStyle/>
                    <a:p>
                      <a:pPr algn="r"/>
                      <a:r>
                        <a:rPr sz="850" b="0">
                          <a:solidFill>
                            <a:srgbClr val="1A1A1A"/>
                          </a:solidFill>
                          <a:latin typeface="Versos"/>
                        </a:rPr>
                        <a:t>-0,13%</a:t>
                      </a:r>
                    </a:p>
                  </a:txBody>
                  <a:tcPr marL="43200" marR="43200" marT="0" marB="0">
                    <a:solidFill>
                      <a:srgbClr val="FFFFFF"/>
                    </a:solidFill>
                  </a:tcPr>
                </a:tc>
                <a:tc>
                  <a:txBody>
                    <a:bodyPr/>
                    <a:lstStyle/>
                    <a:p>
                      <a:pPr algn="r"/>
                      <a:r>
                        <a:rPr sz="850" b="0">
                          <a:solidFill>
                            <a:srgbClr val="1A1A1A"/>
                          </a:solidFill>
                          <a:latin typeface="Versos"/>
                        </a:rPr>
                        <a:t>-0,14%</a:t>
                      </a:r>
                    </a:p>
                  </a:txBody>
                  <a:tcPr marL="43200" marR="43200" marT="0" marB="0">
                    <a:solidFill>
                      <a:srgbClr val="FFFFFF"/>
                    </a:solidFill>
                  </a:tcPr>
                </a:tc>
                <a:tc>
                  <a:txBody>
                    <a:bodyPr/>
                    <a:lstStyle/>
                    <a:p>
                      <a:pPr algn="r"/>
                      <a:r>
                        <a:rPr sz="850" b="0">
                          <a:solidFill>
                            <a:srgbClr val="1A1A1A"/>
                          </a:solidFill>
                          <a:latin typeface="Versos"/>
                        </a:rPr>
                        <a:t>-0,16%</a:t>
                      </a:r>
                    </a:p>
                  </a:txBody>
                  <a:tcPr marL="43200" marR="43200" marT="0" marB="0">
                    <a:solidFill>
                      <a:srgbClr val="FFFFFF"/>
                    </a:solidFill>
                  </a:tcPr>
                </a:tc>
                <a:tc>
                  <a:txBody>
                    <a:bodyPr/>
                    <a:lstStyle/>
                    <a:p>
                      <a:pPr algn="r"/>
                      <a:r>
                        <a:rPr sz="850" b="0">
                          <a:solidFill>
                            <a:srgbClr val="1A1A1A"/>
                          </a:solidFill>
                          <a:latin typeface="Versos"/>
                        </a:rPr>
                        <a:t>0,02%</a:t>
                      </a:r>
                    </a:p>
                  </a:txBody>
                  <a:tcPr marL="43200" marR="43200" marT="0" marB="0">
                    <a:solidFill>
                      <a:srgbClr val="FFFFFF"/>
                    </a:solidFill>
                  </a:tcPr>
                </a:tc>
                <a:tc>
                  <a:txBody>
                    <a:bodyPr/>
                    <a:lstStyle/>
                    <a:p>
                      <a:pPr algn="r"/>
                      <a:r>
                        <a:rPr sz="850" b="0">
                          <a:solidFill>
                            <a:srgbClr val="1A1A1A"/>
                          </a:solidFill>
                          <a:latin typeface="Versos"/>
                        </a:rPr>
                        <a:t>4,19</a:t>
                      </a:r>
                    </a:p>
                  </a:txBody>
                  <a:tcPr marL="43200" marR="43200" marT="0" marB="0">
                    <a:solidFill>
                      <a:srgbClr val="FFFFFF"/>
                    </a:solidFill>
                  </a:tcPr>
                </a:tc>
              </a:tr>
              <a:tr h="165600">
                <a:tc>
                  <a:txBody>
                    <a:bodyPr/>
                    <a:lstStyle/>
                    <a:p>
                      <a:pPr algn="l"/>
                      <a:r>
                        <a:rPr sz="850" b="1">
                          <a:solidFill>
                            <a:srgbClr val="1A1A1A"/>
                          </a:solidFill>
                          <a:latin typeface="Versos"/>
                        </a:rPr>
                        <a:t>Metalurgia e siderurgia</a:t>
                      </a:r>
                    </a:p>
                  </a:txBody>
                  <a:tcPr marL="43200" marR="43200" marT="0" marB="0">
                    <a:solidFill>
                      <a:srgbClr val="F4F7F9"/>
                    </a:solidFill>
                  </a:tcPr>
                </a:tc>
                <a:tc>
                  <a:txBody>
                    <a:bodyPr/>
                    <a:lstStyle/>
                    <a:p>
                      <a:pPr algn="r"/>
                      <a:r>
                        <a:rPr sz="850" b="0">
                          <a:solidFill>
                            <a:srgbClr val="1A1A1A"/>
                          </a:solidFill>
                          <a:latin typeface="Versos"/>
                        </a:rPr>
                        <a:t>1.120</a:t>
                      </a:r>
                    </a:p>
                  </a:txBody>
                  <a:tcPr marL="43200" marR="43200" marT="0" marB="0">
                    <a:solidFill>
                      <a:srgbClr val="F4F7F9"/>
                    </a:solidFill>
                  </a:tcPr>
                </a:tc>
                <a:tc>
                  <a:txBody>
                    <a:bodyPr/>
                    <a:lstStyle/>
                    <a:p>
                      <a:pPr algn="r"/>
                      <a:r>
                        <a:rPr sz="850" b="0">
                          <a:solidFill>
                            <a:srgbClr val="1A1A1A"/>
                          </a:solidFill>
                          <a:latin typeface="Versos"/>
                        </a:rPr>
                        <a:t>0,29%</a:t>
                      </a:r>
                    </a:p>
                  </a:txBody>
                  <a:tcPr marL="43200" marR="43200" marT="0" marB="0">
                    <a:solidFill>
                      <a:srgbClr val="F4F7F9"/>
                    </a:solidFill>
                  </a:tcPr>
                </a:tc>
                <a:tc>
                  <a:txBody>
                    <a:bodyPr/>
                    <a:lstStyle/>
                    <a:p>
                      <a:pPr algn="r"/>
                      <a:r>
                        <a:rPr sz="850" b="0">
                          <a:solidFill>
                            <a:srgbClr val="1A1A1A"/>
                          </a:solidFill>
                          <a:latin typeface="Versos"/>
                        </a:rPr>
                        <a:t>23,57%</a:t>
                      </a:r>
                    </a:p>
                  </a:txBody>
                  <a:tcPr marL="43200" marR="43200" marT="0" marB="0">
                    <a:solidFill>
                      <a:srgbClr val="F4F7F9"/>
                    </a:solidFill>
                  </a:tcPr>
                </a:tc>
                <a:tc>
                  <a:txBody>
                    <a:bodyPr/>
                    <a:lstStyle/>
                    <a:p>
                      <a:pPr algn="r"/>
                      <a:r>
                        <a:rPr sz="850" b="0">
                          <a:solidFill>
                            <a:srgbClr val="1A1A1A"/>
                          </a:solidFill>
                          <a:latin typeface="Versos"/>
                        </a:rPr>
                        <a:t>21,71%</a:t>
                      </a:r>
                    </a:p>
                  </a:txBody>
                  <a:tcPr marL="43200" marR="43200" marT="0" marB="0">
                    <a:solidFill>
                      <a:srgbClr val="F4F7F9"/>
                    </a:solidFill>
                  </a:tcPr>
                </a:tc>
                <a:tc>
                  <a:txBody>
                    <a:bodyPr/>
                    <a:lstStyle/>
                    <a:p>
                      <a:pPr algn="r"/>
                      <a:r>
                        <a:rPr sz="850" b="0">
                          <a:solidFill>
                            <a:srgbClr val="1A1A1A"/>
                          </a:solidFill>
                          <a:latin typeface="Versos"/>
                        </a:rPr>
                        <a:t>1,53%</a:t>
                      </a:r>
                    </a:p>
                  </a:txBody>
                  <a:tcPr marL="43200" marR="43200" marT="0" marB="0">
                    <a:solidFill>
                      <a:srgbClr val="F4F7F9"/>
                    </a:solidFill>
                  </a:tcPr>
                </a:tc>
                <a:tc>
                  <a:txBody>
                    <a:bodyPr/>
                    <a:lstStyle/>
                    <a:p>
                      <a:pPr algn="r"/>
                      <a:r>
                        <a:rPr sz="850" b="0">
                          <a:solidFill>
                            <a:srgbClr val="1A1A1A"/>
                          </a:solidFill>
                          <a:latin typeface="Versos"/>
                        </a:rPr>
                        <a:t>14,35%</a:t>
                      </a:r>
                    </a:p>
                  </a:txBody>
                  <a:tcPr marL="43200" marR="43200" marT="0" marB="0">
                    <a:solidFill>
                      <a:srgbClr val="F4F7F9"/>
                    </a:solidFill>
                  </a:tcPr>
                </a:tc>
                <a:tc>
                  <a:txBody>
                    <a:bodyPr/>
                    <a:lstStyle/>
                    <a:p>
                      <a:pPr algn="r"/>
                      <a:r>
                        <a:rPr sz="850" b="0">
                          <a:solidFill>
                            <a:srgbClr val="1A1A1A"/>
                          </a:solidFill>
                          <a:latin typeface="Versos"/>
                        </a:rPr>
                        <a:t>12,46%</a:t>
                      </a:r>
                    </a:p>
                  </a:txBody>
                  <a:tcPr marL="43200" marR="43200" marT="0" marB="0">
                    <a:solidFill>
                      <a:srgbClr val="F4F7F9"/>
                    </a:solidFill>
                  </a:tcPr>
                </a:tc>
                <a:tc>
                  <a:txBody>
                    <a:bodyPr/>
                    <a:lstStyle/>
                    <a:p>
                      <a:pPr algn="r"/>
                      <a:r>
                        <a:rPr sz="850" b="0">
                          <a:solidFill>
                            <a:srgbClr val="1A1A1A"/>
                          </a:solidFill>
                          <a:latin typeface="Versos"/>
                        </a:rPr>
                        <a:t>1,68%</a:t>
                      </a:r>
                    </a:p>
                  </a:txBody>
                  <a:tcPr marL="43200" marR="43200" marT="0" marB="0">
                    <a:solidFill>
                      <a:srgbClr val="F4F7F9"/>
                    </a:solidFill>
                  </a:tcPr>
                </a:tc>
                <a:tc>
                  <a:txBody>
                    <a:bodyPr/>
                    <a:lstStyle/>
                    <a:p>
                      <a:pPr algn="r"/>
                      <a:r>
                        <a:rPr sz="850" b="0">
                          <a:solidFill>
                            <a:srgbClr val="1A1A1A"/>
                          </a:solidFill>
                          <a:latin typeface="Versos"/>
                        </a:rPr>
                        <a:t>4,91</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392.485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8,30%</a:t>
                      </a:r>
                    </a:p>
                  </a:txBody>
                  <a:tcPr marL="43200" marR="43200" marT="0" marB="0">
                    <a:solidFill>
                      <a:srgbClr val="FFFFFF"/>
                    </a:solidFill>
                  </a:tcPr>
                </a:tc>
                <a:tc>
                  <a:txBody>
                    <a:bodyPr/>
                    <a:lstStyle/>
                    <a:p>
                      <a:pPr algn="r"/>
                      <a:r>
                        <a:rPr sz="850" b="0">
                          <a:solidFill>
                            <a:srgbClr val="1A1A1A"/>
                          </a:solidFill>
                          <a:latin typeface="Versos"/>
                        </a:rPr>
                        <a:t>8,47%</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0,34%</a:t>
                      </a:r>
                    </a:p>
                  </a:txBody>
                  <a:tcPr marL="43200" marR="43200" marT="0" marB="0">
                    <a:solidFill>
                      <a:srgbClr val="FFFFFF"/>
                    </a:solidFill>
                  </a:tcPr>
                </a:tc>
                <a:tc>
                  <a:txBody>
                    <a:bodyPr/>
                    <a:lstStyle/>
                    <a:p>
                      <a:pPr algn="r"/>
                      <a:r>
                        <a:rPr sz="850" b="0">
                          <a:solidFill>
                            <a:srgbClr val="1A1A1A"/>
                          </a:solidFill>
                          <a:latin typeface="Versos"/>
                        </a:rPr>
                        <a:t>0,29%</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5,38</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incentivadas precificadas pela ANBIMA.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Esplanada</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 profissional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IMA-B 5</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21/10/2024</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R$ 118.588.714,20</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R$ 123.362.395,32</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0,475%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IMA-B 5 +7,65%</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3,94 anos</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936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D+9 DU</a:t>
                      </a:r>
                    </a:p>
                  </a:txBody>
                  <a:tcPr marL="43200" marR="43200" marT="0" marB="0">
                    <a:solidFill>
                      <a:srgbClr val="F4F7F9"/>
                    </a:solidFill>
                  </a:tcPr>
                </a:tc>
              </a:tr>
              <a:tr h="187200">
                <a:tc>
                  <a:txBody>
                    <a:bodyPr/>
                    <a:lstStyle/>
                    <a:p>
                      <a:pPr algn="l"/>
                      <a:r>
                        <a:rPr sz="850" b="1">
                          <a:solidFill>
                            <a:srgbClr val="1A1A1A"/>
                          </a:solidFill>
                          <a:latin typeface="Versos"/>
                        </a:rPr>
                        <a:t>Pagamento do Resgate</a:t>
                      </a:r>
                    </a:p>
                  </a:txBody>
                  <a:tcPr marL="43200" marR="43200" marT="0" marB="0">
                    <a:solidFill>
                      <a:srgbClr val="FFFFFF"/>
                    </a:solidFill>
                  </a:tcPr>
                </a:tc>
                <a:tc>
                  <a:txBody>
                    <a:bodyPr/>
                    <a:lstStyle/>
                    <a:p>
                      <a:pPr algn="r"/>
                      <a:r>
                        <a:rPr sz="850" b="0">
                          <a:solidFill>
                            <a:srgbClr val="1A1A1A"/>
                          </a:solidFill>
                          <a:latin typeface="Versos"/>
                        </a:rPr>
                        <a:t>D+10 DU</a:t>
                      </a:r>
                    </a:p>
                  </a:txBody>
                  <a:tcPr marL="43200" marR="43200" marT="0" marB="0">
                    <a:solidFill>
                      <a:srgbClr val="FFFFFF"/>
                    </a:solidFill>
                  </a:tcPr>
                </a:tc>
              </a:tr>
              <a:tr h="187200">
                <a:tc>
                  <a:txBody>
                    <a:bodyPr/>
                    <a:lstStyle/>
                    <a:p>
                      <a:pPr algn="l"/>
                      <a:r>
                        <a:rPr sz="850" b="1">
                          <a:solidFill>
                            <a:srgbClr val="1A1A1A"/>
                          </a:solidFill>
                          <a:latin typeface="Versos"/>
                        </a:rPr>
                        <a:t>Aplicação mínima inicial</a:t>
                      </a:r>
                    </a:p>
                  </a:txBody>
                  <a:tcPr marL="43200" marR="43200" marT="0" marB="0">
                    <a:solidFill>
                      <a:srgbClr val="F4F7F9"/>
                    </a:solidFill>
                  </a:tcPr>
                </a:tc>
                <a:tc>
                  <a:txBody>
                    <a:bodyPr/>
                    <a:lstStyle/>
                    <a:p>
                      <a:pPr algn="r"/>
                      <a:r>
                        <a:rPr sz="850" b="0">
                          <a:solidFill>
                            <a:srgbClr val="1A1A1A"/>
                          </a:solidFill>
                          <a:latin typeface="Versos"/>
                        </a:rPr>
                        <a:t>R$ 1.000,00</a:t>
                      </a:r>
                    </a:p>
                  </a:txBody>
                  <a:tcPr marL="43200" marR="43200" marT="0" marB="0">
                    <a:solidFill>
                      <a:srgbClr val="F4F7F9"/>
                    </a:solidFill>
                  </a:tcPr>
                </a:tc>
              </a:tr>
              <a:tr h="187200">
                <a:tc>
                  <a:txBody>
                    <a:bodyPr/>
                    <a:lstStyle/>
                    <a:p>
                      <a:pPr algn="l"/>
                      <a:r>
                        <a:rPr sz="850" b="1">
                          <a:solidFill>
                            <a:srgbClr val="1A1A1A"/>
                          </a:solidFill>
                          <a:latin typeface="Versos"/>
                        </a:rPr>
                        <a:t>Movimentação mínima</a:t>
                      </a:r>
                    </a:p>
                  </a:txBody>
                  <a:tcPr marL="43200" marR="43200" marT="0" marB="0">
                    <a:solidFill>
                      <a:srgbClr val="FFFFFF"/>
                    </a:solidFill>
                  </a:tcPr>
                </a:tc>
                <a:tc>
                  <a:txBody>
                    <a:bodyPr/>
                    <a:lstStyle/>
                    <a:p>
                      <a:pPr algn="r"/>
                      <a:r>
                        <a:rPr sz="850" b="0">
                          <a:solidFill>
                            <a:srgbClr val="1A1A1A"/>
                          </a:solidFill>
                          <a:latin typeface="Versos"/>
                        </a:rPr>
                        <a:t>R$ 1.000,00</a:t>
                      </a:r>
                    </a:p>
                  </a:txBody>
                  <a:tcPr marL="43200" marR="43200" marT="0" marB="0">
                    <a:solidFill>
                      <a:srgbClr val="FFFFFF"/>
                    </a:solidFill>
                  </a:tcPr>
                </a:tc>
              </a:tr>
            </a:tbl>
          </a:graphicData>
        </a:graphic>
      </p:graphicFrame>
      <p:sp>
        <p:nvSpPr>
          <p:cNvPr id="10" name="TextBox 9"/>
          <p:cNvSpPr txBox="1"/>
          <p:nvPr/>
        </p:nvSpPr>
        <p:spPr>
          <a:xfrm>
            <a:off x="540000" y="51660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364000"/>
            <a:ext cx="6480000" cy="47340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