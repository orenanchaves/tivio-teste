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Fundo</c:v>
                </c:pt>
              </c:strCache>
            </c:strRef>
          </c:tx>
          <c:spPr>
            <a:ln w="25400">
              <a:solidFill>
                <a:srgbClr val="3C4A60"/>
              </a:solidFill>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Sheet1!$B$2:$B$14</c:f>
              <c:numCache>
                <c:formatCode>General</c:formatCode>
                <c:ptCount val="13"/>
                <c:pt idx="0">
                  <c:v>0.0</c:v>
                </c:pt>
                <c:pt idx="1">
                  <c:v>0.0126</c:v>
                </c:pt>
                <c:pt idx="2">
                  <c:v>0.0254</c:v>
                </c:pt>
                <c:pt idx="3">
                  <c:v>0.0363</c:v>
                </c:pt>
                <c:pt idx="4">
                  <c:v>0.0492</c:v>
                </c:pt>
                <c:pt idx="5">
                  <c:v>0.061799999999999994</c:v>
                </c:pt>
                <c:pt idx="6">
                  <c:v>0.07200000000000001</c:v>
                </c:pt>
                <c:pt idx="7">
                  <c:v>0.083</c:v>
                </c:pt>
                <c:pt idx="8">
                  <c:v>0.09480000000000001</c:v>
                </c:pt>
                <c:pt idx="9">
                  <c:v>0.1084</c:v>
                </c:pt>
                <c:pt idx="10">
                  <c:v>0.1209</c:v>
                </c:pt>
                <c:pt idx="11">
                  <c:v>0.1352</c:v>
                </c:pt>
                <c:pt idx="12">
                  <c:v>0.1477</c:v>
                </c:pt>
              </c:numCache>
            </c:numRef>
          </c:val>
          <c:smooth val="0"/>
        </c:ser>
        <c:ser>
          <c:idx val="1"/>
          <c:order val="1"/>
          <c:tx>
            <c:strRef>
              <c:f>Sheet1!$C$1</c:f>
              <c:strCache>
                <c:ptCount val="1"/>
                <c:pt idx="0">
                  <c:v>CDI</c:v>
                </c:pt>
              </c:strCache>
            </c:strRef>
          </c:tx>
          <c:spPr>
            <a:ln w="25400">
              <a:solidFill>
                <a:srgbClr val="ABC6CD"/>
              </a:solidFill>
              <a:prstDash val="dash"/>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Sheet1!$C$2:$C$14</c:f>
              <c:numCache>
                <c:formatCode>General</c:formatCode>
                <c:ptCount val="13"/>
                <c:pt idx="0">
                  <c:v>0.0</c:v>
                </c:pt>
                <c:pt idx="1">
                  <c:v>0.012199999999999999</c:v>
                </c:pt>
                <c:pt idx="2">
                  <c:v>0.025099999999999997</c:v>
                </c:pt>
                <c:pt idx="3">
                  <c:v>0.0359</c:v>
                </c:pt>
                <c:pt idx="4">
                  <c:v>0.048499999999999995</c:v>
                </c:pt>
                <c:pt idx="5">
                  <c:v>0.060700000000000004</c:v>
                </c:pt>
                <c:pt idx="6">
                  <c:v>0.0713</c:v>
                </c:pt>
                <c:pt idx="7">
                  <c:v>0.0843</c:v>
                </c:pt>
                <c:pt idx="8">
                  <c:v>0.09609999999999999</c:v>
                </c:pt>
                <c:pt idx="9">
                  <c:v>0.1079</c:v>
                </c:pt>
                <c:pt idx="10">
                  <c:v>0.12029999999999999</c:v>
                </c:pt>
                <c:pt idx="11">
                  <c:v>0.13390000000000002</c:v>
                </c:pt>
                <c:pt idx="12">
                  <c:v>0.1463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numFmt formatCode="0.0%" sourceLinked="0"/>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800">
          <a:latin typeface="Versos"/>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80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BVP</a:t>
            </a:r>
          </a:p>
        </p:txBody>
      </p:sp>
      <p:sp>
        <p:nvSpPr>
          <p:cNvPr id="5" name="TextBox 4"/>
          <p:cNvSpPr txBox="1"/>
          <p:nvPr/>
        </p:nvSpPr>
        <p:spPr>
          <a:xfrm>
            <a:off x="540000" y="954000"/>
            <a:ext cx="5040000" cy="180000"/>
          </a:xfrm>
          <a:prstGeom prst="rect">
            <a:avLst/>
          </a:prstGeom>
          <a:noFill/>
        </p:spPr>
        <p:txBody>
          <a:bodyPr wrap="square" lIns="0" rIns="0" tIns="0" bIns="0">
            <a:spAutoFit/>
          </a:bodyPr>
          <a:lstStyle/>
          <a:p>
            <a:pPr algn="l"/>
            <a:r>
              <a:rPr sz="800" b="0">
                <a:solidFill>
                  <a:srgbClr val="ABC6CD"/>
                </a:solidFill>
                <a:latin typeface="Versos"/>
              </a:rPr>
              <a:t>CNPJ: 55.726.312/0001-79  ·  Benchmark: CDI</a:t>
            </a:r>
          </a:p>
        </p:txBody>
      </p:sp>
      <p:sp>
        <p:nvSpPr>
          <p:cNvPr id="6" name="TextBox 5"/>
          <p:cNvSpPr txBox="1"/>
          <p:nvPr/>
        </p:nvSpPr>
        <p:spPr>
          <a:xfrm>
            <a:off x="540000" y="144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7" name="TextBox 6"/>
          <p:cNvSpPr txBox="1"/>
          <p:nvPr/>
        </p:nvSpPr>
        <p:spPr>
          <a:xfrm>
            <a:off x="540000" y="2088000"/>
            <a:ext cx="6480000" cy="180000"/>
          </a:xfrm>
          <a:prstGeom prst="rect">
            <a:avLst/>
          </a:prstGeom>
          <a:noFill/>
        </p:spPr>
        <p:txBody>
          <a:bodyPr wrap="square" lIns="0" rIns="0" tIns="0" bIns="0">
            <a:spAutoFit/>
          </a:bodyPr>
          <a:lstStyle/>
          <a:p>
            <a:pPr algn="l"/>
            <a:r>
              <a:rPr sz="900" b="1">
                <a:solidFill>
                  <a:srgbClr val="759DB4"/>
                </a:solidFill>
                <a:latin typeface="Versos"/>
              </a:rPr>
              <a:t>OBJETIVO DA CARTEIRA</a:t>
            </a:r>
          </a:p>
        </p:txBody>
      </p:sp>
      <p:sp>
        <p:nvSpPr>
          <p:cNvPr id="8" name="TextBox 7"/>
          <p:cNvSpPr txBox="1"/>
          <p:nvPr/>
        </p:nvSpPr>
        <p:spPr>
          <a:xfrm>
            <a:off x="540000" y="2286000"/>
            <a:ext cx="6480000" cy="576000"/>
          </a:xfrm>
          <a:prstGeom prst="rect">
            <a:avLst/>
          </a:prstGeom>
          <a:noFill/>
        </p:spPr>
        <p:txBody>
          <a:bodyPr wrap="square" lIns="0" rIns="0" tIns="0" bIns="0">
            <a:spAutoFit/>
          </a:bodyPr>
          <a:lstStyle/>
          <a:p>
            <a:pPr algn="l"/>
            <a:r>
              <a:rPr sz="900" b="0">
                <a:solidFill>
                  <a:srgbClr val="1A1A1A"/>
                </a:solidFill>
                <a:latin typeface="Versos"/>
              </a:rPr>
              <a:t>O fundo tem como objetivo identificar oportunidades em ativos de crédito high grade (Bancário, Corporativo e FIDC). Ele busca superar a variação do CDI no longo prazo.</a:t>
            </a:r>
          </a:p>
        </p:txBody>
      </p:sp>
      <p:sp>
        <p:nvSpPr>
          <p:cNvPr id="9" name="TextBox 8"/>
          <p:cNvSpPr txBox="1"/>
          <p:nvPr/>
        </p:nvSpPr>
        <p:spPr>
          <a:xfrm>
            <a:off x="540000" y="2952000"/>
            <a:ext cx="3600000" cy="180000"/>
          </a:xfrm>
          <a:prstGeom prst="rect">
            <a:avLst/>
          </a:prstGeom>
          <a:noFill/>
        </p:spPr>
        <p:txBody>
          <a:bodyPr wrap="square" lIns="0" rIns="0" tIns="0" bIns="0">
            <a:spAutoFit/>
          </a:bodyPr>
          <a:lstStyle/>
          <a:p>
            <a:pPr algn="l"/>
            <a:r>
              <a:rPr sz="900" b="1">
                <a:solidFill>
                  <a:srgbClr val="759DB4"/>
                </a:solidFill>
                <a:latin typeface="Versos"/>
              </a:rPr>
              <a:t>RENTABILIDADE</a:t>
            </a:r>
          </a:p>
        </p:txBody>
      </p:sp>
      <p:graphicFrame>
        <p:nvGraphicFramePr>
          <p:cNvPr id="10" name="Table 9"/>
          <p:cNvGraphicFramePr>
            <a:graphicFrameLocks noGrp="1"/>
          </p:cNvGraphicFramePr>
          <p:nvPr/>
        </p:nvGraphicFramePr>
        <p:xfrm>
          <a:off x="540000" y="3150000"/>
          <a:ext cx="6479994" cy="748800"/>
        </p:xfrm>
        <a:graphic>
          <a:graphicData uri="http://schemas.openxmlformats.org/drawingml/2006/table">
            <a:tbl>
              <a:tblPr firstRow="1" bandRow="1">
                <a:tableStyleId>{5C22544A-7EE6-4342-B048-85BDC9FD1C3A}</a:tableStyleId>
              </a:tblPr>
              <a:tblGrid>
                <a:gridCol w="1747415"/>
                <a:gridCol w="728089"/>
                <a:gridCol w="728089"/>
                <a:gridCol w="728089"/>
                <a:gridCol w="728089"/>
                <a:gridCol w="728089"/>
                <a:gridCol w="1092134"/>
              </a:tblGrid>
              <a:tr h="187200">
                <a:tc>
                  <a:txBody>
                    <a:bodyPr/>
                    <a:lstStyle/>
                    <a:p>
                      <a:pPr algn="l"/>
                      <a:r>
                        <a:rPr sz="850" b="1">
                          <a:solidFill>
                            <a:srgbClr val="FFFFFF"/>
                          </a:solidFill>
                          <a:latin typeface="Versos"/>
                        </a:rPr>
                        <a:t/>
                      </a:r>
                    </a:p>
                  </a:txBody>
                  <a:tcPr marL="43200" marR="43200" marT="0" marB="0">
                    <a:solidFill>
                      <a:srgbClr val="3C4A60"/>
                    </a:solidFill>
                  </a:tcPr>
                </a:tc>
                <a:tc>
                  <a:txBody>
                    <a:bodyPr/>
                    <a:lstStyle/>
                    <a:p>
                      <a:pPr algn="r"/>
                      <a:r>
                        <a:rPr sz="850" b="1">
                          <a:solidFill>
                            <a:srgbClr val="FFFFFF"/>
                          </a:solidFill>
                          <a:latin typeface="Versos"/>
                        </a:rPr>
                        <a:t>Mês</a:t>
                      </a:r>
                    </a:p>
                  </a:txBody>
                  <a:tcPr marL="43200" marR="43200" marT="0" marB="0">
                    <a:solidFill>
                      <a:srgbClr val="3C4A60"/>
                    </a:solidFill>
                  </a:tcPr>
                </a:tc>
                <a:tc>
                  <a:txBody>
                    <a:bodyPr/>
                    <a:lstStyle/>
                    <a:p>
                      <a:pPr algn="r"/>
                      <a:r>
                        <a:rPr sz="850" b="1">
                          <a:solidFill>
                            <a:srgbClr val="FFFFFF"/>
                          </a:solidFill>
                          <a:latin typeface="Versos"/>
                        </a:rPr>
                        <a:t>Ano</a:t>
                      </a:r>
                    </a:p>
                  </a:txBody>
                  <a:tcPr marL="43200" marR="43200" marT="0" marB="0">
                    <a:solidFill>
                      <a:srgbClr val="3C4A60"/>
                    </a:solidFill>
                  </a:tcPr>
                </a:tc>
                <a:tc>
                  <a:txBody>
                    <a:bodyPr/>
                    <a:lstStyle/>
                    <a:p>
                      <a:pPr algn="r"/>
                      <a:r>
                        <a:rPr sz="850" b="1">
                          <a:solidFill>
                            <a:srgbClr val="FFFFFF"/>
                          </a:solidFill>
                          <a:latin typeface="Versos"/>
                        </a:rPr>
                        <a:t>12M</a:t>
                      </a:r>
                    </a:p>
                  </a:txBody>
                  <a:tcPr marL="43200" marR="43200" marT="0" marB="0">
                    <a:solidFill>
                      <a:srgbClr val="3C4A60"/>
                    </a:solidFill>
                  </a:tcPr>
                </a:tc>
                <a:tc>
                  <a:txBody>
                    <a:bodyPr/>
                    <a:lstStyle/>
                    <a:p>
                      <a:pPr algn="r"/>
                      <a:r>
                        <a:rPr sz="850" b="1">
                          <a:solidFill>
                            <a:srgbClr val="FFFFFF"/>
                          </a:solidFill>
                          <a:latin typeface="Versos"/>
                        </a:rPr>
                        <a:t>24M</a:t>
                      </a:r>
                    </a:p>
                  </a:txBody>
                  <a:tcPr marL="43200" marR="43200" marT="0" marB="0">
                    <a:solidFill>
                      <a:srgbClr val="3C4A60"/>
                    </a:solidFill>
                  </a:tcPr>
                </a:tc>
                <a:tc>
                  <a:txBody>
                    <a:bodyPr/>
                    <a:lstStyle/>
                    <a:p>
                      <a:pPr algn="r"/>
                      <a:r>
                        <a:rPr sz="850" b="1">
                          <a:solidFill>
                            <a:srgbClr val="FFFFFF"/>
                          </a:solidFill>
                          <a:latin typeface="Versos"/>
                        </a:rPr>
                        <a:t>36M</a:t>
                      </a:r>
                    </a:p>
                  </a:txBody>
                  <a:tcPr marL="43200" marR="43200" marT="0" marB="0">
                    <a:solidFill>
                      <a:srgbClr val="3C4A60"/>
                    </a:solidFill>
                  </a:tcPr>
                </a:tc>
                <a:tc>
                  <a:txBody>
                    <a:bodyPr/>
                    <a:lstStyle/>
                    <a:p>
                      <a:pPr algn="r"/>
                      <a:r>
                        <a:rPr sz="850" b="1">
                          <a:solidFill>
                            <a:srgbClr val="FFFFFF"/>
                          </a:solidFill>
                          <a:latin typeface="Versos"/>
                        </a:rPr>
                        <a:t>Desde o início</a:t>
                      </a:r>
                    </a:p>
                  </a:txBody>
                  <a:tcPr marL="43200" marR="43200" marT="0" marB="0">
                    <a:solidFill>
                      <a:srgbClr val="3C4A60"/>
                    </a:solidFill>
                  </a:tcPr>
                </a:tc>
              </a:tr>
              <a:tr h="187200">
                <a:tc>
                  <a:txBody>
                    <a:bodyPr/>
                    <a:lstStyle/>
                    <a:p>
                      <a:pPr algn="l"/>
                      <a:r>
                        <a:rPr sz="850" b="1">
                          <a:solidFill>
                            <a:srgbClr val="1A1A1A"/>
                          </a:solidFill>
                          <a:latin typeface="Versos"/>
                        </a:rPr>
                        <a:t>Fundo</a:t>
                      </a:r>
                    </a:p>
                  </a:txBody>
                  <a:tcPr marL="43200" marR="43200" marT="0" marB="0">
                    <a:solidFill>
                      <a:srgbClr val="F4F7F9"/>
                    </a:solidFill>
                  </a:tcPr>
                </a:tc>
                <a:tc>
                  <a:txBody>
                    <a:bodyPr/>
                    <a:lstStyle/>
                    <a:p>
                      <a:pPr algn="r"/>
                      <a:r>
                        <a:rPr sz="850" b="0">
                          <a:solidFill>
                            <a:srgbClr val="1A1A1A"/>
                          </a:solidFill>
                          <a:latin typeface="Versos"/>
                        </a:rPr>
                        <a:t>1,10%</a:t>
                      </a:r>
                    </a:p>
                  </a:txBody>
                  <a:tcPr marL="43200" marR="43200" marT="0" marB="0">
                    <a:solidFill>
                      <a:srgbClr val="F4F7F9"/>
                    </a:solidFill>
                  </a:tcPr>
                </a:tc>
                <a:tc>
                  <a:txBody>
                    <a:bodyPr/>
                    <a:lstStyle/>
                    <a:p>
                      <a:pPr algn="r"/>
                      <a:r>
                        <a:rPr sz="850" b="0">
                          <a:solidFill>
                            <a:srgbClr val="1A1A1A"/>
                          </a:solidFill>
                          <a:latin typeface="Versos"/>
                        </a:rPr>
                        <a:t>9,39%</a:t>
                      </a:r>
                    </a:p>
                  </a:txBody>
                  <a:tcPr marL="43200" marR="43200" marT="0" marB="0">
                    <a:solidFill>
                      <a:srgbClr val="F4F7F9"/>
                    </a:solidFill>
                  </a:tcPr>
                </a:tc>
                <a:tc>
                  <a:txBody>
                    <a:bodyPr/>
                    <a:lstStyle/>
                    <a:p>
                      <a:pPr algn="r"/>
                      <a:r>
                        <a:rPr sz="850" b="0">
                          <a:solidFill>
                            <a:srgbClr val="1A1A1A"/>
                          </a:solidFill>
                          <a:latin typeface="Versos"/>
                        </a:rPr>
                        <a:t>14,70%</a:t>
                      </a:r>
                    </a:p>
                  </a:txBody>
                  <a:tcPr marL="43200" marR="43200" marT="0" marB="0">
                    <a:solidFill>
                      <a:srgbClr val="F4F7F9"/>
                    </a:solidFill>
                  </a:tcPr>
                </a:tc>
                <a:tc>
                  <a:txBody>
                    <a:bodyPr/>
                    <a:lstStyle/>
                    <a:p>
                      <a:pPr algn="r"/>
                      <a:r>
                        <a:rPr sz="850" b="0">
                          <a:solidFill>
                            <a:srgbClr val="1A1A1A"/>
                          </a:solidFill>
                          <a:latin typeface="Versos"/>
                        </a:rPr>
                        <a:t>30,21%</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32,10%</a:t>
                      </a:r>
                    </a:p>
                  </a:txBody>
                  <a:tcPr marL="43200" marR="43200" marT="0" marB="0">
                    <a:solidFill>
                      <a:srgbClr val="F4F7F9"/>
                    </a:solidFill>
                  </a:tcPr>
                </a:tc>
              </a:tr>
              <a:tr h="187200">
                <a:tc>
                  <a:txBody>
                    <a:bodyPr/>
                    <a:lstStyle/>
                    <a:p>
                      <a:pPr algn="l"/>
                      <a:r>
                        <a:rPr sz="850" b="1">
                          <a:solidFill>
                            <a:srgbClr val="1A1A1A"/>
                          </a:solidFill>
                          <a:latin typeface="Versos"/>
                        </a:rPr>
                        <a:t>CDI</a:t>
                      </a:r>
                    </a:p>
                  </a:txBody>
                  <a:tcPr marL="43200" marR="43200" marT="0" marB="0">
                    <a:solidFill>
                      <a:srgbClr val="FFFFFF"/>
                    </a:solidFill>
                  </a:tcPr>
                </a:tc>
                <a:tc>
                  <a:txBody>
                    <a:bodyPr/>
                    <a:lstStyle/>
                    <a:p>
                      <a:pPr algn="r"/>
                      <a:r>
                        <a:rPr sz="850" b="0">
                          <a:solidFill>
                            <a:srgbClr val="1A1A1A"/>
                          </a:solidFill>
                          <a:latin typeface="Versos"/>
                        </a:rPr>
                        <a:t>1,09%</a:t>
                      </a:r>
                    </a:p>
                  </a:txBody>
                  <a:tcPr marL="43200" marR="43200" marT="0" marB="0">
                    <a:solidFill>
                      <a:srgbClr val="FFFFFF"/>
                    </a:solidFill>
                  </a:tcPr>
                </a:tc>
                <a:tc>
                  <a:txBody>
                    <a:bodyPr/>
                    <a:lstStyle/>
                    <a:p>
                      <a:pPr algn="r"/>
                      <a:r>
                        <a:rPr sz="850" b="0">
                          <a:solidFill>
                            <a:srgbClr val="1A1A1A"/>
                          </a:solidFill>
                          <a:latin typeface="Versos"/>
                        </a:rPr>
                        <a:t>9,33%</a:t>
                      </a:r>
                    </a:p>
                  </a:txBody>
                  <a:tcPr marL="43200" marR="43200" marT="0" marB="0">
                    <a:solidFill>
                      <a:srgbClr val="FFFFFF"/>
                    </a:solidFill>
                  </a:tcPr>
                </a:tc>
                <a:tc>
                  <a:txBody>
                    <a:bodyPr/>
                    <a:lstStyle/>
                    <a:p>
                      <a:pPr algn="r"/>
                      <a:r>
                        <a:rPr sz="850" b="0">
                          <a:solidFill>
                            <a:srgbClr val="1A1A1A"/>
                          </a:solidFill>
                          <a:latin typeface="Versos"/>
                        </a:rPr>
                        <a:t>14,57%</a:t>
                      </a:r>
                    </a:p>
                  </a:txBody>
                  <a:tcPr marL="43200" marR="43200" marT="0" marB="0">
                    <a:solidFill>
                      <a:srgbClr val="FFFFFF"/>
                    </a:solidFill>
                  </a:tcPr>
                </a:tc>
                <a:tc>
                  <a:txBody>
                    <a:bodyPr/>
                    <a:lstStyle/>
                    <a:p>
                      <a:pPr algn="r"/>
                      <a:r>
                        <a:rPr sz="850" b="0">
                          <a:solidFill>
                            <a:srgbClr val="1A1A1A"/>
                          </a:solidFill>
                          <a:latin typeface="Versos"/>
                        </a:rPr>
                        <a:t>29,49%</a:t>
                      </a:r>
                    </a:p>
                  </a:txBody>
                  <a:tcPr marL="43200" marR="43200" marT="0" marB="0">
                    <a:solidFill>
                      <a:srgbClr val="FFFFFF"/>
                    </a:solidFill>
                  </a:tcPr>
                </a:tc>
                <a:tc>
                  <a:txBody>
                    <a:bodyPr/>
                    <a:lstStyle/>
                    <a:p>
                      <a:pPr algn="r"/>
                      <a:r>
                        <a:rPr sz="850" b="0">
                          <a:solidFill>
                            <a:srgbClr val="1A1A1A"/>
                          </a:solidFill>
                          <a:latin typeface="Versos"/>
                        </a:rPr>
                        <a:t>−</a:t>
                      </a:r>
                    </a:p>
                  </a:txBody>
                  <a:tcPr marL="43200" marR="43200" marT="0" marB="0">
                    <a:solidFill>
                      <a:srgbClr val="FFFFFF"/>
                    </a:solidFill>
                  </a:tcPr>
                </a:tc>
                <a:tc>
                  <a:txBody>
                    <a:bodyPr/>
                    <a:lstStyle/>
                    <a:p>
                      <a:pPr algn="r"/>
                      <a:r>
                        <a:rPr sz="850" b="0">
                          <a:solidFill>
                            <a:srgbClr val="1A1A1A"/>
                          </a:solidFill>
                          <a:latin typeface="Versos"/>
                        </a:rPr>
                        <a:t>31,33%</a:t>
                      </a:r>
                    </a:p>
                  </a:txBody>
                  <a:tcPr marL="43200" marR="43200" marT="0" marB="0">
                    <a:solidFill>
                      <a:srgbClr val="FFFFFF"/>
                    </a:solidFill>
                  </a:tcPr>
                </a:tc>
              </a:tr>
              <a:tr h="187200">
                <a:tc>
                  <a:txBody>
                    <a:bodyPr/>
                    <a:lstStyle/>
                    <a:p>
                      <a:pPr algn="l"/>
                      <a:r>
                        <a:rPr sz="850" b="1">
                          <a:solidFill>
                            <a:srgbClr val="1A1A1A"/>
                          </a:solidFill>
                          <a:latin typeface="Versos"/>
                        </a:rPr>
                        <a:t>% do CDI</a:t>
                      </a:r>
                    </a:p>
                  </a:txBody>
                  <a:tcPr marL="43200" marR="43200" marT="0" marB="0">
                    <a:solidFill>
                      <a:srgbClr val="F4F7F9"/>
                    </a:solidFill>
                  </a:tcPr>
                </a:tc>
                <a:tc>
                  <a:txBody>
                    <a:bodyPr/>
                    <a:lstStyle/>
                    <a:p>
                      <a:pPr algn="r"/>
                      <a:r>
                        <a:rPr sz="850" b="0">
                          <a:solidFill>
                            <a:srgbClr val="1A1A1A"/>
                          </a:solidFill>
                          <a:latin typeface="Versos"/>
                        </a:rPr>
                        <a:t>100%</a:t>
                      </a:r>
                    </a:p>
                  </a:txBody>
                  <a:tcPr marL="43200" marR="43200" marT="0" marB="0">
                    <a:solidFill>
                      <a:srgbClr val="F4F7F9"/>
                    </a:solidFill>
                  </a:tcPr>
                </a:tc>
                <a:tc>
                  <a:txBody>
                    <a:bodyPr/>
                    <a:lstStyle/>
                    <a:p>
                      <a:pPr algn="r"/>
                      <a:r>
                        <a:rPr sz="850" b="0">
                          <a:solidFill>
                            <a:srgbClr val="1A1A1A"/>
                          </a:solidFill>
                          <a:latin typeface="Versos"/>
                        </a:rPr>
                        <a:t>101%</a:t>
                      </a:r>
                    </a:p>
                  </a:txBody>
                  <a:tcPr marL="43200" marR="43200" marT="0" marB="0">
                    <a:solidFill>
                      <a:srgbClr val="F4F7F9"/>
                    </a:solidFill>
                  </a:tcPr>
                </a:tc>
                <a:tc>
                  <a:txBody>
                    <a:bodyPr/>
                    <a:lstStyle/>
                    <a:p>
                      <a:pPr algn="r"/>
                      <a:r>
                        <a:rPr sz="850" b="0">
                          <a:solidFill>
                            <a:srgbClr val="1A1A1A"/>
                          </a:solidFill>
                          <a:latin typeface="Versos"/>
                        </a:rPr>
                        <a:t>101%</a:t>
                      </a:r>
                    </a:p>
                  </a:txBody>
                  <a:tcPr marL="43200" marR="43200" marT="0" marB="0">
                    <a:solidFill>
                      <a:srgbClr val="F4F7F9"/>
                    </a:solidFill>
                  </a:tcPr>
                </a:tc>
                <a:tc>
                  <a:txBody>
                    <a:bodyPr/>
                    <a:lstStyle/>
                    <a:p>
                      <a:pPr algn="r"/>
                      <a:r>
                        <a:rPr sz="850" b="0">
                          <a:solidFill>
                            <a:srgbClr val="1A1A1A"/>
                          </a:solidFill>
                          <a:latin typeface="Versos"/>
                        </a:rPr>
                        <a:t>102%</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102%</a:t>
                      </a:r>
                    </a:p>
                  </a:txBody>
                  <a:tcPr marL="43200" marR="43200" marT="0" marB="0">
                    <a:solidFill>
                      <a:srgbClr val="F4F7F9"/>
                    </a:solidFill>
                  </a:tcPr>
                </a:tc>
              </a:tr>
            </a:tbl>
          </a:graphicData>
        </a:graphic>
      </p:graphicFrame>
      <p:sp>
        <p:nvSpPr>
          <p:cNvPr id="11" name="TextBox 10"/>
          <p:cNvSpPr txBox="1"/>
          <p:nvPr/>
        </p:nvSpPr>
        <p:spPr>
          <a:xfrm>
            <a:off x="540000" y="4140000"/>
            <a:ext cx="6480000" cy="144000"/>
          </a:xfrm>
          <a:prstGeom prst="rect">
            <a:avLst/>
          </a:prstGeom>
          <a:noFill/>
        </p:spPr>
        <p:txBody>
          <a:bodyPr wrap="square" lIns="0" rIns="0" tIns="0" bIns="0">
            <a:spAutoFit/>
          </a:bodyPr>
          <a:lstStyle/>
          <a:p>
            <a:pPr algn="r"/>
            <a:r>
              <a:rPr sz="800" b="0">
                <a:solidFill>
                  <a:srgbClr val="637881"/>
                </a:solidFill>
                <a:latin typeface="Versos"/>
              </a:rPr>
              <a:t>Data base: 31/08/2026</a:t>
            </a:r>
          </a:p>
        </p:txBody>
      </p:sp>
      <p:sp>
        <p:nvSpPr>
          <p:cNvPr id="12" name="TextBox 11"/>
          <p:cNvSpPr txBox="1"/>
          <p:nvPr/>
        </p:nvSpPr>
        <p:spPr>
          <a:xfrm>
            <a:off x="540000" y="4428000"/>
            <a:ext cx="3096000" cy="180000"/>
          </a:xfrm>
          <a:prstGeom prst="rect">
            <a:avLst/>
          </a:prstGeom>
          <a:noFill/>
        </p:spPr>
        <p:txBody>
          <a:bodyPr wrap="square" lIns="0" rIns="0" tIns="0" bIns="0">
            <a:spAutoFit/>
          </a:bodyPr>
          <a:lstStyle/>
          <a:p>
            <a:pPr algn="l"/>
            <a:r>
              <a:rPr sz="900" b="1">
                <a:solidFill>
                  <a:srgbClr val="759DB4"/>
                </a:solidFill>
                <a:latin typeface="Versos"/>
              </a:rPr>
              <a:t>PRINCIPAIS EMISSORES</a:t>
            </a:r>
          </a:p>
        </p:txBody>
      </p:sp>
      <p:graphicFrame>
        <p:nvGraphicFramePr>
          <p:cNvPr id="13" name="Table 12"/>
          <p:cNvGraphicFramePr>
            <a:graphicFrameLocks noGrp="1"/>
          </p:cNvGraphicFramePr>
          <p:nvPr/>
        </p:nvGraphicFramePr>
        <p:xfrm>
          <a:off x="540000.0" y="4626000"/>
          <a:ext cx="3096000" cy="9360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BTG</a:t>
                      </a:r>
                    </a:p>
                  </a:txBody>
                  <a:tcPr marL="43200" marR="43200" marT="0" marB="0">
                    <a:solidFill>
                      <a:srgbClr val="FFFFFF"/>
                    </a:solidFill>
                  </a:tcPr>
                </a:tc>
                <a:tc>
                  <a:txBody>
                    <a:bodyPr/>
                    <a:lstStyle/>
                    <a:p>
                      <a:pPr algn="r"/>
                      <a:r>
                        <a:rPr sz="850" b="0">
                          <a:solidFill>
                            <a:srgbClr val="1A1A1A"/>
                          </a:solidFill>
                          <a:latin typeface="Versos"/>
                        </a:rPr>
                        <a:t>3,51%</a:t>
                      </a:r>
                    </a:p>
                  </a:txBody>
                  <a:tcPr marL="43200" marR="43200" marT="0" marB="0">
                    <a:solidFill>
                      <a:srgbClr val="FFFFFF"/>
                    </a:solidFill>
                  </a:tcPr>
                </a:tc>
              </a:tr>
              <a:tr h="187200">
                <a:tc>
                  <a:txBody>
                    <a:bodyPr/>
                    <a:lstStyle/>
                    <a:p>
                      <a:pPr algn="l"/>
                      <a:r>
                        <a:rPr sz="850" b="1">
                          <a:solidFill>
                            <a:srgbClr val="1A1A1A"/>
                          </a:solidFill>
                          <a:latin typeface="Versos"/>
                        </a:rPr>
                        <a:t>ABC</a:t>
                      </a:r>
                    </a:p>
                  </a:txBody>
                  <a:tcPr marL="43200" marR="43200" marT="0" marB="0">
                    <a:solidFill>
                      <a:srgbClr val="F4F7F9"/>
                    </a:solidFill>
                  </a:tcPr>
                </a:tc>
                <a:tc>
                  <a:txBody>
                    <a:bodyPr/>
                    <a:lstStyle/>
                    <a:p>
                      <a:pPr algn="r"/>
                      <a:r>
                        <a:rPr sz="850" b="0">
                          <a:solidFill>
                            <a:srgbClr val="1A1A1A"/>
                          </a:solidFill>
                          <a:latin typeface="Versos"/>
                        </a:rPr>
                        <a:t>3,39%</a:t>
                      </a:r>
                    </a:p>
                  </a:txBody>
                  <a:tcPr marL="43200" marR="43200" marT="0" marB="0">
                    <a:solidFill>
                      <a:srgbClr val="F4F7F9"/>
                    </a:solidFill>
                  </a:tcPr>
                </a:tc>
              </a:tr>
              <a:tr h="187200">
                <a:tc>
                  <a:txBody>
                    <a:bodyPr/>
                    <a:lstStyle/>
                    <a:p>
                      <a:pPr algn="l"/>
                      <a:r>
                        <a:rPr sz="850" b="1">
                          <a:solidFill>
                            <a:srgbClr val="1A1A1A"/>
                          </a:solidFill>
                          <a:latin typeface="Versos"/>
                        </a:rPr>
                        <a:t>NUBANK</a:t>
                      </a:r>
                    </a:p>
                  </a:txBody>
                  <a:tcPr marL="43200" marR="43200" marT="0" marB="0">
                    <a:solidFill>
                      <a:srgbClr val="FFFFFF"/>
                    </a:solidFill>
                  </a:tcPr>
                </a:tc>
                <a:tc>
                  <a:txBody>
                    <a:bodyPr/>
                    <a:lstStyle/>
                    <a:p>
                      <a:pPr algn="r"/>
                      <a:r>
                        <a:rPr sz="850" b="0">
                          <a:solidFill>
                            <a:srgbClr val="1A1A1A"/>
                          </a:solidFill>
                          <a:latin typeface="Versos"/>
                        </a:rPr>
                        <a:t>2,80%</a:t>
                      </a:r>
                    </a:p>
                  </a:txBody>
                  <a:tcPr marL="43200" marR="43200" marT="0" marB="0">
                    <a:solidFill>
                      <a:srgbClr val="FFFFFF"/>
                    </a:solidFill>
                  </a:tcPr>
                </a:tc>
              </a:tr>
              <a:tr h="187200">
                <a:tc>
                  <a:txBody>
                    <a:bodyPr/>
                    <a:lstStyle/>
                    <a:p>
                      <a:pPr algn="l"/>
                      <a:r>
                        <a:rPr sz="850" b="1">
                          <a:solidFill>
                            <a:srgbClr val="1A1A1A"/>
                          </a:solidFill>
                          <a:latin typeface="Versos"/>
                        </a:rPr>
                        <a:t>SANTANDER</a:t>
                      </a:r>
                    </a:p>
                  </a:txBody>
                  <a:tcPr marL="43200" marR="43200" marT="0" marB="0">
                    <a:solidFill>
                      <a:srgbClr val="F4F7F9"/>
                    </a:solidFill>
                  </a:tcPr>
                </a:tc>
                <a:tc>
                  <a:txBody>
                    <a:bodyPr/>
                    <a:lstStyle/>
                    <a:p>
                      <a:pPr algn="r"/>
                      <a:r>
                        <a:rPr sz="850" b="0">
                          <a:solidFill>
                            <a:srgbClr val="1A1A1A"/>
                          </a:solidFill>
                          <a:latin typeface="Versos"/>
                        </a:rPr>
                        <a:t>2,63%</a:t>
                      </a:r>
                    </a:p>
                  </a:txBody>
                  <a:tcPr marL="43200" marR="43200" marT="0" marB="0">
                    <a:solidFill>
                      <a:srgbClr val="F4F7F9"/>
                    </a:solidFill>
                  </a:tcPr>
                </a:tc>
              </a:tr>
              <a:tr h="187200">
                <a:tc>
                  <a:txBody>
                    <a:bodyPr/>
                    <a:lstStyle/>
                    <a:p>
                      <a:pPr algn="l"/>
                      <a:r>
                        <a:rPr sz="850" b="1">
                          <a:solidFill>
                            <a:srgbClr val="1A1A1A"/>
                          </a:solidFill>
                          <a:latin typeface="Versos"/>
                        </a:rPr>
                        <a:t>XP</a:t>
                      </a:r>
                    </a:p>
                  </a:txBody>
                  <a:tcPr marL="43200" marR="43200" marT="0" marB="0">
                    <a:solidFill>
                      <a:srgbClr val="FFFFFF"/>
                    </a:solidFill>
                  </a:tcPr>
                </a:tc>
                <a:tc>
                  <a:txBody>
                    <a:bodyPr/>
                    <a:lstStyle/>
                    <a:p>
                      <a:pPr algn="r"/>
                      <a:r>
                        <a:rPr sz="850" b="0">
                          <a:solidFill>
                            <a:srgbClr val="1A1A1A"/>
                          </a:solidFill>
                          <a:latin typeface="Versos"/>
                        </a:rPr>
                        <a:t>2,36%</a:t>
                      </a:r>
                    </a:p>
                  </a:txBody>
                  <a:tcPr marL="43200" marR="43200" marT="0" marB="0">
                    <a:solidFill>
                      <a:srgbClr val="FFFFFF"/>
                    </a:solidFill>
                  </a:tcPr>
                </a:tc>
              </a:tr>
            </a:tbl>
          </a:graphicData>
        </a:graphic>
      </p:graphicFrame>
      <p:sp>
        <p:nvSpPr>
          <p:cNvPr id="14" name="TextBox 13"/>
          <p:cNvSpPr txBox="1"/>
          <p:nvPr/>
        </p:nvSpPr>
        <p:spPr>
          <a:xfrm>
            <a:off x="3924000" y="4428000"/>
            <a:ext cx="3096000" cy="180000"/>
          </a:xfrm>
          <a:prstGeom prst="rect">
            <a:avLst/>
          </a:prstGeom>
          <a:noFill/>
        </p:spPr>
        <p:txBody>
          <a:bodyPr wrap="square" lIns="0" rIns="0" tIns="0" bIns="0">
            <a:spAutoFit/>
          </a:bodyPr>
          <a:lstStyle/>
          <a:p>
            <a:pPr algn="l"/>
            <a:r>
              <a:rPr sz="900" b="1">
                <a:solidFill>
                  <a:srgbClr val="759DB4"/>
                </a:solidFill>
                <a:latin typeface="Versos"/>
              </a:rPr>
              <a:t>ALOCAÇÃO POR SETOR</a:t>
            </a:r>
          </a:p>
        </p:txBody>
      </p:sp>
      <p:graphicFrame>
        <p:nvGraphicFramePr>
          <p:cNvPr id="15" name="Table 14"/>
          <p:cNvGraphicFramePr>
            <a:graphicFrameLocks noGrp="1"/>
          </p:cNvGraphicFramePr>
          <p:nvPr/>
        </p:nvGraphicFramePr>
        <p:xfrm>
          <a:off x="3924000.0" y="4626000"/>
          <a:ext cx="3096000" cy="11232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Financeiro</a:t>
                      </a:r>
                    </a:p>
                  </a:txBody>
                  <a:tcPr marL="43200" marR="43200" marT="0" marB="0">
                    <a:solidFill>
                      <a:srgbClr val="FFFFFF"/>
                    </a:solidFill>
                  </a:tcPr>
                </a:tc>
                <a:tc>
                  <a:txBody>
                    <a:bodyPr/>
                    <a:lstStyle/>
                    <a:p>
                      <a:pPr algn="r"/>
                      <a:r>
                        <a:rPr sz="850" b="0">
                          <a:solidFill>
                            <a:srgbClr val="1A1A1A"/>
                          </a:solidFill>
                          <a:latin typeface="Versos"/>
                        </a:rPr>
                        <a:t>30,5%</a:t>
                      </a:r>
                    </a:p>
                  </a:txBody>
                  <a:tcPr marL="43200" marR="43200" marT="0" marB="0">
                    <a:solidFill>
                      <a:srgbClr val="FFFFFF"/>
                    </a:solidFill>
                  </a:tcPr>
                </a:tc>
              </a:tr>
              <a:tr h="187200">
                <a:tc>
                  <a:txBody>
                    <a:bodyPr/>
                    <a:lstStyle/>
                    <a:p>
                      <a:pPr algn="l"/>
                      <a:r>
                        <a:rPr sz="850" b="1">
                          <a:solidFill>
                            <a:srgbClr val="1A1A1A"/>
                          </a:solidFill>
                          <a:latin typeface="Versos"/>
                        </a:rPr>
                        <a:t>Energia Elétrica</a:t>
                      </a:r>
                    </a:p>
                  </a:txBody>
                  <a:tcPr marL="43200" marR="43200" marT="0" marB="0">
                    <a:solidFill>
                      <a:srgbClr val="F4F7F9"/>
                    </a:solidFill>
                  </a:tcPr>
                </a:tc>
                <a:tc>
                  <a:txBody>
                    <a:bodyPr/>
                    <a:lstStyle/>
                    <a:p>
                      <a:pPr algn="r"/>
                      <a:r>
                        <a:rPr sz="850" b="0">
                          <a:solidFill>
                            <a:srgbClr val="1A1A1A"/>
                          </a:solidFill>
                          <a:latin typeface="Versos"/>
                        </a:rPr>
                        <a:t>4,6%</a:t>
                      </a:r>
                    </a:p>
                  </a:txBody>
                  <a:tcPr marL="43200" marR="43200" marT="0" marB="0">
                    <a:solidFill>
                      <a:srgbClr val="F4F7F9"/>
                    </a:solidFill>
                  </a:tcPr>
                </a:tc>
              </a:tr>
              <a:tr h="187200">
                <a:tc>
                  <a:txBody>
                    <a:bodyPr/>
                    <a:lstStyle/>
                    <a:p>
                      <a:pPr algn="l"/>
                      <a:r>
                        <a:rPr sz="850" b="1">
                          <a:solidFill>
                            <a:srgbClr val="1A1A1A"/>
                          </a:solidFill>
                          <a:latin typeface="Versos"/>
                        </a:rPr>
                        <a:t>FIDC</a:t>
                      </a:r>
                    </a:p>
                  </a:txBody>
                  <a:tcPr marL="43200" marR="43200" marT="0" marB="0">
                    <a:solidFill>
                      <a:srgbClr val="FFFFFF"/>
                    </a:solidFill>
                  </a:tcPr>
                </a:tc>
                <a:tc>
                  <a:txBody>
                    <a:bodyPr/>
                    <a:lstStyle/>
                    <a:p>
                      <a:pPr algn="r"/>
                      <a:r>
                        <a:rPr sz="850" b="0">
                          <a:solidFill>
                            <a:srgbClr val="1A1A1A"/>
                          </a:solidFill>
                          <a:latin typeface="Versos"/>
                        </a:rPr>
                        <a:t>3,5%</a:t>
                      </a:r>
                    </a:p>
                  </a:txBody>
                  <a:tcPr marL="43200" marR="43200" marT="0" marB="0">
                    <a:solidFill>
                      <a:srgbClr val="FFFFFF"/>
                    </a:solidFill>
                  </a:tcPr>
                </a:tc>
              </a:tr>
              <a:tr h="187200">
                <a:tc>
                  <a:txBody>
                    <a:bodyPr/>
                    <a:lstStyle/>
                    <a:p>
                      <a:pPr algn="l"/>
                      <a:r>
                        <a:rPr sz="850" b="1">
                          <a:solidFill>
                            <a:srgbClr val="1A1A1A"/>
                          </a:solidFill>
                          <a:latin typeface="Versos"/>
                        </a:rPr>
                        <a:t>Saneamento</a:t>
                      </a:r>
                    </a:p>
                  </a:txBody>
                  <a:tcPr marL="43200" marR="43200" marT="0" marB="0">
                    <a:solidFill>
                      <a:srgbClr val="F4F7F9"/>
                    </a:solidFill>
                  </a:tcPr>
                </a:tc>
                <a:tc>
                  <a:txBody>
                    <a:bodyPr/>
                    <a:lstStyle/>
                    <a:p>
                      <a:pPr algn="r"/>
                      <a:r>
                        <a:rPr sz="850" b="0">
                          <a:solidFill>
                            <a:srgbClr val="1A1A1A"/>
                          </a:solidFill>
                          <a:latin typeface="Versos"/>
                        </a:rPr>
                        <a:t>2,5%</a:t>
                      </a:r>
                    </a:p>
                  </a:txBody>
                  <a:tcPr marL="43200" marR="43200" marT="0" marB="0">
                    <a:solidFill>
                      <a:srgbClr val="F4F7F9"/>
                    </a:solidFill>
                  </a:tcPr>
                </a:tc>
              </a:tr>
              <a:tr h="187200">
                <a:tc>
                  <a:txBody>
                    <a:bodyPr/>
                    <a:lstStyle/>
                    <a:p>
                      <a:pPr algn="l"/>
                      <a:r>
                        <a:rPr sz="850" b="1">
                          <a:solidFill>
                            <a:srgbClr val="1A1A1A"/>
                          </a:solidFill>
                          <a:latin typeface="Versos"/>
                        </a:rPr>
                        <a:t>Transporte e Logística</a:t>
                      </a:r>
                    </a:p>
                  </a:txBody>
                  <a:tcPr marL="43200" marR="43200" marT="0" marB="0">
                    <a:solidFill>
                      <a:srgbClr val="FFFFFF"/>
                    </a:solidFill>
                  </a:tcPr>
                </a:tc>
                <a:tc>
                  <a:txBody>
                    <a:bodyPr/>
                    <a:lstStyle/>
                    <a:p>
                      <a:pPr algn="r"/>
                      <a:r>
                        <a:rPr sz="850" b="0">
                          <a:solidFill>
                            <a:srgbClr val="1A1A1A"/>
                          </a:solidFill>
                          <a:latin typeface="Versos"/>
                        </a:rPr>
                        <a:t>2,4%</a:t>
                      </a:r>
                    </a:p>
                  </a:txBody>
                  <a:tcPr marL="43200" marR="43200" marT="0" marB="0">
                    <a:solidFill>
                      <a:srgbClr val="FFFFFF"/>
                    </a:solidFill>
                  </a:tcPr>
                </a:tc>
              </a:tr>
              <a:tr h="187200">
                <a:tc>
                  <a:txBody>
                    <a:bodyPr/>
                    <a:lstStyle/>
                    <a:p>
                      <a:pPr algn="l"/>
                      <a:r>
                        <a:rPr sz="850" b="1">
                          <a:solidFill>
                            <a:srgbClr val="1A1A1A"/>
                          </a:solidFill>
                          <a:latin typeface="Versos"/>
                        </a:rPr>
                        <a:t>Caixa</a:t>
                      </a:r>
                    </a:p>
                  </a:txBody>
                  <a:tcPr marL="43200" marR="43200" marT="0" marB="0">
                    <a:solidFill>
                      <a:srgbClr val="F4F7F9"/>
                    </a:solidFill>
                  </a:tcPr>
                </a:tc>
                <a:tc>
                  <a:txBody>
                    <a:bodyPr/>
                    <a:lstStyle/>
                    <a:p>
                      <a:pPr algn="r"/>
                      <a:r>
                        <a:rPr sz="850" b="0">
                          <a:solidFill>
                            <a:srgbClr val="1A1A1A"/>
                          </a:solidFill>
                          <a:latin typeface="Versos"/>
                        </a:rPr>
                        <a:t>26,9%</a:t>
                      </a:r>
                    </a:p>
                  </a:txBody>
                  <a:tcPr marL="43200" marR="43200" marT="0" marB="0">
                    <a:solidFill>
                      <a:srgbClr val="F4F7F9"/>
                    </a:solidFill>
                  </a:tcPr>
                </a:tc>
              </a:tr>
            </a:tbl>
          </a:graphicData>
        </a:graphic>
      </p:graphicFrame>
      <p:sp>
        <p:nvSpPr>
          <p:cNvPr id="16" name="TextBox 15"/>
          <p:cNvSpPr txBox="1"/>
          <p:nvPr/>
        </p:nvSpPr>
        <p:spPr>
          <a:xfrm>
            <a:off x="540000" y="6073200"/>
            <a:ext cx="6480000" cy="180000"/>
          </a:xfrm>
          <a:prstGeom prst="rect">
            <a:avLst/>
          </a:prstGeom>
          <a:noFill/>
        </p:spPr>
        <p:txBody>
          <a:bodyPr wrap="square" lIns="0" rIns="0" tIns="0" bIns="0">
            <a:spAutoFit/>
          </a:bodyPr>
          <a:lstStyle/>
          <a:p>
            <a:pPr algn="l"/>
            <a:r>
              <a:rPr sz="900" b="1">
                <a:solidFill>
                  <a:srgbClr val="759DB4"/>
                </a:solidFill>
                <a:latin typeface="Versos"/>
              </a:rPr>
              <a:t>DISTRIBUIÇÃO DE RATING DA CARTEIRA DE CRÉDITO</a:t>
            </a:r>
          </a:p>
        </p:txBody>
      </p:sp>
      <p:graphicFrame>
        <p:nvGraphicFramePr>
          <p:cNvPr id="17" name="Table 16"/>
          <p:cNvGraphicFramePr>
            <a:graphicFrameLocks noGrp="1"/>
          </p:cNvGraphicFramePr>
          <p:nvPr/>
        </p:nvGraphicFramePr>
        <p:xfrm>
          <a:off x="540000" y="6271200"/>
          <a:ext cx="6480000" cy="374400"/>
        </p:xfrm>
        <a:graphic>
          <a:graphicData uri="http://schemas.openxmlformats.org/drawingml/2006/table">
            <a:tbl>
              <a:tblPr firstRow="1" bandRow="1">
                <a:tableStyleId>{5C22544A-7EE6-4342-B048-85BDC9FD1C3A}</a:tableStyleId>
              </a:tblPr>
              <a:tblGrid>
                <a:gridCol w="1080000"/>
                <a:gridCol w="1080000"/>
                <a:gridCol w="1080000"/>
                <a:gridCol w="1080000"/>
                <a:gridCol w="1080000"/>
                <a:gridCol w="1080000"/>
              </a:tblGrid>
              <a:tr h="187200">
                <a:tc>
                  <a:txBody>
                    <a:bodyPr/>
                    <a:lstStyle/>
                    <a:p>
                      <a:pPr algn="l"/>
                      <a:r>
                        <a:rPr sz="850" b="1">
                          <a:solidFill>
                            <a:srgbClr val="FFFFFF"/>
                          </a:solidFill>
                          <a:latin typeface="Versos"/>
                        </a:rPr>
                        <a:t>AAA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r>
              <a:tr h="187200">
                <a:tc>
                  <a:txBody>
                    <a:bodyPr/>
                    <a:lstStyle/>
                    <a:p>
                      <a:pPr algn="l"/>
                      <a:r>
                        <a:rPr sz="850" b="0">
                          <a:solidFill>
                            <a:srgbClr val="1A1A1A"/>
                          </a:solidFill>
                          <a:latin typeface="Versos"/>
                        </a:rPr>
                        <a:t>32,1%</a:t>
                      </a:r>
                    </a:p>
                  </a:txBody>
                  <a:tcPr marL="43200" marR="43200" marT="0" marB="0">
                    <a:solidFill>
                      <a:srgbClr val="F4F7F9"/>
                    </a:solidFill>
                  </a:tcPr>
                </a:tc>
                <a:tc>
                  <a:txBody>
                    <a:bodyPr/>
                    <a:lstStyle/>
                    <a:p>
                      <a:pPr algn="r"/>
                      <a:r>
                        <a:rPr sz="850" b="0">
                          <a:solidFill>
                            <a:srgbClr val="1A1A1A"/>
                          </a:solidFill>
                          <a:latin typeface="Versos"/>
                        </a:rPr>
                        <a:t>6,0%</a:t>
                      </a:r>
                    </a:p>
                  </a:txBody>
                  <a:tcPr marL="43200" marR="43200" marT="0" marB="0">
                    <a:solidFill>
                      <a:srgbClr val="F4F7F9"/>
                    </a:solidFill>
                  </a:tcPr>
                </a:tc>
                <a:tc>
                  <a:txBody>
                    <a:bodyPr/>
                    <a:lstStyle/>
                    <a:p>
                      <a:pPr algn="r"/>
                      <a:r>
                        <a:rPr sz="850" b="0">
                          <a:solidFill>
                            <a:srgbClr val="1A1A1A"/>
                          </a:solidFill>
                          <a:latin typeface="Versos"/>
                        </a:rPr>
                        <a:t>2,6%</a:t>
                      </a:r>
                    </a:p>
                  </a:txBody>
                  <a:tcPr marL="43200" marR="43200" marT="0" marB="0">
                    <a:solidFill>
                      <a:srgbClr val="F4F7F9"/>
                    </a:solidFill>
                  </a:tcPr>
                </a:tc>
                <a:tc>
                  <a:txBody>
                    <a:bodyPr/>
                    <a:lstStyle/>
                    <a:p>
                      <a:pPr algn="r"/>
                      <a:r>
                        <a:rPr sz="850" b="0">
                          <a:solidFill>
                            <a:srgbClr val="1A1A1A"/>
                          </a:solidFill>
                          <a:latin typeface="Versos"/>
                        </a:rPr>
                        <a:t>2,5%</a:t>
                      </a:r>
                    </a:p>
                  </a:txBody>
                  <a:tcPr marL="43200" marR="43200" marT="0" marB="0">
                    <a:solidFill>
                      <a:srgbClr val="F4F7F9"/>
                    </a:solidFill>
                  </a:tcPr>
                </a:tc>
                <a:tc>
                  <a:txBody>
                    <a:bodyPr/>
                    <a:lstStyle/>
                    <a:p>
                      <a:pPr algn="r"/>
                      <a:r>
                        <a:rPr sz="850" b="0">
                          <a:solidFill>
                            <a:srgbClr val="1A1A1A"/>
                          </a:solidFill>
                          <a:latin typeface="Versos"/>
                        </a:rPr>
                        <a:t>1,2%</a:t>
                      </a:r>
                    </a:p>
                  </a:txBody>
                  <a:tcPr marL="43200" marR="43200" marT="0" marB="0">
                    <a:solidFill>
                      <a:srgbClr val="F4F7F9"/>
                    </a:solidFill>
                  </a:tcPr>
                </a:tc>
                <a:tc>
                  <a:txBody>
                    <a:bodyPr/>
                    <a:lstStyle/>
                    <a:p>
                      <a:pPr algn="r"/>
                      <a:r>
                        <a:rPr sz="850" b="0">
                          <a:solidFill>
                            <a:srgbClr val="1A1A1A"/>
                          </a:solidFill>
                          <a:latin typeface="Versos"/>
                        </a:rPr>
                        <a:t>2,6%</a:t>
                      </a:r>
                    </a:p>
                  </a:txBody>
                  <a:tcPr marL="43200" marR="43200" marT="0" marB="0">
                    <a:solidFill>
                      <a:srgbClr val="F4F7F9"/>
                    </a:solidFill>
                  </a:tcPr>
                </a:tc>
              </a:tr>
            </a:tbl>
          </a:graphicData>
        </a:graphic>
      </p:graphicFrame>
      <p:sp>
        <p:nvSpPr>
          <p:cNvPr id="18" name="TextBox 17"/>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1</a:t>
            </a:r>
          </a:p>
        </p:txBody>
      </p:sp>
      <p:sp>
        <p:nvSpPr>
          <p:cNvPr id="19" name="TextBox 18"/>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BVP</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RENTABILIDADE HISTÓRICA</a:t>
            </a:r>
          </a:p>
        </p:txBody>
      </p:sp>
      <p:graphicFrame>
        <p:nvGraphicFramePr>
          <p:cNvPr id="7" name="Chart 6"/>
          <p:cNvGraphicFramePr>
            <a:graphicFrameLocks noGrp="1"/>
          </p:cNvGraphicFramePr>
          <p:nvPr/>
        </p:nvGraphicFramePr>
        <p:xfrm>
          <a:off x="540000" y="1584000"/>
          <a:ext cx="6480000" cy="3240000"/>
        </p:xfrm>
        <a:graphic>
          <a:graphicData uri="http://schemas.openxmlformats.org/drawingml/2006/chart">
            <c:chart xmlns:c="http://schemas.openxmlformats.org/drawingml/2006/chart" r:id="rId2"/>
          </a:graphicData>
        </a:graphic>
      </p:graphicFrame>
      <p:sp>
        <p:nvSpPr>
          <p:cNvPr id="8" name="TextBox 7"/>
          <p:cNvSpPr txBox="1"/>
          <p:nvPr/>
        </p:nvSpPr>
        <p:spPr>
          <a:xfrm>
            <a:off x="540000" y="5039999"/>
            <a:ext cx="6480000" cy="180000"/>
          </a:xfrm>
          <a:prstGeom prst="rect">
            <a:avLst/>
          </a:prstGeom>
          <a:noFill/>
        </p:spPr>
        <p:txBody>
          <a:bodyPr wrap="square" lIns="0" rIns="0" tIns="0" bIns="0">
            <a:spAutoFit/>
          </a:bodyPr>
          <a:lstStyle/>
          <a:p>
            <a:pPr algn="l"/>
            <a:r>
              <a:rPr sz="900" b="1">
                <a:solidFill>
                  <a:srgbClr val="759DB4"/>
                </a:solidFill>
                <a:latin typeface="Versos"/>
              </a:rPr>
              <a:t>COMENTÁRIO DO GESTOR E ANÁLISE DE MERCADO</a:t>
            </a:r>
          </a:p>
        </p:txBody>
      </p:sp>
      <p:sp>
        <p:nvSpPr>
          <p:cNvPr id="9" name="TextBox 8"/>
          <p:cNvSpPr txBox="1"/>
          <p:nvPr/>
        </p:nvSpPr>
        <p:spPr>
          <a:xfrm>
            <a:off x="540000" y="5255999"/>
            <a:ext cx="6480000" cy="4932001"/>
          </a:xfrm>
          <a:prstGeom prst="rect">
            <a:avLst/>
          </a:prstGeom>
          <a:noFill/>
        </p:spPr>
        <p:txBody>
          <a:bodyPr wrap="square" lIns="0" rIns="0" tIns="0" bIns="0">
            <a:spAutoFit/>
          </a:bodyPr>
          <a:lstStyle/>
          <a:p>
            <a:pPr algn="l"/>
            <a:r>
              <a:rPr sz="900" b="0">
                <a:solidFill>
                  <a:srgbClr val="1A1A1A"/>
                </a:solidFill>
                <a:latin typeface="Versos"/>
              </a:rPr>
              <a:t>Em agosto, o mercado de crédito foi marcado por um ambiente de menor liquidez nas negociações do mercado secundário e por uma leve reabertura dos spreads de crédito. Após meses consecutivos de compressão dos prêmios de risco, observou-se um movimento mais cauteloso por parte dos investidores, com os spreads médios dos títulos corporativos indexados ao CDI avançando aproximadamente 0,03%, passando de CDI + 1,19% para CDI + 1,22% ao ano. Apesar desse ajuste, os níveis de prêmio permaneceram próximos das mínimas históricas observadas ao longo do ciclo recente.</a:t>
            </a:r>
          </a:p>
          <a:p>
            <a:pPr algn="l"/>
            <a:r>
              <a:rPr sz="900" b="0">
                <a:solidFill>
                  <a:srgbClr val="1A1A1A"/>
                </a:solidFill>
                <a:latin typeface="Versos"/>
              </a:rPr>
              <a:t/>
            </a:r>
          </a:p>
          <a:p>
            <a:pPr algn="l"/>
            <a:r>
              <a:rPr sz="900" b="0">
                <a:solidFill>
                  <a:srgbClr val="1A1A1A"/>
                </a:solidFill>
                <a:latin typeface="Versos"/>
              </a:rPr>
              <a:t>No mercado secundário, a redução do volume negociado contribuiu para uma formação de preços mais seletiva, especialmente em ativos corporativos com menor liquidez. Ainda assim, o comportamento dos investidores permaneceu construtivo, sustentado por um ambiente técnico favorável e pela continuidade da elevada demanda por ativos de crédito.</a:t>
            </a:r>
          </a:p>
          <a:p>
            <a:pPr algn="l"/>
            <a:r>
              <a:rPr sz="900" b="0">
                <a:solidFill>
                  <a:srgbClr val="1A1A1A"/>
                </a:solidFill>
                <a:latin typeface="Versos"/>
              </a:rPr>
              <a:t/>
            </a:r>
          </a:p>
          <a:p>
            <a:pPr algn="l"/>
            <a:r>
              <a:rPr sz="900" b="0">
                <a:solidFill>
                  <a:srgbClr val="1A1A1A"/>
                </a:solidFill>
                <a:latin typeface="Versos"/>
              </a:rPr>
              <a:t>Já no mercado primário, as emissões bancárias seguiram registrando forte demanda por parte dos investidores. As ofertas de Letras Financeiras Seniores distribuídas ao longo do mês apresentaram níveis elevados de subscrição, com demanda que, em diversos casos, superou três vezes o volume ofertado. Esse forte apetite permitiu que as operações fossem precificadas com taxas inferiores aos limites inicialmente indicados pelos emissores, evidenciando a elevada disponibilidade de recursos para alocação na indústria de crédito. Por outro lado, o pipeline de emissões corporativas permaneceu limitado, restringindo a oferta de novos ativos em um momento de demanda ainda aquecida.</a:t>
            </a:r>
          </a:p>
          <a:p>
            <a:pPr algn="l"/>
            <a:r>
              <a:rPr sz="900" b="0">
                <a:solidFill>
                  <a:srgbClr val="1A1A1A"/>
                </a:solidFill>
                <a:latin typeface="Versos"/>
              </a:rPr>
              <a:t/>
            </a:r>
          </a:p>
          <a:p>
            <a:pPr algn="l"/>
            <a:r>
              <a:rPr sz="900" b="0">
                <a:solidFill>
                  <a:srgbClr val="1A1A1A"/>
                </a:solidFill>
                <a:latin typeface="Versos"/>
              </a:rPr>
              <a:t>Em relação aos fluxos, os fundos com alocação mínima de 15% em crédito e ao menos 1% em debêntures apresentaram captação líquida próxima de R$ 8 bilhões em agosto, resultado significativamente superior ao observado no mês anterior. O volume reforça a percepção de que os investidores seguem direcionando recursos para estratégias de crédito, impulsionados pelo elevado nível de carrego proporcionado pelos ativos indexados ao CDI e pela busca por alternativas de investimento com perfil de risco-retorno atrativo.</a:t>
            </a:r>
          </a:p>
          <a:p>
            <a:pPr algn="l"/>
            <a:r>
              <a:rPr sz="900" b="0">
                <a:solidFill>
                  <a:srgbClr val="1A1A1A"/>
                </a:solidFill>
                <a:latin typeface="Versos"/>
              </a:rPr>
              <a:t/>
            </a:r>
          </a:p>
          <a:p>
            <a:pPr algn="l"/>
            <a:r>
              <a:rPr sz="900" b="0">
                <a:solidFill>
                  <a:srgbClr val="1A1A1A"/>
                </a:solidFill>
                <a:latin typeface="Versos"/>
              </a:rPr>
              <a:t>Nesse contexto, a combinação entre fluxos positivos para a indústria, vencimentos e amortizações recorrentes das carteiras, além da limitada oferta de novos ativos corporativos, continuou sustentando a demanda por crédito privado. Ainda que agosto tenha apresentado uma leve reabertura dos spreads médios de mercado, a dinâmica técnica permanece favorável e os prêmios seguem negociando em patamares historicamente reduzidos.</a:t>
            </a:r>
          </a:p>
          <a:p>
            <a:pPr algn="l"/>
            <a:r>
              <a:rPr sz="900" b="0">
                <a:solidFill>
                  <a:srgbClr val="1A1A1A"/>
                </a:solidFill>
                <a:latin typeface="Versos"/>
              </a:rPr>
              <a:t/>
            </a:r>
          </a:p>
          <a:p>
            <a:pPr algn="l"/>
            <a:r>
              <a:rPr sz="900" b="0">
                <a:solidFill>
                  <a:srgbClr val="1A1A1A"/>
                </a:solidFill>
                <a:latin typeface="Versos"/>
              </a:rPr>
              <a:t>Por fim, sob a ótica da gestão, seguimos acompanhando de forma criteriosa a evolução dos fundamentos dos emissores presentes nas carteiras, com atenção especial aos indicadores operacionais, à geração de caixa e à manutenção de estruturas de capital adequadas. Em um ambiente em que os spreads permanecem comprimidos em termos históricos, mantemos disciplina na alocação dos recursos, priorizando operações que apresentem adequada relação entre risco e retorno e preservando flexibilidade para captura de oportunidades que possam surgir em eventuais períodos de maior volatilidade do mercado.</a:t>
            </a:r>
          </a:p>
          <a:p>
            <a:pPr algn="l"/>
            <a:r>
              <a:rPr sz="900" b="0">
                <a:solidFill>
                  <a:srgbClr val="1A1A1A"/>
                </a:solidFill>
                <a:latin typeface="Versos"/>
              </a:rPr>
              <a:t/>
            </a:r>
          </a:p>
          <a:p>
            <a:pPr algn="l"/>
            <a:r>
              <a:rPr sz="900" b="0">
                <a:solidFill>
                  <a:srgbClr val="1A1A1A"/>
                </a:solidFill>
                <a:latin typeface="Versos"/>
              </a:rPr>
              <a:t>Nesse cenário, o Tivio BVP apresentou rentabilidade de 1,10% no mês (100% do CDI), acumulando 9,39% (101% do CDI) no ano. Na parcela de corporativos, os maiores atribuidores de resultado foram para BRK e Randon, enquanto Hapvida foi o maior detrator.</a:t>
            </a:r>
          </a:p>
        </p:txBody>
      </p:sp>
      <p:sp>
        <p:nvSpPr>
          <p:cNvPr id="10" name="TextBox 9"/>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2</a:t>
            </a:r>
          </a:p>
        </p:txBody>
      </p:sp>
      <p:sp>
        <p:nvSpPr>
          <p:cNvPr id="11" name="TextBox 10"/>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BVP</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MERCADO DE CRÉDITO</a:t>
            </a:r>
          </a:p>
        </p:txBody>
      </p:sp>
      <p:graphicFrame>
        <p:nvGraphicFramePr>
          <p:cNvPr id="7" name="Table 6"/>
          <p:cNvGraphicFramePr>
            <a:graphicFrameLocks noGrp="1"/>
          </p:cNvGraphicFramePr>
          <p:nvPr/>
        </p:nvGraphicFramePr>
        <p:xfrm>
          <a:off x="540000" y="1584000"/>
          <a:ext cx="6479996" cy="4140000"/>
        </p:xfrm>
        <a:graphic>
          <a:graphicData uri="http://schemas.openxmlformats.org/drawingml/2006/table">
            <a:tbl>
              <a:tblPr firstRow="1" bandRow="1">
                <a:tableStyleId>{5C22544A-7EE6-4342-B048-85BDC9FD1C3A}</a:tableStyleId>
              </a:tblPr>
              <a:tblGrid>
                <a:gridCol w="2098285"/>
                <a:gridCol w="802285"/>
                <a:gridCol w="617142"/>
                <a:gridCol w="740571"/>
                <a:gridCol w="925714"/>
                <a:gridCol w="678857"/>
                <a:gridCol w="617142"/>
              </a:tblGrid>
              <a:tr h="165600">
                <a:tc>
                  <a:txBody>
                    <a:bodyPr/>
                    <a:lstStyle/>
                    <a:p>
                      <a:pPr algn="l"/>
                      <a:r>
                        <a:rPr sz="850" b="1">
                          <a:solidFill>
                            <a:srgbClr val="FFFFFF"/>
                          </a:solidFill>
                          <a:latin typeface="Versos"/>
                        </a:rPr>
                        <a:t>Setor</a:t>
                      </a:r>
                    </a:p>
                  </a:txBody>
                  <a:tcPr marL="43200" marR="43200" marT="0" marB="0">
                    <a:solidFill>
                      <a:srgbClr val="3C4A60"/>
                    </a:solidFill>
                  </a:tcPr>
                </a:tc>
                <a:tc>
                  <a:txBody>
                    <a:bodyPr/>
                    <a:lstStyle/>
                    <a:p>
                      <a:pPr algn="r"/>
                      <a:r>
                        <a:rPr sz="850" b="1">
                          <a:solidFill>
                            <a:srgbClr val="FFFFFF"/>
                          </a:solidFill>
                          <a:latin typeface="Versos"/>
                        </a:rPr>
                        <a:t>Volume (R$ MM)</a:t>
                      </a:r>
                    </a:p>
                  </a:txBody>
                  <a:tcPr marL="43200" marR="43200" marT="0" marB="0">
                    <a:solidFill>
                      <a:srgbClr val="3C4A60"/>
                    </a:solidFill>
                  </a:tcPr>
                </a:tc>
                <a:tc>
                  <a:txBody>
                    <a:bodyPr/>
                    <a:lstStyle/>
                    <a:p>
                      <a:pPr algn="r"/>
                      <a:r>
                        <a:rPr sz="850" b="1">
                          <a:solidFill>
                            <a:srgbClr val="FFFFFF"/>
                          </a:solidFill>
                          <a:latin typeface="Versos"/>
                        </a:rPr>
                        <a:t>%</a:t>
                      </a:r>
                    </a:p>
                  </a:txBody>
                  <a:tcPr marL="43200" marR="43200" marT="0" marB="0">
                    <a:solidFill>
                      <a:srgbClr val="3C4A60"/>
                    </a:solidFill>
                  </a:tcPr>
                </a:tc>
                <a:tc>
                  <a:txBody>
                    <a:bodyPr/>
                    <a:lstStyle/>
                    <a:p>
                      <a:pPr algn="r"/>
                      <a:r>
                        <a:rPr sz="850" b="1">
                          <a:solidFill>
                            <a:srgbClr val="FFFFFF"/>
                          </a:solidFill>
                          <a:latin typeface="Versos"/>
                        </a:rPr>
                        <a:t>Spread Atual</a:t>
                      </a:r>
                    </a:p>
                  </a:txBody>
                  <a:tcPr marL="43200" marR="43200" marT="0" marB="0">
                    <a:solidFill>
                      <a:srgbClr val="3C4A60"/>
                    </a:solidFill>
                  </a:tcPr>
                </a:tc>
                <a:tc>
                  <a:txBody>
                    <a:bodyPr/>
                    <a:lstStyle/>
                    <a:p>
                      <a:pPr algn="r"/>
                      <a:r>
                        <a:rPr sz="850" b="1">
                          <a:solidFill>
                            <a:srgbClr val="FFFFFF"/>
                          </a:solidFill>
                          <a:latin typeface="Versos"/>
                        </a:rPr>
                        <a:t>Spread mês anterior</a:t>
                      </a:r>
                    </a:p>
                  </a:txBody>
                  <a:tcPr marL="43200" marR="43200" marT="0" marB="0">
                    <a:solidFill>
                      <a:srgbClr val="3C4A60"/>
                    </a:solidFill>
                  </a:tcPr>
                </a:tc>
                <a:tc>
                  <a:txBody>
                    <a:bodyPr/>
                    <a:lstStyle/>
                    <a:p>
                      <a:pPr algn="r"/>
                      <a:r>
                        <a:rPr sz="850" b="1">
                          <a:solidFill>
                            <a:srgbClr val="FFFFFF"/>
                          </a:solidFill>
                          <a:latin typeface="Versos"/>
                        </a:rPr>
                        <a:t>Variação</a:t>
                      </a:r>
                    </a:p>
                  </a:txBody>
                  <a:tcPr marL="43200" marR="43200" marT="0" marB="0">
                    <a:solidFill>
                      <a:srgbClr val="3C4A60"/>
                    </a:solidFill>
                  </a:tcPr>
                </a:tc>
                <a:tc>
                  <a:txBody>
                    <a:bodyPr/>
                    <a:lstStyle/>
                    <a:p>
                      <a:pPr algn="r"/>
                      <a:r>
                        <a:rPr sz="850" b="1">
                          <a:solidFill>
                            <a:srgbClr val="FFFFFF"/>
                          </a:solidFill>
                          <a:latin typeface="Versos"/>
                        </a:rPr>
                        <a:t>Duration</a:t>
                      </a:r>
                    </a:p>
                  </a:txBody>
                  <a:tcPr marL="43200" marR="43200" marT="0" marB="0">
                    <a:solidFill>
                      <a:srgbClr val="3C4A60"/>
                    </a:solidFill>
                  </a:tcPr>
                </a:tc>
              </a:tr>
              <a:tr h="165600">
                <a:tc>
                  <a:txBody>
                    <a:bodyPr/>
                    <a:lstStyle/>
                    <a:p>
                      <a:pPr algn="l"/>
                      <a:r>
                        <a:rPr sz="850" b="1">
                          <a:solidFill>
                            <a:srgbClr val="1A1A1A"/>
                          </a:solidFill>
                          <a:latin typeface="Versos"/>
                        </a:rPr>
                        <a:t>Energia elétrica</a:t>
                      </a:r>
                    </a:p>
                  </a:txBody>
                  <a:tcPr marL="43200" marR="43200" marT="0" marB="0">
                    <a:solidFill>
                      <a:srgbClr val="F4F7F9"/>
                    </a:solidFill>
                  </a:tcPr>
                </a:tc>
                <a:tc>
                  <a:txBody>
                    <a:bodyPr/>
                    <a:lstStyle/>
                    <a:p>
                      <a:pPr algn="r"/>
                      <a:r>
                        <a:rPr sz="850" b="0">
                          <a:solidFill>
                            <a:srgbClr val="1A1A1A"/>
                          </a:solidFill>
                          <a:latin typeface="Versos"/>
                        </a:rPr>
                        <a:t>108.945</a:t>
                      </a:r>
                    </a:p>
                  </a:txBody>
                  <a:tcPr marL="43200" marR="43200" marT="0" marB="0">
                    <a:solidFill>
                      <a:srgbClr val="F4F7F9"/>
                    </a:solidFill>
                  </a:tcPr>
                </a:tc>
                <a:tc>
                  <a:txBody>
                    <a:bodyPr/>
                    <a:lstStyle/>
                    <a:p>
                      <a:pPr algn="r"/>
                      <a:r>
                        <a:rPr sz="850" b="0">
                          <a:solidFill>
                            <a:srgbClr val="1A1A1A"/>
                          </a:solidFill>
                          <a:latin typeface="Versos"/>
                        </a:rPr>
                        <a:t>24,57%</a:t>
                      </a:r>
                    </a:p>
                  </a:txBody>
                  <a:tcPr marL="43200" marR="43200" marT="0" marB="0">
                    <a:solidFill>
                      <a:srgbClr val="F4F7F9"/>
                    </a:solidFill>
                  </a:tcPr>
                </a:tc>
                <a:tc>
                  <a:txBody>
                    <a:bodyPr/>
                    <a:lstStyle/>
                    <a:p>
                      <a:pPr algn="r"/>
                      <a:r>
                        <a:rPr sz="850" b="0">
                          <a:solidFill>
                            <a:srgbClr val="1A1A1A"/>
                          </a:solidFill>
                          <a:latin typeface="Versos"/>
                        </a:rPr>
                        <a:t>0,72%</a:t>
                      </a:r>
                    </a:p>
                  </a:txBody>
                  <a:tcPr marL="43200" marR="43200" marT="0" marB="0">
                    <a:solidFill>
                      <a:srgbClr val="F4F7F9"/>
                    </a:solidFill>
                  </a:tcPr>
                </a:tc>
                <a:tc>
                  <a:txBody>
                    <a:bodyPr/>
                    <a:lstStyle/>
                    <a:p>
                      <a:pPr algn="r"/>
                      <a:r>
                        <a:rPr sz="850" b="0">
                          <a:solidFill>
                            <a:srgbClr val="1A1A1A"/>
                          </a:solidFill>
                          <a:latin typeface="Versos"/>
                        </a:rPr>
                        <a:t>0,72%</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2,72</a:t>
                      </a:r>
                    </a:p>
                  </a:txBody>
                  <a:tcPr marL="43200" marR="43200" marT="0" marB="0">
                    <a:solidFill>
                      <a:srgbClr val="F4F7F9"/>
                    </a:solidFill>
                  </a:tcPr>
                </a:tc>
              </a:tr>
              <a:tr h="165600">
                <a:tc>
                  <a:txBody>
                    <a:bodyPr/>
                    <a:lstStyle/>
                    <a:p>
                      <a:pPr algn="l"/>
                      <a:r>
                        <a:rPr sz="850" b="1">
                          <a:solidFill>
                            <a:srgbClr val="1A1A1A"/>
                          </a:solidFill>
                          <a:latin typeface="Versos"/>
                        </a:rPr>
                        <a:t>Assistência médica</a:t>
                      </a:r>
                    </a:p>
                  </a:txBody>
                  <a:tcPr marL="43200" marR="43200" marT="0" marB="0">
                    <a:solidFill>
                      <a:srgbClr val="FFFFFF"/>
                    </a:solidFill>
                  </a:tcPr>
                </a:tc>
                <a:tc>
                  <a:txBody>
                    <a:bodyPr/>
                    <a:lstStyle/>
                    <a:p>
                      <a:pPr algn="r"/>
                      <a:r>
                        <a:rPr sz="850" b="0">
                          <a:solidFill>
                            <a:srgbClr val="1A1A1A"/>
                          </a:solidFill>
                          <a:latin typeface="Versos"/>
                        </a:rPr>
                        <a:t>43.410</a:t>
                      </a:r>
                    </a:p>
                  </a:txBody>
                  <a:tcPr marL="43200" marR="43200" marT="0" marB="0">
                    <a:solidFill>
                      <a:srgbClr val="FFFFFF"/>
                    </a:solidFill>
                  </a:tcPr>
                </a:tc>
                <a:tc>
                  <a:txBody>
                    <a:bodyPr/>
                    <a:lstStyle/>
                    <a:p>
                      <a:pPr algn="r"/>
                      <a:r>
                        <a:rPr sz="850" b="0">
                          <a:solidFill>
                            <a:srgbClr val="1A1A1A"/>
                          </a:solidFill>
                          <a:latin typeface="Versos"/>
                        </a:rPr>
                        <a:t>9,79%</a:t>
                      </a:r>
                    </a:p>
                  </a:txBody>
                  <a:tcPr marL="43200" marR="43200" marT="0" marB="0">
                    <a:solidFill>
                      <a:srgbClr val="FFFFFF"/>
                    </a:solidFill>
                  </a:tcPr>
                </a:tc>
                <a:tc>
                  <a:txBody>
                    <a:bodyPr/>
                    <a:lstStyle/>
                    <a:p>
                      <a:pPr algn="r"/>
                      <a:r>
                        <a:rPr sz="850" b="0">
                          <a:solidFill>
                            <a:srgbClr val="1A1A1A"/>
                          </a:solidFill>
                          <a:latin typeface="Versos"/>
                        </a:rPr>
                        <a:t>2,55%</a:t>
                      </a:r>
                    </a:p>
                  </a:txBody>
                  <a:tcPr marL="43200" marR="43200" marT="0" marB="0">
                    <a:solidFill>
                      <a:srgbClr val="FFFFFF"/>
                    </a:solidFill>
                  </a:tcPr>
                </a:tc>
                <a:tc>
                  <a:txBody>
                    <a:bodyPr/>
                    <a:lstStyle/>
                    <a:p>
                      <a:pPr algn="r"/>
                      <a:r>
                        <a:rPr sz="850" b="0">
                          <a:solidFill>
                            <a:srgbClr val="1A1A1A"/>
                          </a:solidFill>
                          <a:latin typeface="Versos"/>
                        </a:rPr>
                        <a:t>2,23%</a:t>
                      </a:r>
                    </a:p>
                  </a:txBody>
                  <a:tcPr marL="43200" marR="43200" marT="0" marB="0">
                    <a:solidFill>
                      <a:srgbClr val="FFFFFF"/>
                    </a:solidFill>
                  </a:tcPr>
                </a:tc>
                <a:tc>
                  <a:txBody>
                    <a:bodyPr/>
                    <a:lstStyle/>
                    <a:p>
                      <a:pPr algn="r"/>
                      <a:r>
                        <a:rPr sz="850" b="0">
                          <a:solidFill>
                            <a:srgbClr val="1A1A1A"/>
                          </a:solidFill>
                          <a:latin typeface="Versos"/>
                        </a:rPr>
                        <a:t>0,32%</a:t>
                      </a:r>
                    </a:p>
                  </a:txBody>
                  <a:tcPr marL="43200" marR="43200" marT="0" marB="0">
                    <a:solidFill>
                      <a:srgbClr val="FFFFFF"/>
                    </a:solidFill>
                  </a:tcPr>
                </a:tc>
                <a:tc>
                  <a:txBody>
                    <a:bodyPr/>
                    <a:lstStyle/>
                    <a:p>
                      <a:pPr algn="r"/>
                      <a:r>
                        <a:rPr sz="850" b="0">
                          <a:solidFill>
                            <a:srgbClr val="1A1A1A"/>
                          </a:solidFill>
                          <a:latin typeface="Versos"/>
                        </a:rPr>
                        <a:t>3,34</a:t>
                      </a:r>
                    </a:p>
                  </a:txBody>
                  <a:tcPr marL="43200" marR="43200" marT="0" marB="0">
                    <a:solidFill>
                      <a:srgbClr val="FFFFFF"/>
                    </a:solidFill>
                  </a:tcPr>
                </a:tc>
              </a:tr>
              <a:tr h="165600">
                <a:tc>
                  <a:txBody>
                    <a:bodyPr/>
                    <a:lstStyle/>
                    <a:p>
                      <a:pPr algn="l"/>
                      <a:r>
                        <a:rPr sz="850" b="1">
                          <a:solidFill>
                            <a:srgbClr val="1A1A1A"/>
                          </a:solidFill>
                          <a:latin typeface="Versos"/>
                        </a:rPr>
                        <a:t>Saneamento</a:t>
                      </a:r>
                    </a:p>
                  </a:txBody>
                  <a:tcPr marL="43200" marR="43200" marT="0" marB="0">
                    <a:solidFill>
                      <a:srgbClr val="F4F7F9"/>
                    </a:solidFill>
                  </a:tcPr>
                </a:tc>
                <a:tc>
                  <a:txBody>
                    <a:bodyPr/>
                    <a:lstStyle/>
                    <a:p>
                      <a:pPr algn="r"/>
                      <a:r>
                        <a:rPr sz="850" b="0">
                          <a:solidFill>
                            <a:srgbClr val="1A1A1A"/>
                          </a:solidFill>
                          <a:latin typeface="Versos"/>
                        </a:rPr>
                        <a:t>39.943</a:t>
                      </a:r>
                    </a:p>
                  </a:txBody>
                  <a:tcPr marL="43200" marR="43200" marT="0" marB="0">
                    <a:solidFill>
                      <a:srgbClr val="F4F7F9"/>
                    </a:solidFill>
                  </a:tcPr>
                </a:tc>
                <a:tc>
                  <a:txBody>
                    <a:bodyPr/>
                    <a:lstStyle/>
                    <a:p>
                      <a:pPr algn="r"/>
                      <a:r>
                        <a:rPr sz="850" b="0">
                          <a:solidFill>
                            <a:srgbClr val="1A1A1A"/>
                          </a:solidFill>
                          <a:latin typeface="Versos"/>
                        </a:rPr>
                        <a:t>9,01%</a:t>
                      </a:r>
                    </a:p>
                  </a:txBody>
                  <a:tcPr marL="43200" marR="43200" marT="0" marB="0">
                    <a:solidFill>
                      <a:srgbClr val="F4F7F9"/>
                    </a:solidFill>
                  </a:tcPr>
                </a:tc>
                <a:tc>
                  <a:txBody>
                    <a:bodyPr/>
                    <a:lstStyle/>
                    <a:p>
                      <a:pPr algn="r"/>
                      <a:r>
                        <a:rPr sz="850" b="0">
                          <a:solidFill>
                            <a:srgbClr val="1A1A1A"/>
                          </a:solidFill>
                          <a:latin typeface="Versos"/>
                        </a:rPr>
                        <a:t>1,66%</a:t>
                      </a:r>
                    </a:p>
                  </a:txBody>
                  <a:tcPr marL="43200" marR="43200" marT="0" marB="0">
                    <a:solidFill>
                      <a:srgbClr val="F4F7F9"/>
                    </a:solidFill>
                  </a:tcPr>
                </a:tc>
                <a:tc>
                  <a:txBody>
                    <a:bodyPr/>
                    <a:lstStyle/>
                    <a:p>
                      <a:pPr algn="r"/>
                      <a:r>
                        <a:rPr sz="850" b="0">
                          <a:solidFill>
                            <a:srgbClr val="1A1A1A"/>
                          </a:solidFill>
                          <a:latin typeface="Versos"/>
                        </a:rPr>
                        <a:t>1,67%</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2,71</a:t>
                      </a:r>
                    </a:p>
                  </a:txBody>
                  <a:tcPr marL="43200" marR="43200" marT="0" marB="0">
                    <a:solidFill>
                      <a:srgbClr val="F4F7F9"/>
                    </a:solidFill>
                  </a:tcPr>
                </a:tc>
              </a:tr>
              <a:tr h="165600">
                <a:tc>
                  <a:txBody>
                    <a:bodyPr/>
                    <a:lstStyle/>
                    <a:p>
                      <a:pPr algn="l"/>
                      <a:r>
                        <a:rPr sz="850" b="1">
                          <a:solidFill>
                            <a:srgbClr val="1A1A1A"/>
                          </a:solidFill>
                          <a:latin typeface="Versos"/>
                        </a:rPr>
                        <a:t>Locação de veículos</a:t>
                      </a:r>
                    </a:p>
                  </a:txBody>
                  <a:tcPr marL="43200" marR="43200" marT="0" marB="0">
                    <a:solidFill>
                      <a:srgbClr val="FFFFFF"/>
                    </a:solidFill>
                  </a:tcPr>
                </a:tc>
                <a:tc>
                  <a:txBody>
                    <a:bodyPr/>
                    <a:lstStyle/>
                    <a:p>
                      <a:pPr algn="r"/>
                      <a:r>
                        <a:rPr sz="850" b="0">
                          <a:solidFill>
                            <a:srgbClr val="1A1A1A"/>
                          </a:solidFill>
                          <a:latin typeface="Versos"/>
                        </a:rPr>
                        <a:t>33.800</a:t>
                      </a:r>
                    </a:p>
                  </a:txBody>
                  <a:tcPr marL="43200" marR="43200" marT="0" marB="0">
                    <a:solidFill>
                      <a:srgbClr val="FFFFFF"/>
                    </a:solidFill>
                  </a:tcPr>
                </a:tc>
                <a:tc>
                  <a:txBody>
                    <a:bodyPr/>
                    <a:lstStyle/>
                    <a:p>
                      <a:pPr algn="r"/>
                      <a:r>
                        <a:rPr sz="850" b="0">
                          <a:solidFill>
                            <a:srgbClr val="1A1A1A"/>
                          </a:solidFill>
                          <a:latin typeface="Versos"/>
                        </a:rPr>
                        <a:t>7,62%</a:t>
                      </a:r>
                    </a:p>
                  </a:txBody>
                  <a:tcPr marL="43200" marR="43200" marT="0" marB="0">
                    <a:solidFill>
                      <a:srgbClr val="FFFFFF"/>
                    </a:solidFill>
                  </a:tcPr>
                </a:tc>
                <a:tc>
                  <a:txBody>
                    <a:bodyPr/>
                    <a:lstStyle/>
                    <a:p>
                      <a:pPr algn="r"/>
                      <a:r>
                        <a:rPr sz="850" b="0">
                          <a:solidFill>
                            <a:srgbClr val="1A1A1A"/>
                          </a:solidFill>
                          <a:latin typeface="Versos"/>
                        </a:rPr>
                        <a:t>1,62%</a:t>
                      </a:r>
                    </a:p>
                  </a:txBody>
                  <a:tcPr marL="43200" marR="43200" marT="0" marB="0">
                    <a:solidFill>
                      <a:srgbClr val="FFFFFF"/>
                    </a:solidFill>
                  </a:tcPr>
                </a:tc>
                <a:tc>
                  <a:txBody>
                    <a:bodyPr/>
                    <a:lstStyle/>
                    <a:p>
                      <a:pPr algn="r"/>
                      <a:r>
                        <a:rPr sz="850" b="0">
                          <a:solidFill>
                            <a:srgbClr val="1A1A1A"/>
                          </a:solidFill>
                          <a:latin typeface="Versos"/>
                        </a:rPr>
                        <a:t>1,65%</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2,37</a:t>
                      </a:r>
                    </a:p>
                  </a:txBody>
                  <a:tcPr marL="43200" marR="43200" marT="0" marB="0">
                    <a:solidFill>
                      <a:srgbClr val="FFFFFF"/>
                    </a:solidFill>
                  </a:tcPr>
                </a:tc>
              </a:tr>
              <a:tr h="165600">
                <a:tc>
                  <a:txBody>
                    <a:bodyPr/>
                    <a:lstStyle/>
                    <a:p>
                      <a:pPr algn="l"/>
                      <a:r>
                        <a:rPr sz="850" b="1">
                          <a:solidFill>
                            <a:srgbClr val="1A1A1A"/>
                          </a:solidFill>
                          <a:latin typeface="Versos"/>
                        </a:rPr>
                        <a:t>Petróleo e gás</a:t>
                      </a:r>
                    </a:p>
                  </a:txBody>
                  <a:tcPr marL="43200" marR="43200" marT="0" marB="0">
                    <a:solidFill>
                      <a:srgbClr val="F4F7F9"/>
                    </a:solidFill>
                  </a:tcPr>
                </a:tc>
                <a:tc>
                  <a:txBody>
                    <a:bodyPr/>
                    <a:lstStyle/>
                    <a:p>
                      <a:pPr algn="r"/>
                      <a:r>
                        <a:rPr sz="850" b="0">
                          <a:solidFill>
                            <a:srgbClr val="1A1A1A"/>
                          </a:solidFill>
                          <a:latin typeface="Versos"/>
                        </a:rPr>
                        <a:t>33.070</a:t>
                      </a:r>
                    </a:p>
                  </a:txBody>
                  <a:tcPr marL="43200" marR="43200" marT="0" marB="0">
                    <a:solidFill>
                      <a:srgbClr val="F4F7F9"/>
                    </a:solidFill>
                  </a:tcPr>
                </a:tc>
                <a:tc>
                  <a:txBody>
                    <a:bodyPr/>
                    <a:lstStyle/>
                    <a:p>
                      <a:pPr algn="r"/>
                      <a:r>
                        <a:rPr sz="850" b="0">
                          <a:solidFill>
                            <a:srgbClr val="1A1A1A"/>
                          </a:solidFill>
                          <a:latin typeface="Versos"/>
                        </a:rPr>
                        <a:t>7,46%</a:t>
                      </a:r>
                    </a:p>
                  </a:txBody>
                  <a:tcPr marL="43200" marR="43200" marT="0" marB="0">
                    <a:solidFill>
                      <a:srgbClr val="F4F7F9"/>
                    </a:solidFill>
                  </a:tcPr>
                </a:tc>
                <a:tc>
                  <a:txBody>
                    <a:bodyPr/>
                    <a:lstStyle/>
                    <a:p>
                      <a:pPr algn="r"/>
                      <a:r>
                        <a:rPr sz="850" b="0">
                          <a:solidFill>
                            <a:srgbClr val="1A1A1A"/>
                          </a:solidFill>
                          <a:latin typeface="Versos"/>
                        </a:rPr>
                        <a:t>0,80%</a:t>
                      </a:r>
                    </a:p>
                  </a:txBody>
                  <a:tcPr marL="43200" marR="43200" marT="0" marB="0">
                    <a:solidFill>
                      <a:srgbClr val="F4F7F9"/>
                    </a:solidFill>
                  </a:tcPr>
                </a:tc>
                <a:tc>
                  <a:txBody>
                    <a:bodyPr/>
                    <a:lstStyle/>
                    <a:p>
                      <a:pPr algn="r"/>
                      <a:r>
                        <a:rPr sz="850" b="0">
                          <a:solidFill>
                            <a:srgbClr val="1A1A1A"/>
                          </a:solidFill>
                          <a:latin typeface="Versos"/>
                        </a:rPr>
                        <a:t>0,82%</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2,83</a:t>
                      </a:r>
                    </a:p>
                  </a:txBody>
                  <a:tcPr marL="43200" marR="43200" marT="0" marB="0">
                    <a:solidFill>
                      <a:srgbClr val="F4F7F9"/>
                    </a:solidFill>
                  </a:tcPr>
                </a:tc>
              </a:tr>
              <a:tr h="165600">
                <a:tc>
                  <a:txBody>
                    <a:bodyPr/>
                    <a:lstStyle/>
                    <a:p>
                      <a:pPr algn="l"/>
                      <a:r>
                        <a:rPr sz="850" b="1">
                          <a:solidFill>
                            <a:srgbClr val="1A1A1A"/>
                          </a:solidFill>
                          <a:latin typeface="Versos"/>
                        </a:rPr>
                        <a:t>Transporte e logística</a:t>
                      </a:r>
                    </a:p>
                  </a:txBody>
                  <a:tcPr marL="43200" marR="43200" marT="0" marB="0">
                    <a:solidFill>
                      <a:srgbClr val="FFFFFF"/>
                    </a:solidFill>
                  </a:tcPr>
                </a:tc>
                <a:tc>
                  <a:txBody>
                    <a:bodyPr/>
                    <a:lstStyle/>
                    <a:p>
                      <a:pPr algn="r"/>
                      <a:r>
                        <a:rPr sz="850" b="0">
                          <a:solidFill>
                            <a:srgbClr val="1A1A1A"/>
                          </a:solidFill>
                          <a:latin typeface="Versos"/>
                        </a:rPr>
                        <a:t>29.782</a:t>
                      </a:r>
                    </a:p>
                  </a:txBody>
                  <a:tcPr marL="43200" marR="43200" marT="0" marB="0">
                    <a:solidFill>
                      <a:srgbClr val="FFFFFF"/>
                    </a:solidFill>
                  </a:tcPr>
                </a:tc>
                <a:tc>
                  <a:txBody>
                    <a:bodyPr/>
                    <a:lstStyle/>
                    <a:p>
                      <a:pPr algn="r"/>
                      <a:r>
                        <a:rPr sz="850" b="0">
                          <a:solidFill>
                            <a:srgbClr val="1A1A1A"/>
                          </a:solidFill>
                          <a:latin typeface="Versos"/>
                        </a:rPr>
                        <a:t>6,72%</a:t>
                      </a:r>
                    </a:p>
                  </a:txBody>
                  <a:tcPr marL="43200" marR="43200" marT="0" marB="0">
                    <a:solidFill>
                      <a:srgbClr val="FFFFFF"/>
                    </a:solidFill>
                  </a:tcPr>
                </a:tc>
                <a:tc>
                  <a:txBody>
                    <a:bodyPr/>
                    <a:lstStyle/>
                    <a:p>
                      <a:pPr algn="r"/>
                      <a:r>
                        <a:rPr sz="850" b="0">
                          <a:solidFill>
                            <a:srgbClr val="1A1A1A"/>
                          </a:solidFill>
                          <a:latin typeface="Versos"/>
                        </a:rPr>
                        <a:t>1,34%</a:t>
                      </a:r>
                    </a:p>
                  </a:txBody>
                  <a:tcPr marL="43200" marR="43200" marT="0" marB="0">
                    <a:solidFill>
                      <a:srgbClr val="FFFFFF"/>
                    </a:solidFill>
                  </a:tcPr>
                </a:tc>
                <a:tc>
                  <a:txBody>
                    <a:bodyPr/>
                    <a:lstStyle/>
                    <a:p>
                      <a:pPr algn="r"/>
                      <a:r>
                        <a:rPr sz="850" b="0">
                          <a:solidFill>
                            <a:srgbClr val="1A1A1A"/>
                          </a:solidFill>
                          <a:latin typeface="Versos"/>
                        </a:rPr>
                        <a:t>1,26%</a:t>
                      </a:r>
                    </a:p>
                  </a:txBody>
                  <a:tcPr marL="43200" marR="43200" marT="0" marB="0">
                    <a:solidFill>
                      <a:srgbClr val="FFFFFF"/>
                    </a:solidFill>
                  </a:tcPr>
                </a:tc>
                <a:tc>
                  <a:txBody>
                    <a:bodyPr/>
                    <a:lstStyle/>
                    <a:p>
                      <a:pPr algn="r"/>
                      <a:r>
                        <a:rPr sz="850" b="0">
                          <a:solidFill>
                            <a:srgbClr val="1A1A1A"/>
                          </a:solidFill>
                          <a:latin typeface="Versos"/>
                        </a:rPr>
                        <a:t>0,08%</a:t>
                      </a:r>
                    </a:p>
                  </a:txBody>
                  <a:tcPr marL="43200" marR="43200" marT="0" marB="0">
                    <a:solidFill>
                      <a:srgbClr val="FFFFFF"/>
                    </a:solidFill>
                  </a:tcPr>
                </a:tc>
                <a:tc>
                  <a:txBody>
                    <a:bodyPr/>
                    <a:lstStyle/>
                    <a:p>
                      <a:pPr algn="r"/>
                      <a:r>
                        <a:rPr sz="850" b="0">
                          <a:solidFill>
                            <a:srgbClr val="1A1A1A"/>
                          </a:solidFill>
                          <a:latin typeface="Versos"/>
                        </a:rPr>
                        <a:t>2,72</a:t>
                      </a:r>
                    </a:p>
                  </a:txBody>
                  <a:tcPr marL="43200" marR="43200" marT="0" marB="0">
                    <a:solidFill>
                      <a:srgbClr val="FFFFFF"/>
                    </a:solidFill>
                  </a:tcPr>
                </a:tc>
              </a:tr>
              <a:tr h="165600">
                <a:tc>
                  <a:txBody>
                    <a:bodyPr/>
                    <a:lstStyle/>
                    <a:p>
                      <a:pPr algn="l"/>
                      <a:r>
                        <a:rPr sz="850" b="1">
                          <a:solidFill>
                            <a:srgbClr val="1A1A1A"/>
                          </a:solidFill>
                          <a:latin typeface="Versos"/>
                        </a:rPr>
                        <a:t>Comércio atacadista e varejista</a:t>
                      </a:r>
                    </a:p>
                  </a:txBody>
                  <a:tcPr marL="43200" marR="43200" marT="0" marB="0">
                    <a:solidFill>
                      <a:srgbClr val="F4F7F9"/>
                    </a:solidFill>
                  </a:tcPr>
                </a:tc>
                <a:tc>
                  <a:txBody>
                    <a:bodyPr/>
                    <a:lstStyle/>
                    <a:p>
                      <a:pPr algn="r"/>
                      <a:r>
                        <a:rPr sz="850" b="0">
                          <a:solidFill>
                            <a:srgbClr val="1A1A1A"/>
                          </a:solidFill>
                          <a:latin typeface="Versos"/>
                        </a:rPr>
                        <a:t>26.963</a:t>
                      </a:r>
                    </a:p>
                  </a:txBody>
                  <a:tcPr marL="43200" marR="43200" marT="0" marB="0">
                    <a:solidFill>
                      <a:srgbClr val="F4F7F9"/>
                    </a:solidFill>
                  </a:tcPr>
                </a:tc>
                <a:tc>
                  <a:txBody>
                    <a:bodyPr/>
                    <a:lstStyle/>
                    <a:p>
                      <a:pPr algn="r"/>
                      <a:r>
                        <a:rPr sz="850" b="0">
                          <a:solidFill>
                            <a:srgbClr val="1A1A1A"/>
                          </a:solidFill>
                          <a:latin typeface="Versos"/>
                        </a:rPr>
                        <a:t>6,08%</a:t>
                      </a:r>
                    </a:p>
                  </a:txBody>
                  <a:tcPr marL="43200" marR="43200" marT="0" marB="0">
                    <a:solidFill>
                      <a:srgbClr val="F4F7F9"/>
                    </a:solidFill>
                  </a:tcPr>
                </a:tc>
                <a:tc>
                  <a:txBody>
                    <a:bodyPr/>
                    <a:lstStyle/>
                    <a:p>
                      <a:pPr algn="r"/>
                      <a:r>
                        <a:rPr sz="850" b="0">
                          <a:solidFill>
                            <a:srgbClr val="1A1A1A"/>
                          </a:solidFill>
                          <a:latin typeface="Versos"/>
                        </a:rPr>
                        <a:t>1,34%</a:t>
                      </a:r>
                    </a:p>
                  </a:txBody>
                  <a:tcPr marL="43200" marR="43200" marT="0" marB="0">
                    <a:solidFill>
                      <a:srgbClr val="F4F7F9"/>
                    </a:solidFill>
                  </a:tcPr>
                </a:tc>
                <a:tc>
                  <a:txBody>
                    <a:bodyPr/>
                    <a:lstStyle/>
                    <a:p>
                      <a:pPr algn="r"/>
                      <a:r>
                        <a:rPr sz="850" b="0">
                          <a:solidFill>
                            <a:srgbClr val="1A1A1A"/>
                          </a:solidFill>
                          <a:latin typeface="Versos"/>
                        </a:rPr>
                        <a:t>1,32%</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2,35</a:t>
                      </a:r>
                    </a:p>
                  </a:txBody>
                  <a:tcPr marL="43200" marR="43200" marT="0" marB="0">
                    <a:solidFill>
                      <a:srgbClr val="F4F7F9"/>
                    </a:solidFill>
                  </a:tcPr>
                </a:tc>
              </a:tr>
              <a:tr h="165600">
                <a:tc>
                  <a:txBody>
                    <a:bodyPr/>
                    <a:lstStyle/>
                    <a:p>
                      <a:pPr algn="l"/>
                      <a:r>
                        <a:rPr sz="850" b="1">
                          <a:solidFill>
                            <a:srgbClr val="1A1A1A"/>
                          </a:solidFill>
                          <a:latin typeface="Versos"/>
                        </a:rPr>
                        <a:t>Financeiro</a:t>
                      </a:r>
                    </a:p>
                  </a:txBody>
                  <a:tcPr marL="43200" marR="43200" marT="0" marB="0">
                    <a:solidFill>
                      <a:srgbClr val="FFFFFF"/>
                    </a:solidFill>
                  </a:tcPr>
                </a:tc>
                <a:tc>
                  <a:txBody>
                    <a:bodyPr/>
                    <a:lstStyle/>
                    <a:p>
                      <a:pPr algn="r"/>
                      <a:r>
                        <a:rPr sz="850" b="0">
                          <a:solidFill>
                            <a:srgbClr val="1A1A1A"/>
                          </a:solidFill>
                          <a:latin typeface="Versos"/>
                        </a:rPr>
                        <a:t>23.678</a:t>
                      </a:r>
                    </a:p>
                  </a:txBody>
                  <a:tcPr marL="43200" marR="43200" marT="0" marB="0">
                    <a:solidFill>
                      <a:srgbClr val="FFFFFF"/>
                    </a:solidFill>
                  </a:tcPr>
                </a:tc>
                <a:tc>
                  <a:txBody>
                    <a:bodyPr/>
                    <a:lstStyle/>
                    <a:p>
                      <a:pPr algn="r"/>
                      <a:r>
                        <a:rPr sz="850" b="0">
                          <a:solidFill>
                            <a:srgbClr val="1A1A1A"/>
                          </a:solidFill>
                          <a:latin typeface="Versos"/>
                        </a:rPr>
                        <a:t>5,34%</a:t>
                      </a:r>
                    </a:p>
                  </a:txBody>
                  <a:tcPr marL="43200" marR="43200" marT="0" marB="0">
                    <a:solidFill>
                      <a:srgbClr val="FFFFFF"/>
                    </a:solidFill>
                  </a:tcPr>
                </a:tc>
                <a:tc>
                  <a:txBody>
                    <a:bodyPr/>
                    <a:lstStyle/>
                    <a:p>
                      <a:pPr algn="r"/>
                      <a:r>
                        <a:rPr sz="850" b="0">
                          <a:solidFill>
                            <a:srgbClr val="1A1A1A"/>
                          </a:solidFill>
                          <a:latin typeface="Versos"/>
                        </a:rPr>
                        <a:t>0,45%</a:t>
                      </a:r>
                    </a:p>
                  </a:txBody>
                  <a:tcPr marL="43200" marR="43200" marT="0" marB="0">
                    <a:solidFill>
                      <a:srgbClr val="FFFFFF"/>
                    </a:solidFill>
                  </a:tcPr>
                </a:tc>
                <a:tc>
                  <a:txBody>
                    <a:bodyPr/>
                    <a:lstStyle/>
                    <a:p>
                      <a:pPr algn="r"/>
                      <a:r>
                        <a:rPr sz="850" b="0">
                          <a:solidFill>
                            <a:srgbClr val="1A1A1A"/>
                          </a:solidFill>
                          <a:latin typeface="Versos"/>
                        </a:rPr>
                        <a:t>0,46%</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1,97</a:t>
                      </a:r>
                    </a:p>
                  </a:txBody>
                  <a:tcPr marL="43200" marR="43200" marT="0" marB="0">
                    <a:solidFill>
                      <a:srgbClr val="FFFFFF"/>
                    </a:solidFill>
                  </a:tcPr>
                </a:tc>
              </a:tr>
              <a:tr h="165600">
                <a:tc>
                  <a:txBody>
                    <a:bodyPr/>
                    <a:lstStyle/>
                    <a:p>
                      <a:pPr algn="l"/>
                      <a:r>
                        <a:rPr sz="850" b="1">
                          <a:solidFill>
                            <a:srgbClr val="1A1A1A"/>
                          </a:solidFill>
                          <a:latin typeface="Versos"/>
                        </a:rPr>
                        <a:t>Indústria e comércio</a:t>
                      </a:r>
                    </a:p>
                  </a:txBody>
                  <a:tcPr marL="43200" marR="43200" marT="0" marB="0">
                    <a:solidFill>
                      <a:srgbClr val="F4F7F9"/>
                    </a:solidFill>
                  </a:tcPr>
                </a:tc>
                <a:tc>
                  <a:txBody>
                    <a:bodyPr/>
                    <a:lstStyle/>
                    <a:p>
                      <a:pPr algn="r"/>
                      <a:r>
                        <a:rPr sz="850" b="0">
                          <a:solidFill>
                            <a:srgbClr val="1A1A1A"/>
                          </a:solidFill>
                          <a:latin typeface="Versos"/>
                        </a:rPr>
                        <a:t>22.210</a:t>
                      </a:r>
                    </a:p>
                  </a:txBody>
                  <a:tcPr marL="43200" marR="43200" marT="0" marB="0">
                    <a:solidFill>
                      <a:srgbClr val="F4F7F9"/>
                    </a:solidFill>
                  </a:tcPr>
                </a:tc>
                <a:tc>
                  <a:txBody>
                    <a:bodyPr/>
                    <a:lstStyle/>
                    <a:p>
                      <a:pPr algn="r"/>
                      <a:r>
                        <a:rPr sz="850" b="0">
                          <a:solidFill>
                            <a:srgbClr val="1A1A1A"/>
                          </a:solidFill>
                          <a:latin typeface="Versos"/>
                        </a:rPr>
                        <a:t>5,01%</a:t>
                      </a:r>
                    </a:p>
                  </a:txBody>
                  <a:tcPr marL="43200" marR="43200" marT="0" marB="0">
                    <a:solidFill>
                      <a:srgbClr val="F4F7F9"/>
                    </a:solidFill>
                  </a:tcPr>
                </a:tc>
                <a:tc>
                  <a:txBody>
                    <a:bodyPr/>
                    <a:lstStyle/>
                    <a:p>
                      <a:pPr algn="r"/>
                      <a:r>
                        <a:rPr sz="850" b="0">
                          <a:solidFill>
                            <a:srgbClr val="1A1A1A"/>
                          </a:solidFill>
                          <a:latin typeface="Versos"/>
                        </a:rPr>
                        <a:t>1,21%</a:t>
                      </a:r>
                    </a:p>
                  </a:txBody>
                  <a:tcPr marL="43200" marR="43200" marT="0" marB="0">
                    <a:solidFill>
                      <a:srgbClr val="F4F7F9"/>
                    </a:solidFill>
                  </a:tcPr>
                </a:tc>
                <a:tc>
                  <a:txBody>
                    <a:bodyPr/>
                    <a:lstStyle/>
                    <a:p>
                      <a:pPr algn="r"/>
                      <a:r>
                        <a:rPr sz="850" b="0">
                          <a:solidFill>
                            <a:srgbClr val="1A1A1A"/>
                          </a:solidFill>
                          <a:latin typeface="Versos"/>
                        </a:rPr>
                        <a:t>1,21%</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2,58</a:t>
                      </a:r>
                    </a:p>
                  </a:txBody>
                  <a:tcPr marL="43200" marR="43200" marT="0" marB="0">
                    <a:solidFill>
                      <a:srgbClr val="F4F7F9"/>
                    </a:solidFill>
                  </a:tcPr>
                </a:tc>
              </a:tr>
              <a:tr h="165600">
                <a:tc>
                  <a:txBody>
                    <a:bodyPr/>
                    <a:lstStyle/>
                    <a:p>
                      <a:pPr algn="l"/>
                      <a:r>
                        <a:rPr sz="850" b="1">
                          <a:solidFill>
                            <a:srgbClr val="1A1A1A"/>
                          </a:solidFill>
                          <a:latin typeface="Versos"/>
                        </a:rPr>
                        <a:t>Ti e telecomunicações</a:t>
                      </a:r>
                    </a:p>
                  </a:txBody>
                  <a:tcPr marL="43200" marR="43200" marT="0" marB="0">
                    <a:solidFill>
                      <a:srgbClr val="FFFFFF"/>
                    </a:solidFill>
                  </a:tcPr>
                </a:tc>
                <a:tc>
                  <a:txBody>
                    <a:bodyPr/>
                    <a:lstStyle/>
                    <a:p>
                      <a:pPr algn="r"/>
                      <a:r>
                        <a:rPr sz="850" b="0">
                          <a:solidFill>
                            <a:srgbClr val="1A1A1A"/>
                          </a:solidFill>
                          <a:latin typeface="Versos"/>
                        </a:rPr>
                        <a:t>18.606</a:t>
                      </a:r>
                    </a:p>
                  </a:txBody>
                  <a:tcPr marL="43200" marR="43200" marT="0" marB="0">
                    <a:solidFill>
                      <a:srgbClr val="FFFFFF"/>
                    </a:solidFill>
                  </a:tcPr>
                </a:tc>
                <a:tc>
                  <a:txBody>
                    <a:bodyPr/>
                    <a:lstStyle/>
                    <a:p>
                      <a:pPr algn="r"/>
                      <a:r>
                        <a:rPr sz="850" b="0">
                          <a:solidFill>
                            <a:srgbClr val="1A1A1A"/>
                          </a:solidFill>
                          <a:latin typeface="Versos"/>
                        </a:rPr>
                        <a:t>4,20%</a:t>
                      </a:r>
                    </a:p>
                  </a:txBody>
                  <a:tcPr marL="43200" marR="43200" marT="0" marB="0">
                    <a:solidFill>
                      <a:srgbClr val="FFFFFF"/>
                    </a:solidFill>
                  </a:tcPr>
                </a:tc>
                <a:tc>
                  <a:txBody>
                    <a:bodyPr/>
                    <a:lstStyle/>
                    <a:p>
                      <a:pPr algn="r"/>
                      <a:r>
                        <a:rPr sz="850" b="0">
                          <a:solidFill>
                            <a:srgbClr val="1A1A1A"/>
                          </a:solidFill>
                          <a:latin typeface="Versos"/>
                        </a:rPr>
                        <a:t>1,00%</a:t>
                      </a:r>
                    </a:p>
                  </a:txBody>
                  <a:tcPr marL="43200" marR="43200" marT="0" marB="0">
                    <a:solidFill>
                      <a:srgbClr val="FFFFFF"/>
                    </a:solidFill>
                  </a:tcPr>
                </a:tc>
                <a:tc>
                  <a:txBody>
                    <a:bodyPr/>
                    <a:lstStyle/>
                    <a:p>
                      <a:pPr algn="r"/>
                      <a:r>
                        <a:rPr sz="850" b="0">
                          <a:solidFill>
                            <a:srgbClr val="1A1A1A"/>
                          </a:solidFill>
                          <a:latin typeface="Versos"/>
                        </a:rPr>
                        <a:t>1,00%</a:t>
                      </a:r>
                    </a:p>
                  </a:txBody>
                  <a:tcPr marL="43200" marR="43200" marT="0" marB="0">
                    <a:solidFill>
                      <a:srgbClr val="FFFFFF"/>
                    </a:solidFill>
                  </a:tcPr>
                </a:tc>
                <a:tc>
                  <a:txBody>
                    <a:bodyPr/>
                    <a:lstStyle/>
                    <a:p>
                      <a:pPr algn="r"/>
                      <a:r>
                        <a:rPr sz="850" b="0">
                          <a:solidFill>
                            <a:srgbClr val="1A1A1A"/>
                          </a:solidFill>
                          <a:latin typeface="Versos"/>
                        </a:rPr>
                        <a:t>0,00%</a:t>
                      </a:r>
                    </a:p>
                  </a:txBody>
                  <a:tcPr marL="43200" marR="43200" marT="0" marB="0">
                    <a:solidFill>
                      <a:srgbClr val="FFFFFF"/>
                    </a:solidFill>
                  </a:tcPr>
                </a:tc>
                <a:tc>
                  <a:txBody>
                    <a:bodyPr/>
                    <a:lstStyle/>
                    <a:p>
                      <a:pPr algn="r"/>
                      <a:r>
                        <a:rPr sz="850" b="0">
                          <a:solidFill>
                            <a:srgbClr val="1A1A1A"/>
                          </a:solidFill>
                          <a:latin typeface="Versos"/>
                        </a:rPr>
                        <a:t>2,22</a:t>
                      </a:r>
                    </a:p>
                  </a:txBody>
                  <a:tcPr marL="43200" marR="43200" marT="0" marB="0">
                    <a:solidFill>
                      <a:srgbClr val="FFFFFF"/>
                    </a:solidFill>
                  </a:tcPr>
                </a:tc>
              </a:tr>
              <a:tr h="165600">
                <a:tc>
                  <a:txBody>
                    <a:bodyPr/>
                    <a:lstStyle/>
                    <a:p>
                      <a:pPr algn="l"/>
                      <a:r>
                        <a:rPr sz="850" b="1">
                          <a:solidFill>
                            <a:srgbClr val="1A1A1A"/>
                          </a:solidFill>
                          <a:latin typeface="Versos"/>
                        </a:rPr>
                        <a:t>Bioenergia</a:t>
                      </a:r>
                    </a:p>
                  </a:txBody>
                  <a:tcPr marL="43200" marR="43200" marT="0" marB="0">
                    <a:solidFill>
                      <a:srgbClr val="F4F7F9"/>
                    </a:solidFill>
                  </a:tcPr>
                </a:tc>
                <a:tc>
                  <a:txBody>
                    <a:bodyPr/>
                    <a:lstStyle/>
                    <a:p>
                      <a:pPr algn="r"/>
                      <a:r>
                        <a:rPr sz="850" b="0">
                          <a:solidFill>
                            <a:srgbClr val="1A1A1A"/>
                          </a:solidFill>
                          <a:latin typeface="Versos"/>
                        </a:rPr>
                        <a:t>9.534</a:t>
                      </a:r>
                    </a:p>
                  </a:txBody>
                  <a:tcPr marL="43200" marR="43200" marT="0" marB="0">
                    <a:solidFill>
                      <a:srgbClr val="F4F7F9"/>
                    </a:solidFill>
                  </a:tcPr>
                </a:tc>
                <a:tc>
                  <a:txBody>
                    <a:bodyPr/>
                    <a:lstStyle/>
                    <a:p>
                      <a:pPr algn="r"/>
                      <a:r>
                        <a:rPr sz="850" b="0">
                          <a:solidFill>
                            <a:srgbClr val="1A1A1A"/>
                          </a:solidFill>
                          <a:latin typeface="Versos"/>
                        </a:rPr>
                        <a:t>2,15%</a:t>
                      </a:r>
                    </a:p>
                  </a:txBody>
                  <a:tcPr marL="43200" marR="43200" marT="0" marB="0">
                    <a:solidFill>
                      <a:srgbClr val="F4F7F9"/>
                    </a:solidFill>
                  </a:tcPr>
                </a:tc>
                <a:tc>
                  <a:txBody>
                    <a:bodyPr/>
                    <a:lstStyle/>
                    <a:p>
                      <a:pPr algn="r"/>
                      <a:r>
                        <a:rPr sz="850" b="0">
                          <a:solidFill>
                            <a:srgbClr val="1A1A1A"/>
                          </a:solidFill>
                          <a:latin typeface="Versos"/>
                        </a:rPr>
                        <a:t>1,69%</a:t>
                      </a:r>
                    </a:p>
                  </a:txBody>
                  <a:tcPr marL="43200" marR="43200" marT="0" marB="0">
                    <a:solidFill>
                      <a:srgbClr val="F4F7F9"/>
                    </a:solidFill>
                  </a:tcPr>
                </a:tc>
                <a:tc>
                  <a:txBody>
                    <a:bodyPr/>
                    <a:lstStyle/>
                    <a:p>
                      <a:pPr algn="r"/>
                      <a:r>
                        <a:rPr sz="850" b="0">
                          <a:solidFill>
                            <a:srgbClr val="1A1A1A"/>
                          </a:solidFill>
                          <a:latin typeface="Versos"/>
                        </a:rPr>
                        <a:t>1,66%</a:t>
                      </a:r>
                    </a:p>
                  </a:txBody>
                  <a:tcPr marL="43200" marR="43200" marT="0" marB="0">
                    <a:solidFill>
                      <a:srgbClr val="F4F7F9"/>
                    </a:solidFill>
                  </a:tcPr>
                </a:tc>
                <a:tc>
                  <a:txBody>
                    <a:bodyPr/>
                    <a:lstStyle/>
                    <a:p>
                      <a:pPr algn="r"/>
                      <a:r>
                        <a:rPr sz="850" b="0">
                          <a:solidFill>
                            <a:srgbClr val="1A1A1A"/>
                          </a:solidFill>
                          <a:latin typeface="Versos"/>
                        </a:rPr>
                        <a:t>0,03%</a:t>
                      </a:r>
                    </a:p>
                  </a:txBody>
                  <a:tcPr marL="43200" marR="43200" marT="0" marB="0">
                    <a:solidFill>
                      <a:srgbClr val="F4F7F9"/>
                    </a:solidFill>
                  </a:tcPr>
                </a:tc>
                <a:tc>
                  <a:txBody>
                    <a:bodyPr/>
                    <a:lstStyle/>
                    <a:p>
                      <a:pPr algn="r"/>
                      <a:r>
                        <a:rPr sz="850" b="0">
                          <a:solidFill>
                            <a:srgbClr val="1A1A1A"/>
                          </a:solidFill>
                          <a:latin typeface="Versos"/>
                        </a:rPr>
                        <a:t>2,98</a:t>
                      </a:r>
                    </a:p>
                  </a:txBody>
                  <a:tcPr marL="43200" marR="43200" marT="0" marB="0">
                    <a:solidFill>
                      <a:srgbClr val="F4F7F9"/>
                    </a:solidFill>
                  </a:tcPr>
                </a:tc>
              </a:tr>
              <a:tr h="165600">
                <a:tc>
                  <a:txBody>
                    <a:bodyPr/>
                    <a:lstStyle/>
                    <a:p>
                      <a:pPr algn="l"/>
                      <a:r>
                        <a:rPr sz="850" b="1">
                          <a:solidFill>
                            <a:srgbClr val="1A1A1A"/>
                          </a:solidFill>
                          <a:latin typeface="Versos"/>
                        </a:rPr>
                        <a:t>Metalurgia e siderurgia</a:t>
                      </a:r>
                    </a:p>
                  </a:txBody>
                  <a:tcPr marL="43200" marR="43200" marT="0" marB="0">
                    <a:solidFill>
                      <a:srgbClr val="FFFFFF"/>
                    </a:solidFill>
                  </a:tcPr>
                </a:tc>
                <a:tc>
                  <a:txBody>
                    <a:bodyPr/>
                    <a:lstStyle/>
                    <a:p>
                      <a:pPr algn="r"/>
                      <a:r>
                        <a:rPr sz="850" b="0">
                          <a:solidFill>
                            <a:srgbClr val="1A1A1A"/>
                          </a:solidFill>
                          <a:latin typeface="Versos"/>
                        </a:rPr>
                        <a:t>9.897</a:t>
                      </a:r>
                    </a:p>
                  </a:txBody>
                  <a:tcPr marL="43200" marR="43200" marT="0" marB="0">
                    <a:solidFill>
                      <a:srgbClr val="FFFFFF"/>
                    </a:solidFill>
                  </a:tcPr>
                </a:tc>
                <a:tc>
                  <a:txBody>
                    <a:bodyPr/>
                    <a:lstStyle/>
                    <a:p>
                      <a:pPr algn="r"/>
                      <a:r>
                        <a:rPr sz="850" b="0">
                          <a:solidFill>
                            <a:srgbClr val="1A1A1A"/>
                          </a:solidFill>
                          <a:latin typeface="Versos"/>
                        </a:rPr>
                        <a:t>2,23%</a:t>
                      </a:r>
                    </a:p>
                  </a:txBody>
                  <a:tcPr marL="43200" marR="43200" marT="0" marB="0">
                    <a:solidFill>
                      <a:srgbClr val="FFFFFF"/>
                    </a:solidFill>
                  </a:tcPr>
                </a:tc>
                <a:tc>
                  <a:txBody>
                    <a:bodyPr/>
                    <a:lstStyle/>
                    <a:p>
                      <a:pPr algn="r"/>
                      <a:r>
                        <a:rPr sz="850" b="0">
                          <a:solidFill>
                            <a:srgbClr val="1A1A1A"/>
                          </a:solidFill>
                          <a:latin typeface="Versos"/>
                        </a:rPr>
                        <a:t>1,22%</a:t>
                      </a:r>
                    </a:p>
                  </a:txBody>
                  <a:tcPr marL="43200" marR="43200" marT="0" marB="0">
                    <a:solidFill>
                      <a:srgbClr val="FFFFFF"/>
                    </a:solidFill>
                  </a:tcPr>
                </a:tc>
                <a:tc>
                  <a:txBody>
                    <a:bodyPr/>
                    <a:lstStyle/>
                    <a:p>
                      <a:pPr algn="r"/>
                      <a:r>
                        <a:rPr sz="850" b="0">
                          <a:solidFill>
                            <a:srgbClr val="1A1A1A"/>
                          </a:solidFill>
                          <a:latin typeface="Versos"/>
                        </a:rPr>
                        <a:t>1,26%</a:t>
                      </a:r>
                    </a:p>
                  </a:txBody>
                  <a:tcPr marL="43200" marR="43200" marT="0" marB="0">
                    <a:solidFill>
                      <a:srgbClr val="FFFFFF"/>
                    </a:solidFill>
                  </a:tcPr>
                </a:tc>
                <a:tc>
                  <a:txBody>
                    <a:bodyPr/>
                    <a:lstStyle/>
                    <a:p>
                      <a:pPr algn="r"/>
                      <a:r>
                        <a:rPr sz="850" b="0">
                          <a:solidFill>
                            <a:srgbClr val="1A1A1A"/>
                          </a:solidFill>
                          <a:latin typeface="Versos"/>
                        </a:rPr>
                        <a:t>-0,04%</a:t>
                      </a:r>
                    </a:p>
                  </a:txBody>
                  <a:tcPr marL="43200" marR="43200" marT="0" marB="0">
                    <a:solidFill>
                      <a:srgbClr val="FFFFFF"/>
                    </a:solidFill>
                  </a:tcPr>
                </a:tc>
                <a:tc>
                  <a:txBody>
                    <a:bodyPr/>
                    <a:lstStyle/>
                    <a:p>
                      <a:pPr algn="r"/>
                      <a:r>
                        <a:rPr sz="850" b="0">
                          <a:solidFill>
                            <a:srgbClr val="1A1A1A"/>
                          </a:solidFill>
                          <a:latin typeface="Versos"/>
                        </a:rPr>
                        <a:t>2,74</a:t>
                      </a:r>
                    </a:p>
                  </a:txBody>
                  <a:tcPr marL="43200" marR="43200" marT="0" marB="0">
                    <a:solidFill>
                      <a:srgbClr val="FFFFFF"/>
                    </a:solidFill>
                  </a:tcPr>
                </a:tc>
              </a:tr>
              <a:tr h="165600">
                <a:tc>
                  <a:txBody>
                    <a:bodyPr/>
                    <a:lstStyle/>
                    <a:p>
                      <a:pPr algn="l"/>
                      <a:r>
                        <a:rPr sz="850" b="1">
                          <a:solidFill>
                            <a:srgbClr val="1A1A1A"/>
                          </a:solidFill>
                          <a:latin typeface="Versos"/>
                        </a:rPr>
                        <a:t>Educação</a:t>
                      </a:r>
                    </a:p>
                  </a:txBody>
                  <a:tcPr marL="43200" marR="43200" marT="0" marB="0">
                    <a:solidFill>
                      <a:srgbClr val="F4F7F9"/>
                    </a:solidFill>
                  </a:tcPr>
                </a:tc>
                <a:tc>
                  <a:txBody>
                    <a:bodyPr/>
                    <a:lstStyle/>
                    <a:p>
                      <a:pPr algn="r"/>
                      <a:r>
                        <a:rPr sz="850" b="0">
                          <a:solidFill>
                            <a:srgbClr val="1A1A1A"/>
                          </a:solidFill>
                          <a:latin typeface="Versos"/>
                        </a:rPr>
                        <a:t>7.210</a:t>
                      </a:r>
                    </a:p>
                  </a:txBody>
                  <a:tcPr marL="43200" marR="43200" marT="0" marB="0">
                    <a:solidFill>
                      <a:srgbClr val="F4F7F9"/>
                    </a:solidFill>
                  </a:tcPr>
                </a:tc>
                <a:tc>
                  <a:txBody>
                    <a:bodyPr/>
                    <a:lstStyle/>
                    <a:p>
                      <a:pPr algn="r"/>
                      <a:r>
                        <a:rPr sz="850" b="0">
                          <a:solidFill>
                            <a:srgbClr val="1A1A1A"/>
                          </a:solidFill>
                          <a:latin typeface="Versos"/>
                        </a:rPr>
                        <a:t>1,63%</a:t>
                      </a:r>
                    </a:p>
                  </a:txBody>
                  <a:tcPr marL="43200" marR="43200" marT="0" marB="0">
                    <a:solidFill>
                      <a:srgbClr val="F4F7F9"/>
                    </a:solidFill>
                  </a:tcPr>
                </a:tc>
                <a:tc>
                  <a:txBody>
                    <a:bodyPr/>
                    <a:lstStyle/>
                    <a:p>
                      <a:pPr algn="r"/>
                      <a:r>
                        <a:rPr sz="850" b="0">
                          <a:solidFill>
                            <a:srgbClr val="1A1A1A"/>
                          </a:solidFill>
                          <a:latin typeface="Versos"/>
                        </a:rPr>
                        <a:t>1,13%</a:t>
                      </a:r>
                    </a:p>
                  </a:txBody>
                  <a:tcPr marL="43200" marR="43200" marT="0" marB="0">
                    <a:solidFill>
                      <a:srgbClr val="F4F7F9"/>
                    </a:solidFill>
                  </a:tcPr>
                </a:tc>
                <a:tc>
                  <a:txBody>
                    <a:bodyPr/>
                    <a:lstStyle/>
                    <a:p>
                      <a:pPr algn="r"/>
                      <a:r>
                        <a:rPr sz="850" b="0">
                          <a:solidFill>
                            <a:srgbClr val="1A1A1A"/>
                          </a:solidFill>
                          <a:latin typeface="Versos"/>
                        </a:rPr>
                        <a:t>1,17%</a:t>
                      </a:r>
                    </a:p>
                  </a:txBody>
                  <a:tcPr marL="43200" marR="43200" marT="0" marB="0">
                    <a:solidFill>
                      <a:srgbClr val="F4F7F9"/>
                    </a:solidFill>
                  </a:tcPr>
                </a:tc>
                <a:tc>
                  <a:txBody>
                    <a:bodyPr/>
                    <a:lstStyle/>
                    <a:p>
                      <a:pPr algn="r"/>
                      <a:r>
                        <a:rPr sz="850" b="0">
                          <a:solidFill>
                            <a:srgbClr val="1A1A1A"/>
                          </a:solidFill>
                          <a:latin typeface="Versos"/>
                        </a:rPr>
                        <a:t>-0,04%</a:t>
                      </a:r>
                    </a:p>
                  </a:txBody>
                  <a:tcPr marL="43200" marR="43200" marT="0" marB="0">
                    <a:solidFill>
                      <a:srgbClr val="F4F7F9"/>
                    </a:solidFill>
                  </a:tcPr>
                </a:tc>
                <a:tc>
                  <a:txBody>
                    <a:bodyPr/>
                    <a:lstStyle/>
                    <a:p>
                      <a:pPr algn="r"/>
                      <a:r>
                        <a:rPr sz="850" b="0">
                          <a:solidFill>
                            <a:srgbClr val="1A1A1A"/>
                          </a:solidFill>
                          <a:latin typeface="Versos"/>
                        </a:rPr>
                        <a:t>2,02</a:t>
                      </a:r>
                    </a:p>
                  </a:txBody>
                  <a:tcPr marL="43200" marR="43200" marT="0" marB="0">
                    <a:solidFill>
                      <a:srgbClr val="F4F7F9"/>
                    </a:solidFill>
                  </a:tcPr>
                </a:tc>
              </a:tr>
              <a:tr h="165600">
                <a:tc>
                  <a:txBody>
                    <a:bodyPr/>
                    <a:lstStyle/>
                    <a:p>
                      <a:pPr algn="l"/>
                      <a:r>
                        <a:rPr sz="850" b="1">
                          <a:solidFill>
                            <a:srgbClr val="1A1A1A"/>
                          </a:solidFill>
                          <a:latin typeface="Versos"/>
                        </a:rPr>
                        <a:t>Serviços imobiliários</a:t>
                      </a:r>
                    </a:p>
                  </a:txBody>
                  <a:tcPr marL="43200" marR="43200" marT="0" marB="0">
                    <a:solidFill>
                      <a:srgbClr val="FFFFFF"/>
                    </a:solidFill>
                  </a:tcPr>
                </a:tc>
                <a:tc>
                  <a:txBody>
                    <a:bodyPr/>
                    <a:lstStyle/>
                    <a:p>
                      <a:pPr algn="r"/>
                      <a:r>
                        <a:rPr sz="850" b="0">
                          <a:solidFill>
                            <a:srgbClr val="1A1A1A"/>
                          </a:solidFill>
                          <a:latin typeface="Versos"/>
                        </a:rPr>
                        <a:t>5.994</a:t>
                      </a:r>
                    </a:p>
                  </a:txBody>
                  <a:tcPr marL="43200" marR="43200" marT="0" marB="0">
                    <a:solidFill>
                      <a:srgbClr val="FFFFFF"/>
                    </a:solidFill>
                  </a:tcPr>
                </a:tc>
                <a:tc>
                  <a:txBody>
                    <a:bodyPr/>
                    <a:lstStyle/>
                    <a:p>
                      <a:pPr algn="r"/>
                      <a:r>
                        <a:rPr sz="850" b="0">
                          <a:solidFill>
                            <a:srgbClr val="1A1A1A"/>
                          </a:solidFill>
                          <a:latin typeface="Versos"/>
                        </a:rPr>
                        <a:t>1,35%</a:t>
                      </a:r>
                    </a:p>
                  </a:txBody>
                  <a:tcPr marL="43200" marR="43200" marT="0" marB="0">
                    <a:solidFill>
                      <a:srgbClr val="FFFFFF"/>
                    </a:solidFill>
                  </a:tcPr>
                </a:tc>
                <a:tc>
                  <a:txBody>
                    <a:bodyPr/>
                    <a:lstStyle/>
                    <a:p>
                      <a:pPr algn="r"/>
                      <a:r>
                        <a:rPr sz="850" b="0">
                          <a:solidFill>
                            <a:srgbClr val="1A1A1A"/>
                          </a:solidFill>
                          <a:latin typeface="Versos"/>
                        </a:rPr>
                        <a:t>0,53%</a:t>
                      </a:r>
                    </a:p>
                  </a:txBody>
                  <a:tcPr marL="43200" marR="43200" marT="0" marB="0">
                    <a:solidFill>
                      <a:srgbClr val="FFFFFF"/>
                    </a:solidFill>
                  </a:tcPr>
                </a:tc>
                <a:tc>
                  <a:txBody>
                    <a:bodyPr/>
                    <a:lstStyle/>
                    <a:p>
                      <a:pPr algn="r"/>
                      <a:r>
                        <a:rPr sz="850" b="0">
                          <a:solidFill>
                            <a:srgbClr val="1A1A1A"/>
                          </a:solidFill>
                          <a:latin typeface="Versos"/>
                        </a:rPr>
                        <a:t>0,54%</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3,32</a:t>
                      </a:r>
                    </a:p>
                  </a:txBody>
                  <a:tcPr marL="43200" marR="43200" marT="0" marB="0">
                    <a:solidFill>
                      <a:srgbClr val="FFFFFF"/>
                    </a:solidFill>
                  </a:tcPr>
                </a:tc>
              </a:tr>
              <a:tr h="165600">
                <a:tc>
                  <a:txBody>
                    <a:bodyPr/>
                    <a:lstStyle/>
                    <a:p>
                      <a:pPr algn="l"/>
                      <a:r>
                        <a:rPr sz="850" b="1">
                          <a:solidFill>
                            <a:srgbClr val="1A1A1A"/>
                          </a:solidFill>
                          <a:latin typeface="Versos"/>
                        </a:rPr>
                        <a:t>Outros serviços</a:t>
                      </a:r>
                    </a:p>
                  </a:txBody>
                  <a:tcPr marL="43200" marR="43200" marT="0" marB="0">
                    <a:solidFill>
                      <a:srgbClr val="F4F7F9"/>
                    </a:solidFill>
                  </a:tcPr>
                </a:tc>
                <a:tc>
                  <a:txBody>
                    <a:bodyPr/>
                    <a:lstStyle/>
                    <a:p>
                      <a:pPr algn="r"/>
                      <a:r>
                        <a:rPr sz="850" b="0">
                          <a:solidFill>
                            <a:srgbClr val="1A1A1A"/>
                          </a:solidFill>
                          <a:latin typeface="Versos"/>
                        </a:rPr>
                        <a:t>6.611</a:t>
                      </a:r>
                    </a:p>
                  </a:txBody>
                  <a:tcPr marL="43200" marR="43200" marT="0" marB="0">
                    <a:solidFill>
                      <a:srgbClr val="F4F7F9"/>
                    </a:solidFill>
                  </a:tcPr>
                </a:tc>
                <a:tc>
                  <a:txBody>
                    <a:bodyPr/>
                    <a:lstStyle/>
                    <a:p>
                      <a:pPr algn="r"/>
                      <a:r>
                        <a:rPr sz="850" b="0">
                          <a:solidFill>
                            <a:srgbClr val="1A1A1A"/>
                          </a:solidFill>
                          <a:latin typeface="Versos"/>
                        </a:rPr>
                        <a:t>1,49%</a:t>
                      </a:r>
                    </a:p>
                  </a:txBody>
                  <a:tcPr marL="43200" marR="43200" marT="0" marB="0">
                    <a:solidFill>
                      <a:srgbClr val="F4F7F9"/>
                    </a:solidFill>
                  </a:tcPr>
                </a:tc>
                <a:tc>
                  <a:txBody>
                    <a:bodyPr/>
                    <a:lstStyle/>
                    <a:p>
                      <a:pPr algn="r"/>
                      <a:r>
                        <a:rPr sz="850" b="0">
                          <a:solidFill>
                            <a:srgbClr val="1A1A1A"/>
                          </a:solidFill>
                          <a:latin typeface="Versos"/>
                        </a:rPr>
                        <a:t>1,25%</a:t>
                      </a:r>
                    </a:p>
                  </a:txBody>
                  <a:tcPr marL="43200" marR="43200" marT="0" marB="0">
                    <a:solidFill>
                      <a:srgbClr val="F4F7F9"/>
                    </a:solidFill>
                  </a:tcPr>
                </a:tc>
                <a:tc>
                  <a:txBody>
                    <a:bodyPr/>
                    <a:lstStyle/>
                    <a:p>
                      <a:pPr algn="r"/>
                      <a:r>
                        <a:rPr sz="850" b="0">
                          <a:solidFill>
                            <a:srgbClr val="1A1A1A"/>
                          </a:solidFill>
                          <a:latin typeface="Versos"/>
                        </a:rPr>
                        <a:t>1,09%</a:t>
                      </a:r>
                    </a:p>
                  </a:txBody>
                  <a:tcPr marL="43200" marR="43200" marT="0" marB="0">
                    <a:solidFill>
                      <a:srgbClr val="F4F7F9"/>
                    </a:solidFill>
                  </a:tcPr>
                </a:tc>
                <a:tc>
                  <a:txBody>
                    <a:bodyPr/>
                    <a:lstStyle/>
                    <a:p>
                      <a:pPr algn="r"/>
                      <a:r>
                        <a:rPr sz="850" b="0">
                          <a:solidFill>
                            <a:srgbClr val="1A1A1A"/>
                          </a:solidFill>
                          <a:latin typeface="Versos"/>
                        </a:rPr>
                        <a:t>0,16%</a:t>
                      </a:r>
                    </a:p>
                  </a:txBody>
                  <a:tcPr marL="43200" marR="43200" marT="0" marB="0">
                    <a:solidFill>
                      <a:srgbClr val="F4F7F9"/>
                    </a:solidFill>
                  </a:tcPr>
                </a:tc>
                <a:tc>
                  <a:txBody>
                    <a:bodyPr/>
                    <a:lstStyle/>
                    <a:p>
                      <a:pPr algn="r"/>
                      <a:r>
                        <a:rPr sz="850" b="0">
                          <a:solidFill>
                            <a:srgbClr val="1A1A1A"/>
                          </a:solidFill>
                          <a:latin typeface="Versos"/>
                        </a:rPr>
                        <a:t>2,70</a:t>
                      </a:r>
                    </a:p>
                  </a:txBody>
                  <a:tcPr marL="43200" marR="43200" marT="0" marB="0">
                    <a:solidFill>
                      <a:srgbClr val="F4F7F9"/>
                    </a:solidFill>
                  </a:tcPr>
                </a:tc>
              </a:tr>
              <a:tr h="165600">
                <a:tc>
                  <a:txBody>
                    <a:bodyPr/>
                    <a:lstStyle/>
                    <a:p>
                      <a:pPr algn="l"/>
                      <a:r>
                        <a:rPr sz="850" b="1">
                          <a:solidFill>
                            <a:srgbClr val="1A1A1A"/>
                          </a:solidFill>
                          <a:latin typeface="Versos"/>
                        </a:rPr>
                        <a:t>Empreendimentos e participações</a:t>
                      </a:r>
                    </a:p>
                  </a:txBody>
                  <a:tcPr marL="43200" marR="43200" marT="0" marB="0">
                    <a:solidFill>
                      <a:srgbClr val="FFFFFF"/>
                    </a:solidFill>
                  </a:tcPr>
                </a:tc>
                <a:tc>
                  <a:txBody>
                    <a:bodyPr/>
                    <a:lstStyle/>
                    <a:p>
                      <a:pPr algn="r"/>
                      <a:r>
                        <a:rPr sz="850" b="0">
                          <a:solidFill>
                            <a:srgbClr val="1A1A1A"/>
                          </a:solidFill>
                          <a:latin typeface="Versos"/>
                        </a:rPr>
                        <a:t>9.181</a:t>
                      </a:r>
                    </a:p>
                  </a:txBody>
                  <a:tcPr marL="43200" marR="43200" marT="0" marB="0">
                    <a:solidFill>
                      <a:srgbClr val="FFFFFF"/>
                    </a:solidFill>
                  </a:tcPr>
                </a:tc>
                <a:tc>
                  <a:txBody>
                    <a:bodyPr/>
                    <a:lstStyle/>
                    <a:p>
                      <a:pPr algn="r"/>
                      <a:r>
                        <a:rPr sz="850" b="0">
                          <a:solidFill>
                            <a:srgbClr val="1A1A1A"/>
                          </a:solidFill>
                          <a:latin typeface="Versos"/>
                        </a:rPr>
                        <a:t>2,07%</a:t>
                      </a:r>
                    </a:p>
                  </a:txBody>
                  <a:tcPr marL="43200" marR="43200" marT="0" marB="0">
                    <a:solidFill>
                      <a:srgbClr val="FFFFFF"/>
                    </a:solidFill>
                  </a:tcPr>
                </a:tc>
                <a:tc>
                  <a:txBody>
                    <a:bodyPr/>
                    <a:lstStyle/>
                    <a:p>
                      <a:pPr algn="r"/>
                      <a:r>
                        <a:rPr sz="850" b="0">
                          <a:solidFill>
                            <a:srgbClr val="1A1A1A"/>
                          </a:solidFill>
                          <a:latin typeface="Versos"/>
                        </a:rPr>
                        <a:t>1,43%</a:t>
                      </a:r>
                    </a:p>
                  </a:txBody>
                  <a:tcPr marL="43200" marR="43200" marT="0" marB="0">
                    <a:solidFill>
                      <a:srgbClr val="FFFFFF"/>
                    </a:solidFill>
                  </a:tcPr>
                </a:tc>
                <a:tc>
                  <a:txBody>
                    <a:bodyPr/>
                    <a:lstStyle/>
                    <a:p>
                      <a:pPr algn="r"/>
                      <a:r>
                        <a:rPr sz="850" b="0">
                          <a:solidFill>
                            <a:srgbClr val="1A1A1A"/>
                          </a:solidFill>
                          <a:latin typeface="Versos"/>
                        </a:rPr>
                        <a:t>1,43%</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3,19</a:t>
                      </a:r>
                    </a:p>
                  </a:txBody>
                  <a:tcPr marL="43200" marR="43200" marT="0" marB="0">
                    <a:solidFill>
                      <a:srgbClr val="FFFFFF"/>
                    </a:solidFill>
                  </a:tcPr>
                </a:tc>
              </a:tr>
              <a:tr h="165600">
                <a:tc>
                  <a:txBody>
                    <a:bodyPr/>
                    <a:lstStyle/>
                    <a:p>
                      <a:pPr algn="l"/>
                      <a:r>
                        <a:rPr sz="850" b="1">
                          <a:solidFill>
                            <a:srgbClr val="1A1A1A"/>
                          </a:solidFill>
                          <a:latin typeface="Versos"/>
                        </a:rPr>
                        <a:t>Papel e Celulose</a:t>
                      </a:r>
                    </a:p>
                  </a:txBody>
                  <a:tcPr marL="43200" marR="43200" marT="0" marB="0">
                    <a:solidFill>
                      <a:srgbClr val="F4F7F9"/>
                    </a:solidFill>
                  </a:tcPr>
                </a:tc>
                <a:tc>
                  <a:txBody>
                    <a:bodyPr/>
                    <a:lstStyle/>
                    <a:p>
                      <a:pPr algn="r"/>
                      <a:r>
                        <a:rPr sz="850" b="0">
                          <a:solidFill>
                            <a:srgbClr val="1A1A1A"/>
                          </a:solidFill>
                          <a:latin typeface="Versos"/>
                        </a:rPr>
                        <a:t>5.316</a:t>
                      </a:r>
                    </a:p>
                  </a:txBody>
                  <a:tcPr marL="43200" marR="43200" marT="0" marB="0">
                    <a:solidFill>
                      <a:srgbClr val="F4F7F9"/>
                    </a:solidFill>
                  </a:tcPr>
                </a:tc>
                <a:tc>
                  <a:txBody>
                    <a:bodyPr/>
                    <a:lstStyle/>
                    <a:p>
                      <a:pPr algn="r"/>
                      <a:r>
                        <a:rPr sz="850" b="0">
                          <a:solidFill>
                            <a:srgbClr val="1A1A1A"/>
                          </a:solidFill>
                          <a:latin typeface="Versos"/>
                        </a:rPr>
                        <a:t>1,20%</a:t>
                      </a:r>
                    </a:p>
                  </a:txBody>
                  <a:tcPr marL="43200" marR="43200" marT="0" marB="0">
                    <a:solidFill>
                      <a:srgbClr val="F4F7F9"/>
                    </a:solidFill>
                  </a:tcPr>
                </a:tc>
                <a:tc>
                  <a:txBody>
                    <a:bodyPr/>
                    <a:lstStyle/>
                    <a:p>
                      <a:pPr algn="r"/>
                      <a:r>
                        <a:rPr sz="850" b="0">
                          <a:solidFill>
                            <a:srgbClr val="1A1A1A"/>
                          </a:solidFill>
                          <a:latin typeface="Versos"/>
                        </a:rPr>
                        <a:t>0,52%</a:t>
                      </a:r>
                    </a:p>
                  </a:txBody>
                  <a:tcPr marL="43200" marR="43200" marT="0" marB="0">
                    <a:solidFill>
                      <a:srgbClr val="F4F7F9"/>
                    </a:solidFill>
                  </a:tcPr>
                </a:tc>
                <a:tc>
                  <a:txBody>
                    <a:bodyPr/>
                    <a:lstStyle/>
                    <a:p>
                      <a:pPr algn="r"/>
                      <a:r>
                        <a:rPr sz="850" b="0">
                          <a:solidFill>
                            <a:srgbClr val="1A1A1A"/>
                          </a:solidFill>
                          <a:latin typeface="Versos"/>
                        </a:rPr>
                        <a:t>0,49%</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4,39</a:t>
                      </a:r>
                    </a:p>
                  </a:txBody>
                  <a:tcPr marL="43200" marR="43200" marT="0" marB="0">
                    <a:solidFill>
                      <a:srgbClr val="F4F7F9"/>
                    </a:solidFill>
                  </a:tcPr>
                </a:tc>
              </a:tr>
              <a:tr h="165600">
                <a:tc>
                  <a:txBody>
                    <a:bodyPr/>
                    <a:lstStyle/>
                    <a:p>
                      <a:pPr algn="l"/>
                      <a:r>
                        <a:rPr sz="850" b="1">
                          <a:solidFill>
                            <a:srgbClr val="1A1A1A"/>
                          </a:solidFill>
                          <a:latin typeface="Versos"/>
                        </a:rPr>
                        <a:t>Materiais de construção e agregados</a:t>
                      </a:r>
                    </a:p>
                  </a:txBody>
                  <a:tcPr marL="43200" marR="43200" marT="0" marB="0">
                    <a:solidFill>
                      <a:srgbClr val="FFFFFF"/>
                    </a:solidFill>
                  </a:tcPr>
                </a:tc>
                <a:tc>
                  <a:txBody>
                    <a:bodyPr/>
                    <a:lstStyle/>
                    <a:p>
                      <a:pPr algn="r"/>
                      <a:r>
                        <a:rPr sz="850" b="0">
                          <a:solidFill>
                            <a:srgbClr val="1A1A1A"/>
                          </a:solidFill>
                          <a:latin typeface="Versos"/>
                        </a:rPr>
                        <a:t>3.551</a:t>
                      </a:r>
                    </a:p>
                  </a:txBody>
                  <a:tcPr marL="43200" marR="43200" marT="0" marB="0">
                    <a:solidFill>
                      <a:srgbClr val="FFFFFF"/>
                    </a:solidFill>
                  </a:tcPr>
                </a:tc>
                <a:tc>
                  <a:txBody>
                    <a:bodyPr/>
                    <a:lstStyle/>
                    <a:p>
                      <a:pPr algn="r"/>
                      <a:r>
                        <a:rPr sz="850" b="0">
                          <a:solidFill>
                            <a:srgbClr val="1A1A1A"/>
                          </a:solidFill>
                          <a:latin typeface="Versos"/>
                        </a:rPr>
                        <a:t>0,80%</a:t>
                      </a:r>
                    </a:p>
                  </a:txBody>
                  <a:tcPr marL="43200" marR="43200" marT="0" marB="0">
                    <a:solidFill>
                      <a:srgbClr val="FFFFFF"/>
                    </a:solidFill>
                  </a:tcPr>
                </a:tc>
                <a:tc>
                  <a:txBody>
                    <a:bodyPr/>
                    <a:lstStyle/>
                    <a:p>
                      <a:pPr algn="r"/>
                      <a:r>
                        <a:rPr sz="850" b="0">
                          <a:solidFill>
                            <a:srgbClr val="1A1A1A"/>
                          </a:solidFill>
                          <a:latin typeface="Versos"/>
                        </a:rPr>
                        <a:t>0,88%</a:t>
                      </a:r>
                    </a:p>
                  </a:txBody>
                  <a:tcPr marL="43200" marR="43200" marT="0" marB="0">
                    <a:solidFill>
                      <a:srgbClr val="FFFFFF"/>
                    </a:solidFill>
                  </a:tcPr>
                </a:tc>
                <a:tc>
                  <a:txBody>
                    <a:bodyPr/>
                    <a:lstStyle/>
                    <a:p>
                      <a:pPr algn="r"/>
                      <a:r>
                        <a:rPr sz="850" b="0">
                          <a:solidFill>
                            <a:srgbClr val="1A1A1A"/>
                          </a:solidFill>
                          <a:latin typeface="Versos"/>
                        </a:rPr>
                        <a:t>0,93%</a:t>
                      </a:r>
                    </a:p>
                  </a:txBody>
                  <a:tcPr marL="43200" marR="43200" marT="0" marB="0">
                    <a:solidFill>
                      <a:srgbClr val="FFFFFF"/>
                    </a:solidFill>
                  </a:tcPr>
                </a:tc>
                <a:tc>
                  <a:txBody>
                    <a:bodyPr/>
                    <a:lstStyle/>
                    <a:p>
                      <a:pPr algn="r"/>
                      <a:r>
                        <a:rPr sz="850" b="0">
                          <a:solidFill>
                            <a:srgbClr val="1A1A1A"/>
                          </a:solidFill>
                          <a:latin typeface="Versos"/>
                        </a:rPr>
                        <a:t>-0,06%</a:t>
                      </a:r>
                    </a:p>
                  </a:txBody>
                  <a:tcPr marL="43200" marR="43200" marT="0" marB="0">
                    <a:solidFill>
                      <a:srgbClr val="FFFFFF"/>
                    </a:solidFill>
                  </a:tcPr>
                </a:tc>
                <a:tc>
                  <a:txBody>
                    <a:bodyPr/>
                    <a:lstStyle/>
                    <a:p>
                      <a:pPr algn="r"/>
                      <a:r>
                        <a:rPr sz="850" b="0">
                          <a:solidFill>
                            <a:srgbClr val="1A1A1A"/>
                          </a:solidFill>
                          <a:latin typeface="Versos"/>
                        </a:rPr>
                        <a:t>3,46</a:t>
                      </a:r>
                    </a:p>
                  </a:txBody>
                  <a:tcPr marL="43200" marR="43200" marT="0" marB="0">
                    <a:solidFill>
                      <a:srgbClr val="FFFFFF"/>
                    </a:solidFill>
                  </a:tcPr>
                </a:tc>
              </a:tr>
              <a:tr h="165600">
                <a:tc>
                  <a:txBody>
                    <a:bodyPr/>
                    <a:lstStyle/>
                    <a:p>
                      <a:pPr algn="l"/>
                      <a:r>
                        <a:rPr sz="850" b="1">
                          <a:solidFill>
                            <a:srgbClr val="1A1A1A"/>
                          </a:solidFill>
                          <a:latin typeface="Versos"/>
                        </a:rPr>
                        <a:t>Química e petroquímica</a:t>
                      </a:r>
                    </a:p>
                  </a:txBody>
                  <a:tcPr marL="43200" marR="43200" marT="0" marB="0">
                    <a:solidFill>
                      <a:srgbClr val="F4F7F9"/>
                    </a:solidFill>
                  </a:tcPr>
                </a:tc>
                <a:tc>
                  <a:txBody>
                    <a:bodyPr/>
                    <a:lstStyle/>
                    <a:p>
                      <a:pPr algn="r"/>
                      <a:r>
                        <a:rPr sz="850" b="0">
                          <a:solidFill>
                            <a:srgbClr val="1A1A1A"/>
                          </a:solidFill>
                          <a:latin typeface="Versos"/>
                        </a:rPr>
                        <a:t>2.512</a:t>
                      </a:r>
                    </a:p>
                  </a:txBody>
                  <a:tcPr marL="43200" marR="43200" marT="0" marB="0">
                    <a:solidFill>
                      <a:srgbClr val="F4F7F9"/>
                    </a:solidFill>
                  </a:tcPr>
                </a:tc>
                <a:tc>
                  <a:txBody>
                    <a:bodyPr/>
                    <a:lstStyle/>
                    <a:p>
                      <a:pPr algn="r"/>
                      <a:r>
                        <a:rPr sz="850" b="0">
                          <a:solidFill>
                            <a:srgbClr val="1A1A1A"/>
                          </a:solidFill>
                          <a:latin typeface="Versos"/>
                        </a:rPr>
                        <a:t>0,57%</a:t>
                      </a:r>
                    </a:p>
                  </a:txBody>
                  <a:tcPr marL="43200" marR="43200" marT="0" marB="0">
                    <a:solidFill>
                      <a:srgbClr val="F4F7F9"/>
                    </a:solidFill>
                  </a:tcPr>
                </a:tc>
                <a:tc>
                  <a:txBody>
                    <a:bodyPr/>
                    <a:lstStyle/>
                    <a:p>
                      <a:pPr algn="r"/>
                      <a:r>
                        <a:rPr sz="850" b="0">
                          <a:solidFill>
                            <a:srgbClr val="1A1A1A"/>
                          </a:solidFill>
                          <a:latin typeface="Versos"/>
                        </a:rPr>
                        <a:t>1,47%</a:t>
                      </a:r>
                    </a:p>
                  </a:txBody>
                  <a:tcPr marL="43200" marR="43200" marT="0" marB="0">
                    <a:solidFill>
                      <a:srgbClr val="F4F7F9"/>
                    </a:solidFill>
                  </a:tcPr>
                </a:tc>
                <a:tc>
                  <a:txBody>
                    <a:bodyPr/>
                    <a:lstStyle/>
                    <a:p>
                      <a:pPr algn="r"/>
                      <a:r>
                        <a:rPr sz="850" b="0">
                          <a:solidFill>
                            <a:srgbClr val="1A1A1A"/>
                          </a:solidFill>
                          <a:latin typeface="Versos"/>
                        </a:rPr>
                        <a:t>1,47%</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3,48</a:t>
                      </a:r>
                    </a:p>
                  </a:txBody>
                  <a:tcPr marL="43200" marR="43200" marT="0" marB="0">
                    <a:solidFill>
                      <a:srgbClr val="F4F7F9"/>
                    </a:solidFill>
                  </a:tcPr>
                </a:tc>
              </a:tr>
              <a:tr h="165600">
                <a:tc>
                  <a:txBody>
                    <a:bodyPr/>
                    <a:lstStyle/>
                    <a:p>
                      <a:pPr algn="l"/>
                      <a:r>
                        <a:rPr sz="850" b="1">
                          <a:solidFill>
                            <a:srgbClr val="1A1A1A"/>
                          </a:solidFill>
                          <a:latin typeface="Versos"/>
                        </a:rPr>
                        <a:t>Alimentos e bebidas</a:t>
                      </a:r>
                    </a:p>
                  </a:txBody>
                  <a:tcPr marL="43200" marR="43200" marT="0" marB="0">
                    <a:solidFill>
                      <a:srgbClr val="FFFFFF"/>
                    </a:solidFill>
                  </a:tcPr>
                </a:tc>
                <a:tc>
                  <a:txBody>
                    <a:bodyPr/>
                    <a:lstStyle/>
                    <a:p>
                      <a:pPr algn="r"/>
                      <a:r>
                        <a:rPr sz="850" b="0">
                          <a:solidFill>
                            <a:srgbClr val="1A1A1A"/>
                          </a:solidFill>
                          <a:latin typeface="Versos"/>
                        </a:rPr>
                        <a:t>1.739</a:t>
                      </a:r>
                    </a:p>
                  </a:txBody>
                  <a:tcPr marL="43200" marR="43200" marT="0" marB="0">
                    <a:solidFill>
                      <a:srgbClr val="FFFFFF"/>
                    </a:solidFill>
                  </a:tcPr>
                </a:tc>
                <a:tc>
                  <a:txBody>
                    <a:bodyPr/>
                    <a:lstStyle/>
                    <a:p>
                      <a:pPr algn="r"/>
                      <a:r>
                        <a:rPr sz="850" b="0">
                          <a:solidFill>
                            <a:srgbClr val="1A1A1A"/>
                          </a:solidFill>
                          <a:latin typeface="Versos"/>
                        </a:rPr>
                        <a:t>0,39%</a:t>
                      </a:r>
                    </a:p>
                  </a:txBody>
                  <a:tcPr marL="43200" marR="43200" marT="0" marB="0">
                    <a:solidFill>
                      <a:srgbClr val="FFFFFF"/>
                    </a:solidFill>
                  </a:tcPr>
                </a:tc>
                <a:tc>
                  <a:txBody>
                    <a:bodyPr/>
                    <a:lstStyle/>
                    <a:p>
                      <a:pPr algn="r"/>
                      <a:r>
                        <a:rPr sz="850" b="0">
                          <a:solidFill>
                            <a:srgbClr val="1A1A1A"/>
                          </a:solidFill>
                          <a:latin typeface="Versos"/>
                        </a:rPr>
                        <a:t>1,51%</a:t>
                      </a:r>
                    </a:p>
                  </a:txBody>
                  <a:tcPr marL="43200" marR="43200" marT="0" marB="0">
                    <a:solidFill>
                      <a:srgbClr val="FFFFFF"/>
                    </a:solidFill>
                  </a:tcPr>
                </a:tc>
                <a:tc>
                  <a:txBody>
                    <a:bodyPr/>
                    <a:lstStyle/>
                    <a:p>
                      <a:pPr algn="r"/>
                      <a:r>
                        <a:rPr sz="850" b="0">
                          <a:solidFill>
                            <a:srgbClr val="1A1A1A"/>
                          </a:solidFill>
                          <a:latin typeface="Versos"/>
                        </a:rPr>
                        <a:t>1,46%</a:t>
                      </a:r>
                    </a:p>
                  </a:txBody>
                  <a:tcPr marL="43200" marR="43200" marT="0" marB="0">
                    <a:solidFill>
                      <a:srgbClr val="FFFFFF"/>
                    </a:solidFill>
                  </a:tcPr>
                </a:tc>
                <a:tc>
                  <a:txBody>
                    <a:bodyPr/>
                    <a:lstStyle/>
                    <a:p>
                      <a:pPr algn="r"/>
                      <a:r>
                        <a:rPr sz="850" b="0">
                          <a:solidFill>
                            <a:srgbClr val="1A1A1A"/>
                          </a:solidFill>
                          <a:latin typeface="Versos"/>
                        </a:rPr>
                        <a:t>0,05%</a:t>
                      </a:r>
                    </a:p>
                  </a:txBody>
                  <a:tcPr marL="43200" marR="43200" marT="0" marB="0">
                    <a:solidFill>
                      <a:srgbClr val="FFFFFF"/>
                    </a:solidFill>
                  </a:tcPr>
                </a:tc>
                <a:tc>
                  <a:txBody>
                    <a:bodyPr/>
                    <a:lstStyle/>
                    <a:p>
                      <a:pPr algn="r"/>
                      <a:r>
                        <a:rPr sz="850" b="0">
                          <a:solidFill>
                            <a:srgbClr val="1A1A1A"/>
                          </a:solidFill>
                          <a:latin typeface="Versos"/>
                        </a:rPr>
                        <a:t>0,91</a:t>
                      </a:r>
                    </a:p>
                  </a:txBody>
                  <a:tcPr marL="43200" marR="43200" marT="0" marB="0">
                    <a:solidFill>
                      <a:srgbClr val="FFFFFF"/>
                    </a:solidFill>
                  </a:tcPr>
                </a:tc>
              </a:tr>
              <a:tr h="165600">
                <a:tc>
                  <a:txBody>
                    <a:bodyPr/>
                    <a:lstStyle/>
                    <a:p>
                      <a:pPr algn="l"/>
                      <a:r>
                        <a:rPr sz="850" b="1">
                          <a:solidFill>
                            <a:srgbClr val="1A1A1A"/>
                          </a:solidFill>
                          <a:latin typeface="Versos"/>
                        </a:rPr>
                        <a:t>Têxtil e calçados</a:t>
                      </a:r>
                    </a:p>
                  </a:txBody>
                  <a:tcPr marL="43200" marR="43200" marT="0" marB="0">
                    <a:solidFill>
                      <a:srgbClr val="F4F7F9"/>
                    </a:solidFill>
                  </a:tcPr>
                </a:tc>
                <a:tc>
                  <a:txBody>
                    <a:bodyPr/>
                    <a:lstStyle/>
                    <a:p>
                      <a:pPr algn="r"/>
                      <a:r>
                        <a:rPr sz="850" b="0">
                          <a:solidFill>
                            <a:srgbClr val="1A1A1A"/>
                          </a:solidFill>
                          <a:latin typeface="Versos"/>
                        </a:rPr>
                        <a:t>261</a:t>
                      </a:r>
                    </a:p>
                  </a:txBody>
                  <a:tcPr marL="43200" marR="43200" marT="0" marB="0">
                    <a:solidFill>
                      <a:srgbClr val="F4F7F9"/>
                    </a:solidFill>
                  </a:tcPr>
                </a:tc>
                <a:tc>
                  <a:txBody>
                    <a:bodyPr/>
                    <a:lstStyle/>
                    <a:p>
                      <a:pPr algn="r"/>
                      <a:r>
                        <a:rPr sz="850" b="0">
                          <a:solidFill>
                            <a:srgbClr val="1A1A1A"/>
                          </a:solidFill>
                          <a:latin typeface="Versos"/>
                        </a:rPr>
                        <a:t>0,06%</a:t>
                      </a:r>
                    </a:p>
                  </a:txBody>
                  <a:tcPr marL="43200" marR="43200" marT="0" marB="0">
                    <a:solidFill>
                      <a:srgbClr val="F4F7F9"/>
                    </a:solidFill>
                  </a:tcPr>
                </a:tc>
                <a:tc>
                  <a:txBody>
                    <a:bodyPr/>
                    <a:lstStyle/>
                    <a:p>
                      <a:pPr algn="r"/>
                      <a:r>
                        <a:rPr sz="850" b="0">
                          <a:solidFill>
                            <a:srgbClr val="1A1A1A"/>
                          </a:solidFill>
                          <a:latin typeface="Versos"/>
                        </a:rPr>
                        <a:t>0,98%</a:t>
                      </a:r>
                    </a:p>
                  </a:txBody>
                  <a:tcPr marL="43200" marR="43200" marT="0" marB="0">
                    <a:solidFill>
                      <a:srgbClr val="F4F7F9"/>
                    </a:solidFill>
                  </a:tcPr>
                </a:tc>
                <a:tc>
                  <a:txBody>
                    <a:bodyPr/>
                    <a:lstStyle/>
                    <a:p>
                      <a:pPr algn="r"/>
                      <a:r>
                        <a:rPr sz="850" b="0">
                          <a:solidFill>
                            <a:srgbClr val="1A1A1A"/>
                          </a:solidFill>
                          <a:latin typeface="Versos"/>
                        </a:rPr>
                        <a:t>0,92%</a:t>
                      </a:r>
                    </a:p>
                  </a:txBody>
                  <a:tcPr marL="43200" marR="43200" marT="0" marB="0">
                    <a:solidFill>
                      <a:srgbClr val="F4F7F9"/>
                    </a:solidFill>
                  </a:tcPr>
                </a:tc>
                <a:tc>
                  <a:txBody>
                    <a:bodyPr/>
                    <a:lstStyle/>
                    <a:p>
                      <a:pPr algn="r"/>
                      <a:r>
                        <a:rPr sz="850" b="0">
                          <a:solidFill>
                            <a:srgbClr val="1A1A1A"/>
                          </a:solidFill>
                          <a:latin typeface="Versos"/>
                        </a:rPr>
                        <a:t>0,06%</a:t>
                      </a:r>
                    </a:p>
                  </a:txBody>
                  <a:tcPr marL="43200" marR="43200" marT="0" marB="0">
                    <a:solidFill>
                      <a:srgbClr val="F4F7F9"/>
                    </a:solidFill>
                  </a:tcPr>
                </a:tc>
                <a:tc>
                  <a:txBody>
                    <a:bodyPr/>
                    <a:lstStyle/>
                    <a:p>
                      <a:pPr algn="r"/>
                      <a:r>
                        <a:rPr sz="850" b="0">
                          <a:solidFill>
                            <a:srgbClr val="1A1A1A"/>
                          </a:solidFill>
                          <a:latin typeface="Versos"/>
                        </a:rPr>
                        <a:t>2,36</a:t>
                      </a:r>
                    </a:p>
                  </a:txBody>
                  <a:tcPr marL="43200" marR="43200" marT="0" marB="0">
                    <a:solidFill>
                      <a:srgbClr val="F4F7F9"/>
                    </a:solidFill>
                  </a:tcPr>
                </a:tc>
              </a:tr>
              <a:tr h="165600">
                <a:tc>
                  <a:txBody>
                    <a:bodyPr/>
                    <a:lstStyle/>
                    <a:p>
                      <a:pPr algn="l"/>
                      <a:r>
                        <a:rPr sz="850" b="1">
                          <a:solidFill>
                            <a:srgbClr val="1A1A1A"/>
                          </a:solidFill>
                          <a:latin typeface="Versos"/>
                        </a:rPr>
                        <a:t>Mineração</a:t>
                      </a:r>
                    </a:p>
                  </a:txBody>
                  <a:tcPr marL="43200" marR="43200" marT="0" marB="0">
                    <a:solidFill>
                      <a:srgbClr val="FFFFFF"/>
                    </a:solidFill>
                  </a:tcPr>
                </a:tc>
                <a:tc>
                  <a:txBody>
                    <a:bodyPr/>
                    <a:lstStyle/>
                    <a:p>
                      <a:pPr algn="r"/>
                      <a:r>
                        <a:rPr sz="850" b="0">
                          <a:solidFill>
                            <a:srgbClr val="1A1A1A"/>
                          </a:solidFill>
                          <a:latin typeface="Versos"/>
                        </a:rPr>
                        <a:t>1.082</a:t>
                      </a:r>
                    </a:p>
                  </a:txBody>
                  <a:tcPr marL="43200" marR="43200" marT="0" marB="0">
                    <a:solidFill>
                      <a:srgbClr val="FFFFFF"/>
                    </a:solidFill>
                  </a:tcPr>
                </a:tc>
                <a:tc>
                  <a:txBody>
                    <a:bodyPr/>
                    <a:lstStyle/>
                    <a:p>
                      <a:pPr algn="r"/>
                      <a:r>
                        <a:rPr sz="850" b="0">
                          <a:solidFill>
                            <a:srgbClr val="1A1A1A"/>
                          </a:solidFill>
                          <a:latin typeface="Versos"/>
                        </a:rPr>
                        <a:t>0,24%</a:t>
                      </a:r>
                    </a:p>
                  </a:txBody>
                  <a:tcPr marL="43200" marR="43200" marT="0" marB="0">
                    <a:solidFill>
                      <a:srgbClr val="FFFFFF"/>
                    </a:solidFill>
                  </a:tcPr>
                </a:tc>
                <a:tc>
                  <a:txBody>
                    <a:bodyPr/>
                    <a:lstStyle/>
                    <a:p>
                      <a:pPr algn="r"/>
                      <a:r>
                        <a:rPr sz="850" b="0">
                          <a:solidFill>
                            <a:srgbClr val="1A1A1A"/>
                          </a:solidFill>
                          <a:latin typeface="Versos"/>
                        </a:rPr>
                        <a:t>0,71%</a:t>
                      </a:r>
                    </a:p>
                  </a:txBody>
                  <a:tcPr marL="43200" marR="43200" marT="0" marB="0">
                    <a:solidFill>
                      <a:srgbClr val="FFFFFF"/>
                    </a:solidFill>
                  </a:tcPr>
                </a:tc>
                <a:tc>
                  <a:txBody>
                    <a:bodyPr/>
                    <a:lstStyle/>
                    <a:p>
                      <a:pPr algn="r"/>
                      <a:r>
                        <a:rPr sz="850" b="0">
                          <a:solidFill>
                            <a:srgbClr val="1A1A1A"/>
                          </a:solidFill>
                          <a:latin typeface="Versos"/>
                        </a:rPr>
                        <a:t>0,72%</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2,13</a:t>
                      </a:r>
                    </a:p>
                  </a:txBody>
                  <a:tcPr marL="43200" marR="43200" marT="0" marB="0">
                    <a:solidFill>
                      <a:srgbClr val="FFFFFF"/>
                    </a:solidFill>
                  </a:tcPr>
                </a:tc>
              </a:tr>
              <a:tr h="165600">
                <a:tc>
                  <a:txBody>
                    <a:bodyPr/>
                    <a:lstStyle/>
                    <a:p>
                      <a:pPr algn="l"/>
                      <a:r>
                        <a:rPr sz="850" b="1">
                          <a:solidFill>
                            <a:srgbClr val="1A1A1A"/>
                          </a:solidFill>
                          <a:latin typeface="Versos"/>
                        </a:rPr>
                        <a:t>Construção civil</a:t>
                      </a:r>
                    </a:p>
                  </a:txBody>
                  <a:tcPr marL="43200" marR="43200" marT="0" marB="0">
                    <a:solidFill>
                      <a:srgbClr val="F4F7F9"/>
                    </a:solidFill>
                  </a:tcPr>
                </a:tc>
                <a:tc>
                  <a:txBody>
                    <a:bodyPr/>
                    <a:lstStyle/>
                    <a:p>
                      <a:pPr algn="r"/>
                      <a:r>
                        <a:rPr sz="850" b="0">
                          <a:solidFill>
                            <a:srgbClr val="1A1A1A"/>
                          </a:solidFill>
                          <a:latin typeface="Versos"/>
                        </a:rPr>
                        <a:t>51</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0,93%</a:t>
                      </a:r>
                    </a:p>
                  </a:txBody>
                  <a:tcPr marL="43200" marR="43200" marT="0" marB="0">
                    <a:solidFill>
                      <a:srgbClr val="F4F7F9"/>
                    </a:solidFill>
                  </a:tcPr>
                </a:tc>
                <a:tc>
                  <a:txBody>
                    <a:bodyPr/>
                    <a:lstStyle/>
                    <a:p>
                      <a:pPr algn="r"/>
                      <a:r>
                        <a:rPr sz="850" b="0">
                          <a:solidFill>
                            <a:srgbClr val="1A1A1A"/>
                          </a:solidFill>
                          <a:latin typeface="Versos"/>
                        </a:rPr>
                        <a:t>0,92%</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0,90</a:t>
                      </a:r>
                    </a:p>
                  </a:txBody>
                  <a:tcPr marL="43200" marR="43200" marT="0" marB="0">
                    <a:solidFill>
                      <a:srgbClr val="F4F7F9"/>
                    </a:solidFill>
                  </a:tcPr>
                </a:tc>
              </a:tr>
              <a:tr h="165600">
                <a:tc>
                  <a:txBody>
                    <a:bodyPr/>
                    <a:lstStyle/>
                    <a:p>
                      <a:pPr algn="l"/>
                      <a:r>
                        <a:rPr sz="850" b="1">
                          <a:solidFill>
                            <a:srgbClr val="1A1A1A"/>
                          </a:solidFill>
                          <a:latin typeface="Versos"/>
                        </a:rPr>
                        <a:t>Total</a:t>
                      </a:r>
                    </a:p>
                  </a:txBody>
                  <a:tcPr marL="43200" marR="43200" marT="0" marB="0">
                    <a:solidFill>
                      <a:srgbClr val="FFFFFF"/>
                    </a:solidFill>
                  </a:tcPr>
                </a:tc>
                <a:tc>
                  <a:txBody>
                    <a:bodyPr/>
                    <a:lstStyle/>
                    <a:p>
                      <a:pPr algn="r"/>
                      <a:r>
                        <a:rPr sz="850" b="0">
                          <a:solidFill>
                            <a:srgbClr val="1A1A1A"/>
                          </a:solidFill>
                          <a:latin typeface="Versos"/>
                        </a:rPr>
                        <a:t>443.345</a:t>
                      </a:r>
                    </a:p>
                  </a:txBody>
                  <a:tcPr marL="43200" marR="43200" marT="0" marB="0">
                    <a:solidFill>
                      <a:srgbClr val="FFFFFF"/>
                    </a:solidFill>
                  </a:tcPr>
                </a:tc>
                <a:tc>
                  <a:txBody>
                    <a:bodyPr/>
                    <a:lstStyle/>
                    <a:p>
                      <a:pPr algn="r"/>
                      <a:r>
                        <a:rPr sz="850" b="0">
                          <a:solidFill>
                            <a:srgbClr val="1A1A1A"/>
                          </a:solidFill>
                          <a:latin typeface="Versos"/>
                        </a:rPr>
                        <a:t>100,00%</a:t>
                      </a:r>
                    </a:p>
                  </a:txBody>
                  <a:tcPr marL="43200" marR="43200" marT="0" marB="0">
                    <a:solidFill>
                      <a:srgbClr val="FFFFFF"/>
                    </a:solidFill>
                  </a:tcPr>
                </a:tc>
                <a:tc>
                  <a:txBody>
                    <a:bodyPr/>
                    <a:lstStyle/>
                    <a:p>
                      <a:pPr algn="r"/>
                      <a:r>
                        <a:rPr sz="850" b="0">
                          <a:solidFill>
                            <a:srgbClr val="1A1A1A"/>
                          </a:solidFill>
                          <a:latin typeface="Versos"/>
                        </a:rPr>
                        <a:t>1,22%</a:t>
                      </a:r>
                    </a:p>
                  </a:txBody>
                  <a:tcPr marL="43200" marR="43200" marT="0" marB="0">
                    <a:solidFill>
                      <a:srgbClr val="FFFFFF"/>
                    </a:solidFill>
                  </a:tcPr>
                </a:tc>
                <a:tc>
                  <a:txBody>
                    <a:bodyPr/>
                    <a:lstStyle/>
                    <a:p>
                      <a:pPr algn="r"/>
                      <a:r>
                        <a:rPr sz="850" b="0">
                          <a:solidFill>
                            <a:srgbClr val="1A1A1A"/>
                          </a:solidFill>
                          <a:latin typeface="Versos"/>
                        </a:rPr>
                        <a:t>1,19%</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2,71</a:t>
                      </a:r>
                    </a:p>
                  </a:txBody>
                  <a:tcPr marL="43200" marR="43200" marT="0" marB="0">
                    <a:solidFill>
                      <a:srgbClr val="FFFFFF"/>
                    </a:solidFill>
                  </a:tcPr>
                </a:tc>
              </a:tr>
            </a:tbl>
          </a:graphicData>
        </a:graphic>
      </p:graphicFrame>
      <p:sp>
        <p:nvSpPr>
          <p:cNvPr id="8" name="TextBox 7"/>
          <p:cNvSpPr txBox="1"/>
          <p:nvPr/>
        </p:nvSpPr>
        <p:spPr>
          <a:xfrm>
            <a:off x="540000" y="9756000"/>
            <a:ext cx="6480000" cy="503999"/>
          </a:xfrm>
          <a:prstGeom prst="rect">
            <a:avLst/>
          </a:prstGeom>
          <a:noFill/>
        </p:spPr>
        <p:txBody>
          <a:bodyPr wrap="square" lIns="0" rIns="0" tIns="0" bIns="0">
            <a:spAutoFit/>
          </a:bodyPr>
          <a:lstStyle/>
          <a:p>
            <a:pPr algn="l"/>
            <a:r>
              <a:rPr sz="650" b="0">
                <a:solidFill>
                  <a:srgbClr val="637881"/>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9" name="TextBox 8"/>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3</a:t>
            </a:r>
          </a:p>
        </p:txBody>
      </p:sp>
      <p:sp>
        <p:nvSpPr>
          <p:cNvPr id="10" name="TextBox 9"/>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BVP</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CARACTERÍSTICAS GERAIS DO FUNDO</a:t>
            </a:r>
          </a:p>
        </p:txBody>
      </p:sp>
      <p:graphicFrame>
        <p:nvGraphicFramePr>
          <p:cNvPr id="7" name="Table 6"/>
          <p:cNvGraphicFramePr>
            <a:graphicFrameLocks noGrp="1"/>
          </p:cNvGraphicFramePr>
          <p:nvPr/>
        </p:nvGraphicFramePr>
        <p:xfrm>
          <a:off x="540000" y="1584000"/>
          <a:ext cx="6479999" cy="18720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Gestor</a:t>
                      </a:r>
                    </a:p>
                  </a:txBody>
                  <a:tcPr marL="43200" marR="43200" marT="0" marB="0">
                    <a:solidFill>
                      <a:srgbClr val="FFFFFF"/>
                    </a:solidFill>
                  </a:tcPr>
                </a:tc>
                <a:tc>
                  <a:txBody>
                    <a:bodyPr/>
                    <a:lstStyle/>
                    <a:p>
                      <a:pPr algn="r"/>
                      <a:r>
                        <a:rPr sz="850" b="0">
                          <a:solidFill>
                            <a:srgbClr val="1A1A1A"/>
                          </a:solidFill>
                          <a:latin typeface="Versos"/>
                        </a:rPr>
                        <a:t>Tivio Capital</a:t>
                      </a:r>
                    </a:p>
                  </a:txBody>
                  <a:tcPr marL="43200" marR="43200" marT="0" marB="0">
                    <a:solidFill>
                      <a:srgbClr val="FFFFFF"/>
                    </a:solidFill>
                  </a:tcPr>
                </a:tc>
              </a:tr>
              <a:tr h="187200">
                <a:tc>
                  <a:txBody>
                    <a:bodyPr/>
                    <a:lstStyle/>
                    <a:p>
                      <a:pPr algn="l"/>
                      <a:r>
                        <a:rPr sz="850" b="1">
                          <a:solidFill>
                            <a:srgbClr val="1A1A1A"/>
                          </a:solidFill>
                          <a:latin typeface="Versos"/>
                        </a:rPr>
                        <a:t>Público alvo</a:t>
                      </a:r>
                    </a:p>
                  </a:txBody>
                  <a:tcPr marL="43200" marR="43200" marT="0" marB="0">
                    <a:solidFill>
                      <a:srgbClr val="F4F7F9"/>
                    </a:solidFill>
                  </a:tcPr>
                </a:tc>
                <a:tc>
                  <a:txBody>
                    <a:bodyPr/>
                    <a:lstStyle/>
                    <a:p>
                      <a:pPr algn="r"/>
                      <a:r>
                        <a:rPr sz="850" b="0">
                          <a:solidFill>
                            <a:srgbClr val="1A1A1A"/>
                          </a:solidFill>
                          <a:latin typeface="Versos"/>
                        </a:rPr>
                        <a:t>Investidores em geral</a:t>
                      </a:r>
                    </a:p>
                  </a:txBody>
                  <a:tcPr marL="43200" marR="43200" marT="0" marB="0">
                    <a:solidFill>
                      <a:srgbClr val="F4F7F9"/>
                    </a:solidFill>
                  </a:tcPr>
                </a:tc>
              </a:tr>
              <a:tr h="187200">
                <a:tc>
                  <a:txBody>
                    <a:bodyPr/>
                    <a:lstStyle/>
                    <a:p>
                      <a:pPr algn="l"/>
                      <a:r>
                        <a:rPr sz="850" b="1">
                          <a:solidFill>
                            <a:srgbClr val="1A1A1A"/>
                          </a:solidFill>
                          <a:latin typeface="Versos"/>
                        </a:rPr>
                        <a:t>Benchmark</a:t>
                      </a:r>
                    </a:p>
                  </a:txBody>
                  <a:tcPr marL="43200" marR="43200" marT="0" marB="0">
                    <a:solidFill>
                      <a:srgbClr val="FFFFFF"/>
                    </a:solidFill>
                  </a:tcPr>
                </a:tc>
                <a:tc>
                  <a:txBody>
                    <a:bodyPr/>
                    <a:lstStyle/>
                    <a:p>
                      <a:pPr algn="r"/>
                      <a:r>
                        <a:rPr sz="850" b="0">
                          <a:solidFill>
                            <a:srgbClr val="1A1A1A"/>
                          </a:solidFill>
                          <a:latin typeface="Versos"/>
                        </a:rPr>
                        <a:t>CDI</a:t>
                      </a:r>
                    </a:p>
                  </a:txBody>
                  <a:tcPr marL="43200" marR="43200" marT="0" marB="0">
                    <a:solidFill>
                      <a:srgbClr val="FFFFFF"/>
                    </a:solidFill>
                  </a:tcPr>
                </a:tc>
              </a:tr>
              <a:tr h="187200">
                <a:tc>
                  <a:txBody>
                    <a:bodyPr/>
                    <a:lstStyle/>
                    <a:p>
                      <a:pPr algn="l"/>
                      <a:r>
                        <a:rPr sz="850" b="1">
                          <a:solidFill>
                            <a:srgbClr val="1A1A1A"/>
                          </a:solidFill>
                          <a:latin typeface="Versos"/>
                        </a:rPr>
                        <a:t>Data de início</a:t>
                      </a:r>
                    </a:p>
                  </a:txBody>
                  <a:tcPr marL="43200" marR="43200" marT="0" marB="0">
                    <a:solidFill>
                      <a:srgbClr val="F4F7F9"/>
                    </a:solidFill>
                  </a:tcPr>
                </a:tc>
                <a:tc>
                  <a:txBody>
                    <a:bodyPr/>
                    <a:lstStyle/>
                    <a:p>
                      <a:pPr algn="r"/>
                      <a:r>
                        <a:rPr sz="850" b="0">
                          <a:solidFill>
                            <a:srgbClr val="1A1A1A"/>
                          </a:solidFill>
                          <a:latin typeface="Versos"/>
                        </a:rPr>
                        <a:t>09/07/2024</a:t>
                      </a:r>
                    </a:p>
                  </a:txBody>
                  <a:tcPr marL="43200" marR="43200" marT="0" marB="0">
                    <a:solidFill>
                      <a:srgbClr val="F4F7F9"/>
                    </a:solidFill>
                  </a:tcPr>
                </a:tc>
              </a:tr>
              <a:tr h="187200">
                <a:tc>
                  <a:txBody>
                    <a:bodyPr/>
                    <a:lstStyle/>
                    <a:p>
                      <a:pPr algn="l"/>
                      <a:r>
                        <a:rPr sz="850" b="1">
                          <a:solidFill>
                            <a:srgbClr val="1A1A1A"/>
                          </a:solidFill>
                          <a:latin typeface="Versos"/>
                        </a:rPr>
                        <a:t>Patrimônio líquido</a:t>
                      </a:r>
                    </a:p>
                  </a:txBody>
                  <a:tcPr marL="43200" marR="43200" marT="0" marB="0">
                    <a:solidFill>
                      <a:srgbClr val="FFFFFF"/>
                    </a:solidFill>
                  </a:tcPr>
                </a:tc>
                <a:tc>
                  <a:txBody>
                    <a:bodyPr/>
                    <a:lstStyle/>
                    <a:p>
                      <a:pPr algn="r"/>
                      <a:r>
                        <a:rPr sz="850" b="0">
                          <a:solidFill>
                            <a:srgbClr val="1A1A1A"/>
                          </a:solidFill>
                          <a:latin typeface="Versos"/>
                        </a:rPr>
                        <a:t>R$ 749.130.776,26</a:t>
                      </a:r>
                    </a:p>
                  </a:txBody>
                  <a:tcPr marL="43200" marR="43200" marT="0" marB="0">
                    <a:solidFill>
                      <a:srgbClr val="FFFFFF"/>
                    </a:solidFill>
                  </a:tcPr>
                </a:tc>
              </a:tr>
              <a:tr h="187200">
                <a:tc>
                  <a:txBody>
                    <a:bodyPr/>
                    <a:lstStyle/>
                    <a:p>
                      <a:pPr algn="l"/>
                      <a:r>
                        <a:rPr sz="850" b="1">
                          <a:solidFill>
                            <a:srgbClr val="1A1A1A"/>
                          </a:solidFill>
                          <a:latin typeface="Versos"/>
                        </a:rPr>
                        <a:t>Patrimônio líquido médio (12 meses)</a:t>
                      </a:r>
                    </a:p>
                  </a:txBody>
                  <a:tcPr marL="43200" marR="43200" marT="0" marB="0">
                    <a:solidFill>
                      <a:srgbClr val="F4F7F9"/>
                    </a:solidFill>
                  </a:tcPr>
                </a:tc>
                <a:tc>
                  <a:txBody>
                    <a:bodyPr/>
                    <a:lstStyle/>
                    <a:p>
                      <a:pPr algn="r"/>
                      <a:r>
                        <a:rPr sz="850" b="0">
                          <a:solidFill>
                            <a:srgbClr val="1A1A1A"/>
                          </a:solidFill>
                          <a:latin typeface="Versos"/>
                        </a:rPr>
                        <a:t>R$ 761.087.741,99</a:t>
                      </a:r>
                    </a:p>
                  </a:txBody>
                  <a:tcPr marL="43200" marR="43200" marT="0" marB="0">
                    <a:solidFill>
                      <a:srgbClr val="F4F7F9"/>
                    </a:solidFill>
                  </a:tcPr>
                </a:tc>
              </a:tr>
              <a:tr h="187200">
                <a:tc>
                  <a:txBody>
                    <a:bodyPr/>
                    <a:lstStyle/>
                    <a:p>
                      <a:pPr algn="l"/>
                      <a:r>
                        <a:rPr sz="850" b="1">
                          <a:solidFill>
                            <a:srgbClr val="1A1A1A"/>
                          </a:solidFill>
                          <a:latin typeface="Versos"/>
                        </a:rPr>
                        <a:t>Taxa global</a:t>
                      </a:r>
                    </a:p>
                  </a:txBody>
                  <a:tcPr marL="43200" marR="43200" marT="0" marB="0">
                    <a:solidFill>
                      <a:srgbClr val="FFFFFF"/>
                    </a:solidFill>
                  </a:tcPr>
                </a:tc>
                <a:tc>
                  <a:txBody>
                    <a:bodyPr/>
                    <a:lstStyle/>
                    <a:p>
                      <a:pPr algn="r"/>
                      <a:r>
                        <a:rPr sz="850" b="0">
                          <a:solidFill>
                            <a:srgbClr val="1A1A1A"/>
                          </a:solidFill>
                          <a:latin typeface="Versos"/>
                        </a:rPr>
                        <a:t>0,29% a.a.</a:t>
                      </a:r>
                    </a:p>
                  </a:txBody>
                  <a:tcPr marL="43200" marR="43200" marT="0" marB="0">
                    <a:solidFill>
                      <a:srgbClr val="FFFFFF"/>
                    </a:solidFill>
                  </a:tcPr>
                </a:tc>
              </a:tr>
              <a:tr h="187200">
                <a:tc>
                  <a:txBody>
                    <a:bodyPr/>
                    <a:lstStyle/>
                    <a:p>
                      <a:pPr algn="l"/>
                      <a:r>
                        <a:rPr sz="850" b="1">
                          <a:solidFill>
                            <a:srgbClr val="1A1A1A"/>
                          </a:solidFill>
                          <a:latin typeface="Versos"/>
                        </a:rPr>
                        <a:t>Taxa de performance</a:t>
                      </a:r>
                    </a:p>
                  </a:txBody>
                  <a:tcPr marL="43200" marR="43200" marT="0" marB="0">
                    <a:solidFill>
                      <a:srgbClr val="F4F7F9"/>
                    </a:solidFill>
                  </a:tcPr>
                </a:tc>
                <a:tc>
                  <a:txBody>
                    <a:bodyPr/>
                    <a:lstStyle/>
                    <a:p>
                      <a:pPr algn="r"/>
                      <a:r>
                        <a:rPr sz="850" b="0">
                          <a:solidFill>
                            <a:srgbClr val="1A1A1A"/>
                          </a:solidFill>
                          <a:latin typeface="Versos"/>
                        </a:rPr>
                        <a:t>Não há</a:t>
                      </a:r>
                    </a:p>
                  </a:txBody>
                  <a:tcPr marL="43200" marR="43200" marT="0" marB="0">
                    <a:solidFill>
                      <a:srgbClr val="F4F7F9"/>
                    </a:solidFill>
                  </a:tcPr>
                </a:tc>
              </a:tr>
              <a:tr h="187200">
                <a:tc>
                  <a:txBody>
                    <a:bodyPr/>
                    <a:lstStyle/>
                    <a:p>
                      <a:pPr algn="l"/>
                      <a:r>
                        <a:rPr sz="850" b="1">
                          <a:solidFill>
                            <a:srgbClr val="1A1A1A"/>
                          </a:solidFill>
                          <a:latin typeface="Versos"/>
                        </a:rPr>
                        <a:t>Carrego da carteira</a:t>
                      </a:r>
                    </a:p>
                  </a:txBody>
                  <a:tcPr marL="43200" marR="43200" marT="0" marB="0">
                    <a:solidFill>
                      <a:srgbClr val="FFFFFF"/>
                    </a:solidFill>
                  </a:tcPr>
                </a:tc>
                <a:tc>
                  <a:txBody>
                    <a:bodyPr/>
                    <a:lstStyle/>
                    <a:p>
                      <a:pPr algn="r"/>
                      <a:r>
                        <a:rPr sz="850" b="0">
                          <a:solidFill>
                            <a:srgbClr val="1A1A1A"/>
                          </a:solidFill>
                          <a:latin typeface="Versos"/>
                        </a:rPr>
                        <a:t>CDI +0,39%</a:t>
                      </a:r>
                    </a:p>
                  </a:txBody>
                  <a:tcPr marL="43200" marR="43200" marT="0" marB="0">
                    <a:solidFill>
                      <a:srgbClr val="FFFFFF"/>
                    </a:solidFill>
                  </a:tcPr>
                </a:tc>
              </a:tr>
              <a:tr h="187200">
                <a:tc>
                  <a:txBody>
                    <a:bodyPr/>
                    <a:lstStyle/>
                    <a:p>
                      <a:pPr algn="l"/>
                      <a:r>
                        <a:rPr sz="850" b="1">
                          <a:solidFill>
                            <a:srgbClr val="1A1A1A"/>
                          </a:solidFill>
                          <a:latin typeface="Versos"/>
                        </a:rPr>
                        <a:t>Duration média</a:t>
                      </a:r>
                    </a:p>
                  </a:txBody>
                  <a:tcPr marL="43200" marR="43200" marT="0" marB="0">
                    <a:solidFill>
                      <a:srgbClr val="F4F7F9"/>
                    </a:solidFill>
                  </a:tcPr>
                </a:tc>
                <a:tc>
                  <a:txBody>
                    <a:bodyPr/>
                    <a:lstStyle/>
                    <a:p>
                      <a:pPr algn="r"/>
                      <a:r>
                        <a:rPr sz="850" b="0">
                          <a:solidFill>
                            <a:srgbClr val="1A1A1A"/>
                          </a:solidFill>
                          <a:latin typeface="Versos"/>
                        </a:rPr>
                        <a:t>0,98 ano</a:t>
                      </a:r>
                    </a:p>
                  </a:txBody>
                  <a:tcPr marL="43200" marR="43200" marT="0" marB="0">
                    <a:solidFill>
                      <a:srgbClr val="F4F7F9"/>
                    </a:solidFill>
                  </a:tcPr>
                </a:tc>
              </a:tr>
            </a:tbl>
          </a:graphicData>
        </a:graphic>
      </p:graphicFrame>
      <p:sp>
        <p:nvSpPr>
          <p:cNvPr id="8" name="TextBox 7"/>
          <p:cNvSpPr txBox="1"/>
          <p:nvPr/>
        </p:nvSpPr>
        <p:spPr>
          <a:xfrm>
            <a:off x="540000" y="3744000"/>
            <a:ext cx="4320000" cy="180000"/>
          </a:xfrm>
          <a:prstGeom prst="rect">
            <a:avLst/>
          </a:prstGeom>
          <a:noFill/>
        </p:spPr>
        <p:txBody>
          <a:bodyPr wrap="square" lIns="0" rIns="0" tIns="0" bIns="0">
            <a:spAutoFit/>
          </a:bodyPr>
          <a:lstStyle/>
          <a:p>
            <a:pPr algn="l"/>
            <a:r>
              <a:rPr sz="900" b="1">
                <a:solidFill>
                  <a:srgbClr val="759DB4"/>
                </a:solidFill>
                <a:latin typeface="Versos"/>
              </a:rPr>
              <a:t>INFORMAÇÕES OPERACIONAIS</a:t>
            </a:r>
          </a:p>
        </p:txBody>
      </p:sp>
      <p:graphicFrame>
        <p:nvGraphicFramePr>
          <p:cNvPr id="9" name="Table 8"/>
          <p:cNvGraphicFramePr>
            <a:graphicFrameLocks noGrp="1"/>
          </p:cNvGraphicFramePr>
          <p:nvPr/>
        </p:nvGraphicFramePr>
        <p:xfrm>
          <a:off x="540000" y="3942000"/>
          <a:ext cx="6479999" cy="7488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Aplicação</a:t>
                      </a:r>
                    </a:p>
                  </a:txBody>
                  <a:tcPr marL="43200" marR="43200" marT="0" marB="0">
                    <a:solidFill>
                      <a:srgbClr val="FFFFFF"/>
                    </a:solidFill>
                  </a:tcPr>
                </a:tc>
                <a:tc>
                  <a:txBody>
                    <a:bodyPr/>
                    <a:lstStyle/>
                    <a:p>
                      <a:pPr algn="r"/>
                      <a:r>
                        <a:rPr sz="850" b="0">
                          <a:solidFill>
                            <a:srgbClr val="1A1A1A"/>
                          </a:solidFill>
                          <a:latin typeface="Versos"/>
                        </a:rPr>
                        <a:t>D+0</a:t>
                      </a:r>
                    </a:p>
                  </a:txBody>
                  <a:tcPr marL="43200" marR="43200" marT="0" marB="0">
                    <a:solidFill>
                      <a:srgbClr val="FFFFFF"/>
                    </a:solidFill>
                  </a:tcPr>
                </a:tc>
              </a:tr>
              <a:tr h="187200">
                <a:tc>
                  <a:txBody>
                    <a:bodyPr/>
                    <a:lstStyle/>
                    <a:p>
                      <a:pPr algn="l"/>
                      <a:r>
                        <a:rPr sz="850" b="1">
                          <a:solidFill>
                            <a:srgbClr val="1A1A1A"/>
                          </a:solidFill>
                          <a:latin typeface="Versos"/>
                        </a:rPr>
                        <a:t>Resgate</a:t>
                      </a:r>
                    </a:p>
                  </a:txBody>
                  <a:tcPr marL="43200" marR="43200" marT="0" marB="0">
                    <a:solidFill>
                      <a:srgbClr val="F4F7F9"/>
                    </a:solidFill>
                  </a:tcPr>
                </a:tc>
                <a:tc>
                  <a:txBody>
                    <a:bodyPr/>
                    <a:lstStyle/>
                    <a:p>
                      <a:pPr algn="r"/>
                      <a:r>
                        <a:rPr sz="850" b="0">
                          <a:solidFill>
                            <a:srgbClr val="1A1A1A"/>
                          </a:solidFill>
                          <a:latin typeface="Versos"/>
                        </a:rPr>
                        <a:t>D+0</a:t>
                      </a:r>
                    </a:p>
                  </a:txBody>
                  <a:tcPr marL="43200" marR="43200" marT="0" marB="0">
                    <a:solidFill>
                      <a:srgbClr val="F4F7F9"/>
                    </a:solidFill>
                  </a:tcPr>
                </a:tc>
              </a:tr>
              <a:tr h="187200">
                <a:tc>
                  <a:txBody>
                    <a:bodyPr/>
                    <a:lstStyle/>
                    <a:p>
                      <a:pPr algn="l"/>
                      <a:r>
                        <a:rPr sz="850" b="1">
                          <a:solidFill>
                            <a:srgbClr val="1A1A1A"/>
                          </a:solidFill>
                          <a:latin typeface="Versos"/>
                        </a:rPr>
                        <a:t>Aplicação mínima inicial</a:t>
                      </a:r>
                    </a:p>
                  </a:txBody>
                  <a:tcPr marL="43200" marR="43200" marT="0" marB="0">
                    <a:solidFill>
                      <a:srgbClr val="FFFFFF"/>
                    </a:solidFill>
                  </a:tcPr>
                </a:tc>
                <a:tc>
                  <a:txBody>
                    <a:bodyPr/>
                    <a:lstStyle/>
                    <a:p>
                      <a:pPr algn="r"/>
                      <a:r>
                        <a:rPr sz="850" b="0">
                          <a:solidFill>
                            <a:srgbClr val="1A1A1A"/>
                          </a:solidFill>
                          <a:latin typeface="Versos"/>
                        </a:rPr>
                        <a:t>R$ 1.000,00</a:t>
                      </a:r>
                    </a:p>
                  </a:txBody>
                  <a:tcPr marL="43200" marR="43200" marT="0" marB="0">
                    <a:solidFill>
                      <a:srgbClr val="FFFFFF"/>
                    </a:solidFill>
                  </a:tcPr>
                </a:tc>
              </a:tr>
              <a:tr h="187200">
                <a:tc>
                  <a:txBody>
                    <a:bodyPr/>
                    <a:lstStyle/>
                    <a:p>
                      <a:pPr algn="l"/>
                      <a:r>
                        <a:rPr sz="850" b="1">
                          <a:solidFill>
                            <a:srgbClr val="1A1A1A"/>
                          </a:solidFill>
                          <a:latin typeface="Versos"/>
                        </a:rPr>
                        <a:t>Movimentação mínima</a:t>
                      </a:r>
                    </a:p>
                  </a:txBody>
                  <a:tcPr marL="43200" marR="43200" marT="0" marB="0">
                    <a:solidFill>
                      <a:srgbClr val="F4F7F9"/>
                    </a:solidFill>
                  </a:tcPr>
                </a:tc>
                <a:tc>
                  <a:txBody>
                    <a:bodyPr/>
                    <a:lstStyle/>
                    <a:p>
                      <a:pPr algn="r"/>
                      <a:r>
                        <a:rPr sz="850" b="0">
                          <a:solidFill>
                            <a:srgbClr val="1A1A1A"/>
                          </a:solidFill>
                          <a:latin typeface="Versos"/>
                        </a:rPr>
                        <a:t>R$ 1.000,00</a:t>
                      </a:r>
                    </a:p>
                  </a:txBody>
                  <a:tcPr marL="43200" marR="43200" marT="0" marB="0">
                    <a:solidFill>
                      <a:srgbClr val="F4F7F9"/>
                    </a:solidFill>
                  </a:tcPr>
                </a:tc>
              </a:tr>
            </a:tbl>
          </a:graphicData>
        </a:graphic>
      </p:graphicFrame>
      <p:sp>
        <p:nvSpPr>
          <p:cNvPr id="10" name="TextBox 9"/>
          <p:cNvSpPr txBox="1"/>
          <p:nvPr/>
        </p:nvSpPr>
        <p:spPr>
          <a:xfrm>
            <a:off x="540000" y="4978800"/>
            <a:ext cx="6480000" cy="180000"/>
          </a:xfrm>
          <a:prstGeom prst="rect">
            <a:avLst/>
          </a:prstGeom>
          <a:noFill/>
        </p:spPr>
        <p:txBody>
          <a:bodyPr wrap="square" lIns="0" rIns="0" tIns="0" bIns="0">
            <a:spAutoFit/>
          </a:bodyPr>
          <a:lstStyle/>
          <a:p>
            <a:pPr algn="l"/>
            <a:r>
              <a:rPr sz="900" b="1">
                <a:solidFill>
                  <a:srgbClr val="759DB4"/>
                </a:solidFill>
                <a:latin typeface="Versos"/>
              </a:rPr>
              <a:t>DISCLAIMER</a:t>
            </a:r>
          </a:p>
        </p:txBody>
      </p:sp>
      <p:sp>
        <p:nvSpPr>
          <p:cNvPr id="11" name="TextBox 10"/>
          <p:cNvSpPr txBox="1"/>
          <p:nvPr/>
        </p:nvSpPr>
        <p:spPr>
          <a:xfrm>
            <a:off x="540000" y="5176800"/>
            <a:ext cx="6480000" cy="4921200"/>
          </a:xfrm>
          <a:prstGeom prst="rect">
            <a:avLst/>
          </a:prstGeom>
          <a:noFill/>
        </p:spPr>
        <p:txBody>
          <a:bodyPr wrap="square" lIns="0" rIns="0" tIns="0" bIns="0">
            <a:spAutoFit/>
          </a:bodyPr>
          <a:lstStyle/>
          <a:p>
            <a:pPr algn="l"/>
            <a:r>
              <a:rPr sz="540" b="0">
                <a:solidFill>
                  <a:srgbClr val="637881"/>
                </a:solidFill>
                <a:latin typeface="Versos"/>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a:p>
            <a:pPr algn="l"/>
            <a:r>
              <a:rPr sz="540" b="0">
                <a:solidFill>
                  <a:srgbClr val="637881"/>
                </a:solidFill>
                <a:latin typeface="Versos"/>
              </a:rPr>
              <a:t/>
            </a:r>
          </a:p>
          <a:p>
            <a:pPr algn="l"/>
            <a:r>
              <a:rPr sz="540" b="0">
                <a:solidFill>
                  <a:srgbClr val="637881"/>
                </a:solidFill>
                <a:latin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(ii) Liquidez: risco de redução ou inexistência de demanda pelos ativos financeiros nos respectivos mercados em que são negociados; (iii) Mercado: Risco de oscilações decorrentes das flutuações de preços e cotações de mercado; (iv)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a:p>
            <a:pPr algn="l"/>
            <a:r>
              <a:rPr sz="540" b="0">
                <a:solidFill>
                  <a:srgbClr val="637881"/>
                </a:solidFill>
                <a:latin typeface="Versos"/>
              </a:rPr>
              <a:t/>
            </a:r>
          </a:p>
          <a:p>
            <a:pPr algn="l"/>
            <a:r>
              <a:rPr sz="540" b="0">
                <a:solidFill>
                  <a:srgbClr val="637881"/>
                </a:solidFill>
                <a:latin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a:p>
            <a:pPr algn="l"/>
            <a:r>
              <a:rPr sz="540" b="0">
                <a:solidFill>
                  <a:srgbClr val="637881"/>
                </a:solidFill>
                <a:latin typeface="Versos"/>
              </a:rPr>
              <a:t/>
            </a:r>
          </a:p>
          <a:p>
            <a:pPr algn="l"/>
            <a:r>
              <a:rPr sz="540" b="0">
                <a:solidFill>
                  <a:srgbClr val="637881"/>
                </a:solidFill>
                <a:latin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Suitability é essencial para garantir a adequação do perfil do cliente ao produto de investimento escolhido. Os indicadores aqui apresentados devem ser utilizados como referência econômica e não parâmetro objetivo do fundo. Material de Divulgação.</a:t>
            </a:r>
          </a:p>
        </p:txBody>
      </p:sp>
      <p:sp>
        <p:nvSpPr>
          <p:cNvPr id="12" name="TextBox 11"/>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4</a:t>
            </a:r>
          </a:p>
        </p:txBody>
      </p:sp>
      <p:sp>
        <p:nvSpPr>
          <p:cNvPr id="13" name="TextBox 12"/>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