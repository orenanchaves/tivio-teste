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0.0159</c:v>
                </c:pt>
                <c:pt idx="2">
                  <c:v>0.030600000000000002</c:v>
                </c:pt>
                <c:pt idx="3">
                  <c:v>0.0446</c:v>
                </c:pt>
                <c:pt idx="4">
                  <c:v>0.063</c:v>
                </c:pt>
                <c:pt idx="5">
                  <c:v>0.0789</c:v>
                </c:pt>
                <c:pt idx="6">
                  <c:v>0.0916</c:v>
                </c:pt>
                <c:pt idx="7">
                  <c:v>0.1069</c:v>
                </c:pt>
                <c:pt idx="8">
                  <c:v>0.1208</c:v>
                </c:pt>
                <c:pt idx="9">
                  <c:v>0.1349</c:v>
                </c:pt>
                <c:pt idx="10">
                  <c:v>0.1501</c:v>
                </c:pt>
                <c:pt idx="11">
                  <c:v>0.16670000000000001</c:v>
                </c:pt>
                <c:pt idx="12">
                  <c:v>0.1819</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180</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58.038.938/0001-80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Tivio ALT 180 se destaca por buscar créditos high yield com ênfase em garantias reais, avais e recebíveis. O fundo oferece uma alternativa de investimento de alto valor agregado, descorrelacionado das classes de ativos tradicionais.</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1,30%</a:t>
                      </a:r>
                    </a:p>
                  </a:txBody>
                  <a:tcPr marL="43200" marR="43200" marT="0" marB="0">
                    <a:solidFill>
                      <a:srgbClr val="F4F7F9"/>
                    </a:solidFill>
                  </a:tcPr>
                </a:tc>
                <a:tc>
                  <a:txBody>
                    <a:bodyPr/>
                    <a:lstStyle/>
                    <a:p>
                      <a:pPr algn="r"/>
                      <a:r>
                        <a:rPr sz="850" b="0">
                          <a:solidFill>
                            <a:srgbClr val="1A1A1A"/>
                          </a:solidFill>
                          <a:latin typeface="Versos"/>
                        </a:rPr>
                        <a:t>11,19%</a:t>
                      </a:r>
                    </a:p>
                  </a:txBody>
                  <a:tcPr marL="43200" marR="43200" marT="0" marB="0">
                    <a:solidFill>
                      <a:srgbClr val="F4F7F9"/>
                    </a:solidFill>
                  </a:tcPr>
                </a:tc>
                <a:tc>
                  <a:txBody>
                    <a:bodyPr/>
                    <a:lstStyle/>
                    <a:p>
                      <a:pPr algn="r"/>
                      <a:r>
                        <a:rPr sz="850" b="0">
                          <a:solidFill>
                            <a:srgbClr val="1A1A1A"/>
                          </a:solidFill>
                          <a:latin typeface="Versos"/>
                        </a:rPr>
                        <a:t>18,11%</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33,14%</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25,43%</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119%</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124%</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130%</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AFINITTY FIDC SR</a:t>
                      </a:r>
                    </a:p>
                  </a:txBody>
                  <a:tcPr marL="43200" marR="43200" marT="0" marB="0">
                    <a:solidFill>
                      <a:srgbClr val="FFFFFF"/>
                    </a:solidFill>
                  </a:tcPr>
                </a:tc>
                <a:tc>
                  <a:txBody>
                    <a:bodyPr/>
                    <a:lstStyle/>
                    <a:p>
                      <a:pPr algn="r"/>
                      <a:r>
                        <a:rPr sz="850" b="0">
                          <a:solidFill>
                            <a:srgbClr val="1A1A1A"/>
                          </a:solidFill>
                          <a:latin typeface="Versos"/>
                        </a:rPr>
                        <a:t>5,84%</a:t>
                      </a:r>
                    </a:p>
                  </a:txBody>
                  <a:tcPr marL="43200" marR="43200" marT="0" marB="0">
                    <a:solidFill>
                      <a:srgbClr val="FFFFFF"/>
                    </a:solidFill>
                  </a:tcPr>
                </a:tc>
              </a:tr>
              <a:tr h="187200">
                <a:tc>
                  <a:txBody>
                    <a:bodyPr/>
                    <a:lstStyle/>
                    <a:p>
                      <a:pPr algn="l"/>
                      <a:r>
                        <a:rPr sz="850" b="1">
                          <a:solidFill>
                            <a:srgbClr val="1A1A1A"/>
                          </a:solidFill>
                          <a:latin typeface="Versos"/>
                        </a:rPr>
                        <a:t>LRS GCB FIDC RL SEN</a:t>
                      </a:r>
                    </a:p>
                  </a:txBody>
                  <a:tcPr marL="43200" marR="43200" marT="0" marB="0">
                    <a:solidFill>
                      <a:srgbClr val="F4F7F9"/>
                    </a:solidFill>
                  </a:tcPr>
                </a:tc>
                <a:tc>
                  <a:txBody>
                    <a:bodyPr/>
                    <a:lstStyle/>
                    <a:p>
                      <a:pPr algn="r"/>
                      <a:r>
                        <a:rPr sz="850" b="0">
                          <a:solidFill>
                            <a:srgbClr val="1A1A1A"/>
                          </a:solidFill>
                          <a:latin typeface="Versos"/>
                        </a:rPr>
                        <a:t>5,69%</a:t>
                      </a:r>
                    </a:p>
                  </a:txBody>
                  <a:tcPr marL="43200" marR="43200" marT="0" marB="0">
                    <a:solidFill>
                      <a:srgbClr val="F4F7F9"/>
                    </a:solidFill>
                  </a:tcPr>
                </a:tc>
              </a:tr>
              <a:tr h="187200">
                <a:tc>
                  <a:txBody>
                    <a:bodyPr/>
                    <a:lstStyle/>
                    <a:p>
                      <a:pPr algn="l"/>
                      <a:r>
                        <a:rPr sz="850" b="1">
                          <a:solidFill>
                            <a:srgbClr val="1A1A1A"/>
                          </a:solidFill>
                          <a:latin typeface="Versos"/>
                        </a:rPr>
                        <a:t>BTO FIDC MZ</a:t>
                      </a:r>
                    </a:p>
                  </a:txBody>
                  <a:tcPr marL="43200" marR="43200" marT="0" marB="0">
                    <a:solidFill>
                      <a:srgbClr val="FFFFFF"/>
                    </a:solidFill>
                  </a:tcPr>
                </a:tc>
                <a:tc>
                  <a:txBody>
                    <a:bodyPr/>
                    <a:lstStyle/>
                    <a:p>
                      <a:pPr algn="r"/>
                      <a:r>
                        <a:rPr sz="850" b="0">
                          <a:solidFill>
                            <a:srgbClr val="1A1A1A"/>
                          </a:solidFill>
                          <a:latin typeface="Versos"/>
                        </a:rPr>
                        <a:t>5,56%</a:t>
                      </a:r>
                    </a:p>
                  </a:txBody>
                  <a:tcPr marL="43200" marR="43200" marT="0" marB="0">
                    <a:solidFill>
                      <a:srgbClr val="FFFFFF"/>
                    </a:solidFill>
                  </a:tcPr>
                </a:tc>
              </a:tr>
              <a:tr h="187200">
                <a:tc>
                  <a:txBody>
                    <a:bodyPr/>
                    <a:lstStyle/>
                    <a:p>
                      <a:pPr algn="l"/>
                      <a:r>
                        <a:rPr sz="850" b="1">
                          <a:solidFill>
                            <a:srgbClr val="1A1A1A"/>
                          </a:solidFill>
                          <a:latin typeface="Versos"/>
                        </a:rPr>
                        <a:t>STO ANTONIO</a:t>
                      </a:r>
                    </a:p>
                  </a:txBody>
                  <a:tcPr marL="43200" marR="43200" marT="0" marB="0">
                    <a:solidFill>
                      <a:srgbClr val="F4F7F9"/>
                    </a:solidFill>
                  </a:tcPr>
                </a:tc>
                <a:tc>
                  <a:txBody>
                    <a:bodyPr/>
                    <a:lstStyle/>
                    <a:p>
                      <a:pPr algn="r"/>
                      <a:r>
                        <a:rPr sz="850" b="0">
                          <a:solidFill>
                            <a:srgbClr val="1A1A1A"/>
                          </a:solidFill>
                          <a:latin typeface="Versos"/>
                        </a:rPr>
                        <a:t>5,46%</a:t>
                      </a:r>
                    </a:p>
                  </a:txBody>
                  <a:tcPr marL="43200" marR="43200" marT="0" marB="0">
                    <a:solidFill>
                      <a:srgbClr val="F4F7F9"/>
                    </a:solidFill>
                  </a:tcPr>
                </a:tc>
              </a:tr>
              <a:tr h="187200">
                <a:tc>
                  <a:txBody>
                    <a:bodyPr/>
                    <a:lstStyle/>
                    <a:p>
                      <a:pPr algn="l"/>
                      <a:r>
                        <a:rPr sz="850" b="1">
                          <a:solidFill>
                            <a:srgbClr val="1A1A1A"/>
                          </a:solidFill>
                          <a:latin typeface="Versos"/>
                        </a:rPr>
                        <a:t>BRZ CONSIG IX SR</a:t>
                      </a:r>
                    </a:p>
                  </a:txBody>
                  <a:tcPr marL="43200" marR="43200" marT="0" marB="0">
                    <a:solidFill>
                      <a:srgbClr val="FFFFFF"/>
                    </a:solidFill>
                  </a:tcPr>
                </a:tc>
                <a:tc>
                  <a:txBody>
                    <a:bodyPr/>
                    <a:lstStyle/>
                    <a:p>
                      <a:pPr algn="r"/>
                      <a:r>
                        <a:rPr sz="850" b="0">
                          <a:solidFill>
                            <a:srgbClr val="1A1A1A"/>
                          </a:solidFill>
                          <a:latin typeface="Versos"/>
                        </a:rPr>
                        <a:t>5,07%</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Indústria e Comércio</a:t>
                      </a:r>
                    </a:p>
                  </a:txBody>
                  <a:tcPr marL="43200" marR="43200" marT="0" marB="0">
                    <a:solidFill>
                      <a:srgbClr val="FFFFFF"/>
                    </a:solidFill>
                  </a:tcPr>
                </a:tc>
                <a:tc>
                  <a:txBody>
                    <a:bodyPr/>
                    <a:lstStyle/>
                    <a:p>
                      <a:pPr algn="r"/>
                      <a:r>
                        <a:rPr sz="850" b="0">
                          <a:solidFill>
                            <a:srgbClr val="1A1A1A"/>
                          </a:solidFill>
                          <a:latin typeface="Versos"/>
                        </a:rPr>
                        <a:t>28,1%</a:t>
                      </a:r>
                    </a:p>
                  </a:txBody>
                  <a:tcPr marL="43200" marR="43200" marT="0" marB="0">
                    <a:solidFill>
                      <a:srgbClr val="FFFFFF"/>
                    </a:solidFill>
                  </a:tcPr>
                </a:tc>
              </a:tr>
              <a:tr h="187200">
                <a:tc>
                  <a:txBody>
                    <a:bodyPr/>
                    <a:lstStyle/>
                    <a:p>
                      <a:pPr algn="l"/>
                      <a:r>
                        <a:rPr sz="850" b="1">
                          <a:solidFill>
                            <a:srgbClr val="1A1A1A"/>
                          </a:solidFill>
                          <a:latin typeface="Versos"/>
                        </a:rPr>
                        <a:t>Consignados</a:t>
                      </a:r>
                    </a:p>
                  </a:txBody>
                  <a:tcPr marL="43200" marR="43200" marT="0" marB="0">
                    <a:solidFill>
                      <a:srgbClr val="F4F7F9"/>
                    </a:solidFill>
                  </a:tcPr>
                </a:tc>
                <a:tc>
                  <a:txBody>
                    <a:bodyPr/>
                    <a:lstStyle/>
                    <a:p>
                      <a:pPr algn="r"/>
                      <a:r>
                        <a:rPr sz="850" b="0">
                          <a:solidFill>
                            <a:srgbClr val="1A1A1A"/>
                          </a:solidFill>
                          <a:latin typeface="Versos"/>
                        </a:rPr>
                        <a:t>15,7%</a:t>
                      </a:r>
                    </a:p>
                  </a:txBody>
                  <a:tcPr marL="43200" marR="43200" marT="0" marB="0">
                    <a:solidFill>
                      <a:srgbClr val="F4F7F9"/>
                    </a:solidFill>
                  </a:tcPr>
                </a:tc>
              </a:tr>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10,5%</a:t>
                      </a:r>
                    </a:p>
                  </a:txBody>
                  <a:tcPr marL="43200" marR="43200" marT="0" marB="0">
                    <a:solidFill>
                      <a:srgbClr val="FFFFFF"/>
                    </a:solidFill>
                  </a:tcPr>
                </a:tc>
              </a:tr>
              <a:tr h="1872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10,4%</a:t>
                      </a:r>
                    </a:p>
                  </a:txBody>
                  <a:tcPr marL="43200" marR="43200" marT="0" marB="0">
                    <a:solidFill>
                      <a:srgbClr val="F4F7F9"/>
                    </a:solidFill>
                  </a:tcPr>
                </a:tc>
              </a:tr>
              <a:tr h="187200">
                <a:tc>
                  <a:txBody>
                    <a:bodyPr/>
                    <a:lstStyle/>
                    <a:p>
                      <a:pPr algn="l"/>
                      <a:r>
                        <a:rPr sz="850" b="1">
                          <a:solidFill>
                            <a:srgbClr val="1A1A1A"/>
                          </a:solidFill>
                          <a:latin typeface="Versos"/>
                        </a:rPr>
                        <a:t>Crédito PF</a:t>
                      </a:r>
                    </a:p>
                  </a:txBody>
                  <a:tcPr marL="43200" marR="43200" marT="0" marB="0">
                    <a:solidFill>
                      <a:srgbClr val="FFFFFF"/>
                    </a:solidFill>
                  </a:tcPr>
                </a:tc>
                <a:tc>
                  <a:txBody>
                    <a:bodyPr/>
                    <a:lstStyle/>
                    <a:p>
                      <a:pPr algn="r"/>
                      <a:r>
                        <a:rPr sz="850" b="0">
                          <a:solidFill>
                            <a:srgbClr val="1A1A1A"/>
                          </a:solidFill>
                          <a:latin typeface="Versos"/>
                        </a:rPr>
                        <a:t>6,4%</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5,3%</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BBB+</a:t>
                      </a:r>
                    </a:p>
                  </a:txBody>
                  <a:tcPr marL="43200" marR="43200" marT="0" marB="0">
                    <a:solidFill>
                      <a:srgbClr val="3C4A60"/>
                    </a:solidFill>
                  </a:tcPr>
                </a:tc>
                <a:tc>
                  <a:txBody>
                    <a:bodyPr/>
                    <a:lstStyle/>
                    <a:p>
                      <a:pPr algn="r"/>
                      <a:r>
                        <a:rPr sz="850" b="1">
                          <a:solidFill>
                            <a:srgbClr val="FFFFFF"/>
                          </a:solidFill>
                          <a:latin typeface="Versos"/>
                        </a:rPr>
                        <a:t>BBB</a:t>
                      </a:r>
                    </a:p>
                  </a:txBody>
                  <a:tcPr marL="43200" marR="43200" marT="0" marB="0">
                    <a:solidFill>
                      <a:srgbClr val="3C4A60"/>
                    </a:solidFill>
                  </a:tcPr>
                </a:tc>
              </a:tr>
              <a:tr h="187200">
                <a:tc>
                  <a:txBody>
                    <a:bodyPr/>
                    <a:lstStyle/>
                    <a:p>
                      <a:pPr algn="l"/>
                      <a:r>
                        <a:rPr sz="850" b="0">
                          <a:solidFill>
                            <a:srgbClr val="1A1A1A"/>
                          </a:solidFill>
                          <a:latin typeface="Versos"/>
                        </a:rPr>
                        <a:t>1,4%</a:t>
                      </a:r>
                    </a:p>
                  </a:txBody>
                  <a:tcPr marL="43200" marR="43200" marT="0" marB="0">
                    <a:solidFill>
                      <a:srgbClr val="F4F7F9"/>
                    </a:solidFill>
                  </a:tcPr>
                </a:tc>
                <a:tc>
                  <a:txBody>
                    <a:bodyPr/>
                    <a:lstStyle/>
                    <a:p>
                      <a:pPr algn="r"/>
                      <a:r>
                        <a:rPr sz="850" b="0">
                          <a:solidFill>
                            <a:srgbClr val="1A1A1A"/>
                          </a:solidFill>
                          <a:latin typeface="Versos"/>
                        </a:rPr>
                        <a:t>9,3%</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2,9%</a:t>
                      </a:r>
                    </a:p>
                  </a:txBody>
                  <a:tcPr marL="43200" marR="43200" marT="0" marB="0">
                    <a:solidFill>
                      <a:srgbClr val="F4F7F9"/>
                    </a:solidFill>
                  </a:tcPr>
                </a:tc>
                <a:tc>
                  <a:txBody>
                    <a:bodyPr/>
                    <a:lstStyle/>
                    <a:p>
                      <a:pPr algn="r"/>
                      <a:r>
                        <a:rPr sz="850" b="0">
                          <a:solidFill>
                            <a:srgbClr val="1A1A1A"/>
                          </a:solidFill>
                          <a:latin typeface="Versos"/>
                        </a:rPr>
                        <a:t>2,2%</a:t>
                      </a:r>
                    </a:p>
                  </a:txBody>
                  <a:tcPr marL="43200" marR="43200" marT="0" marB="0">
                    <a:solidFill>
                      <a:srgbClr val="F4F7F9"/>
                    </a:solidFill>
                  </a:tcPr>
                </a:tc>
                <a:tc>
                  <a:txBody>
                    <a:bodyPr/>
                    <a:lstStyle/>
                    <a:p>
                      <a:pPr algn="r"/>
                      <a:r>
                        <a:rPr sz="850" b="0">
                          <a:solidFill>
                            <a:srgbClr val="1A1A1A"/>
                          </a:solidFill>
                          <a:latin typeface="Versos"/>
                        </a:rPr>
                        <a:t>2,3%</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180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O Tivio ALT 180 registrou rentabilidade de {mes} no mês, equivalente a {pct_mes} do CDI no período. Desde o início da estratégia, o fundo acumula retorno de {inicio}, frente a {bench_inicio} do CDI, o que corresponde a um desempenho anualizado de {pct_anual_inicio} do CDI.</a:t>
            </a:r>
          </a:p>
          <a:p>
            <a:pPr algn="l"/>
            <a:r>
              <a:rPr sz="900" b="0">
                <a:solidFill>
                  <a:srgbClr val="1A1A1A"/>
                </a:solidFill>
                <a:latin typeface="Versos"/>
              </a:rPr>
              <a:t/>
            </a:r>
          </a:p>
          <a:p>
            <a:pPr algn="l"/>
            <a:r>
              <a:rPr sz="900" b="0">
                <a:solidFill>
                  <a:srgbClr val="1A1A1A"/>
                </a:solidFill>
                <a:latin typeface="Versos"/>
              </a:rPr>
              <a:t>Em setembro, iniciamos posição em uma cota sênior de FIDC com exposição ao setor de telecomunicações. A tese de investimento está fundamentada na atuação consolidada do originador, que possui mais de 23 anos de experiência no segmento, bem como nas características estruturais do mercado em que atua, marcado por elevada pulverização, baixa bancarização, receitas recorrentes e oferta restrita de crédito. Adicionalmente, a operação apresenta carteira de recebíveis amplamente diversificada entre cedentes e sacados, além de mecanismos de proteção que incluem overcollateral mínimo de 25% sobre os ativos cedidos ao fundo.</a:t>
            </a:r>
          </a:p>
          <a:p>
            <a:pPr algn="l"/>
            <a:r>
              <a:rPr sz="900" b="0">
                <a:solidFill>
                  <a:srgbClr val="1A1A1A"/>
                </a:solidFill>
                <a:latin typeface="Versos"/>
              </a:rPr>
              <a:t/>
            </a:r>
          </a:p>
          <a:p>
            <a:pPr algn="l"/>
            <a:r>
              <a:rPr sz="900" b="0">
                <a:solidFill>
                  <a:srgbClr val="1A1A1A"/>
                </a:solidFill>
                <a:latin typeface="Versos"/>
              </a:rPr>
              <a:t>A nova alocação reforça nossa estratégia de buscar operações com perfil defensivo, adequada relação entre risco e retorno e estruturas robustas de mitigação de risco. Seguimos priorizando ativos com forte alinhamento de interesses entre as partes envolvidas, qualidade na originação dos créditos e mecanismos de proteção compatíveis com o cenário de mercado. Mantemos uma postura seletiva na alocação de capital, avaliando continuamente oportunidades que possam contribuir para a geração consistente de retornos ajustados ao risco para os cotistas.</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180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18/12/2024</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R$ 151.939.343,55</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R$ 94.506.904,26</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1,15%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+4,94%</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2,09 anos</a:t>
                      </a:r>
                    </a:p>
                  </a:txBody>
                  <a:tcPr marL="43200" marR="43200" marT="0" marB="0">
                    <a:solidFill>
                      <a:srgbClr val="F4F7F9"/>
                    </a:solidFill>
                  </a:tcPr>
                </a:tc>
              </a:tr>
            </a:tbl>
          </a:graphicData>
        </a:graphic>
      </p:graphicFrame>
      <p:sp>
        <p:nvSpPr>
          <p:cNvPr id="8" name="TextBox 7"/>
          <p:cNvSpPr txBox="1"/>
          <p:nvPr/>
        </p:nvSpPr>
        <p:spPr>
          <a:xfrm>
            <a:off x="540000" y="37440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9" name="TextBox 8"/>
          <p:cNvSpPr txBox="1"/>
          <p:nvPr/>
        </p:nvSpPr>
        <p:spPr>
          <a:xfrm>
            <a:off x="540000" y="3942000"/>
            <a:ext cx="6480000" cy="61560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