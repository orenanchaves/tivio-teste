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Sheet1!$B$2:$B$14</c:f>
              <c:numCache>
                <c:formatCode>General</c:formatCode>
                <c:ptCount val="13"/>
                <c:pt idx="0">
                  <c:v>0.0</c:v>
                </c:pt>
                <c:pt idx="1">
                  <c:v>0.014499999999999999</c:v>
                </c:pt>
                <c:pt idx="2">
                  <c:v>0.0287</c:v>
                </c:pt>
                <c:pt idx="3">
                  <c:v>0.0417</c:v>
                </c:pt>
                <c:pt idx="4">
                  <c:v>0.0559</c:v>
                </c:pt>
                <c:pt idx="5">
                  <c:v>0.0705</c:v>
                </c:pt>
                <c:pt idx="6">
                  <c:v>0.0823</c:v>
                </c:pt>
                <c:pt idx="7">
                  <c:v>0.0965</c:v>
                </c:pt>
                <c:pt idx="8">
                  <c:v>0.1093</c:v>
                </c:pt>
                <c:pt idx="9">
                  <c:v>0.1223</c:v>
                </c:pt>
                <c:pt idx="10">
                  <c:v>0.1361</c:v>
                </c:pt>
                <c:pt idx="11">
                  <c:v>0.1516</c:v>
                </c:pt>
                <c:pt idx="12">
                  <c:v>0.16570000000000001</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Sheet1!$A$2:$A$14</c:f>
              <c:strCache>
                <c:ptCount val="13"/>
                <c:pt idx="0">
                  <c:v>ago/25</c:v>
                </c:pt>
                <c:pt idx="1">
                  <c:v>set/25</c:v>
                </c:pt>
                <c:pt idx="2">
                  <c:v>out/25</c:v>
                </c:pt>
                <c:pt idx="3">
                  <c:v>nov/25</c:v>
                </c:pt>
                <c:pt idx="4">
                  <c:v>dez/25</c:v>
                </c:pt>
                <c:pt idx="5">
                  <c:v>jan/26</c:v>
                </c:pt>
                <c:pt idx="6">
                  <c:v>fev/26</c:v>
                </c:pt>
                <c:pt idx="7">
                  <c:v>mar/26</c:v>
                </c:pt>
                <c:pt idx="8">
                  <c:v>abr/26</c:v>
                </c:pt>
                <c:pt idx="9">
                  <c:v>mai/26</c:v>
                </c:pt>
                <c:pt idx="10">
                  <c:v>jun/26</c:v>
                </c:pt>
                <c:pt idx="11">
                  <c:v>jul/26</c:v>
                </c:pt>
                <c:pt idx="12">
                  <c:v>ago/26</c:v>
                </c:pt>
              </c:strCache>
            </c:strRef>
          </c:cat>
          <c:val>
            <c:numRef>
              <c:f>Sheet1!$C$2:$C$14</c:f>
              <c:numCache>
                <c:formatCode>General</c:formatCode>
                <c:ptCount val="13"/>
                <c:pt idx="0">
                  <c:v>0.0</c:v>
                </c:pt>
                <c:pt idx="1">
                  <c:v>0.012199999999999999</c:v>
                </c:pt>
                <c:pt idx="2">
                  <c:v>0.025099999999999997</c:v>
                </c:pt>
                <c:pt idx="3">
                  <c:v>0.0359</c:v>
                </c:pt>
                <c:pt idx="4">
                  <c:v>0.048499999999999995</c:v>
                </c:pt>
                <c:pt idx="5">
                  <c:v>0.060700000000000004</c:v>
                </c:pt>
                <c:pt idx="6">
                  <c:v>0.0713</c:v>
                </c:pt>
                <c:pt idx="7">
                  <c:v>0.0843</c:v>
                </c:pt>
                <c:pt idx="8">
                  <c:v>0.09609999999999999</c:v>
                </c:pt>
                <c:pt idx="9">
                  <c:v>0.1079</c:v>
                </c:pt>
                <c:pt idx="10">
                  <c:v>0.12029999999999999</c:v>
                </c:pt>
                <c:pt idx="11">
                  <c:v>0.13390000000000002</c:v>
                </c:pt>
                <c:pt idx="12">
                  <c:v>0.1463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61.020.441/0001-40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O Tivio ALT 90 busca retorno superior ao CDI com baixa volatilidade, por meio de FIDCs em cotas sênior, garantindo diversificação, segurança e relação risco-retorno atrativa.</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1,22%</a:t>
                      </a:r>
                    </a:p>
                  </a:txBody>
                  <a:tcPr marL="43200" marR="43200" marT="0" marB="0">
                    <a:solidFill>
                      <a:srgbClr val="F4F7F9"/>
                    </a:solidFill>
                  </a:tcPr>
                </a:tc>
                <a:tc>
                  <a:txBody>
                    <a:bodyPr/>
                    <a:lstStyle/>
                    <a:p>
                      <a:pPr algn="r"/>
                      <a:r>
                        <a:rPr sz="850" b="0">
                          <a:solidFill>
                            <a:srgbClr val="1A1A1A"/>
                          </a:solidFill>
                          <a:latin typeface="Versos"/>
                        </a:rPr>
                        <a:t>10,40%</a:t>
                      </a:r>
                    </a:p>
                  </a:txBody>
                  <a:tcPr marL="43200" marR="43200" marT="0" marB="0">
                    <a:solidFill>
                      <a:srgbClr val="F4F7F9"/>
                    </a:solidFill>
                  </a:tcPr>
                </a:tc>
                <a:tc>
                  <a:txBody>
                    <a:bodyPr/>
                    <a:lstStyle/>
                    <a:p>
                      <a:pPr algn="r"/>
                      <a:r>
                        <a:rPr sz="850" b="0">
                          <a:solidFill>
                            <a:srgbClr val="1A1A1A"/>
                          </a:solidFill>
                          <a:latin typeface="Versos"/>
                        </a:rPr>
                        <a:t>16,49%</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21,25%</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14,57%</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18,41%</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112%</a:t>
                      </a:r>
                    </a:p>
                  </a:txBody>
                  <a:tcPr marL="43200" marR="43200" marT="0" marB="0">
                    <a:solidFill>
                      <a:srgbClr val="F4F7F9"/>
                    </a:solidFill>
                  </a:tcPr>
                </a:tc>
                <a:tc>
                  <a:txBody>
                    <a:bodyPr/>
                    <a:lstStyle/>
                    <a:p>
                      <a:pPr algn="r"/>
                      <a:r>
                        <a:rPr sz="850" b="0">
                          <a:solidFill>
                            <a:srgbClr val="1A1A1A"/>
                          </a:solidFill>
                          <a:latin typeface="Versos"/>
                        </a:rPr>
                        <a:t>111%</a:t>
                      </a:r>
                    </a:p>
                  </a:txBody>
                  <a:tcPr marL="43200" marR="43200" marT="0" marB="0">
                    <a:solidFill>
                      <a:srgbClr val="F4F7F9"/>
                    </a:solidFill>
                  </a:tcPr>
                </a:tc>
                <a:tc>
                  <a:txBody>
                    <a:bodyPr/>
                    <a:lstStyle/>
                    <a:p>
                      <a:pPr algn="r"/>
                      <a:r>
                        <a:rPr sz="850" b="0">
                          <a:solidFill>
                            <a:srgbClr val="1A1A1A"/>
                          </a:solidFill>
                          <a:latin typeface="Versos"/>
                        </a:rPr>
                        <a:t>113%</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115%</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EXODUS FIDC SR</a:t>
                      </a:r>
                    </a:p>
                  </a:txBody>
                  <a:tcPr marL="43200" marR="43200" marT="0" marB="0">
                    <a:solidFill>
                      <a:srgbClr val="FFFFFF"/>
                    </a:solidFill>
                  </a:tcPr>
                </a:tc>
                <a:tc>
                  <a:txBody>
                    <a:bodyPr/>
                    <a:lstStyle/>
                    <a:p>
                      <a:pPr algn="r"/>
                      <a:r>
                        <a:rPr sz="850" b="0">
                          <a:solidFill>
                            <a:srgbClr val="1A1A1A"/>
                          </a:solidFill>
                          <a:latin typeface="Versos"/>
                        </a:rPr>
                        <a:t>7,78%</a:t>
                      </a:r>
                    </a:p>
                  </a:txBody>
                  <a:tcPr marL="43200" marR="43200" marT="0" marB="0">
                    <a:solidFill>
                      <a:srgbClr val="FFFFFF"/>
                    </a:solidFill>
                  </a:tcPr>
                </a:tc>
              </a:tr>
              <a:tr h="187200">
                <a:tc>
                  <a:txBody>
                    <a:bodyPr/>
                    <a:lstStyle/>
                    <a:p>
                      <a:pPr algn="l"/>
                      <a:r>
                        <a:rPr sz="850" b="1">
                          <a:solidFill>
                            <a:srgbClr val="1A1A1A"/>
                          </a:solidFill>
                          <a:latin typeface="Versos"/>
                        </a:rPr>
                        <a:t>MULTIPLIKE PLUS FIDC SR</a:t>
                      </a:r>
                    </a:p>
                  </a:txBody>
                  <a:tcPr marL="43200" marR="43200" marT="0" marB="0">
                    <a:solidFill>
                      <a:srgbClr val="F4F7F9"/>
                    </a:solidFill>
                  </a:tcPr>
                </a:tc>
                <a:tc>
                  <a:txBody>
                    <a:bodyPr/>
                    <a:lstStyle/>
                    <a:p>
                      <a:pPr algn="r"/>
                      <a:r>
                        <a:rPr sz="850" b="0">
                          <a:solidFill>
                            <a:srgbClr val="1A1A1A"/>
                          </a:solidFill>
                          <a:latin typeface="Versos"/>
                        </a:rPr>
                        <a:t>6,80%</a:t>
                      </a:r>
                    </a:p>
                  </a:txBody>
                  <a:tcPr marL="43200" marR="43200" marT="0" marB="0">
                    <a:solidFill>
                      <a:srgbClr val="F4F7F9"/>
                    </a:solidFill>
                  </a:tcPr>
                </a:tc>
              </a:tr>
              <a:tr h="187200">
                <a:tc>
                  <a:txBody>
                    <a:bodyPr/>
                    <a:lstStyle/>
                    <a:p>
                      <a:pPr algn="l"/>
                      <a:r>
                        <a:rPr sz="850" b="1">
                          <a:solidFill>
                            <a:srgbClr val="1A1A1A"/>
                          </a:solidFill>
                          <a:latin typeface="Versos"/>
                        </a:rPr>
                        <a:t>BMA FIDC SR</a:t>
                      </a:r>
                    </a:p>
                  </a:txBody>
                  <a:tcPr marL="43200" marR="43200" marT="0" marB="0">
                    <a:solidFill>
                      <a:srgbClr val="FFFFFF"/>
                    </a:solidFill>
                  </a:tcPr>
                </a:tc>
                <a:tc>
                  <a:txBody>
                    <a:bodyPr/>
                    <a:lstStyle/>
                    <a:p>
                      <a:pPr algn="r"/>
                      <a:r>
                        <a:rPr sz="850" b="0">
                          <a:solidFill>
                            <a:srgbClr val="1A1A1A"/>
                          </a:solidFill>
                          <a:latin typeface="Versos"/>
                        </a:rPr>
                        <a:t>6,14%</a:t>
                      </a:r>
                    </a:p>
                  </a:txBody>
                  <a:tcPr marL="43200" marR="43200" marT="0" marB="0">
                    <a:solidFill>
                      <a:srgbClr val="FFFFFF"/>
                    </a:solidFill>
                  </a:tcPr>
                </a:tc>
              </a:tr>
              <a:tr h="187200">
                <a:tc>
                  <a:txBody>
                    <a:bodyPr/>
                    <a:lstStyle/>
                    <a:p>
                      <a:pPr algn="l"/>
                      <a:r>
                        <a:rPr sz="850" b="1">
                          <a:solidFill>
                            <a:srgbClr val="1A1A1A"/>
                          </a:solidFill>
                          <a:latin typeface="Versos"/>
                        </a:rPr>
                        <a:t>GUARDIAN MULTI CONSIGNADO XIII FIDC</a:t>
                      </a:r>
                    </a:p>
                  </a:txBody>
                  <a:tcPr marL="43200" marR="43200" marT="0" marB="0">
                    <a:solidFill>
                      <a:srgbClr val="F4F7F9"/>
                    </a:solidFill>
                  </a:tcPr>
                </a:tc>
                <a:tc>
                  <a:txBody>
                    <a:bodyPr/>
                    <a:lstStyle/>
                    <a:p>
                      <a:pPr algn="r"/>
                      <a:r>
                        <a:rPr sz="850" b="0">
                          <a:solidFill>
                            <a:srgbClr val="1A1A1A"/>
                          </a:solidFill>
                          <a:latin typeface="Versos"/>
                        </a:rPr>
                        <a:t>5,95%</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5,28%</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11232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Indústria e Comércio</a:t>
                      </a:r>
                    </a:p>
                  </a:txBody>
                  <a:tcPr marL="43200" marR="43200" marT="0" marB="0">
                    <a:solidFill>
                      <a:srgbClr val="FFFFFF"/>
                    </a:solidFill>
                  </a:tcPr>
                </a:tc>
                <a:tc>
                  <a:txBody>
                    <a:bodyPr/>
                    <a:lstStyle/>
                    <a:p>
                      <a:pPr algn="r"/>
                      <a:r>
                        <a:rPr sz="850" b="0">
                          <a:solidFill>
                            <a:srgbClr val="1A1A1A"/>
                          </a:solidFill>
                          <a:latin typeface="Versos"/>
                        </a:rPr>
                        <a:t>39,5%</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13,6%</a:t>
                      </a:r>
                    </a:p>
                  </a:txBody>
                  <a:tcPr marL="43200" marR="43200" marT="0" marB="0">
                    <a:solidFill>
                      <a:srgbClr val="F4F7F9"/>
                    </a:solidFill>
                  </a:tcPr>
                </a:tc>
              </a:tr>
              <a:tr h="187200">
                <a:tc>
                  <a:txBody>
                    <a:bodyPr/>
                    <a:lstStyle/>
                    <a:p>
                      <a:pPr algn="l"/>
                      <a:r>
                        <a:rPr sz="850" b="1">
                          <a:solidFill>
                            <a:srgbClr val="1A1A1A"/>
                          </a:solidFill>
                          <a:latin typeface="Versos"/>
                        </a:rPr>
                        <a:t>Crédito PF</a:t>
                      </a:r>
                    </a:p>
                  </a:txBody>
                  <a:tcPr marL="43200" marR="43200" marT="0" marB="0">
                    <a:solidFill>
                      <a:srgbClr val="FFFFFF"/>
                    </a:solidFill>
                  </a:tcPr>
                </a:tc>
                <a:tc>
                  <a:txBody>
                    <a:bodyPr/>
                    <a:lstStyle/>
                    <a:p>
                      <a:pPr algn="r"/>
                      <a:r>
                        <a:rPr sz="850" b="0">
                          <a:solidFill>
                            <a:srgbClr val="1A1A1A"/>
                          </a:solidFill>
                          <a:latin typeface="Versos"/>
                        </a:rPr>
                        <a:t>12,2%</a:t>
                      </a:r>
                    </a:p>
                  </a:txBody>
                  <a:tcPr marL="43200" marR="43200" marT="0" marB="0">
                    <a:solidFill>
                      <a:srgbClr val="FFFFFF"/>
                    </a:solidFill>
                  </a:tcPr>
                </a:tc>
              </a:tr>
              <a:tr h="187200">
                <a:tc>
                  <a:txBody>
                    <a:bodyPr/>
                    <a:lstStyle/>
                    <a:p>
                      <a:pPr algn="l"/>
                      <a:r>
                        <a:rPr sz="850" b="1">
                          <a:solidFill>
                            <a:srgbClr val="1A1A1A"/>
                          </a:solidFill>
                          <a:latin typeface="Versos"/>
                        </a:rPr>
                        <a:t>Financeiro</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6,6%</a:t>
                      </a:r>
                    </a:p>
                  </a:txBody>
                  <a:tcPr marL="43200" marR="43200" marT="0" marB="0">
                    <a:solidFill>
                      <a:srgbClr val="FFFFFF"/>
                    </a:solidFill>
                  </a:tcPr>
                </a:tc>
              </a:tr>
              <a:tr h="187200">
                <a:tc>
                  <a:txBody>
                    <a:bodyPr/>
                    <a:lstStyle/>
                    <a:p>
                      <a:pPr algn="l"/>
                      <a:r>
                        <a:rPr sz="850" b="1">
                          <a:solidFill>
                            <a:srgbClr val="1A1A1A"/>
                          </a:solidFill>
                          <a:latin typeface="Versos"/>
                        </a:rPr>
                        <a:t>Caixa</a:t>
                      </a:r>
                    </a:p>
                  </a:txBody>
                  <a:tcPr marL="43200" marR="43200" marT="0" marB="0">
                    <a:solidFill>
                      <a:srgbClr val="F4F7F9"/>
                    </a:solidFill>
                  </a:tcPr>
                </a:tc>
                <a:tc>
                  <a:txBody>
                    <a:bodyPr/>
                    <a:lstStyle/>
                    <a:p>
                      <a:pPr algn="r"/>
                      <a:r>
                        <a:rPr sz="850" b="0">
                          <a:solidFill>
                            <a:srgbClr val="1A1A1A"/>
                          </a:solidFill>
                          <a:latin typeface="Versos"/>
                        </a:rPr>
                        <a:t>1,9%</a:t>
                      </a:r>
                    </a:p>
                  </a:txBody>
                  <a:tcPr marL="43200" marR="43200" marT="0" marB="0">
                    <a:solidFill>
                      <a:srgbClr val="F4F7F9"/>
                    </a:solidFill>
                  </a:tcPr>
                </a:tc>
              </a:tr>
            </a:tbl>
          </a:graphicData>
        </a:graphic>
      </p:graphicFrame>
      <p:sp>
        <p:nvSpPr>
          <p:cNvPr id="16" name="TextBox 15"/>
          <p:cNvSpPr txBox="1"/>
          <p:nvPr/>
        </p:nvSpPr>
        <p:spPr>
          <a:xfrm>
            <a:off x="540000" y="60732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62712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BB</a:t>
                      </a:r>
                    </a:p>
                  </a:txBody>
                  <a:tcPr marL="43200" marR="43200" marT="0" marB="0">
                    <a:solidFill>
                      <a:srgbClr val="3C4A60"/>
                    </a:solidFill>
                  </a:tcPr>
                </a:tc>
              </a:tr>
              <a:tr h="187200">
                <a:tc>
                  <a:txBody>
                    <a:bodyPr/>
                    <a:lstStyle/>
                    <a:p>
                      <a:pPr algn="l"/>
                      <a:r>
                        <a:rPr sz="850" b="0">
                          <a:solidFill>
                            <a:srgbClr val="1A1A1A"/>
                          </a:solidFill>
                          <a:latin typeface="Versos"/>
                        </a:rPr>
                        <a:t>3,9%</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0,6%</a:t>
                      </a:r>
                    </a:p>
                  </a:txBody>
                  <a:tcPr marL="43200" marR="43200" marT="0" marB="0">
                    <a:solidFill>
                      <a:srgbClr val="F4F7F9"/>
                    </a:solidFill>
                  </a:tcPr>
                </a:tc>
                <a:tc>
                  <a:txBody>
                    <a:bodyPr/>
                    <a:lstStyle/>
                    <a:p>
                      <a:pPr algn="r"/>
                      <a:r>
                        <a:rPr sz="850" b="0">
                          <a:solidFill>
                            <a:srgbClr val="1A1A1A"/>
                          </a:solidFill>
                          <a:latin typeface="Versos"/>
                        </a:rPr>
                        <a:t>19,4%</a:t>
                      </a:r>
                    </a:p>
                  </a:txBody>
                  <a:tcPr marL="43200" marR="43200" marT="0" marB="0">
                    <a:solidFill>
                      <a:srgbClr val="F4F7F9"/>
                    </a:solidFill>
                  </a:tcPr>
                </a:tc>
                <a:tc>
                  <a:txBody>
                    <a:bodyPr/>
                    <a:lstStyle/>
                    <a:p>
                      <a:pPr algn="r"/>
                      <a:r>
                        <a:rPr sz="850" b="0">
                          <a:solidFill>
                            <a:srgbClr val="1A1A1A"/>
                          </a:solidFill>
                          <a:latin typeface="Versos"/>
                        </a:rPr>
                        <a:t>30,0%</a:t>
                      </a:r>
                    </a:p>
                  </a:txBody>
                  <a:tcPr marL="43200" marR="43200" marT="0" marB="0">
                    <a:solidFill>
                      <a:srgbClr val="F4F7F9"/>
                    </a:solidFill>
                  </a:tcPr>
                </a:tc>
                <a:tc>
                  <a:txBody>
                    <a:bodyPr/>
                    <a:lstStyle/>
                    <a:p>
                      <a:pPr algn="r"/>
                      <a:r>
                        <a:rPr sz="850" b="0">
                          <a:solidFill>
                            <a:srgbClr val="1A1A1A"/>
                          </a:solidFill>
                          <a:latin typeface="Versos"/>
                        </a:rPr>
                        <a:t>2,7%</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40000" y="5039999"/>
            <a:ext cx="6480000" cy="180000"/>
          </a:xfrm>
          <a:prstGeom prst="rect">
            <a:avLst/>
          </a:prstGeom>
          <a:noFill/>
        </p:spPr>
        <p:txBody>
          <a:bodyPr wrap="square" lIns="0" rIns="0" tIns="0" bIns="0">
            <a:spAutoFit/>
          </a:bodyPr>
          <a:lstStyle/>
          <a:p>
            <a:pPr algn="l"/>
            <a:r>
              <a:rPr sz="900" b="1">
                <a:solidFill>
                  <a:srgbClr val="759DB4"/>
                </a:solidFill>
                <a:latin typeface="Versos"/>
              </a:rPr>
              <a:t>COMENTÁRIO DO GESTOR E ANÁLISE DE MERCADO</a:t>
            </a:r>
          </a:p>
        </p:txBody>
      </p:sp>
      <p:sp>
        <p:nvSpPr>
          <p:cNvPr id="9" name="TextBox 8"/>
          <p:cNvSpPr txBox="1"/>
          <p:nvPr/>
        </p:nvSpPr>
        <p:spPr>
          <a:xfrm>
            <a:off x="540000" y="5255999"/>
            <a:ext cx="6480000" cy="4932001"/>
          </a:xfrm>
          <a:prstGeom prst="rect">
            <a:avLst/>
          </a:prstGeom>
          <a:noFill/>
        </p:spPr>
        <p:txBody>
          <a:bodyPr wrap="square" lIns="0" rIns="0" tIns="0" bIns="0">
            <a:spAutoFit/>
          </a:bodyPr>
          <a:lstStyle/>
          <a:p>
            <a:pPr algn="l"/>
            <a:r>
              <a:rPr sz="900" b="0">
                <a:solidFill>
                  <a:srgbClr val="1A1A1A"/>
                </a:solidFill>
                <a:latin typeface="Versos"/>
              </a:rPr>
              <a:t>O Tivio ALT 90 registrou rentabilidade de {mes} no mês, equivalente a {pct_mes} do CDI no período. Desde o início da estratégia, o fundo acumula retorno de {inicio}, frente a {bench_inicio} do CDI, o que corresponde a um desempenho anualizado de {pct_anual_inicio} do CDI.</a:t>
            </a:r>
          </a:p>
          <a:p>
            <a:pPr algn="l"/>
            <a:r>
              <a:rPr sz="900" b="0">
                <a:solidFill>
                  <a:srgbClr val="1A1A1A"/>
                </a:solidFill>
                <a:latin typeface="Versos"/>
              </a:rPr>
              <a:t/>
            </a:r>
          </a:p>
          <a:p>
            <a:pPr algn="l"/>
            <a:r>
              <a:rPr sz="900" b="0">
                <a:solidFill>
                  <a:srgbClr val="1A1A1A"/>
                </a:solidFill>
                <a:latin typeface="Versos"/>
              </a:rPr>
              <a:t>Em setembro, iniciamos posição em uma cota sênior de FIDC com exposição ao setor de telecomunicações. A tese de investimento está fundamentada na atuação consolidada do originador, que possui mais de 23 anos de experiência no segmento, bem como nas características estruturais do mercado em que atua, marcado por elevada pulverização, baixa bancarização, receitas recorrentes e oferta restrita de crédito. Adicionalmente, a operação apresenta carteira de recebíveis amplamente diversificada entre cedentes e sacados, além de mecanismos de proteção que incluem overcollateral mínimo de 25% sobre os ativos cedidos ao fundo.</a:t>
            </a:r>
          </a:p>
          <a:p>
            <a:pPr algn="l"/>
            <a:r>
              <a:rPr sz="900" b="0">
                <a:solidFill>
                  <a:srgbClr val="1A1A1A"/>
                </a:solidFill>
                <a:latin typeface="Versos"/>
              </a:rPr>
              <a:t/>
            </a:r>
          </a:p>
          <a:p>
            <a:pPr algn="l"/>
            <a:r>
              <a:rPr sz="900" b="0">
                <a:solidFill>
                  <a:srgbClr val="1A1A1A"/>
                </a:solidFill>
                <a:latin typeface="Versos"/>
              </a:rPr>
              <a:t>A nova alocação reforça nossa estratégia de buscar operações com perfil defensivo, adequada relação entre risco e retorno e estruturas robustas de mitigação de risco. Seguimos priorizando ativos com forte alinhamento de interesses entre as partes envolvidas, qualidade na originação dos créditos e mecanismos de proteção compatíveis com o cenário de mercado. Mantemos uma postura seletiva na alocação de capital, avaliando continuamente oportunidades que possam contribuir para a geração consistente de retornos ajustados ao risco para os cotistas.</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90</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Investidores em geral</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06/06/2025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R$ 19.959.710,82</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R$ 15.653.770,20</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2,43%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+3,40%</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2,18 anos</a:t>
                      </a:r>
                    </a:p>
                  </a:txBody>
                  <a:tcPr marL="43200" marR="43200" marT="0" marB="0">
                    <a:solidFill>
                      <a:srgbClr val="F4F7F9"/>
                    </a:solidFill>
                  </a:tcPr>
                </a:tc>
              </a:tr>
            </a:tbl>
          </a:graphicData>
        </a:graphic>
      </p:graphicFrame>
      <p:sp>
        <p:nvSpPr>
          <p:cNvPr id="8" name="TextBox 7"/>
          <p:cNvSpPr txBox="1"/>
          <p:nvPr/>
        </p:nvSpPr>
        <p:spPr>
          <a:xfrm>
            <a:off x="540000" y="37440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9" name="TextBox 8"/>
          <p:cNvSpPr txBox="1"/>
          <p:nvPr/>
        </p:nvSpPr>
        <p:spPr>
          <a:xfrm>
            <a:off x="540000" y="3942000"/>
            <a:ext cx="6480000" cy="61560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0" name="TextBox 9"/>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1" name="TextBox 10"/>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