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0.014499999999999999</c:v>
                </c:pt>
                <c:pt idx="2">
                  <c:v>0.0287</c:v>
                </c:pt>
                <c:pt idx="3">
                  <c:v>0.0417</c:v>
                </c:pt>
                <c:pt idx="4">
                  <c:v>0.0559</c:v>
                </c:pt>
                <c:pt idx="5">
                  <c:v>0.0705</c:v>
                </c:pt>
                <c:pt idx="6">
                  <c:v>0.0823</c:v>
                </c:pt>
                <c:pt idx="7">
                  <c:v>0.0965</c:v>
                </c:pt>
                <c:pt idx="8">
                  <c:v>0.1093</c:v>
                </c:pt>
                <c:pt idx="9">
                  <c:v>0.1223</c:v>
                </c:pt>
                <c:pt idx="10">
                  <c:v>0.1361</c:v>
                </c:pt>
                <c:pt idx="11">
                  <c:v>0.1516</c:v>
                </c:pt>
                <c:pt idx="12">
                  <c:v>0.16570000000000001</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90</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61.020.441/0001-40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Tivio ALT 90 busca retorno superior ao CDI com baixa volatilidade, por meio de FIDCs em cotas sênior, garantindo diversificação, segurança e relação risco-retorno atrativa.</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1,22%</a:t>
                      </a:r>
                    </a:p>
                  </a:txBody>
                  <a:tcPr marL="43200" marR="43200" marT="0" marB="0">
                    <a:solidFill>
                      <a:srgbClr val="F4F7F9"/>
                    </a:solidFill>
                  </a:tcPr>
                </a:tc>
                <a:tc>
                  <a:txBody>
                    <a:bodyPr/>
                    <a:lstStyle/>
                    <a:p>
                      <a:pPr algn="r"/>
                      <a:r>
                        <a:rPr sz="850" b="0">
                          <a:solidFill>
                            <a:srgbClr val="1A1A1A"/>
                          </a:solidFill>
                          <a:latin typeface="Versos"/>
                        </a:rPr>
                        <a:t>10,40%</a:t>
                      </a:r>
                    </a:p>
                  </a:txBody>
                  <a:tcPr marL="43200" marR="43200" marT="0" marB="0">
                    <a:solidFill>
                      <a:srgbClr val="F4F7F9"/>
                    </a:solidFill>
                  </a:tcPr>
                </a:tc>
                <a:tc>
                  <a:txBody>
                    <a:bodyPr/>
                    <a:lstStyle/>
                    <a:p>
                      <a:pPr algn="r"/>
                      <a:r>
                        <a:rPr sz="850" b="0">
                          <a:solidFill>
                            <a:srgbClr val="1A1A1A"/>
                          </a:solidFill>
                          <a:latin typeface="Versos"/>
                        </a:rPr>
                        <a:t>16,49%</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21,25%</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18,41%</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112%</a:t>
                      </a:r>
                    </a:p>
                  </a:txBody>
                  <a:tcPr marL="43200" marR="43200" marT="0" marB="0">
                    <a:solidFill>
                      <a:srgbClr val="F4F7F9"/>
                    </a:solidFill>
                  </a:tcPr>
                </a:tc>
                <a:tc>
                  <a:txBody>
                    <a:bodyPr/>
                    <a:lstStyle/>
                    <a:p>
                      <a:pPr algn="r"/>
                      <a:r>
                        <a:rPr sz="850" b="0">
                          <a:solidFill>
                            <a:srgbClr val="1A1A1A"/>
                          </a:solidFill>
                          <a:latin typeface="Versos"/>
                        </a:rPr>
                        <a:t>111%</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115%</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EXODUS FIDC SR</a:t>
                      </a:r>
                    </a:p>
                  </a:txBody>
                  <a:tcPr marL="43200" marR="43200" marT="0" marB="0">
                    <a:solidFill>
                      <a:srgbClr val="FFFFFF"/>
                    </a:solidFill>
                  </a:tcPr>
                </a:tc>
                <a:tc>
                  <a:txBody>
                    <a:bodyPr/>
                    <a:lstStyle/>
                    <a:p>
                      <a:pPr algn="r"/>
                      <a:r>
                        <a:rPr sz="850" b="0">
                          <a:solidFill>
                            <a:srgbClr val="1A1A1A"/>
                          </a:solidFill>
                          <a:latin typeface="Versos"/>
                        </a:rPr>
                        <a:t>7,78%</a:t>
                      </a:r>
                    </a:p>
                  </a:txBody>
                  <a:tcPr marL="43200" marR="43200" marT="0" marB="0">
                    <a:solidFill>
                      <a:srgbClr val="FFFFFF"/>
                    </a:solidFill>
                  </a:tcPr>
                </a:tc>
              </a:tr>
              <a:tr h="187200">
                <a:tc>
                  <a:txBody>
                    <a:bodyPr/>
                    <a:lstStyle/>
                    <a:p>
                      <a:pPr algn="l"/>
                      <a:r>
                        <a:rPr sz="850" b="1">
                          <a:solidFill>
                            <a:srgbClr val="1A1A1A"/>
                          </a:solidFill>
                          <a:latin typeface="Versos"/>
                        </a:rPr>
                        <a:t>MULTIPLIKE PLUS FIDC SR</a:t>
                      </a:r>
                    </a:p>
                  </a:txBody>
                  <a:tcPr marL="43200" marR="43200" marT="0" marB="0">
                    <a:solidFill>
                      <a:srgbClr val="F4F7F9"/>
                    </a:solidFill>
                  </a:tcPr>
                </a:tc>
                <a:tc>
                  <a:txBody>
                    <a:bodyPr/>
                    <a:lstStyle/>
                    <a:p>
                      <a:pPr algn="r"/>
                      <a:r>
                        <a:rPr sz="850" b="0">
                          <a:solidFill>
                            <a:srgbClr val="1A1A1A"/>
                          </a:solidFill>
                          <a:latin typeface="Versos"/>
                        </a:rPr>
                        <a:t>6,80%</a:t>
                      </a:r>
                    </a:p>
                  </a:txBody>
                  <a:tcPr marL="43200" marR="43200" marT="0" marB="0">
                    <a:solidFill>
                      <a:srgbClr val="F4F7F9"/>
                    </a:solidFill>
                  </a:tcPr>
                </a:tc>
              </a:tr>
              <a:tr h="187200">
                <a:tc>
                  <a:txBody>
                    <a:bodyPr/>
                    <a:lstStyle/>
                    <a:p>
                      <a:pPr algn="l"/>
                      <a:r>
                        <a:rPr sz="850" b="1">
                          <a:solidFill>
                            <a:srgbClr val="1A1A1A"/>
                          </a:solidFill>
                          <a:latin typeface="Versos"/>
                        </a:rPr>
                        <a:t>BMA FIDC SR</a:t>
                      </a:r>
                    </a:p>
                  </a:txBody>
                  <a:tcPr marL="43200" marR="43200" marT="0" marB="0">
                    <a:solidFill>
                      <a:srgbClr val="FFFFFF"/>
                    </a:solidFill>
                  </a:tcPr>
                </a:tc>
                <a:tc>
                  <a:txBody>
                    <a:bodyPr/>
                    <a:lstStyle/>
                    <a:p>
                      <a:pPr algn="r"/>
                      <a:r>
                        <a:rPr sz="850" b="0">
                          <a:solidFill>
                            <a:srgbClr val="1A1A1A"/>
                          </a:solidFill>
                          <a:latin typeface="Versos"/>
                        </a:rPr>
                        <a:t>6,14%</a:t>
                      </a:r>
                    </a:p>
                  </a:txBody>
                  <a:tcPr marL="43200" marR="43200" marT="0" marB="0">
                    <a:solidFill>
                      <a:srgbClr val="FFFFFF"/>
                    </a:solidFill>
                  </a:tcPr>
                </a:tc>
              </a:tr>
              <a:tr h="187200">
                <a:tc>
                  <a:txBody>
                    <a:bodyPr/>
                    <a:lstStyle/>
                    <a:p>
                      <a:pPr algn="l"/>
                      <a:r>
                        <a:rPr sz="850" b="1">
                          <a:solidFill>
                            <a:srgbClr val="1A1A1A"/>
                          </a:solidFill>
                          <a:latin typeface="Versos"/>
                        </a:rPr>
                        <a:t>GUARDIAN MULTI CONSIGNADO XIII FIDC</a:t>
                      </a:r>
                    </a:p>
                  </a:txBody>
                  <a:tcPr marL="43200" marR="43200" marT="0" marB="0">
                    <a:solidFill>
                      <a:srgbClr val="F4F7F9"/>
                    </a:solidFill>
                  </a:tcPr>
                </a:tc>
                <a:tc>
                  <a:txBody>
                    <a:bodyPr/>
                    <a:lstStyle/>
                    <a:p>
                      <a:pPr algn="r"/>
                      <a:r>
                        <a:rPr sz="850" b="0">
                          <a:solidFill>
                            <a:srgbClr val="1A1A1A"/>
                          </a:solidFill>
                          <a:latin typeface="Versos"/>
                        </a:rPr>
                        <a:t>5,95%</a:t>
                      </a:r>
                    </a:p>
                  </a:txBody>
                  <a:tcPr marL="43200" marR="43200" marT="0" marB="0">
                    <a:solidFill>
                      <a:srgbClr val="F4F7F9"/>
                    </a:solidFill>
                  </a:tcPr>
                </a:tc>
              </a:tr>
              <a:tr h="187200">
                <a:tc>
                  <a:txBody>
                    <a:bodyPr/>
                    <a:lstStyle/>
                    <a:p>
                      <a:pPr algn="l"/>
                      <a:r>
                        <a:rPr sz="850" b="1">
                          <a:solidFill>
                            <a:srgbClr val="1A1A1A"/>
                          </a:solidFill>
                          <a:latin typeface="Versos"/>
                        </a:rPr>
                        <a:t>SOFISA</a:t>
                      </a:r>
                    </a:p>
                  </a:txBody>
                  <a:tcPr marL="43200" marR="43200" marT="0" marB="0">
                    <a:solidFill>
                      <a:srgbClr val="FFFFFF"/>
                    </a:solidFill>
                  </a:tcPr>
                </a:tc>
                <a:tc>
                  <a:txBody>
                    <a:bodyPr/>
                    <a:lstStyle/>
                    <a:p>
                      <a:pPr algn="r"/>
                      <a:r>
                        <a:rPr sz="850" b="0">
                          <a:solidFill>
                            <a:srgbClr val="1A1A1A"/>
                          </a:solidFill>
                          <a:latin typeface="Versos"/>
                        </a:rPr>
                        <a:t>5,28%</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Indústria e Comércio</a:t>
                      </a:r>
                    </a:p>
                  </a:txBody>
                  <a:tcPr marL="43200" marR="43200" marT="0" marB="0">
                    <a:solidFill>
                      <a:srgbClr val="FFFFFF"/>
                    </a:solidFill>
                  </a:tcPr>
                </a:tc>
                <a:tc>
                  <a:txBody>
                    <a:bodyPr/>
                    <a:lstStyle/>
                    <a:p>
                      <a:pPr algn="r"/>
                      <a:r>
                        <a:rPr sz="850" b="0">
                          <a:solidFill>
                            <a:srgbClr val="1A1A1A"/>
                          </a:solidFill>
                          <a:latin typeface="Versos"/>
                        </a:rPr>
                        <a:t>39,5%</a:t>
                      </a:r>
                    </a:p>
                  </a:txBody>
                  <a:tcPr marL="43200" marR="43200" marT="0" marB="0">
                    <a:solidFill>
                      <a:srgbClr val="FFFFFF"/>
                    </a:solidFill>
                  </a:tcPr>
                </a:tc>
              </a:tr>
              <a:tr h="187200">
                <a:tc>
                  <a:txBody>
                    <a:bodyPr/>
                    <a:lstStyle/>
                    <a:p>
                      <a:pPr algn="l"/>
                      <a:r>
                        <a:rPr sz="850" b="1">
                          <a:solidFill>
                            <a:srgbClr val="1A1A1A"/>
                          </a:solidFill>
                          <a:latin typeface="Versos"/>
                        </a:rPr>
                        <a:t>Consignados</a:t>
                      </a:r>
                    </a:p>
                  </a:txBody>
                  <a:tcPr marL="43200" marR="43200" marT="0" marB="0">
                    <a:solidFill>
                      <a:srgbClr val="F4F7F9"/>
                    </a:solidFill>
                  </a:tcPr>
                </a:tc>
                <a:tc>
                  <a:txBody>
                    <a:bodyPr/>
                    <a:lstStyle/>
                    <a:p>
                      <a:pPr algn="r"/>
                      <a:r>
                        <a:rPr sz="850" b="0">
                          <a:solidFill>
                            <a:srgbClr val="1A1A1A"/>
                          </a:solidFill>
                          <a:latin typeface="Versos"/>
                        </a:rPr>
                        <a:t>13,6%</a:t>
                      </a:r>
                    </a:p>
                  </a:txBody>
                  <a:tcPr marL="43200" marR="43200" marT="0" marB="0">
                    <a:solidFill>
                      <a:srgbClr val="F4F7F9"/>
                    </a:solidFill>
                  </a:tcPr>
                </a:tc>
              </a:tr>
              <a:tr h="187200">
                <a:tc>
                  <a:txBody>
                    <a:bodyPr/>
                    <a:lstStyle/>
                    <a:p>
                      <a:pPr algn="l"/>
                      <a:r>
                        <a:rPr sz="850" b="1">
                          <a:solidFill>
                            <a:srgbClr val="1A1A1A"/>
                          </a:solidFill>
                          <a:latin typeface="Versos"/>
                        </a:rPr>
                        <a:t>Crédito PF</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r>
              <a:tr h="187200">
                <a:tc>
                  <a:txBody>
                    <a:bodyPr/>
                    <a:lstStyle/>
                    <a:p>
                      <a:pPr algn="l"/>
                      <a:r>
                        <a:rPr sz="850" b="1">
                          <a:solidFill>
                            <a:srgbClr val="1A1A1A"/>
                          </a:solidFill>
                          <a:latin typeface="Versos"/>
                        </a:rPr>
                        <a:t>Financeiro</a:t>
                      </a:r>
                    </a:p>
                  </a:txBody>
                  <a:tcPr marL="43200" marR="43200" marT="0" marB="0">
                    <a:solidFill>
                      <a:srgbClr val="F4F7F9"/>
                    </a:solidFill>
                  </a:tcPr>
                </a:tc>
                <a:tc>
                  <a:txBody>
                    <a:bodyPr/>
                    <a:lstStyle/>
                    <a:p>
                      <a:pPr algn="r"/>
                      <a:r>
                        <a:rPr sz="850" b="0">
                          <a:solidFill>
                            <a:srgbClr val="1A1A1A"/>
                          </a:solidFill>
                          <a:latin typeface="Versos"/>
                        </a:rPr>
                        <a:t>8,3%</a:t>
                      </a:r>
                    </a:p>
                  </a:txBody>
                  <a:tcPr marL="43200" marR="43200" marT="0" marB="0">
                    <a:solidFill>
                      <a:srgbClr val="F4F7F9"/>
                    </a:solidFill>
                  </a:tcPr>
                </a:tc>
              </a:tr>
              <a:tr h="187200">
                <a:tc>
                  <a:txBody>
                    <a:bodyPr/>
                    <a:lstStyle/>
                    <a:p>
                      <a:pPr algn="l"/>
                      <a:r>
                        <a:rPr sz="850" b="1">
                          <a:solidFill>
                            <a:srgbClr val="1A1A1A"/>
                          </a:solidFill>
                          <a:latin typeface="Versos"/>
                        </a:rPr>
                        <a:t>Comércio atacadista e varejista</a:t>
                      </a:r>
                    </a:p>
                  </a:txBody>
                  <a:tcPr marL="43200" marR="43200" marT="0" marB="0">
                    <a:solidFill>
                      <a:srgbClr val="FFFFFF"/>
                    </a:solidFill>
                  </a:tcPr>
                </a:tc>
                <a:tc>
                  <a:txBody>
                    <a:bodyPr/>
                    <a:lstStyle/>
                    <a:p>
                      <a:pPr algn="r"/>
                      <a:r>
                        <a:rPr sz="850" b="0">
                          <a:solidFill>
                            <a:srgbClr val="1A1A1A"/>
                          </a:solidFill>
                          <a:latin typeface="Versos"/>
                        </a:rPr>
                        <a:t>6,6%</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1,9%</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BB</a:t>
                      </a:r>
                    </a:p>
                  </a:txBody>
                  <a:tcPr marL="43200" marR="43200" marT="0" marB="0">
                    <a:solidFill>
                      <a:srgbClr val="3C4A60"/>
                    </a:solidFill>
                  </a:tcPr>
                </a:tc>
              </a:tr>
              <a:tr h="187200">
                <a:tc>
                  <a:txBody>
                    <a:bodyPr/>
                    <a:lstStyle/>
                    <a:p>
                      <a:pPr algn="l"/>
                      <a:r>
                        <a:rPr sz="850" b="0">
                          <a:solidFill>
                            <a:srgbClr val="1A1A1A"/>
                          </a:solidFill>
                          <a:latin typeface="Versos"/>
                        </a:rPr>
                        <a:t>3,9%</a:t>
                      </a:r>
                    </a:p>
                  </a:txBody>
                  <a:tcPr marL="43200" marR="43200" marT="0" marB="0">
                    <a:solidFill>
                      <a:srgbClr val="F4F7F9"/>
                    </a:solidFill>
                  </a:tcPr>
                </a:tc>
                <a:tc>
                  <a:txBody>
                    <a:bodyPr/>
                    <a:lstStyle/>
                    <a:p>
                      <a:pPr algn="r"/>
                      <a:r>
                        <a:rPr sz="850" b="0">
                          <a:solidFill>
                            <a:srgbClr val="1A1A1A"/>
                          </a:solidFill>
                          <a:latin typeface="Versos"/>
                        </a:rPr>
                        <a:t>3,7%</a:t>
                      </a:r>
                    </a:p>
                  </a:txBody>
                  <a:tcPr marL="43200" marR="43200" marT="0" marB="0">
                    <a:solidFill>
                      <a:srgbClr val="F4F7F9"/>
                    </a:solidFill>
                  </a:tcPr>
                </a:tc>
                <a:tc>
                  <a:txBody>
                    <a:bodyPr/>
                    <a:lstStyle/>
                    <a:p>
                      <a:pPr algn="r"/>
                      <a:r>
                        <a:rPr sz="850" b="0">
                          <a:solidFill>
                            <a:srgbClr val="1A1A1A"/>
                          </a:solidFill>
                          <a:latin typeface="Versos"/>
                        </a:rPr>
                        <a:t>0,6%</a:t>
                      </a:r>
                    </a:p>
                  </a:txBody>
                  <a:tcPr marL="43200" marR="43200" marT="0" marB="0">
                    <a:solidFill>
                      <a:srgbClr val="F4F7F9"/>
                    </a:solidFill>
                  </a:tcPr>
                </a:tc>
                <a:tc>
                  <a:txBody>
                    <a:bodyPr/>
                    <a:lstStyle/>
                    <a:p>
                      <a:pPr algn="r"/>
                      <a:r>
                        <a:rPr sz="850" b="0">
                          <a:solidFill>
                            <a:srgbClr val="1A1A1A"/>
                          </a:solidFill>
                          <a:latin typeface="Versos"/>
                        </a:rPr>
                        <a:t>19,4%</a:t>
                      </a:r>
                    </a:p>
                  </a:txBody>
                  <a:tcPr marL="43200" marR="43200" marT="0" marB="0">
                    <a:solidFill>
                      <a:srgbClr val="F4F7F9"/>
                    </a:solidFill>
                  </a:tcPr>
                </a:tc>
                <a:tc>
                  <a:txBody>
                    <a:bodyPr/>
                    <a:lstStyle/>
                    <a:p>
                      <a:pPr algn="r"/>
                      <a:r>
                        <a:rPr sz="850" b="0">
                          <a:solidFill>
                            <a:srgbClr val="1A1A1A"/>
                          </a:solidFill>
                          <a:latin typeface="Versos"/>
                        </a:rPr>
                        <a:t>30,0%</a:t>
                      </a:r>
                    </a:p>
                  </a:txBody>
                  <a:tcPr marL="43200" marR="43200" marT="0" marB="0">
                    <a:solidFill>
                      <a:srgbClr val="F4F7F9"/>
                    </a:solidFill>
                  </a:tcPr>
                </a:tc>
                <a:tc>
                  <a:txBody>
                    <a:bodyPr/>
                    <a:lstStyle/>
                    <a:p>
                      <a:pPr algn="r"/>
                      <a:r>
                        <a:rPr sz="850" b="0">
                          <a:solidFill>
                            <a:srgbClr val="1A1A1A"/>
                          </a:solidFill>
                          <a:latin typeface="Versos"/>
                        </a:rPr>
                        <a:t>2,7%</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90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O Tivio ALT 90 registrou rentabilidade de {mes} no mês, equivalente a {pct_mes} do CDI no período. Desde o início da estratégia, o fundo acumula retorno de {inicio}, frente a {bench_inicio} do CDI, o que corresponde a um desempenho anualizado de {pct_anual_inicio} do CDI.</a:t>
            </a:r>
          </a:p>
          <a:p>
            <a:pPr algn="l"/>
            <a:r>
              <a:rPr sz="900" b="0">
                <a:solidFill>
                  <a:srgbClr val="1A1A1A"/>
                </a:solidFill>
                <a:latin typeface="Versos"/>
              </a:rPr>
              <a:t/>
            </a:r>
          </a:p>
          <a:p>
            <a:pPr algn="l"/>
            <a:r>
              <a:rPr sz="900" b="0">
                <a:solidFill>
                  <a:srgbClr val="1A1A1A"/>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a:p>
            <a:pPr algn="l"/>
            <a:r>
              <a:rPr sz="900" b="0">
                <a:solidFill>
                  <a:srgbClr val="1A1A1A"/>
                </a:solidFill>
                <a:latin typeface="Versos"/>
              </a:rPr>
              <a:t/>
            </a:r>
          </a:p>
          <a:p>
            <a:pPr algn="l"/>
            <a:r>
              <a:rPr sz="900" b="0">
                <a:solidFill>
                  <a:srgbClr val="1A1A1A"/>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90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06/06/2025</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R$ 19.959.710,82</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R$ 15.653.770,20</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2,43%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+3,40%</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2,18 anos</a:t>
                      </a:r>
                    </a:p>
                  </a:txBody>
                  <a:tcPr marL="43200" marR="43200" marT="0" marB="0">
                    <a:solidFill>
                      <a:srgbClr val="F4F7F9"/>
                    </a:solidFill>
                  </a:tcPr>
                </a:tc>
              </a:tr>
            </a:tbl>
          </a:graphicData>
        </a:graphic>
      </p:graphicFrame>
      <p:sp>
        <p:nvSpPr>
          <p:cNvPr id="8" name="TextBox 7"/>
          <p:cNvSpPr txBox="1"/>
          <p:nvPr/>
        </p:nvSpPr>
        <p:spPr>
          <a:xfrm>
            <a:off x="540000" y="3744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9" name="TextBox 8"/>
          <p:cNvSpPr txBox="1"/>
          <p:nvPr/>
        </p:nvSpPr>
        <p:spPr>
          <a:xfrm>
            <a:off x="540000" y="3942000"/>
            <a:ext cx="6480000" cy="61560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