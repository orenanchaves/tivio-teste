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Fundo</c:v>
                </c:pt>
              </c:strCache>
            </c:strRef>
          </c:tx>
          <c:spPr>
            <a:ln w="25400">
              <a:solidFill>
                <a:srgbClr val="3C4A60"/>
              </a:solidFill>
            </a:ln>
          </c:spPr>
          <c:marker>
            <c:symbol val="none"/>
          </c:marker>
          <c:cat>
            <c:strRef>
              <c:f>Sheet1!$A$2:$A$14</c:f>
              <c:strCache>
                <c:ptCount val="13"/>
                <c:pt idx="0">
                  <c:v>ago/25</c:v>
                </c:pt>
                <c:pt idx="1">
                  <c:v>set/25</c:v>
                </c:pt>
                <c:pt idx="2">
                  <c:v>out/25</c:v>
                </c:pt>
                <c:pt idx="3">
                  <c:v>nov/25</c:v>
                </c:pt>
                <c:pt idx="4">
                  <c:v>dez/25</c:v>
                </c:pt>
                <c:pt idx="5">
                  <c:v>jan/26</c:v>
                </c:pt>
                <c:pt idx="6">
                  <c:v>fev/26</c:v>
                </c:pt>
                <c:pt idx="7">
                  <c:v>mar/26</c:v>
                </c:pt>
                <c:pt idx="8">
                  <c:v>abr/26</c:v>
                </c:pt>
                <c:pt idx="9">
                  <c:v>mai/26</c:v>
                </c:pt>
                <c:pt idx="10">
                  <c:v>jun/26</c:v>
                </c:pt>
                <c:pt idx="11">
                  <c:v>jul/26</c:v>
                </c:pt>
                <c:pt idx="12">
                  <c:v>ago/26</c:v>
                </c:pt>
              </c:strCache>
            </c:strRef>
          </c:cat>
          <c:val>
            <c:numRef>
              <c:f>Sheet1!$B$2:$B$14</c:f>
              <c:numCache>
                <c:formatCode>General</c:formatCode>
                <c:ptCount val="13"/>
                <c:pt idx="0">
                  <c:v>0.0</c:v>
                </c:pt>
                <c:pt idx="1">
                  <c:v>0.016399999999999998</c:v>
                </c:pt>
                <c:pt idx="2">
                  <c:v>0.0166</c:v>
                </c:pt>
                <c:pt idx="3">
                  <c:v>0.031</c:v>
                </c:pt>
                <c:pt idx="4">
                  <c:v>0.0359</c:v>
                </c:pt>
                <c:pt idx="5">
                  <c:v>0.058899999999999994</c:v>
                </c:pt>
                <c:pt idx="6">
                  <c:v>0.0695</c:v>
                </c:pt>
                <c:pt idx="7">
                  <c:v>0.0667</c:v>
                </c:pt>
                <c:pt idx="8">
                  <c:v>0.0697</c:v>
                </c:pt>
                <c:pt idx="9">
                  <c:v>0.0726</c:v>
                </c:pt>
                <c:pt idx="10">
                  <c:v>0.0724</c:v>
                </c:pt>
                <c:pt idx="11">
                  <c:v>0.08410000000000001</c:v>
                </c:pt>
                <c:pt idx="12">
                  <c:v>0.0978</c:v>
                </c:pt>
              </c:numCache>
            </c:numRef>
          </c:val>
          <c:smooth val="0"/>
        </c:ser>
        <c:ser>
          <c:idx val="1"/>
          <c:order val="1"/>
          <c:tx>
            <c:strRef>
              <c:f>Sheet1!$C$1</c:f>
              <c:strCache>
                <c:ptCount val="1"/>
                <c:pt idx="0">
                  <c:v>IMA-B 5</c:v>
                </c:pt>
              </c:strCache>
            </c:strRef>
          </c:tx>
          <c:spPr>
            <a:ln w="25400">
              <a:solidFill>
                <a:srgbClr val="ABC6CD"/>
              </a:solidFill>
              <a:prstDash val="dash"/>
            </a:ln>
          </c:spPr>
          <c:marker>
            <c:symbol val="none"/>
          </c:marker>
          <c:cat>
            <c:strRef>
              <c:f>Sheet1!$A$2:$A$14</c:f>
              <c:strCache>
                <c:ptCount val="13"/>
                <c:pt idx="0">
                  <c:v>ago/25</c:v>
                </c:pt>
                <c:pt idx="1">
                  <c:v>set/25</c:v>
                </c:pt>
                <c:pt idx="2">
                  <c:v>out/25</c:v>
                </c:pt>
                <c:pt idx="3">
                  <c:v>nov/25</c:v>
                </c:pt>
                <c:pt idx="4">
                  <c:v>dez/25</c:v>
                </c:pt>
                <c:pt idx="5">
                  <c:v>jan/26</c:v>
                </c:pt>
                <c:pt idx="6">
                  <c:v>fev/26</c:v>
                </c:pt>
                <c:pt idx="7">
                  <c:v>mar/26</c:v>
                </c:pt>
                <c:pt idx="8">
                  <c:v>abr/26</c:v>
                </c:pt>
                <c:pt idx="9">
                  <c:v>mai/26</c:v>
                </c:pt>
                <c:pt idx="10">
                  <c:v>jun/26</c:v>
                </c:pt>
                <c:pt idx="11">
                  <c:v>jul/26</c:v>
                </c:pt>
                <c:pt idx="12">
                  <c:v>ago/26</c:v>
                </c:pt>
              </c:strCache>
            </c:strRef>
          </c:cat>
          <c:val>
            <c:numRef>
              <c:f>Sheet1!$C$2:$C$14</c:f>
              <c:numCache>
                <c:formatCode>General</c:formatCode>
                <c:ptCount val="13"/>
                <c:pt idx="0">
                  <c:v>0.0</c:v>
                </c:pt>
                <c:pt idx="1">
                  <c:v>0.0066</c:v>
                </c:pt>
                <c:pt idx="2">
                  <c:v>0.0169</c:v>
                </c:pt>
                <c:pt idx="3">
                  <c:v>0.0278</c:v>
                </c:pt>
                <c:pt idx="4">
                  <c:v>0.037599999999999995</c:v>
                </c:pt>
                <c:pt idx="5">
                  <c:v>0.0501</c:v>
                </c:pt>
                <c:pt idx="6">
                  <c:v>0.0629</c:v>
                </c:pt>
                <c:pt idx="7">
                  <c:v>0.07769999999999999</c:v>
                </c:pt>
                <c:pt idx="8">
                  <c:v>0.0919</c:v>
                </c:pt>
                <c:pt idx="9">
                  <c:v>0.1024</c:v>
                </c:pt>
                <c:pt idx="10">
                  <c:v>0.1048</c:v>
                </c:pt>
                <c:pt idx="11">
                  <c:v>0.1185</c:v>
                </c:pt>
                <c:pt idx="12">
                  <c:v>0.1328</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numFmt formatCode="0.0%" sourceLinked="0"/>
        <c:majorTickMark val="out"/>
        <c:minorTickMark val="none"/>
        <c:tickLblPos val="nextTo"/>
        <c:crossAx val="2118791784"/>
        <c:crosses val="autoZero"/>
      </c:valAx>
    </c:plotArea>
    <c:legend>
      <c:legendPos val="t"/>
      <c:layout/>
      <c:overlay val="0"/>
    </c:legend>
    <c:plotVisOnly val="1"/>
    <c:dispBlanksAs val="gap"/>
    <c:showDLblsOverMax val="0"/>
  </c:chart>
  <c:txPr>
    <a:bodyPr/>
    <a:lstStyle/>
    <a:p>
      <a:pPr>
        <a:defRPr sz="800">
          <a:latin typeface="Versos"/>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800000"/>
          </a:xfrm>
          <a:prstGeom prst="rect">
            <a:avLst/>
          </a:prstGeom>
          <a:solidFill>
            <a:srgbClr val="3C4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5040000" cy="180000"/>
          </a:xfrm>
          <a:prstGeom prst="rect">
            <a:avLst/>
          </a:prstGeom>
          <a:noFill/>
        </p:spPr>
        <p:txBody>
          <a:bodyPr wrap="square" lIns="0" rIns="0" tIns="0" bIns="0">
            <a:spAutoFit/>
          </a:bodyPr>
          <a:lstStyle/>
          <a:p>
            <a:pPr algn="l"/>
            <a:r>
              <a:rPr sz="800" b="1">
                <a:solidFill>
                  <a:srgbClr val="ABC6CD"/>
                </a:solidFill>
                <a:latin typeface="Versos"/>
              </a:rPr>
              <a:t>RELATÓRIO DE GESTÃO</a:t>
            </a:r>
          </a:p>
        </p:txBody>
      </p:sp>
      <p:sp>
        <p:nvSpPr>
          <p:cNvPr id="4" name="TextBox 3"/>
          <p:cNvSpPr txBox="1"/>
          <p:nvPr/>
        </p:nvSpPr>
        <p:spPr>
          <a:xfrm>
            <a:off x="540000" y="540000"/>
            <a:ext cx="5040000" cy="396000"/>
          </a:xfrm>
          <a:prstGeom prst="rect">
            <a:avLst/>
          </a:prstGeom>
          <a:noFill/>
        </p:spPr>
        <p:txBody>
          <a:bodyPr wrap="square" lIns="0" rIns="0" tIns="0" bIns="0">
            <a:spAutoFit/>
          </a:bodyPr>
          <a:lstStyle/>
          <a:p>
            <a:pPr algn="l"/>
            <a:r>
              <a:rPr sz="2000" b="1">
                <a:solidFill>
                  <a:srgbClr val="FFFFFF"/>
                </a:solidFill>
                <a:latin typeface="Versos"/>
              </a:rPr>
              <a:t>Tivio Infra Plus</a:t>
            </a:r>
          </a:p>
        </p:txBody>
      </p:sp>
      <p:sp>
        <p:nvSpPr>
          <p:cNvPr id="5" name="TextBox 4"/>
          <p:cNvSpPr txBox="1"/>
          <p:nvPr/>
        </p:nvSpPr>
        <p:spPr>
          <a:xfrm>
            <a:off x="540000" y="954000"/>
            <a:ext cx="5040000" cy="180000"/>
          </a:xfrm>
          <a:prstGeom prst="rect">
            <a:avLst/>
          </a:prstGeom>
          <a:noFill/>
        </p:spPr>
        <p:txBody>
          <a:bodyPr wrap="square" lIns="0" rIns="0" tIns="0" bIns="0">
            <a:spAutoFit/>
          </a:bodyPr>
          <a:lstStyle/>
          <a:p>
            <a:pPr algn="l"/>
            <a:r>
              <a:rPr sz="800" b="0">
                <a:solidFill>
                  <a:srgbClr val="ABC6CD"/>
                </a:solidFill>
                <a:latin typeface="Versos"/>
              </a:rPr>
              <a:t>CNPJ: 32.485.590/0001-86  ·  Benchmark: IMA-B 5</a:t>
            </a:r>
          </a:p>
        </p:txBody>
      </p:sp>
      <p:sp>
        <p:nvSpPr>
          <p:cNvPr id="6" name="TextBox 5"/>
          <p:cNvSpPr txBox="1"/>
          <p:nvPr/>
        </p:nvSpPr>
        <p:spPr>
          <a:xfrm>
            <a:off x="540000" y="1440000"/>
            <a:ext cx="5040000" cy="180000"/>
          </a:xfrm>
          <a:prstGeom prst="rect">
            <a:avLst/>
          </a:prstGeom>
          <a:noFill/>
        </p:spPr>
        <p:txBody>
          <a:bodyPr wrap="square" lIns="0" rIns="0" tIns="0" bIns="0">
            <a:spAutoFit/>
          </a:bodyPr>
          <a:lstStyle/>
          <a:p>
            <a:pPr algn="l"/>
            <a:r>
              <a:rPr sz="900" b="1">
                <a:solidFill>
                  <a:srgbClr val="C1F4D4"/>
                </a:solidFill>
                <a:latin typeface="Versos"/>
              </a:rPr>
              <a:t>Agosto de 2026</a:t>
            </a:r>
          </a:p>
        </p:txBody>
      </p:sp>
      <p:sp>
        <p:nvSpPr>
          <p:cNvPr id="7" name="TextBox 6"/>
          <p:cNvSpPr txBox="1"/>
          <p:nvPr/>
        </p:nvSpPr>
        <p:spPr>
          <a:xfrm>
            <a:off x="540000" y="2088000"/>
            <a:ext cx="6480000" cy="180000"/>
          </a:xfrm>
          <a:prstGeom prst="rect">
            <a:avLst/>
          </a:prstGeom>
          <a:noFill/>
        </p:spPr>
        <p:txBody>
          <a:bodyPr wrap="square" lIns="0" rIns="0" tIns="0" bIns="0">
            <a:spAutoFit/>
          </a:bodyPr>
          <a:lstStyle/>
          <a:p>
            <a:pPr algn="l"/>
            <a:r>
              <a:rPr sz="900" b="1">
                <a:solidFill>
                  <a:srgbClr val="759DB4"/>
                </a:solidFill>
                <a:latin typeface="Versos"/>
              </a:rPr>
              <a:t>OBJETIVO DA CARTEIRA</a:t>
            </a:r>
          </a:p>
        </p:txBody>
      </p:sp>
      <p:sp>
        <p:nvSpPr>
          <p:cNvPr id="8" name="TextBox 7"/>
          <p:cNvSpPr txBox="1"/>
          <p:nvPr/>
        </p:nvSpPr>
        <p:spPr>
          <a:xfrm>
            <a:off x="540000" y="2286000"/>
            <a:ext cx="6480000" cy="576000"/>
          </a:xfrm>
          <a:prstGeom prst="rect">
            <a:avLst/>
          </a:prstGeom>
          <a:noFill/>
        </p:spPr>
        <p:txBody>
          <a:bodyPr wrap="square" lIns="0" rIns="0" tIns="0" bIns="0">
            <a:spAutoFit/>
          </a:bodyPr>
          <a:lstStyle/>
          <a:p>
            <a:pPr algn="l"/>
            <a:r>
              <a:rPr sz="900" b="0">
                <a:solidFill>
                  <a:srgbClr val="1A1A1A"/>
                </a:solidFill>
                <a:latin typeface="Versos"/>
              </a:rPr>
              <a:t>O fundo busca promover o investimento em debêntures de infraestrutura (Lei 12.431/11) que oferece benefício fiscal para o cotista pessoa física. O fundo busca superar o retorno de ativos indexados à inflação.</a:t>
            </a:r>
          </a:p>
        </p:txBody>
      </p:sp>
      <p:sp>
        <p:nvSpPr>
          <p:cNvPr id="9" name="TextBox 8"/>
          <p:cNvSpPr txBox="1"/>
          <p:nvPr/>
        </p:nvSpPr>
        <p:spPr>
          <a:xfrm>
            <a:off x="540000" y="2952000"/>
            <a:ext cx="3600000" cy="180000"/>
          </a:xfrm>
          <a:prstGeom prst="rect">
            <a:avLst/>
          </a:prstGeom>
          <a:noFill/>
        </p:spPr>
        <p:txBody>
          <a:bodyPr wrap="square" lIns="0" rIns="0" tIns="0" bIns="0">
            <a:spAutoFit/>
          </a:bodyPr>
          <a:lstStyle/>
          <a:p>
            <a:pPr algn="l"/>
            <a:r>
              <a:rPr sz="900" b="1">
                <a:solidFill>
                  <a:srgbClr val="759DB4"/>
                </a:solidFill>
                <a:latin typeface="Versos"/>
              </a:rPr>
              <a:t>RENTABILIDADE</a:t>
            </a:r>
          </a:p>
        </p:txBody>
      </p:sp>
      <p:graphicFrame>
        <p:nvGraphicFramePr>
          <p:cNvPr id="10" name="Table 9"/>
          <p:cNvGraphicFramePr>
            <a:graphicFrameLocks noGrp="1"/>
          </p:cNvGraphicFramePr>
          <p:nvPr/>
        </p:nvGraphicFramePr>
        <p:xfrm>
          <a:off x="540000" y="3150000"/>
          <a:ext cx="6479994" cy="748800"/>
        </p:xfrm>
        <a:graphic>
          <a:graphicData uri="http://schemas.openxmlformats.org/drawingml/2006/table">
            <a:tbl>
              <a:tblPr firstRow="1" bandRow="1">
                <a:tableStyleId>{5C22544A-7EE6-4342-B048-85BDC9FD1C3A}</a:tableStyleId>
              </a:tblPr>
              <a:tblGrid>
                <a:gridCol w="1747415"/>
                <a:gridCol w="728089"/>
                <a:gridCol w="728089"/>
                <a:gridCol w="728089"/>
                <a:gridCol w="728089"/>
                <a:gridCol w="728089"/>
                <a:gridCol w="1092134"/>
              </a:tblGrid>
              <a:tr h="187200">
                <a:tc>
                  <a:txBody>
                    <a:bodyPr/>
                    <a:lstStyle/>
                    <a:p>
                      <a:pPr algn="l"/>
                      <a:r>
                        <a:rPr sz="850" b="1">
                          <a:solidFill>
                            <a:srgbClr val="FFFFFF"/>
                          </a:solidFill>
                          <a:latin typeface="Versos"/>
                        </a:rPr>
                        <a:t/>
                      </a:r>
                    </a:p>
                  </a:txBody>
                  <a:tcPr marL="43200" marR="43200" marT="0" marB="0">
                    <a:solidFill>
                      <a:srgbClr val="3C4A60"/>
                    </a:solidFill>
                  </a:tcPr>
                </a:tc>
                <a:tc>
                  <a:txBody>
                    <a:bodyPr/>
                    <a:lstStyle/>
                    <a:p>
                      <a:pPr algn="r"/>
                      <a:r>
                        <a:rPr sz="850" b="1">
                          <a:solidFill>
                            <a:srgbClr val="FFFFFF"/>
                          </a:solidFill>
                          <a:latin typeface="Versos"/>
                        </a:rPr>
                        <a:t>Mês</a:t>
                      </a:r>
                    </a:p>
                  </a:txBody>
                  <a:tcPr marL="43200" marR="43200" marT="0" marB="0">
                    <a:solidFill>
                      <a:srgbClr val="3C4A60"/>
                    </a:solidFill>
                  </a:tcPr>
                </a:tc>
                <a:tc>
                  <a:txBody>
                    <a:bodyPr/>
                    <a:lstStyle/>
                    <a:p>
                      <a:pPr algn="r"/>
                      <a:r>
                        <a:rPr sz="850" b="1">
                          <a:solidFill>
                            <a:srgbClr val="FFFFFF"/>
                          </a:solidFill>
                          <a:latin typeface="Versos"/>
                        </a:rPr>
                        <a:t>Ano</a:t>
                      </a:r>
                    </a:p>
                  </a:txBody>
                  <a:tcPr marL="43200" marR="43200" marT="0" marB="0">
                    <a:solidFill>
                      <a:srgbClr val="3C4A60"/>
                    </a:solidFill>
                  </a:tcPr>
                </a:tc>
                <a:tc>
                  <a:txBody>
                    <a:bodyPr/>
                    <a:lstStyle/>
                    <a:p>
                      <a:pPr algn="r"/>
                      <a:r>
                        <a:rPr sz="850" b="1">
                          <a:solidFill>
                            <a:srgbClr val="FFFFFF"/>
                          </a:solidFill>
                          <a:latin typeface="Versos"/>
                        </a:rPr>
                        <a:t>12M</a:t>
                      </a:r>
                    </a:p>
                  </a:txBody>
                  <a:tcPr marL="43200" marR="43200" marT="0" marB="0">
                    <a:solidFill>
                      <a:srgbClr val="3C4A60"/>
                    </a:solidFill>
                  </a:tcPr>
                </a:tc>
                <a:tc>
                  <a:txBody>
                    <a:bodyPr/>
                    <a:lstStyle/>
                    <a:p>
                      <a:pPr algn="r"/>
                      <a:r>
                        <a:rPr sz="850" b="1">
                          <a:solidFill>
                            <a:srgbClr val="FFFFFF"/>
                          </a:solidFill>
                          <a:latin typeface="Versos"/>
                        </a:rPr>
                        <a:t>24M</a:t>
                      </a:r>
                    </a:p>
                  </a:txBody>
                  <a:tcPr marL="43200" marR="43200" marT="0" marB="0">
                    <a:solidFill>
                      <a:srgbClr val="3C4A60"/>
                    </a:solidFill>
                  </a:tcPr>
                </a:tc>
                <a:tc>
                  <a:txBody>
                    <a:bodyPr/>
                    <a:lstStyle/>
                    <a:p>
                      <a:pPr algn="r"/>
                      <a:r>
                        <a:rPr sz="850" b="1">
                          <a:solidFill>
                            <a:srgbClr val="FFFFFF"/>
                          </a:solidFill>
                          <a:latin typeface="Versos"/>
                        </a:rPr>
                        <a:t>36M</a:t>
                      </a:r>
                    </a:p>
                  </a:txBody>
                  <a:tcPr marL="43200" marR="43200" marT="0" marB="0">
                    <a:solidFill>
                      <a:srgbClr val="3C4A60"/>
                    </a:solidFill>
                  </a:tcPr>
                </a:tc>
                <a:tc>
                  <a:txBody>
                    <a:bodyPr/>
                    <a:lstStyle/>
                    <a:p>
                      <a:pPr algn="r"/>
                      <a:r>
                        <a:rPr sz="850" b="1">
                          <a:solidFill>
                            <a:srgbClr val="FFFFFF"/>
                          </a:solidFill>
                          <a:latin typeface="Versos"/>
                        </a:rPr>
                        <a:t>Desde o início</a:t>
                      </a:r>
                    </a:p>
                  </a:txBody>
                  <a:tcPr marL="43200" marR="43200" marT="0" marB="0">
                    <a:solidFill>
                      <a:srgbClr val="3C4A60"/>
                    </a:solidFill>
                  </a:tcPr>
                </a:tc>
              </a:tr>
              <a:tr h="187200">
                <a:tc>
                  <a:txBody>
                    <a:bodyPr/>
                    <a:lstStyle/>
                    <a:p>
                      <a:pPr algn="l"/>
                      <a:r>
                        <a:rPr sz="850" b="1">
                          <a:solidFill>
                            <a:srgbClr val="1A1A1A"/>
                          </a:solidFill>
                          <a:latin typeface="Versos"/>
                        </a:rPr>
                        <a:t>Fundo</a:t>
                      </a:r>
                    </a:p>
                  </a:txBody>
                  <a:tcPr marL="43200" marR="43200" marT="0" marB="0">
                    <a:solidFill>
                      <a:srgbClr val="F4F7F9"/>
                    </a:solidFill>
                  </a:tcPr>
                </a:tc>
                <a:tc>
                  <a:txBody>
                    <a:bodyPr/>
                    <a:lstStyle/>
                    <a:p>
                      <a:pPr algn="r"/>
                      <a:r>
                        <a:rPr sz="850" b="0">
                          <a:solidFill>
                            <a:srgbClr val="1A1A1A"/>
                          </a:solidFill>
                          <a:latin typeface="Versos"/>
                        </a:rPr>
                        <a:t>1,26%</a:t>
                      </a:r>
                    </a:p>
                  </a:txBody>
                  <a:tcPr marL="43200" marR="43200" marT="0" marB="0">
                    <a:solidFill>
                      <a:srgbClr val="F4F7F9"/>
                    </a:solidFill>
                  </a:tcPr>
                </a:tc>
                <a:tc>
                  <a:txBody>
                    <a:bodyPr/>
                    <a:lstStyle/>
                    <a:p>
                      <a:pPr algn="r"/>
                      <a:r>
                        <a:rPr sz="850" b="0">
                          <a:solidFill>
                            <a:srgbClr val="1A1A1A"/>
                          </a:solidFill>
                          <a:latin typeface="Versos"/>
                        </a:rPr>
                        <a:t>5,98%</a:t>
                      </a:r>
                    </a:p>
                  </a:txBody>
                  <a:tcPr marL="43200" marR="43200" marT="0" marB="0">
                    <a:solidFill>
                      <a:srgbClr val="F4F7F9"/>
                    </a:solidFill>
                  </a:tcPr>
                </a:tc>
                <a:tc>
                  <a:txBody>
                    <a:bodyPr/>
                    <a:lstStyle/>
                    <a:p>
                      <a:pPr algn="r"/>
                      <a:r>
                        <a:rPr sz="850" b="0">
                          <a:solidFill>
                            <a:srgbClr val="1A1A1A"/>
                          </a:solidFill>
                          <a:latin typeface="Versos"/>
                        </a:rPr>
                        <a:t>9,91%</a:t>
                      </a:r>
                    </a:p>
                  </a:txBody>
                  <a:tcPr marL="43200" marR="43200" marT="0" marB="0">
                    <a:solidFill>
                      <a:srgbClr val="F4F7F9"/>
                    </a:solidFill>
                  </a:tcPr>
                </a:tc>
                <a:tc>
                  <a:txBody>
                    <a:bodyPr/>
                    <a:lstStyle/>
                    <a:p>
                      <a:pPr algn="r"/>
                      <a:r>
                        <a:rPr sz="850" b="0">
                          <a:solidFill>
                            <a:srgbClr val="1A1A1A"/>
                          </a:solidFill>
                          <a:latin typeface="Versos"/>
                        </a:rPr>
                        <a:t>19,03%</a:t>
                      </a:r>
                    </a:p>
                  </a:txBody>
                  <a:tcPr marL="43200" marR="43200" marT="0" marB="0">
                    <a:solidFill>
                      <a:srgbClr val="F4F7F9"/>
                    </a:solidFill>
                  </a:tcPr>
                </a:tc>
                <a:tc>
                  <a:txBody>
                    <a:bodyPr/>
                    <a:lstStyle/>
                    <a:p>
                      <a:pPr algn="r"/>
                      <a:r>
                        <a:rPr sz="850" b="0">
                          <a:solidFill>
                            <a:srgbClr val="1A1A1A"/>
                          </a:solidFill>
                          <a:latin typeface="Versos"/>
                        </a:rPr>
                        <a:t>29,49%</a:t>
                      </a:r>
                    </a:p>
                  </a:txBody>
                  <a:tcPr marL="43200" marR="43200" marT="0" marB="0">
                    <a:solidFill>
                      <a:srgbClr val="F4F7F9"/>
                    </a:solidFill>
                  </a:tcPr>
                </a:tc>
                <a:tc>
                  <a:txBody>
                    <a:bodyPr/>
                    <a:lstStyle/>
                    <a:p>
                      <a:pPr algn="r"/>
                      <a:r>
                        <a:rPr sz="850" b="0">
                          <a:solidFill>
                            <a:srgbClr val="1A1A1A"/>
                          </a:solidFill>
                          <a:latin typeface="Versos"/>
                        </a:rPr>
                        <a:t>77,41%</a:t>
                      </a:r>
                    </a:p>
                  </a:txBody>
                  <a:tcPr marL="43200" marR="43200" marT="0" marB="0">
                    <a:solidFill>
                      <a:srgbClr val="F4F7F9"/>
                    </a:solidFill>
                  </a:tcPr>
                </a:tc>
              </a:tr>
              <a:tr h="187200">
                <a:tc>
                  <a:txBody>
                    <a:bodyPr/>
                    <a:lstStyle/>
                    <a:p>
                      <a:pPr algn="l"/>
                      <a:r>
                        <a:rPr sz="850" b="1">
                          <a:solidFill>
                            <a:srgbClr val="1A1A1A"/>
                          </a:solidFill>
                          <a:latin typeface="Versos"/>
                        </a:rPr>
                        <a:t>IMA-B 5</a:t>
                      </a:r>
                    </a:p>
                  </a:txBody>
                  <a:tcPr marL="43200" marR="43200" marT="0" marB="0">
                    <a:solidFill>
                      <a:srgbClr val="FFFFFF"/>
                    </a:solidFill>
                  </a:tcPr>
                </a:tc>
                <a:tc>
                  <a:txBody>
                    <a:bodyPr/>
                    <a:lstStyle/>
                    <a:p>
                      <a:pPr algn="r"/>
                      <a:r>
                        <a:rPr sz="850" b="0">
                          <a:solidFill>
                            <a:srgbClr val="1A1A1A"/>
                          </a:solidFill>
                          <a:latin typeface="Versos"/>
                        </a:rPr>
                        <a:t>1,28%</a:t>
                      </a:r>
                    </a:p>
                  </a:txBody>
                  <a:tcPr marL="43200" marR="43200" marT="0" marB="0">
                    <a:solidFill>
                      <a:srgbClr val="FFFFFF"/>
                    </a:solidFill>
                  </a:tcPr>
                </a:tc>
                <a:tc>
                  <a:txBody>
                    <a:bodyPr/>
                    <a:lstStyle/>
                    <a:p>
                      <a:pPr algn="r"/>
                      <a:r>
                        <a:rPr sz="850" b="0">
                          <a:solidFill>
                            <a:srgbClr val="1A1A1A"/>
                          </a:solidFill>
                          <a:latin typeface="Versos"/>
                        </a:rPr>
                        <a:t>9,18%</a:t>
                      </a:r>
                    </a:p>
                  </a:txBody>
                  <a:tcPr marL="43200" marR="43200" marT="0" marB="0">
                    <a:solidFill>
                      <a:srgbClr val="FFFFFF"/>
                    </a:solidFill>
                  </a:tcPr>
                </a:tc>
                <a:tc>
                  <a:txBody>
                    <a:bodyPr/>
                    <a:lstStyle/>
                    <a:p>
                      <a:pPr algn="r"/>
                      <a:r>
                        <a:rPr sz="850" b="0">
                          <a:solidFill>
                            <a:srgbClr val="1A1A1A"/>
                          </a:solidFill>
                          <a:latin typeface="Versos"/>
                        </a:rPr>
                        <a:t>13,34%</a:t>
                      </a:r>
                    </a:p>
                  </a:txBody>
                  <a:tcPr marL="43200" marR="43200" marT="0" marB="0">
                    <a:solidFill>
                      <a:srgbClr val="FFFFFF"/>
                    </a:solidFill>
                  </a:tcPr>
                </a:tc>
                <a:tc>
                  <a:txBody>
                    <a:bodyPr/>
                    <a:lstStyle/>
                    <a:p>
                      <a:pPr algn="r"/>
                      <a:r>
                        <a:rPr sz="850" b="0">
                          <a:solidFill>
                            <a:srgbClr val="1A1A1A"/>
                          </a:solidFill>
                          <a:latin typeface="Versos"/>
                        </a:rPr>
                        <a:t>23,32%</a:t>
                      </a:r>
                    </a:p>
                  </a:txBody>
                  <a:tcPr marL="43200" marR="43200" marT="0" marB="0">
                    <a:solidFill>
                      <a:srgbClr val="FFFFFF"/>
                    </a:solidFill>
                  </a:tcPr>
                </a:tc>
                <a:tc>
                  <a:txBody>
                    <a:bodyPr/>
                    <a:lstStyle/>
                    <a:p>
                      <a:pPr algn="r"/>
                      <a:r>
                        <a:rPr sz="850" b="0">
                          <a:solidFill>
                            <a:srgbClr val="1A1A1A"/>
                          </a:solidFill>
                          <a:latin typeface="Versos"/>
                        </a:rPr>
                        <a:t>33,11%</a:t>
                      </a:r>
                    </a:p>
                  </a:txBody>
                  <a:tcPr marL="43200" marR="43200" marT="0" marB="0">
                    <a:solidFill>
                      <a:srgbClr val="FFFFFF"/>
                    </a:solidFill>
                  </a:tcPr>
                </a:tc>
                <a:tc>
                  <a:txBody>
                    <a:bodyPr/>
                    <a:lstStyle/>
                    <a:p>
                      <a:pPr algn="r"/>
                      <a:r>
                        <a:rPr sz="850" b="0">
                          <a:solidFill>
                            <a:srgbClr val="1A1A1A"/>
                          </a:solidFill>
                          <a:latin typeface="Versos"/>
                        </a:rPr>
                        <a:t>87,91%</a:t>
                      </a:r>
                    </a:p>
                  </a:txBody>
                  <a:tcPr marL="43200" marR="43200" marT="0" marB="0">
                    <a:solidFill>
                      <a:srgbClr val="FFFFFF"/>
                    </a:solidFill>
                  </a:tcPr>
                </a:tc>
              </a:tr>
              <a:tr h="187200">
                <a:tc>
                  <a:txBody>
                    <a:bodyPr/>
                    <a:lstStyle/>
                    <a:p>
                      <a:pPr algn="l"/>
                      <a:r>
                        <a:rPr sz="850" b="1">
                          <a:solidFill>
                            <a:srgbClr val="1A1A1A"/>
                          </a:solidFill>
                          <a:latin typeface="Versos"/>
                        </a:rPr>
                        <a:t>Alfa</a:t>
                      </a:r>
                    </a:p>
                  </a:txBody>
                  <a:tcPr marL="43200" marR="43200" marT="0" marB="0">
                    <a:solidFill>
                      <a:srgbClr val="F4F7F9"/>
                    </a:solidFill>
                  </a:tcPr>
                </a:tc>
                <a:tc>
                  <a:txBody>
                    <a:bodyPr/>
                    <a:lstStyle/>
                    <a:p>
                      <a:pPr algn="r"/>
                      <a:r>
                        <a:rPr sz="850" b="0">
                          <a:solidFill>
                            <a:srgbClr val="1A1A1A"/>
                          </a:solidFill>
                          <a:latin typeface="Versos"/>
                        </a:rPr>
                        <a:t>−0,01%</a:t>
                      </a:r>
                    </a:p>
                  </a:txBody>
                  <a:tcPr marL="43200" marR="43200" marT="0" marB="0">
                    <a:solidFill>
                      <a:srgbClr val="F4F7F9"/>
                    </a:solidFill>
                  </a:tcPr>
                </a:tc>
                <a:tc>
                  <a:txBody>
                    <a:bodyPr/>
                    <a:lstStyle/>
                    <a:p>
                      <a:pPr algn="r"/>
                      <a:r>
                        <a:rPr sz="850" b="0">
                          <a:solidFill>
                            <a:srgbClr val="1A1A1A"/>
                          </a:solidFill>
                          <a:latin typeface="Versos"/>
                        </a:rPr>
                        <a:t>−3,20%</a:t>
                      </a:r>
                    </a:p>
                  </a:txBody>
                  <a:tcPr marL="43200" marR="43200" marT="0" marB="0">
                    <a:solidFill>
                      <a:srgbClr val="F4F7F9"/>
                    </a:solidFill>
                  </a:tcPr>
                </a:tc>
                <a:tc>
                  <a:txBody>
                    <a:bodyPr/>
                    <a:lstStyle/>
                    <a:p>
                      <a:pPr algn="r"/>
                      <a:r>
                        <a:rPr sz="850" b="0">
                          <a:solidFill>
                            <a:srgbClr val="1A1A1A"/>
                          </a:solidFill>
                          <a:latin typeface="Versos"/>
                        </a:rPr>
                        <a:t>−3,44%</a:t>
                      </a:r>
                    </a:p>
                  </a:txBody>
                  <a:tcPr marL="43200" marR="43200" marT="0" marB="0">
                    <a:solidFill>
                      <a:srgbClr val="F4F7F9"/>
                    </a:solidFill>
                  </a:tcPr>
                </a:tc>
                <a:tc>
                  <a:txBody>
                    <a:bodyPr/>
                    <a:lstStyle/>
                    <a:p>
                      <a:pPr algn="r"/>
                      <a:r>
                        <a:rPr sz="850" b="0">
                          <a:solidFill>
                            <a:srgbClr val="1A1A1A"/>
                          </a:solidFill>
                          <a:latin typeface="Versos"/>
                        </a:rPr>
                        <a:t>−4,28%</a:t>
                      </a:r>
                    </a:p>
                  </a:txBody>
                  <a:tcPr marL="43200" marR="43200" marT="0" marB="0">
                    <a:solidFill>
                      <a:srgbClr val="F4F7F9"/>
                    </a:solidFill>
                  </a:tcPr>
                </a:tc>
                <a:tc>
                  <a:txBody>
                    <a:bodyPr/>
                    <a:lstStyle/>
                    <a:p>
                      <a:pPr algn="r"/>
                      <a:r>
                        <a:rPr sz="850" b="0">
                          <a:solidFill>
                            <a:srgbClr val="1A1A1A"/>
                          </a:solidFill>
                          <a:latin typeface="Versos"/>
                        </a:rPr>
                        <a:t>−3,62%</a:t>
                      </a:r>
                    </a:p>
                  </a:txBody>
                  <a:tcPr marL="43200" marR="43200" marT="0" marB="0">
                    <a:solidFill>
                      <a:srgbClr val="F4F7F9"/>
                    </a:solidFill>
                  </a:tcPr>
                </a:tc>
                <a:tc>
                  <a:txBody>
                    <a:bodyPr/>
                    <a:lstStyle/>
                    <a:p>
                      <a:pPr algn="r"/>
                      <a:r>
                        <a:rPr sz="850" b="0">
                          <a:solidFill>
                            <a:srgbClr val="1A1A1A"/>
                          </a:solidFill>
                          <a:latin typeface="Versos"/>
                        </a:rPr>
                        <a:t>−10,50%</a:t>
                      </a:r>
                    </a:p>
                  </a:txBody>
                  <a:tcPr marL="43200" marR="43200" marT="0" marB="0">
                    <a:solidFill>
                      <a:srgbClr val="F4F7F9"/>
                    </a:solidFill>
                  </a:tcPr>
                </a:tc>
              </a:tr>
            </a:tbl>
          </a:graphicData>
        </a:graphic>
      </p:graphicFrame>
      <p:sp>
        <p:nvSpPr>
          <p:cNvPr id="11" name="TextBox 10"/>
          <p:cNvSpPr txBox="1"/>
          <p:nvPr/>
        </p:nvSpPr>
        <p:spPr>
          <a:xfrm>
            <a:off x="540000" y="4140000"/>
            <a:ext cx="6480000" cy="144000"/>
          </a:xfrm>
          <a:prstGeom prst="rect">
            <a:avLst/>
          </a:prstGeom>
          <a:noFill/>
        </p:spPr>
        <p:txBody>
          <a:bodyPr wrap="square" lIns="0" rIns="0" tIns="0" bIns="0">
            <a:spAutoFit/>
          </a:bodyPr>
          <a:lstStyle/>
          <a:p>
            <a:pPr algn="r"/>
            <a:r>
              <a:rPr sz="800" b="0">
                <a:solidFill>
                  <a:srgbClr val="637881"/>
                </a:solidFill>
                <a:latin typeface="Versos"/>
              </a:rPr>
              <a:t>Data base: 31/08/2026</a:t>
            </a:r>
          </a:p>
        </p:txBody>
      </p:sp>
      <p:sp>
        <p:nvSpPr>
          <p:cNvPr id="12" name="TextBox 11"/>
          <p:cNvSpPr txBox="1"/>
          <p:nvPr/>
        </p:nvSpPr>
        <p:spPr>
          <a:xfrm>
            <a:off x="540000" y="4428000"/>
            <a:ext cx="3096000" cy="180000"/>
          </a:xfrm>
          <a:prstGeom prst="rect">
            <a:avLst/>
          </a:prstGeom>
          <a:noFill/>
        </p:spPr>
        <p:txBody>
          <a:bodyPr wrap="square" lIns="0" rIns="0" tIns="0" bIns="0">
            <a:spAutoFit/>
          </a:bodyPr>
          <a:lstStyle/>
          <a:p>
            <a:pPr algn="l"/>
            <a:r>
              <a:rPr sz="900" b="1">
                <a:solidFill>
                  <a:srgbClr val="759DB4"/>
                </a:solidFill>
                <a:latin typeface="Versos"/>
              </a:rPr>
              <a:t>PRINCIPAIS EMISSORES</a:t>
            </a:r>
          </a:p>
        </p:txBody>
      </p:sp>
      <p:graphicFrame>
        <p:nvGraphicFramePr>
          <p:cNvPr id="13" name="Table 12"/>
          <p:cNvGraphicFramePr>
            <a:graphicFrameLocks noGrp="1"/>
          </p:cNvGraphicFramePr>
          <p:nvPr/>
        </p:nvGraphicFramePr>
        <p:xfrm>
          <a:off x="540000.0" y="4626000"/>
          <a:ext cx="3096000" cy="936000"/>
        </p:xfrm>
        <a:graphic>
          <a:graphicData uri="http://schemas.openxmlformats.org/drawingml/2006/table">
            <a:tbl>
              <a:tblPr firstRow="1" bandRow="1">
                <a:tableStyleId>{5C22544A-7EE6-4342-B048-85BDC9FD1C3A}</a:tableStyleId>
              </a:tblPr>
              <a:tblGrid>
                <a:gridCol w="2322000"/>
                <a:gridCol w="774000"/>
              </a:tblGrid>
              <a:tr h="187200">
                <a:tc>
                  <a:txBody>
                    <a:bodyPr/>
                    <a:lstStyle/>
                    <a:p>
                      <a:pPr algn="l"/>
                      <a:r>
                        <a:rPr sz="850" b="1">
                          <a:solidFill>
                            <a:srgbClr val="1A1A1A"/>
                          </a:solidFill>
                          <a:latin typeface="Versos"/>
                        </a:rPr>
                        <a:t>AUREN</a:t>
                      </a:r>
                    </a:p>
                  </a:txBody>
                  <a:tcPr marL="43200" marR="43200" marT="0" marB="0">
                    <a:solidFill>
                      <a:srgbClr val="FFFFFF"/>
                    </a:solidFill>
                  </a:tcPr>
                </a:tc>
                <a:tc>
                  <a:txBody>
                    <a:bodyPr/>
                    <a:lstStyle/>
                    <a:p>
                      <a:pPr algn="r"/>
                      <a:r>
                        <a:rPr sz="850" b="0">
                          <a:solidFill>
                            <a:srgbClr val="1A1A1A"/>
                          </a:solidFill>
                          <a:latin typeface="Versos"/>
                        </a:rPr>
                        <a:t>7,68%</a:t>
                      </a:r>
                    </a:p>
                  </a:txBody>
                  <a:tcPr marL="43200" marR="43200" marT="0" marB="0">
                    <a:solidFill>
                      <a:srgbClr val="FFFFFF"/>
                    </a:solidFill>
                  </a:tcPr>
                </a:tc>
              </a:tr>
              <a:tr h="187200">
                <a:tc>
                  <a:txBody>
                    <a:bodyPr/>
                    <a:lstStyle/>
                    <a:p>
                      <a:pPr algn="l"/>
                      <a:r>
                        <a:rPr sz="850" b="1">
                          <a:solidFill>
                            <a:srgbClr val="1A1A1A"/>
                          </a:solidFill>
                          <a:latin typeface="Versos"/>
                        </a:rPr>
                        <a:t>EQUATORIAL</a:t>
                      </a:r>
                    </a:p>
                  </a:txBody>
                  <a:tcPr marL="43200" marR="43200" marT="0" marB="0">
                    <a:solidFill>
                      <a:srgbClr val="F4F7F9"/>
                    </a:solidFill>
                  </a:tcPr>
                </a:tc>
                <a:tc>
                  <a:txBody>
                    <a:bodyPr/>
                    <a:lstStyle/>
                    <a:p>
                      <a:pPr algn="r"/>
                      <a:r>
                        <a:rPr sz="850" b="0">
                          <a:solidFill>
                            <a:srgbClr val="1A1A1A"/>
                          </a:solidFill>
                          <a:latin typeface="Versos"/>
                        </a:rPr>
                        <a:t>7,24%</a:t>
                      </a:r>
                    </a:p>
                  </a:txBody>
                  <a:tcPr marL="43200" marR="43200" marT="0" marB="0">
                    <a:solidFill>
                      <a:srgbClr val="F4F7F9"/>
                    </a:solidFill>
                  </a:tcPr>
                </a:tc>
              </a:tr>
              <a:tr h="187200">
                <a:tc>
                  <a:txBody>
                    <a:bodyPr/>
                    <a:lstStyle/>
                    <a:p>
                      <a:pPr algn="l"/>
                      <a:r>
                        <a:rPr sz="850" b="1">
                          <a:solidFill>
                            <a:srgbClr val="1A1A1A"/>
                          </a:solidFill>
                          <a:latin typeface="Versos"/>
                        </a:rPr>
                        <a:t>EDF</a:t>
                      </a:r>
                    </a:p>
                  </a:txBody>
                  <a:tcPr marL="43200" marR="43200" marT="0" marB="0">
                    <a:solidFill>
                      <a:srgbClr val="FFFFFF"/>
                    </a:solidFill>
                  </a:tcPr>
                </a:tc>
                <a:tc>
                  <a:txBody>
                    <a:bodyPr/>
                    <a:lstStyle/>
                    <a:p>
                      <a:pPr algn="r"/>
                      <a:r>
                        <a:rPr sz="850" b="0">
                          <a:solidFill>
                            <a:srgbClr val="1A1A1A"/>
                          </a:solidFill>
                          <a:latin typeface="Versos"/>
                        </a:rPr>
                        <a:t>5,54%</a:t>
                      </a:r>
                    </a:p>
                  </a:txBody>
                  <a:tcPr marL="43200" marR="43200" marT="0" marB="0">
                    <a:solidFill>
                      <a:srgbClr val="FFFFFF"/>
                    </a:solidFill>
                  </a:tcPr>
                </a:tc>
              </a:tr>
              <a:tr h="187200">
                <a:tc>
                  <a:txBody>
                    <a:bodyPr/>
                    <a:lstStyle/>
                    <a:p>
                      <a:pPr algn="l"/>
                      <a:r>
                        <a:rPr sz="850" b="1">
                          <a:solidFill>
                            <a:srgbClr val="1A1A1A"/>
                          </a:solidFill>
                          <a:latin typeface="Versos"/>
                        </a:rPr>
                        <a:t>SINOP</a:t>
                      </a:r>
                    </a:p>
                  </a:txBody>
                  <a:tcPr marL="43200" marR="43200" marT="0" marB="0">
                    <a:solidFill>
                      <a:srgbClr val="F4F7F9"/>
                    </a:solidFill>
                  </a:tcPr>
                </a:tc>
                <a:tc>
                  <a:txBody>
                    <a:bodyPr/>
                    <a:lstStyle/>
                    <a:p>
                      <a:pPr algn="r"/>
                      <a:r>
                        <a:rPr sz="850" b="0">
                          <a:solidFill>
                            <a:srgbClr val="1A1A1A"/>
                          </a:solidFill>
                          <a:latin typeface="Versos"/>
                        </a:rPr>
                        <a:t>3,99%</a:t>
                      </a:r>
                    </a:p>
                  </a:txBody>
                  <a:tcPr marL="43200" marR="43200" marT="0" marB="0">
                    <a:solidFill>
                      <a:srgbClr val="F4F7F9"/>
                    </a:solidFill>
                  </a:tcPr>
                </a:tc>
              </a:tr>
              <a:tr h="187200">
                <a:tc>
                  <a:txBody>
                    <a:bodyPr/>
                    <a:lstStyle/>
                    <a:p>
                      <a:pPr algn="l"/>
                      <a:r>
                        <a:rPr sz="850" b="1">
                          <a:solidFill>
                            <a:srgbClr val="1A1A1A"/>
                          </a:solidFill>
                          <a:latin typeface="Versos"/>
                        </a:rPr>
                        <a:t>ELETROBRAS</a:t>
                      </a:r>
                    </a:p>
                  </a:txBody>
                  <a:tcPr marL="43200" marR="43200" marT="0" marB="0">
                    <a:solidFill>
                      <a:srgbClr val="FFFFFF"/>
                    </a:solidFill>
                  </a:tcPr>
                </a:tc>
                <a:tc>
                  <a:txBody>
                    <a:bodyPr/>
                    <a:lstStyle/>
                    <a:p>
                      <a:pPr algn="r"/>
                      <a:r>
                        <a:rPr sz="850" b="0">
                          <a:solidFill>
                            <a:srgbClr val="1A1A1A"/>
                          </a:solidFill>
                          <a:latin typeface="Versos"/>
                        </a:rPr>
                        <a:t>3,65%</a:t>
                      </a:r>
                    </a:p>
                  </a:txBody>
                  <a:tcPr marL="43200" marR="43200" marT="0" marB="0">
                    <a:solidFill>
                      <a:srgbClr val="FFFFFF"/>
                    </a:solidFill>
                  </a:tcPr>
                </a:tc>
              </a:tr>
            </a:tbl>
          </a:graphicData>
        </a:graphic>
      </p:graphicFrame>
      <p:sp>
        <p:nvSpPr>
          <p:cNvPr id="14" name="TextBox 13"/>
          <p:cNvSpPr txBox="1"/>
          <p:nvPr/>
        </p:nvSpPr>
        <p:spPr>
          <a:xfrm>
            <a:off x="3924000" y="4428000"/>
            <a:ext cx="3096000" cy="180000"/>
          </a:xfrm>
          <a:prstGeom prst="rect">
            <a:avLst/>
          </a:prstGeom>
          <a:noFill/>
        </p:spPr>
        <p:txBody>
          <a:bodyPr wrap="square" lIns="0" rIns="0" tIns="0" bIns="0">
            <a:spAutoFit/>
          </a:bodyPr>
          <a:lstStyle/>
          <a:p>
            <a:pPr algn="l"/>
            <a:r>
              <a:rPr sz="900" b="1">
                <a:solidFill>
                  <a:srgbClr val="759DB4"/>
                </a:solidFill>
                <a:latin typeface="Versos"/>
              </a:rPr>
              <a:t>ALOCAÇÃO POR SETOR</a:t>
            </a:r>
          </a:p>
        </p:txBody>
      </p:sp>
      <p:graphicFrame>
        <p:nvGraphicFramePr>
          <p:cNvPr id="15" name="Table 14"/>
          <p:cNvGraphicFramePr>
            <a:graphicFrameLocks noGrp="1"/>
          </p:cNvGraphicFramePr>
          <p:nvPr/>
        </p:nvGraphicFramePr>
        <p:xfrm>
          <a:off x="3924000.0" y="4626000"/>
          <a:ext cx="3096000" cy="1123200"/>
        </p:xfrm>
        <a:graphic>
          <a:graphicData uri="http://schemas.openxmlformats.org/drawingml/2006/table">
            <a:tbl>
              <a:tblPr firstRow="1" bandRow="1">
                <a:tableStyleId>{5C22544A-7EE6-4342-B048-85BDC9FD1C3A}</a:tableStyleId>
              </a:tblPr>
              <a:tblGrid>
                <a:gridCol w="2322000"/>
                <a:gridCol w="774000"/>
              </a:tblGrid>
              <a:tr h="187200">
                <a:tc>
                  <a:txBody>
                    <a:bodyPr/>
                    <a:lstStyle/>
                    <a:p>
                      <a:pPr algn="l"/>
                      <a:r>
                        <a:rPr sz="850" b="1">
                          <a:solidFill>
                            <a:srgbClr val="1A1A1A"/>
                          </a:solidFill>
                          <a:latin typeface="Versos"/>
                        </a:rPr>
                        <a:t>Energia Elétrica</a:t>
                      </a:r>
                    </a:p>
                  </a:txBody>
                  <a:tcPr marL="43200" marR="43200" marT="0" marB="0">
                    <a:solidFill>
                      <a:srgbClr val="FFFFFF"/>
                    </a:solidFill>
                  </a:tcPr>
                </a:tc>
                <a:tc>
                  <a:txBody>
                    <a:bodyPr/>
                    <a:lstStyle/>
                    <a:p>
                      <a:pPr algn="r"/>
                      <a:r>
                        <a:rPr sz="850" b="0">
                          <a:solidFill>
                            <a:srgbClr val="1A1A1A"/>
                          </a:solidFill>
                          <a:latin typeface="Versos"/>
                        </a:rPr>
                        <a:t>55,9%</a:t>
                      </a:r>
                    </a:p>
                  </a:txBody>
                  <a:tcPr marL="43200" marR="43200" marT="0" marB="0">
                    <a:solidFill>
                      <a:srgbClr val="FFFFFF"/>
                    </a:solidFill>
                  </a:tcPr>
                </a:tc>
              </a:tr>
              <a:tr h="187200">
                <a:tc>
                  <a:txBody>
                    <a:bodyPr/>
                    <a:lstStyle/>
                    <a:p>
                      <a:pPr algn="l"/>
                      <a:r>
                        <a:rPr sz="850" b="1">
                          <a:solidFill>
                            <a:srgbClr val="1A1A1A"/>
                          </a:solidFill>
                          <a:latin typeface="Versos"/>
                        </a:rPr>
                        <a:t>Transporte e Logística</a:t>
                      </a:r>
                    </a:p>
                  </a:txBody>
                  <a:tcPr marL="43200" marR="43200" marT="0" marB="0">
                    <a:solidFill>
                      <a:srgbClr val="F4F7F9"/>
                    </a:solidFill>
                  </a:tcPr>
                </a:tc>
                <a:tc>
                  <a:txBody>
                    <a:bodyPr/>
                    <a:lstStyle/>
                    <a:p>
                      <a:pPr algn="r"/>
                      <a:r>
                        <a:rPr sz="850" b="0">
                          <a:solidFill>
                            <a:srgbClr val="1A1A1A"/>
                          </a:solidFill>
                          <a:latin typeface="Versos"/>
                        </a:rPr>
                        <a:t>15,3%</a:t>
                      </a:r>
                    </a:p>
                  </a:txBody>
                  <a:tcPr marL="43200" marR="43200" marT="0" marB="0">
                    <a:solidFill>
                      <a:srgbClr val="F4F7F9"/>
                    </a:solidFill>
                  </a:tcPr>
                </a:tc>
              </a:tr>
              <a:tr h="187200">
                <a:tc>
                  <a:txBody>
                    <a:bodyPr/>
                    <a:lstStyle/>
                    <a:p>
                      <a:pPr algn="l"/>
                      <a:r>
                        <a:rPr sz="850" b="1">
                          <a:solidFill>
                            <a:srgbClr val="1A1A1A"/>
                          </a:solidFill>
                          <a:latin typeface="Versos"/>
                        </a:rPr>
                        <a:t>Saneamento</a:t>
                      </a:r>
                    </a:p>
                  </a:txBody>
                  <a:tcPr marL="43200" marR="43200" marT="0" marB="0">
                    <a:solidFill>
                      <a:srgbClr val="FFFFFF"/>
                    </a:solidFill>
                  </a:tcPr>
                </a:tc>
                <a:tc>
                  <a:txBody>
                    <a:bodyPr/>
                    <a:lstStyle/>
                    <a:p>
                      <a:pPr algn="r"/>
                      <a:r>
                        <a:rPr sz="850" b="0">
                          <a:solidFill>
                            <a:srgbClr val="1A1A1A"/>
                          </a:solidFill>
                          <a:latin typeface="Versos"/>
                        </a:rPr>
                        <a:t>7,3%</a:t>
                      </a:r>
                    </a:p>
                  </a:txBody>
                  <a:tcPr marL="43200" marR="43200" marT="0" marB="0">
                    <a:solidFill>
                      <a:srgbClr val="FFFFFF"/>
                    </a:solidFill>
                  </a:tcPr>
                </a:tc>
              </a:tr>
              <a:tr h="187200">
                <a:tc>
                  <a:txBody>
                    <a:bodyPr/>
                    <a:lstStyle/>
                    <a:p>
                      <a:pPr algn="l"/>
                      <a:r>
                        <a:rPr sz="850" b="1">
                          <a:solidFill>
                            <a:srgbClr val="1A1A1A"/>
                          </a:solidFill>
                          <a:latin typeface="Versos"/>
                        </a:rPr>
                        <a:t>TI e Telecomunicações</a:t>
                      </a:r>
                    </a:p>
                  </a:txBody>
                  <a:tcPr marL="43200" marR="43200" marT="0" marB="0">
                    <a:solidFill>
                      <a:srgbClr val="F4F7F9"/>
                    </a:solidFill>
                  </a:tcPr>
                </a:tc>
                <a:tc>
                  <a:txBody>
                    <a:bodyPr/>
                    <a:lstStyle/>
                    <a:p>
                      <a:pPr algn="r"/>
                      <a:r>
                        <a:rPr sz="850" b="0">
                          <a:solidFill>
                            <a:srgbClr val="1A1A1A"/>
                          </a:solidFill>
                          <a:latin typeface="Versos"/>
                        </a:rPr>
                        <a:t>5,4%</a:t>
                      </a:r>
                    </a:p>
                  </a:txBody>
                  <a:tcPr marL="43200" marR="43200" marT="0" marB="0">
                    <a:solidFill>
                      <a:srgbClr val="F4F7F9"/>
                    </a:solidFill>
                  </a:tcPr>
                </a:tc>
              </a:tr>
              <a:tr h="187200">
                <a:tc>
                  <a:txBody>
                    <a:bodyPr/>
                    <a:lstStyle/>
                    <a:p>
                      <a:pPr algn="l"/>
                      <a:r>
                        <a:rPr sz="850" b="1">
                          <a:solidFill>
                            <a:srgbClr val="1A1A1A"/>
                          </a:solidFill>
                          <a:latin typeface="Versos"/>
                        </a:rPr>
                        <a:t>Petróleo e Gás</a:t>
                      </a:r>
                    </a:p>
                  </a:txBody>
                  <a:tcPr marL="43200" marR="43200" marT="0" marB="0">
                    <a:solidFill>
                      <a:srgbClr val="FFFFFF"/>
                    </a:solidFill>
                  </a:tcPr>
                </a:tc>
                <a:tc>
                  <a:txBody>
                    <a:bodyPr/>
                    <a:lstStyle/>
                    <a:p>
                      <a:pPr algn="r"/>
                      <a:r>
                        <a:rPr sz="850" b="0">
                          <a:solidFill>
                            <a:srgbClr val="1A1A1A"/>
                          </a:solidFill>
                          <a:latin typeface="Versos"/>
                        </a:rPr>
                        <a:t>4,8%</a:t>
                      </a:r>
                    </a:p>
                  </a:txBody>
                  <a:tcPr marL="43200" marR="43200" marT="0" marB="0">
                    <a:solidFill>
                      <a:srgbClr val="FFFFFF"/>
                    </a:solidFill>
                  </a:tcPr>
                </a:tc>
              </a:tr>
              <a:tr h="187200">
                <a:tc>
                  <a:txBody>
                    <a:bodyPr/>
                    <a:lstStyle/>
                    <a:p>
                      <a:pPr algn="l"/>
                      <a:r>
                        <a:rPr sz="850" b="1">
                          <a:solidFill>
                            <a:srgbClr val="1A1A1A"/>
                          </a:solidFill>
                          <a:latin typeface="Versos"/>
                        </a:rPr>
                        <a:t>Caixa</a:t>
                      </a:r>
                    </a:p>
                  </a:txBody>
                  <a:tcPr marL="43200" marR="43200" marT="0" marB="0">
                    <a:solidFill>
                      <a:srgbClr val="F4F7F9"/>
                    </a:solidFill>
                  </a:tcPr>
                </a:tc>
                <a:tc>
                  <a:txBody>
                    <a:bodyPr/>
                    <a:lstStyle/>
                    <a:p>
                      <a:pPr algn="r"/>
                      <a:r>
                        <a:rPr sz="850" b="0">
                          <a:solidFill>
                            <a:srgbClr val="1A1A1A"/>
                          </a:solidFill>
                          <a:latin typeface="Versos"/>
                        </a:rPr>
                        <a:t>4,8%</a:t>
                      </a:r>
                    </a:p>
                  </a:txBody>
                  <a:tcPr marL="43200" marR="43200" marT="0" marB="0">
                    <a:solidFill>
                      <a:srgbClr val="F4F7F9"/>
                    </a:solidFill>
                  </a:tcPr>
                </a:tc>
              </a:tr>
            </a:tbl>
          </a:graphicData>
        </a:graphic>
      </p:graphicFrame>
      <p:sp>
        <p:nvSpPr>
          <p:cNvPr id="16" name="TextBox 15"/>
          <p:cNvSpPr txBox="1"/>
          <p:nvPr/>
        </p:nvSpPr>
        <p:spPr>
          <a:xfrm>
            <a:off x="540000" y="6073200"/>
            <a:ext cx="6480000" cy="180000"/>
          </a:xfrm>
          <a:prstGeom prst="rect">
            <a:avLst/>
          </a:prstGeom>
          <a:noFill/>
        </p:spPr>
        <p:txBody>
          <a:bodyPr wrap="square" lIns="0" rIns="0" tIns="0" bIns="0">
            <a:spAutoFit/>
          </a:bodyPr>
          <a:lstStyle/>
          <a:p>
            <a:pPr algn="l"/>
            <a:r>
              <a:rPr sz="900" b="1">
                <a:solidFill>
                  <a:srgbClr val="759DB4"/>
                </a:solidFill>
                <a:latin typeface="Versos"/>
              </a:rPr>
              <a:t>DISTRIBUIÇÃO DE RATING DA CARTEIRA DE CRÉDITO</a:t>
            </a:r>
          </a:p>
        </p:txBody>
      </p:sp>
      <p:graphicFrame>
        <p:nvGraphicFramePr>
          <p:cNvPr id="17" name="Table 16"/>
          <p:cNvGraphicFramePr>
            <a:graphicFrameLocks noGrp="1"/>
          </p:cNvGraphicFramePr>
          <p:nvPr/>
        </p:nvGraphicFramePr>
        <p:xfrm>
          <a:off x="540000" y="6271200"/>
          <a:ext cx="6480000" cy="374400"/>
        </p:xfrm>
        <a:graphic>
          <a:graphicData uri="http://schemas.openxmlformats.org/drawingml/2006/table">
            <a:tbl>
              <a:tblPr firstRow="1" bandRow="1">
                <a:tableStyleId>{5C22544A-7EE6-4342-B048-85BDC9FD1C3A}</a:tableStyleId>
              </a:tblPr>
              <a:tblGrid>
                <a:gridCol w="1080000"/>
                <a:gridCol w="1080000"/>
                <a:gridCol w="1080000"/>
                <a:gridCol w="1080000"/>
                <a:gridCol w="1080000"/>
                <a:gridCol w="1080000"/>
              </a:tblGrid>
              <a:tr h="187200">
                <a:tc>
                  <a:txBody>
                    <a:bodyPr/>
                    <a:lstStyle/>
                    <a:p>
                      <a:pPr algn="l"/>
                      <a:r>
                        <a:rPr sz="850" b="1">
                          <a:solidFill>
                            <a:srgbClr val="FFFFFF"/>
                          </a:solidFill>
                          <a:latin typeface="Versos"/>
                        </a:rPr>
                        <a:t>AAA</a:t>
                      </a:r>
                    </a:p>
                  </a:txBody>
                  <a:tcPr marL="43200" marR="43200" marT="0" marB="0">
                    <a:solidFill>
                      <a:srgbClr val="3C4A60"/>
                    </a:solidFill>
                  </a:tcPr>
                </a:tc>
                <a:tc>
                  <a:txBody>
                    <a:bodyPr/>
                    <a:lstStyle/>
                    <a:p>
                      <a:pPr algn="r"/>
                      <a:r>
                        <a:rPr sz="850" b="1">
                          <a:solidFill>
                            <a:srgbClr val="FFFFFF"/>
                          </a:solidFill>
                          <a:latin typeface="Versos"/>
                        </a:rPr>
                        <a:t>AA+</a:t>
                      </a:r>
                    </a:p>
                  </a:txBody>
                  <a:tcPr marL="43200" marR="43200" marT="0" marB="0">
                    <a:solidFill>
                      <a:srgbClr val="3C4A60"/>
                    </a:solidFill>
                  </a:tcPr>
                </a:tc>
                <a:tc>
                  <a:txBody>
                    <a:bodyPr/>
                    <a:lstStyle/>
                    <a:p>
                      <a:pPr algn="r"/>
                      <a:r>
                        <a:rPr sz="850" b="1">
                          <a:solidFill>
                            <a:srgbClr val="FFFFFF"/>
                          </a:solidFill>
                          <a:latin typeface="Versos"/>
                        </a:rPr>
                        <a:t>AA</a:t>
                      </a:r>
                    </a:p>
                  </a:txBody>
                  <a:tcPr marL="43200" marR="43200" marT="0" marB="0">
                    <a:solidFill>
                      <a:srgbClr val="3C4A60"/>
                    </a:solidFill>
                  </a:tcPr>
                </a:tc>
                <a:tc>
                  <a:txBody>
                    <a:bodyPr/>
                    <a:lstStyle/>
                    <a:p>
                      <a:pPr algn="r"/>
                      <a:r>
                        <a:rPr sz="850" b="1">
                          <a:solidFill>
                            <a:srgbClr val="FFFFFF"/>
                          </a:solidFill>
                          <a:latin typeface="Versos"/>
                        </a:rPr>
                        <a:t>AA-</a:t>
                      </a:r>
                    </a:p>
                  </a:txBody>
                  <a:tcPr marL="43200" marR="43200" marT="0" marB="0">
                    <a:solidFill>
                      <a:srgbClr val="3C4A60"/>
                    </a:solidFill>
                  </a:tcPr>
                </a:tc>
                <a:tc>
                  <a:txBody>
                    <a:bodyPr/>
                    <a:lstStyle/>
                    <a:p>
                      <a:pPr algn="r"/>
                      <a:r>
                        <a:rPr sz="850" b="1">
                          <a:solidFill>
                            <a:srgbClr val="FFFFFF"/>
                          </a:solidFill>
                          <a:latin typeface="Versos"/>
                        </a:rPr>
                        <a:t>A+</a:t>
                      </a:r>
                    </a:p>
                  </a:txBody>
                  <a:tcPr marL="43200" marR="43200" marT="0" marB="0">
                    <a:solidFill>
                      <a:srgbClr val="3C4A60"/>
                    </a:solidFill>
                  </a:tcPr>
                </a:tc>
                <a:tc>
                  <a:txBody>
                    <a:bodyPr/>
                    <a:lstStyle/>
                    <a:p>
                      <a:pPr algn="r"/>
                      <a:r>
                        <a:rPr sz="850" b="1">
                          <a:solidFill>
                            <a:srgbClr val="FFFFFF"/>
                          </a:solidFill>
                          <a:latin typeface="Versos"/>
                        </a:rPr>
                        <a:t>A</a:t>
                      </a:r>
                    </a:p>
                  </a:txBody>
                  <a:tcPr marL="43200" marR="43200" marT="0" marB="0">
                    <a:solidFill>
                      <a:srgbClr val="3C4A60"/>
                    </a:solidFill>
                  </a:tcPr>
                </a:tc>
              </a:tr>
              <a:tr h="187200">
                <a:tc>
                  <a:txBody>
                    <a:bodyPr/>
                    <a:lstStyle/>
                    <a:p>
                      <a:pPr algn="l"/>
                      <a:r>
                        <a:rPr sz="850" b="0">
                          <a:solidFill>
                            <a:srgbClr val="1A1A1A"/>
                          </a:solidFill>
                          <a:latin typeface="Versos"/>
                        </a:rPr>
                        <a:t>35,4%</a:t>
                      </a:r>
                    </a:p>
                  </a:txBody>
                  <a:tcPr marL="43200" marR="43200" marT="0" marB="0">
                    <a:solidFill>
                      <a:srgbClr val="F4F7F9"/>
                    </a:solidFill>
                  </a:tcPr>
                </a:tc>
                <a:tc>
                  <a:txBody>
                    <a:bodyPr/>
                    <a:lstStyle/>
                    <a:p>
                      <a:pPr algn="r"/>
                      <a:r>
                        <a:rPr sz="850" b="0">
                          <a:solidFill>
                            <a:srgbClr val="1A1A1A"/>
                          </a:solidFill>
                          <a:latin typeface="Versos"/>
                        </a:rPr>
                        <a:t>26,0%</a:t>
                      </a:r>
                    </a:p>
                  </a:txBody>
                  <a:tcPr marL="43200" marR="43200" marT="0" marB="0">
                    <a:solidFill>
                      <a:srgbClr val="F4F7F9"/>
                    </a:solidFill>
                  </a:tcPr>
                </a:tc>
                <a:tc>
                  <a:txBody>
                    <a:bodyPr/>
                    <a:lstStyle/>
                    <a:p>
                      <a:pPr algn="r"/>
                      <a:r>
                        <a:rPr sz="850" b="0">
                          <a:solidFill>
                            <a:srgbClr val="1A1A1A"/>
                          </a:solidFill>
                          <a:latin typeface="Versos"/>
                        </a:rPr>
                        <a:t>11,1%</a:t>
                      </a:r>
                    </a:p>
                  </a:txBody>
                  <a:tcPr marL="43200" marR="43200" marT="0" marB="0">
                    <a:solidFill>
                      <a:srgbClr val="F4F7F9"/>
                    </a:solidFill>
                  </a:tcPr>
                </a:tc>
                <a:tc>
                  <a:txBody>
                    <a:bodyPr/>
                    <a:lstStyle/>
                    <a:p>
                      <a:pPr algn="r"/>
                      <a:r>
                        <a:rPr sz="850" b="0">
                          <a:solidFill>
                            <a:srgbClr val="1A1A1A"/>
                          </a:solidFill>
                          <a:latin typeface="Versos"/>
                        </a:rPr>
                        <a:t>8,8%</a:t>
                      </a:r>
                    </a:p>
                  </a:txBody>
                  <a:tcPr marL="43200" marR="43200" marT="0" marB="0">
                    <a:solidFill>
                      <a:srgbClr val="F4F7F9"/>
                    </a:solidFill>
                  </a:tcPr>
                </a:tc>
                <a:tc>
                  <a:txBody>
                    <a:bodyPr/>
                    <a:lstStyle/>
                    <a:p>
                      <a:pPr algn="r"/>
                      <a:r>
                        <a:rPr sz="850" b="0">
                          <a:solidFill>
                            <a:srgbClr val="1A1A1A"/>
                          </a:solidFill>
                          <a:latin typeface="Versos"/>
                        </a:rPr>
                        <a:t>5,1%</a:t>
                      </a:r>
                    </a:p>
                  </a:txBody>
                  <a:tcPr marL="43200" marR="43200" marT="0" marB="0">
                    <a:solidFill>
                      <a:srgbClr val="F4F7F9"/>
                    </a:solidFill>
                  </a:tcPr>
                </a:tc>
                <a:tc>
                  <a:txBody>
                    <a:bodyPr/>
                    <a:lstStyle/>
                    <a:p>
                      <a:pPr algn="r"/>
                      <a:r>
                        <a:rPr sz="850" b="0">
                          <a:solidFill>
                            <a:srgbClr val="1A1A1A"/>
                          </a:solidFill>
                          <a:latin typeface="Versos"/>
                        </a:rPr>
                        <a:t>2,4%</a:t>
                      </a:r>
                    </a:p>
                  </a:txBody>
                  <a:tcPr marL="43200" marR="43200" marT="0" marB="0">
                    <a:solidFill>
                      <a:srgbClr val="F4F7F9"/>
                    </a:solidFill>
                  </a:tcPr>
                </a:tc>
              </a:tr>
            </a:tbl>
          </a:graphicData>
        </a:graphic>
      </p:graphicFrame>
      <p:sp>
        <p:nvSpPr>
          <p:cNvPr id="18" name="TextBox 17"/>
          <p:cNvSpPr txBox="1"/>
          <p:nvPr/>
        </p:nvSpPr>
        <p:spPr>
          <a:xfrm>
            <a:off x="5940000" y="10260000"/>
            <a:ext cx="1080000" cy="144000"/>
          </a:xfrm>
          <a:prstGeom prst="rect">
            <a:avLst/>
          </a:prstGeom>
          <a:noFill/>
        </p:spPr>
        <p:txBody>
          <a:bodyPr wrap="square" lIns="0" rIns="0" tIns="0" bIns="0">
            <a:spAutoFit/>
          </a:bodyPr>
          <a:lstStyle/>
          <a:p>
            <a:pPr algn="r"/>
            <a:r>
              <a:rPr sz="800" b="1">
                <a:solidFill>
                  <a:srgbClr val="637881"/>
                </a:solidFill>
                <a:latin typeface="Versos"/>
              </a:rPr>
              <a:t>1</a:t>
            </a:r>
          </a:p>
        </p:txBody>
      </p:sp>
      <p:sp>
        <p:nvSpPr>
          <p:cNvPr id="19" name="TextBox 18"/>
          <p:cNvSpPr txBox="1"/>
          <p:nvPr/>
        </p:nvSpPr>
        <p:spPr>
          <a:xfrm>
            <a:off x="540000" y="10260000"/>
            <a:ext cx="2160000" cy="144000"/>
          </a:xfrm>
          <a:prstGeom prst="rect">
            <a:avLst/>
          </a:prstGeom>
          <a:noFill/>
        </p:spPr>
        <p:txBody>
          <a:bodyPr wrap="square" lIns="0" rIns="0" tIns="0" bIns="0">
            <a:spAutoFit/>
          </a:bodyPr>
          <a:lstStyle/>
          <a:p>
            <a:pPr algn="l"/>
            <a:r>
              <a:rPr sz="800" b="0">
                <a:solidFill>
                  <a:srgbClr val="637881"/>
                </a:solidFill>
                <a:latin typeface="Versos"/>
              </a:rPr>
              <a:t>tivio.com/fundos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80000"/>
          </a:xfrm>
          <a:prstGeom prst="rect">
            <a:avLst/>
          </a:prstGeom>
          <a:solidFill>
            <a:srgbClr val="3C4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5040000" cy="180000"/>
          </a:xfrm>
          <a:prstGeom prst="rect">
            <a:avLst/>
          </a:prstGeom>
          <a:noFill/>
        </p:spPr>
        <p:txBody>
          <a:bodyPr wrap="square" lIns="0" rIns="0" tIns="0" bIns="0">
            <a:spAutoFit/>
          </a:bodyPr>
          <a:lstStyle/>
          <a:p>
            <a:pPr algn="l"/>
            <a:r>
              <a:rPr sz="800" b="1">
                <a:solidFill>
                  <a:srgbClr val="ABC6CD"/>
                </a:solidFill>
                <a:latin typeface="Versos"/>
              </a:rPr>
              <a:t>RELATÓRIO DE GESTÃO</a:t>
            </a:r>
          </a:p>
        </p:txBody>
      </p:sp>
      <p:sp>
        <p:nvSpPr>
          <p:cNvPr id="4" name="TextBox 3"/>
          <p:cNvSpPr txBox="1"/>
          <p:nvPr/>
        </p:nvSpPr>
        <p:spPr>
          <a:xfrm>
            <a:off x="540000" y="540000"/>
            <a:ext cx="5040000" cy="396000"/>
          </a:xfrm>
          <a:prstGeom prst="rect">
            <a:avLst/>
          </a:prstGeom>
          <a:noFill/>
        </p:spPr>
        <p:txBody>
          <a:bodyPr wrap="square" lIns="0" rIns="0" tIns="0" bIns="0">
            <a:spAutoFit/>
          </a:bodyPr>
          <a:lstStyle/>
          <a:p>
            <a:pPr algn="l"/>
            <a:r>
              <a:rPr sz="2000" b="1">
                <a:solidFill>
                  <a:srgbClr val="FFFFFF"/>
                </a:solidFill>
                <a:latin typeface="Versos"/>
              </a:rPr>
              <a:t>Tivio Infra Plus</a:t>
            </a:r>
          </a:p>
        </p:txBody>
      </p:sp>
      <p:sp>
        <p:nvSpPr>
          <p:cNvPr id="5" name="TextBox 4"/>
          <p:cNvSpPr txBox="1"/>
          <p:nvPr/>
        </p:nvSpPr>
        <p:spPr>
          <a:xfrm>
            <a:off x="540000" y="720000"/>
            <a:ext cx="5040000" cy="180000"/>
          </a:xfrm>
          <a:prstGeom prst="rect">
            <a:avLst/>
          </a:prstGeom>
          <a:noFill/>
        </p:spPr>
        <p:txBody>
          <a:bodyPr wrap="square" lIns="0" rIns="0" tIns="0" bIns="0">
            <a:spAutoFit/>
          </a:bodyPr>
          <a:lstStyle/>
          <a:p>
            <a:pPr algn="l"/>
            <a:r>
              <a:rPr sz="900" b="1">
                <a:solidFill>
                  <a:srgbClr val="C1F4D4"/>
                </a:solidFill>
                <a:latin typeface="Versos"/>
              </a:rPr>
              <a:t>Agosto de 2026</a:t>
            </a:r>
          </a:p>
        </p:txBody>
      </p:sp>
      <p:sp>
        <p:nvSpPr>
          <p:cNvPr id="6" name="TextBox 5"/>
          <p:cNvSpPr txBox="1"/>
          <p:nvPr/>
        </p:nvSpPr>
        <p:spPr>
          <a:xfrm>
            <a:off x="540000" y="1368000"/>
            <a:ext cx="4320000" cy="180000"/>
          </a:xfrm>
          <a:prstGeom prst="rect">
            <a:avLst/>
          </a:prstGeom>
          <a:noFill/>
        </p:spPr>
        <p:txBody>
          <a:bodyPr wrap="square" lIns="0" rIns="0" tIns="0" bIns="0">
            <a:spAutoFit/>
          </a:bodyPr>
          <a:lstStyle/>
          <a:p>
            <a:pPr algn="l"/>
            <a:r>
              <a:rPr sz="900" b="1">
                <a:solidFill>
                  <a:srgbClr val="759DB4"/>
                </a:solidFill>
                <a:latin typeface="Versos"/>
              </a:rPr>
              <a:t>RENTABILIDADE HISTÓRICA</a:t>
            </a:r>
          </a:p>
        </p:txBody>
      </p:sp>
      <p:graphicFrame>
        <p:nvGraphicFramePr>
          <p:cNvPr id="7" name="Chart 6"/>
          <p:cNvGraphicFramePr>
            <a:graphicFrameLocks noGrp="1"/>
          </p:cNvGraphicFramePr>
          <p:nvPr/>
        </p:nvGraphicFramePr>
        <p:xfrm>
          <a:off x="540000" y="1584000"/>
          <a:ext cx="6480000" cy="3240000"/>
        </p:xfrm>
        <a:graphic>
          <a:graphicData uri="http://schemas.openxmlformats.org/drawingml/2006/chart">
            <c:chart xmlns:c="http://schemas.openxmlformats.org/drawingml/2006/chart" r:id="rId2"/>
          </a:graphicData>
        </a:graphic>
      </p:graphicFrame>
      <p:sp>
        <p:nvSpPr>
          <p:cNvPr id="8" name="TextBox 7"/>
          <p:cNvSpPr txBox="1"/>
          <p:nvPr/>
        </p:nvSpPr>
        <p:spPr>
          <a:xfrm>
            <a:off x="540000" y="5039999"/>
            <a:ext cx="6480000" cy="180000"/>
          </a:xfrm>
          <a:prstGeom prst="rect">
            <a:avLst/>
          </a:prstGeom>
          <a:noFill/>
        </p:spPr>
        <p:txBody>
          <a:bodyPr wrap="square" lIns="0" rIns="0" tIns="0" bIns="0">
            <a:spAutoFit/>
          </a:bodyPr>
          <a:lstStyle/>
          <a:p>
            <a:pPr algn="l"/>
            <a:r>
              <a:rPr sz="900" b="1">
                <a:solidFill>
                  <a:srgbClr val="759DB4"/>
                </a:solidFill>
                <a:latin typeface="Versos"/>
              </a:rPr>
              <a:t>COMENTÁRIO DO GESTOR E ANÁLISE DE MERCADO</a:t>
            </a:r>
          </a:p>
        </p:txBody>
      </p:sp>
      <p:sp>
        <p:nvSpPr>
          <p:cNvPr id="9" name="TextBox 8"/>
          <p:cNvSpPr txBox="1"/>
          <p:nvPr/>
        </p:nvSpPr>
        <p:spPr>
          <a:xfrm>
            <a:off x="540000" y="5255999"/>
            <a:ext cx="6480000" cy="4932001"/>
          </a:xfrm>
          <a:prstGeom prst="rect">
            <a:avLst/>
          </a:prstGeom>
          <a:noFill/>
        </p:spPr>
        <p:txBody>
          <a:bodyPr wrap="square" lIns="0" rIns="0" tIns="0" bIns="0">
            <a:spAutoFit/>
          </a:bodyPr>
          <a:lstStyle/>
          <a:p>
            <a:pPr algn="l"/>
            <a:r>
              <a:rPr sz="900" b="0">
                <a:solidFill>
                  <a:srgbClr val="1A1A1A"/>
                </a:solidFill>
                <a:latin typeface="Versos"/>
              </a:rPr>
              <a:t>Em agosto, os títulos de crédito indexados ao IPCA precificados pela ANBIMA apresentaram desempenho positivo, refletindo principalmente o movimento de fechamento da curva real de juros observado ao longo do período. Embora os spreads de crédito tenham registrado abertura média de aproximadamente 5 bps em relação a julho, a redução das taxas reais ao longo da estrutura a termo mais do que compensou esse movimento. Como resultado, as taxas médias dos títulos incentivados precificados pela ANBIMA encerraram o mês com fechamento próximo de 16 bps, proporcionando valorização dos ativos no mercado secundário.</a:t>
            </a:r>
          </a:p>
          <a:p>
            <a:pPr algn="l"/>
            <a:r>
              <a:rPr sz="900" b="0">
                <a:solidFill>
                  <a:srgbClr val="1A1A1A"/>
                </a:solidFill>
                <a:latin typeface="Versos"/>
              </a:rPr>
              <a:t/>
            </a:r>
          </a:p>
          <a:p>
            <a:pPr algn="l"/>
            <a:r>
              <a:rPr sz="900" b="0">
                <a:solidFill>
                  <a:srgbClr val="1A1A1A"/>
                </a:solidFill>
                <a:latin typeface="Versos"/>
              </a:rPr>
              <a:t>No mercado primário, manteve-se o cenário de oferta restrita de ativos, com parcela relevante das emissões sendo absorvida diretamente pelos balanços dos bancos distribuidores. Já no mercado secundário, observou-se um nível de liquidez inferior à média observada ao longo de 2025, contribuindo para um ambiente de maior equilíbrio entre oferta e demanda dos ativos negociados.</a:t>
            </a:r>
          </a:p>
          <a:p>
            <a:pPr algn="l"/>
            <a:r>
              <a:rPr sz="900" b="0">
                <a:solidFill>
                  <a:srgbClr val="1A1A1A"/>
                </a:solidFill>
                <a:latin typeface="Versos"/>
              </a:rPr>
              <a:t/>
            </a:r>
          </a:p>
          <a:p>
            <a:pPr algn="l"/>
            <a:r>
              <a:rPr sz="900" b="0">
                <a:solidFill>
                  <a:srgbClr val="1A1A1A"/>
                </a:solidFill>
                <a:latin typeface="Versos"/>
              </a:rPr>
              <a:t>Sob a ótica da gestão, mantivemos uma postura cautelosa ao longo do período, priorizando o encurtamento da duration da carteira como forma de mitigar a volatilidade e reduzir a sensibilidade do portfólio a eventuais movimentos adversos nos spreads de crédito. Apesar da melhora observada no desempenho dos ativos incentivados no mês, seguimos avaliando que os níveis atuais de prêmio ainda oferecem pouca margem de segurança frente aos riscos inerentes à classe. Dessa forma, permanecemos atentos à evolução das condições de mercado e à dinâmica de precificação dos ativos, buscando identificar oportunidades mais atrativas para aumentar a exposição ao risco de crédito de forma gradual e criteriosa, quando a relação risco-retorno se mostrar mais favorável.</a:t>
            </a:r>
          </a:p>
          <a:p>
            <a:pPr algn="l"/>
            <a:r>
              <a:rPr sz="900" b="0">
                <a:solidFill>
                  <a:srgbClr val="1A1A1A"/>
                </a:solidFill>
                <a:latin typeface="Versos"/>
              </a:rPr>
              <a:t/>
            </a:r>
          </a:p>
          <a:p>
            <a:pPr algn="l"/>
            <a:r>
              <a:rPr sz="900" b="0">
                <a:solidFill>
                  <a:srgbClr val="1A1A1A"/>
                </a:solidFill>
                <a:latin typeface="Versos"/>
              </a:rPr>
              <a:t>Nesse cenário, o Tivio Infra Plus apresentou rentabilidade, isenta de imposto de renda de 1,26% no mês, acumulando 5,98% no ano. Na atribuição de performance, pode-se destacar as debêntures de NTS e São Simão, enquanto as de Jalles Machado foram as maiores detratoras.</a:t>
            </a:r>
          </a:p>
        </p:txBody>
      </p:sp>
      <p:sp>
        <p:nvSpPr>
          <p:cNvPr id="10" name="TextBox 9"/>
          <p:cNvSpPr txBox="1"/>
          <p:nvPr/>
        </p:nvSpPr>
        <p:spPr>
          <a:xfrm>
            <a:off x="5940000" y="10260000"/>
            <a:ext cx="1080000" cy="144000"/>
          </a:xfrm>
          <a:prstGeom prst="rect">
            <a:avLst/>
          </a:prstGeom>
          <a:noFill/>
        </p:spPr>
        <p:txBody>
          <a:bodyPr wrap="square" lIns="0" rIns="0" tIns="0" bIns="0">
            <a:spAutoFit/>
          </a:bodyPr>
          <a:lstStyle/>
          <a:p>
            <a:pPr algn="r"/>
            <a:r>
              <a:rPr sz="800" b="1">
                <a:solidFill>
                  <a:srgbClr val="637881"/>
                </a:solidFill>
                <a:latin typeface="Versos"/>
              </a:rPr>
              <a:t>2</a:t>
            </a:r>
          </a:p>
        </p:txBody>
      </p:sp>
      <p:sp>
        <p:nvSpPr>
          <p:cNvPr id="11" name="TextBox 10"/>
          <p:cNvSpPr txBox="1"/>
          <p:nvPr/>
        </p:nvSpPr>
        <p:spPr>
          <a:xfrm>
            <a:off x="540000" y="10260000"/>
            <a:ext cx="2160000" cy="144000"/>
          </a:xfrm>
          <a:prstGeom prst="rect">
            <a:avLst/>
          </a:prstGeom>
          <a:noFill/>
        </p:spPr>
        <p:txBody>
          <a:bodyPr wrap="square" lIns="0" rIns="0" tIns="0" bIns="0">
            <a:spAutoFit/>
          </a:bodyPr>
          <a:lstStyle/>
          <a:p>
            <a:pPr algn="l"/>
            <a:r>
              <a:rPr sz="800" b="0">
                <a:solidFill>
                  <a:srgbClr val="637881"/>
                </a:solidFill>
                <a:latin typeface="Versos"/>
              </a:rPr>
              <a:t>tivio.com/fundos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80000"/>
          </a:xfrm>
          <a:prstGeom prst="rect">
            <a:avLst/>
          </a:prstGeom>
          <a:solidFill>
            <a:srgbClr val="3C4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5040000" cy="180000"/>
          </a:xfrm>
          <a:prstGeom prst="rect">
            <a:avLst/>
          </a:prstGeom>
          <a:noFill/>
        </p:spPr>
        <p:txBody>
          <a:bodyPr wrap="square" lIns="0" rIns="0" tIns="0" bIns="0">
            <a:spAutoFit/>
          </a:bodyPr>
          <a:lstStyle/>
          <a:p>
            <a:pPr algn="l"/>
            <a:r>
              <a:rPr sz="800" b="1">
                <a:solidFill>
                  <a:srgbClr val="ABC6CD"/>
                </a:solidFill>
                <a:latin typeface="Versos"/>
              </a:rPr>
              <a:t>RELATÓRIO DE GESTÃO</a:t>
            </a:r>
          </a:p>
        </p:txBody>
      </p:sp>
      <p:sp>
        <p:nvSpPr>
          <p:cNvPr id="4" name="TextBox 3"/>
          <p:cNvSpPr txBox="1"/>
          <p:nvPr/>
        </p:nvSpPr>
        <p:spPr>
          <a:xfrm>
            <a:off x="540000" y="540000"/>
            <a:ext cx="5040000" cy="396000"/>
          </a:xfrm>
          <a:prstGeom prst="rect">
            <a:avLst/>
          </a:prstGeom>
          <a:noFill/>
        </p:spPr>
        <p:txBody>
          <a:bodyPr wrap="square" lIns="0" rIns="0" tIns="0" bIns="0">
            <a:spAutoFit/>
          </a:bodyPr>
          <a:lstStyle/>
          <a:p>
            <a:pPr algn="l"/>
            <a:r>
              <a:rPr sz="2000" b="1">
                <a:solidFill>
                  <a:srgbClr val="FFFFFF"/>
                </a:solidFill>
                <a:latin typeface="Versos"/>
              </a:rPr>
              <a:t>Tivio Infra Plus</a:t>
            </a:r>
          </a:p>
        </p:txBody>
      </p:sp>
      <p:sp>
        <p:nvSpPr>
          <p:cNvPr id="5" name="TextBox 4"/>
          <p:cNvSpPr txBox="1"/>
          <p:nvPr/>
        </p:nvSpPr>
        <p:spPr>
          <a:xfrm>
            <a:off x="540000" y="720000"/>
            <a:ext cx="5040000" cy="180000"/>
          </a:xfrm>
          <a:prstGeom prst="rect">
            <a:avLst/>
          </a:prstGeom>
          <a:noFill/>
        </p:spPr>
        <p:txBody>
          <a:bodyPr wrap="square" lIns="0" rIns="0" tIns="0" bIns="0">
            <a:spAutoFit/>
          </a:bodyPr>
          <a:lstStyle/>
          <a:p>
            <a:pPr algn="l"/>
            <a:r>
              <a:rPr sz="900" b="1">
                <a:solidFill>
                  <a:srgbClr val="C1F4D4"/>
                </a:solidFill>
                <a:latin typeface="Versos"/>
              </a:rPr>
              <a:t>Agosto de 2026</a:t>
            </a:r>
          </a:p>
        </p:txBody>
      </p:sp>
      <p:sp>
        <p:nvSpPr>
          <p:cNvPr id="6" name="TextBox 5"/>
          <p:cNvSpPr txBox="1"/>
          <p:nvPr/>
        </p:nvSpPr>
        <p:spPr>
          <a:xfrm>
            <a:off x="540000" y="1368000"/>
            <a:ext cx="4320000" cy="180000"/>
          </a:xfrm>
          <a:prstGeom prst="rect">
            <a:avLst/>
          </a:prstGeom>
          <a:noFill/>
        </p:spPr>
        <p:txBody>
          <a:bodyPr wrap="square" lIns="0" rIns="0" tIns="0" bIns="0">
            <a:spAutoFit/>
          </a:bodyPr>
          <a:lstStyle/>
          <a:p>
            <a:pPr algn="l"/>
            <a:r>
              <a:rPr sz="900" b="1">
                <a:solidFill>
                  <a:srgbClr val="759DB4"/>
                </a:solidFill>
                <a:latin typeface="Versos"/>
              </a:rPr>
              <a:t>MERCADO DE CRÉDITO</a:t>
            </a:r>
          </a:p>
        </p:txBody>
      </p:sp>
      <p:graphicFrame>
        <p:nvGraphicFramePr>
          <p:cNvPr id="7" name="Table 6"/>
          <p:cNvGraphicFramePr>
            <a:graphicFrameLocks noGrp="1"/>
          </p:cNvGraphicFramePr>
          <p:nvPr/>
        </p:nvGraphicFramePr>
        <p:xfrm>
          <a:off x="540000" y="1584000"/>
          <a:ext cx="8423996" cy="2152800"/>
        </p:xfrm>
        <a:graphic>
          <a:graphicData uri="http://schemas.openxmlformats.org/drawingml/2006/table">
            <a:tbl>
              <a:tblPr firstRow="1" bandRow="1">
                <a:tableStyleId>{5C22544A-7EE6-4342-B048-85BDC9FD1C3A}</a:tableStyleId>
              </a:tblPr>
              <a:tblGrid>
                <a:gridCol w="2098285"/>
                <a:gridCol w="802285"/>
                <a:gridCol w="617142"/>
                <a:gridCol w="740571"/>
                <a:gridCol w="925714"/>
                <a:gridCol w="678857"/>
                <a:gridCol w="617142"/>
                <a:gridCol w="648000"/>
                <a:gridCol w="648000"/>
                <a:gridCol w="648000"/>
              </a:tblGrid>
              <a:tr h="165600">
                <a:tc>
                  <a:txBody>
                    <a:bodyPr/>
                    <a:lstStyle/>
                    <a:p>
                      <a:pPr algn="l"/>
                      <a:r>
                        <a:rPr sz="850" b="1">
                          <a:solidFill>
                            <a:srgbClr val="FFFFFF"/>
                          </a:solidFill>
                          <a:latin typeface="Versos"/>
                        </a:rPr>
                        <a:t>Setor</a:t>
                      </a:r>
                    </a:p>
                  </a:txBody>
                  <a:tcPr marL="43200" marR="43200" marT="0" marB="0">
                    <a:solidFill>
                      <a:srgbClr val="3C4A60"/>
                    </a:solidFill>
                  </a:tcPr>
                </a:tc>
                <a:tc>
                  <a:txBody>
                    <a:bodyPr/>
                    <a:lstStyle/>
                    <a:p>
                      <a:pPr algn="r"/>
                      <a:r>
                        <a:rPr sz="850" b="1">
                          <a:solidFill>
                            <a:srgbClr val="FFFFFF"/>
                          </a:solidFill>
                          <a:latin typeface="Versos"/>
                        </a:rPr>
                        <a:t>Volume (R$ MM)</a:t>
                      </a:r>
                    </a:p>
                  </a:txBody>
                  <a:tcPr marL="43200" marR="43200" marT="0" marB="0">
                    <a:solidFill>
                      <a:srgbClr val="3C4A60"/>
                    </a:solidFill>
                  </a:tcPr>
                </a:tc>
                <a:tc>
                  <a:txBody>
                    <a:bodyPr/>
                    <a:lstStyle/>
                    <a:p>
                      <a:pPr algn="r"/>
                      <a:r>
                        <a:rPr sz="850" b="1">
                          <a:solidFill>
                            <a:srgbClr val="FFFFFF"/>
                          </a:solidFill>
                          <a:latin typeface="Versos"/>
                        </a:rPr>
                        <a:t>%</a:t>
                      </a:r>
                    </a:p>
                  </a:txBody>
                  <a:tcPr marL="43200" marR="43200" marT="0" marB="0">
                    <a:solidFill>
                      <a:srgbClr val="3C4A60"/>
                    </a:solidFill>
                  </a:tcPr>
                </a:tc>
                <a:tc>
                  <a:txBody>
                    <a:bodyPr/>
                    <a:lstStyle/>
                    <a:p>
                      <a:pPr algn="r"/>
                      <a:r>
                        <a:rPr sz="850" b="1">
                          <a:solidFill>
                            <a:srgbClr val="FFFFFF"/>
                          </a:solidFill>
                          <a:latin typeface="Versos"/>
                        </a:rPr>
                        <a:t>Taxa Atual</a:t>
                      </a:r>
                    </a:p>
                  </a:txBody>
                  <a:tcPr marL="43200" marR="43200" marT="0" marB="0">
                    <a:solidFill>
                      <a:srgbClr val="3C4A60"/>
                    </a:solidFill>
                  </a:tcPr>
                </a:tc>
                <a:tc>
                  <a:txBody>
                    <a:bodyPr/>
                    <a:lstStyle/>
                    <a:p>
                      <a:pPr algn="r"/>
                      <a:r>
                        <a:rPr sz="850" b="1">
                          <a:solidFill>
                            <a:srgbClr val="FFFFFF"/>
                          </a:solidFill>
                          <a:latin typeface="Versos"/>
                        </a:rPr>
                        <a:t>Taxa mês anterior</a:t>
                      </a:r>
                    </a:p>
                  </a:txBody>
                  <a:tcPr marL="43200" marR="43200" marT="0" marB="0">
                    <a:solidFill>
                      <a:srgbClr val="3C4A60"/>
                    </a:solidFill>
                  </a:tcPr>
                </a:tc>
                <a:tc>
                  <a:txBody>
                    <a:bodyPr/>
                    <a:lstStyle/>
                    <a:p>
                      <a:pPr algn="r"/>
                      <a:r>
                        <a:rPr sz="850" b="1">
                          <a:solidFill>
                            <a:srgbClr val="FFFFFF"/>
                          </a:solidFill>
                          <a:latin typeface="Versos"/>
                        </a:rPr>
                        <a:t>Variação</a:t>
                      </a:r>
                    </a:p>
                  </a:txBody>
                  <a:tcPr marL="43200" marR="43200" marT="0" marB="0">
                    <a:solidFill>
                      <a:srgbClr val="3C4A60"/>
                    </a:solidFill>
                  </a:tcPr>
                </a:tc>
                <a:tc>
                  <a:txBody>
                    <a:bodyPr/>
                    <a:lstStyle/>
                    <a:p>
                      <a:pPr algn="r"/>
                      <a:r>
                        <a:rPr sz="850" b="1">
                          <a:solidFill>
                            <a:srgbClr val="FFFFFF"/>
                          </a:solidFill>
                          <a:latin typeface="Versos"/>
                        </a:rPr>
                        <a:t>Spread Atual</a:t>
                      </a:r>
                    </a:p>
                  </a:txBody>
                  <a:tcPr marL="43200" marR="43200" marT="0" marB="0">
                    <a:solidFill>
                      <a:srgbClr val="3C4A60"/>
                    </a:solidFill>
                  </a:tcPr>
                </a:tc>
                <a:tc>
                  <a:txBody>
                    <a:bodyPr/>
                    <a:lstStyle/>
                    <a:p>
                      <a:pPr algn="r"/>
                      <a:r>
                        <a:rPr sz="850" b="1">
                          <a:solidFill>
                            <a:srgbClr val="FFFFFF"/>
                          </a:solidFill>
                          <a:latin typeface="Versos"/>
                        </a:rPr>
                        <a:t>Spread mês anterior</a:t>
                      </a:r>
                    </a:p>
                  </a:txBody>
                  <a:tcPr marL="43200" marR="43200" marT="0" marB="0">
                    <a:solidFill>
                      <a:srgbClr val="3C4A60"/>
                    </a:solidFill>
                  </a:tcPr>
                </a:tc>
                <a:tc>
                  <a:txBody>
                    <a:bodyPr/>
                    <a:lstStyle/>
                    <a:p>
                      <a:pPr algn="r"/>
                      <a:r>
                        <a:rPr sz="850" b="1">
                          <a:solidFill>
                            <a:srgbClr val="FFFFFF"/>
                          </a:solidFill>
                          <a:latin typeface="Versos"/>
                        </a:rPr>
                        <a:t>Variação</a:t>
                      </a:r>
                    </a:p>
                  </a:txBody>
                  <a:tcPr marL="43200" marR="43200" marT="0" marB="0">
                    <a:solidFill>
                      <a:srgbClr val="3C4A60"/>
                    </a:solidFill>
                  </a:tcPr>
                </a:tc>
                <a:tc>
                  <a:txBody>
                    <a:bodyPr/>
                    <a:lstStyle/>
                    <a:p>
                      <a:pPr algn="r"/>
                      <a:r>
                        <a:rPr sz="850" b="1">
                          <a:solidFill>
                            <a:srgbClr val="FFFFFF"/>
                          </a:solidFill>
                          <a:latin typeface="Versos"/>
                        </a:rPr>
                        <a:t>Duration</a:t>
                      </a:r>
                    </a:p>
                  </a:txBody>
                  <a:tcPr marL="43200" marR="43200" marT="0" marB="0">
                    <a:solidFill>
                      <a:srgbClr val="3C4A60"/>
                    </a:solidFill>
                  </a:tcPr>
                </a:tc>
              </a:tr>
              <a:tr h="165600">
                <a:tc>
                  <a:txBody>
                    <a:bodyPr/>
                    <a:lstStyle/>
                    <a:p>
                      <a:pPr algn="l"/>
                      <a:r>
                        <a:rPr sz="850" b="1">
                          <a:solidFill>
                            <a:srgbClr val="1A1A1A"/>
                          </a:solidFill>
                          <a:latin typeface="Versos"/>
                        </a:rPr>
                        <a:t>Energia elétrica</a:t>
                      </a:r>
                    </a:p>
                  </a:txBody>
                  <a:tcPr marL="43200" marR="43200" marT="0" marB="0">
                    <a:solidFill>
                      <a:srgbClr val="F4F7F9"/>
                    </a:solidFill>
                  </a:tcPr>
                </a:tc>
                <a:tc>
                  <a:txBody>
                    <a:bodyPr/>
                    <a:lstStyle/>
                    <a:p>
                      <a:pPr algn="r"/>
                      <a:r>
                        <a:rPr sz="850" b="0">
                          <a:solidFill>
                            <a:srgbClr val="1A1A1A"/>
                          </a:solidFill>
                          <a:latin typeface="Versos"/>
                        </a:rPr>
                        <a:t>191.166</a:t>
                      </a:r>
                    </a:p>
                  </a:txBody>
                  <a:tcPr marL="43200" marR="43200" marT="0" marB="0">
                    <a:solidFill>
                      <a:srgbClr val="F4F7F9"/>
                    </a:solidFill>
                  </a:tcPr>
                </a:tc>
                <a:tc>
                  <a:txBody>
                    <a:bodyPr/>
                    <a:lstStyle/>
                    <a:p>
                      <a:pPr algn="r"/>
                      <a:r>
                        <a:rPr sz="850" b="0">
                          <a:solidFill>
                            <a:srgbClr val="1A1A1A"/>
                          </a:solidFill>
                          <a:latin typeface="Versos"/>
                        </a:rPr>
                        <a:t>48,71%</a:t>
                      </a:r>
                    </a:p>
                  </a:txBody>
                  <a:tcPr marL="43200" marR="43200" marT="0" marB="0">
                    <a:solidFill>
                      <a:srgbClr val="F4F7F9"/>
                    </a:solidFill>
                  </a:tcPr>
                </a:tc>
                <a:tc>
                  <a:txBody>
                    <a:bodyPr/>
                    <a:lstStyle/>
                    <a:p>
                      <a:pPr algn="r"/>
                      <a:r>
                        <a:rPr sz="850" b="0">
                          <a:solidFill>
                            <a:srgbClr val="1A1A1A"/>
                          </a:solidFill>
                          <a:latin typeface="Versos"/>
                        </a:rPr>
                        <a:t>7,93%</a:t>
                      </a:r>
                    </a:p>
                  </a:txBody>
                  <a:tcPr marL="43200" marR="43200" marT="0" marB="0">
                    <a:solidFill>
                      <a:srgbClr val="F4F7F9"/>
                    </a:solidFill>
                  </a:tcPr>
                </a:tc>
                <a:tc>
                  <a:txBody>
                    <a:bodyPr/>
                    <a:lstStyle/>
                    <a:p>
                      <a:pPr algn="r"/>
                      <a:r>
                        <a:rPr sz="850" b="0">
                          <a:solidFill>
                            <a:srgbClr val="1A1A1A"/>
                          </a:solidFill>
                          <a:latin typeface="Versos"/>
                        </a:rPr>
                        <a:t>8,13%</a:t>
                      </a:r>
                    </a:p>
                  </a:txBody>
                  <a:tcPr marL="43200" marR="43200" marT="0" marB="0">
                    <a:solidFill>
                      <a:srgbClr val="F4F7F9"/>
                    </a:solidFill>
                  </a:tcPr>
                </a:tc>
                <a:tc>
                  <a:txBody>
                    <a:bodyPr/>
                    <a:lstStyle/>
                    <a:p>
                      <a:pPr algn="r"/>
                      <a:r>
                        <a:rPr sz="850" b="0">
                          <a:solidFill>
                            <a:srgbClr val="1A1A1A"/>
                          </a:solidFill>
                          <a:latin typeface="Versos"/>
                        </a:rPr>
                        <a:t>-0,19%</a:t>
                      </a:r>
                    </a:p>
                  </a:txBody>
                  <a:tcPr marL="43200" marR="43200" marT="0" marB="0">
                    <a:solidFill>
                      <a:srgbClr val="F4F7F9"/>
                    </a:solidFill>
                  </a:tcPr>
                </a:tc>
                <a:tc>
                  <a:txBody>
                    <a:bodyPr/>
                    <a:lstStyle/>
                    <a:p>
                      <a:pPr algn="r"/>
                      <a:r>
                        <a:rPr sz="850" b="0">
                          <a:solidFill>
                            <a:srgbClr val="1A1A1A"/>
                          </a:solidFill>
                          <a:latin typeface="Versos"/>
                        </a:rPr>
                        <a:t>-0,02%</a:t>
                      </a:r>
                    </a:p>
                  </a:txBody>
                  <a:tcPr marL="43200" marR="43200" marT="0" marB="0">
                    <a:solidFill>
                      <a:srgbClr val="F4F7F9"/>
                    </a:solidFill>
                  </a:tcPr>
                </a:tc>
                <a:tc>
                  <a:txBody>
                    <a:bodyPr/>
                    <a:lstStyle/>
                    <a:p>
                      <a:pPr algn="r"/>
                      <a:r>
                        <a:rPr sz="850" b="0">
                          <a:solidFill>
                            <a:srgbClr val="1A1A1A"/>
                          </a:solidFill>
                          <a:latin typeface="Versos"/>
                        </a:rPr>
                        <a:t>-0,04%</a:t>
                      </a:r>
                    </a:p>
                  </a:txBody>
                  <a:tcPr marL="43200" marR="43200" marT="0" marB="0">
                    <a:solidFill>
                      <a:srgbClr val="F4F7F9"/>
                    </a:solidFill>
                  </a:tcPr>
                </a:tc>
                <a:tc>
                  <a:txBody>
                    <a:bodyPr/>
                    <a:lstStyle/>
                    <a:p>
                      <a:pPr algn="r"/>
                      <a:r>
                        <a:rPr sz="850" b="0">
                          <a:solidFill>
                            <a:srgbClr val="1A1A1A"/>
                          </a:solidFill>
                          <a:latin typeface="Versos"/>
                        </a:rPr>
                        <a:t>0,02%</a:t>
                      </a:r>
                    </a:p>
                  </a:txBody>
                  <a:tcPr marL="43200" marR="43200" marT="0" marB="0">
                    <a:solidFill>
                      <a:srgbClr val="F4F7F9"/>
                    </a:solidFill>
                  </a:tcPr>
                </a:tc>
                <a:tc>
                  <a:txBody>
                    <a:bodyPr/>
                    <a:lstStyle/>
                    <a:p>
                      <a:pPr algn="r"/>
                      <a:r>
                        <a:rPr sz="850" b="0">
                          <a:solidFill>
                            <a:srgbClr val="1A1A1A"/>
                          </a:solidFill>
                          <a:latin typeface="Versos"/>
                        </a:rPr>
                        <a:t>5,35</a:t>
                      </a:r>
                    </a:p>
                  </a:txBody>
                  <a:tcPr marL="43200" marR="43200" marT="0" marB="0">
                    <a:solidFill>
                      <a:srgbClr val="F4F7F9"/>
                    </a:solidFill>
                  </a:tcPr>
                </a:tc>
              </a:tr>
              <a:tr h="165600">
                <a:tc>
                  <a:txBody>
                    <a:bodyPr/>
                    <a:lstStyle/>
                    <a:p>
                      <a:pPr algn="l"/>
                      <a:r>
                        <a:rPr sz="850" b="1">
                          <a:solidFill>
                            <a:srgbClr val="1A1A1A"/>
                          </a:solidFill>
                          <a:latin typeface="Versos"/>
                        </a:rPr>
                        <a:t>Transporte e logística</a:t>
                      </a:r>
                    </a:p>
                  </a:txBody>
                  <a:tcPr marL="43200" marR="43200" marT="0" marB="0">
                    <a:solidFill>
                      <a:srgbClr val="FFFFFF"/>
                    </a:solidFill>
                  </a:tcPr>
                </a:tc>
                <a:tc>
                  <a:txBody>
                    <a:bodyPr/>
                    <a:lstStyle/>
                    <a:p>
                      <a:pPr algn="r"/>
                      <a:r>
                        <a:rPr sz="850" b="0">
                          <a:solidFill>
                            <a:srgbClr val="1A1A1A"/>
                          </a:solidFill>
                          <a:latin typeface="Versos"/>
                        </a:rPr>
                        <a:t>89.369</a:t>
                      </a:r>
                    </a:p>
                  </a:txBody>
                  <a:tcPr marL="43200" marR="43200" marT="0" marB="0">
                    <a:solidFill>
                      <a:srgbClr val="FFFFFF"/>
                    </a:solidFill>
                  </a:tcPr>
                </a:tc>
                <a:tc>
                  <a:txBody>
                    <a:bodyPr/>
                    <a:lstStyle/>
                    <a:p>
                      <a:pPr algn="r"/>
                      <a:r>
                        <a:rPr sz="850" b="0">
                          <a:solidFill>
                            <a:srgbClr val="1A1A1A"/>
                          </a:solidFill>
                          <a:latin typeface="Versos"/>
                        </a:rPr>
                        <a:t>22,77%</a:t>
                      </a:r>
                    </a:p>
                  </a:txBody>
                  <a:tcPr marL="43200" marR="43200" marT="0" marB="0">
                    <a:solidFill>
                      <a:srgbClr val="FFFFFF"/>
                    </a:solidFill>
                  </a:tcPr>
                </a:tc>
                <a:tc>
                  <a:txBody>
                    <a:bodyPr/>
                    <a:lstStyle/>
                    <a:p>
                      <a:pPr algn="r"/>
                      <a:r>
                        <a:rPr sz="850" b="0">
                          <a:solidFill>
                            <a:srgbClr val="1A1A1A"/>
                          </a:solidFill>
                          <a:latin typeface="Versos"/>
                        </a:rPr>
                        <a:t>8,32%</a:t>
                      </a:r>
                    </a:p>
                  </a:txBody>
                  <a:tcPr marL="43200" marR="43200" marT="0" marB="0">
                    <a:solidFill>
                      <a:srgbClr val="FFFFFF"/>
                    </a:solidFill>
                  </a:tcPr>
                </a:tc>
                <a:tc>
                  <a:txBody>
                    <a:bodyPr/>
                    <a:lstStyle/>
                    <a:p>
                      <a:pPr algn="r"/>
                      <a:r>
                        <a:rPr sz="850" b="0">
                          <a:solidFill>
                            <a:srgbClr val="1A1A1A"/>
                          </a:solidFill>
                          <a:latin typeface="Versos"/>
                        </a:rPr>
                        <a:t>8,48%</a:t>
                      </a:r>
                    </a:p>
                  </a:txBody>
                  <a:tcPr marL="43200" marR="43200" marT="0" marB="0">
                    <a:solidFill>
                      <a:srgbClr val="FFFFFF"/>
                    </a:solidFill>
                  </a:tcPr>
                </a:tc>
                <a:tc>
                  <a:txBody>
                    <a:bodyPr/>
                    <a:lstStyle/>
                    <a:p>
                      <a:pPr algn="r"/>
                      <a:r>
                        <a:rPr sz="850" b="0">
                          <a:solidFill>
                            <a:srgbClr val="1A1A1A"/>
                          </a:solidFill>
                          <a:latin typeface="Versos"/>
                        </a:rPr>
                        <a:t>-0,15%</a:t>
                      </a:r>
                    </a:p>
                  </a:txBody>
                  <a:tcPr marL="43200" marR="43200" marT="0" marB="0">
                    <a:solidFill>
                      <a:srgbClr val="FFFFFF"/>
                    </a:solidFill>
                  </a:tcPr>
                </a:tc>
                <a:tc>
                  <a:txBody>
                    <a:bodyPr/>
                    <a:lstStyle/>
                    <a:p>
                      <a:pPr algn="r"/>
                      <a:r>
                        <a:rPr sz="850" b="0">
                          <a:solidFill>
                            <a:srgbClr val="1A1A1A"/>
                          </a:solidFill>
                          <a:latin typeface="Versos"/>
                        </a:rPr>
                        <a:t>0,36%</a:t>
                      </a:r>
                    </a:p>
                  </a:txBody>
                  <a:tcPr marL="43200" marR="43200" marT="0" marB="0">
                    <a:solidFill>
                      <a:srgbClr val="FFFFFF"/>
                    </a:solidFill>
                  </a:tcPr>
                </a:tc>
                <a:tc>
                  <a:txBody>
                    <a:bodyPr/>
                    <a:lstStyle/>
                    <a:p>
                      <a:pPr algn="r"/>
                      <a:r>
                        <a:rPr sz="850" b="0">
                          <a:solidFill>
                            <a:srgbClr val="1A1A1A"/>
                          </a:solidFill>
                          <a:latin typeface="Versos"/>
                        </a:rPr>
                        <a:t>0,30%</a:t>
                      </a:r>
                    </a:p>
                  </a:txBody>
                  <a:tcPr marL="43200" marR="43200" marT="0" marB="0">
                    <a:solidFill>
                      <a:srgbClr val="FFFFFF"/>
                    </a:solidFill>
                  </a:tcPr>
                </a:tc>
                <a:tc>
                  <a:txBody>
                    <a:bodyPr/>
                    <a:lstStyle/>
                    <a:p>
                      <a:pPr algn="r"/>
                      <a:r>
                        <a:rPr sz="850" b="0">
                          <a:solidFill>
                            <a:srgbClr val="1A1A1A"/>
                          </a:solidFill>
                          <a:latin typeface="Versos"/>
                        </a:rPr>
                        <a:t>0,06%</a:t>
                      </a:r>
                    </a:p>
                  </a:txBody>
                  <a:tcPr marL="43200" marR="43200" marT="0" marB="0">
                    <a:solidFill>
                      <a:srgbClr val="FFFFFF"/>
                    </a:solidFill>
                  </a:tcPr>
                </a:tc>
                <a:tc>
                  <a:txBody>
                    <a:bodyPr/>
                    <a:lstStyle/>
                    <a:p>
                      <a:pPr algn="r"/>
                      <a:r>
                        <a:rPr sz="850" b="0">
                          <a:solidFill>
                            <a:srgbClr val="1A1A1A"/>
                          </a:solidFill>
                          <a:latin typeface="Versos"/>
                        </a:rPr>
                        <a:t>5,25</a:t>
                      </a:r>
                    </a:p>
                  </a:txBody>
                  <a:tcPr marL="43200" marR="43200" marT="0" marB="0">
                    <a:solidFill>
                      <a:srgbClr val="FFFFFF"/>
                    </a:solidFill>
                  </a:tcPr>
                </a:tc>
              </a:tr>
              <a:tr h="165600">
                <a:tc>
                  <a:txBody>
                    <a:bodyPr/>
                    <a:lstStyle/>
                    <a:p>
                      <a:pPr algn="l"/>
                      <a:r>
                        <a:rPr sz="850" b="1">
                          <a:solidFill>
                            <a:srgbClr val="1A1A1A"/>
                          </a:solidFill>
                          <a:latin typeface="Versos"/>
                        </a:rPr>
                        <a:t>Saneamento</a:t>
                      </a:r>
                    </a:p>
                  </a:txBody>
                  <a:tcPr marL="43200" marR="43200" marT="0" marB="0">
                    <a:solidFill>
                      <a:srgbClr val="F4F7F9"/>
                    </a:solidFill>
                  </a:tcPr>
                </a:tc>
                <a:tc>
                  <a:txBody>
                    <a:bodyPr/>
                    <a:lstStyle/>
                    <a:p>
                      <a:pPr algn="r"/>
                      <a:r>
                        <a:rPr sz="850" b="0">
                          <a:solidFill>
                            <a:srgbClr val="1A1A1A"/>
                          </a:solidFill>
                          <a:latin typeface="Versos"/>
                        </a:rPr>
                        <a:t>35.248</a:t>
                      </a:r>
                    </a:p>
                  </a:txBody>
                  <a:tcPr marL="43200" marR="43200" marT="0" marB="0">
                    <a:solidFill>
                      <a:srgbClr val="F4F7F9"/>
                    </a:solidFill>
                  </a:tcPr>
                </a:tc>
                <a:tc>
                  <a:txBody>
                    <a:bodyPr/>
                    <a:lstStyle/>
                    <a:p>
                      <a:pPr algn="r"/>
                      <a:r>
                        <a:rPr sz="850" b="0">
                          <a:solidFill>
                            <a:srgbClr val="1A1A1A"/>
                          </a:solidFill>
                          <a:latin typeface="Versos"/>
                        </a:rPr>
                        <a:t>8,98%</a:t>
                      </a:r>
                    </a:p>
                  </a:txBody>
                  <a:tcPr marL="43200" marR="43200" marT="0" marB="0">
                    <a:solidFill>
                      <a:srgbClr val="F4F7F9"/>
                    </a:solidFill>
                  </a:tcPr>
                </a:tc>
                <a:tc>
                  <a:txBody>
                    <a:bodyPr/>
                    <a:lstStyle/>
                    <a:p>
                      <a:pPr algn="r"/>
                      <a:r>
                        <a:rPr sz="850" b="0">
                          <a:solidFill>
                            <a:srgbClr val="1A1A1A"/>
                          </a:solidFill>
                          <a:latin typeface="Versos"/>
                        </a:rPr>
                        <a:t>9,69%</a:t>
                      </a:r>
                    </a:p>
                  </a:txBody>
                  <a:tcPr marL="43200" marR="43200" marT="0" marB="0">
                    <a:solidFill>
                      <a:srgbClr val="F4F7F9"/>
                    </a:solidFill>
                  </a:tcPr>
                </a:tc>
                <a:tc>
                  <a:txBody>
                    <a:bodyPr/>
                    <a:lstStyle/>
                    <a:p>
                      <a:pPr algn="r"/>
                      <a:r>
                        <a:rPr sz="850" b="0">
                          <a:solidFill>
                            <a:srgbClr val="1A1A1A"/>
                          </a:solidFill>
                          <a:latin typeface="Versos"/>
                        </a:rPr>
                        <a:t>9,75%</a:t>
                      </a:r>
                    </a:p>
                  </a:txBody>
                  <a:tcPr marL="43200" marR="43200" marT="0" marB="0">
                    <a:solidFill>
                      <a:srgbClr val="F4F7F9"/>
                    </a:solidFill>
                  </a:tcPr>
                </a:tc>
                <a:tc>
                  <a:txBody>
                    <a:bodyPr/>
                    <a:lstStyle/>
                    <a:p>
                      <a:pPr algn="r"/>
                      <a:r>
                        <a:rPr sz="850" b="0">
                          <a:solidFill>
                            <a:srgbClr val="1A1A1A"/>
                          </a:solidFill>
                          <a:latin typeface="Versos"/>
                        </a:rPr>
                        <a:t>-0,05%</a:t>
                      </a:r>
                    </a:p>
                  </a:txBody>
                  <a:tcPr marL="43200" marR="43200" marT="0" marB="0">
                    <a:solidFill>
                      <a:srgbClr val="F4F7F9"/>
                    </a:solidFill>
                  </a:tcPr>
                </a:tc>
                <a:tc>
                  <a:txBody>
                    <a:bodyPr/>
                    <a:lstStyle/>
                    <a:p>
                      <a:pPr algn="r"/>
                      <a:r>
                        <a:rPr sz="850" b="0">
                          <a:solidFill>
                            <a:srgbClr val="1A1A1A"/>
                          </a:solidFill>
                          <a:latin typeface="Versos"/>
                        </a:rPr>
                        <a:t>1,68%</a:t>
                      </a:r>
                    </a:p>
                  </a:txBody>
                  <a:tcPr marL="43200" marR="43200" marT="0" marB="0">
                    <a:solidFill>
                      <a:srgbClr val="F4F7F9"/>
                    </a:solidFill>
                  </a:tcPr>
                </a:tc>
                <a:tc>
                  <a:txBody>
                    <a:bodyPr/>
                    <a:lstStyle/>
                    <a:p>
                      <a:pPr algn="r"/>
                      <a:r>
                        <a:rPr sz="850" b="0">
                          <a:solidFill>
                            <a:srgbClr val="1A1A1A"/>
                          </a:solidFill>
                          <a:latin typeface="Versos"/>
                        </a:rPr>
                        <a:t>1,51%</a:t>
                      </a:r>
                    </a:p>
                  </a:txBody>
                  <a:tcPr marL="43200" marR="43200" marT="0" marB="0">
                    <a:solidFill>
                      <a:srgbClr val="F4F7F9"/>
                    </a:solidFill>
                  </a:tcPr>
                </a:tc>
                <a:tc>
                  <a:txBody>
                    <a:bodyPr/>
                    <a:lstStyle/>
                    <a:p>
                      <a:pPr algn="r"/>
                      <a:r>
                        <a:rPr sz="850" b="0">
                          <a:solidFill>
                            <a:srgbClr val="1A1A1A"/>
                          </a:solidFill>
                          <a:latin typeface="Versos"/>
                        </a:rPr>
                        <a:t>0,17%</a:t>
                      </a:r>
                    </a:p>
                  </a:txBody>
                  <a:tcPr marL="43200" marR="43200" marT="0" marB="0">
                    <a:solidFill>
                      <a:srgbClr val="F4F7F9"/>
                    </a:solidFill>
                  </a:tcPr>
                </a:tc>
                <a:tc>
                  <a:txBody>
                    <a:bodyPr/>
                    <a:lstStyle/>
                    <a:p>
                      <a:pPr algn="r"/>
                      <a:r>
                        <a:rPr sz="850" b="0">
                          <a:solidFill>
                            <a:srgbClr val="1A1A1A"/>
                          </a:solidFill>
                          <a:latin typeface="Versos"/>
                        </a:rPr>
                        <a:t>6,23</a:t>
                      </a:r>
                    </a:p>
                  </a:txBody>
                  <a:tcPr marL="43200" marR="43200" marT="0" marB="0">
                    <a:solidFill>
                      <a:srgbClr val="F4F7F9"/>
                    </a:solidFill>
                  </a:tcPr>
                </a:tc>
              </a:tr>
              <a:tr h="165600">
                <a:tc>
                  <a:txBody>
                    <a:bodyPr/>
                    <a:lstStyle/>
                    <a:p>
                      <a:pPr algn="l"/>
                      <a:r>
                        <a:rPr sz="850" b="1">
                          <a:solidFill>
                            <a:srgbClr val="1A1A1A"/>
                          </a:solidFill>
                          <a:latin typeface="Versos"/>
                        </a:rPr>
                        <a:t>Petróleo e gás</a:t>
                      </a:r>
                    </a:p>
                  </a:txBody>
                  <a:tcPr marL="43200" marR="43200" marT="0" marB="0">
                    <a:solidFill>
                      <a:srgbClr val="FFFFFF"/>
                    </a:solidFill>
                  </a:tcPr>
                </a:tc>
                <a:tc>
                  <a:txBody>
                    <a:bodyPr/>
                    <a:lstStyle/>
                    <a:p>
                      <a:pPr algn="r"/>
                      <a:r>
                        <a:rPr sz="850" b="0">
                          <a:solidFill>
                            <a:srgbClr val="1A1A1A"/>
                          </a:solidFill>
                          <a:latin typeface="Versos"/>
                        </a:rPr>
                        <a:t>26.236</a:t>
                      </a:r>
                    </a:p>
                  </a:txBody>
                  <a:tcPr marL="43200" marR="43200" marT="0" marB="0">
                    <a:solidFill>
                      <a:srgbClr val="FFFFFF"/>
                    </a:solidFill>
                  </a:tcPr>
                </a:tc>
                <a:tc>
                  <a:txBody>
                    <a:bodyPr/>
                    <a:lstStyle/>
                    <a:p>
                      <a:pPr algn="r"/>
                      <a:r>
                        <a:rPr sz="850" b="0">
                          <a:solidFill>
                            <a:srgbClr val="1A1A1A"/>
                          </a:solidFill>
                          <a:latin typeface="Versos"/>
                        </a:rPr>
                        <a:t>6,68%</a:t>
                      </a:r>
                    </a:p>
                  </a:txBody>
                  <a:tcPr marL="43200" marR="43200" marT="0" marB="0">
                    <a:solidFill>
                      <a:srgbClr val="FFFFFF"/>
                    </a:solidFill>
                  </a:tcPr>
                </a:tc>
                <a:tc>
                  <a:txBody>
                    <a:bodyPr/>
                    <a:lstStyle/>
                    <a:p>
                      <a:pPr algn="r"/>
                      <a:r>
                        <a:rPr sz="850" b="0">
                          <a:solidFill>
                            <a:srgbClr val="1A1A1A"/>
                          </a:solidFill>
                          <a:latin typeface="Versos"/>
                        </a:rPr>
                        <a:t>7,91%</a:t>
                      </a:r>
                    </a:p>
                  </a:txBody>
                  <a:tcPr marL="43200" marR="43200" marT="0" marB="0">
                    <a:solidFill>
                      <a:srgbClr val="FFFFFF"/>
                    </a:solidFill>
                  </a:tcPr>
                </a:tc>
                <a:tc>
                  <a:txBody>
                    <a:bodyPr/>
                    <a:lstStyle/>
                    <a:p>
                      <a:pPr algn="r"/>
                      <a:r>
                        <a:rPr sz="850" b="0">
                          <a:solidFill>
                            <a:srgbClr val="1A1A1A"/>
                          </a:solidFill>
                          <a:latin typeface="Versos"/>
                        </a:rPr>
                        <a:t>8,08%</a:t>
                      </a:r>
                    </a:p>
                  </a:txBody>
                  <a:tcPr marL="43200" marR="43200" marT="0" marB="0">
                    <a:solidFill>
                      <a:srgbClr val="FFFFFF"/>
                    </a:solidFill>
                  </a:tcPr>
                </a:tc>
                <a:tc>
                  <a:txBody>
                    <a:bodyPr/>
                    <a:lstStyle/>
                    <a:p>
                      <a:pPr algn="r"/>
                      <a:r>
                        <a:rPr sz="850" b="0">
                          <a:solidFill>
                            <a:srgbClr val="1A1A1A"/>
                          </a:solidFill>
                          <a:latin typeface="Versos"/>
                        </a:rPr>
                        <a:t>-0,16%</a:t>
                      </a:r>
                    </a:p>
                  </a:txBody>
                  <a:tcPr marL="43200" marR="43200" marT="0" marB="0">
                    <a:solidFill>
                      <a:srgbClr val="FFFFFF"/>
                    </a:solidFill>
                  </a:tcPr>
                </a:tc>
                <a:tc>
                  <a:txBody>
                    <a:bodyPr/>
                    <a:lstStyle/>
                    <a:p>
                      <a:pPr algn="r"/>
                      <a:r>
                        <a:rPr sz="850" b="0">
                          <a:solidFill>
                            <a:srgbClr val="1A1A1A"/>
                          </a:solidFill>
                          <a:latin typeface="Versos"/>
                        </a:rPr>
                        <a:t>-0,03%</a:t>
                      </a:r>
                    </a:p>
                  </a:txBody>
                  <a:tcPr marL="43200" marR="43200" marT="0" marB="0">
                    <a:solidFill>
                      <a:srgbClr val="FFFFFF"/>
                    </a:solidFill>
                  </a:tcPr>
                </a:tc>
                <a:tc>
                  <a:txBody>
                    <a:bodyPr/>
                    <a:lstStyle/>
                    <a:p>
                      <a:pPr algn="r"/>
                      <a:r>
                        <a:rPr sz="850" b="0">
                          <a:solidFill>
                            <a:srgbClr val="1A1A1A"/>
                          </a:solidFill>
                          <a:latin typeface="Versos"/>
                        </a:rPr>
                        <a:t>-0,07%</a:t>
                      </a:r>
                    </a:p>
                  </a:txBody>
                  <a:tcPr marL="43200" marR="43200" marT="0" marB="0">
                    <a:solidFill>
                      <a:srgbClr val="FFFFFF"/>
                    </a:solidFill>
                  </a:tcPr>
                </a:tc>
                <a:tc>
                  <a:txBody>
                    <a:bodyPr/>
                    <a:lstStyle/>
                    <a:p>
                      <a:pPr algn="r"/>
                      <a:r>
                        <a:rPr sz="850" b="0">
                          <a:solidFill>
                            <a:srgbClr val="1A1A1A"/>
                          </a:solidFill>
                          <a:latin typeface="Versos"/>
                        </a:rPr>
                        <a:t>0,04%</a:t>
                      </a:r>
                    </a:p>
                  </a:txBody>
                  <a:tcPr marL="43200" marR="43200" marT="0" marB="0">
                    <a:solidFill>
                      <a:srgbClr val="FFFFFF"/>
                    </a:solidFill>
                  </a:tcPr>
                </a:tc>
                <a:tc>
                  <a:txBody>
                    <a:bodyPr/>
                    <a:lstStyle/>
                    <a:p>
                      <a:pPr algn="r"/>
                      <a:r>
                        <a:rPr sz="850" b="0">
                          <a:solidFill>
                            <a:srgbClr val="1A1A1A"/>
                          </a:solidFill>
                          <a:latin typeface="Versos"/>
                        </a:rPr>
                        <a:t>5,20</a:t>
                      </a:r>
                    </a:p>
                  </a:txBody>
                  <a:tcPr marL="43200" marR="43200" marT="0" marB="0">
                    <a:solidFill>
                      <a:srgbClr val="FFFFFF"/>
                    </a:solidFill>
                  </a:tcPr>
                </a:tc>
              </a:tr>
              <a:tr h="165600">
                <a:tc>
                  <a:txBody>
                    <a:bodyPr/>
                    <a:lstStyle/>
                    <a:p>
                      <a:pPr algn="l"/>
                      <a:r>
                        <a:rPr sz="850" b="1">
                          <a:solidFill>
                            <a:srgbClr val="1A1A1A"/>
                          </a:solidFill>
                          <a:latin typeface="Versos"/>
                        </a:rPr>
                        <a:t>TI e Telecomunicações</a:t>
                      </a:r>
                    </a:p>
                  </a:txBody>
                  <a:tcPr marL="43200" marR="43200" marT="0" marB="0">
                    <a:solidFill>
                      <a:srgbClr val="F4F7F9"/>
                    </a:solidFill>
                  </a:tcPr>
                </a:tc>
                <a:tc>
                  <a:txBody>
                    <a:bodyPr/>
                    <a:lstStyle/>
                    <a:p>
                      <a:pPr algn="r"/>
                      <a:r>
                        <a:rPr sz="850" b="0">
                          <a:solidFill>
                            <a:srgbClr val="1A1A1A"/>
                          </a:solidFill>
                          <a:latin typeface="Versos"/>
                        </a:rPr>
                        <a:t>16.942</a:t>
                      </a:r>
                    </a:p>
                  </a:txBody>
                  <a:tcPr marL="43200" marR="43200" marT="0" marB="0">
                    <a:solidFill>
                      <a:srgbClr val="F4F7F9"/>
                    </a:solidFill>
                  </a:tcPr>
                </a:tc>
                <a:tc>
                  <a:txBody>
                    <a:bodyPr/>
                    <a:lstStyle/>
                    <a:p>
                      <a:pPr algn="r"/>
                      <a:r>
                        <a:rPr sz="850" b="0">
                          <a:solidFill>
                            <a:srgbClr val="1A1A1A"/>
                          </a:solidFill>
                          <a:latin typeface="Versos"/>
                        </a:rPr>
                        <a:t>4,32%</a:t>
                      </a:r>
                    </a:p>
                  </a:txBody>
                  <a:tcPr marL="43200" marR="43200" marT="0" marB="0">
                    <a:solidFill>
                      <a:srgbClr val="F4F7F9"/>
                    </a:solidFill>
                  </a:tcPr>
                </a:tc>
                <a:tc>
                  <a:txBody>
                    <a:bodyPr/>
                    <a:lstStyle/>
                    <a:p>
                      <a:pPr algn="r"/>
                      <a:r>
                        <a:rPr sz="850" b="0">
                          <a:solidFill>
                            <a:srgbClr val="1A1A1A"/>
                          </a:solidFill>
                          <a:latin typeface="Versos"/>
                        </a:rPr>
                        <a:t>9,41%</a:t>
                      </a:r>
                    </a:p>
                  </a:txBody>
                  <a:tcPr marL="43200" marR="43200" marT="0" marB="0">
                    <a:solidFill>
                      <a:srgbClr val="F4F7F9"/>
                    </a:solidFill>
                  </a:tcPr>
                </a:tc>
                <a:tc>
                  <a:txBody>
                    <a:bodyPr/>
                    <a:lstStyle/>
                    <a:p>
                      <a:pPr algn="r"/>
                      <a:r>
                        <a:rPr sz="850" b="0">
                          <a:solidFill>
                            <a:srgbClr val="1A1A1A"/>
                          </a:solidFill>
                          <a:latin typeface="Versos"/>
                        </a:rPr>
                        <a:t>9,53%</a:t>
                      </a:r>
                    </a:p>
                  </a:txBody>
                  <a:tcPr marL="43200" marR="43200" marT="0" marB="0">
                    <a:solidFill>
                      <a:srgbClr val="F4F7F9"/>
                    </a:solidFill>
                  </a:tcPr>
                </a:tc>
                <a:tc>
                  <a:txBody>
                    <a:bodyPr/>
                    <a:lstStyle/>
                    <a:p>
                      <a:pPr algn="r"/>
                      <a:r>
                        <a:rPr sz="850" b="0">
                          <a:solidFill>
                            <a:srgbClr val="1A1A1A"/>
                          </a:solidFill>
                          <a:latin typeface="Versos"/>
                        </a:rPr>
                        <a:t>-0,11%</a:t>
                      </a:r>
                    </a:p>
                  </a:txBody>
                  <a:tcPr marL="43200" marR="43200" marT="0" marB="0">
                    <a:solidFill>
                      <a:srgbClr val="F4F7F9"/>
                    </a:solidFill>
                  </a:tcPr>
                </a:tc>
                <a:tc>
                  <a:txBody>
                    <a:bodyPr/>
                    <a:lstStyle/>
                    <a:p>
                      <a:pPr algn="r"/>
                      <a:r>
                        <a:rPr sz="850" b="0">
                          <a:solidFill>
                            <a:srgbClr val="1A1A1A"/>
                          </a:solidFill>
                          <a:latin typeface="Versos"/>
                        </a:rPr>
                        <a:t>1,41%</a:t>
                      </a:r>
                    </a:p>
                  </a:txBody>
                  <a:tcPr marL="43200" marR="43200" marT="0" marB="0">
                    <a:solidFill>
                      <a:srgbClr val="F4F7F9"/>
                    </a:solidFill>
                  </a:tcPr>
                </a:tc>
                <a:tc>
                  <a:txBody>
                    <a:bodyPr/>
                    <a:lstStyle/>
                    <a:p>
                      <a:pPr algn="r"/>
                      <a:r>
                        <a:rPr sz="850" b="0">
                          <a:solidFill>
                            <a:srgbClr val="1A1A1A"/>
                          </a:solidFill>
                          <a:latin typeface="Versos"/>
                        </a:rPr>
                        <a:t>1,21%</a:t>
                      </a:r>
                    </a:p>
                  </a:txBody>
                  <a:tcPr marL="43200" marR="43200" marT="0" marB="0">
                    <a:solidFill>
                      <a:srgbClr val="F4F7F9"/>
                    </a:solidFill>
                  </a:tcPr>
                </a:tc>
                <a:tc>
                  <a:txBody>
                    <a:bodyPr/>
                    <a:lstStyle/>
                    <a:p>
                      <a:pPr algn="r"/>
                      <a:r>
                        <a:rPr sz="850" b="0">
                          <a:solidFill>
                            <a:srgbClr val="1A1A1A"/>
                          </a:solidFill>
                          <a:latin typeface="Versos"/>
                        </a:rPr>
                        <a:t>0,19%</a:t>
                      </a:r>
                    </a:p>
                  </a:txBody>
                  <a:tcPr marL="43200" marR="43200" marT="0" marB="0">
                    <a:solidFill>
                      <a:srgbClr val="F4F7F9"/>
                    </a:solidFill>
                  </a:tcPr>
                </a:tc>
                <a:tc>
                  <a:txBody>
                    <a:bodyPr/>
                    <a:lstStyle/>
                    <a:p>
                      <a:pPr algn="r"/>
                      <a:r>
                        <a:rPr sz="850" b="0">
                          <a:solidFill>
                            <a:srgbClr val="1A1A1A"/>
                          </a:solidFill>
                          <a:latin typeface="Versos"/>
                        </a:rPr>
                        <a:t>3,93</a:t>
                      </a:r>
                    </a:p>
                  </a:txBody>
                  <a:tcPr marL="43200" marR="43200" marT="0" marB="0">
                    <a:solidFill>
                      <a:srgbClr val="F4F7F9"/>
                    </a:solidFill>
                  </a:tcPr>
                </a:tc>
              </a:tr>
              <a:tr h="165600">
                <a:tc>
                  <a:txBody>
                    <a:bodyPr/>
                    <a:lstStyle/>
                    <a:p>
                      <a:pPr algn="l"/>
                      <a:r>
                        <a:rPr sz="850" b="1">
                          <a:solidFill>
                            <a:srgbClr val="1A1A1A"/>
                          </a:solidFill>
                          <a:latin typeface="Versos"/>
                        </a:rPr>
                        <a:t>Mineração</a:t>
                      </a:r>
                    </a:p>
                  </a:txBody>
                  <a:tcPr marL="43200" marR="43200" marT="0" marB="0">
                    <a:solidFill>
                      <a:srgbClr val="FFFFFF"/>
                    </a:solidFill>
                  </a:tcPr>
                </a:tc>
                <a:tc>
                  <a:txBody>
                    <a:bodyPr/>
                    <a:lstStyle/>
                    <a:p>
                      <a:pPr algn="r"/>
                      <a:r>
                        <a:rPr sz="850" b="0">
                          <a:solidFill>
                            <a:srgbClr val="1A1A1A"/>
                          </a:solidFill>
                          <a:latin typeface="Versos"/>
                        </a:rPr>
                        <a:t>14.839</a:t>
                      </a:r>
                    </a:p>
                  </a:txBody>
                  <a:tcPr marL="43200" marR="43200" marT="0" marB="0">
                    <a:solidFill>
                      <a:srgbClr val="FFFFFF"/>
                    </a:solidFill>
                  </a:tcPr>
                </a:tc>
                <a:tc>
                  <a:txBody>
                    <a:bodyPr/>
                    <a:lstStyle/>
                    <a:p>
                      <a:pPr algn="r"/>
                      <a:r>
                        <a:rPr sz="850" b="0">
                          <a:solidFill>
                            <a:srgbClr val="1A1A1A"/>
                          </a:solidFill>
                          <a:latin typeface="Versos"/>
                        </a:rPr>
                        <a:t>3,78%</a:t>
                      </a:r>
                    </a:p>
                  </a:txBody>
                  <a:tcPr marL="43200" marR="43200" marT="0" marB="0">
                    <a:solidFill>
                      <a:srgbClr val="FFFFFF"/>
                    </a:solidFill>
                  </a:tcPr>
                </a:tc>
                <a:tc>
                  <a:txBody>
                    <a:bodyPr/>
                    <a:lstStyle/>
                    <a:p>
                      <a:pPr algn="r"/>
                      <a:r>
                        <a:rPr sz="850" b="0">
                          <a:solidFill>
                            <a:srgbClr val="1A1A1A"/>
                          </a:solidFill>
                          <a:latin typeface="Versos"/>
                        </a:rPr>
                        <a:t>8,09%</a:t>
                      </a:r>
                    </a:p>
                  </a:txBody>
                  <a:tcPr marL="43200" marR="43200" marT="0" marB="0">
                    <a:solidFill>
                      <a:srgbClr val="FFFFFF"/>
                    </a:solidFill>
                  </a:tcPr>
                </a:tc>
                <a:tc>
                  <a:txBody>
                    <a:bodyPr/>
                    <a:lstStyle/>
                    <a:p>
                      <a:pPr algn="r"/>
                      <a:r>
                        <a:rPr sz="850" b="0">
                          <a:solidFill>
                            <a:srgbClr val="1A1A1A"/>
                          </a:solidFill>
                          <a:latin typeface="Versos"/>
                        </a:rPr>
                        <a:t>8,30%</a:t>
                      </a:r>
                    </a:p>
                  </a:txBody>
                  <a:tcPr marL="43200" marR="43200" marT="0" marB="0">
                    <a:solidFill>
                      <a:srgbClr val="FFFFFF"/>
                    </a:solidFill>
                  </a:tcPr>
                </a:tc>
                <a:tc>
                  <a:txBody>
                    <a:bodyPr/>
                    <a:lstStyle/>
                    <a:p>
                      <a:pPr algn="r"/>
                      <a:r>
                        <a:rPr sz="850" b="0">
                          <a:solidFill>
                            <a:srgbClr val="1A1A1A"/>
                          </a:solidFill>
                          <a:latin typeface="Versos"/>
                        </a:rPr>
                        <a:t>-0,19%</a:t>
                      </a:r>
                    </a:p>
                  </a:txBody>
                  <a:tcPr marL="43200" marR="43200" marT="0" marB="0">
                    <a:solidFill>
                      <a:srgbClr val="FFFFFF"/>
                    </a:solidFill>
                  </a:tcPr>
                </a:tc>
                <a:tc>
                  <a:txBody>
                    <a:bodyPr/>
                    <a:lstStyle/>
                    <a:p>
                      <a:pPr algn="r"/>
                      <a:r>
                        <a:rPr sz="850" b="0">
                          <a:solidFill>
                            <a:srgbClr val="1A1A1A"/>
                          </a:solidFill>
                          <a:latin typeface="Versos"/>
                        </a:rPr>
                        <a:t>0,18%</a:t>
                      </a:r>
                    </a:p>
                  </a:txBody>
                  <a:tcPr marL="43200" marR="43200" marT="0" marB="0">
                    <a:solidFill>
                      <a:srgbClr val="FFFFFF"/>
                    </a:solidFill>
                  </a:tcPr>
                </a:tc>
                <a:tc>
                  <a:txBody>
                    <a:bodyPr/>
                    <a:lstStyle/>
                    <a:p>
                      <a:pPr algn="r"/>
                      <a:r>
                        <a:rPr sz="850" b="0">
                          <a:solidFill>
                            <a:srgbClr val="1A1A1A"/>
                          </a:solidFill>
                          <a:latin typeface="Versos"/>
                        </a:rPr>
                        <a:t>0,21%</a:t>
                      </a:r>
                    </a:p>
                  </a:txBody>
                  <a:tcPr marL="43200" marR="43200" marT="0" marB="0">
                    <a:solidFill>
                      <a:srgbClr val="FFFFFF"/>
                    </a:solidFill>
                  </a:tcPr>
                </a:tc>
                <a:tc>
                  <a:txBody>
                    <a:bodyPr/>
                    <a:lstStyle/>
                    <a:p>
                      <a:pPr algn="r"/>
                      <a:r>
                        <a:rPr sz="850" b="0">
                          <a:solidFill>
                            <a:srgbClr val="1A1A1A"/>
                          </a:solidFill>
                          <a:latin typeface="Versos"/>
                        </a:rPr>
                        <a:t>-0,03%</a:t>
                      </a:r>
                    </a:p>
                  </a:txBody>
                  <a:tcPr marL="43200" marR="43200" marT="0" marB="0">
                    <a:solidFill>
                      <a:srgbClr val="FFFFFF"/>
                    </a:solidFill>
                  </a:tcPr>
                </a:tc>
                <a:tc>
                  <a:txBody>
                    <a:bodyPr/>
                    <a:lstStyle/>
                    <a:p>
                      <a:pPr algn="r"/>
                      <a:r>
                        <a:rPr sz="850" b="0">
                          <a:solidFill>
                            <a:srgbClr val="1A1A1A"/>
                          </a:solidFill>
                          <a:latin typeface="Versos"/>
                        </a:rPr>
                        <a:t>6,50</a:t>
                      </a:r>
                    </a:p>
                  </a:txBody>
                  <a:tcPr marL="43200" marR="43200" marT="0" marB="0">
                    <a:solidFill>
                      <a:srgbClr val="FFFFFF"/>
                    </a:solidFill>
                  </a:tcPr>
                </a:tc>
              </a:tr>
              <a:tr h="165600">
                <a:tc>
                  <a:txBody>
                    <a:bodyPr/>
                    <a:lstStyle/>
                    <a:p>
                      <a:pPr algn="l"/>
                      <a:r>
                        <a:rPr sz="850" b="1">
                          <a:solidFill>
                            <a:srgbClr val="1A1A1A"/>
                          </a:solidFill>
                          <a:latin typeface="Versos"/>
                        </a:rPr>
                        <a:t>Bioenergia</a:t>
                      </a:r>
                    </a:p>
                  </a:txBody>
                  <a:tcPr marL="43200" marR="43200" marT="0" marB="0">
                    <a:solidFill>
                      <a:srgbClr val="F4F7F9"/>
                    </a:solidFill>
                  </a:tcPr>
                </a:tc>
                <a:tc>
                  <a:txBody>
                    <a:bodyPr/>
                    <a:lstStyle/>
                    <a:p>
                      <a:pPr algn="r"/>
                      <a:r>
                        <a:rPr sz="850" b="0">
                          <a:solidFill>
                            <a:srgbClr val="1A1A1A"/>
                          </a:solidFill>
                          <a:latin typeface="Versos"/>
                        </a:rPr>
                        <a:t>6.924</a:t>
                      </a:r>
                    </a:p>
                  </a:txBody>
                  <a:tcPr marL="43200" marR="43200" marT="0" marB="0">
                    <a:solidFill>
                      <a:srgbClr val="F4F7F9"/>
                    </a:solidFill>
                  </a:tcPr>
                </a:tc>
                <a:tc>
                  <a:txBody>
                    <a:bodyPr/>
                    <a:lstStyle/>
                    <a:p>
                      <a:pPr algn="r"/>
                      <a:r>
                        <a:rPr sz="850" b="0">
                          <a:solidFill>
                            <a:srgbClr val="1A1A1A"/>
                          </a:solidFill>
                          <a:latin typeface="Versos"/>
                        </a:rPr>
                        <a:t>1,76%</a:t>
                      </a:r>
                    </a:p>
                  </a:txBody>
                  <a:tcPr marL="43200" marR="43200" marT="0" marB="0">
                    <a:solidFill>
                      <a:srgbClr val="F4F7F9"/>
                    </a:solidFill>
                  </a:tcPr>
                </a:tc>
                <a:tc>
                  <a:txBody>
                    <a:bodyPr/>
                    <a:lstStyle/>
                    <a:p>
                      <a:pPr algn="r"/>
                      <a:r>
                        <a:rPr sz="850" b="0">
                          <a:solidFill>
                            <a:srgbClr val="1A1A1A"/>
                          </a:solidFill>
                          <a:latin typeface="Versos"/>
                        </a:rPr>
                        <a:t>8,96%</a:t>
                      </a:r>
                    </a:p>
                  </a:txBody>
                  <a:tcPr marL="43200" marR="43200" marT="0" marB="0">
                    <a:solidFill>
                      <a:srgbClr val="F4F7F9"/>
                    </a:solidFill>
                  </a:tcPr>
                </a:tc>
                <a:tc>
                  <a:txBody>
                    <a:bodyPr/>
                    <a:lstStyle/>
                    <a:p>
                      <a:pPr algn="r"/>
                      <a:r>
                        <a:rPr sz="850" b="0">
                          <a:solidFill>
                            <a:srgbClr val="1A1A1A"/>
                          </a:solidFill>
                          <a:latin typeface="Versos"/>
                        </a:rPr>
                        <a:t>9,07%</a:t>
                      </a:r>
                    </a:p>
                  </a:txBody>
                  <a:tcPr marL="43200" marR="43200" marT="0" marB="0">
                    <a:solidFill>
                      <a:srgbClr val="F4F7F9"/>
                    </a:solidFill>
                  </a:tcPr>
                </a:tc>
                <a:tc>
                  <a:txBody>
                    <a:bodyPr/>
                    <a:lstStyle/>
                    <a:p>
                      <a:pPr algn="r"/>
                      <a:r>
                        <a:rPr sz="850" b="0">
                          <a:solidFill>
                            <a:srgbClr val="1A1A1A"/>
                          </a:solidFill>
                          <a:latin typeface="Versos"/>
                        </a:rPr>
                        <a:t>-0,11%</a:t>
                      </a:r>
                    </a:p>
                  </a:txBody>
                  <a:tcPr marL="43200" marR="43200" marT="0" marB="0">
                    <a:solidFill>
                      <a:srgbClr val="F4F7F9"/>
                    </a:solidFill>
                  </a:tcPr>
                </a:tc>
                <a:tc>
                  <a:txBody>
                    <a:bodyPr/>
                    <a:lstStyle/>
                    <a:p>
                      <a:pPr algn="r"/>
                      <a:r>
                        <a:rPr sz="850" b="0">
                          <a:solidFill>
                            <a:srgbClr val="1A1A1A"/>
                          </a:solidFill>
                          <a:latin typeface="Versos"/>
                        </a:rPr>
                        <a:t>0,86%</a:t>
                      </a:r>
                    </a:p>
                  </a:txBody>
                  <a:tcPr marL="43200" marR="43200" marT="0" marB="0">
                    <a:solidFill>
                      <a:srgbClr val="F4F7F9"/>
                    </a:solidFill>
                  </a:tcPr>
                </a:tc>
                <a:tc>
                  <a:txBody>
                    <a:bodyPr/>
                    <a:lstStyle/>
                    <a:p>
                      <a:pPr algn="r"/>
                      <a:r>
                        <a:rPr sz="850" b="0">
                          <a:solidFill>
                            <a:srgbClr val="1A1A1A"/>
                          </a:solidFill>
                          <a:latin typeface="Versos"/>
                        </a:rPr>
                        <a:t>0,76%</a:t>
                      </a:r>
                    </a:p>
                  </a:txBody>
                  <a:tcPr marL="43200" marR="43200" marT="0" marB="0">
                    <a:solidFill>
                      <a:srgbClr val="F4F7F9"/>
                    </a:solidFill>
                  </a:tcPr>
                </a:tc>
                <a:tc>
                  <a:txBody>
                    <a:bodyPr/>
                    <a:lstStyle/>
                    <a:p>
                      <a:pPr algn="r"/>
                      <a:r>
                        <a:rPr sz="850" b="0">
                          <a:solidFill>
                            <a:srgbClr val="1A1A1A"/>
                          </a:solidFill>
                          <a:latin typeface="Versos"/>
                        </a:rPr>
                        <a:t>0,10%</a:t>
                      </a:r>
                    </a:p>
                  </a:txBody>
                  <a:tcPr marL="43200" marR="43200" marT="0" marB="0">
                    <a:solidFill>
                      <a:srgbClr val="F4F7F9"/>
                    </a:solidFill>
                  </a:tcPr>
                </a:tc>
                <a:tc>
                  <a:txBody>
                    <a:bodyPr/>
                    <a:lstStyle/>
                    <a:p>
                      <a:pPr algn="r"/>
                      <a:r>
                        <a:rPr sz="850" b="0">
                          <a:solidFill>
                            <a:srgbClr val="1A1A1A"/>
                          </a:solidFill>
                          <a:latin typeface="Versos"/>
                        </a:rPr>
                        <a:t>4,39</a:t>
                      </a:r>
                    </a:p>
                  </a:txBody>
                  <a:tcPr marL="43200" marR="43200" marT="0" marB="0">
                    <a:solidFill>
                      <a:srgbClr val="F4F7F9"/>
                    </a:solidFill>
                  </a:tcPr>
                </a:tc>
              </a:tr>
              <a:tr h="165600">
                <a:tc>
                  <a:txBody>
                    <a:bodyPr/>
                    <a:lstStyle/>
                    <a:p>
                      <a:pPr algn="l"/>
                      <a:r>
                        <a:rPr sz="850" b="1">
                          <a:solidFill>
                            <a:srgbClr val="1A1A1A"/>
                          </a:solidFill>
                          <a:latin typeface="Versos"/>
                        </a:rPr>
                        <a:t>Papel e celulose</a:t>
                      </a:r>
                    </a:p>
                  </a:txBody>
                  <a:tcPr marL="43200" marR="43200" marT="0" marB="0">
                    <a:solidFill>
                      <a:srgbClr val="FFFFFF"/>
                    </a:solidFill>
                  </a:tcPr>
                </a:tc>
                <a:tc>
                  <a:txBody>
                    <a:bodyPr/>
                    <a:lstStyle/>
                    <a:p>
                      <a:pPr algn="r"/>
                      <a:r>
                        <a:rPr sz="850" b="0">
                          <a:solidFill>
                            <a:srgbClr val="1A1A1A"/>
                          </a:solidFill>
                          <a:latin typeface="Versos"/>
                        </a:rPr>
                        <a:t>7.223</a:t>
                      </a:r>
                    </a:p>
                  </a:txBody>
                  <a:tcPr marL="43200" marR="43200" marT="0" marB="0">
                    <a:solidFill>
                      <a:srgbClr val="FFFFFF"/>
                    </a:solidFill>
                  </a:tcPr>
                </a:tc>
                <a:tc>
                  <a:txBody>
                    <a:bodyPr/>
                    <a:lstStyle/>
                    <a:p>
                      <a:pPr algn="r"/>
                      <a:r>
                        <a:rPr sz="850" b="0">
                          <a:solidFill>
                            <a:srgbClr val="1A1A1A"/>
                          </a:solidFill>
                          <a:latin typeface="Versos"/>
                        </a:rPr>
                        <a:t>1,84%</a:t>
                      </a:r>
                    </a:p>
                  </a:txBody>
                  <a:tcPr marL="43200" marR="43200" marT="0" marB="0">
                    <a:solidFill>
                      <a:srgbClr val="FFFFFF"/>
                    </a:solidFill>
                  </a:tcPr>
                </a:tc>
                <a:tc>
                  <a:txBody>
                    <a:bodyPr/>
                    <a:lstStyle/>
                    <a:p>
                      <a:pPr algn="r"/>
                      <a:r>
                        <a:rPr sz="850" b="0">
                          <a:solidFill>
                            <a:srgbClr val="1A1A1A"/>
                          </a:solidFill>
                          <a:latin typeface="Versos"/>
                        </a:rPr>
                        <a:t>7,65%</a:t>
                      </a:r>
                    </a:p>
                  </a:txBody>
                  <a:tcPr marL="43200" marR="43200" marT="0" marB="0">
                    <a:solidFill>
                      <a:srgbClr val="FFFFFF"/>
                    </a:solidFill>
                  </a:tcPr>
                </a:tc>
                <a:tc>
                  <a:txBody>
                    <a:bodyPr/>
                    <a:lstStyle/>
                    <a:p>
                      <a:pPr algn="r"/>
                      <a:r>
                        <a:rPr sz="850" b="0">
                          <a:solidFill>
                            <a:srgbClr val="1A1A1A"/>
                          </a:solidFill>
                          <a:latin typeface="Versos"/>
                        </a:rPr>
                        <a:t>7,87%</a:t>
                      </a:r>
                    </a:p>
                  </a:txBody>
                  <a:tcPr marL="43200" marR="43200" marT="0" marB="0">
                    <a:solidFill>
                      <a:srgbClr val="FFFFFF"/>
                    </a:solidFill>
                  </a:tcPr>
                </a:tc>
                <a:tc>
                  <a:txBody>
                    <a:bodyPr/>
                    <a:lstStyle/>
                    <a:p>
                      <a:pPr algn="r"/>
                      <a:r>
                        <a:rPr sz="850" b="0">
                          <a:solidFill>
                            <a:srgbClr val="1A1A1A"/>
                          </a:solidFill>
                          <a:latin typeface="Versos"/>
                        </a:rPr>
                        <a:t>-0,20%</a:t>
                      </a:r>
                    </a:p>
                  </a:txBody>
                  <a:tcPr marL="43200" marR="43200" marT="0" marB="0">
                    <a:solidFill>
                      <a:srgbClr val="FFFFFF"/>
                    </a:solidFill>
                  </a:tcPr>
                </a:tc>
                <a:tc>
                  <a:txBody>
                    <a:bodyPr/>
                    <a:lstStyle/>
                    <a:p>
                      <a:pPr algn="r"/>
                      <a:r>
                        <a:rPr sz="850" b="0">
                          <a:solidFill>
                            <a:srgbClr val="1A1A1A"/>
                          </a:solidFill>
                          <a:latin typeface="Versos"/>
                        </a:rPr>
                        <a:t>-0,23%</a:t>
                      </a:r>
                    </a:p>
                  </a:txBody>
                  <a:tcPr marL="43200" marR="43200" marT="0" marB="0">
                    <a:solidFill>
                      <a:srgbClr val="FFFFFF"/>
                    </a:solidFill>
                  </a:tcPr>
                </a:tc>
                <a:tc>
                  <a:txBody>
                    <a:bodyPr/>
                    <a:lstStyle/>
                    <a:p>
                      <a:pPr algn="r"/>
                      <a:r>
                        <a:rPr sz="850" b="0">
                          <a:solidFill>
                            <a:srgbClr val="1A1A1A"/>
                          </a:solidFill>
                          <a:latin typeface="Versos"/>
                        </a:rPr>
                        <a:t>-0,20%</a:t>
                      </a:r>
                    </a:p>
                  </a:txBody>
                  <a:tcPr marL="43200" marR="43200" marT="0" marB="0">
                    <a:solidFill>
                      <a:srgbClr val="FFFFFF"/>
                    </a:solidFill>
                  </a:tcPr>
                </a:tc>
                <a:tc>
                  <a:txBody>
                    <a:bodyPr/>
                    <a:lstStyle/>
                    <a:p>
                      <a:pPr algn="r"/>
                      <a:r>
                        <a:rPr sz="850" b="0">
                          <a:solidFill>
                            <a:srgbClr val="1A1A1A"/>
                          </a:solidFill>
                          <a:latin typeface="Versos"/>
                        </a:rPr>
                        <a:t>-0,04%</a:t>
                      </a:r>
                    </a:p>
                  </a:txBody>
                  <a:tcPr marL="43200" marR="43200" marT="0" marB="0">
                    <a:solidFill>
                      <a:srgbClr val="FFFFFF"/>
                    </a:solidFill>
                  </a:tcPr>
                </a:tc>
                <a:tc>
                  <a:txBody>
                    <a:bodyPr/>
                    <a:lstStyle/>
                    <a:p>
                      <a:pPr algn="r"/>
                      <a:r>
                        <a:rPr sz="850" b="0">
                          <a:solidFill>
                            <a:srgbClr val="1A1A1A"/>
                          </a:solidFill>
                          <a:latin typeface="Versos"/>
                        </a:rPr>
                        <a:t>6,91</a:t>
                      </a:r>
                    </a:p>
                  </a:txBody>
                  <a:tcPr marL="43200" marR="43200" marT="0" marB="0">
                    <a:solidFill>
                      <a:srgbClr val="FFFFFF"/>
                    </a:solidFill>
                  </a:tcPr>
                </a:tc>
              </a:tr>
              <a:tr h="165600">
                <a:tc>
                  <a:txBody>
                    <a:bodyPr/>
                    <a:lstStyle/>
                    <a:p>
                      <a:pPr algn="l"/>
                      <a:r>
                        <a:rPr sz="850" b="1">
                          <a:solidFill>
                            <a:srgbClr val="1A1A1A"/>
                          </a:solidFill>
                          <a:latin typeface="Versos"/>
                        </a:rPr>
                        <a:t>Outros serviços</a:t>
                      </a:r>
                    </a:p>
                  </a:txBody>
                  <a:tcPr marL="43200" marR="43200" marT="0" marB="0">
                    <a:solidFill>
                      <a:srgbClr val="F4F7F9"/>
                    </a:solidFill>
                  </a:tcPr>
                </a:tc>
                <a:tc>
                  <a:txBody>
                    <a:bodyPr/>
                    <a:lstStyle/>
                    <a:p>
                      <a:pPr algn="r"/>
                      <a:r>
                        <a:rPr sz="850" b="0">
                          <a:solidFill>
                            <a:srgbClr val="1A1A1A"/>
                          </a:solidFill>
                          <a:latin typeface="Versos"/>
                        </a:rPr>
                        <a:t>1.671</a:t>
                      </a:r>
                    </a:p>
                  </a:txBody>
                  <a:tcPr marL="43200" marR="43200" marT="0" marB="0">
                    <a:solidFill>
                      <a:srgbClr val="F4F7F9"/>
                    </a:solidFill>
                  </a:tcPr>
                </a:tc>
                <a:tc>
                  <a:txBody>
                    <a:bodyPr/>
                    <a:lstStyle/>
                    <a:p>
                      <a:pPr algn="r"/>
                      <a:r>
                        <a:rPr sz="850" b="0">
                          <a:solidFill>
                            <a:srgbClr val="1A1A1A"/>
                          </a:solidFill>
                          <a:latin typeface="Versos"/>
                        </a:rPr>
                        <a:t>0,43%</a:t>
                      </a:r>
                    </a:p>
                  </a:txBody>
                  <a:tcPr marL="43200" marR="43200" marT="0" marB="0">
                    <a:solidFill>
                      <a:srgbClr val="F4F7F9"/>
                    </a:solidFill>
                  </a:tcPr>
                </a:tc>
                <a:tc>
                  <a:txBody>
                    <a:bodyPr/>
                    <a:lstStyle/>
                    <a:p>
                      <a:pPr algn="r"/>
                      <a:r>
                        <a:rPr sz="850" b="0">
                          <a:solidFill>
                            <a:srgbClr val="1A1A1A"/>
                          </a:solidFill>
                          <a:latin typeface="Versos"/>
                        </a:rPr>
                        <a:t>7,71%</a:t>
                      </a:r>
                    </a:p>
                  </a:txBody>
                  <a:tcPr marL="43200" marR="43200" marT="0" marB="0">
                    <a:solidFill>
                      <a:srgbClr val="F4F7F9"/>
                    </a:solidFill>
                  </a:tcPr>
                </a:tc>
                <a:tc>
                  <a:txBody>
                    <a:bodyPr/>
                    <a:lstStyle/>
                    <a:p>
                      <a:pPr algn="r"/>
                      <a:r>
                        <a:rPr sz="850" b="0">
                          <a:solidFill>
                            <a:srgbClr val="1A1A1A"/>
                          </a:solidFill>
                          <a:latin typeface="Versos"/>
                        </a:rPr>
                        <a:t>7,95%</a:t>
                      </a:r>
                    </a:p>
                  </a:txBody>
                  <a:tcPr marL="43200" marR="43200" marT="0" marB="0">
                    <a:solidFill>
                      <a:srgbClr val="F4F7F9"/>
                    </a:solidFill>
                  </a:tcPr>
                </a:tc>
                <a:tc>
                  <a:txBody>
                    <a:bodyPr/>
                    <a:lstStyle/>
                    <a:p>
                      <a:pPr algn="r"/>
                      <a:r>
                        <a:rPr sz="850" b="0">
                          <a:solidFill>
                            <a:srgbClr val="1A1A1A"/>
                          </a:solidFill>
                          <a:latin typeface="Versos"/>
                        </a:rPr>
                        <a:t>-0,23%</a:t>
                      </a:r>
                    </a:p>
                  </a:txBody>
                  <a:tcPr marL="43200" marR="43200" marT="0" marB="0">
                    <a:solidFill>
                      <a:srgbClr val="F4F7F9"/>
                    </a:solidFill>
                  </a:tcPr>
                </a:tc>
                <a:tc>
                  <a:txBody>
                    <a:bodyPr/>
                    <a:lstStyle/>
                    <a:p>
                      <a:pPr algn="r"/>
                      <a:r>
                        <a:rPr sz="850" b="0">
                          <a:solidFill>
                            <a:srgbClr val="1A1A1A"/>
                          </a:solidFill>
                          <a:latin typeface="Versos"/>
                        </a:rPr>
                        <a:t>-0,30%</a:t>
                      </a:r>
                    </a:p>
                  </a:txBody>
                  <a:tcPr marL="43200" marR="43200" marT="0" marB="0">
                    <a:solidFill>
                      <a:srgbClr val="F4F7F9"/>
                    </a:solidFill>
                  </a:tcPr>
                </a:tc>
                <a:tc>
                  <a:txBody>
                    <a:bodyPr/>
                    <a:lstStyle/>
                    <a:p>
                      <a:pPr algn="r"/>
                      <a:r>
                        <a:rPr sz="850" b="0">
                          <a:solidFill>
                            <a:srgbClr val="1A1A1A"/>
                          </a:solidFill>
                          <a:latin typeface="Versos"/>
                        </a:rPr>
                        <a:t>-0,27%</a:t>
                      </a:r>
                    </a:p>
                  </a:txBody>
                  <a:tcPr marL="43200" marR="43200" marT="0" marB="0">
                    <a:solidFill>
                      <a:srgbClr val="F4F7F9"/>
                    </a:solidFill>
                  </a:tcPr>
                </a:tc>
                <a:tc>
                  <a:txBody>
                    <a:bodyPr/>
                    <a:lstStyle/>
                    <a:p>
                      <a:pPr algn="r"/>
                      <a:r>
                        <a:rPr sz="850" b="0">
                          <a:solidFill>
                            <a:srgbClr val="1A1A1A"/>
                          </a:solidFill>
                          <a:latin typeface="Versos"/>
                        </a:rPr>
                        <a:t>-0,03%</a:t>
                      </a:r>
                    </a:p>
                  </a:txBody>
                  <a:tcPr marL="43200" marR="43200" marT="0" marB="0">
                    <a:solidFill>
                      <a:srgbClr val="F4F7F9"/>
                    </a:solidFill>
                  </a:tcPr>
                </a:tc>
                <a:tc>
                  <a:txBody>
                    <a:bodyPr/>
                    <a:lstStyle/>
                    <a:p>
                      <a:pPr algn="r"/>
                      <a:r>
                        <a:rPr sz="850" b="0">
                          <a:solidFill>
                            <a:srgbClr val="1A1A1A"/>
                          </a:solidFill>
                          <a:latin typeface="Versos"/>
                        </a:rPr>
                        <a:t>3,29</a:t>
                      </a:r>
                    </a:p>
                  </a:txBody>
                  <a:tcPr marL="43200" marR="43200" marT="0" marB="0">
                    <a:solidFill>
                      <a:srgbClr val="F4F7F9"/>
                    </a:solidFill>
                  </a:tcPr>
                </a:tc>
              </a:tr>
              <a:tr h="165600">
                <a:tc>
                  <a:txBody>
                    <a:bodyPr/>
                    <a:lstStyle/>
                    <a:p>
                      <a:pPr algn="l"/>
                      <a:r>
                        <a:rPr sz="850" b="1">
                          <a:solidFill>
                            <a:srgbClr val="1A1A1A"/>
                          </a:solidFill>
                          <a:latin typeface="Versos"/>
                        </a:rPr>
                        <a:t>Comunicação</a:t>
                      </a:r>
                    </a:p>
                  </a:txBody>
                  <a:tcPr marL="43200" marR="43200" marT="0" marB="0">
                    <a:solidFill>
                      <a:srgbClr val="FFFFFF"/>
                    </a:solidFill>
                  </a:tcPr>
                </a:tc>
                <a:tc>
                  <a:txBody>
                    <a:bodyPr/>
                    <a:lstStyle/>
                    <a:p>
                      <a:pPr algn="r"/>
                      <a:r>
                        <a:rPr sz="850" b="0">
                          <a:solidFill>
                            <a:srgbClr val="1A1A1A"/>
                          </a:solidFill>
                          <a:latin typeface="Versos"/>
                        </a:rPr>
                        <a:t>1.747</a:t>
                      </a:r>
                    </a:p>
                  </a:txBody>
                  <a:tcPr marL="43200" marR="43200" marT="0" marB="0">
                    <a:solidFill>
                      <a:srgbClr val="FFFFFF"/>
                    </a:solidFill>
                  </a:tcPr>
                </a:tc>
                <a:tc>
                  <a:txBody>
                    <a:bodyPr/>
                    <a:lstStyle/>
                    <a:p>
                      <a:pPr algn="r"/>
                      <a:r>
                        <a:rPr sz="850" b="0">
                          <a:solidFill>
                            <a:srgbClr val="1A1A1A"/>
                          </a:solidFill>
                          <a:latin typeface="Versos"/>
                        </a:rPr>
                        <a:t>0,45%</a:t>
                      </a:r>
                    </a:p>
                  </a:txBody>
                  <a:tcPr marL="43200" marR="43200" marT="0" marB="0">
                    <a:solidFill>
                      <a:srgbClr val="FFFFFF"/>
                    </a:solidFill>
                  </a:tcPr>
                </a:tc>
                <a:tc>
                  <a:txBody>
                    <a:bodyPr/>
                    <a:lstStyle/>
                    <a:p>
                      <a:pPr algn="r"/>
                      <a:r>
                        <a:rPr sz="850" b="0">
                          <a:solidFill>
                            <a:srgbClr val="1A1A1A"/>
                          </a:solidFill>
                          <a:latin typeface="Versos"/>
                        </a:rPr>
                        <a:t>7,95%</a:t>
                      </a:r>
                    </a:p>
                  </a:txBody>
                  <a:tcPr marL="43200" marR="43200" marT="0" marB="0">
                    <a:solidFill>
                      <a:srgbClr val="FFFFFF"/>
                    </a:solidFill>
                  </a:tcPr>
                </a:tc>
                <a:tc>
                  <a:txBody>
                    <a:bodyPr/>
                    <a:lstStyle/>
                    <a:p>
                      <a:pPr algn="r"/>
                      <a:r>
                        <a:rPr sz="850" b="0">
                          <a:solidFill>
                            <a:srgbClr val="1A1A1A"/>
                          </a:solidFill>
                          <a:latin typeface="Versos"/>
                        </a:rPr>
                        <a:t>8,09%</a:t>
                      </a:r>
                    </a:p>
                  </a:txBody>
                  <a:tcPr marL="43200" marR="43200" marT="0" marB="0">
                    <a:solidFill>
                      <a:srgbClr val="FFFFFF"/>
                    </a:solidFill>
                  </a:tcPr>
                </a:tc>
                <a:tc>
                  <a:txBody>
                    <a:bodyPr/>
                    <a:lstStyle/>
                    <a:p>
                      <a:pPr algn="r"/>
                      <a:r>
                        <a:rPr sz="850" b="0">
                          <a:solidFill>
                            <a:srgbClr val="1A1A1A"/>
                          </a:solidFill>
                          <a:latin typeface="Versos"/>
                        </a:rPr>
                        <a:t>-0,13%</a:t>
                      </a:r>
                    </a:p>
                  </a:txBody>
                  <a:tcPr marL="43200" marR="43200" marT="0" marB="0">
                    <a:solidFill>
                      <a:srgbClr val="FFFFFF"/>
                    </a:solidFill>
                  </a:tcPr>
                </a:tc>
                <a:tc>
                  <a:txBody>
                    <a:bodyPr/>
                    <a:lstStyle/>
                    <a:p>
                      <a:pPr algn="r"/>
                      <a:r>
                        <a:rPr sz="850" b="0">
                          <a:solidFill>
                            <a:srgbClr val="1A1A1A"/>
                          </a:solidFill>
                          <a:latin typeface="Versos"/>
                        </a:rPr>
                        <a:t>-0,14%</a:t>
                      </a:r>
                    </a:p>
                  </a:txBody>
                  <a:tcPr marL="43200" marR="43200" marT="0" marB="0">
                    <a:solidFill>
                      <a:srgbClr val="FFFFFF"/>
                    </a:solidFill>
                  </a:tcPr>
                </a:tc>
                <a:tc>
                  <a:txBody>
                    <a:bodyPr/>
                    <a:lstStyle/>
                    <a:p>
                      <a:pPr algn="r"/>
                      <a:r>
                        <a:rPr sz="850" b="0">
                          <a:solidFill>
                            <a:srgbClr val="1A1A1A"/>
                          </a:solidFill>
                          <a:latin typeface="Versos"/>
                        </a:rPr>
                        <a:t>-0,16%</a:t>
                      </a:r>
                    </a:p>
                  </a:txBody>
                  <a:tcPr marL="43200" marR="43200" marT="0" marB="0">
                    <a:solidFill>
                      <a:srgbClr val="FFFFFF"/>
                    </a:solidFill>
                  </a:tcPr>
                </a:tc>
                <a:tc>
                  <a:txBody>
                    <a:bodyPr/>
                    <a:lstStyle/>
                    <a:p>
                      <a:pPr algn="r"/>
                      <a:r>
                        <a:rPr sz="850" b="0">
                          <a:solidFill>
                            <a:srgbClr val="1A1A1A"/>
                          </a:solidFill>
                          <a:latin typeface="Versos"/>
                        </a:rPr>
                        <a:t>0,02%</a:t>
                      </a:r>
                    </a:p>
                  </a:txBody>
                  <a:tcPr marL="43200" marR="43200" marT="0" marB="0">
                    <a:solidFill>
                      <a:srgbClr val="FFFFFF"/>
                    </a:solidFill>
                  </a:tcPr>
                </a:tc>
                <a:tc>
                  <a:txBody>
                    <a:bodyPr/>
                    <a:lstStyle/>
                    <a:p>
                      <a:pPr algn="r"/>
                      <a:r>
                        <a:rPr sz="850" b="0">
                          <a:solidFill>
                            <a:srgbClr val="1A1A1A"/>
                          </a:solidFill>
                          <a:latin typeface="Versos"/>
                        </a:rPr>
                        <a:t>4,19</a:t>
                      </a:r>
                    </a:p>
                  </a:txBody>
                  <a:tcPr marL="43200" marR="43200" marT="0" marB="0">
                    <a:solidFill>
                      <a:srgbClr val="FFFFFF"/>
                    </a:solidFill>
                  </a:tcPr>
                </a:tc>
              </a:tr>
              <a:tr h="165600">
                <a:tc>
                  <a:txBody>
                    <a:bodyPr/>
                    <a:lstStyle/>
                    <a:p>
                      <a:pPr algn="l"/>
                      <a:r>
                        <a:rPr sz="850" b="1">
                          <a:solidFill>
                            <a:srgbClr val="1A1A1A"/>
                          </a:solidFill>
                          <a:latin typeface="Versos"/>
                        </a:rPr>
                        <a:t>Metalurgia e siderurgia</a:t>
                      </a:r>
                    </a:p>
                  </a:txBody>
                  <a:tcPr marL="43200" marR="43200" marT="0" marB="0">
                    <a:solidFill>
                      <a:srgbClr val="F4F7F9"/>
                    </a:solidFill>
                  </a:tcPr>
                </a:tc>
                <a:tc>
                  <a:txBody>
                    <a:bodyPr/>
                    <a:lstStyle/>
                    <a:p>
                      <a:pPr algn="r"/>
                      <a:r>
                        <a:rPr sz="850" b="0">
                          <a:solidFill>
                            <a:srgbClr val="1A1A1A"/>
                          </a:solidFill>
                          <a:latin typeface="Versos"/>
                        </a:rPr>
                        <a:t>1.120</a:t>
                      </a:r>
                    </a:p>
                  </a:txBody>
                  <a:tcPr marL="43200" marR="43200" marT="0" marB="0">
                    <a:solidFill>
                      <a:srgbClr val="F4F7F9"/>
                    </a:solidFill>
                  </a:tcPr>
                </a:tc>
                <a:tc>
                  <a:txBody>
                    <a:bodyPr/>
                    <a:lstStyle/>
                    <a:p>
                      <a:pPr algn="r"/>
                      <a:r>
                        <a:rPr sz="850" b="0">
                          <a:solidFill>
                            <a:srgbClr val="1A1A1A"/>
                          </a:solidFill>
                          <a:latin typeface="Versos"/>
                        </a:rPr>
                        <a:t>0,29%</a:t>
                      </a:r>
                    </a:p>
                  </a:txBody>
                  <a:tcPr marL="43200" marR="43200" marT="0" marB="0">
                    <a:solidFill>
                      <a:srgbClr val="F4F7F9"/>
                    </a:solidFill>
                  </a:tcPr>
                </a:tc>
                <a:tc>
                  <a:txBody>
                    <a:bodyPr/>
                    <a:lstStyle/>
                    <a:p>
                      <a:pPr algn="r"/>
                      <a:r>
                        <a:rPr sz="850" b="0">
                          <a:solidFill>
                            <a:srgbClr val="1A1A1A"/>
                          </a:solidFill>
                          <a:latin typeface="Versos"/>
                        </a:rPr>
                        <a:t>23,57%</a:t>
                      </a:r>
                    </a:p>
                  </a:txBody>
                  <a:tcPr marL="43200" marR="43200" marT="0" marB="0">
                    <a:solidFill>
                      <a:srgbClr val="F4F7F9"/>
                    </a:solidFill>
                  </a:tcPr>
                </a:tc>
                <a:tc>
                  <a:txBody>
                    <a:bodyPr/>
                    <a:lstStyle/>
                    <a:p>
                      <a:pPr algn="r"/>
                      <a:r>
                        <a:rPr sz="850" b="0">
                          <a:solidFill>
                            <a:srgbClr val="1A1A1A"/>
                          </a:solidFill>
                          <a:latin typeface="Versos"/>
                        </a:rPr>
                        <a:t>21,71%</a:t>
                      </a:r>
                    </a:p>
                  </a:txBody>
                  <a:tcPr marL="43200" marR="43200" marT="0" marB="0">
                    <a:solidFill>
                      <a:srgbClr val="F4F7F9"/>
                    </a:solidFill>
                  </a:tcPr>
                </a:tc>
                <a:tc>
                  <a:txBody>
                    <a:bodyPr/>
                    <a:lstStyle/>
                    <a:p>
                      <a:pPr algn="r"/>
                      <a:r>
                        <a:rPr sz="850" b="0">
                          <a:solidFill>
                            <a:srgbClr val="1A1A1A"/>
                          </a:solidFill>
                          <a:latin typeface="Versos"/>
                        </a:rPr>
                        <a:t>1,53%</a:t>
                      </a:r>
                    </a:p>
                  </a:txBody>
                  <a:tcPr marL="43200" marR="43200" marT="0" marB="0">
                    <a:solidFill>
                      <a:srgbClr val="F4F7F9"/>
                    </a:solidFill>
                  </a:tcPr>
                </a:tc>
                <a:tc>
                  <a:txBody>
                    <a:bodyPr/>
                    <a:lstStyle/>
                    <a:p>
                      <a:pPr algn="r"/>
                      <a:r>
                        <a:rPr sz="850" b="0">
                          <a:solidFill>
                            <a:srgbClr val="1A1A1A"/>
                          </a:solidFill>
                          <a:latin typeface="Versos"/>
                        </a:rPr>
                        <a:t>14,35%</a:t>
                      </a:r>
                    </a:p>
                  </a:txBody>
                  <a:tcPr marL="43200" marR="43200" marT="0" marB="0">
                    <a:solidFill>
                      <a:srgbClr val="F4F7F9"/>
                    </a:solidFill>
                  </a:tcPr>
                </a:tc>
                <a:tc>
                  <a:txBody>
                    <a:bodyPr/>
                    <a:lstStyle/>
                    <a:p>
                      <a:pPr algn="r"/>
                      <a:r>
                        <a:rPr sz="850" b="0">
                          <a:solidFill>
                            <a:srgbClr val="1A1A1A"/>
                          </a:solidFill>
                          <a:latin typeface="Versos"/>
                        </a:rPr>
                        <a:t>12,46%</a:t>
                      </a:r>
                    </a:p>
                  </a:txBody>
                  <a:tcPr marL="43200" marR="43200" marT="0" marB="0">
                    <a:solidFill>
                      <a:srgbClr val="F4F7F9"/>
                    </a:solidFill>
                  </a:tcPr>
                </a:tc>
                <a:tc>
                  <a:txBody>
                    <a:bodyPr/>
                    <a:lstStyle/>
                    <a:p>
                      <a:pPr algn="r"/>
                      <a:r>
                        <a:rPr sz="850" b="0">
                          <a:solidFill>
                            <a:srgbClr val="1A1A1A"/>
                          </a:solidFill>
                          <a:latin typeface="Versos"/>
                        </a:rPr>
                        <a:t>1,68%</a:t>
                      </a:r>
                    </a:p>
                  </a:txBody>
                  <a:tcPr marL="43200" marR="43200" marT="0" marB="0">
                    <a:solidFill>
                      <a:srgbClr val="F4F7F9"/>
                    </a:solidFill>
                  </a:tcPr>
                </a:tc>
                <a:tc>
                  <a:txBody>
                    <a:bodyPr/>
                    <a:lstStyle/>
                    <a:p>
                      <a:pPr algn="r"/>
                      <a:r>
                        <a:rPr sz="850" b="0">
                          <a:solidFill>
                            <a:srgbClr val="1A1A1A"/>
                          </a:solidFill>
                          <a:latin typeface="Versos"/>
                        </a:rPr>
                        <a:t>4,91</a:t>
                      </a:r>
                    </a:p>
                  </a:txBody>
                  <a:tcPr marL="43200" marR="43200" marT="0" marB="0">
                    <a:solidFill>
                      <a:srgbClr val="F4F7F9"/>
                    </a:solidFill>
                  </a:tcPr>
                </a:tc>
              </a:tr>
              <a:tr h="165600">
                <a:tc>
                  <a:txBody>
                    <a:bodyPr/>
                    <a:lstStyle/>
                    <a:p>
                      <a:pPr algn="l"/>
                      <a:r>
                        <a:rPr sz="850" b="1">
                          <a:solidFill>
                            <a:srgbClr val="1A1A1A"/>
                          </a:solidFill>
                          <a:latin typeface="Versos"/>
                        </a:rPr>
                        <a:t>Total</a:t>
                      </a:r>
                    </a:p>
                  </a:txBody>
                  <a:tcPr marL="43200" marR="43200" marT="0" marB="0">
                    <a:solidFill>
                      <a:srgbClr val="FFFFFF"/>
                    </a:solidFill>
                  </a:tcPr>
                </a:tc>
                <a:tc>
                  <a:txBody>
                    <a:bodyPr/>
                    <a:lstStyle/>
                    <a:p>
                      <a:pPr algn="r"/>
                      <a:r>
                        <a:rPr sz="850" b="0">
                          <a:solidFill>
                            <a:srgbClr val="1A1A1A"/>
                          </a:solidFill>
                          <a:latin typeface="Versos"/>
                        </a:rPr>
                        <a:t>392.485</a:t>
                      </a:r>
                    </a:p>
                  </a:txBody>
                  <a:tcPr marL="43200" marR="43200" marT="0" marB="0">
                    <a:solidFill>
                      <a:srgbClr val="FFFFFF"/>
                    </a:solidFill>
                  </a:tcPr>
                </a:tc>
                <a:tc>
                  <a:txBody>
                    <a:bodyPr/>
                    <a:lstStyle/>
                    <a:p>
                      <a:pPr algn="r"/>
                      <a:r>
                        <a:rPr sz="850" b="0">
                          <a:solidFill>
                            <a:srgbClr val="1A1A1A"/>
                          </a:solidFill>
                          <a:latin typeface="Versos"/>
                        </a:rPr>
                        <a:t>100,00%</a:t>
                      </a:r>
                    </a:p>
                  </a:txBody>
                  <a:tcPr marL="43200" marR="43200" marT="0" marB="0">
                    <a:solidFill>
                      <a:srgbClr val="FFFFFF"/>
                    </a:solidFill>
                  </a:tcPr>
                </a:tc>
                <a:tc>
                  <a:txBody>
                    <a:bodyPr/>
                    <a:lstStyle/>
                    <a:p>
                      <a:pPr algn="r"/>
                      <a:r>
                        <a:rPr sz="850" b="0">
                          <a:solidFill>
                            <a:srgbClr val="1A1A1A"/>
                          </a:solidFill>
                          <a:latin typeface="Versos"/>
                        </a:rPr>
                        <a:t>8,30%</a:t>
                      </a:r>
                    </a:p>
                  </a:txBody>
                  <a:tcPr marL="43200" marR="43200" marT="0" marB="0">
                    <a:solidFill>
                      <a:srgbClr val="FFFFFF"/>
                    </a:solidFill>
                  </a:tcPr>
                </a:tc>
                <a:tc>
                  <a:txBody>
                    <a:bodyPr/>
                    <a:lstStyle/>
                    <a:p>
                      <a:pPr algn="r"/>
                      <a:r>
                        <a:rPr sz="850" b="0">
                          <a:solidFill>
                            <a:srgbClr val="1A1A1A"/>
                          </a:solidFill>
                          <a:latin typeface="Versos"/>
                        </a:rPr>
                        <a:t>8,47%</a:t>
                      </a:r>
                    </a:p>
                  </a:txBody>
                  <a:tcPr marL="43200" marR="43200" marT="0" marB="0">
                    <a:solidFill>
                      <a:srgbClr val="FFFFFF"/>
                    </a:solidFill>
                  </a:tcPr>
                </a:tc>
                <a:tc>
                  <a:txBody>
                    <a:bodyPr/>
                    <a:lstStyle/>
                    <a:p>
                      <a:pPr algn="r"/>
                      <a:r>
                        <a:rPr sz="850" b="0">
                          <a:solidFill>
                            <a:srgbClr val="1A1A1A"/>
                          </a:solidFill>
                          <a:latin typeface="Versos"/>
                        </a:rPr>
                        <a:t>0,05%</a:t>
                      </a:r>
                    </a:p>
                  </a:txBody>
                  <a:tcPr marL="43200" marR="43200" marT="0" marB="0">
                    <a:solidFill>
                      <a:srgbClr val="FFFFFF"/>
                    </a:solidFill>
                  </a:tcPr>
                </a:tc>
                <a:tc>
                  <a:txBody>
                    <a:bodyPr/>
                    <a:lstStyle/>
                    <a:p>
                      <a:pPr algn="r"/>
                      <a:r>
                        <a:rPr sz="850" b="0">
                          <a:solidFill>
                            <a:srgbClr val="1A1A1A"/>
                          </a:solidFill>
                          <a:latin typeface="Versos"/>
                        </a:rPr>
                        <a:t>0,34%</a:t>
                      </a:r>
                    </a:p>
                  </a:txBody>
                  <a:tcPr marL="43200" marR="43200" marT="0" marB="0">
                    <a:solidFill>
                      <a:srgbClr val="FFFFFF"/>
                    </a:solidFill>
                  </a:tcPr>
                </a:tc>
                <a:tc>
                  <a:txBody>
                    <a:bodyPr/>
                    <a:lstStyle/>
                    <a:p>
                      <a:pPr algn="r"/>
                      <a:r>
                        <a:rPr sz="850" b="0">
                          <a:solidFill>
                            <a:srgbClr val="1A1A1A"/>
                          </a:solidFill>
                          <a:latin typeface="Versos"/>
                        </a:rPr>
                        <a:t>0,29%</a:t>
                      </a:r>
                    </a:p>
                  </a:txBody>
                  <a:tcPr marL="43200" marR="43200" marT="0" marB="0">
                    <a:solidFill>
                      <a:srgbClr val="FFFFFF"/>
                    </a:solidFill>
                  </a:tcPr>
                </a:tc>
                <a:tc>
                  <a:txBody>
                    <a:bodyPr/>
                    <a:lstStyle/>
                    <a:p>
                      <a:pPr algn="r"/>
                      <a:r>
                        <a:rPr sz="850" b="0">
                          <a:solidFill>
                            <a:srgbClr val="1A1A1A"/>
                          </a:solidFill>
                          <a:latin typeface="Versos"/>
                        </a:rPr>
                        <a:t>0,05%</a:t>
                      </a:r>
                    </a:p>
                  </a:txBody>
                  <a:tcPr marL="43200" marR="43200" marT="0" marB="0">
                    <a:solidFill>
                      <a:srgbClr val="FFFFFF"/>
                    </a:solidFill>
                  </a:tcPr>
                </a:tc>
                <a:tc>
                  <a:txBody>
                    <a:bodyPr/>
                    <a:lstStyle/>
                    <a:p>
                      <a:pPr algn="r"/>
                      <a:r>
                        <a:rPr sz="850" b="0">
                          <a:solidFill>
                            <a:srgbClr val="1A1A1A"/>
                          </a:solidFill>
                          <a:latin typeface="Versos"/>
                        </a:rPr>
                        <a:t>5,38</a:t>
                      </a:r>
                    </a:p>
                  </a:txBody>
                  <a:tcPr marL="43200" marR="43200" marT="0" marB="0">
                    <a:solidFill>
                      <a:srgbClr val="FFFFFF"/>
                    </a:solidFill>
                  </a:tcPr>
                </a:tc>
              </a:tr>
            </a:tbl>
          </a:graphicData>
        </a:graphic>
      </p:graphicFrame>
      <p:sp>
        <p:nvSpPr>
          <p:cNvPr id="8" name="TextBox 7"/>
          <p:cNvSpPr txBox="1"/>
          <p:nvPr/>
        </p:nvSpPr>
        <p:spPr>
          <a:xfrm>
            <a:off x="540000" y="9756000"/>
            <a:ext cx="6480000" cy="503999"/>
          </a:xfrm>
          <a:prstGeom prst="rect">
            <a:avLst/>
          </a:prstGeom>
          <a:noFill/>
        </p:spPr>
        <p:txBody>
          <a:bodyPr wrap="square" lIns="0" rIns="0" tIns="0" bIns="0">
            <a:spAutoFit/>
          </a:bodyPr>
          <a:lstStyle/>
          <a:p>
            <a:pPr algn="l"/>
            <a:r>
              <a:rPr sz="650" b="0">
                <a:solidFill>
                  <a:srgbClr val="637881"/>
                </a:solidFill>
                <a:latin typeface="Versos"/>
              </a:rPr>
              <a:t>Debêntures incentivadas precificadas pela ANBIMA. Desconsideramos as debêntures que começaram a ser precificadas ou que venceram ao longo do mês, para que a comparação com o mês anterior seja feita com a mesma base de ativos.</a:t>
            </a:r>
          </a:p>
        </p:txBody>
      </p:sp>
      <p:sp>
        <p:nvSpPr>
          <p:cNvPr id="9" name="TextBox 8"/>
          <p:cNvSpPr txBox="1"/>
          <p:nvPr/>
        </p:nvSpPr>
        <p:spPr>
          <a:xfrm>
            <a:off x="5940000" y="10260000"/>
            <a:ext cx="1080000" cy="144000"/>
          </a:xfrm>
          <a:prstGeom prst="rect">
            <a:avLst/>
          </a:prstGeom>
          <a:noFill/>
        </p:spPr>
        <p:txBody>
          <a:bodyPr wrap="square" lIns="0" rIns="0" tIns="0" bIns="0">
            <a:spAutoFit/>
          </a:bodyPr>
          <a:lstStyle/>
          <a:p>
            <a:pPr algn="r"/>
            <a:r>
              <a:rPr sz="800" b="1">
                <a:solidFill>
                  <a:srgbClr val="637881"/>
                </a:solidFill>
                <a:latin typeface="Versos"/>
              </a:rPr>
              <a:t>3</a:t>
            </a:r>
          </a:p>
        </p:txBody>
      </p:sp>
      <p:sp>
        <p:nvSpPr>
          <p:cNvPr id="10" name="TextBox 9"/>
          <p:cNvSpPr txBox="1"/>
          <p:nvPr/>
        </p:nvSpPr>
        <p:spPr>
          <a:xfrm>
            <a:off x="540000" y="10260000"/>
            <a:ext cx="2160000" cy="144000"/>
          </a:xfrm>
          <a:prstGeom prst="rect">
            <a:avLst/>
          </a:prstGeom>
          <a:noFill/>
        </p:spPr>
        <p:txBody>
          <a:bodyPr wrap="square" lIns="0" rIns="0" tIns="0" bIns="0">
            <a:spAutoFit/>
          </a:bodyPr>
          <a:lstStyle/>
          <a:p>
            <a:pPr algn="l"/>
            <a:r>
              <a:rPr sz="800" b="0">
                <a:solidFill>
                  <a:srgbClr val="637881"/>
                </a:solidFill>
                <a:latin typeface="Versos"/>
              </a:rPr>
              <a:t>tivio.com/fundos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80000"/>
          </a:xfrm>
          <a:prstGeom prst="rect">
            <a:avLst/>
          </a:prstGeom>
          <a:solidFill>
            <a:srgbClr val="3C4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5040000" cy="180000"/>
          </a:xfrm>
          <a:prstGeom prst="rect">
            <a:avLst/>
          </a:prstGeom>
          <a:noFill/>
        </p:spPr>
        <p:txBody>
          <a:bodyPr wrap="square" lIns="0" rIns="0" tIns="0" bIns="0">
            <a:spAutoFit/>
          </a:bodyPr>
          <a:lstStyle/>
          <a:p>
            <a:pPr algn="l"/>
            <a:r>
              <a:rPr sz="800" b="1">
                <a:solidFill>
                  <a:srgbClr val="ABC6CD"/>
                </a:solidFill>
                <a:latin typeface="Versos"/>
              </a:rPr>
              <a:t>RELATÓRIO DE GESTÃO</a:t>
            </a:r>
          </a:p>
        </p:txBody>
      </p:sp>
      <p:sp>
        <p:nvSpPr>
          <p:cNvPr id="4" name="TextBox 3"/>
          <p:cNvSpPr txBox="1"/>
          <p:nvPr/>
        </p:nvSpPr>
        <p:spPr>
          <a:xfrm>
            <a:off x="540000" y="540000"/>
            <a:ext cx="5040000" cy="396000"/>
          </a:xfrm>
          <a:prstGeom prst="rect">
            <a:avLst/>
          </a:prstGeom>
          <a:noFill/>
        </p:spPr>
        <p:txBody>
          <a:bodyPr wrap="square" lIns="0" rIns="0" tIns="0" bIns="0">
            <a:spAutoFit/>
          </a:bodyPr>
          <a:lstStyle/>
          <a:p>
            <a:pPr algn="l"/>
            <a:r>
              <a:rPr sz="2000" b="1">
                <a:solidFill>
                  <a:srgbClr val="FFFFFF"/>
                </a:solidFill>
                <a:latin typeface="Versos"/>
              </a:rPr>
              <a:t>Tivio Infra Plus</a:t>
            </a:r>
          </a:p>
        </p:txBody>
      </p:sp>
      <p:sp>
        <p:nvSpPr>
          <p:cNvPr id="5" name="TextBox 4"/>
          <p:cNvSpPr txBox="1"/>
          <p:nvPr/>
        </p:nvSpPr>
        <p:spPr>
          <a:xfrm>
            <a:off x="540000" y="720000"/>
            <a:ext cx="5040000" cy="180000"/>
          </a:xfrm>
          <a:prstGeom prst="rect">
            <a:avLst/>
          </a:prstGeom>
          <a:noFill/>
        </p:spPr>
        <p:txBody>
          <a:bodyPr wrap="square" lIns="0" rIns="0" tIns="0" bIns="0">
            <a:spAutoFit/>
          </a:bodyPr>
          <a:lstStyle/>
          <a:p>
            <a:pPr algn="l"/>
            <a:r>
              <a:rPr sz="900" b="1">
                <a:solidFill>
                  <a:srgbClr val="C1F4D4"/>
                </a:solidFill>
                <a:latin typeface="Versos"/>
              </a:rPr>
              <a:t>Agosto de 2026</a:t>
            </a:r>
          </a:p>
        </p:txBody>
      </p:sp>
      <p:sp>
        <p:nvSpPr>
          <p:cNvPr id="6" name="TextBox 5"/>
          <p:cNvSpPr txBox="1"/>
          <p:nvPr/>
        </p:nvSpPr>
        <p:spPr>
          <a:xfrm>
            <a:off x="540000" y="1368000"/>
            <a:ext cx="4320000" cy="180000"/>
          </a:xfrm>
          <a:prstGeom prst="rect">
            <a:avLst/>
          </a:prstGeom>
          <a:noFill/>
        </p:spPr>
        <p:txBody>
          <a:bodyPr wrap="square" lIns="0" rIns="0" tIns="0" bIns="0">
            <a:spAutoFit/>
          </a:bodyPr>
          <a:lstStyle/>
          <a:p>
            <a:pPr algn="l"/>
            <a:r>
              <a:rPr sz="900" b="1">
                <a:solidFill>
                  <a:srgbClr val="759DB4"/>
                </a:solidFill>
                <a:latin typeface="Versos"/>
              </a:rPr>
              <a:t>CARACTERÍSTICAS GERAIS DO FUNDO</a:t>
            </a:r>
          </a:p>
        </p:txBody>
      </p:sp>
      <p:graphicFrame>
        <p:nvGraphicFramePr>
          <p:cNvPr id="7" name="Table 6"/>
          <p:cNvGraphicFramePr>
            <a:graphicFrameLocks noGrp="1"/>
          </p:cNvGraphicFramePr>
          <p:nvPr/>
        </p:nvGraphicFramePr>
        <p:xfrm>
          <a:off x="540000" y="1584000"/>
          <a:ext cx="6479999" cy="1872000"/>
        </p:xfrm>
        <a:graphic>
          <a:graphicData uri="http://schemas.openxmlformats.org/drawingml/2006/table">
            <a:tbl>
              <a:tblPr firstRow="1" bandRow="1">
                <a:tableStyleId>{5C22544A-7EE6-4342-B048-85BDC9FD1C3A}</a:tableStyleId>
              </a:tblPr>
              <a:tblGrid>
                <a:gridCol w="3751578"/>
                <a:gridCol w="2728421"/>
              </a:tblGrid>
              <a:tr h="187200">
                <a:tc>
                  <a:txBody>
                    <a:bodyPr/>
                    <a:lstStyle/>
                    <a:p>
                      <a:pPr algn="l"/>
                      <a:r>
                        <a:rPr sz="850" b="1">
                          <a:solidFill>
                            <a:srgbClr val="1A1A1A"/>
                          </a:solidFill>
                          <a:latin typeface="Versos"/>
                        </a:rPr>
                        <a:t>Gestor</a:t>
                      </a:r>
                    </a:p>
                  </a:txBody>
                  <a:tcPr marL="43200" marR="43200" marT="0" marB="0">
                    <a:solidFill>
                      <a:srgbClr val="FFFFFF"/>
                    </a:solidFill>
                  </a:tcPr>
                </a:tc>
                <a:tc>
                  <a:txBody>
                    <a:bodyPr/>
                    <a:lstStyle/>
                    <a:p>
                      <a:pPr algn="r"/>
                      <a:r>
                        <a:rPr sz="850" b="0">
                          <a:solidFill>
                            <a:srgbClr val="1A1A1A"/>
                          </a:solidFill>
                          <a:latin typeface="Versos"/>
                        </a:rPr>
                        <a:t>Tivio Capital</a:t>
                      </a:r>
                    </a:p>
                  </a:txBody>
                  <a:tcPr marL="43200" marR="43200" marT="0" marB="0">
                    <a:solidFill>
                      <a:srgbClr val="FFFFFF"/>
                    </a:solidFill>
                  </a:tcPr>
                </a:tc>
              </a:tr>
              <a:tr h="187200">
                <a:tc>
                  <a:txBody>
                    <a:bodyPr/>
                    <a:lstStyle/>
                    <a:p>
                      <a:pPr algn="l"/>
                      <a:r>
                        <a:rPr sz="850" b="1">
                          <a:solidFill>
                            <a:srgbClr val="1A1A1A"/>
                          </a:solidFill>
                          <a:latin typeface="Versos"/>
                        </a:rPr>
                        <a:t>Público alvo</a:t>
                      </a:r>
                    </a:p>
                  </a:txBody>
                  <a:tcPr marL="43200" marR="43200" marT="0" marB="0">
                    <a:solidFill>
                      <a:srgbClr val="F4F7F9"/>
                    </a:solidFill>
                  </a:tcPr>
                </a:tc>
                <a:tc>
                  <a:txBody>
                    <a:bodyPr/>
                    <a:lstStyle/>
                    <a:p>
                      <a:pPr algn="r"/>
                      <a:r>
                        <a:rPr sz="850" b="0">
                          <a:solidFill>
                            <a:srgbClr val="1A1A1A"/>
                          </a:solidFill>
                          <a:latin typeface="Versos"/>
                        </a:rPr>
                        <a:t>Investidores em geral</a:t>
                      </a:r>
                    </a:p>
                  </a:txBody>
                  <a:tcPr marL="43200" marR="43200" marT="0" marB="0">
                    <a:solidFill>
                      <a:srgbClr val="F4F7F9"/>
                    </a:solidFill>
                  </a:tcPr>
                </a:tc>
              </a:tr>
              <a:tr h="187200">
                <a:tc>
                  <a:txBody>
                    <a:bodyPr/>
                    <a:lstStyle/>
                    <a:p>
                      <a:pPr algn="l"/>
                      <a:r>
                        <a:rPr sz="850" b="1">
                          <a:solidFill>
                            <a:srgbClr val="1A1A1A"/>
                          </a:solidFill>
                          <a:latin typeface="Versos"/>
                        </a:rPr>
                        <a:t>Benchmark</a:t>
                      </a:r>
                    </a:p>
                  </a:txBody>
                  <a:tcPr marL="43200" marR="43200" marT="0" marB="0">
                    <a:solidFill>
                      <a:srgbClr val="FFFFFF"/>
                    </a:solidFill>
                  </a:tcPr>
                </a:tc>
                <a:tc>
                  <a:txBody>
                    <a:bodyPr/>
                    <a:lstStyle/>
                    <a:p>
                      <a:pPr algn="r"/>
                      <a:r>
                        <a:rPr sz="850" b="0">
                          <a:solidFill>
                            <a:srgbClr val="1A1A1A"/>
                          </a:solidFill>
                          <a:latin typeface="Versos"/>
                        </a:rPr>
                        <a:t>IMA-B 5</a:t>
                      </a:r>
                    </a:p>
                  </a:txBody>
                  <a:tcPr marL="43200" marR="43200" marT="0" marB="0">
                    <a:solidFill>
                      <a:srgbClr val="FFFFFF"/>
                    </a:solidFill>
                  </a:tcPr>
                </a:tc>
              </a:tr>
              <a:tr h="187200">
                <a:tc>
                  <a:txBody>
                    <a:bodyPr/>
                    <a:lstStyle/>
                    <a:p>
                      <a:pPr algn="l"/>
                      <a:r>
                        <a:rPr sz="850" b="1">
                          <a:solidFill>
                            <a:srgbClr val="1A1A1A"/>
                          </a:solidFill>
                          <a:latin typeface="Versos"/>
                        </a:rPr>
                        <a:t>Data de início</a:t>
                      </a:r>
                    </a:p>
                  </a:txBody>
                  <a:tcPr marL="43200" marR="43200" marT="0" marB="0">
                    <a:solidFill>
                      <a:srgbClr val="F4F7F9"/>
                    </a:solidFill>
                  </a:tcPr>
                </a:tc>
                <a:tc>
                  <a:txBody>
                    <a:bodyPr/>
                    <a:lstStyle/>
                    <a:p>
                      <a:pPr algn="r"/>
                      <a:r>
                        <a:rPr sz="850" b="0">
                          <a:solidFill>
                            <a:srgbClr val="1A1A1A"/>
                          </a:solidFill>
                          <a:latin typeface="Versos"/>
                        </a:rPr>
                        <a:t>31/05/2021</a:t>
                      </a:r>
                    </a:p>
                  </a:txBody>
                  <a:tcPr marL="43200" marR="43200" marT="0" marB="0">
                    <a:solidFill>
                      <a:srgbClr val="F4F7F9"/>
                    </a:solidFill>
                  </a:tcPr>
                </a:tc>
              </a:tr>
              <a:tr h="187200">
                <a:tc>
                  <a:txBody>
                    <a:bodyPr/>
                    <a:lstStyle/>
                    <a:p>
                      <a:pPr algn="l"/>
                      <a:r>
                        <a:rPr sz="850" b="1">
                          <a:solidFill>
                            <a:srgbClr val="1A1A1A"/>
                          </a:solidFill>
                          <a:latin typeface="Versos"/>
                        </a:rPr>
                        <a:t>Patrimônio líquido</a:t>
                      </a:r>
                    </a:p>
                  </a:txBody>
                  <a:tcPr marL="43200" marR="43200" marT="0" marB="0">
                    <a:solidFill>
                      <a:srgbClr val="FFFFFF"/>
                    </a:solidFill>
                  </a:tcPr>
                </a:tc>
                <a:tc>
                  <a:txBody>
                    <a:bodyPr/>
                    <a:lstStyle/>
                    <a:p>
                      <a:pPr algn="r"/>
                      <a:r>
                        <a:rPr sz="850" b="0">
                          <a:solidFill>
                            <a:srgbClr val="1A1A1A"/>
                          </a:solidFill>
                          <a:latin typeface="Versos"/>
                        </a:rPr>
                        <a:t>R$ 42.694.019,75</a:t>
                      </a:r>
                    </a:p>
                  </a:txBody>
                  <a:tcPr marL="43200" marR="43200" marT="0" marB="0">
                    <a:solidFill>
                      <a:srgbClr val="FFFFFF"/>
                    </a:solidFill>
                  </a:tcPr>
                </a:tc>
              </a:tr>
              <a:tr h="187200">
                <a:tc>
                  <a:txBody>
                    <a:bodyPr/>
                    <a:lstStyle/>
                    <a:p>
                      <a:pPr algn="l"/>
                      <a:r>
                        <a:rPr sz="850" b="1">
                          <a:solidFill>
                            <a:srgbClr val="1A1A1A"/>
                          </a:solidFill>
                          <a:latin typeface="Versos"/>
                        </a:rPr>
                        <a:t>Patrimônio líquido médio (12 meses)</a:t>
                      </a:r>
                    </a:p>
                  </a:txBody>
                  <a:tcPr marL="43200" marR="43200" marT="0" marB="0">
                    <a:solidFill>
                      <a:srgbClr val="F4F7F9"/>
                    </a:solidFill>
                  </a:tcPr>
                </a:tc>
                <a:tc>
                  <a:txBody>
                    <a:bodyPr/>
                    <a:lstStyle/>
                    <a:p>
                      <a:pPr algn="r"/>
                      <a:r>
                        <a:rPr sz="850" b="0">
                          <a:solidFill>
                            <a:srgbClr val="1A1A1A"/>
                          </a:solidFill>
                          <a:latin typeface="Versos"/>
                        </a:rPr>
                        <a:t>R$ 49.421.174,50</a:t>
                      </a:r>
                    </a:p>
                  </a:txBody>
                  <a:tcPr marL="43200" marR="43200" marT="0" marB="0">
                    <a:solidFill>
                      <a:srgbClr val="F4F7F9"/>
                    </a:solidFill>
                  </a:tcPr>
                </a:tc>
              </a:tr>
              <a:tr h="187200">
                <a:tc>
                  <a:txBody>
                    <a:bodyPr/>
                    <a:lstStyle/>
                    <a:p>
                      <a:pPr algn="l"/>
                      <a:r>
                        <a:rPr sz="850" b="1">
                          <a:solidFill>
                            <a:srgbClr val="1A1A1A"/>
                          </a:solidFill>
                          <a:latin typeface="Versos"/>
                        </a:rPr>
                        <a:t>Taxa global</a:t>
                      </a:r>
                    </a:p>
                  </a:txBody>
                  <a:tcPr marL="43200" marR="43200" marT="0" marB="0">
                    <a:solidFill>
                      <a:srgbClr val="FFFFFF"/>
                    </a:solidFill>
                  </a:tcPr>
                </a:tc>
                <a:tc>
                  <a:txBody>
                    <a:bodyPr/>
                    <a:lstStyle/>
                    <a:p>
                      <a:pPr algn="r"/>
                      <a:r>
                        <a:rPr sz="850" b="0">
                          <a:solidFill>
                            <a:srgbClr val="1A1A1A"/>
                          </a:solidFill>
                          <a:latin typeface="Versos"/>
                        </a:rPr>
                        <a:t>0,75% a.a.</a:t>
                      </a:r>
                    </a:p>
                  </a:txBody>
                  <a:tcPr marL="43200" marR="43200" marT="0" marB="0">
                    <a:solidFill>
                      <a:srgbClr val="FFFFFF"/>
                    </a:solidFill>
                  </a:tcPr>
                </a:tc>
              </a:tr>
              <a:tr h="187200">
                <a:tc>
                  <a:txBody>
                    <a:bodyPr/>
                    <a:lstStyle/>
                    <a:p>
                      <a:pPr algn="l"/>
                      <a:r>
                        <a:rPr sz="850" b="1">
                          <a:solidFill>
                            <a:srgbClr val="1A1A1A"/>
                          </a:solidFill>
                          <a:latin typeface="Versos"/>
                        </a:rPr>
                        <a:t>Taxa de performance</a:t>
                      </a:r>
                    </a:p>
                  </a:txBody>
                  <a:tcPr marL="43200" marR="43200" marT="0" marB="0">
                    <a:solidFill>
                      <a:srgbClr val="F4F7F9"/>
                    </a:solidFill>
                  </a:tcPr>
                </a:tc>
                <a:tc>
                  <a:txBody>
                    <a:bodyPr/>
                    <a:lstStyle/>
                    <a:p>
                      <a:pPr algn="r"/>
                      <a:r>
                        <a:rPr sz="850" b="0">
                          <a:solidFill>
                            <a:srgbClr val="1A1A1A"/>
                          </a:solidFill>
                          <a:latin typeface="Versos"/>
                        </a:rPr>
                        <a:t>Não há</a:t>
                      </a:r>
                    </a:p>
                  </a:txBody>
                  <a:tcPr marL="43200" marR="43200" marT="0" marB="0">
                    <a:solidFill>
                      <a:srgbClr val="F4F7F9"/>
                    </a:solidFill>
                  </a:tcPr>
                </a:tc>
              </a:tr>
              <a:tr h="187200">
                <a:tc>
                  <a:txBody>
                    <a:bodyPr/>
                    <a:lstStyle/>
                    <a:p>
                      <a:pPr algn="l"/>
                      <a:r>
                        <a:rPr sz="850" b="1">
                          <a:solidFill>
                            <a:srgbClr val="1A1A1A"/>
                          </a:solidFill>
                          <a:latin typeface="Versos"/>
                        </a:rPr>
                        <a:t>Carrego da carteira</a:t>
                      </a:r>
                    </a:p>
                  </a:txBody>
                  <a:tcPr marL="43200" marR="43200" marT="0" marB="0">
                    <a:solidFill>
                      <a:srgbClr val="FFFFFF"/>
                    </a:solidFill>
                  </a:tcPr>
                </a:tc>
                <a:tc>
                  <a:txBody>
                    <a:bodyPr/>
                    <a:lstStyle/>
                    <a:p>
                      <a:pPr algn="r"/>
                      <a:r>
                        <a:rPr sz="850" b="0">
                          <a:solidFill>
                            <a:srgbClr val="1A1A1A"/>
                          </a:solidFill>
                          <a:latin typeface="Versos"/>
                        </a:rPr>
                        <a:t>IMA-B 5 +8,23%</a:t>
                      </a:r>
                    </a:p>
                  </a:txBody>
                  <a:tcPr marL="43200" marR="43200" marT="0" marB="0">
                    <a:solidFill>
                      <a:srgbClr val="FFFFFF"/>
                    </a:solidFill>
                  </a:tcPr>
                </a:tc>
              </a:tr>
              <a:tr h="187200">
                <a:tc>
                  <a:txBody>
                    <a:bodyPr/>
                    <a:lstStyle/>
                    <a:p>
                      <a:pPr algn="l"/>
                      <a:r>
                        <a:rPr sz="850" b="1">
                          <a:solidFill>
                            <a:srgbClr val="1A1A1A"/>
                          </a:solidFill>
                          <a:latin typeface="Versos"/>
                        </a:rPr>
                        <a:t>Duration média</a:t>
                      </a:r>
                    </a:p>
                  </a:txBody>
                  <a:tcPr marL="43200" marR="43200" marT="0" marB="0">
                    <a:solidFill>
                      <a:srgbClr val="F4F7F9"/>
                    </a:solidFill>
                  </a:tcPr>
                </a:tc>
                <a:tc>
                  <a:txBody>
                    <a:bodyPr/>
                    <a:lstStyle/>
                    <a:p>
                      <a:pPr algn="r"/>
                      <a:r>
                        <a:rPr sz="850" b="0">
                          <a:solidFill>
                            <a:srgbClr val="1A1A1A"/>
                          </a:solidFill>
                          <a:latin typeface="Versos"/>
                        </a:rPr>
                        <a:t>3,98 anos</a:t>
                      </a:r>
                    </a:p>
                  </a:txBody>
                  <a:tcPr marL="43200" marR="43200" marT="0" marB="0">
                    <a:solidFill>
                      <a:srgbClr val="F4F7F9"/>
                    </a:solidFill>
                  </a:tcPr>
                </a:tc>
              </a:tr>
            </a:tbl>
          </a:graphicData>
        </a:graphic>
      </p:graphicFrame>
      <p:sp>
        <p:nvSpPr>
          <p:cNvPr id="8" name="TextBox 7"/>
          <p:cNvSpPr txBox="1"/>
          <p:nvPr/>
        </p:nvSpPr>
        <p:spPr>
          <a:xfrm>
            <a:off x="540000" y="3744000"/>
            <a:ext cx="4320000" cy="180000"/>
          </a:xfrm>
          <a:prstGeom prst="rect">
            <a:avLst/>
          </a:prstGeom>
          <a:noFill/>
        </p:spPr>
        <p:txBody>
          <a:bodyPr wrap="square" lIns="0" rIns="0" tIns="0" bIns="0">
            <a:spAutoFit/>
          </a:bodyPr>
          <a:lstStyle/>
          <a:p>
            <a:pPr algn="l"/>
            <a:r>
              <a:rPr sz="900" b="1">
                <a:solidFill>
                  <a:srgbClr val="759DB4"/>
                </a:solidFill>
                <a:latin typeface="Versos"/>
              </a:rPr>
              <a:t>INFORMAÇÕES OPERACIONAIS</a:t>
            </a:r>
          </a:p>
        </p:txBody>
      </p:sp>
      <p:graphicFrame>
        <p:nvGraphicFramePr>
          <p:cNvPr id="9" name="Table 8"/>
          <p:cNvGraphicFramePr>
            <a:graphicFrameLocks noGrp="1"/>
          </p:cNvGraphicFramePr>
          <p:nvPr/>
        </p:nvGraphicFramePr>
        <p:xfrm>
          <a:off x="540000" y="3942000"/>
          <a:ext cx="6479999" cy="748800"/>
        </p:xfrm>
        <a:graphic>
          <a:graphicData uri="http://schemas.openxmlformats.org/drawingml/2006/table">
            <a:tbl>
              <a:tblPr firstRow="1" bandRow="1">
                <a:tableStyleId>{5C22544A-7EE6-4342-B048-85BDC9FD1C3A}</a:tableStyleId>
              </a:tblPr>
              <a:tblGrid>
                <a:gridCol w="3751578"/>
                <a:gridCol w="2728421"/>
              </a:tblGrid>
              <a:tr h="187200">
                <a:tc>
                  <a:txBody>
                    <a:bodyPr/>
                    <a:lstStyle/>
                    <a:p>
                      <a:pPr algn="l"/>
                      <a:r>
                        <a:rPr sz="850" b="1">
                          <a:solidFill>
                            <a:srgbClr val="1A1A1A"/>
                          </a:solidFill>
                          <a:latin typeface="Versos"/>
                        </a:rPr>
                        <a:t>Aplicação</a:t>
                      </a:r>
                    </a:p>
                  </a:txBody>
                  <a:tcPr marL="43200" marR="43200" marT="0" marB="0">
                    <a:solidFill>
                      <a:srgbClr val="FFFFFF"/>
                    </a:solidFill>
                  </a:tcPr>
                </a:tc>
                <a:tc>
                  <a:txBody>
                    <a:bodyPr/>
                    <a:lstStyle/>
                    <a:p>
                      <a:pPr algn="r"/>
                      <a:r>
                        <a:rPr sz="850" b="0">
                          <a:solidFill>
                            <a:srgbClr val="1A1A1A"/>
                          </a:solidFill>
                          <a:latin typeface="Versos"/>
                        </a:rPr>
                        <a:t>D+0</a:t>
                      </a:r>
                    </a:p>
                  </a:txBody>
                  <a:tcPr marL="43200" marR="43200" marT="0" marB="0">
                    <a:solidFill>
                      <a:srgbClr val="FFFFFF"/>
                    </a:solidFill>
                  </a:tcPr>
                </a:tc>
              </a:tr>
              <a:tr h="187200">
                <a:tc>
                  <a:txBody>
                    <a:bodyPr/>
                    <a:lstStyle/>
                    <a:p>
                      <a:pPr algn="l"/>
                      <a:r>
                        <a:rPr sz="850" b="1">
                          <a:solidFill>
                            <a:srgbClr val="1A1A1A"/>
                          </a:solidFill>
                          <a:latin typeface="Versos"/>
                        </a:rPr>
                        <a:t>Resgate</a:t>
                      </a:r>
                    </a:p>
                  </a:txBody>
                  <a:tcPr marL="43200" marR="43200" marT="0" marB="0">
                    <a:solidFill>
                      <a:srgbClr val="F4F7F9"/>
                    </a:solidFill>
                  </a:tcPr>
                </a:tc>
                <a:tc>
                  <a:txBody>
                    <a:bodyPr/>
                    <a:lstStyle/>
                    <a:p>
                      <a:pPr algn="r"/>
                      <a:r>
                        <a:rPr sz="850" b="0">
                          <a:solidFill>
                            <a:srgbClr val="1A1A1A"/>
                          </a:solidFill>
                          <a:latin typeface="Versos"/>
                        </a:rPr>
                        <a:t>D+31</a:t>
                      </a:r>
                    </a:p>
                  </a:txBody>
                  <a:tcPr marL="43200" marR="43200" marT="0" marB="0">
                    <a:solidFill>
                      <a:srgbClr val="F4F7F9"/>
                    </a:solidFill>
                  </a:tcPr>
                </a:tc>
              </a:tr>
              <a:tr h="187200">
                <a:tc>
                  <a:txBody>
                    <a:bodyPr/>
                    <a:lstStyle/>
                    <a:p>
                      <a:pPr algn="l"/>
                      <a:r>
                        <a:rPr sz="850" b="1">
                          <a:solidFill>
                            <a:srgbClr val="1A1A1A"/>
                          </a:solidFill>
                          <a:latin typeface="Versos"/>
                        </a:rPr>
                        <a:t>Aplicação mínima inicial</a:t>
                      </a:r>
                    </a:p>
                  </a:txBody>
                  <a:tcPr marL="43200" marR="43200" marT="0" marB="0">
                    <a:solidFill>
                      <a:srgbClr val="FFFFFF"/>
                    </a:solidFill>
                  </a:tcPr>
                </a:tc>
                <a:tc>
                  <a:txBody>
                    <a:bodyPr/>
                    <a:lstStyle/>
                    <a:p>
                      <a:pPr algn="r"/>
                      <a:r>
                        <a:rPr sz="850" b="0">
                          <a:solidFill>
                            <a:srgbClr val="1A1A1A"/>
                          </a:solidFill>
                          <a:latin typeface="Versos"/>
                        </a:rPr>
                        <a:t>R$ 1.000,00</a:t>
                      </a:r>
                    </a:p>
                  </a:txBody>
                  <a:tcPr marL="43200" marR="43200" marT="0" marB="0">
                    <a:solidFill>
                      <a:srgbClr val="FFFFFF"/>
                    </a:solidFill>
                  </a:tcPr>
                </a:tc>
              </a:tr>
              <a:tr h="187200">
                <a:tc>
                  <a:txBody>
                    <a:bodyPr/>
                    <a:lstStyle/>
                    <a:p>
                      <a:pPr algn="l"/>
                      <a:r>
                        <a:rPr sz="850" b="1">
                          <a:solidFill>
                            <a:srgbClr val="1A1A1A"/>
                          </a:solidFill>
                          <a:latin typeface="Versos"/>
                        </a:rPr>
                        <a:t>Movimentação mínima</a:t>
                      </a:r>
                    </a:p>
                  </a:txBody>
                  <a:tcPr marL="43200" marR="43200" marT="0" marB="0">
                    <a:solidFill>
                      <a:srgbClr val="F4F7F9"/>
                    </a:solidFill>
                  </a:tcPr>
                </a:tc>
                <a:tc>
                  <a:txBody>
                    <a:bodyPr/>
                    <a:lstStyle/>
                    <a:p>
                      <a:pPr algn="r"/>
                      <a:r>
                        <a:rPr sz="850" b="0">
                          <a:solidFill>
                            <a:srgbClr val="1A1A1A"/>
                          </a:solidFill>
                          <a:latin typeface="Versos"/>
                        </a:rPr>
                        <a:t>R$ 1.000,00</a:t>
                      </a:r>
                    </a:p>
                  </a:txBody>
                  <a:tcPr marL="43200" marR="43200" marT="0" marB="0">
                    <a:solidFill>
                      <a:srgbClr val="F4F7F9"/>
                    </a:solidFill>
                  </a:tcPr>
                </a:tc>
              </a:tr>
            </a:tbl>
          </a:graphicData>
        </a:graphic>
      </p:graphicFrame>
      <p:sp>
        <p:nvSpPr>
          <p:cNvPr id="10" name="TextBox 9"/>
          <p:cNvSpPr txBox="1"/>
          <p:nvPr/>
        </p:nvSpPr>
        <p:spPr>
          <a:xfrm>
            <a:off x="540000" y="4978800"/>
            <a:ext cx="6480000" cy="180000"/>
          </a:xfrm>
          <a:prstGeom prst="rect">
            <a:avLst/>
          </a:prstGeom>
          <a:noFill/>
        </p:spPr>
        <p:txBody>
          <a:bodyPr wrap="square" lIns="0" rIns="0" tIns="0" bIns="0">
            <a:spAutoFit/>
          </a:bodyPr>
          <a:lstStyle/>
          <a:p>
            <a:pPr algn="l"/>
            <a:r>
              <a:rPr sz="900" b="1">
                <a:solidFill>
                  <a:srgbClr val="759DB4"/>
                </a:solidFill>
                <a:latin typeface="Versos"/>
              </a:rPr>
              <a:t>DISCLAIMER</a:t>
            </a:r>
          </a:p>
        </p:txBody>
      </p:sp>
      <p:sp>
        <p:nvSpPr>
          <p:cNvPr id="11" name="TextBox 10"/>
          <p:cNvSpPr txBox="1"/>
          <p:nvPr/>
        </p:nvSpPr>
        <p:spPr>
          <a:xfrm>
            <a:off x="540000" y="5176800"/>
            <a:ext cx="6480000" cy="4921200"/>
          </a:xfrm>
          <a:prstGeom prst="rect">
            <a:avLst/>
          </a:prstGeom>
          <a:noFill/>
        </p:spPr>
        <p:txBody>
          <a:bodyPr wrap="square" lIns="0" rIns="0" tIns="0" bIns="0">
            <a:spAutoFit/>
          </a:bodyPr>
          <a:lstStyle/>
          <a:p>
            <a:pPr algn="l"/>
            <a:r>
              <a:rPr sz="540" b="0">
                <a:solidFill>
                  <a:srgbClr val="637881"/>
                </a:solidFill>
                <a:latin typeface="Versos"/>
              </a:rPr>
              <a:t>Este material foi elaborado pela Tivio Capital Distribuidora de Títulos e Valores Mobiliários S.A. (“TIVIO CAPITAL”). Este material é destinado aos seus receptores, fornecido unicamente para fins comerciais, não constituindo compromisso, indicação ou recomendação para iniciar ou encerrar qualquer transação. Este conteúdo não deve ser reproduzido no todo ou em parte, redistribuído ou transmitido para qualquer outra pessoa sem o consentimento prévio da TIVIO CAPITAL. Este documento não é, e não deve ser interpretado como, uma oferta de venda ou solicitação de uma oferta de compra de qualquer título ou valor mobiliário. A TIVIO CAPITAL, seus acionistas e demais empresas coligadas se eximem de qualquer responsabilidade por quaisquer prejuízos, diretos ou indiretos, que venham a decorrer da utilização deste material, de seu conteúdo e da realização de operações com base neste material.</a:t>
            </a:r>
          </a:p>
          <a:p>
            <a:pPr algn="l"/>
            <a:r>
              <a:rPr sz="540" b="0">
                <a:solidFill>
                  <a:srgbClr val="637881"/>
                </a:solidFill>
                <a:latin typeface="Versos"/>
              </a:rPr>
              <a:t/>
            </a:r>
          </a:p>
          <a:p>
            <a:pPr algn="l"/>
            <a:r>
              <a:rPr sz="540" b="0">
                <a:solidFill>
                  <a:srgbClr val="637881"/>
                </a:solidFill>
                <a:latin typeface="Versos"/>
              </a:rPr>
              <a:t>Consulte o documento de tributação para Fundos de Investimento para mais informações sobre a tributação aplicável, inclusive a regra aplicável em eventual desenquadramento, este documento está disponível em https://tivio.com/documentos/. A descrição acima não pode ser considerada como objetivo do fundo. Todas as informações legais podem ser observadas no regulamento do fundo, disponíveis no site https://tivio.com/fundos/. Os indicadores aqui apresentados devem ser utilizados como referência econômica e não parâmetro objetivo do fundo. Principais Fatores de Risco: (i) Crédito: risco de os emissores dos ativos financeiros e/ou das contrapartes não cumprirem suas obrigações de pagamento e/ou de liquidação das operações contratadas; (ii) Liquidez: risco de redução ou inexistência de demanda pelos ativos financeiros nos respectivos mercados em que são negociados; (iii) Mercado: Risco de oscilações decorrentes das flutuações de preços e cotações de mercado; (iv) Derivativos: pode não resultar nos efeitos desejados, devido a fatores como: descolamento entre o preço do derivativo e seu ativo objeto; alterações nas condições de negociação ou liquidação devido à interferência de órgãos reguladores ou dos mercados organizados onde são negociados; (v) Tratamento Tributário de Longo Prazo: O tratamento aplicável ao investidor depende da manutenção da carteira de ativos com prazo médio superior a 365 dias. Não há garantia de que o fundo terá o tratamento tributário de longo prazo.</a:t>
            </a:r>
          </a:p>
          <a:p>
            <a:pPr algn="l"/>
            <a:r>
              <a:rPr sz="540" b="0">
                <a:solidFill>
                  <a:srgbClr val="637881"/>
                </a:solidFill>
                <a:latin typeface="Versos"/>
              </a:rPr>
              <a:t/>
            </a:r>
          </a:p>
          <a:p>
            <a:pPr algn="l"/>
            <a:r>
              <a:rPr sz="540" b="0">
                <a:solidFill>
                  <a:srgbClr val="637881"/>
                </a:solidFill>
                <a:latin typeface="Versos"/>
              </a:rPr>
              <a:t>Leia a lâmina de informações essenciais, se houver, e o regulamento antes de investir. Estes documentos podem ser encontrados no site https://tivio.com/fundos/. Leia previamente as condições de cada produto antes de investir. Os investimentos apresentados podem não ser adequados aos seus objetivos, situação financeira ou necessidades individuais. A rentabilidade obtida no passado não representa garantia de resultados futuros. A rentabilidade divulgada não é líquida de impostos. “Os ativos financeiros integrantes nesta carteira podem não possuir liquidez imediata, podendo seus prazos e/ou rentabilidade variar de acordo com o vencimento ou prazo de resgate de cada ativo, caso seja negociado antecipadamente.</a:t>
            </a:r>
          </a:p>
          <a:p>
            <a:pPr algn="l"/>
            <a:r>
              <a:rPr sz="540" b="0">
                <a:solidFill>
                  <a:srgbClr val="637881"/>
                </a:solidFill>
                <a:latin typeface="Versos"/>
              </a:rPr>
              <a:t/>
            </a:r>
          </a:p>
          <a:p>
            <a:pPr algn="l"/>
            <a:r>
              <a:rPr sz="540" b="0">
                <a:solidFill>
                  <a:srgbClr val="637881"/>
                </a:solidFill>
                <a:latin typeface="Versos"/>
              </a:rPr>
              <a:t>Para avaliação da performance de fundo(s) de investimento(s), é recomendável uma análise de, no mínimo, 12 (doze) meses. Fundos de investimento não contam com garantia do administrador, do gestor, de qualquer mecanismo de seguro ou do Fundo Garantidor de Crédito (FGC). O preenchimento do formulário API – Análise de Perfil do Investidor ou Suitability é essencial para garantir a adequação do perfil do cliente ao produto de investimento escolhido. Os indicadores aqui apresentados devem ser utilizados como referência econômica e não parâmetro objetivo do fundo. Material de Divulgação.</a:t>
            </a:r>
          </a:p>
        </p:txBody>
      </p:sp>
      <p:sp>
        <p:nvSpPr>
          <p:cNvPr id="12" name="TextBox 11"/>
          <p:cNvSpPr txBox="1"/>
          <p:nvPr/>
        </p:nvSpPr>
        <p:spPr>
          <a:xfrm>
            <a:off x="5940000" y="10260000"/>
            <a:ext cx="1080000" cy="144000"/>
          </a:xfrm>
          <a:prstGeom prst="rect">
            <a:avLst/>
          </a:prstGeom>
          <a:noFill/>
        </p:spPr>
        <p:txBody>
          <a:bodyPr wrap="square" lIns="0" rIns="0" tIns="0" bIns="0">
            <a:spAutoFit/>
          </a:bodyPr>
          <a:lstStyle/>
          <a:p>
            <a:pPr algn="r"/>
            <a:r>
              <a:rPr sz="800" b="1">
                <a:solidFill>
                  <a:srgbClr val="637881"/>
                </a:solidFill>
                <a:latin typeface="Versos"/>
              </a:rPr>
              <a:t>4</a:t>
            </a:r>
          </a:p>
        </p:txBody>
      </p:sp>
      <p:sp>
        <p:nvSpPr>
          <p:cNvPr id="13" name="TextBox 12"/>
          <p:cNvSpPr txBox="1"/>
          <p:nvPr/>
        </p:nvSpPr>
        <p:spPr>
          <a:xfrm>
            <a:off x="540000" y="10260000"/>
            <a:ext cx="2160000" cy="144000"/>
          </a:xfrm>
          <a:prstGeom prst="rect">
            <a:avLst/>
          </a:prstGeom>
          <a:noFill/>
        </p:spPr>
        <p:txBody>
          <a:bodyPr wrap="square" lIns="0" rIns="0" tIns="0" bIns="0">
            <a:spAutoFit/>
          </a:bodyPr>
          <a:lstStyle/>
          <a:p>
            <a:pPr algn="l"/>
            <a:r>
              <a:rPr sz="800" b="0">
                <a:solidFill>
                  <a:srgbClr val="637881"/>
                </a:solidFill>
                <a:latin typeface="Versos"/>
              </a:rPr>
              <a:t>tivio.com/fundos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