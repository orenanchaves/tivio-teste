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0.0125</c:v>
                </c:pt>
                <c:pt idx="2">
                  <c:v>0.0252</c:v>
                </c:pt>
                <c:pt idx="3">
                  <c:v>0.0359</c:v>
                </c:pt>
                <c:pt idx="4">
                  <c:v>0.048799999999999996</c:v>
                </c:pt>
                <c:pt idx="5">
                  <c:v>0.061200000000000004</c:v>
                </c:pt>
                <c:pt idx="6">
                  <c:v>0.0713</c:v>
                </c:pt>
                <c:pt idx="7">
                  <c:v>0.08289999999999999</c:v>
                </c:pt>
                <c:pt idx="8">
                  <c:v>0.0943</c:v>
                </c:pt>
                <c:pt idx="9">
                  <c:v>0.1074</c:v>
                </c:pt>
                <c:pt idx="10">
                  <c:v>0.1199</c:v>
                </c:pt>
                <c:pt idx="11">
                  <c:v>0.1341</c:v>
                </c:pt>
                <c:pt idx="12">
                  <c:v>0.1464</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06.866.051/0001-87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 (Bancário, Corporativo e FIDC).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9,31%</a:t>
                      </a:r>
                    </a:p>
                  </a:txBody>
                  <a:tcPr marL="43200" marR="43200" marT="0" marB="0">
                    <a:solidFill>
                      <a:srgbClr val="F4F7F9"/>
                    </a:solidFill>
                  </a:tcPr>
                </a:tc>
                <a:tc>
                  <a:txBody>
                    <a:bodyPr/>
                    <a:lstStyle/>
                    <a:p>
                      <a:pPr algn="r"/>
                      <a:r>
                        <a:rPr sz="850" b="0">
                          <a:solidFill>
                            <a:srgbClr val="1A1A1A"/>
                          </a:solidFill>
                          <a:latin typeface="Versos"/>
                        </a:rPr>
                        <a:t>14,58%</a:t>
                      </a:r>
                    </a:p>
                  </a:txBody>
                  <a:tcPr marL="43200" marR="43200" marT="0" marB="0">
                    <a:solidFill>
                      <a:srgbClr val="F4F7F9"/>
                    </a:solidFill>
                  </a:tcPr>
                </a:tc>
                <a:tc>
                  <a:txBody>
                    <a:bodyPr/>
                    <a:lstStyle/>
                    <a:p>
                      <a:pPr algn="r"/>
                      <a:r>
                        <a:rPr sz="850" b="0">
                          <a:solidFill>
                            <a:srgbClr val="1A1A1A"/>
                          </a:solidFill>
                          <a:latin typeface="Versos"/>
                        </a:rPr>
                        <a:t>29,93%</a:t>
                      </a:r>
                    </a:p>
                  </a:txBody>
                  <a:tcPr marL="43200" marR="43200" marT="0" marB="0">
                    <a:solidFill>
                      <a:srgbClr val="F4F7F9"/>
                    </a:solidFill>
                  </a:tcPr>
                </a:tc>
                <a:tc>
                  <a:txBody>
                    <a:bodyPr/>
                    <a:lstStyle/>
                    <a:p>
                      <a:pPr algn="r"/>
                      <a:r>
                        <a:rPr sz="850" b="0">
                          <a:solidFill>
                            <a:srgbClr val="1A1A1A"/>
                          </a:solidFill>
                          <a:latin typeface="Versos"/>
                        </a:rPr>
                        <a:t>47,60%</a:t>
                      </a:r>
                    </a:p>
                  </a:txBody>
                  <a:tcPr marL="43200" marR="43200" marT="0" marB="0">
                    <a:solidFill>
                      <a:srgbClr val="F4F7F9"/>
                    </a:solidFill>
                  </a:tcPr>
                </a:tc>
                <a:tc>
                  <a:txBody>
                    <a:bodyPr/>
                    <a:lstStyle/>
                    <a:p>
                      <a:pPr algn="r"/>
                      <a:r>
                        <a:rPr sz="850" b="0">
                          <a:solidFill>
                            <a:srgbClr val="1A1A1A"/>
                          </a:solidFill>
                          <a:latin typeface="Versos"/>
                        </a:rPr>
                        <a:t>825,45%</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29,49%</a:t>
                      </a:r>
                    </a:p>
                  </a:txBody>
                  <a:tcPr marL="43200" marR="43200" marT="0" marB="0">
                    <a:solidFill>
                      <a:srgbClr val="FFFFFF"/>
                    </a:solidFill>
                  </a:tcPr>
                </a:tc>
                <a:tc>
                  <a:txBody>
                    <a:bodyPr/>
                    <a:lstStyle/>
                    <a:p>
                      <a:pPr algn="r"/>
                      <a:r>
                        <a:rPr sz="850" b="0">
                          <a:solidFill>
                            <a:srgbClr val="1A1A1A"/>
                          </a:solidFill>
                          <a:latin typeface="Versos"/>
                        </a:rPr>
                        <a:t>44,17%</a:t>
                      </a:r>
                    </a:p>
                  </a:txBody>
                  <a:tcPr marL="43200" marR="43200" marT="0" marB="0">
                    <a:solidFill>
                      <a:srgbClr val="FFFFFF"/>
                    </a:solidFill>
                  </a:tcPr>
                </a:tc>
                <a:tc>
                  <a:txBody>
                    <a:bodyPr/>
                    <a:lstStyle/>
                    <a:p>
                      <a:pPr algn="r"/>
                      <a:r>
                        <a:rPr sz="850" b="0">
                          <a:solidFill>
                            <a:srgbClr val="1A1A1A"/>
                          </a:solidFill>
                          <a:latin typeface="Versos"/>
                        </a:rPr>
                        <a:t>753,88%</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108%</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BTG</a:t>
                      </a:r>
                    </a:p>
                  </a:txBody>
                  <a:tcPr marL="43200" marR="43200" marT="0" marB="0">
                    <a:solidFill>
                      <a:srgbClr val="FFFFFF"/>
                    </a:solidFill>
                  </a:tcPr>
                </a:tc>
                <a:tc>
                  <a:txBody>
                    <a:bodyPr/>
                    <a:lstStyle/>
                    <a:p>
                      <a:pPr algn="r"/>
                      <a:r>
                        <a:rPr sz="850" b="0">
                          <a:solidFill>
                            <a:srgbClr val="1A1A1A"/>
                          </a:solidFill>
                          <a:latin typeface="Versos"/>
                        </a:rPr>
                        <a:t>3,45%</a:t>
                      </a:r>
                    </a:p>
                  </a:txBody>
                  <a:tcPr marL="43200" marR="43200" marT="0" marB="0">
                    <a:solidFill>
                      <a:srgbClr val="FFFFFF"/>
                    </a:solidFill>
                  </a:tcPr>
                </a:tc>
              </a:tr>
              <a:tr h="187200">
                <a:tc>
                  <a:txBody>
                    <a:bodyPr/>
                    <a:lstStyle/>
                    <a:p>
                      <a:pPr algn="l"/>
                      <a:r>
                        <a:rPr sz="850" b="1">
                          <a:solidFill>
                            <a:srgbClr val="1A1A1A"/>
                          </a:solidFill>
                          <a:latin typeface="Versos"/>
                        </a:rPr>
                        <a:t>BB</a:t>
                      </a:r>
                    </a:p>
                  </a:txBody>
                  <a:tcPr marL="43200" marR="43200" marT="0" marB="0">
                    <a:solidFill>
                      <a:srgbClr val="F4F7F9"/>
                    </a:solidFill>
                  </a:tcPr>
                </a:tc>
                <a:tc>
                  <a:txBody>
                    <a:bodyPr/>
                    <a:lstStyle/>
                    <a:p>
                      <a:pPr algn="r"/>
                      <a:r>
                        <a:rPr sz="850" b="0">
                          <a:solidFill>
                            <a:srgbClr val="1A1A1A"/>
                          </a:solidFill>
                          <a:latin typeface="Versos"/>
                        </a:rPr>
                        <a:t>3,44%</a:t>
                      </a:r>
                    </a:p>
                  </a:txBody>
                  <a:tcPr marL="43200" marR="43200" marT="0" marB="0">
                    <a:solidFill>
                      <a:srgbClr val="F4F7F9"/>
                    </a:solidFill>
                  </a:tcPr>
                </a:tc>
              </a:tr>
              <a:tr h="187200">
                <a:tc>
                  <a:txBody>
                    <a:bodyPr/>
                    <a:lstStyle/>
                    <a:p>
                      <a:pPr algn="l"/>
                      <a:r>
                        <a:rPr sz="850" b="1">
                          <a:solidFill>
                            <a:srgbClr val="1A1A1A"/>
                          </a:solidFill>
                          <a:latin typeface="Versos"/>
                        </a:rPr>
                        <a:t>SANTANDER</a:t>
                      </a:r>
                    </a:p>
                  </a:txBody>
                  <a:tcPr marL="43200" marR="43200" marT="0" marB="0">
                    <a:solidFill>
                      <a:srgbClr val="FFFFFF"/>
                    </a:solidFill>
                  </a:tcPr>
                </a:tc>
                <a:tc>
                  <a:txBody>
                    <a:bodyPr/>
                    <a:lstStyle/>
                    <a:p>
                      <a:pPr algn="r"/>
                      <a:r>
                        <a:rPr sz="850" b="0">
                          <a:solidFill>
                            <a:srgbClr val="1A1A1A"/>
                          </a:solidFill>
                          <a:latin typeface="Versos"/>
                        </a:rPr>
                        <a:t>3,06%</a:t>
                      </a:r>
                    </a:p>
                  </a:txBody>
                  <a:tcPr marL="43200" marR="43200" marT="0" marB="0">
                    <a:solidFill>
                      <a:srgbClr val="FFFFFF"/>
                    </a:solidFill>
                  </a:tcPr>
                </a:tc>
              </a:tr>
              <a:tr h="187200">
                <a:tc>
                  <a:txBody>
                    <a:bodyPr/>
                    <a:lstStyle/>
                    <a:p>
                      <a:pPr algn="l"/>
                      <a:r>
                        <a:rPr sz="850" b="1">
                          <a:solidFill>
                            <a:srgbClr val="1A1A1A"/>
                          </a:solidFill>
                          <a:latin typeface="Versos"/>
                        </a:rPr>
                        <a:t>SAFRA</a:t>
                      </a:r>
                    </a:p>
                  </a:txBody>
                  <a:tcPr marL="43200" marR="43200" marT="0" marB="0">
                    <a:solidFill>
                      <a:srgbClr val="F4F7F9"/>
                    </a:solidFill>
                  </a:tcPr>
                </a:tc>
                <a:tc>
                  <a:txBody>
                    <a:bodyPr/>
                    <a:lstStyle/>
                    <a:p>
                      <a:pPr algn="r"/>
                      <a:r>
                        <a:rPr sz="850" b="0">
                          <a:solidFill>
                            <a:srgbClr val="1A1A1A"/>
                          </a:solidFill>
                          <a:latin typeface="Versos"/>
                        </a:rPr>
                        <a:t>3,02%</a:t>
                      </a:r>
                    </a:p>
                  </a:txBody>
                  <a:tcPr marL="43200" marR="43200" marT="0" marB="0">
                    <a:solidFill>
                      <a:srgbClr val="F4F7F9"/>
                    </a:solidFill>
                  </a:tcPr>
                </a:tc>
              </a:tr>
              <a:tr h="187200">
                <a:tc>
                  <a:txBody>
                    <a:bodyPr/>
                    <a:lstStyle/>
                    <a:p>
                      <a:pPr algn="l"/>
                      <a:r>
                        <a:rPr sz="850" b="1">
                          <a:solidFill>
                            <a:srgbClr val="1A1A1A"/>
                          </a:solidFill>
                          <a:latin typeface="Versos"/>
                        </a:rPr>
                        <a:t>BRADESCO</a:t>
                      </a:r>
                    </a:p>
                  </a:txBody>
                  <a:tcPr marL="43200" marR="43200" marT="0" marB="0">
                    <a:solidFill>
                      <a:srgbClr val="FFFFFF"/>
                    </a:solidFill>
                  </a:tcPr>
                </a:tc>
                <a:tc>
                  <a:txBody>
                    <a:bodyPr/>
                    <a:lstStyle/>
                    <a:p>
                      <a:pPr algn="r"/>
                      <a:r>
                        <a:rPr sz="850" b="0">
                          <a:solidFill>
                            <a:srgbClr val="1A1A1A"/>
                          </a:solidFill>
                          <a:latin typeface="Versos"/>
                        </a:rPr>
                        <a:t>2,89%</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44,6%</a:t>
                      </a:r>
                    </a:p>
                  </a:txBody>
                  <a:tcPr marL="43200" marR="43200" marT="0" marB="0">
                    <a:solidFill>
                      <a:srgbClr val="FFFFFF"/>
                    </a:solidFill>
                  </a:tcPr>
                </a:tc>
              </a:tr>
              <a:tr h="1872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4,5%</a:t>
                      </a:r>
                    </a:p>
                  </a:txBody>
                  <a:tcPr marL="43200" marR="43200" marT="0" marB="0">
                    <a:solidFill>
                      <a:srgbClr val="F4F7F9"/>
                    </a:solidFill>
                  </a:tcPr>
                </a:tc>
              </a:tr>
              <a:tr h="187200">
                <a:tc>
                  <a:txBody>
                    <a:bodyPr/>
                    <a:lstStyle/>
                    <a:p>
                      <a:pPr algn="l"/>
                      <a:r>
                        <a:rPr sz="850" b="1">
                          <a:solidFill>
                            <a:srgbClr val="1A1A1A"/>
                          </a:solidFill>
                          <a:latin typeface="Versos"/>
                        </a:rPr>
                        <a:t>FIDC</a:t>
                      </a:r>
                    </a:p>
                  </a:txBody>
                  <a:tcPr marL="43200" marR="43200" marT="0" marB="0">
                    <a:solidFill>
                      <a:srgbClr val="FFFFFF"/>
                    </a:solidFill>
                  </a:tcPr>
                </a:tc>
                <a:tc>
                  <a:txBody>
                    <a:bodyPr/>
                    <a:lstStyle/>
                    <a:p>
                      <a:pPr algn="r"/>
                      <a:r>
                        <a:rPr sz="850" b="0">
                          <a:solidFill>
                            <a:srgbClr val="1A1A1A"/>
                          </a:solidFill>
                          <a:latin typeface="Versos"/>
                        </a:rPr>
                        <a:t>2,1%</a:t>
                      </a:r>
                    </a:p>
                  </a:txBody>
                  <a:tcPr marL="43200" marR="43200" marT="0" marB="0">
                    <a:solidFill>
                      <a:srgbClr val="FFFFFF"/>
                    </a:solidFill>
                  </a:tcPr>
                </a:tc>
              </a:tr>
              <a:tr h="187200">
                <a:tc>
                  <a:txBody>
                    <a:bodyPr/>
                    <a:lstStyle/>
                    <a:p>
                      <a:pPr algn="l"/>
                      <a:r>
                        <a:rPr sz="850" b="1">
                          <a:solidFill>
                            <a:srgbClr val="1A1A1A"/>
                          </a:solidFill>
                          <a:latin typeface="Versos"/>
                        </a:rPr>
                        <a:t>Transporte e Logística</a:t>
                      </a:r>
                    </a:p>
                  </a:txBody>
                  <a:tcPr marL="43200" marR="43200" marT="0" marB="0">
                    <a:solidFill>
                      <a:srgbClr val="F4F7F9"/>
                    </a:solidFill>
                  </a:tcPr>
                </a:tc>
                <a:tc>
                  <a:txBody>
                    <a:bodyPr/>
                    <a:lstStyle/>
                    <a:p>
                      <a:pPr algn="r"/>
                      <a:r>
                        <a:rPr sz="850" b="0">
                          <a:solidFill>
                            <a:srgbClr val="1A1A1A"/>
                          </a:solidFill>
                          <a:latin typeface="Versos"/>
                        </a:rPr>
                        <a:t>2,1%</a:t>
                      </a:r>
                    </a:p>
                  </a:txBody>
                  <a:tcPr marL="43200" marR="43200" marT="0" marB="0">
                    <a:solidFill>
                      <a:srgbClr val="F4F7F9"/>
                    </a:solidFill>
                  </a:tcPr>
                </a:tc>
              </a:tr>
              <a:tr h="187200">
                <a:tc>
                  <a:txBody>
                    <a:bodyPr/>
                    <a:lstStyle/>
                    <a:p>
                      <a:pPr algn="l"/>
                      <a:r>
                        <a:rPr sz="850" b="1">
                          <a:solidFill>
                            <a:srgbClr val="1A1A1A"/>
                          </a:solidFill>
                          <a:latin typeface="Versos"/>
                        </a:rPr>
                        <a:t>Saneamento</a:t>
                      </a:r>
                    </a:p>
                  </a:txBody>
                  <a:tcPr marL="43200" marR="43200" marT="0" marB="0">
                    <a:solidFill>
                      <a:srgbClr val="FFFFFF"/>
                    </a:solidFill>
                  </a:tcPr>
                </a:tc>
                <a:tc>
                  <a:txBody>
                    <a:bodyPr/>
                    <a:lstStyle/>
                    <a:p>
                      <a:pPr algn="r"/>
                      <a:r>
                        <a:rPr sz="850" b="0">
                          <a:solidFill>
                            <a:srgbClr val="1A1A1A"/>
                          </a:solidFill>
                          <a:latin typeface="Versos"/>
                        </a:rPr>
                        <a:t>2,0%</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38,7%</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39,6%</a:t>
                      </a:r>
                    </a:p>
                  </a:txBody>
                  <a:tcPr marL="43200" marR="43200" marT="0" marB="0">
                    <a:solidFill>
                      <a:srgbClr val="F4F7F9"/>
                    </a:solidFill>
                  </a:tcPr>
                </a:tc>
                <a:tc>
                  <a:txBody>
                    <a:bodyPr/>
                    <a:lstStyle/>
                    <a:p>
                      <a:pPr algn="r"/>
                      <a:r>
                        <a:rPr sz="850" b="0">
                          <a:solidFill>
                            <a:srgbClr val="1A1A1A"/>
                          </a:solidFill>
                          <a:latin typeface="Versos"/>
                        </a:rPr>
                        <a:t>10,5%</a:t>
                      </a:r>
                    </a:p>
                  </a:txBody>
                  <a:tcPr marL="43200" marR="43200" marT="0" marB="0">
                    <a:solidFill>
                      <a:srgbClr val="F4F7F9"/>
                    </a:solidFill>
                  </a:tcPr>
                </a:tc>
                <a:tc>
                  <a:txBody>
                    <a:bodyPr/>
                    <a:lstStyle/>
                    <a:p>
                      <a:pPr algn="r"/>
                      <a:r>
                        <a:rPr sz="850" b="0">
                          <a:solidFill>
                            <a:srgbClr val="1A1A1A"/>
                          </a:solidFill>
                          <a:latin typeface="Versos"/>
                        </a:rPr>
                        <a:t>2,4%</a:t>
                      </a:r>
                    </a:p>
                  </a:txBody>
                  <a:tcPr marL="43200" marR="43200" marT="0" marB="0">
                    <a:solidFill>
                      <a:srgbClr val="F4F7F9"/>
                    </a:solidFill>
                  </a:tcPr>
                </a:tc>
                <a:tc>
                  <a:txBody>
                    <a:bodyPr/>
                    <a:lstStyle/>
                    <a:p>
                      <a:pPr algn="r"/>
                      <a:r>
                        <a:rPr sz="850" b="0">
                          <a:solidFill>
                            <a:srgbClr val="1A1A1A"/>
                          </a:solidFill>
                          <a:latin typeface="Versos"/>
                        </a:rPr>
                        <a:t>2,7%</a:t>
                      </a:r>
                    </a:p>
                  </a:txBody>
                  <a:tcPr marL="43200" marR="43200" marT="0" marB="0">
                    <a:solidFill>
                      <a:srgbClr val="F4F7F9"/>
                    </a:solidFill>
                  </a:tcPr>
                </a:tc>
                <a:tc>
                  <a:txBody>
                    <a:bodyPr/>
                    <a:lstStyle/>
                    <a:p>
                      <a:pPr algn="r"/>
                      <a:r>
                        <a:rPr sz="850" b="0">
                          <a:solidFill>
                            <a:srgbClr val="1A1A1A"/>
                          </a:solidFill>
                          <a:latin typeface="Versos"/>
                        </a:rPr>
                        <a:t>1,2%</a:t>
                      </a:r>
                    </a:p>
                  </a:txBody>
                  <a:tcPr marL="43200" marR="43200" marT="0" marB="0">
                    <a:solidFill>
                      <a:srgbClr val="F4F7F9"/>
                    </a:solidFill>
                  </a:tcPr>
                </a:tc>
                <a:tc>
                  <a:txBody>
                    <a:bodyPr/>
                    <a:lstStyle/>
                    <a:p>
                      <a:pPr algn="r"/>
                      <a:r>
                        <a:rPr sz="850" b="0">
                          <a:solidFill>
                            <a:srgbClr val="1A1A1A"/>
                          </a:solidFill>
                          <a:latin typeface="Versos"/>
                        </a:rPr>
                        <a:t>3,3%</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a:p>
            <a:pPr algn="l"/>
            <a:r>
              <a:rPr sz="900" b="0">
                <a:solidFill>
                  <a:srgbClr val="1A1A1A"/>
                </a:solidFill>
                <a:latin typeface="Versos"/>
              </a:rPr>
              <a:t/>
            </a:r>
          </a:p>
          <a:p>
            <a:pPr algn="l"/>
            <a:r>
              <a:rPr sz="900" b="0">
                <a:solidFill>
                  <a:srgbClr val="1A1A1A"/>
                </a:solidFill>
                <a:latin typeface="Versos"/>
              </a:rPr>
              <a:t>Nesse cenário, o Fundo Tivio Institucional apresentou rentabilidade de 1,09% no mês (100% do CDI), acumulando 9,31% (100% do CDI) no ano. Na parcela de corporativos, os maiores atribuidores de resultado foram para Argo e Aegea, enquanto Aegea foi o maior detrator.</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13/05/2005</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R$ 1.815.644.128,24</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R$ 2.491.331.200,61</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0,20%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+0,39%</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1,28 ano</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936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D+0 Abertura</a:t>
                      </a:r>
                    </a:p>
                  </a:txBody>
                  <a:tcPr marL="43200" marR="43200" marT="0" marB="0">
                    <a:solidFill>
                      <a:srgbClr val="F4F7F9"/>
                    </a:solidFill>
                  </a:tcPr>
                </a:tc>
              </a:tr>
              <a:tr h="187200">
                <a:tc>
                  <a:txBody>
                    <a:bodyPr/>
                    <a:lstStyle/>
                    <a:p>
                      <a:pPr algn="l"/>
                      <a:r>
                        <a:rPr sz="850" b="1">
                          <a:solidFill>
                            <a:srgbClr val="1A1A1A"/>
                          </a:solidFill>
                          <a:latin typeface="Versos"/>
                        </a:rPr>
                        <a:t>Pagamento do Resgate</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Aplicação mínima inicial</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r h="187200">
                <a:tc>
                  <a:txBody>
                    <a:bodyPr/>
                    <a:lstStyle/>
                    <a:p>
                      <a:pPr algn="l"/>
                      <a:r>
                        <a:rPr sz="850" b="1">
                          <a:solidFill>
                            <a:srgbClr val="1A1A1A"/>
                          </a:solidFill>
                          <a:latin typeface="Versos"/>
                        </a:rPr>
                        <a:t>Movimentação mínima</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bl>
          </a:graphicData>
        </a:graphic>
      </p:graphicFrame>
      <p:sp>
        <p:nvSpPr>
          <p:cNvPr id="10" name="TextBox 9"/>
          <p:cNvSpPr txBox="1"/>
          <p:nvPr/>
        </p:nvSpPr>
        <p:spPr>
          <a:xfrm>
            <a:off x="540000" y="51660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364000"/>
            <a:ext cx="6480000" cy="4734000"/>
          </a:xfrm>
          <a:prstGeom prst="rect">
            <a:avLst/>
          </a:prstGeom>
          <a:noFill/>
        </p:spPr>
        <p:txBody>
          <a:bodyPr wrap="square" lIns="0" rIns="0" tIns="0" bIns="0">
            <a:spAutoFit/>
          </a:bodyPr>
          <a:lstStyle/>
          <a:p>
            <a:pPr algn="l"/>
            <a:r>
              <a:rPr sz="540" b="0">
                <a:solidFill>
                  <a:srgbClr val="637881"/>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a:p>
            <a:pPr algn="l"/>
            <a:r>
              <a:rPr sz="540" b="0">
                <a:solidFill>
                  <a:srgbClr val="637881"/>
                </a:solidFill>
                <a:latin typeface="Versos"/>
              </a:rPr>
              <a:t/>
            </a:r>
          </a:p>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