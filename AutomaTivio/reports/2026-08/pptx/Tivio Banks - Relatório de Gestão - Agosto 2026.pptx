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0.0123</c:v>
                </c:pt>
                <c:pt idx="2">
                  <c:v>0.0253</c:v>
                </c:pt>
                <c:pt idx="3">
                  <c:v>0.0362</c:v>
                </c:pt>
                <c:pt idx="4">
                  <c:v>0.048799999999999996</c:v>
                </c:pt>
                <c:pt idx="5">
                  <c:v>0.0611</c:v>
                </c:pt>
                <c:pt idx="6">
                  <c:v>0.0718</c:v>
                </c:pt>
                <c:pt idx="7">
                  <c:v>0.0848</c:v>
                </c:pt>
                <c:pt idx="8">
                  <c:v>0.0964</c:v>
                </c:pt>
                <c:pt idx="9">
                  <c:v>0.1082</c:v>
                </c:pt>
                <c:pt idx="10">
                  <c:v>0.1207</c:v>
                </c:pt>
                <c:pt idx="11">
                  <c:v>0.13449999999999998</c:v>
                </c:pt>
                <c:pt idx="12">
                  <c:v>0.147</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Banks</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10.347.493/0001-94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 (Bancário e Corporativo).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1,10%</a:t>
                      </a:r>
                    </a:p>
                  </a:txBody>
                  <a:tcPr marL="43200" marR="43200" marT="0" marB="0">
                    <a:solidFill>
                      <a:srgbClr val="F4F7F9"/>
                    </a:solidFill>
                  </a:tcPr>
                </a:tc>
                <a:tc>
                  <a:txBody>
                    <a:bodyPr/>
                    <a:lstStyle/>
                    <a:p>
                      <a:pPr algn="r"/>
                      <a:r>
                        <a:rPr sz="850" b="0">
                          <a:solidFill>
                            <a:srgbClr val="1A1A1A"/>
                          </a:solidFill>
                          <a:latin typeface="Versos"/>
                        </a:rPr>
                        <a:t>9,36%</a:t>
                      </a:r>
                    </a:p>
                  </a:txBody>
                  <a:tcPr marL="43200" marR="43200" marT="0" marB="0">
                    <a:solidFill>
                      <a:srgbClr val="F4F7F9"/>
                    </a:solidFill>
                  </a:tcPr>
                </a:tc>
                <a:tc>
                  <a:txBody>
                    <a:bodyPr/>
                    <a:lstStyle/>
                    <a:p>
                      <a:pPr algn="r"/>
                      <a:r>
                        <a:rPr sz="850" b="0">
                          <a:solidFill>
                            <a:srgbClr val="1A1A1A"/>
                          </a:solidFill>
                          <a:latin typeface="Versos"/>
                        </a:rPr>
                        <a:t>14,63%</a:t>
                      </a:r>
                    </a:p>
                  </a:txBody>
                  <a:tcPr marL="43200" marR="43200" marT="0" marB="0">
                    <a:solidFill>
                      <a:srgbClr val="F4F7F9"/>
                    </a:solidFill>
                  </a:tcPr>
                </a:tc>
                <a:tc>
                  <a:txBody>
                    <a:bodyPr/>
                    <a:lstStyle/>
                    <a:p>
                      <a:pPr algn="r"/>
                      <a:r>
                        <a:rPr sz="850" b="0">
                          <a:solidFill>
                            <a:srgbClr val="1A1A1A"/>
                          </a:solidFill>
                          <a:latin typeface="Versos"/>
                        </a:rPr>
                        <a:t>29,82%</a:t>
                      </a:r>
                    </a:p>
                  </a:txBody>
                  <a:tcPr marL="43200" marR="43200" marT="0" marB="0">
                    <a:solidFill>
                      <a:srgbClr val="F4F7F9"/>
                    </a:solidFill>
                  </a:tcPr>
                </a:tc>
                <a:tc>
                  <a:txBody>
                    <a:bodyPr/>
                    <a:lstStyle/>
                    <a:p>
                      <a:pPr algn="r"/>
                      <a:r>
                        <a:rPr sz="850" b="0">
                          <a:solidFill>
                            <a:srgbClr val="1A1A1A"/>
                          </a:solidFill>
                          <a:latin typeface="Versos"/>
                        </a:rPr>
                        <a:t>45,41%</a:t>
                      </a:r>
                    </a:p>
                  </a:txBody>
                  <a:tcPr marL="43200" marR="43200" marT="0" marB="0">
                    <a:solidFill>
                      <a:srgbClr val="F4F7F9"/>
                    </a:solidFill>
                  </a:tcPr>
                </a:tc>
                <a:tc>
                  <a:txBody>
                    <a:bodyPr/>
                    <a:lstStyle/>
                    <a:p>
                      <a:pPr algn="r"/>
                      <a:r>
                        <a:rPr sz="850" b="0">
                          <a:solidFill>
                            <a:srgbClr val="1A1A1A"/>
                          </a:solidFill>
                          <a:latin typeface="Versos"/>
                        </a:rPr>
                        <a:t>444,67%</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44,17%</a:t>
                      </a:r>
                    </a:p>
                  </a:txBody>
                  <a:tcPr marL="43200" marR="43200" marT="0" marB="0">
                    <a:solidFill>
                      <a:srgbClr val="FFFFFF"/>
                    </a:solidFill>
                  </a:tcPr>
                </a:tc>
                <a:tc>
                  <a:txBody>
                    <a:bodyPr/>
                    <a:lstStyle/>
                    <a:p>
                      <a:pPr algn="r"/>
                      <a:r>
                        <a:rPr sz="850" b="0">
                          <a:solidFill>
                            <a:srgbClr val="1A1A1A"/>
                          </a:solidFill>
                          <a:latin typeface="Versos"/>
                        </a:rPr>
                        <a:t>408,92%</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100%</a:t>
                      </a:r>
                    </a:p>
                  </a:txBody>
                  <a:tcPr marL="43200" marR="43200" marT="0" marB="0">
                    <a:solidFill>
                      <a:srgbClr val="F4F7F9"/>
                    </a:solidFill>
                  </a:tcPr>
                </a:tc>
                <a:tc>
                  <a:txBody>
                    <a:bodyPr/>
                    <a:lstStyle/>
                    <a:p>
                      <a:pPr algn="r"/>
                      <a:r>
                        <a:rPr sz="850" b="0">
                          <a:solidFill>
                            <a:srgbClr val="1A1A1A"/>
                          </a:solidFill>
                          <a:latin typeface="Versos"/>
                        </a:rPr>
                        <a:t>101%</a:t>
                      </a:r>
                    </a:p>
                  </a:txBody>
                  <a:tcPr marL="43200" marR="43200" marT="0" marB="0">
                    <a:solidFill>
                      <a:srgbClr val="F4F7F9"/>
                    </a:solidFill>
                  </a:tcPr>
                </a:tc>
                <a:tc>
                  <a:txBody>
                    <a:bodyPr/>
                    <a:lstStyle/>
                    <a:p>
                      <a:pPr algn="r"/>
                      <a:r>
                        <a:rPr sz="850" b="0">
                          <a:solidFill>
                            <a:srgbClr val="1A1A1A"/>
                          </a:solidFill>
                          <a:latin typeface="Versos"/>
                        </a:rPr>
                        <a:t>103%</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BV</a:t>
                      </a:r>
                    </a:p>
                  </a:txBody>
                  <a:tcPr marL="43200" marR="43200" marT="0" marB="0">
                    <a:solidFill>
                      <a:srgbClr val="FFFFFF"/>
                    </a:solidFill>
                  </a:tcPr>
                </a:tc>
                <a:tc>
                  <a:txBody>
                    <a:bodyPr/>
                    <a:lstStyle/>
                    <a:p>
                      <a:pPr algn="r"/>
                      <a:r>
                        <a:rPr sz="850" b="0">
                          <a:solidFill>
                            <a:srgbClr val="1A1A1A"/>
                          </a:solidFill>
                          <a:latin typeface="Versos"/>
                        </a:rPr>
                        <a:t>6,36%</a:t>
                      </a:r>
                    </a:p>
                  </a:txBody>
                  <a:tcPr marL="43200" marR="43200" marT="0" marB="0">
                    <a:solidFill>
                      <a:srgbClr val="FFFFFF"/>
                    </a:solidFill>
                  </a:tcPr>
                </a:tc>
              </a:tr>
              <a:tr h="187200">
                <a:tc>
                  <a:txBody>
                    <a:bodyPr/>
                    <a:lstStyle/>
                    <a:p>
                      <a:pPr algn="l"/>
                      <a:r>
                        <a:rPr sz="850" b="1">
                          <a:solidFill>
                            <a:srgbClr val="1A1A1A"/>
                          </a:solidFill>
                          <a:latin typeface="Versos"/>
                        </a:rPr>
                        <a:t>XP</a:t>
                      </a:r>
                    </a:p>
                  </a:txBody>
                  <a:tcPr marL="43200" marR="43200" marT="0" marB="0">
                    <a:solidFill>
                      <a:srgbClr val="F4F7F9"/>
                    </a:solidFill>
                  </a:tcPr>
                </a:tc>
                <a:tc>
                  <a:txBody>
                    <a:bodyPr/>
                    <a:lstStyle/>
                    <a:p>
                      <a:pPr algn="r"/>
                      <a:r>
                        <a:rPr sz="850" b="0">
                          <a:solidFill>
                            <a:srgbClr val="1A1A1A"/>
                          </a:solidFill>
                          <a:latin typeface="Versos"/>
                        </a:rPr>
                        <a:t>6,04%</a:t>
                      </a:r>
                    </a:p>
                  </a:txBody>
                  <a:tcPr marL="43200" marR="43200" marT="0" marB="0">
                    <a:solidFill>
                      <a:srgbClr val="F4F7F9"/>
                    </a:solidFill>
                  </a:tcPr>
                </a:tc>
              </a:tr>
              <a:tr h="187200">
                <a:tc>
                  <a:txBody>
                    <a:bodyPr/>
                    <a:lstStyle/>
                    <a:p>
                      <a:pPr algn="l"/>
                      <a:r>
                        <a:rPr sz="850" b="1">
                          <a:solidFill>
                            <a:srgbClr val="1A1A1A"/>
                          </a:solidFill>
                          <a:latin typeface="Versos"/>
                        </a:rPr>
                        <a:t>BTG</a:t>
                      </a:r>
                    </a:p>
                  </a:txBody>
                  <a:tcPr marL="43200" marR="43200" marT="0" marB="0">
                    <a:solidFill>
                      <a:srgbClr val="FFFFFF"/>
                    </a:solidFill>
                  </a:tcPr>
                </a:tc>
                <a:tc>
                  <a:txBody>
                    <a:bodyPr/>
                    <a:lstStyle/>
                    <a:p>
                      <a:pPr algn="r"/>
                      <a:r>
                        <a:rPr sz="850" b="0">
                          <a:solidFill>
                            <a:srgbClr val="1A1A1A"/>
                          </a:solidFill>
                          <a:latin typeface="Versos"/>
                        </a:rPr>
                        <a:t>5,97%</a:t>
                      </a:r>
                    </a:p>
                  </a:txBody>
                  <a:tcPr marL="43200" marR="43200" marT="0" marB="0">
                    <a:solidFill>
                      <a:srgbClr val="FFFFFF"/>
                    </a:solidFill>
                  </a:tcPr>
                </a:tc>
              </a:tr>
              <a:tr h="187200">
                <a:tc>
                  <a:txBody>
                    <a:bodyPr/>
                    <a:lstStyle/>
                    <a:p>
                      <a:pPr algn="l"/>
                      <a:r>
                        <a:rPr sz="850" b="1">
                          <a:solidFill>
                            <a:srgbClr val="1A1A1A"/>
                          </a:solidFill>
                          <a:latin typeface="Versos"/>
                        </a:rPr>
                        <a:t>ABC</a:t>
                      </a:r>
                    </a:p>
                  </a:txBody>
                  <a:tcPr marL="43200" marR="43200" marT="0" marB="0">
                    <a:solidFill>
                      <a:srgbClr val="F4F7F9"/>
                    </a:solidFill>
                  </a:tcPr>
                </a:tc>
                <a:tc>
                  <a:txBody>
                    <a:bodyPr/>
                    <a:lstStyle/>
                    <a:p>
                      <a:pPr algn="r"/>
                      <a:r>
                        <a:rPr sz="850" b="0">
                          <a:solidFill>
                            <a:srgbClr val="1A1A1A"/>
                          </a:solidFill>
                          <a:latin typeface="Versos"/>
                        </a:rPr>
                        <a:t>5,92%</a:t>
                      </a:r>
                    </a:p>
                  </a:txBody>
                  <a:tcPr marL="43200" marR="43200" marT="0" marB="0">
                    <a:solidFill>
                      <a:srgbClr val="F4F7F9"/>
                    </a:solidFill>
                  </a:tcPr>
                </a:tc>
              </a:tr>
              <a:tr h="187200">
                <a:tc>
                  <a:txBody>
                    <a:bodyPr/>
                    <a:lstStyle/>
                    <a:p>
                      <a:pPr algn="l"/>
                      <a:r>
                        <a:rPr sz="850" b="1">
                          <a:solidFill>
                            <a:srgbClr val="1A1A1A"/>
                          </a:solidFill>
                          <a:latin typeface="Versos"/>
                        </a:rPr>
                        <a:t>NUBANK</a:t>
                      </a:r>
                    </a:p>
                  </a:txBody>
                  <a:tcPr marL="43200" marR="43200" marT="0" marB="0">
                    <a:solidFill>
                      <a:srgbClr val="FFFFFF"/>
                    </a:solidFill>
                  </a:tcPr>
                </a:tc>
                <a:tc>
                  <a:txBody>
                    <a:bodyPr/>
                    <a:lstStyle/>
                    <a:p>
                      <a:pPr algn="r"/>
                      <a:r>
                        <a:rPr sz="850" b="0">
                          <a:solidFill>
                            <a:srgbClr val="1A1A1A"/>
                          </a:solidFill>
                          <a:latin typeface="Versos"/>
                        </a:rPr>
                        <a:t>5,57%</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3744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75,7%</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24,2%</a:t>
                      </a:r>
                    </a:p>
                  </a:txBody>
                  <a:tcPr marL="43200" marR="43200" marT="0" marB="0">
                    <a:solidFill>
                      <a:srgbClr val="F4F7F9"/>
                    </a:solidFill>
                  </a:tcPr>
                </a:tc>
              </a:tr>
            </a:tbl>
          </a:graphicData>
        </a:graphic>
      </p:graphicFrame>
      <p:sp>
        <p:nvSpPr>
          <p:cNvPr id="16" name="TextBox 15"/>
          <p:cNvSpPr txBox="1"/>
          <p:nvPr/>
        </p:nvSpPr>
        <p:spPr>
          <a:xfrm>
            <a:off x="540000" y="58860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084000"/>
          <a:ext cx="6480000" cy="374400"/>
        </p:xfrm>
        <a:graphic>
          <a:graphicData uri="http://schemas.openxmlformats.org/drawingml/2006/table">
            <a:tbl>
              <a:tblPr firstRow="1" bandRow="1">
                <a:tableStyleId>{5C22544A-7EE6-4342-B048-85BDC9FD1C3A}</a:tableStyleId>
              </a:tblPr>
              <a:tblGrid>
                <a:gridCol w="1296000"/>
                <a:gridCol w="1296000"/>
                <a:gridCol w="1296000"/>
                <a:gridCol w="1296000"/>
                <a:gridCol w="1296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50,8%</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2,0%</a:t>
                      </a:r>
                    </a:p>
                  </a:txBody>
                  <a:tcPr marL="43200" marR="43200" marT="0" marB="0">
                    <a:solidFill>
                      <a:srgbClr val="F4F7F9"/>
                    </a:solidFill>
                  </a:tcPr>
                </a:tc>
                <a:tc>
                  <a:txBody>
                    <a:bodyPr/>
                    <a:lstStyle/>
                    <a:p>
                      <a:pPr algn="r"/>
                      <a:r>
                        <a:rPr sz="850" b="0">
                          <a:solidFill>
                            <a:srgbClr val="1A1A1A"/>
                          </a:solidFill>
                          <a:latin typeface="Versos"/>
                        </a:rPr>
                        <a:t>1,9%</a:t>
                      </a:r>
                    </a:p>
                  </a:txBody>
                  <a:tcPr marL="43200" marR="43200" marT="0" marB="0">
                    <a:solidFill>
                      <a:srgbClr val="F4F7F9"/>
                    </a:solidFill>
                  </a:tcPr>
                </a:tc>
                <a:tc>
                  <a:txBody>
                    <a:bodyPr/>
                    <a:lstStyle/>
                    <a:p>
                      <a:pPr algn="r"/>
                      <a:r>
                        <a:rPr sz="850" b="0">
                          <a:solidFill>
                            <a:srgbClr val="1A1A1A"/>
                          </a:solidFill>
                          <a:latin typeface="Versos"/>
                        </a:rPr>
                        <a:t>3,0%</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Banks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O Fundo Tivio Banks obteve retorno de 1,10% (101% do CDI) no mês e acumula 9,36% (100% do CDI) em 2026. A alocação em crédito era de 75%, integralmente concentrada em emissores do setor bancário. O carrego da carteira encontra-se em CDI +0,25%, com duration média de 1,05 ano.</a:t>
            </a:r>
          </a:p>
          <a:p>
            <a:pPr algn="l"/>
            <a:r>
              <a:rPr sz="900" b="0">
                <a:solidFill>
                  <a:srgbClr val="1A1A1A"/>
                </a:solidFill>
                <a:latin typeface="Versos"/>
              </a:rPr>
              <a:t/>
            </a:r>
          </a:p>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Banks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Banks</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30/04/2009</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R$ 1.793.381.077,96</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R$ 1.449.683.179,97</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0,25%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+0,25%</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1,05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7488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D+0</a:t>
                      </a:r>
                    </a:p>
                  </a:txBody>
                  <a:tcPr marL="43200" marR="43200" marT="0" marB="0">
                    <a:solidFill>
                      <a:srgbClr val="F4F7F9"/>
                    </a:solidFill>
                  </a:tcPr>
                </a:tc>
              </a:tr>
              <a:tr h="187200">
                <a:tc>
                  <a:txBody>
                    <a:bodyPr/>
                    <a:lstStyle/>
                    <a:p>
                      <a:pPr algn="l"/>
                      <a:r>
                        <a:rPr sz="850" b="1">
                          <a:solidFill>
                            <a:srgbClr val="1A1A1A"/>
                          </a:solidFill>
                          <a:latin typeface="Versos"/>
                        </a:rPr>
                        <a:t>Aplicação mínima inicial</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r h="187200">
                <a:tc>
                  <a:txBody>
                    <a:bodyPr/>
                    <a:lstStyle/>
                    <a:p>
                      <a:pPr algn="l"/>
                      <a:r>
                        <a:rPr sz="850" b="1">
                          <a:solidFill>
                            <a:srgbClr val="1A1A1A"/>
                          </a:solidFill>
                          <a:latin typeface="Versos"/>
                        </a:rPr>
                        <a:t>Movimentação mínima</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bl>
          </a:graphicData>
        </a:graphic>
      </p:graphicFrame>
      <p:sp>
        <p:nvSpPr>
          <p:cNvPr id="10" name="TextBox 9"/>
          <p:cNvSpPr txBox="1"/>
          <p:nvPr/>
        </p:nvSpPr>
        <p:spPr>
          <a:xfrm>
            <a:off x="540000" y="49788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176800"/>
            <a:ext cx="6480000" cy="4921200"/>
          </a:xfrm>
          <a:prstGeom prst="rect">
            <a:avLst/>
          </a:prstGeom>
          <a:noFill/>
        </p:spPr>
        <p:txBody>
          <a:bodyPr wrap="square" lIns="0" rIns="0" tIns="0" bIns="0">
            <a:spAutoFit/>
          </a:bodyPr>
          <a:lstStyle/>
          <a:p>
            <a:pPr algn="l"/>
            <a:r>
              <a:rPr sz="540" b="0">
                <a:solidFill>
                  <a:srgbClr val="637881"/>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a:p>
            <a:pPr algn="l"/>
            <a:r>
              <a:rPr sz="540" b="0">
                <a:solidFill>
                  <a:srgbClr val="637881"/>
                </a:solidFill>
                <a:latin typeface="Versos"/>
              </a:rPr>
              <a:t/>
            </a:r>
          </a:p>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