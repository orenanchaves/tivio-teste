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Sheet1!$A$2:$A$11</c:f>
              <c:strCache>
                <c:ptCount val="10"/>
                <c:pt idx="0">
                  <c:v>nov/25</c:v>
                </c:pt>
                <c:pt idx="1">
                  <c:v>dez/25</c:v>
                </c:pt>
                <c:pt idx="2">
                  <c:v>jan/26</c:v>
                </c:pt>
                <c:pt idx="3">
                  <c:v>fev/26</c:v>
                </c:pt>
                <c:pt idx="4">
                  <c:v>mar/26</c:v>
                </c:pt>
                <c:pt idx="5">
                  <c:v>abr/26</c:v>
                </c:pt>
                <c:pt idx="6">
                  <c:v>mai/26</c:v>
                </c:pt>
                <c:pt idx="7">
                  <c:v>jun/26</c:v>
                </c:pt>
                <c:pt idx="8">
                  <c:v>jul/26</c:v>
                </c:pt>
                <c:pt idx="9">
                  <c:v>ago/26</c:v>
                </c:pt>
              </c:strCache>
            </c:strRef>
          </c:cat>
          <c:val>
            <c:numRef>
              <c:f>Sheet1!$B$2:$B$11</c:f>
              <c:numCache>
                <c:formatCode>General</c:formatCode>
                <c:ptCount val="10"/>
                <c:pt idx="0">
                  <c:v>0.0</c:v>
                </c:pt>
                <c:pt idx="1">
                  <c:v>0.018500000000000003</c:v>
                </c:pt>
                <c:pt idx="2">
                  <c:v>0.0341</c:v>
                </c:pt>
                <c:pt idx="3">
                  <c:v>0.043</c:v>
                </c:pt>
                <c:pt idx="4">
                  <c:v>0.055999999999999994</c:v>
                </c:pt>
                <c:pt idx="5">
                  <c:v>0.0676</c:v>
                </c:pt>
                <c:pt idx="6">
                  <c:v>0.08</c:v>
                </c:pt>
                <c:pt idx="7">
                  <c:v>0.09390000000000001</c:v>
                </c:pt>
                <c:pt idx="8">
                  <c:v>0.1074</c:v>
                </c:pt>
                <c:pt idx="9">
                  <c:v>0.1153</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Sheet1!$A$2:$A$11</c:f>
              <c:strCache>
                <c:ptCount val="10"/>
                <c:pt idx="0">
                  <c:v>nov/25</c:v>
                </c:pt>
                <c:pt idx="1">
                  <c:v>dez/25</c:v>
                </c:pt>
                <c:pt idx="2">
                  <c:v>jan/26</c:v>
                </c:pt>
                <c:pt idx="3">
                  <c:v>fev/26</c:v>
                </c:pt>
                <c:pt idx="4">
                  <c:v>mar/26</c:v>
                </c:pt>
                <c:pt idx="5">
                  <c:v>abr/26</c:v>
                </c:pt>
                <c:pt idx="6">
                  <c:v>mai/26</c:v>
                </c:pt>
                <c:pt idx="7">
                  <c:v>jun/26</c:v>
                </c:pt>
                <c:pt idx="8">
                  <c:v>jul/26</c:v>
                </c:pt>
                <c:pt idx="9">
                  <c:v>ago/26</c:v>
                </c:pt>
              </c:strCache>
            </c:strRef>
          </c:cat>
          <c:val>
            <c:numRef>
              <c:f>Sheet1!$C$2:$C$11</c:f>
              <c:numCache>
                <c:formatCode>General</c:formatCode>
                <c:ptCount val="10"/>
                <c:pt idx="0">
                  <c:v>0.0</c:v>
                </c:pt>
                <c:pt idx="1">
                  <c:v>0.012199999999999999</c:v>
                </c:pt>
                <c:pt idx="2">
                  <c:v>0.024</c:v>
                </c:pt>
                <c:pt idx="3">
                  <c:v>0.0342</c:v>
                </c:pt>
                <c:pt idx="4">
                  <c:v>0.0467</c:v>
                </c:pt>
                <c:pt idx="5">
                  <c:v>0.0582</c:v>
                </c:pt>
                <c:pt idx="6">
                  <c:v>0.0695</c:v>
                </c:pt>
                <c:pt idx="7">
                  <c:v>0.0815</c:v>
                </c:pt>
                <c:pt idx="8">
                  <c:v>0.0946</c:v>
                </c:pt>
                <c:pt idx="9">
                  <c:v>0.1066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ALT Light</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53.991.177/0001-63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Fundo de previdência de crédito com parcela máxima permitida em crédito estruturado. Além disso aloca em crédito privado e bancários.</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9,51%</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12,60%</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a:t>
                      </a:r>
                    </a:p>
                  </a:txBody>
                  <a:tcPr marL="43200" marR="43200" marT="0" marB="0">
                    <a:solidFill>
                      <a:srgbClr val="FFFFFF"/>
                    </a:solidFill>
                  </a:tcPr>
                </a:tc>
                <a:tc>
                  <a:txBody>
                    <a:bodyPr/>
                    <a:lstStyle/>
                    <a:p>
                      <a:pPr algn="r"/>
                      <a:r>
                        <a:rPr sz="850" b="0">
                          <a:solidFill>
                            <a:srgbClr val="1A1A1A"/>
                          </a:solidFill>
                          <a:latin typeface="Versos"/>
                        </a:rPr>
                        <a:t>11,40%</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66%</a:t>
                      </a:r>
                    </a:p>
                  </a:txBody>
                  <a:tcPr marL="43200" marR="43200" marT="0" marB="0">
                    <a:solidFill>
                      <a:srgbClr val="F4F7F9"/>
                    </a:solidFill>
                  </a:tcPr>
                </a:tc>
                <a:tc>
                  <a:txBody>
                    <a:bodyPr/>
                    <a:lstStyle/>
                    <a:p>
                      <a:pPr algn="r"/>
                      <a:r>
                        <a:rPr sz="850" b="0">
                          <a:solidFill>
                            <a:srgbClr val="1A1A1A"/>
                          </a:solidFill>
                          <a:latin typeface="Versos"/>
                        </a:rPr>
                        <a:t>102%</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a:t>
                      </a:r>
                    </a:p>
                  </a:txBody>
                  <a:tcPr marL="43200" marR="43200" marT="0" marB="0">
                    <a:solidFill>
                      <a:srgbClr val="F4F7F9"/>
                    </a:solidFill>
                  </a:tcPr>
                </a:tc>
                <a:tc>
                  <a:txBody>
                    <a:bodyPr/>
                    <a:lstStyle/>
                    <a:p>
                      <a:pPr algn="r"/>
                      <a:r>
                        <a:rPr sz="850" b="0">
                          <a:solidFill>
                            <a:srgbClr val="1A1A1A"/>
                          </a:solidFill>
                          <a:latin typeface="Versos"/>
                        </a:rPr>
                        <a:t>111%</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INTER</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r>
              <a:tr h="187200">
                <a:tc>
                  <a:txBody>
                    <a:bodyPr/>
                    <a:lstStyle/>
                    <a:p>
                      <a:pPr algn="l"/>
                      <a:r>
                        <a:rPr sz="850" b="1">
                          <a:solidFill>
                            <a:srgbClr val="1A1A1A"/>
                          </a:solidFill>
                          <a:latin typeface="Versos"/>
                        </a:rPr>
                        <a:t>AGIBANK</a:t>
                      </a:r>
                    </a:p>
                  </a:txBody>
                  <a:tcPr marL="43200" marR="43200" marT="0" marB="0">
                    <a:solidFill>
                      <a:srgbClr val="F4F7F9"/>
                    </a:solidFill>
                  </a:tcPr>
                </a:tc>
                <a:tc>
                  <a:txBody>
                    <a:bodyPr/>
                    <a:lstStyle/>
                    <a:p>
                      <a:pPr algn="r"/>
                      <a:r>
                        <a:rPr sz="850" b="0">
                          <a:solidFill>
                            <a:srgbClr val="1A1A1A"/>
                          </a:solidFill>
                          <a:latin typeface="Versos"/>
                        </a:rPr>
                        <a:t>6,71%</a:t>
                      </a:r>
                    </a:p>
                  </a:txBody>
                  <a:tcPr marL="43200" marR="43200" marT="0" marB="0">
                    <a:solidFill>
                      <a:srgbClr val="F4F7F9"/>
                    </a:solidFill>
                  </a:tcPr>
                </a:tc>
              </a:tr>
              <a:tr h="187200">
                <a:tc>
                  <a:txBody>
                    <a:bodyPr/>
                    <a:lstStyle/>
                    <a:p>
                      <a:pPr algn="l"/>
                      <a:r>
                        <a:rPr sz="850" b="1">
                          <a:solidFill>
                            <a:srgbClr val="1A1A1A"/>
                          </a:solidFill>
                          <a:latin typeface="Versos"/>
                        </a:rPr>
                        <a:t>SOFISA</a:t>
                      </a:r>
                    </a:p>
                  </a:txBody>
                  <a:tcPr marL="43200" marR="43200" marT="0" marB="0">
                    <a:solidFill>
                      <a:srgbClr val="FFFFFF"/>
                    </a:solidFill>
                  </a:tcPr>
                </a:tc>
                <a:tc>
                  <a:txBody>
                    <a:bodyPr/>
                    <a:lstStyle/>
                    <a:p>
                      <a:pPr algn="r"/>
                      <a:r>
                        <a:rPr sz="850" b="0">
                          <a:solidFill>
                            <a:srgbClr val="1A1A1A"/>
                          </a:solidFill>
                          <a:latin typeface="Versos"/>
                        </a:rPr>
                        <a:t>6,21%</a:t>
                      </a:r>
                    </a:p>
                  </a:txBody>
                  <a:tcPr marL="43200" marR="43200" marT="0" marB="0">
                    <a:solidFill>
                      <a:srgbClr val="FFFFFF"/>
                    </a:solidFill>
                  </a:tcPr>
                </a:tc>
              </a:tr>
              <a:tr h="187200">
                <a:tc>
                  <a:txBody>
                    <a:bodyPr/>
                    <a:lstStyle/>
                    <a:p>
                      <a:pPr algn="l"/>
                      <a:r>
                        <a:rPr sz="850" b="1">
                          <a:solidFill>
                            <a:srgbClr val="1A1A1A"/>
                          </a:solidFill>
                          <a:latin typeface="Versos"/>
                        </a:rPr>
                        <a:t>C6</a:t>
                      </a:r>
                    </a:p>
                  </a:txBody>
                  <a:tcPr marL="43200" marR="43200" marT="0" marB="0">
                    <a:solidFill>
                      <a:srgbClr val="F4F7F9"/>
                    </a:solidFill>
                  </a:tcPr>
                </a:tc>
                <a:tc>
                  <a:txBody>
                    <a:bodyPr/>
                    <a:lstStyle/>
                    <a:p>
                      <a:pPr algn="r"/>
                      <a:r>
                        <a:rPr sz="850" b="0">
                          <a:solidFill>
                            <a:srgbClr val="1A1A1A"/>
                          </a:solidFill>
                          <a:latin typeface="Versos"/>
                        </a:rPr>
                        <a:t>6,07%</a:t>
                      </a:r>
                    </a:p>
                  </a:txBody>
                  <a:tcPr marL="43200" marR="43200" marT="0" marB="0">
                    <a:solidFill>
                      <a:srgbClr val="F4F7F9"/>
                    </a:solidFill>
                  </a:tcPr>
                </a:tc>
              </a:tr>
              <a:tr h="187200">
                <a:tc>
                  <a:txBody>
                    <a:bodyPr/>
                    <a:lstStyle/>
                    <a:p>
                      <a:pPr algn="l"/>
                      <a:r>
                        <a:rPr sz="850" b="1">
                          <a:solidFill>
                            <a:srgbClr val="1A1A1A"/>
                          </a:solidFill>
                          <a:latin typeface="Versos"/>
                        </a:rPr>
                        <a:t>BB</a:t>
                      </a:r>
                    </a:p>
                  </a:txBody>
                  <a:tcPr marL="43200" marR="43200" marT="0" marB="0">
                    <a:solidFill>
                      <a:srgbClr val="FFFFFF"/>
                    </a:solidFill>
                  </a:tcPr>
                </a:tc>
                <a:tc>
                  <a:txBody>
                    <a:bodyPr/>
                    <a:lstStyle/>
                    <a:p>
                      <a:pPr algn="r"/>
                      <a:r>
                        <a:rPr sz="850" b="0">
                          <a:solidFill>
                            <a:srgbClr val="1A1A1A"/>
                          </a:solidFill>
                          <a:latin typeface="Versos"/>
                        </a:rPr>
                        <a:t>5,30%</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40,7%</a:t>
                      </a:r>
                    </a:p>
                  </a:txBody>
                  <a:tcPr marL="43200" marR="43200" marT="0" marB="0">
                    <a:solidFill>
                      <a:srgbClr val="FFFFFF"/>
                    </a:solidFill>
                  </a:tcPr>
                </a:tc>
              </a:tr>
              <a:tr h="187200">
                <a:tc>
                  <a:txBody>
                    <a:bodyPr/>
                    <a:lstStyle/>
                    <a:p>
                      <a:pPr algn="l"/>
                      <a:r>
                        <a:rPr sz="850" b="1">
                          <a:solidFill>
                            <a:srgbClr val="1A1A1A"/>
                          </a:solidFill>
                          <a:latin typeface="Versos"/>
                        </a:rPr>
                        <a:t>Indústria e Comércio</a:t>
                      </a:r>
                    </a:p>
                  </a:txBody>
                  <a:tcPr marL="43200" marR="43200" marT="0" marB="0">
                    <a:solidFill>
                      <a:srgbClr val="F4F7F9"/>
                    </a:solidFill>
                  </a:tcPr>
                </a:tc>
                <a:tc>
                  <a:txBody>
                    <a:bodyPr/>
                    <a:lstStyle/>
                    <a:p>
                      <a:pPr algn="r"/>
                      <a:r>
                        <a:rPr sz="850" b="0">
                          <a:solidFill>
                            <a:srgbClr val="1A1A1A"/>
                          </a:solidFill>
                          <a:latin typeface="Versos"/>
                        </a:rPr>
                        <a:t>14,3%</a:t>
                      </a:r>
                    </a:p>
                  </a:txBody>
                  <a:tcPr marL="43200" marR="43200" marT="0" marB="0">
                    <a:solidFill>
                      <a:srgbClr val="F4F7F9"/>
                    </a:solidFill>
                  </a:tcPr>
                </a:tc>
              </a:tr>
              <a:tr h="187200">
                <a:tc>
                  <a:txBody>
                    <a:bodyPr/>
                    <a:lstStyle/>
                    <a:p>
                      <a:pPr algn="l"/>
                      <a:r>
                        <a:rPr sz="850" b="1">
                          <a:solidFill>
                            <a:srgbClr val="1A1A1A"/>
                          </a:solidFill>
                          <a:latin typeface="Versos"/>
                        </a:rPr>
                        <a:t>Locação de veículos</a:t>
                      </a:r>
                    </a:p>
                  </a:txBody>
                  <a:tcPr marL="43200" marR="43200" marT="0" marB="0">
                    <a:solidFill>
                      <a:srgbClr val="FFFFFF"/>
                    </a:solidFill>
                  </a:tcPr>
                </a:tc>
                <a:tc>
                  <a:txBody>
                    <a:bodyPr/>
                    <a:lstStyle/>
                    <a:p>
                      <a:pPr algn="r"/>
                      <a:r>
                        <a:rPr sz="850" b="0">
                          <a:solidFill>
                            <a:srgbClr val="1A1A1A"/>
                          </a:solidFill>
                          <a:latin typeface="Versos"/>
                        </a:rPr>
                        <a:t>5,4%</a:t>
                      </a:r>
                    </a:p>
                  </a:txBody>
                  <a:tcPr marL="43200" marR="43200" marT="0" marB="0">
                    <a:solidFill>
                      <a:srgbClr val="FFFFFF"/>
                    </a:solidFill>
                  </a:tcPr>
                </a:tc>
              </a:tr>
              <a:tr h="187200">
                <a:tc>
                  <a:txBody>
                    <a:bodyPr/>
                    <a:lstStyle/>
                    <a:p>
                      <a:pPr algn="l"/>
                      <a:r>
                        <a:rPr sz="850" b="1">
                          <a:solidFill>
                            <a:srgbClr val="1A1A1A"/>
                          </a:solidFill>
                          <a:latin typeface="Versos"/>
                        </a:rPr>
                        <a:t>Transporte e Logística</a:t>
                      </a:r>
                    </a:p>
                  </a:txBody>
                  <a:tcPr marL="43200" marR="43200" marT="0" marB="0">
                    <a:solidFill>
                      <a:srgbClr val="F4F7F9"/>
                    </a:solidFill>
                  </a:tcPr>
                </a:tc>
                <a:tc>
                  <a:txBody>
                    <a:bodyPr/>
                    <a:lstStyle/>
                    <a:p>
                      <a:pPr algn="r"/>
                      <a:r>
                        <a:rPr sz="850" b="0">
                          <a:solidFill>
                            <a:srgbClr val="1A1A1A"/>
                          </a:solidFill>
                          <a:latin typeface="Versos"/>
                        </a:rPr>
                        <a:t>4,9%</a:t>
                      </a:r>
                    </a:p>
                  </a:txBody>
                  <a:tcPr marL="43200" marR="43200" marT="0" marB="0">
                    <a:solidFill>
                      <a:srgbClr val="F4F7F9"/>
                    </a:solidFill>
                  </a:tcPr>
                </a:tc>
              </a:tr>
              <a:tr h="187200">
                <a:tc>
                  <a:txBody>
                    <a:bodyPr/>
                    <a:lstStyle/>
                    <a:p>
                      <a:pPr algn="l"/>
                      <a:r>
                        <a:rPr sz="850" b="1">
                          <a:solidFill>
                            <a:srgbClr val="1A1A1A"/>
                          </a:solidFill>
                          <a:latin typeface="Versos"/>
                        </a:rPr>
                        <a:t>Comércio atacadista e varejista</a:t>
                      </a:r>
                    </a:p>
                  </a:txBody>
                  <a:tcPr marL="43200" marR="43200" marT="0" marB="0">
                    <a:solidFill>
                      <a:srgbClr val="FFFFFF"/>
                    </a:solidFill>
                  </a:tcPr>
                </a:tc>
                <a:tc>
                  <a:txBody>
                    <a:bodyPr/>
                    <a:lstStyle/>
                    <a:p>
                      <a:pPr algn="r"/>
                      <a:r>
                        <a:rPr sz="850" b="0">
                          <a:solidFill>
                            <a:srgbClr val="1A1A1A"/>
                          </a:solidFill>
                          <a:latin typeface="Versos"/>
                        </a:rPr>
                        <a:t>4,5%</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7,8%</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20,3%</a:t>
                      </a:r>
                    </a:p>
                  </a:txBody>
                  <a:tcPr marL="43200" marR="43200" marT="0" marB="0">
                    <a:solidFill>
                      <a:srgbClr val="F4F7F9"/>
                    </a:solidFill>
                  </a:tcPr>
                </a:tc>
                <a:tc>
                  <a:txBody>
                    <a:bodyPr/>
                    <a:lstStyle/>
                    <a:p>
                      <a:pPr algn="r"/>
                      <a:r>
                        <a:rPr sz="850" b="0">
                          <a:solidFill>
                            <a:srgbClr val="1A1A1A"/>
                          </a:solidFill>
                          <a:latin typeface="Versos"/>
                        </a:rPr>
                        <a:t>15,4%</a:t>
                      </a:r>
                    </a:p>
                  </a:txBody>
                  <a:tcPr marL="43200" marR="43200" marT="0" marB="0">
                    <a:solidFill>
                      <a:srgbClr val="F4F7F9"/>
                    </a:solidFill>
                  </a:tcPr>
                </a:tc>
                <a:tc>
                  <a:txBody>
                    <a:bodyPr/>
                    <a:lstStyle/>
                    <a:p>
                      <a:pPr algn="r"/>
                      <a:r>
                        <a:rPr sz="850" b="0">
                          <a:solidFill>
                            <a:srgbClr val="1A1A1A"/>
                          </a:solidFill>
                          <a:latin typeface="Versos"/>
                        </a:rPr>
                        <a:t>3,7%</a:t>
                      </a:r>
                    </a:p>
                  </a:txBody>
                  <a:tcPr marL="43200" marR="43200" marT="0" marB="0">
                    <a:solidFill>
                      <a:srgbClr val="F4F7F9"/>
                    </a:solidFill>
                  </a:tcPr>
                </a:tc>
                <a:tc>
                  <a:txBody>
                    <a:bodyPr/>
                    <a:lstStyle/>
                    <a:p>
                      <a:pPr algn="r"/>
                      <a:r>
                        <a:rPr sz="850" b="0">
                          <a:solidFill>
                            <a:srgbClr val="1A1A1A"/>
                          </a:solidFill>
                          <a:latin typeface="Versos"/>
                        </a:rPr>
                        <a:t>16,3%</a:t>
                      </a:r>
                    </a:p>
                  </a:txBody>
                  <a:tcPr marL="43200" marR="43200" marT="0" marB="0">
                    <a:solidFill>
                      <a:srgbClr val="F4F7F9"/>
                    </a:solidFill>
                  </a:tcPr>
                </a:tc>
                <a:tc>
                  <a:txBody>
                    <a:bodyPr/>
                    <a:lstStyle/>
                    <a:p>
                      <a:pPr algn="r"/>
                      <a:r>
                        <a:rPr sz="850" b="0">
                          <a:solidFill>
                            <a:srgbClr val="1A1A1A"/>
                          </a:solidFill>
                          <a:latin typeface="Versos"/>
                        </a:rPr>
                        <a:t>8,3%</a:t>
                      </a:r>
                    </a:p>
                  </a:txBody>
                  <a:tcPr marL="43200" marR="43200" marT="0" marB="0">
                    <a:solidFill>
                      <a:srgbClr val="F4F7F9"/>
                    </a:solidFill>
                  </a:tcPr>
                </a:tc>
                <a:tc>
                  <a:txBody>
                    <a:bodyPr/>
                    <a:lstStyle/>
                    <a:p>
                      <a:pPr algn="r"/>
                      <a:r>
                        <a:rPr sz="850" b="0">
                          <a:solidFill>
                            <a:srgbClr val="1A1A1A"/>
                          </a:solidFill>
                          <a:latin typeface="Versos"/>
                        </a:rPr>
                        <a:t>8,6%</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ALT Light</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9" name="TextBox 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ALT Light</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11/11/2025</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R$ 26.829.258,71</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R$ 18.304.046,83</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0,65%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Não há</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+1,81%</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2,04 anos</a:t>
                      </a:r>
                    </a:p>
                  </a:txBody>
                  <a:tcPr marL="43200" marR="43200" marT="0" marB="0">
                    <a:solidFill>
                      <a:srgbClr val="F4F7F9"/>
                    </a:solidFill>
                  </a:tcPr>
                </a:tc>
              </a:tr>
            </a:tbl>
          </a:graphicData>
        </a:graphic>
      </p:graphicFrame>
      <p:sp>
        <p:nvSpPr>
          <p:cNvPr id="8" name="TextBox 7"/>
          <p:cNvSpPr txBox="1"/>
          <p:nvPr/>
        </p:nvSpPr>
        <p:spPr>
          <a:xfrm>
            <a:off x="540000" y="37440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9" name="TextBox 8"/>
          <p:cNvSpPr txBox="1"/>
          <p:nvPr/>
        </p:nvSpPr>
        <p:spPr>
          <a:xfrm>
            <a:off x="540000" y="3942000"/>
            <a:ext cx="6480000" cy="6156000"/>
          </a:xfrm>
          <a:prstGeom prst="rect">
            <a:avLst/>
          </a:prstGeom>
          <a:noFill/>
        </p:spPr>
        <p:txBody>
          <a:bodyPr wrap="square" lIns="0" rIns="0" tIns="0" bIns="0">
            <a:spAutoFit/>
          </a:bodyPr>
          <a:lstStyle/>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