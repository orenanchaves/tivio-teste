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0.0125</c:v>
                </c:pt>
                <c:pt idx="2">
                  <c:v>0.024700000000000003</c:v>
                </c:pt>
                <c:pt idx="3">
                  <c:v>0.0351</c:v>
                </c:pt>
                <c:pt idx="4">
                  <c:v>0.0504</c:v>
                </c:pt>
                <c:pt idx="5">
                  <c:v>0.0572</c:v>
                </c:pt>
                <c:pt idx="6">
                  <c:v>0.06709999999999999</c:v>
                </c:pt>
                <c:pt idx="7">
                  <c:v>0.07719999999999999</c:v>
                </c:pt>
                <c:pt idx="8">
                  <c:v>0.0883</c:v>
                </c:pt>
                <c:pt idx="9">
                  <c:v>0.0978</c:v>
                </c:pt>
                <c:pt idx="10">
                  <c:v>0.113</c:v>
                </c:pt>
                <c:pt idx="11">
                  <c:v>0.128</c:v>
                </c:pt>
                <c:pt idx="12">
                  <c:v>0.1406</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0.012199999999999999</c:v>
                </c:pt>
                <c:pt idx="2">
                  <c:v>0.025099999999999997</c:v>
                </c:pt>
                <c:pt idx="3">
                  <c:v>0.0359</c:v>
                </c:pt>
                <c:pt idx="4">
                  <c:v>0.048499999999999995</c:v>
                </c:pt>
                <c:pt idx="5">
                  <c:v>0.060700000000000004</c:v>
                </c:pt>
                <c:pt idx="6">
                  <c:v>0.0713</c:v>
                </c:pt>
                <c:pt idx="7">
                  <c:v>0.0843</c:v>
                </c:pt>
                <c:pt idx="8">
                  <c:v>0.09609999999999999</c:v>
                </c:pt>
                <c:pt idx="9">
                  <c:v>0.1079</c:v>
                </c:pt>
                <c:pt idx="10">
                  <c:v>0.12029999999999999</c:v>
                </c:pt>
                <c:pt idx="11">
                  <c:v>0.13390000000000002</c:v>
                </c:pt>
                <c:pt idx="12">
                  <c:v>0.1463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RF CP</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14.491.665/0001-50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fundo tem como objetivo identificar oportunidades em ativos de crédito high grade (Bancário e Corporativo). Ele busca superar a variação do CDI no longo prazo.</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1,12%</a:t>
                      </a:r>
                    </a:p>
                  </a:txBody>
                  <a:tcPr marL="43200" marR="43200" marT="0" marB="0">
                    <a:solidFill>
                      <a:srgbClr val="F4F7F9"/>
                    </a:solidFill>
                  </a:tcPr>
                </a:tc>
                <a:tc>
                  <a:txBody>
                    <a:bodyPr/>
                    <a:lstStyle/>
                    <a:p>
                      <a:pPr algn="r"/>
                      <a:r>
                        <a:rPr sz="850" b="0">
                          <a:solidFill>
                            <a:srgbClr val="1A1A1A"/>
                          </a:solidFill>
                          <a:latin typeface="Versos"/>
                        </a:rPr>
                        <a:t>8,59%</a:t>
                      </a:r>
                    </a:p>
                  </a:txBody>
                  <a:tcPr marL="43200" marR="43200" marT="0" marB="0">
                    <a:solidFill>
                      <a:srgbClr val="F4F7F9"/>
                    </a:solidFill>
                  </a:tcPr>
                </a:tc>
                <a:tc>
                  <a:txBody>
                    <a:bodyPr/>
                    <a:lstStyle/>
                    <a:p>
                      <a:pPr algn="r"/>
                      <a:r>
                        <a:rPr sz="850" b="0">
                          <a:solidFill>
                            <a:srgbClr val="1A1A1A"/>
                          </a:solidFill>
                          <a:latin typeface="Versos"/>
                        </a:rPr>
                        <a:t>13,99%</a:t>
                      </a:r>
                    </a:p>
                  </a:txBody>
                  <a:tcPr marL="43200" marR="43200" marT="0" marB="0">
                    <a:solidFill>
                      <a:srgbClr val="F4F7F9"/>
                    </a:solidFill>
                  </a:tcPr>
                </a:tc>
                <a:tc>
                  <a:txBody>
                    <a:bodyPr/>
                    <a:lstStyle/>
                    <a:p>
                      <a:pPr algn="r"/>
                      <a:r>
                        <a:rPr sz="850" b="0">
                          <a:solidFill>
                            <a:srgbClr val="1A1A1A"/>
                          </a:solidFill>
                          <a:latin typeface="Versos"/>
                        </a:rPr>
                        <a:t>28,43%</a:t>
                      </a:r>
                    </a:p>
                  </a:txBody>
                  <a:tcPr marL="43200" marR="43200" marT="0" marB="0">
                    <a:solidFill>
                      <a:srgbClr val="F4F7F9"/>
                    </a:solidFill>
                  </a:tcPr>
                </a:tc>
                <a:tc>
                  <a:txBody>
                    <a:bodyPr/>
                    <a:lstStyle/>
                    <a:p>
                      <a:pPr algn="r"/>
                      <a:r>
                        <a:rPr sz="850" b="0">
                          <a:solidFill>
                            <a:srgbClr val="1A1A1A"/>
                          </a:solidFill>
                          <a:latin typeface="Versos"/>
                        </a:rPr>
                        <a:t>46,57%</a:t>
                      </a:r>
                    </a:p>
                  </a:txBody>
                  <a:tcPr marL="43200" marR="43200" marT="0" marB="0">
                    <a:solidFill>
                      <a:srgbClr val="F4F7F9"/>
                    </a:solidFill>
                  </a:tcPr>
                </a:tc>
                <a:tc>
                  <a:txBody>
                    <a:bodyPr/>
                    <a:lstStyle/>
                    <a:p>
                      <a:pPr algn="r"/>
                      <a:r>
                        <a:rPr sz="850" b="0">
                          <a:solidFill>
                            <a:srgbClr val="1A1A1A"/>
                          </a:solidFill>
                          <a:latin typeface="Versos"/>
                        </a:rPr>
                        <a:t>154,64%</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14,57%</a:t>
                      </a:r>
                    </a:p>
                  </a:txBody>
                  <a:tcPr marL="43200" marR="43200" marT="0" marB="0">
                    <a:solidFill>
                      <a:srgbClr val="FFFFFF"/>
                    </a:solidFill>
                  </a:tcPr>
                </a:tc>
                <a:tc>
                  <a:txBody>
                    <a:bodyPr/>
                    <a:lstStyle/>
                    <a:p>
                      <a:pPr algn="r"/>
                      <a:r>
                        <a:rPr sz="850" b="0">
                          <a:solidFill>
                            <a:srgbClr val="1A1A1A"/>
                          </a:solidFill>
                          <a:latin typeface="Versos"/>
                        </a:rPr>
                        <a:t>29,49%</a:t>
                      </a:r>
                    </a:p>
                  </a:txBody>
                  <a:tcPr marL="43200" marR="43200" marT="0" marB="0">
                    <a:solidFill>
                      <a:srgbClr val="FFFFFF"/>
                    </a:solidFill>
                  </a:tcPr>
                </a:tc>
                <a:tc>
                  <a:txBody>
                    <a:bodyPr/>
                    <a:lstStyle/>
                    <a:p>
                      <a:pPr algn="r"/>
                      <a:r>
                        <a:rPr sz="850" b="0">
                          <a:solidFill>
                            <a:srgbClr val="1A1A1A"/>
                          </a:solidFill>
                          <a:latin typeface="Versos"/>
                        </a:rPr>
                        <a:t>44,17%</a:t>
                      </a:r>
                    </a:p>
                  </a:txBody>
                  <a:tcPr marL="43200" marR="43200" marT="0" marB="0">
                    <a:solidFill>
                      <a:srgbClr val="FFFFFF"/>
                    </a:solidFill>
                  </a:tcPr>
                </a:tc>
                <a:tc>
                  <a:txBody>
                    <a:bodyPr/>
                    <a:lstStyle/>
                    <a:p>
                      <a:pPr algn="r"/>
                      <a:r>
                        <a:rPr sz="850" b="0">
                          <a:solidFill>
                            <a:srgbClr val="1A1A1A"/>
                          </a:solidFill>
                          <a:latin typeface="Versos"/>
                        </a:rPr>
                        <a:t>155,05%</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102%</a:t>
                      </a:r>
                    </a:p>
                  </a:txBody>
                  <a:tcPr marL="43200" marR="43200" marT="0" marB="0">
                    <a:solidFill>
                      <a:srgbClr val="F4F7F9"/>
                    </a:solidFill>
                  </a:tcPr>
                </a:tc>
                <a:tc>
                  <a:txBody>
                    <a:bodyPr/>
                    <a:lstStyle/>
                    <a:p>
                      <a:pPr algn="r"/>
                      <a:r>
                        <a:rPr sz="850" b="0">
                          <a:solidFill>
                            <a:srgbClr val="1A1A1A"/>
                          </a:solidFill>
                          <a:latin typeface="Versos"/>
                        </a:rPr>
                        <a:t>92%</a:t>
                      </a:r>
                    </a:p>
                  </a:txBody>
                  <a:tcPr marL="43200" marR="43200" marT="0" marB="0">
                    <a:solidFill>
                      <a:srgbClr val="F4F7F9"/>
                    </a:solidFill>
                  </a:tcPr>
                </a:tc>
                <a:tc>
                  <a:txBody>
                    <a:bodyPr/>
                    <a:lstStyle/>
                    <a:p>
                      <a:pPr algn="r"/>
                      <a:r>
                        <a:rPr sz="850" b="0">
                          <a:solidFill>
                            <a:srgbClr val="1A1A1A"/>
                          </a:solidFill>
                          <a:latin typeface="Versos"/>
                        </a:rPr>
                        <a:t>96%</a:t>
                      </a:r>
                    </a:p>
                  </a:txBody>
                  <a:tcPr marL="43200" marR="43200" marT="0" marB="0">
                    <a:solidFill>
                      <a:srgbClr val="F4F7F9"/>
                    </a:solidFill>
                  </a:tcPr>
                </a:tc>
                <a:tc>
                  <a:txBody>
                    <a:bodyPr/>
                    <a:lstStyle/>
                    <a:p>
                      <a:pPr algn="r"/>
                      <a:r>
                        <a:rPr sz="850" b="0">
                          <a:solidFill>
                            <a:srgbClr val="1A1A1A"/>
                          </a:solidFill>
                          <a:latin typeface="Versos"/>
                        </a:rPr>
                        <a:t>96%</a:t>
                      </a:r>
                    </a:p>
                  </a:txBody>
                  <a:tcPr marL="43200" marR="43200" marT="0" marB="0">
                    <a:solidFill>
                      <a:srgbClr val="F4F7F9"/>
                    </a:solidFill>
                  </a:tcPr>
                </a:tc>
                <a:tc>
                  <a:txBody>
                    <a:bodyPr/>
                    <a:lstStyle/>
                    <a:p>
                      <a:pPr algn="r"/>
                      <a:r>
                        <a:rPr sz="850" b="0">
                          <a:solidFill>
                            <a:srgbClr val="1A1A1A"/>
                          </a:solidFill>
                          <a:latin typeface="Versos"/>
                        </a:rPr>
                        <a:t>105%</a:t>
                      </a:r>
                    </a:p>
                  </a:txBody>
                  <a:tcPr marL="43200" marR="43200" marT="0" marB="0">
                    <a:solidFill>
                      <a:srgbClr val="F4F7F9"/>
                    </a:solidFill>
                  </a:tcPr>
                </a:tc>
                <a:tc>
                  <a:txBody>
                    <a:bodyPr/>
                    <a:lstStyle/>
                    <a:p>
                      <a:pPr algn="r"/>
                      <a:r>
                        <a:rPr sz="850" b="0">
                          <a:solidFill>
                            <a:srgbClr val="1A1A1A"/>
                          </a:solidFill>
                          <a:latin typeface="Versos"/>
                        </a:rPr>
                        <a:t>100%</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ITAU</a:t>
                      </a:r>
                    </a:p>
                  </a:txBody>
                  <a:tcPr marL="43200" marR="43200" marT="0" marB="0">
                    <a:solidFill>
                      <a:srgbClr val="FFFFFF"/>
                    </a:solidFill>
                  </a:tcPr>
                </a:tc>
                <a:tc>
                  <a:txBody>
                    <a:bodyPr/>
                    <a:lstStyle/>
                    <a:p>
                      <a:pPr algn="r"/>
                      <a:r>
                        <a:rPr sz="850" b="0">
                          <a:solidFill>
                            <a:srgbClr val="1A1A1A"/>
                          </a:solidFill>
                          <a:latin typeface="Versos"/>
                        </a:rPr>
                        <a:t>3,98%</a:t>
                      </a:r>
                    </a:p>
                  </a:txBody>
                  <a:tcPr marL="43200" marR="43200" marT="0" marB="0">
                    <a:solidFill>
                      <a:srgbClr val="FFFFFF"/>
                    </a:solidFill>
                  </a:tcPr>
                </a:tc>
              </a:tr>
              <a:tr h="187200">
                <a:tc>
                  <a:txBody>
                    <a:bodyPr/>
                    <a:lstStyle/>
                    <a:p>
                      <a:pPr algn="l"/>
                      <a:r>
                        <a:rPr sz="850" b="1">
                          <a:solidFill>
                            <a:srgbClr val="1A1A1A"/>
                          </a:solidFill>
                          <a:latin typeface="Versos"/>
                        </a:rPr>
                        <a:t>SANTANDER</a:t>
                      </a:r>
                    </a:p>
                  </a:txBody>
                  <a:tcPr marL="43200" marR="43200" marT="0" marB="0">
                    <a:solidFill>
                      <a:srgbClr val="F4F7F9"/>
                    </a:solidFill>
                  </a:tcPr>
                </a:tc>
                <a:tc>
                  <a:txBody>
                    <a:bodyPr/>
                    <a:lstStyle/>
                    <a:p>
                      <a:pPr algn="r"/>
                      <a:r>
                        <a:rPr sz="850" b="0">
                          <a:solidFill>
                            <a:srgbClr val="1A1A1A"/>
                          </a:solidFill>
                          <a:latin typeface="Versos"/>
                        </a:rPr>
                        <a:t>2,74%</a:t>
                      </a:r>
                    </a:p>
                  </a:txBody>
                  <a:tcPr marL="43200" marR="43200" marT="0" marB="0">
                    <a:solidFill>
                      <a:srgbClr val="F4F7F9"/>
                    </a:solidFill>
                  </a:tcPr>
                </a:tc>
              </a:tr>
              <a:tr h="187200">
                <a:tc>
                  <a:txBody>
                    <a:bodyPr/>
                    <a:lstStyle/>
                    <a:p>
                      <a:pPr algn="l"/>
                      <a:r>
                        <a:rPr sz="850" b="1">
                          <a:solidFill>
                            <a:srgbClr val="1A1A1A"/>
                          </a:solidFill>
                          <a:latin typeface="Versos"/>
                        </a:rPr>
                        <a:t>TOYOTA</a:t>
                      </a:r>
                    </a:p>
                  </a:txBody>
                  <a:tcPr marL="43200" marR="43200" marT="0" marB="0">
                    <a:solidFill>
                      <a:srgbClr val="FFFFFF"/>
                    </a:solidFill>
                  </a:tcPr>
                </a:tc>
                <a:tc>
                  <a:txBody>
                    <a:bodyPr/>
                    <a:lstStyle/>
                    <a:p>
                      <a:pPr algn="r"/>
                      <a:r>
                        <a:rPr sz="850" b="0">
                          <a:solidFill>
                            <a:srgbClr val="1A1A1A"/>
                          </a:solidFill>
                          <a:latin typeface="Versos"/>
                        </a:rPr>
                        <a:t>1,81%</a:t>
                      </a:r>
                    </a:p>
                  </a:txBody>
                  <a:tcPr marL="43200" marR="43200" marT="0" marB="0">
                    <a:solidFill>
                      <a:srgbClr val="FFFFFF"/>
                    </a:solidFill>
                  </a:tcPr>
                </a:tc>
              </a:tr>
              <a:tr h="187200">
                <a:tc>
                  <a:txBody>
                    <a:bodyPr/>
                    <a:lstStyle/>
                    <a:p>
                      <a:pPr algn="l"/>
                      <a:r>
                        <a:rPr sz="850" b="1">
                          <a:solidFill>
                            <a:srgbClr val="1A1A1A"/>
                          </a:solidFill>
                          <a:latin typeface="Versos"/>
                        </a:rPr>
                        <a:t>NEOENERGIA</a:t>
                      </a:r>
                    </a:p>
                  </a:txBody>
                  <a:tcPr marL="43200" marR="43200" marT="0" marB="0">
                    <a:solidFill>
                      <a:srgbClr val="F4F7F9"/>
                    </a:solidFill>
                  </a:tcPr>
                </a:tc>
                <a:tc>
                  <a:txBody>
                    <a:bodyPr/>
                    <a:lstStyle/>
                    <a:p>
                      <a:pPr algn="r"/>
                      <a:r>
                        <a:rPr sz="850" b="0">
                          <a:solidFill>
                            <a:srgbClr val="1A1A1A"/>
                          </a:solidFill>
                          <a:latin typeface="Versos"/>
                        </a:rPr>
                        <a:t>1,64%</a:t>
                      </a:r>
                    </a:p>
                  </a:txBody>
                  <a:tcPr marL="43200" marR="43200" marT="0" marB="0">
                    <a:solidFill>
                      <a:srgbClr val="F4F7F9"/>
                    </a:solidFill>
                  </a:tcPr>
                </a:tc>
              </a:tr>
              <a:tr h="187200">
                <a:tc>
                  <a:txBody>
                    <a:bodyPr/>
                    <a:lstStyle/>
                    <a:p>
                      <a:pPr algn="l"/>
                      <a:r>
                        <a:rPr sz="850" b="1">
                          <a:solidFill>
                            <a:srgbClr val="1A1A1A"/>
                          </a:solidFill>
                          <a:latin typeface="Versos"/>
                        </a:rPr>
                        <a:t>INTER</a:t>
                      </a:r>
                    </a:p>
                  </a:txBody>
                  <a:tcPr marL="43200" marR="43200" marT="0" marB="0">
                    <a:solidFill>
                      <a:srgbClr val="FFFFFF"/>
                    </a:solidFill>
                  </a:tcPr>
                </a:tc>
                <a:tc>
                  <a:txBody>
                    <a:bodyPr/>
                    <a:lstStyle/>
                    <a:p>
                      <a:pPr algn="r"/>
                      <a:r>
                        <a:rPr sz="850" b="0">
                          <a:solidFill>
                            <a:srgbClr val="1A1A1A"/>
                          </a:solidFill>
                          <a:latin typeface="Versos"/>
                        </a:rPr>
                        <a:t>1,64%</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14,1%</a:t>
                      </a:r>
                    </a:p>
                  </a:txBody>
                  <a:tcPr marL="43200" marR="43200" marT="0" marB="0">
                    <a:solidFill>
                      <a:srgbClr val="FFFFFF"/>
                    </a:solidFill>
                  </a:tcPr>
                </a:tc>
              </a:tr>
              <a:tr h="1872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5,8%</a:t>
                      </a:r>
                    </a:p>
                  </a:txBody>
                  <a:tcPr marL="43200" marR="43200" marT="0" marB="0">
                    <a:solidFill>
                      <a:srgbClr val="F4F7F9"/>
                    </a:solidFill>
                  </a:tcPr>
                </a:tc>
              </a:tr>
              <a:tr h="187200">
                <a:tc>
                  <a:txBody>
                    <a:bodyPr/>
                    <a:lstStyle/>
                    <a:p>
                      <a:pPr algn="l"/>
                      <a:r>
                        <a:rPr sz="850" b="1">
                          <a:solidFill>
                            <a:srgbClr val="1A1A1A"/>
                          </a:solidFill>
                          <a:latin typeface="Versos"/>
                        </a:rPr>
                        <a:t>Locação de veículos</a:t>
                      </a:r>
                    </a:p>
                  </a:txBody>
                  <a:tcPr marL="43200" marR="43200" marT="0" marB="0">
                    <a:solidFill>
                      <a:srgbClr val="FFFFFF"/>
                    </a:solidFill>
                  </a:tcPr>
                </a:tc>
                <a:tc>
                  <a:txBody>
                    <a:bodyPr/>
                    <a:lstStyle/>
                    <a:p>
                      <a:pPr algn="r"/>
                      <a:r>
                        <a:rPr sz="850" b="0">
                          <a:solidFill>
                            <a:srgbClr val="1A1A1A"/>
                          </a:solidFill>
                          <a:latin typeface="Versos"/>
                        </a:rPr>
                        <a:t>1,8%</a:t>
                      </a:r>
                    </a:p>
                  </a:txBody>
                  <a:tcPr marL="43200" marR="43200" marT="0" marB="0">
                    <a:solidFill>
                      <a:srgbClr val="FFFFFF"/>
                    </a:solidFill>
                  </a:tcPr>
                </a:tc>
              </a:tr>
              <a:tr h="187200">
                <a:tc>
                  <a:txBody>
                    <a:bodyPr/>
                    <a:lstStyle/>
                    <a:p>
                      <a:pPr algn="l"/>
                      <a:r>
                        <a:rPr sz="850" b="1">
                          <a:solidFill>
                            <a:srgbClr val="1A1A1A"/>
                          </a:solidFill>
                          <a:latin typeface="Versos"/>
                        </a:rPr>
                        <a:t>Transporte e Logística</a:t>
                      </a:r>
                    </a:p>
                  </a:txBody>
                  <a:tcPr marL="43200" marR="43200" marT="0" marB="0">
                    <a:solidFill>
                      <a:srgbClr val="F4F7F9"/>
                    </a:solidFill>
                  </a:tcPr>
                </a:tc>
                <a:tc>
                  <a:txBody>
                    <a:bodyPr/>
                    <a:lstStyle/>
                    <a:p>
                      <a:pPr algn="r"/>
                      <a:r>
                        <a:rPr sz="850" b="0">
                          <a:solidFill>
                            <a:srgbClr val="1A1A1A"/>
                          </a:solidFill>
                          <a:latin typeface="Versos"/>
                        </a:rPr>
                        <a:t>1,6%</a:t>
                      </a:r>
                    </a:p>
                  </a:txBody>
                  <a:tcPr marL="43200" marR="43200" marT="0" marB="0">
                    <a:solidFill>
                      <a:srgbClr val="F4F7F9"/>
                    </a:solidFill>
                  </a:tcPr>
                </a:tc>
              </a:tr>
              <a:tr h="187200">
                <a:tc>
                  <a:txBody>
                    <a:bodyPr/>
                    <a:lstStyle/>
                    <a:p>
                      <a:pPr algn="l"/>
                      <a:r>
                        <a:rPr sz="850" b="1">
                          <a:solidFill>
                            <a:srgbClr val="1A1A1A"/>
                          </a:solidFill>
                          <a:latin typeface="Versos"/>
                        </a:rPr>
                        <a:t>Comércio atacadista e varejista</a:t>
                      </a:r>
                    </a:p>
                  </a:txBody>
                  <a:tcPr marL="43200" marR="43200" marT="0" marB="0">
                    <a:solidFill>
                      <a:srgbClr val="FFFFFF"/>
                    </a:solidFill>
                  </a:tcPr>
                </a:tc>
                <a:tc>
                  <a:txBody>
                    <a:bodyPr/>
                    <a:lstStyle/>
                    <a:p>
                      <a:pPr algn="r"/>
                      <a:r>
                        <a:rPr sz="850" b="0">
                          <a:solidFill>
                            <a:srgbClr val="1A1A1A"/>
                          </a:solidFill>
                          <a:latin typeface="Versos"/>
                        </a:rPr>
                        <a:t>1,4%</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39,1%</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19,8%</a:t>
                      </a:r>
                    </a:p>
                  </a:txBody>
                  <a:tcPr marL="43200" marR="43200" marT="0" marB="0">
                    <a:solidFill>
                      <a:srgbClr val="F4F7F9"/>
                    </a:solidFill>
                  </a:tcPr>
                </a:tc>
                <a:tc>
                  <a:txBody>
                    <a:bodyPr/>
                    <a:lstStyle/>
                    <a:p>
                      <a:pPr algn="r"/>
                      <a:r>
                        <a:rPr sz="850" b="0">
                          <a:solidFill>
                            <a:srgbClr val="1A1A1A"/>
                          </a:solidFill>
                          <a:latin typeface="Versos"/>
                        </a:rPr>
                        <a:t>3,8%</a:t>
                      </a:r>
                    </a:p>
                  </a:txBody>
                  <a:tcPr marL="43200" marR="43200" marT="0" marB="0">
                    <a:solidFill>
                      <a:srgbClr val="F4F7F9"/>
                    </a:solidFill>
                  </a:tcPr>
                </a:tc>
                <a:tc>
                  <a:txBody>
                    <a:bodyPr/>
                    <a:lstStyle/>
                    <a:p>
                      <a:pPr algn="r"/>
                      <a:r>
                        <a:rPr sz="850" b="0">
                          <a:solidFill>
                            <a:srgbClr val="1A1A1A"/>
                          </a:solidFill>
                          <a:latin typeface="Versos"/>
                        </a:rPr>
                        <a:t>2,2%</a:t>
                      </a:r>
                    </a:p>
                  </a:txBody>
                  <a:tcPr marL="43200" marR="43200" marT="0" marB="0">
                    <a:solidFill>
                      <a:srgbClr val="F4F7F9"/>
                    </a:solidFill>
                  </a:tcPr>
                </a:tc>
                <a:tc>
                  <a:txBody>
                    <a:bodyPr/>
                    <a:lstStyle/>
                    <a:p>
                      <a:pPr algn="r"/>
                      <a:r>
                        <a:rPr sz="850" b="0">
                          <a:solidFill>
                            <a:srgbClr val="1A1A1A"/>
                          </a:solidFill>
                          <a:latin typeface="Versos"/>
                        </a:rPr>
                        <a:t>1,8%</a:t>
                      </a:r>
                    </a:p>
                  </a:txBody>
                  <a:tcPr marL="43200" marR="43200" marT="0" marB="0">
                    <a:solidFill>
                      <a:srgbClr val="F4F7F9"/>
                    </a:solidFill>
                  </a:tcPr>
                </a:tc>
                <a:tc>
                  <a:txBody>
                    <a:bodyPr/>
                    <a:lstStyle/>
                    <a:p>
                      <a:pPr algn="r"/>
                      <a:r>
                        <a:rPr sz="850" b="0">
                          <a:solidFill>
                            <a:srgbClr val="1A1A1A"/>
                          </a:solidFill>
                          <a:latin typeface="Versos"/>
                        </a:rPr>
                        <a:t>1,3%</a:t>
                      </a:r>
                    </a:p>
                  </a:txBody>
                  <a:tcPr marL="43200" marR="43200" marT="0" marB="0">
                    <a:solidFill>
                      <a:srgbClr val="F4F7F9"/>
                    </a:solidFill>
                  </a:tcPr>
                </a:tc>
                <a:tc>
                  <a:txBody>
                    <a:bodyPr/>
                    <a:lstStyle/>
                    <a:p>
                      <a:pPr algn="r"/>
                      <a:r>
                        <a:rPr sz="850" b="0">
                          <a:solidFill>
                            <a:srgbClr val="1A1A1A"/>
                          </a:solidFill>
                          <a:latin typeface="Versos"/>
                        </a:rPr>
                        <a:t>0,8%</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RF CP</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a:p>
            <a:pPr algn="l"/>
            <a:r>
              <a:rPr sz="900" b="0">
                <a:solidFill>
                  <a:srgbClr val="1A1A1A"/>
                </a:solidFill>
                <a:latin typeface="Versos"/>
              </a:rPr>
              <a:t/>
            </a:r>
          </a:p>
          <a:p>
            <a:pPr algn="l"/>
            <a:r>
              <a:rPr sz="900" b="0">
                <a:solidFill>
                  <a:srgbClr val="1A1A1A"/>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a:p>
            <a:pPr algn="l"/>
            <a:r>
              <a:rPr sz="900" b="0">
                <a:solidFill>
                  <a:srgbClr val="1A1A1A"/>
                </a:solidFill>
                <a:latin typeface="Versos"/>
              </a:rPr>
              <a:t/>
            </a:r>
          </a:p>
          <a:p>
            <a:pPr algn="l"/>
            <a:r>
              <a:rPr sz="900" b="0">
                <a:solidFill>
                  <a:srgbClr val="1A1A1A"/>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a:p>
            <a:pPr algn="l"/>
            <a:r>
              <a:rPr sz="900" b="0">
                <a:solidFill>
                  <a:srgbClr val="1A1A1A"/>
                </a:solidFill>
                <a:latin typeface="Versos"/>
              </a:rPr>
              <a:t/>
            </a:r>
          </a:p>
          <a:p>
            <a:pPr algn="l"/>
            <a:r>
              <a:rPr sz="900" b="0">
                <a:solidFill>
                  <a:srgbClr val="1A1A1A"/>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a:p>
            <a:pPr algn="l"/>
            <a:r>
              <a:rPr sz="900" b="0">
                <a:solidFill>
                  <a:srgbClr val="1A1A1A"/>
                </a:solidFill>
                <a:latin typeface="Versos"/>
              </a:rPr>
              <a:t/>
            </a:r>
          </a:p>
          <a:p>
            <a:pPr algn="l"/>
            <a:r>
              <a:rPr sz="900" b="0">
                <a:solidFill>
                  <a:srgbClr val="1A1A1A"/>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a:p>
            <a:pPr algn="l"/>
            <a:r>
              <a:rPr sz="900" b="0">
                <a:solidFill>
                  <a:srgbClr val="1A1A1A"/>
                </a:solidFill>
                <a:latin typeface="Versos"/>
              </a:rPr>
              <a:t/>
            </a:r>
          </a:p>
          <a:p>
            <a:pPr algn="l"/>
            <a:r>
              <a:rPr sz="900" b="0">
                <a:solidFill>
                  <a:srgbClr val="1A1A1A"/>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a:p>
            <a:pPr algn="l"/>
            <a:r>
              <a:rPr sz="900" b="0">
                <a:solidFill>
                  <a:srgbClr val="1A1A1A"/>
                </a:solidFill>
                <a:latin typeface="Versos"/>
              </a:rPr>
              <a:t/>
            </a:r>
          </a:p>
          <a:p>
            <a:pPr algn="l"/>
            <a:r>
              <a:rPr sz="900" b="0">
                <a:solidFill>
                  <a:srgbClr val="1A1A1A"/>
                </a:solidFill>
                <a:latin typeface="Versos"/>
              </a:rPr>
              <a:t>Nesse cenário, o Tivio RF CP apresentou rentabilidade de 1,12% no mês (102% do CDI), acumulando 8,59% (92% do CDI) no ano. Na parcela de corporativos, os maiores atribuidores de resultado foram para Randon e Tupy, enquanto Hapvida foi o maior detrator.</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RF CP</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MERCADO DE CRÉDITO</a:t>
            </a:r>
          </a:p>
        </p:txBody>
      </p:sp>
      <p:graphicFrame>
        <p:nvGraphicFramePr>
          <p:cNvPr id="7" name="Table 6"/>
          <p:cNvGraphicFramePr>
            <a:graphicFrameLocks noGrp="1"/>
          </p:cNvGraphicFramePr>
          <p:nvPr/>
        </p:nvGraphicFramePr>
        <p:xfrm>
          <a:off x="540000" y="1584000"/>
          <a:ext cx="6479996" cy="4140000"/>
        </p:xfrm>
        <a:graphic>
          <a:graphicData uri="http://schemas.openxmlformats.org/drawingml/2006/table">
            <a:tbl>
              <a:tblPr firstRow="1" bandRow="1">
                <a:tableStyleId>{5C22544A-7EE6-4342-B048-85BDC9FD1C3A}</a:tableStyleId>
              </a:tblPr>
              <a:tblGrid>
                <a:gridCol w="2098285"/>
                <a:gridCol w="802285"/>
                <a:gridCol w="617142"/>
                <a:gridCol w="740571"/>
                <a:gridCol w="925714"/>
                <a:gridCol w="678857"/>
                <a:gridCol w="617142"/>
              </a:tblGrid>
              <a:tr h="165600">
                <a:tc>
                  <a:txBody>
                    <a:bodyPr/>
                    <a:lstStyle/>
                    <a:p>
                      <a:pPr algn="l"/>
                      <a:r>
                        <a:rPr sz="850" b="1">
                          <a:solidFill>
                            <a:srgbClr val="FFFFFF"/>
                          </a:solidFill>
                          <a:latin typeface="Versos"/>
                        </a:rPr>
                        <a:t>Setor</a:t>
                      </a:r>
                    </a:p>
                  </a:txBody>
                  <a:tcPr marL="43200" marR="43200" marT="0" marB="0">
                    <a:solidFill>
                      <a:srgbClr val="3C4A60"/>
                    </a:solidFill>
                  </a:tcPr>
                </a:tc>
                <a:tc>
                  <a:txBody>
                    <a:bodyPr/>
                    <a:lstStyle/>
                    <a:p>
                      <a:pPr algn="r"/>
                      <a:r>
                        <a:rPr sz="850" b="1">
                          <a:solidFill>
                            <a:srgbClr val="FFFFFF"/>
                          </a:solidFill>
                          <a:latin typeface="Versos"/>
                        </a:rPr>
                        <a:t>Volume (R$ MM)</a:t>
                      </a:r>
                    </a:p>
                  </a:txBody>
                  <a:tcPr marL="43200" marR="43200" marT="0" marB="0">
                    <a:solidFill>
                      <a:srgbClr val="3C4A60"/>
                    </a:solidFill>
                  </a:tcPr>
                </a:tc>
                <a:tc>
                  <a:txBody>
                    <a:bodyPr/>
                    <a:lstStyle/>
                    <a:p>
                      <a:pPr algn="r"/>
                      <a:r>
                        <a:rPr sz="850" b="1">
                          <a:solidFill>
                            <a:srgbClr val="FFFFFF"/>
                          </a:solidFill>
                          <a:latin typeface="Versos"/>
                        </a:rPr>
                        <a:t>%</a:t>
                      </a:r>
                    </a:p>
                  </a:txBody>
                  <a:tcPr marL="43200" marR="43200" marT="0" marB="0">
                    <a:solidFill>
                      <a:srgbClr val="3C4A60"/>
                    </a:solidFill>
                  </a:tcPr>
                </a:tc>
                <a:tc>
                  <a:txBody>
                    <a:bodyPr/>
                    <a:lstStyle/>
                    <a:p>
                      <a:pPr algn="r"/>
                      <a:r>
                        <a:rPr sz="850" b="1">
                          <a:solidFill>
                            <a:srgbClr val="FFFFFF"/>
                          </a:solidFill>
                          <a:latin typeface="Versos"/>
                        </a:rPr>
                        <a:t>Spread Atual</a:t>
                      </a:r>
                    </a:p>
                  </a:txBody>
                  <a:tcPr marL="43200" marR="43200" marT="0" marB="0">
                    <a:solidFill>
                      <a:srgbClr val="3C4A60"/>
                    </a:solidFill>
                  </a:tcPr>
                </a:tc>
                <a:tc>
                  <a:txBody>
                    <a:bodyPr/>
                    <a:lstStyle/>
                    <a:p>
                      <a:pPr algn="r"/>
                      <a:r>
                        <a:rPr sz="850" b="1">
                          <a:solidFill>
                            <a:srgbClr val="FFFFFF"/>
                          </a:solidFill>
                          <a:latin typeface="Versos"/>
                        </a:rPr>
                        <a:t>Spread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Duration</a:t>
                      </a:r>
                    </a:p>
                  </a:txBody>
                  <a:tcPr marL="43200" marR="43200" marT="0" marB="0">
                    <a:solidFill>
                      <a:srgbClr val="3C4A60"/>
                    </a:solidFill>
                  </a:tcPr>
                </a:tc>
              </a:tr>
              <a:tr h="1656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108.945</a:t>
                      </a:r>
                    </a:p>
                  </a:txBody>
                  <a:tcPr marL="43200" marR="43200" marT="0" marB="0">
                    <a:solidFill>
                      <a:srgbClr val="F4F7F9"/>
                    </a:solidFill>
                  </a:tcPr>
                </a:tc>
                <a:tc>
                  <a:txBody>
                    <a:bodyPr/>
                    <a:lstStyle/>
                    <a:p>
                      <a:pPr algn="r"/>
                      <a:r>
                        <a:rPr sz="850" b="0">
                          <a:solidFill>
                            <a:srgbClr val="1A1A1A"/>
                          </a:solidFill>
                          <a:latin typeface="Versos"/>
                        </a:rPr>
                        <a:t>24,57%</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2,72</a:t>
                      </a:r>
                    </a:p>
                  </a:txBody>
                  <a:tcPr marL="43200" marR="43200" marT="0" marB="0">
                    <a:solidFill>
                      <a:srgbClr val="F4F7F9"/>
                    </a:solidFill>
                  </a:tcPr>
                </a:tc>
              </a:tr>
              <a:tr h="165600">
                <a:tc>
                  <a:txBody>
                    <a:bodyPr/>
                    <a:lstStyle/>
                    <a:p>
                      <a:pPr algn="l"/>
                      <a:r>
                        <a:rPr sz="850" b="1">
                          <a:solidFill>
                            <a:srgbClr val="1A1A1A"/>
                          </a:solidFill>
                          <a:latin typeface="Versos"/>
                        </a:rPr>
                        <a:t>Assistência médica</a:t>
                      </a:r>
                    </a:p>
                  </a:txBody>
                  <a:tcPr marL="43200" marR="43200" marT="0" marB="0">
                    <a:solidFill>
                      <a:srgbClr val="FFFFFF"/>
                    </a:solidFill>
                  </a:tcPr>
                </a:tc>
                <a:tc>
                  <a:txBody>
                    <a:bodyPr/>
                    <a:lstStyle/>
                    <a:p>
                      <a:pPr algn="r"/>
                      <a:r>
                        <a:rPr sz="850" b="0">
                          <a:solidFill>
                            <a:srgbClr val="1A1A1A"/>
                          </a:solidFill>
                          <a:latin typeface="Versos"/>
                        </a:rPr>
                        <a:t>43.410</a:t>
                      </a:r>
                    </a:p>
                  </a:txBody>
                  <a:tcPr marL="43200" marR="43200" marT="0" marB="0">
                    <a:solidFill>
                      <a:srgbClr val="FFFFFF"/>
                    </a:solidFill>
                  </a:tcPr>
                </a:tc>
                <a:tc>
                  <a:txBody>
                    <a:bodyPr/>
                    <a:lstStyle/>
                    <a:p>
                      <a:pPr algn="r"/>
                      <a:r>
                        <a:rPr sz="850" b="0">
                          <a:solidFill>
                            <a:srgbClr val="1A1A1A"/>
                          </a:solidFill>
                          <a:latin typeface="Versos"/>
                        </a:rPr>
                        <a:t>9,79%</a:t>
                      </a:r>
                    </a:p>
                  </a:txBody>
                  <a:tcPr marL="43200" marR="43200" marT="0" marB="0">
                    <a:solidFill>
                      <a:srgbClr val="FFFFFF"/>
                    </a:solidFill>
                  </a:tcPr>
                </a:tc>
                <a:tc>
                  <a:txBody>
                    <a:bodyPr/>
                    <a:lstStyle/>
                    <a:p>
                      <a:pPr algn="r"/>
                      <a:r>
                        <a:rPr sz="850" b="0">
                          <a:solidFill>
                            <a:srgbClr val="1A1A1A"/>
                          </a:solidFill>
                          <a:latin typeface="Versos"/>
                        </a:rPr>
                        <a:t>2,55%</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0,32%</a:t>
                      </a:r>
                    </a:p>
                  </a:txBody>
                  <a:tcPr marL="43200" marR="43200" marT="0" marB="0">
                    <a:solidFill>
                      <a:srgbClr val="FFFFFF"/>
                    </a:solidFill>
                  </a:tcPr>
                </a:tc>
                <a:tc>
                  <a:txBody>
                    <a:bodyPr/>
                    <a:lstStyle/>
                    <a:p>
                      <a:pPr algn="r"/>
                      <a:r>
                        <a:rPr sz="850" b="0">
                          <a:solidFill>
                            <a:srgbClr val="1A1A1A"/>
                          </a:solidFill>
                          <a:latin typeface="Versos"/>
                        </a:rPr>
                        <a:t>3,34</a:t>
                      </a:r>
                    </a:p>
                  </a:txBody>
                  <a:tcPr marL="43200" marR="43200" marT="0" marB="0">
                    <a:solidFill>
                      <a:srgbClr val="FFFFFF"/>
                    </a:solidFill>
                  </a:tcPr>
                </a:tc>
              </a:tr>
              <a:tr h="1656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39.943</a:t>
                      </a:r>
                    </a:p>
                  </a:txBody>
                  <a:tcPr marL="43200" marR="43200" marT="0" marB="0">
                    <a:solidFill>
                      <a:srgbClr val="F4F7F9"/>
                    </a:solidFill>
                  </a:tcPr>
                </a:tc>
                <a:tc>
                  <a:txBody>
                    <a:bodyPr/>
                    <a:lstStyle/>
                    <a:p>
                      <a:pPr algn="r"/>
                      <a:r>
                        <a:rPr sz="850" b="0">
                          <a:solidFill>
                            <a:srgbClr val="1A1A1A"/>
                          </a:solidFill>
                          <a:latin typeface="Versos"/>
                        </a:rPr>
                        <a:t>9,01%</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1,67%</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2,71</a:t>
                      </a:r>
                    </a:p>
                  </a:txBody>
                  <a:tcPr marL="43200" marR="43200" marT="0" marB="0">
                    <a:solidFill>
                      <a:srgbClr val="F4F7F9"/>
                    </a:solidFill>
                  </a:tcPr>
                </a:tc>
              </a:tr>
              <a:tr h="165600">
                <a:tc>
                  <a:txBody>
                    <a:bodyPr/>
                    <a:lstStyle/>
                    <a:p>
                      <a:pPr algn="l"/>
                      <a:r>
                        <a:rPr sz="850" b="1">
                          <a:solidFill>
                            <a:srgbClr val="1A1A1A"/>
                          </a:solidFill>
                          <a:latin typeface="Versos"/>
                        </a:rPr>
                        <a:t>Locação de veículos</a:t>
                      </a:r>
                    </a:p>
                  </a:txBody>
                  <a:tcPr marL="43200" marR="43200" marT="0" marB="0">
                    <a:solidFill>
                      <a:srgbClr val="FFFFFF"/>
                    </a:solidFill>
                  </a:tcPr>
                </a:tc>
                <a:tc>
                  <a:txBody>
                    <a:bodyPr/>
                    <a:lstStyle/>
                    <a:p>
                      <a:pPr algn="r"/>
                      <a:r>
                        <a:rPr sz="850" b="0">
                          <a:solidFill>
                            <a:srgbClr val="1A1A1A"/>
                          </a:solidFill>
                          <a:latin typeface="Versos"/>
                        </a:rPr>
                        <a:t>33.800</a:t>
                      </a:r>
                    </a:p>
                  </a:txBody>
                  <a:tcPr marL="43200" marR="43200" marT="0" marB="0">
                    <a:solidFill>
                      <a:srgbClr val="FFFFFF"/>
                    </a:solidFill>
                  </a:tcPr>
                </a:tc>
                <a:tc>
                  <a:txBody>
                    <a:bodyPr/>
                    <a:lstStyle/>
                    <a:p>
                      <a:pPr algn="r"/>
                      <a:r>
                        <a:rPr sz="850" b="0">
                          <a:solidFill>
                            <a:srgbClr val="1A1A1A"/>
                          </a:solidFill>
                          <a:latin typeface="Versos"/>
                        </a:rPr>
                        <a:t>7,62%</a:t>
                      </a:r>
                    </a:p>
                  </a:txBody>
                  <a:tcPr marL="43200" marR="43200" marT="0" marB="0">
                    <a:solidFill>
                      <a:srgbClr val="FFFFFF"/>
                    </a:solidFill>
                  </a:tcPr>
                </a:tc>
                <a:tc>
                  <a:txBody>
                    <a:bodyPr/>
                    <a:lstStyle/>
                    <a:p>
                      <a:pPr algn="r"/>
                      <a:r>
                        <a:rPr sz="850" b="0">
                          <a:solidFill>
                            <a:srgbClr val="1A1A1A"/>
                          </a:solidFill>
                          <a:latin typeface="Versos"/>
                        </a:rPr>
                        <a:t>1,62%</a:t>
                      </a:r>
                    </a:p>
                  </a:txBody>
                  <a:tcPr marL="43200" marR="43200" marT="0" marB="0">
                    <a:solidFill>
                      <a:srgbClr val="FFFFFF"/>
                    </a:solidFill>
                  </a:tcPr>
                </a:tc>
                <a:tc>
                  <a:txBody>
                    <a:bodyPr/>
                    <a:lstStyle/>
                    <a:p>
                      <a:pPr algn="r"/>
                      <a:r>
                        <a:rPr sz="850" b="0">
                          <a:solidFill>
                            <a:srgbClr val="1A1A1A"/>
                          </a:solidFill>
                          <a:latin typeface="Versos"/>
                        </a:rPr>
                        <a:t>1,65%</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2,37</a:t>
                      </a:r>
                    </a:p>
                  </a:txBody>
                  <a:tcPr marL="43200" marR="43200" marT="0" marB="0">
                    <a:solidFill>
                      <a:srgbClr val="FFFFFF"/>
                    </a:solidFill>
                  </a:tcPr>
                </a:tc>
              </a:tr>
              <a:tr h="165600">
                <a:tc>
                  <a:txBody>
                    <a:bodyPr/>
                    <a:lstStyle/>
                    <a:p>
                      <a:pPr algn="l"/>
                      <a:r>
                        <a:rPr sz="850" b="1">
                          <a:solidFill>
                            <a:srgbClr val="1A1A1A"/>
                          </a:solidFill>
                          <a:latin typeface="Versos"/>
                        </a:rPr>
                        <a:t>Petróleo e gás</a:t>
                      </a:r>
                    </a:p>
                  </a:txBody>
                  <a:tcPr marL="43200" marR="43200" marT="0" marB="0">
                    <a:solidFill>
                      <a:srgbClr val="F4F7F9"/>
                    </a:solidFill>
                  </a:tcPr>
                </a:tc>
                <a:tc>
                  <a:txBody>
                    <a:bodyPr/>
                    <a:lstStyle/>
                    <a:p>
                      <a:pPr algn="r"/>
                      <a:r>
                        <a:rPr sz="850" b="0">
                          <a:solidFill>
                            <a:srgbClr val="1A1A1A"/>
                          </a:solidFill>
                          <a:latin typeface="Versos"/>
                        </a:rPr>
                        <a:t>33.070</a:t>
                      </a:r>
                    </a:p>
                  </a:txBody>
                  <a:tcPr marL="43200" marR="43200" marT="0" marB="0">
                    <a:solidFill>
                      <a:srgbClr val="F4F7F9"/>
                    </a:solidFill>
                  </a:tcPr>
                </a:tc>
                <a:tc>
                  <a:txBody>
                    <a:bodyPr/>
                    <a:lstStyle/>
                    <a:p>
                      <a:pPr algn="r"/>
                      <a:r>
                        <a:rPr sz="850" b="0">
                          <a:solidFill>
                            <a:srgbClr val="1A1A1A"/>
                          </a:solidFill>
                          <a:latin typeface="Versos"/>
                        </a:rPr>
                        <a:t>7,46%</a:t>
                      </a:r>
                    </a:p>
                  </a:txBody>
                  <a:tcPr marL="43200" marR="43200" marT="0" marB="0">
                    <a:solidFill>
                      <a:srgbClr val="F4F7F9"/>
                    </a:solidFill>
                  </a:tcPr>
                </a:tc>
                <a:tc>
                  <a:txBody>
                    <a:bodyPr/>
                    <a:lstStyle/>
                    <a:p>
                      <a:pPr algn="r"/>
                      <a:r>
                        <a:rPr sz="850" b="0">
                          <a:solidFill>
                            <a:srgbClr val="1A1A1A"/>
                          </a:solidFill>
                          <a:latin typeface="Versos"/>
                        </a:rPr>
                        <a:t>0,80%</a:t>
                      </a:r>
                    </a:p>
                  </a:txBody>
                  <a:tcPr marL="43200" marR="43200" marT="0" marB="0">
                    <a:solidFill>
                      <a:srgbClr val="F4F7F9"/>
                    </a:solidFill>
                  </a:tcPr>
                </a:tc>
                <a:tc>
                  <a:txBody>
                    <a:bodyPr/>
                    <a:lstStyle/>
                    <a:p>
                      <a:pPr algn="r"/>
                      <a:r>
                        <a:rPr sz="850" b="0">
                          <a:solidFill>
                            <a:srgbClr val="1A1A1A"/>
                          </a:solidFill>
                          <a:latin typeface="Versos"/>
                        </a:rPr>
                        <a:t>0,82%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2,83</a:t>
                      </a:r>
                    </a:p>
                  </a:txBody>
                  <a:tcPr marL="43200" marR="43200" marT="0" marB="0">
                    <a:solidFill>
                      <a:srgbClr val="F4F7F9"/>
                    </a:solidFill>
                  </a:tcPr>
                </a:tc>
              </a:tr>
              <a:tr h="1656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29.782</a:t>
                      </a:r>
                    </a:p>
                  </a:txBody>
                  <a:tcPr marL="43200" marR="43200" marT="0" marB="0">
                    <a:solidFill>
                      <a:srgbClr val="FFFFFF"/>
                    </a:solidFill>
                  </a:tcPr>
                </a:tc>
                <a:tc>
                  <a:txBody>
                    <a:bodyPr/>
                    <a:lstStyle/>
                    <a:p>
                      <a:pPr algn="r"/>
                      <a:r>
                        <a:rPr sz="850" b="0">
                          <a:solidFill>
                            <a:srgbClr val="1A1A1A"/>
                          </a:solidFill>
                          <a:latin typeface="Versos"/>
                        </a:rPr>
                        <a:t>6,72%</a:t>
                      </a:r>
                    </a:p>
                  </a:txBody>
                  <a:tcPr marL="43200" marR="43200" marT="0" marB="0">
                    <a:solidFill>
                      <a:srgbClr val="FFFFFF"/>
                    </a:solidFill>
                  </a:tcPr>
                </a:tc>
                <a:tc>
                  <a:txBody>
                    <a:bodyPr/>
                    <a:lstStyle/>
                    <a:p>
                      <a:pPr algn="r"/>
                      <a:r>
                        <a:rPr sz="850" b="0">
                          <a:solidFill>
                            <a:srgbClr val="1A1A1A"/>
                          </a:solidFill>
                          <a:latin typeface="Versos"/>
                        </a:rPr>
                        <a:t>1,34%</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0,08%</a:t>
                      </a:r>
                    </a:p>
                  </a:txBody>
                  <a:tcPr marL="43200" marR="43200" marT="0" marB="0">
                    <a:solidFill>
                      <a:srgbClr val="FFFFFF"/>
                    </a:solidFill>
                  </a:tcPr>
                </a:tc>
                <a:tc>
                  <a:txBody>
                    <a:bodyPr/>
                    <a:lstStyle/>
                    <a:p>
                      <a:pPr algn="r"/>
                      <a:r>
                        <a:rPr sz="850" b="0">
                          <a:solidFill>
                            <a:srgbClr val="1A1A1A"/>
                          </a:solidFill>
                          <a:latin typeface="Versos"/>
                        </a:rPr>
                        <a:t>2,72</a:t>
                      </a:r>
                    </a:p>
                  </a:txBody>
                  <a:tcPr marL="43200" marR="43200" marT="0" marB="0">
                    <a:solidFill>
                      <a:srgbClr val="FFFFFF"/>
                    </a:solidFill>
                  </a:tcPr>
                </a:tc>
              </a:tr>
              <a:tr h="165600">
                <a:tc>
                  <a:txBody>
                    <a:bodyPr/>
                    <a:lstStyle/>
                    <a:p>
                      <a:pPr algn="l"/>
                      <a:r>
                        <a:rPr sz="850" b="1">
                          <a:solidFill>
                            <a:srgbClr val="1A1A1A"/>
                          </a:solidFill>
                          <a:latin typeface="Versos"/>
                        </a:rPr>
                        <a:t>Comércio atacadista e varejista</a:t>
                      </a:r>
                    </a:p>
                  </a:txBody>
                  <a:tcPr marL="43200" marR="43200" marT="0" marB="0">
                    <a:solidFill>
                      <a:srgbClr val="F4F7F9"/>
                    </a:solidFill>
                  </a:tcPr>
                </a:tc>
                <a:tc>
                  <a:txBody>
                    <a:bodyPr/>
                    <a:lstStyle/>
                    <a:p>
                      <a:pPr algn="r"/>
                      <a:r>
                        <a:rPr sz="850" b="0">
                          <a:solidFill>
                            <a:srgbClr val="1A1A1A"/>
                          </a:solidFill>
                          <a:latin typeface="Versos"/>
                        </a:rPr>
                        <a:t>26.963</a:t>
                      </a:r>
                    </a:p>
                  </a:txBody>
                  <a:tcPr marL="43200" marR="43200" marT="0" marB="0">
                    <a:solidFill>
                      <a:srgbClr val="F4F7F9"/>
                    </a:solidFill>
                  </a:tcPr>
                </a:tc>
                <a:tc>
                  <a:txBody>
                    <a:bodyPr/>
                    <a:lstStyle/>
                    <a:p>
                      <a:pPr algn="r"/>
                      <a:r>
                        <a:rPr sz="850" b="0">
                          <a:solidFill>
                            <a:srgbClr val="1A1A1A"/>
                          </a:solidFill>
                          <a:latin typeface="Versos"/>
                        </a:rPr>
                        <a:t>6,08%</a:t>
                      </a:r>
                    </a:p>
                  </a:txBody>
                  <a:tcPr marL="43200" marR="43200" marT="0" marB="0">
                    <a:solidFill>
                      <a:srgbClr val="F4F7F9"/>
                    </a:solidFill>
                  </a:tcPr>
                </a:tc>
                <a:tc>
                  <a:txBody>
                    <a:bodyPr/>
                    <a:lstStyle/>
                    <a:p>
                      <a:pPr algn="r"/>
                      <a:r>
                        <a:rPr sz="850" b="0">
                          <a:solidFill>
                            <a:srgbClr val="1A1A1A"/>
                          </a:solidFill>
                          <a:latin typeface="Versos"/>
                        </a:rPr>
                        <a:t>1,34%</a:t>
                      </a:r>
                    </a:p>
                  </a:txBody>
                  <a:tcPr marL="43200" marR="43200" marT="0" marB="0">
                    <a:solidFill>
                      <a:srgbClr val="F4F7F9"/>
                    </a:solidFill>
                  </a:tcPr>
                </a:tc>
                <a:tc>
                  <a:txBody>
                    <a:bodyPr/>
                    <a:lstStyle/>
                    <a:p>
                      <a:pPr algn="r"/>
                      <a:r>
                        <a:rPr sz="850" b="0">
                          <a:solidFill>
                            <a:srgbClr val="1A1A1A"/>
                          </a:solidFill>
                          <a:latin typeface="Versos"/>
                        </a:rPr>
                        <a:t>1,32%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2,35</a:t>
                      </a:r>
                    </a:p>
                  </a:txBody>
                  <a:tcPr marL="43200" marR="43200" marT="0" marB="0">
                    <a:solidFill>
                      <a:srgbClr val="F4F7F9"/>
                    </a:solidFill>
                  </a:tcPr>
                </a:tc>
              </a:tr>
              <a:tr h="1656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23.678</a:t>
                      </a:r>
                    </a:p>
                  </a:txBody>
                  <a:tcPr marL="43200" marR="43200" marT="0" marB="0">
                    <a:solidFill>
                      <a:srgbClr val="FFFFFF"/>
                    </a:solidFill>
                  </a:tcPr>
                </a:tc>
                <a:tc>
                  <a:txBody>
                    <a:bodyPr/>
                    <a:lstStyle/>
                    <a:p>
                      <a:pPr algn="r"/>
                      <a:r>
                        <a:rPr sz="850" b="0">
                          <a:solidFill>
                            <a:srgbClr val="1A1A1A"/>
                          </a:solidFill>
                          <a:latin typeface="Versos"/>
                        </a:rPr>
                        <a:t>5,34%</a:t>
                      </a:r>
                    </a:p>
                  </a:txBody>
                  <a:tcPr marL="43200" marR="43200" marT="0" marB="0">
                    <a:solidFill>
                      <a:srgbClr val="FFFFFF"/>
                    </a:solidFill>
                  </a:tcPr>
                </a:tc>
                <a:tc>
                  <a:txBody>
                    <a:bodyPr/>
                    <a:lstStyle/>
                    <a:p>
                      <a:pPr algn="r"/>
                      <a:r>
                        <a:rPr sz="850" b="0">
                          <a:solidFill>
                            <a:srgbClr val="1A1A1A"/>
                          </a:solidFill>
                          <a:latin typeface="Versos"/>
                        </a:rPr>
                        <a:t>0,45%</a:t>
                      </a:r>
                    </a:p>
                  </a:txBody>
                  <a:tcPr marL="43200" marR="43200" marT="0" marB="0">
                    <a:solidFill>
                      <a:srgbClr val="FFFFFF"/>
                    </a:solidFill>
                  </a:tcPr>
                </a:tc>
                <a:tc>
                  <a:txBody>
                    <a:bodyPr/>
                    <a:lstStyle/>
                    <a:p>
                      <a:pPr algn="r"/>
                      <a:r>
                        <a:rPr sz="850" b="0">
                          <a:solidFill>
                            <a:srgbClr val="1A1A1A"/>
                          </a:solidFill>
                          <a:latin typeface="Versos"/>
                        </a:rPr>
                        <a:t>0,46%</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1,97</a:t>
                      </a:r>
                    </a:p>
                  </a:txBody>
                  <a:tcPr marL="43200" marR="43200" marT="0" marB="0">
                    <a:solidFill>
                      <a:srgbClr val="FFFFFF"/>
                    </a:solidFill>
                  </a:tcPr>
                </a:tc>
              </a:tr>
              <a:tr h="165600">
                <a:tc>
                  <a:txBody>
                    <a:bodyPr/>
                    <a:lstStyle/>
                    <a:p>
                      <a:pPr algn="l"/>
                      <a:r>
                        <a:rPr sz="850" b="1">
                          <a:solidFill>
                            <a:srgbClr val="1A1A1A"/>
                          </a:solidFill>
                          <a:latin typeface="Versos"/>
                        </a:rPr>
                        <a:t>Indústria e comércio</a:t>
                      </a:r>
                    </a:p>
                  </a:txBody>
                  <a:tcPr marL="43200" marR="43200" marT="0" marB="0">
                    <a:solidFill>
                      <a:srgbClr val="F4F7F9"/>
                    </a:solidFill>
                  </a:tcPr>
                </a:tc>
                <a:tc>
                  <a:txBody>
                    <a:bodyPr/>
                    <a:lstStyle/>
                    <a:p>
                      <a:pPr algn="r"/>
                      <a:r>
                        <a:rPr sz="850" b="0">
                          <a:solidFill>
                            <a:srgbClr val="1A1A1A"/>
                          </a:solidFill>
                          <a:latin typeface="Versos"/>
                        </a:rPr>
                        <a:t>22.210</a:t>
                      </a:r>
                    </a:p>
                  </a:txBody>
                  <a:tcPr marL="43200" marR="43200" marT="0" marB="0">
                    <a:solidFill>
                      <a:srgbClr val="F4F7F9"/>
                    </a:solidFill>
                  </a:tcPr>
                </a:tc>
                <a:tc>
                  <a:txBody>
                    <a:bodyPr/>
                    <a:lstStyle/>
                    <a:p>
                      <a:pPr algn="r"/>
                      <a:r>
                        <a:rPr sz="850" b="0">
                          <a:solidFill>
                            <a:srgbClr val="1A1A1A"/>
                          </a:solidFill>
                          <a:latin typeface="Versos"/>
                        </a:rPr>
                        <a:t>5,01%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2,58</a:t>
                      </a:r>
                    </a:p>
                  </a:txBody>
                  <a:tcPr marL="43200" marR="43200" marT="0" marB="0">
                    <a:solidFill>
                      <a:srgbClr val="F4F7F9"/>
                    </a:solidFill>
                  </a:tcPr>
                </a:tc>
              </a:tr>
              <a:tr h="165600">
                <a:tc>
                  <a:txBody>
                    <a:bodyPr/>
                    <a:lstStyle/>
                    <a:p>
                      <a:pPr algn="l"/>
                      <a:r>
                        <a:rPr sz="850" b="1">
                          <a:solidFill>
                            <a:srgbClr val="1A1A1A"/>
                          </a:solidFill>
                          <a:latin typeface="Versos"/>
                        </a:rPr>
                        <a:t>Ti e telecomunicações</a:t>
                      </a:r>
                    </a:p>
                  </a:txBody>
                  <a:tcPr marL="43200" marR="43200" marT="0" marB="0">
                    <a:solidFill>
                      <a:srgbClr val="FFFFFF"/>
                    </a:solidFill>
                  </a:tcPr>
                </a:tc>
                <a:tc>
                  <a:txBody>
                    <a:bodyPr/>
                    <a:lstStyle/>
                    <a:p>
                      <a:pPr algn="r"/>
                      <a:r>
                        <a:rPr sz="850" b="0">
                          <a:solidFill>
                            <a:srgbClr val="1A1A1A"/>
                          </a:solidFill>
                          <a:latin typeface="Versos"/>
                        </a:rPr>
                        <a:t>18.606</a:t>
                      </a:r>
                    </a:p>
                  </a:txBody>
                  <a:tcPr marL="43200" marR="43200" marT="0" marB="0">
                    <a:solidFill>
                      <a:srgbClr val="FFFFFF"/>
                    </a:solidFill>
                  </a:tcPr>
                </a:tc>
                <a:tc>
                  <a:txBody>
                    <a:bodyPr/>
                    <a:lstStyle/>
                    <a:p>
                      <a:pPr algn="r"/>
                      <a:r>
                        <a:rPr sz="850" b="0">
                          <a:solidFill>
                            <a:srgbClr val="1A1A1A"/>
                          </a:solidFill>
                          <a:latin typeface="Versos"/>
                        </a:rPr>
                        <a:t>4,20%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0,00%</a:t>
                      </a:r>
                    </a:p>
                  </a:txBody>
                  <a:tcPr marL="43200" marR="43200" marT="0" marB="0">
                    <a:solidFill>
                      <a:srgbClr val="FFFFFF"/>
                    </a:solidFill>
                  </a:tcPr>
                </a:tc>
                <a:tc>
                  <a:txBody>
                    <a:bodyPr/>
                    <a:lstStyle/>
                    <a:p>
                      <a:pPr algn="r"/>
                      <a:r>
                        <a:rPr sz="850" b="0">
                          <a:solidFill>
                            <a:srgbClr val="1A1A1A"/>
                          </a:solidFill>
                          <a:latin typeface="Versos"/>
                        </a:rPr>
                        <a:t>2,22</a:t>
                      </a:r>
                    </a:p>
                  </a:txBody>
                  <a:tcPr marL="43200" marR="43200" marT="0" marB="0">
                    <a:solidFill>
                      <a:srgbClr val="FFFFFF"/>
                    </a:solidFill>
                  </a:tcPr>
                </a:tc>
              </a:tr>
              <a:tr h="165600">
                <a:tc>
                  <a:txBody>
                    <a:bodyPr/>
                    <a:lstStyle/>
                    <a:p>
                      <a:pPr algn="l"/>
                      <a:r>
                        <a:rPr sz="850" b="1">
                          <a:solidFill>
                            <a:srgbClr val="1A1A1A"/>
                          </a:solidFill>
                          <a:latin typeface="Versos"/>
                        </a:rPr>
                        <a:t>Bioenergia</a:t>
                      </a:r>
                    </a:p>
                  </a:txBody>
                  <a:tcPr marL="43200" marR="43200" marT="0" marB="0">
                    <a:solidFill>
                      <a:srgbClr val="F4F7F9"/>
                    </a:solidFill>
                  </a:tcPr>
                </a:tc>
                <a:tc>
                  <a:txBody>
                    <a:bodyPr/>
                    <a:lstStyle/>
                    <a:p>
                      <a:pPr algn="r"/>
                      <a:r>
                        <a:rPr sz="850" b="0">
                          <a:solidFill>
                            <a:srgbClr val="1A1A1A"/>
                          </a:solidFill>
                          <a:latin typeface="Versos"/>
                        </a:rPr>
                        <a:t>9.534</a:t>
                      </a:r>
                    </a:p>
                  </a:txBody>
                  <a:tcPr marL="43200" marR="43200" marT="0" marB="0">
                    <a:solidFill>
                      <a:srgbClr val="F4F7F9"/>
                    </a:solidFill>
                  </a:tcPr>
                </a:tc>
                <a:tc>
                  <a:txBody>
                    <a:bodyPr/>
                    <a:lstStyle/>
                    <a:p>
                      <a:pPr algn="r"/>
                      <a:r>
                        <a:rPr sz="850" b="0">
                          <a:solidFill>
                            <a:srgbClr val="1A1A1A"/>
                          </a:solidFill>
                          <a:latin typeface="Versos"/>
                        </a:rPr>
                        <a:t>2,15%</a:t>
                      </a:r>
                    </a:p>
                  </a:txBody>
                  <a:tcPr marL="43200" marR="43200" marT="0" marB="0">
                    <a:solidFill>
                      <a:srgbClr val="F4F7F9"/>
                    </a:solidFill>
                  </a:tcPr>
                </a:tc>
                <a:tc>
                  <a:txBody>
                    <a:bodyPr/>
                    <a:lstStyle/>
                    <a:p>
                      <a:pPr algn="r"/>
                      <a:r>
                        <a:rPr sz="850" b="0">
                          <a:solidFill>
                            <a:srgbClr val="1A1A1A"/>
                          </a:solidFill>
                          <a:latin typeface="Versos"/>
                        </a:rPr>
                        <a:t>1,69%</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0,03%</a:t>
                      </a:r>
                    </a:p>
                  </a:txBody>
                  <a:tcPr marL="43200" marR="43200" marT="0" marB="0">
                    <a:solidFill>
                      <a:srgbClr val="F4F7F9"/>
                    </a:solidFill>
                  </a:tcPr>
                </a:tc>
                <a:tc>
                  <a:txBody>
                    <a:bodyPr/>
                    <a:lstStyle/>
                    <a:p>
                      <a:pPr algn="r"/>
                      <a:r>
                        <a:rPr sz="850" b="0">
                          <a:solidFill>
                            <a:srgbClr val="1A1A1A"/>
                          </a:solidFill>
                          <a:latin typeface="Versos"/>
                        </a:rPr>
                        <a:t>2,98</a:t>
                      </a:r>
                    </a:p>
                  </a:txBody>
                  <a:tcPr marL="43200" marR="43200" marT="0" marB="0">
                    <a:solidFill>
                      <a:srgbClr val="F4F7F9"/>
                    </a:solidFill>
                  </a:tcPr>
                </a:tc>
              </a:tr>
              <a:tr h="165600">
                <a:tc>
                  <a:txBody>
                    <a:bodyPr/>
                    <a:lstStyle/>
                    <a:p>
                      <a:pPr algn="l"/>
                      <a:r>
                        <a:rPr sz="850" b="1">
                          <a:solidFill>
                            <a:srgbClr val="1A1A1A"/>
                          </a:solidFill>
                          <a:latin typeface="Versos"/>
                        </a:rPr>
                        <a:t>Metalurgia e siderurgia</a:t>
                      </a:r>
                    </a:p>
                  </a:txBody>
                  <a:tcPr marL="43200" marR="43200" marT="0" marB="0">
                    <a:solidFill>
                      <a:srgbClr val="FFFFFF"/>
                    </a:solidFill>
                  </a:tcPr>
                </a:tc>
                <a:tc>
                  <a:txBody>
                    <a:bodyPr/>
                    <a:lstStyle/>
                    <a:p>
                      <a:pPr algn="r"/>
                      <a:r>
                        <a:rPr sz="850" b="0">
                          <a:solidFill>
                            <a:srgbClr val="1A1A1A"/>
                          </a:solidFill>
                          <a:latin typeface="Versos"/>
                        </a:rPr>
                        <a:t>9.897</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2,74</a:t>
                      </a:r>
                    </a:p>
                  </a:txBody>
                  <a:tcPr marL="43200" marR="43200" marT="0" marB="0">
                    <a:solidFill>
                      <a:srgbClr val="FFFFFF"/>
                    </a:solidFill>
                  </a:tcPr>
                </a:tc>
              </a:tr>
              <a:tr h="165600">
                <a:tc>
                  <a:txBody>
                    <a:bodyPr/>
                    <a:lstStyle/>
                    <a:p>
                      <a:pPr algn="l"/>
                      <a:r>
                        <a:rPr sz="850" b="1">
                          <a:solidFill>
                            <a:srgbClr val="1A1A1A"/>
                          </a:solidFill>
                          <a:latin typeface="Versos"/>
                        </a:rPr>
                        <a:t>Educação</a:t>
                      </a:r>
                    </a:p>
                  </a:txBody>
                  <a:tcPr marL="43200" marR="43200" marT="0" marB="0">
                    <a:solidFill>
                      <a:srgbClr val="F4F7F9"/>
                    </a:solidFill>
                  </a:tcPr>
                </a:tc>
                <a:tc>
                  <a:txBody>
                    <a:bodyPr/>
                    <a:lstStyle/>
                    <a:p>
                      <a:pPr algn="r"/>
                      <a:r>
                        <a:rPr sz="850" b="0">
                          <a:solidFill>
                            <a:srgbClr val="1A1A1A"/>
                          </a:solidFill>
                          <a:latin typeface="Versos"/>
                        </a:rPr>
                        <a:t>7.210</a:t>
                      </a:r>
                    </a:p>
                  </a:txBody>
                  <a:tcPr marL="43200" marR="43200" marT="0" marB="0">
                    <a:solidFill>
                      <a:srgbClr val="F4F7F9"/>
                    </a:solidFill>
                  </a:tcPr>
                </a:tc>
                <a:tc>
                  <a:txBody>
                    <a:bodyPr/>
                    <a:lstStyle/>
                    <a:p>
                      <a:pPr algn="r"/>
                      <a:r>
                        <a:rPr sz="850" b="0">
                          <a:solidFill>
                            <a:srgbClr val="1A1A1A"/>
                          </a:solidFill>
                          <a:latin typeface="Versos"/>
                        </a:rPr>
                        <a:t>1,63%</a:t>
                      </a:r>
                    </a:p>
                  </a:txBody>
                  <a:tcPr marL="43200" marR="43200" marT="0" marB="0">
                    <a:solidFill>
                      <a:srgbClr val="F4F7F9"/>
                    </a:solidFill>
                  </a:tcPr>
                </a:tc>
                <a:tc>
                  <a:txBody>
                    <a:bodyPr/>
                    <a:lstStyle/>
                    <a:p>
                      <a:pPr algn="r"/>
                      <a:r>
                        <a:rPr sz="850" b="0">
                          <a:solidFill>
                            <a:srgbClr val="1A1A1A"/>
                          </a:solidFill>
                          <a:latin typeface="Versos"/>
                        </a:rPr>
                        <a:t>1,13%</a:t>
                      </a:r>
                    </a:p>
                  </a:txBody>
                  <a:tcPr marL="43200" marR="43200" marT="0" marB="0">
                    <a:solidFill>
                      <a:srgbClr val="F4F7F9"/>
                    </a:solidFill>
                  </a:tcPr>
                </a:tc>
                <a:tc>
                  <a:txBody>
                    <a:bodyPr/>
                    <a:lstStyle/>
                    <a:p>
                      <a:pPr algn="r"/>
                      <a:r>
                        <a:rPr sz="850" b="0">
                          <a:solidFill>
                            <a:srgbClr val="1A1A1A"/>
                          </a:solidFill>
                          <a:latin typeface="Versos"/>
                        </a:rPr>
                        <a:t>1,17%</a:t>
                      </a:r>
                    </a:p>
                  </a:txBody>
                  <a:tcPr marL="43200" marR="43200" marT="0" marB="0">
                    <a:solidFill>
                      <a:srgbClr val="F4F7F9"/>
                    </a:solidFill>
                  </a:tcPr>
                </a:tc>
                <a:tc>
                  <a:txBody>
                    <a:bodyPr/>
                    <a:lstStyle/>
                    <a:p>
                      <a:pPr algn="r"/>
                      <a:r>
                        <a:rPr sz="850" b="0">
                          <a:solidFill>
                            <a:srgbClr val="1A1A1A"/>
                          </a:solidFill>
                          <a:latin typeface="Versos"/>
                        </a:rPr>
                        <a:t>-0,04%</a:t>
                      </a:r>
                    </a:p>
                  </a:txBody>
                  <a:tcPr marL="43200" marR="43200" marT="0" marB="0">
                    <a:solidFill>
                      <a:srgbClr val="F4F7F9"/>
                    </a:solidFill>
                  </a:tcPr>
                </a:tc>
                <a:tc>
                  <a:txBody>
                    <a:bodyPr/>
                    <a:lstStyle/>
                    <a:p>
                      <a:pPr algn="r"/>
                      <a:r>
                        <a:rPr sz="850" b="0">
                          <a:solidFill>
                            <a:srgbClr val="1A1A1A"/>
                          </a:solidFill>
                          <a:latin typeface="Versos"/>
                        </a:rPr>
                        <a:t>2,02</a:t>
                      </a:r>
                    </a:p>
                  </a:txBody>
                  <a:tcPr marL="43200" marR="43200" marT="0" marB="0">
                    <a:solidFill>
                      <a:srgbClr val="F4F7F9"/>
                    </a:solidFill>
                  </a:tcPr>
                </a:tc>
              </a:tr>
              <a:tr h="165600">
                <a:tc>
                  <a:txBody>
                    <a:bodyPr/>
                    <a:lstStyle/>
                    <a:p>
                      <a:pPr algn="l"/>
                      <a:r>
                        <a:rPr sz="850" b="1">
                          <a:solidFill>
                            <a:srgbClr val="1A1A1A"/>
                          </a:solidFill>
                          <a:latin typeface="Versos"/>
                        </a:rPr>
                        <a:t>Serviços imobiliários</a:t>
                      </a:r>
                    </a:p>
                  </a:txBody>
                  <a:tcPr marL="43200" marR="43200" marT="0" marB="0">
                    <a:solidFill>
                      <a:srgbClr val="FFFFFF"/>
                    </a:solidFill>
                  </a:tcPr>
                </a:tc>
                <a:tc>
                  <a:txBody>
                    <a:bodyPr/>
                    <a:lstStyle/>
                    <a:p>
                      <a:pPr algn="r"/>
                      <a:r>
                        <a:rPr sz="850" b="0">
                          <a:solidFill>
                            <a:srgbClr val="1A1A1A"/>
                          </a:solidFill>
                          <a:latin typeface="Versos"/>
                        </a:rPr>
                        <a:t>5.994</a:t>
                      </a:r>
                    </a:p>
                  </a:txBody>
                  <a:tcPr marL="43200" marR="43200" marT="0" marB="0">
                    <a:solidFill>
                      <a:srgbClr val="FFFFFF"/>
                    </a:solidFill>
                  </a:tcPr>
                </a:tc>
                <a:tc>
                  <a:txBody>
                    <a:bodyPr/>
                    <a:lstStyle/>
                    <a:p>
                      <a:pPr algn="r"/>
                      <a:r>
                        <a:rPr sz="850" b="0">
                          <a:solidFill>
                            <a:srgbClr val="1A1A1A"/>
                          </a:solidFill>
                          <a:latin typeface="Versos"/>
                        </a:rPr>
                        <a:t>1,35%</a:t>
                      </a:r>
                    </a:p>
                  </a:txBody>
                  <a:tcPr marL="43200" marR="43200" marT="0" marB="0">
                    <a:solidFill>
                      <a:srgbClr val="FFFFFF"/>
                    </a:solidFill>
                  </a:tcPr>
                </a:tc>
                <a:tc>
                  <a:txBody>
                    <a:bodyPr/>
                    <a:lstStyle/>
                    <a:p>
                      <a:pPr algn="r"/>
                      <a:r>
                        <a:rPr sz="850" b="0">
                          <a:solidFill>
                            <a:srgbClr val="1A1A1A"/>
                          </a:solidFill>
                          <a:latin typeface="Versos"/>
                        </a:rPr>
                        <a:t>0,53%</a:t>
                      </a:r>
                    </a:p>
                  </a:txBody>
                  <a:tcPr marL="43200" marR="43200" marT="0" marB="0">
                    <a:solidFill>
                      <a:srgbClr val="FFFFFF"/>
                    </a:solidFill>
                  </a:tcPr>
                </a:tc>
                <a:tc>
                  <a:txBody>
                    <a:bodyPr/>
                    <a:lstStyle/>
                    <a:p>
                      <a:pPr algn="r"/>
                      <a:r>
                        <a:rPr sz="850" b="0">
                          <a:solidFill>
                            <a:srgbClr val="1A1A1A"/>
                          </a:solidFill>
                          <a:latin typeface="Versos"/>
                        </a:rPr>
                        <a:t>0,54%</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3,32</a:t>
                      </a:r>
                    </a:p>
                  </a:txBody>
                  <a:tcPr marL="43200" marR="43200" marT="0" marB="0">
                    <a:solidFill>
                      <a:srgbClr val="FFFFFF"/>
                    </a:solidFill>
                  </a:tcPr>
                </a:tc>
              </a:tr>
              <a:tr h="165600">
                <a:tc>
                  <a:txBody>
                    <a:bodyPr/>
                    <a:lstStyle/>
                    <a:p>
                      <a:pPr algn="l"/>
                      <a:r>
                        <a:rPr sz="850" b="1">
                          <a:solidFill>
                            <a:srgbClr val="1A1A1A"/>
                          </a:solidFill>
                          <a:latin typeface="Versos"/>
                        </a:rPr>
                        <a:t>Outros serviços</a:t>
                      </a:r>
                    </a:p>
                  </a:txBody>
                  <a:tcPr marL="43200" marR="43200" marT="0" marB="0">
                    <a:solidFill>
                      <a:srgbClr val="F4F7F9"/>
                    </a:solidFill>
                  </a:tcPr>
                </a:tc>
                <a:tc>
                  <a:txBody>
                    <a:bodyPr/>
                    <a:lstStyle/>
                    <a:p>
                      <a:pPr algn="r"/>
                      <a:r>
                        <a:rPr sz="850" b="0">
                          <a:solidFill>
                            <a:srgbClr val="1A1A1A"/>
                          </a:solidFill>
                          <a:latin typeface="Versos"/>
                        </a:rPr>
                        <a:t>6.611</a:t>
                      </a:r>
                    </a:p>
                  </a:txBody>
                  <a:tcPr marL="43200" marR="43200" marT="0" marB="0">
                    <a:solidFill>
                      <a:srgbClr val="F4F7F9"/>
                    </a:solidFill>
                  </a:tcPr>
                </a:tc>
                <a:tc>
                  <a:txBody>
                    <a:bodyPr/>
                    <a:lstStyle/>
                    <a:p>
                      <a:pPr algn="r"/>
                      <a:r>
                        <a:rPr sz="850" b="0">
                          <a:solidFill>
                            <a:srgbClr val="1A1A1A"/>
                          </a:solidFill>
                          <a:latin typeface="Versos"/>
                        </a:rPr>
                        <a:t>1,49%</a:t>
                      </a:r>
                    </a:p>
                  </a:txBody>
                  <a:tcPr marL="43200" marR="43200" marT="0" marB="0">
                    <a:solidFill>
                      <a:srgbClr val="F4F7F9"/>
                    </a:solidFill>
                  </a:tcPr>
                </a:tc>
                <a:tc>
                  <a:txBody>
                    <a:bodyPr/>
                    <a:lstStyle/>
                    <a:p>
                      <a:pPr algn="r"/>
                      <a:r>
                        <a:rPr sz="850" b="0">
                          <a:solidFill>
                            <a:srgbClr val="1A1A1A"/>
                          </a:solidFill>
                          <a:latin typeface="Versos"/>
                        </a:rPr>
                        <a:t>1,25%</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c>
                  <a:txBody>
                    <a:bodyPr/>
                    <a:lstStyle/>
                    <a:p>
                      <a:pPr algn="r"/>
                      <a:r>
                        <a:rPr sz="850" b="0">
                          <a:solidFill>
                            <a:srgbClr val="1A1A1A"/>
                          </a:solidFill>
                          <a:latin typeface="Versos"/>
                        </a:rPr>
                        <a:t>0,16%</a:t>
                      </a:r>
                    </a:p>
                  </a:txBody>
                  <a:tcPr marL="43200" marR="43200" marT="0" marB="0">
                    <a:solidFill>
                      <a:srgbClr val="F4F7F9"/>
                    </a:solidFill>
                  </a:tcPr>
                </a:tc>
                <a:tc>
                  <a:txBody>
                    <a:bodyPr/>
                    <a:lstStyle/>
                    <a:p>
                      <a:pPr algn="r"/>
                      <a:r>
                        <a:rPr sz="850" b="0">
                          <a:solidFill>
                            <a:srgbClr val="1A1A1A"/>
                          </a:solidFill>
                          <a:latin typeface="Versos"/>
                        </a:rPr>
                        <a:t>2,70</a:t>
                      </a:r>
                    </a:p>
                  </a:txBody>
                  <a:tcPr marL="43200" marR="43200" marT="0" marB="0">
                    <a:solidFill>
                      <a:srgbClr val="F4F7F9"/>
                    </a:solidFill>
                  </a:tcPr>
                </a:tc>
              </a:tr>
              <a:tr h="165600">
                <a:tc>
                  <a:txBody>
                    <a:bodyPr/>
                    <a:lstStyle/>
                    <a:p>
                      <a:pPr algn="l"/>
                      <a:r>
                        <a:rPr sz="850" b="1">
                          <a:solidFill>
                            <a:srgbClr val="1A1A1A"/>
                          </a:solidFill>
                          <a:latin typeface="Versos"/>
                        </a:rPr>
                        <a:t>Empreendimentos e participações</a:t>
                      </a:r>
                    </a:p>
                  </a:txBody>
                  <a:tcPr marL="43200" marR="43200" marT="0" marB="0">
                    <a:solidFill>
                      <a:srgbClr val="FFFFFF"/>
                    </a:solidFill>
                  </a:tcPr>
                </a:tc>
                <a:tc>
                  <a:txBody>
                    <a:bodyPr/>
                    <a:lstStyle/>
                    <a:p>
                      <a:pPr algn="r"/>
                      <a:r>
                        <a:rPr sz="850" b="0">
                          <a:solidFill>
                            <a:srgbClr val="1A1A1A"/>
                          </a:solidFill>
                          <a:latin typeface="Versos"/>
                        </a:rPr>
                        <a:t>9.181</a:t>
                      </a:r>
                    </a:p>
                  </a:txBody>
                  <a:tcPr marL="43200" marR="43200" marT="0" marB="0">
                    <a:solidFill>
                      <a:srgbClr val="FFFFFF"/>
                    </a:solidFill>
                  </a:tcPr>
                </a:tc>
                <a:tc>
                  <a:txBody>
                    <a:bodyPr/>
                    <a:lstStyle/>
                    <a:p>
                      <a:pPr algn="r"/>
                      <a:r>
                        <a:rPr sz="850" b="0">
                          <a:solidFill>
                            <a:srgbClr val="1A1A1A"/>
                          </a:solidFill>
                          <a:latin typeface="Versos"/>
                        </a:rPr>
                        <a:t>2,07%</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3,19</a:t>
                      </a:r>
                    </a:p>
                  </a:txBody>
                  <a:tcPr marL="43200" marR="43200" marT="0" marB="0">
                    <a:solidFill>
                      <a:srgbClr val="FFFFFF"/>
                    </a:solidFill>
                  </a:tcPr>
                </a:tc>
              </a:tr>
              <a:tr h="165600">
                <a:tc>
                  <a:txBody>
                    <a:bodyPr/>
                    <a:lstStyle/>
                    <a:p>
                      <a:pPr algn="l"/>
                      <a:r>
                        <a:rPr sz="850" b="1">
                          <a:solidFill>
                            <a:srgbClr val="1A1A1A"/>
                          </a:solidFill>
                          <a:latin typeface="Versos"/>
                        </a:rPr>
                        <a:t>Papel e Celulose</a:t>
                      </a:r>
                    </a:p>
                  </a:txBody>
                  <a:tcPr marL="43200" marR="43200" marT="0" marB="0">
                    <a:solidFill>
                      <a:srgbClr val="F4F7F9"/>
                    </a:solidFill>
                  </a:tcPr>
                </a:tc>
                <a:tc>
                  <a:txBody>
                    <a:bodyPr/>
                    <a:lstStyle/>
                    <a:p>
                      <a:pPr algn="r"/>
                      <a:r>
                        <a:rPr sz="850" b="0">
                          <a:solidFill>
                            <a:srgbClr val="1A1A1A"/>
                          </a:solidFill>
                          <a:latin typeface="Versos"/>
                        </a:rPr>
                        <a:t>5.316</a:t>
                      </a:r>
                    </a:p>
                  </a:txBody>
                  <a:tcPr marL="43200" marR="43200" marT="0" marB="0">
                    <a:solidFill>
                      <a:srgbClr val="F4F7F9"/>
                    </a:solidFill>
                  </a:tcPr>
                </a:tc>
                <a:tc>
                  <a:txBody>
                    <a:bodyPr/>
                    <a:lstStyle/>
                    <a:p>
                      <a:pPr algn="r"/>
                      <a:r>
                        <a:rPr sz="850" b="0">
                          <a:solidFill>
                            <a:srgbClr val="1A1A1A"/>
                          </a:solidFill>
                          <a:latin typeface="Versos"/>
                        </a:rPr>
                        <a:t>1,20%</a:t>
                      </a:r>
                    </a:p>
                  </a:txBody>
                  <a:tcPr marL="43200" marR="43200" marT="0" marB="0">
                    <a:solidFill>
                      <a:srgbClr val="F4F7F9"/>
                    </a:solidFill>
                  </a:tcPr>
                </a:tc>
                <a:tc>
                  <a:txBody>
                    <a:bodyPr/>
                    <a:lstStyle/>
                    <a:p>
                      <a:pPr algn="r"/>
                      <a:r>
                        <a:rPr sz="850" b="0">
                          <a:solidFill>
                            <a:srgbClr val="1A1A1A"/>
                          </a:solidFill>
                          <a:latin typeface="Versos"/>
                        </a:rPr>
                        <a:t>0,52%</a:t>
                      </a:r>
                    </a:p>
                  </a:txBody>
                  <a:tcPr marL="43200" marR="43200" marT="0" marB="0">
                    <a:solidFill>
                      <a:srgbClr val="F4F7F9"/>
                    </a:solidFill>
                  </a:tcPr>
                </a:tc>
                <a:tc>
                  <a:txBody>
                    <a:bodyPr/>
                    <a:lstStyle/>
                    <a:p>
                      <a:pPr algn="r"/>
                      <a:r>
                        <a:rPr sz="850" b="0">
                          <a:solidFill>
                            <a:srgbClr val="1A1A1A"/>
                          </a:solidFill>
                          <a:latin typeface="Versos"/>
                        </a:rPr>
                        <a:t>0,49%</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4,39</a:t>
                      </a:r>
                    </a:p>
                  </a:txBody>
                  <a:tcPr marL="43200" marR="43200" marT="0" marB="0">
                    <a:solidFill>
                      <a:srgbClr val="F4F7F9"/>
                    </a:solidFill>
                  </a:tcPr>
                </a:tc>
              </a:tr>
              <a:tr h="165600">
                <a:tc>
                  <a:txBody>
                    <a:bodyPr/>
                    <a:lstStyle/>
                    <a:p>
                      <a:pPr algn="l"/>
                      <a:r>
                        <a:rPr sz="850" b="1">
                          <a:solidFill>
                            <a:srgbClr val="1A1A1A"/>
                          </a:solidFill>
                          <a:latin typeface="Versos"/>
                        </a:rPr>
                        <a:t>Materiais de construção e agregados</a:t>
                      </a:r>
                    </a:p>
                  </a:txBody>
                  <a:tcPr marL="43200" marR="43200" marT="0" marB="0">
                    <a:solidFill>
                      <a:srgbClr val="FFFFFF"/>
                    </a:solidFill>
                  </a:tcPr>
                </a:tc>
                <a:tc>
                  <a:txBody>
                    <a:bodyPr/>
                    <a:lstStyle/>
                    <a:p>
                      <a:pPr algn="r"/>
                      <a:r>
                        <a:rPr sz="850" b="0">
                          <a:solidFill>
                            <a:srgbClr val="1A1A1A"/>
                          </a:solidFill>
                          <a:latin typeface="Versos"/>
                        </a:rPr>
                        <a:t>3.551</a:t>
                      </a:r>
                    </a:p>
                  </a:txBody>
                  <a:tcPr marL="43200" marR="43200" marT="0" marB="0">
                    <a:solidFill>
                      <a:srgbClr val="FFFFFF"/>
                    </a:solidFill>
                  </a:tcPr>
                </a:tc>
                <a:tc>
                  <a:txBody>
                    <a:bodyPr/>
                    <a:lstStyle/>
                    <a:p>
                      <a:pPr algn="r"/>
                      <a:r>
                        <a:rPr sz="850" b="0">
                          <a:solidFill>
                            <a:srgbClr val="1A1A1A"/>
                          </a:solidFill>
                          <a:latin typeface="Versos"/>
                        </a:rPr>
                        <a:t>0,80%</a:t>
                      </a:r>
                    </a:p>
                  </a:txBody>
                  <a:tcPr marL="43200" marR="43200" marT="0" marB="0">
                    <a:solidFill>
                      <a:srgbClr val="FFFFFF"/>
                    </a:solidFill>
                  </a:tcPr>
                </a:tc>
                <a:tc>
                  <a:txBody>
                    <a:bodyPr/>
                    <a:lstStyle/>
                    <a:p>
                      <a:pPr algn="r"/>
                      <a:r>
                        <a:rPr sz="850" b="0">
                          <a:solidFill>
                            <a:srgbClr val="1A1A1A"/>
                          </a:solidFill>
                          <a:latin typeface="Versos"/>
                        </a:rPr>
                        <a:t>0,88%</a:t>
                      </a:r>
                    </a:p>
                  </a:txBody>
                  <a:tcPr marL="43200" marR="43200" marT="0" marB="0">
                    <a:solidFill>
                      <a:srgbClr val="FFFFFF"/>
                    </a:solidFill>
                  </a:tcPr>
                </a:tc>
                <a:tc>
                  <a:txBody>
                    <a:bodyPr/>
                    <a:lstStyle/>
                    <a:p>
                      <a:pPr algn="r"/>
                      <a:r>
                        <a:rPr sz="850" b="0">
                          <a:solidFill>
                            <a:srgbClr val="1A1A1A"/>
                          </a:solidFill>
                          <a:latin typeface="Versos"/>
                        </a:rPr>
                        <a:t>0,93%</a:t>
                      </a:r>
                    </a:p>
                  </a:txBody>
                  <a:tcPr marL="43200" marR="43200" marT="0" marB="0">
                    <a:solidFill>
                      <a:srgbClr val="FFFFFF"/>
                    </a:solidFill>
                  </a:tcPr>
                </a:tc>
                <a:tc>
                  <a:txBody>
                    <a:bodyPr/>
                    <a:lstStyle/>
                    <a:p>
                      <a:pPr algn="r"/>
                      <a:r>
                        <a:rPr sz="850" b="0">
                          <a:solidFill>
                            <a:srgbClr val="1A1A1A"/>
                          </a:solidFill>
                          <a:latin typeface="Versos"/>
                        </a:rPr>
                        <a:t>-0,06%</a:t>
                      </a:r>
                    </a:p>
                  </a:txBody>
                  <a:tcPr marL="43200" marR="43200" marT="0" marB="0">
                    <a:solidFill>
                      <a:srgbClr val="FFFFFF"/>
                    </a:solidFill>
                  </a:tcPr>
                </a:tc>
                <a:tc>
                  <a:txBody>
                    <a:bodyPr/>
                    <a:lstStyle/>
                    <a:p>
                      <a:pPr algn="r"/>
                      <a:r>
                        <a:rPr sz="850" b="0">
                          <a:solidFill>
                            <a:srgbClr val="1A1A1A"/>
                          </a:solidFill>
                          <a:latin typeface="Versos"/>
                        </a:rPr>
                        <a:t>3,46</a:t>
                      </a:r>
                    </a:p>
                  </a:txBody>
                  <a:tcPr marL="43200" marR="43200" marT="0" marB="0">
                    <a:solidFill>
                      <a:srgbClr val="FFFFFF"/>
                    </a:solidFill>
                  </a:tcPr>
                </a:tc>
              </a:tr>
              <a:tr h="165600">
                <a:tc>
                  <a:txBody>
                    <a:bodyPr/>
                    <a:lstStyle/>
                    <a:p>
                      <a:pPr algn="l"/>
                      <a:r>
                        <a:rPr sz="850" b="1">
                          <a:solidFill>
                            <a:srgbClr val="1A1A1A"/>
                          </a:solidFill>
                          <a:latin typeface="Versos"/>
                        </a:rPr>
                        <a:t>Química e petroquímica</a:t>
                      </a:r>
                    </a:p>
                  </a:txBody>
                  <a:tcPr marL="43200" marR="43200" marT="0" marB="0">
                    <a:solidFill>
                      <a:srgbClr val="F4F7F9"/>
                    </a:solidFill>
                  </a:tcPr>
                </a:tc>
                <a:tc>
                  <a:txBody>
                    <a:bodyPr/>
                    <a:lstStyle/>
                    <a:p>
                      <a:pPr algn="r"/>
                      <a:r>
                        <a:rPr sz="850" b="0">
                          <a:solidFill>
                            <a:srgbClr val="1A1A1A"/>
                          </a:solidFill>
                          <a:latin typeface="Versos"/>
                        </a:rPr>
                        <a:t>2.512</a:t>
                      </a:r>
                    </a:p>
                  </a:txBody>
                  <a:tcPr marL="43200" marR="43200" marT="0" marB="0">
                    <a:solidFill>
                      <a:srgbClr val="F4F7F9"/>
                    </a:solidFill>
                  </a:tcPr>
                </a:tc>
                <a:tc>
                  <a:txBody>
                    <a:bodyPr/>
                    <a:lstStyle/>
                    <a:p>
                      <a:pPr algn="r"/>
                      <a:r>
                        <a:rPr sz="850" b="0">
                          <a:solidFill>
                            <a:srgbClr val="1A1A1A"/>
                          </a:solidFill>
                          <a:latin typeface="Versos"/>
                        </a:rPr>
                        <a:t>0,57%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3,48</a:t>
                      </a:r>
                    </a:p>
                  </a:txBody>
                  <a:tcPr marL="43200" marR="43200" marT="0" marB="0">
                    <a:solidFill>
                      <a:srgbClr val="F4F7F9"/>
                    </a:solidFill>
                  </a:tcPr>
                </a:tc>
              </a:tr>
              <a:tr h="165600">
                <a:tc>
                  <a:txBody>
                    <a:bodyPr/>
                    <a:lstStyle/>
                    <a:p>
                      <a:pPr algn="l"/>
                      <a:r>
                        <a:rPr sz="850" b="1">
                          <a:solidFill>
                            <a:srgbClr val="1A1A1A"/>
                          </a:solidFill>
                          <a:latin typeface="Versos"/>
                        </a:rPr>
                        <a:t>Alimentos e bebidas</a:t>
                      </a:r>
                    </a:p>
                  </a:txBody>
                  <a:tcPr marL="43200" marR="43200" marT="0" marB="0">
                    <a:solidFill>
                      <a:srgbClr val="FFFFFF"/>
                    </a:solidFill>
                  </a:tcPr>
                </a:tc>
                <a:tc>
                  <a:txBody>
                    <a:bodyPr/>
                    <a:lstStyle/>
                    <a:p>
                      <a:pPr algn="r"/>
                      <a:r>
                        <a:rPr sz="850" b="0">
                          <a:solidFill>
                            <a:srgbClr val="1A1A1A"/>
                          </a:solidFill>
                          <a:latin typeface="Versos"/>
                        </a:rPr>
                        <a:t>1.739</a:t>
                      </a:r>
                    </a:p>
                  </a:txBody>
                  <a:tcPr marL="43200" marR="43200" marT="0" marB="0">
                    <a:solidFill>
                      <a:srgbClr val="FFFFFF"/>
                    </a:solidFill>
                  </a:tcPr>
                </a:tc>
                <a:tc>
                  <a:txBody>
                    <a:bodyPr/>
                    <a:lstStyle/>
                    <a:p>
                      <a:pPr algn="r"/>
                      <a:r>
                        <a:rPr sz="850" b="0">
                          <a:solidFill>
                            <a:srgbClr val="1A1A1A"/>
                          </a:solidFill>
                          <a:latin typeface="Versos"/>
                        </a:rPr>
                        <a:t>0,39%</a:t>
                      </a:r>
                    </a:p>
                  </a:txBody>
                  <a:tcPr marL="43200" marR="43200" marT="0" marB="0">
                    <a:solidFill>
                      <a:srgbClr val="FFFFFF"/>
                    </a:solidFill>
                  </a:tcPr>
                </a:tc>
                <a:tc>
                  <a:txBody>
                    <a:bodyPr/>
                    <a:lstStyle/>
                    <a:p>
                      <a:pPr algn="r"/>
                      <a:r>
                        <a:rPr sz="850" b="0">
                          <a:solidFill>
                            <a:srgbClr val="1A1A1A"/>
                          </a:solidFill>
                          <a:latin typeface="Versos"/>
                        </a:rPr>
                        <a:t>1,51%</a:t>
                      </a:r>
                    </a:p>
                  </a:txBody>
                  <a:tcPr marL="43200" marR="43200" marT="0" marB="0">
                    <a:solidFill>
                      <a:srgbClr val="FFFFFF"/>
                    </a:solidFill>
                  </a:tcPr>
                </a:tc>
                <a:tc>
                  <a:txBody>
                    <a:bodyPr/>
                    <a:lstStyle/>
                    <a:p>
                      <a:pPr algn="r"/>
                      <a:r>
                        <a:rPr sz="850" b="0">
                          <a:solidFill>
                            <a:srgbClr val="1A1A1A"/>
                          </a:solidFill>
                          <a:latin typeface="Versos"/>
                        </a:rPr>
                        <a:t>1,46%</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0,91</a:t>
                      </a:r>
                    </a:p>
                  </a:txBody>
                  <a:tcPr marL="43200" marR="43200" marT="0" marB="0">
                    <a:solidFill>
                      <a:srgbClr val="FFFFFF"/>
                    </a:solidFill>
                  </a:tcPr>
                </a:tc>
              </a:tr>
              <a:tr h="165600">
                <a:tc>
                  <a:txBody>
                    <a:bodyPr/>
                    <a:lstStyle/>
                    <a:p>
                      <a:pPr algn="l"/>
                      <a:r>
                        <a:rPr sz="850" b="1">
                          <a:solidFill>
                            <a:srgbClr val="1A1A1A"/>
                          </a:solidFill>
                          <a:latin typeface="Versos"/>
                        </a:rPr>
                        <a:t>Têxtil e calçados</a:t>
                      </a:r>
                    </a:p>
                  </a:txBody>
                  <a:tcPr marL="43200" marR="43200" marT="0" marB="0">
                    <a:solidFill>
                      <a:srgbClr val="F4F7F9"/>
                    </a:solidFill>
                  </a:tcPr>
                </a:tc>
                <a:tc>
                  <a:txBody>
                    <a:bodyPr/>
                    <a:lstStyle/>
                    <a:p>
                      <a:pPr algn="r"/>
                      <a:r>
                        <a:rPr sz="850" b="0">
                          <a:solidFill>
                            <a:srgbClr val="1A1A1A"/>
                          </a:solidFill>
                          <a:latin typeface="Versos"/>
                        </a:rPr>
                        <a:t>261</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0,98%</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2,36</a:t>
                      </a:r>
                    </a:p>
                  </a:txBody>
                  <a:tcPr marL="43200" marR="43200" marT="0" marB="0">
                    <a:solidFill>
                      <a:srgbClr val="F4F7F9"/>
                    </a:solidFill>
                  </a:tcPr>
                </a:tc>
              </a:tr>
              <a:tr h="165600">
                <a:tc>
                  <a:txBody>
                    <a:bodyPr/>
                    <a:lstStyle/>
                    <a:p>
                      <a:pPr algn="l"/>
                      <a:r>
                        <a:rPr sz="850" b="1">
                          <a:solidFill>
                            <a:srgbClr val="1A1A1A"/>
                          </a:solidFill>
                          <a:latin typeface="Versos"/>
                        </a:rPr>
                        <a:t>Mineração</a:t>
                      </a:r>
                    </a:p>
                  </a:txBody>
                  <a:tcPr marL="43200" marR="43200" marT="0" marB="0">
                    <a:solidFill>
                      <a:srgbClr val="FFFFFF"/>
                    </a:solidFill>
                  </a:tcPr>
                </a:tc>
                <a:tc>
                  <a:txBody>
                    <a:bodyPr/>
                    <a:lstStyle/>
                    <a:p>
                      <a:pPr algn="r"/>
                      <a:r>
                        <a:rPr sz="850" b="0">
                          <a:solidFill>
                            <a:srgbClr val="1A1A1A"/>
                          </a:solidFill>
                          <a:latin typeface="Versos"/>
                        </a:rPr>
                        <a:t>1.082</a:t>
                      </a:r>
                    </a:p>
                  </a:txBody>
                  <a:tcPr marL="43200" marR="43200" marT="0" marB="0">
                    <a:solidFill>
                      <a:srgbClr val="FFFFFF"/>
                    </a:solidFill>
                  </a:tcPr>
                </a:tc>
                <a:tc>
                  <a:txBody>
                    <a:bodyPr/>
                    <a:lstStyle/>
                    <a:p>
                      <a:pPr algn="r"/>
                      <a:r>
                        <a:rPr sz="850" b="0">
                          <a:solidFill>
                            <a:srgbClr val="1A1A1A"/>
                          </a:solidFill>
                          <a:latin typeface="Versos"/>
                        </a:rPr>
                        <a:t>0,24%</a:t>
                      </a:r>
                    </a:p>
                  </a:txBody>
                  <a:tcPr marL="43200" marR="43200" marT="0" marB="0">
                    <a:solidFill>
                      <a:srgbClr val="FFFFFF"/>
                    </a:solidFill>
                  </a:tcPr>
                </a:tc>
                <a:tc>
                  <a:txBody>
                    <a:bodyPr/>
                    <a:lstStyle/>
                    <a:p>
                      <a:pPr algn="r"/>
                      <a:r>
                        <a:rPr sz="850" b="0">
                          <a:solidFill>
                            <a:srgbClr val="1A1A1A"/>
                          </a:solidFill>
                          <a:latin typeface="Versos"/>
                        </a:rPr>
                        <a:t>0,71%</a:t>
                      </a:r>
                    </a:p>
                  </a:txBody>
                  <a:tcPr marL="43200" marR="43200" marT="0" marB="0">
                    <a:solidFill>
                      <a:srgbClr val="FFFFFF"/>
                    </a:solidFill>
                  </a:tcPr>
                </a:tc>
                <a:tc>
                  <a:txBody>
                    <a:bodyPr/>
                    <a:lstStyle/>
                    <a:p>
                      <a:pPr algn="r"/>
                      <a:r>
                        <a:rPr sz="850" b="0">
                          <a:solidFill>
                            <a:srgbClr val="1A1A1A"/>
                          </a:solidFill>
                          <a:latin typeface="Versos"/>
                        </a:rPr>
                        <a:t>0,72%</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2,13</a:t>
                      </a:r>
                    </a:p>
                  </a:txBody>
                  <a:tcPr marL="43200" marR="43200" marT="0" marB="0">
                    <a:solidFill>
                      <a:srgbClr val="FFFFFF"/>
                    </a:solidFill>
                  </a:tcPr>
                </a:tc>
              </a:tr>
              <a:tr h="165600">
                <a:tc>
                  <a:txBody>
                    <a:bodyPr/>
                    <a:lstStyle/>
                    <a:p>
                      <a:pPr algn="l"/>
                      <a:r>
                        <a:rPr sz="850" b="1">
                          <a:solidFill>
                            <a:srgbClr val="1A1A1A"/>
                          </a:solidFill>
                          <a:latin typeface="Versos"/>
                        </a:rPr>
                        <a:t>Construção civil</a:t>
                      </a:r>
                    </a:p>
                  </a:txBody>
                  <a:tcPr marL="43200" marR="43200" marT="0" marB="0">
                    <a:solidFill>
                      <a:srgbClr val="F4F7F9"/>
                    </a:solidFill>
                  </a:tcPr>
                </a:tc>
                <a:tc>
                  <a:txBody>
                    <a:bodyPr/>
                    <a:lstStyle/>
                    <a:p>
                      <a:pPr algn="r"/>
                      <a:r>
                        <a:rPr sz="850" b="0">
                          <a:solidFill>
                            <a:srgbClr val="1A1A1A"/>
                          </a:solidFill>
                          <a:latin typeface="Versos"/>
                        </a:rPr>
                        <a:t>51</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0,93%</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0,90</a:t>
                      </a:r>
                    </a:p>
                  </a:txBody>
                  <a:tcPr marL="43200" marR="43200" marT="0" marB="0">
                    <a:solidFill>
                      <a:srgbClr val="F4F7F9"/>
                    </a:solidFill>
                  </a:tcPr>
                </a:tc>
              </a:tr>
              <a:tr h="165600">
                <a:tc>
                  <a:txBody>
                    <a:bodyPr/>
                    <a:lstStyle/>
                    <a:p>
                      <a:pPr algn="l"/>
                      <a:r>
                        <a:rPr sz="850" b="1">
                          <a:solidFill>
                            <a:srgbClr val="1A1A1A"/>
                          </a:solidFill>
                          <a:latin typeface="Versos"/>
                        </a:rPr>
                        <a:t>Total</a:t>
                      </a:r>
                    </a:p>
                  </a:txBody>
                  <a:tcPr marL="43200" marR="43200" marT="0" marB="0">
                    <a:solidFill>
                      <a:srgbClr val="FFFFFF"/>
                    </a:solidFill>
                  </a:tcPr>
                </a:tc>
                <a:tc>
                  <a:txBody>
                    <a:bodyPr/>
                    <a:lstStyle/>
                    <a:p>
                      <a:pPr algn="r"/>
                      <a:r>
                        <a:rPr sz="850" b="0">
                          <a:solidFill>
                            <a:srgbClr val="1A1A1A"/>
                          </a:solidFill>
                          <a:latin typeface="Versos"/>
                        </a:rPr>
                        <a:t>443.345</a:t>
                      </a:r>
                    </a:p>
                  </a:txBody>
                  <a:tcPr marL="43200" marR="43200" marT="0" marB="0">
                    <a:solidFill>
                      <a:srgbClr val="FFFFFF"/>
                    </a:solidFill>
                  </a:tcPr>
                </a:tc>
                <a:tc>
                  <a:txBody>
                    <a:bodyPr/>
                    <a:lstStyle/>
                    <a:p>
                      <a:pPr algn="r"/>
                      <a:r>
                        <a:rPr sz="850" b="0">
                          <a:solidFill>
                            <a:srgbClr val="1A1A1A"/>
                          </a:solidFill>
                          <a:latin typeface="Versos"/>
                        </a:rPr>
                        <a:t>100,00%</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1,19%</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2,71</a:t>
                      </a:r>
                    </a:p>
                  </a:txBody>
                  <a:tcPr marL="43200" marR="43200" marT="0" marB="0">
                    <a:solidFill>
                      <a:srgbClr val="FFFFFF"/>
                    </a:solidFill>
                  </a:tcPr>
                </a:tc>
              </a:tr>
            </a:tbl>
          </a:graphicData>
        </a:graphic>
      </p:graphicFrame>
      <p:sp>
        <p:nvSpPr>
          <p:cNvPr id="8" name="TextBox 7"/>
          <p:cNvSpPr txBox="1"/>
          <p:nvPr/>
        </p:nvSpPr>
        <p:spPr>
          <a:xfrm>
            <a:off x="540000" y="9756000"/>
            <a:ext cx="6480000" cy="503999"/>
          </a:xfrm>
          <a:prstGeom prst="rect">
            <a:avLst/>
          </a:prstGeom>
          <a:noFill/>
        </p:spPr>
        <p:txBody>
          <a:bodyPr wrap="square" lIns="0" rIns="0" tIns="0" bIns="0">
            <a:spAutoFit/>
          </a:bodyPr>
          <a:lstStyle/>
          <a:p>
            <a:pPr algn="l"/>
            <a:r>
              <a:rPr sz="650" b="0">
                <a:solidFill>
                  <a:srgbClr val="637881"/>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9" name="TextBox 8"/>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0" name="TextBox 9"/>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RF CP</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09/05/2016</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R$ 39.929.560,29</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R$ 40.998.550,50</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0,40%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20% do que exceder 100% CDI</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+0,23%</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0,84 ano</a:t>
                      </a:r>
                    </a:p>
                  </a:txBody>
                  <a:tcPr marL="43200" marR="43200" marT="0" marB="0">
                    <a:solidFill>
                      <a:srgbClr val="F4F7F9"/>
                    </a:solidFill>
                  </a:tcPr>
                </a:tc>
              </a:tr>
            </a:tbl>
          </a:graphicData>
        </a:graphic>
      </p:graphicFrame>
      <p:sp>
        <p:nvSpPr>
          <p:cNvPr id="8" name="TextBox 7"/>
          <p:cNvSpPr txBox="1"/>
          <p:nvPr/>
        </p:nvSpPr>
        <p:spPr>
          <a:xfrm>
            <a:off x="540000" y="3744000"/>
            <a:ext cx="4320000" cy="180000"/>
          </a:xfrm>
          <a:prstGeom prst="rect">
            <a:avLst/>
          </a:prstGeom>
          <a:noFill/>
        </p:spPr>
        <p:txBody>
          <a:bodyPr wrap="square" lIns="0" rIns="0" tIns="0" bIns="0">
            <a:spAutoFit/>
          </a:bodyPr>
          <a:lstStyle/>
          <a:p>
            <a:pPr algn="l"/>
            <a:r>
              <a:rPr sz="900" b="1">
                <a:solidFill>
                  <a:srgbClr val="759DB4"/>
                </a:solidFill>
                <a:latin typeface="Versos"/>
              </a:rPr>
              <a:t>INFORMAÇÕES OPERACIONAIS</a:t>
            </a:r>
          </a:p>
        </p:txBody>
      </p:sp>
      <p:graphicFrame>
        <p:nvGraphicFramePr>
          <p:cNvPr id="9" name="Table 8"/>
          <p:cNvGraphicFramePr>
            <a:graphicFrameLocks noGrp="1"/>
          </p:cNvGraphicFramePr>
          <p:nvPr/>
        </p:nvGraphicFramePr>
        <p:xfrm>
          <a:off x="540000" y="3942000"/>
          <a:ext cx="6479999" cy="7488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Aplicação</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Resgate</a:t>
                      </a:r>
                    </a:p>
                  </a:txBody>
                  <a:tcPr marL="43200" marR="43200" marT="0" marB="0">
                    <a:solidFill>
                      <a:srgbClr val="F4F7F9"/>
                    </a:solidFill>
                  </a:tcPr>
                </a:tc>
                <a:tc>
                  <a:txBody>
                    <a:bodyPr/>
                    <a:lstStyle/>
                    <a:p>
                      <a:pPr algn="r"/>
                      <a:r>
                        <a:rPr sz="850" b="0">
                          <a:solidFill>
                            <a:srgbClr val="1A1A1A"/>
                          </a:solidFill>
                          <a:latin typeface="Versos"/>
                        </a:rPr>
                        <a:t>D+0</a:t>
                      </a:r>
                    </a:p>
                  </a:txBody>
                  <a:tcPr marL="43200" marR="43200" marT="0" marB="0">
                    <a:solidFill>
                      <a:srgbClr val="F4F7F9"/>
                    </a:solidFill>
                  </a:tcPr>
                </a:tc>
              </a:tr>
              <a:tr h="187200">
                <a:tc>
                  <a:txBody>
                    <a:bodyPr/>
                    <a:lstStyle/>
                    <a:p>
                      <a:pPr algn="l"/>
                      <a:r>
                        <a:rPr sz="850" b="1">
                          <a:solidFill>
                            <a:srgbClr val="1A1A1A"/>
                          </a:solidFill>
                          <a:latin typeface="Versos"/>
                        </a:rPr>
                        <a:t>Aplicação mínima inicial</a:t>
                      </a:r>
                    </a:p>
                  </a:txBody>
                  <a:tcPr marL="43200" marR="43200" marT="0" marB="0">
                    <a:solidFill>
                      <a:srgbClr val="FFFFFF"/>
                    </a:solidFill>
                  </a:tcPr>
                </a:tc>
                <a:tc>
                  <a:txBody>
                    <a:bodyPr/>
                    <a:lstStyle/>
                    <a:p>
                      <a:pPr algn="r"/>
                      <a:r>
                        <a:rPr sz="850" b="0">
                          <a:solidFill>
                            <a:srgbClr val="1A1A1A"/>
                          </a:solidFill>
                          <a:latin typeface="Versos"/>
                        </a:rPr>
                        <a:t>R$ 1.000,00</a:t>
                      </a:r>
                    </a:p>
                  </a:txBody>
                  <a:tcPr marL="43200" marR="43200" marT="0" marB="0">
                    <a:solidFill>
                      <a:srgbClr val="FFFFFF"/>
                    </a:solidFill>
                  </a:tcPr>
                </a:tc>
              </a:tr>
              <a:tr h="187200">
                <a:tc>
                  <a:txBody>
                    <a:bodyPr/>
                    <a:lstStyle/>
                    <a:p>
                      <a:pPr algn="l"/>
                      <a:r>
                        <a:rPr sz="850" b="1">
                          <a:solidFill>
                            <a:srgbClr val="1A1A1A"/>
                          </a:solidFill>
                          <a:latin typeface="Versos"/>
                        </a:rPr>
                        <a:t>Movimentação mínima</a:t>
                      </a:r>
                    </a:p>
                  </a:txBody>
                  <a:tcPr marL="43200" marR="43200" marT="0" marB="0">
                    <a:solidFill>
                      <a:srgbClr val="F4F7F9"/>
                    </a:solidFill>
                  </a:tcPr>
                </a:tc>
                <a:tc>
                  <a:txBody>
                    <a:bodyPr/>
                    <a:lstStyle/>
                    <a:p>
                      <a:pPr algn="r"/>
                      <a:r>
                        <a:rPr sz="850" b="0">
                          <a:solidFill>
                            <a:srgbClr val="1A1A1A"/>
                          </a:solidFill>
                          <a:latin typeface="Versos"/>
                        </a:rPr>
                        <a:t>R$ 1.000,00</a:t>
                      </a:r>
                    </a:p>
                  </a:txBody>
                  <a:tcPr marL="43200" marR="43200" marT="0" marB="0">
                    <a:solidFill>
                      <a:srgbClr val="F4F7F9"/>
                    </a:solidFill>
                  </a:tcPr>
                </a:tc>
              </a:tr>
            </a:tbl>
          </a:graphicData>
        </a:graphic>
      </p:graphicFrame>
      <p:sp>
        <p:nvSpPr>
          <p:cNvPr id="10" name="TextBox 9"/>
          <p:cNvSpPr txBox="1"/>
          <p:nvPr/>
        </p:nvSpPr>
        <p:spPr>
          <a:xfrm>
            <a:off x="540000" y="49788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11" name="TextBox 10"/>
          <p:cNvSpPr txBox="1"/>
          <p:nvPr/>
        </p:nvSpPr>
        <p:spPr>
          <a:xfrm>
            <a:off x="540000" y="5176800"/>
            <a:ext cx="6480000" cy="4921200"/>
          </a:xfrm>
          <a:prstGeom prst="rect">
            <a:avLst/>
          </a:prstGeom>
          <a:noFill/>
        </p:spPr>
        <p:txBody>
          <a:bodyPr wrap="square" lIns="0" rIns="0" tIns="0" bIns="0">
            <a:spAutoFit/>
          </a:bodyPr>
          <a:lstStyle/>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2" name="TextBox 11"/>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4</a:t>
            </a:r>
          </a:p>
        </p:txBody>
      </p:sp>
      <p:sp>
        <p:nvSpPr>
          <p:cNvPr id="13" name="TextBox 12"/>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